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9" r:id="rId5"/>
    <p:sldMasterId id="2147483776" r:id="rId6"/>
  </p:sldMasterIdLst>
  <p:notesMasterIdLst>
    <p:notesMasterId r:id="rId88"/>
  </p:notesMasterIdLst>
  <p:sldIdLst>
    <p:sldId id="421" r:id="rId7"/>
    <p:sldId id="258" r:id="rId8"/>
    <p:sldId id="2674" r:id="rId9"/>
    <p:sldId id="2872" r:id="rId10"/>
    <p:sldId id="2873" r:id="rId11"/>
    <p:sldId id="2874" r:id="rId12"/>
    <p:sldId id="2875" r:id="rId13"/>
    <p:sldId id="2876" r:id="rId14"/>
    <p:sldId id="2877" r:id="rId15"/>
    <p:sldId id="2878" r:id="rId16"/>
    <p:sldId id="2880" r:id="rId17"/>
    <p:sldId id="2881" r:id="rId18"/>
    <p:sldId id="2879" r:id="rId19"/>
    <p:sldId id="2882" r:id="rId20"/>
    <p:sldId id="2883" r:id="rId21"/>
    <p:sldId id="2884" r:id="rId22"/>
    <p:sldId id="2871" r:id="rId23"/>
    <p:sldId id="2799" r:id="rId24"/>
    <p:sldId id="2800" r:id="rId25"/>
    <p:sldId id="2801" r:id="rId26"/>
    <p:sldId id="2803" r:id="rId27"/>
    <p:sldId id="2804" r:id="rId28"/>
    <p:sldId id="2805" r:id="rId29"/>
    <p:sldId id="2807" r:id="rId30"/>
    <p:sldId id="2809" r:id="rId31"/>
    <p:sldId id="2808" r:id="rId32"/>
    <p:sldId id="2810" r:id="rId33"/>
    <p:sldId id="2811" r:id="rId34"/>
    <p:sldId id="2812" r:id="rId35"/>
    <p:sldId id="2813" r:id="rId36"/>
    <p:sldId id="2814" r:id="rId37"/>
    <p:sldId id="2815" r:id="rId38"/>
    <p:sldId id="2818" r:id="rId39"/>
    <p:sldId id="2819" r:id="rId40"/>
    <p:sldId id="2820" r:id="rId41"/>
    <p:sldId id="2821" r:id="rId42"/>
    <p:sldId id="2822" r:id="rId43"/>
    <p:sldId id="2823" r:id="rId44"/>
    <p:sldId id="2824" r:id="rId45"/>
    <p:sldId id="2825" r:id="rId46"/>
    <p:sldId id="2826" r:id="rId47"/>
    <p:sldId id="2827" r:id="rId48"/>
    <p:sldId id="2828" r:id="rId49"/>
    <p:sldId id="2829" r:id="rId50"/>
    <p:sldId id="2830" r:id="rId51"/>
    <p:sldId id="2832" r:id="rId52"/>
    <p:sldId id="2833" r:id="rId53"/>
    <p:sldId id="2834" r:id="rId54"/>
    <p:sldId id="2835" r:id="rId55"/>
    <p:sldId id="2836" r:id="rId56"/>
    <p:sldId id="2837" r:id="rId57"/>
    <p:sldId id="2838" r:id="rId58"/>
    <p:sldId id="2839" r:id="rId59"/>
    <p:sldId id="2841" r:id="rId60"/>
    <p:sldId id="2840" r:id="rId61"/>
    <p:sldId id="2842" r:id="rId62"/>
    <p:sldId id="2843" r:id="rId63"/>
    <p:sldId id="2844" r:id="rId64"/>
    <p:sldId id="2845" r:id="rId65"/>
    <p:sldId id="2846" r:id="rId66"/>
    <p:sldId id="2847" r:id="rId67"/>
    <p:sldId id="2848" r:id="rId68"/>
    <p:sldId id="2850" r:id="rId69"/>
    <p:sldId id="2851" r:id="rId70"/>
    <p:sldId id="2857" r:id="rId71"/>
    <p:sldId id="2858" r:id="rId72"/>
    <p:sldId id="2859" r:id="rId73"/>
    <p:sldId id="2860" r:id="rId74"/>
    <p:sldId id="2861" r:id="rId75"/>
    <p:sldId id="2862" r:id="rId76"/>
    <p:sldId id="2863" r:id="rId77"/>
    <p:sldId id="2869" r:id="rId78"/>
    <p:sldId id="2864" r:id="rId79"/>
    <p:sldId id="2865" r:id="rId80"/>
    <p:sldId id="2866" r:id="rId81"/>
    <p:sldId id="2867" r:id="rId82"/>
    <p:sldId id="2868" r:id="rId83"/>
    <p:sldId id="2870" r:id="rId84"/>
    <p:sldId id="1889" r:id="rId85"/>
    <p:sldId id="749" r:id="rId86"/>
    <p:sldId id="350" r:id="rId87"/>
  </p:sldIdLst>
  <p:sldSz cx="9144000" cy="6858000" type="screen4x3"/>
  <p:notesSz cx="6805613" cy="9939338"/>
  <p:custDataLst>
    <p:tags r:id="rId8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57B"/>
    <a:srgbClr val="F2120C"/>
    <a:srgbClr val="3C1053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968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tags" Target="tags/tag1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2.xml"/><Relationship Id="rId90" Type="http://schemas.openxmlformats.org/officeDocument/2006/relationships/presProps" Target="presProps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0C3409-D902-FCEC-29B0-0516CC92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95181B0-9F54-1B5B-CE2D-5280A315D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DD3E02-DB95-F9E8-7171-9F53A3D00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49A7C2-50CD-CDF4-12C9-F1A66E877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464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A3B24F8-A443-AC51-BC76-78AF40C5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26E1D47-6F28-FDE0-ADDF-F12D9DAF9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DDCF2E7-C656-81F5-D04D-F2BECD6C8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65D1E33-3ABE-7DD5-17F7-CB8FBFE0EB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404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EFFD2E-390C-237A-311D-78D997A3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9F3A167-FA14-5177-84F7-9EE75171F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48D48C-FDE7-48EA-D2CD-DFCF69419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83FEA42-EE09-1F96-7A17-D37CAD6E63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15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83A50D5-7F5D-F58B-9C75-8C8D9CEC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D967440-5913-1BC0-FA86-D709E38A1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2C75787-0265-20FE-7343-C7E718BCD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10F29D-04CC-8FC9-5914-DF5B95D78A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460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F19C20D-2B1A-AF52-DDE4-350D7B3A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8FF2448-65AE-72DA-D0CC-860733608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E2FFEC1-3A7F-FF3E-9B0D-B5D50044D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79EED4D-1776-E411-61A5-AA5EA51F31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253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55F2E46-55AD-BC87-BC1C-27F41553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01C6481-36FC-ADDE-88D6-CA24CA97D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B0D9B93-8279-220A-33D2-ED67C947B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679F302-0392-4A1C-BDB5-2473B6E507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700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2144EDA-DEEC-EEC9-630B-9F0B7745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A0198AE-3F01-A0C4-E509-F833CF161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A290894-E3CD-BBB5-E39D-2CFC51953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B3431A3-0AAD-66AD-DB16-F846BCDEA2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204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9AD8AF0-B504-47F0-2280-04F88CD7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FB3FD2D-A0BC-E214-F7C6-D7596AC9F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42E0BEA-F061-6FE8-C3D4-EB149B9BC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C8531B7-615D-2C15-9CFC-671D2BED20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488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7E12339-C767-4CE9-6C18-DB68C4ED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744C26F-9809-A0EF-8C7C-DD8F1CC8F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177C1E-A1EB-F1A3-FF22-8F629C355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F5B2CC4-B972-F03E-52F7-F885D236C1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418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6803353-3411-4757-7626-ADBECB61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22DFC52-0D8D-17F5-D96F-367F1BC1A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629C2B8-F313-4AF1-849E-1000F8F9A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E02FCFE-3C0C-89E3-0ACF-350B1F0376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169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B4DCA7E-018C-9102-3F6E-8C523FB2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3FECF1-38CD-966A-1C10-99A71894C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26E9CB1-9F2D-FF58-6EE1-1802693D6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8FE177A-A1F5-261E-02DF-15D74006F1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04F098-5BB9-2BB1-B522-15F4E3E7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4117B56-3BF9-004A-7693-2E460F129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89DF66B-01CF-CAF2-EDB6-CE754ADE0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043E7E5-8D8E-1301-A76E-883A59101C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03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ABF694A-1F39-7CB7-7FB3-F86C62E8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B097FF8-6DE7-385A-477B-45E66D2A0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A224E14-A5E4-5542-67E6-BB381D333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EE2C01E-F518-2185-DAF5-59047946E8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984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0FD5CD8-B62A-6541-191B-0ECBA460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BA6094C-C064-2DF5-A3E7-90EE5EC9B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954FBBB-FF46-42CB-69A5-7C4CA11BB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F005D89-B880-DCD9-D724-57645B3EE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924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131BC4A-1387-C2B3-C7F3-41948698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56EBCEA-4DA5-247D-0C4E-0288E338B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1BCFAF8-2ED5-8EF6-7349-EA0C933D8E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A2ACB1-850A-77DD-FB84-DF839C8FC7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448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81C7443-0F16-0775-97DE-0F6CD781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20A1FFF-8682-6B39-6DFB-344AC65A3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160DF9D-6B5A-6718-9827-F04B28AD9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756A8F-7699-733A-DD46-C877839254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891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F6F8B4A-83D3-3D08-35E4-269CAB53B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1BC0AFF-FACD-6974-62E6-9A6C39C9A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DD458D-6712-2698-B125-899B95E2B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6CE6386-F1CE-B66E-87C4-87BB241425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700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6C7A903-D203-AF46-917D-86434E2C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E16B3B3-222E-640A-E5D3-B0713E865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71C66AE-AD00-BFC5-73A1-E3E89957E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A02DD97-9FB1-E4F8-6942-2180D53A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476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55F887-0826-8D1F-8D17-68A7A2C9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C32895F-FEE0-6DD3-00D6-A3868C6AB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89BA894-9936-7F94-2270-BB5222521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6E3DD14-E3EF-0E89-99C2-FAA3FDE98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222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DCC2E68-BD59-A7AD-C3AA-437C22B6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D16B87E-23C5-D95A-F884-DE0317385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F5AE920-A32E-B801-DEA5-073BD9524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1D23625-D504-A113-2AD4-110DD17FA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7627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A404DC6-8BF4-047D-B7BD-33114E3A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C2966C2-D03B-FB8E-35F9-B60CAAE1E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5FF7065-B319-0199-E12A-AEA01A1C0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3913F12-93B1-4141-B92F-06191FF232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10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8E31253-9ADA-168C-66A2-EC19A78D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9E2CA4F-C4A2-0DF3-EBEC-00C6FE230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19EAF24-5C13-DD3D-0424-5BB06A7A1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C946335-4FA4-DB64-2553-FFD973EE85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250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787ADD2-3B20-7AA5-41F3-506ED89A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4559680-4518-E811-9CBE-09F530776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143C4BA-CA33-65C2-7EBF-4D5ED13FE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F61BBB3-1278-9E4D-D3FE-3AD2EB73EB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227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030BE5C-B84E-9AE0-5CF6-F19FC59A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D9C8B65-EA5D-DC13-7AA8-1ADC02905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E480184-1F46-C6BC-BC14-08E698FE8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CCD3D71-E257-7A0D-0E53-597D5885DC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070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565940-670B-F445-9369-A4BC4123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B058DA0-FAC0-6323-CAF1-27EA3316B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D367E2B-029F-685A-14C5-FB7BC2756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877F23E-2F4B-DC7B-9C1F-D16CE18BB3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734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92307E0-56AE-BBF9-8F13-130D9C39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D133B91-E137-8421-E8A9-F9A4A5D43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C8D0EBD-476D-FC9C-C0D3-55E8247943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9FB2339-D080-80DC-BDF8-C1140DBF86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7248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89B1C27-E4E8-5867-5FFC-22B2EA31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CFB0ADA-1C7A-19B9-FA1A-109CF8D69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07279EF-4336-0EBA-941F-28E729750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2B7FC5-71D9-8848-4A05-6941F6B5CB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4355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89B1C27-E4E8-5867-5FFC-22B2EA31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CFB0ADA-1C7A-19B9-FA1A-109CF8D69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07279EF-4336-0EBA-941F-28E729750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2B7FC5-71D9-8848-4A05-6941F6B5CB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2958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D3C9886-0B15-35D3-D5FE-B68497DA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8E53AD7-EB12-9E69-0F76-B758BC5F2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0A283E5-94BF-9AB6-E07B-4418BB750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C6EE60C-8F8F-9BD3-A1B9-D46D14C541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7077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2DDD2AF-2099-D484-423F-D9B3021F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B21DAE8-6158-450A-6898-BFFBAFF64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ADED61-AAED-E6DA-1D2E-4347C3B01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6C5F707-EB49-B839-2E51-7357AEC8B7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9806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51A9860-0EE5-009A-3BF2-A0750613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C355E4-FC90-AEB1-A7F0-E1DA999AF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7EFCA59-3797-E268-5763-973308CA4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0BA74C6-092E-7940-95DB-EE354CE477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9746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C46BF34-30F2-443C-8840-7E72ADB8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3881C59-FC21-2013-5223-43602A2BB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5ED1FE2-EA34-5E4D-6AFB-A9645401F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F06E075-D8E9-A90A-500D-3B5659EF0F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6875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7EF4A60-62B2-F32C-E674-32489826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DBB6292-325E-9172-18F6-683A90BAC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C22924-5E16-4969-F06C-0706E1B40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BF1FD21-44AF-0BEF-1C64-ADBEE4AA67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493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4624AEF-40A3-D9C8-91D1-D645AA31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BB1C57F-E176-07DF-0551-CB09CE740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ED9EF12-B589-F041-BE88-FD432C693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0061C5-86CA-47F5-F272-179F7BC9F2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653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978688C-8DB9-195D-A004-8B272387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EDC09D5-1FE1-B772-AFD1-E646B41A6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31B4571-A3CF-1AF4-7D74-205BF167F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FCFBCE3-4063-F5BE-B763-3F71B603E2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900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65757E9-6E3B-0211-CAE6-015F207A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1D76903-79D8-6E36-F9FE-30C0FAB03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1C03323-ADD9-17D5-7C9F-D1DF05E44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338EF24-8A44-9312-BC46-EC404B6E1C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6895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E1B69DA-6AB0-FF5D-50EA-6C100DC4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9D81EA6-6D8D-B281-5454-7F454B703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9A77544-7A48-2401-446E-673DF6C25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64B4E1F-DD7B-C67A-5FFB-C615E741A1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0817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C5696F8-51CB-E150-8ECC-79080E87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671ADC3-D081-1D43-B5B0-24074B3FB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B88A215-C87F-E5CC-ECB7-C0C80D693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12749FC-AAEF-3DD1-2A3A-7756842157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4592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0F4A58B-3FE7-AFEC-3812-2F642607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C59138D-EB0B-331B-C29C-B1D26DB47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82E4DA5-9AE0-036D-3C1E-2FB70AE23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16D21E8-91D2-0D6E-AFF7-C2F522290A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0753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85FF6AF-E0E7-9ECC-9700-6CA0B5F1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4795FCE-0927-0F81-5713-73ABCBE86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1EA609A-9370-A133-CF47-1937B8340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5BC7C62-FF15-A78A-AD10-C4BFE9D8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0757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91271F-8EA8-B843-426E-3D6E4B4C5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8C2451C-5629-D7FD-6B6F-7CE92E1FB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AF2FC44-B6BF-23CA-39BF-94DCFF9CD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7ED66E-ADB2-4F52-CE2A-529CAFB7DE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3679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5846052-C22F-20A4-89DB-B5F07020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17988B1-7AAC-F167-E84F-738F63491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5F2E9FA-0C88-9904-A909-F912B3C0D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AE93DD0-9AAF-B1CA-5A0B-0FAC3C1495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3372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D64BED6-1F47-F322-81EC-94A0703B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26932E2-2A20-9342-8AE4-B05F2DF57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C862D7-F02C-CB4F-6CB1-0ECB26E25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356EB35-1948-51E2-DD44-E79E4F0605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930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01DA2BE-DF5E-6108-38DB-3016C38A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685D37B-1526-FA4D-75D0-106B5F7D3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20AF826-AE11-51F0-4083-1B24C84B3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F9291D3-0AB0-6AD4-069D-A25B9A567D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8577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EE65139-9374-867C-5C42-6BBFF2BD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38904B2-3B7E-C54E-D037-BBBAA008D4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21E7C85-5654-0609-678C-EEA1CA878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C500967-69BE-3652-941E-838079AEAB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5815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65530E4-FA21-0AF2-7658-B8E3EB08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6CE03A-5AD7-5979-0134-816DEB90D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207EF82-3433-28D8-11A8-4D4671DEE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9484E0E-D376-B7A4-D49A-3B3BAE10D4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2374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C906656-EA20-D735-1DFA-B080A0D2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B3B4E71-72F1-AFD3-E730-9B3FB2482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DA64CED-A31B-827E-CF61-AF3C964D9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07B21D-F676-8C60-1992-FE471B6CF6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0464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9C85ED2-AA73-2B84-8688-D3740DE0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D4E637D-8DFF-2C69-5A54-4E72DAB7D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7F052E2-5543-4CCB-A6F9-5E6F61504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B4437DD-57B5-6BAA-C839-E0561F3F36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4573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847CF08-C626-C9D6-8930-7CEFB34D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3CB7F26-949A-1C0D-1A29-C5F1F74C6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8A48A63-A56E-2315-981A-C4B9660C7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9B61523-B80A-C18D-BB40-EAFD8AB5DA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55690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FD33ED5-EB6A-47C0-F2C7-53E36253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65EF6B3-8574-4ADB-0457-4D1B859FA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18DD3AF-E974-2CB0-CB0D-F9BA63502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AE7FC31-6438-5D87-6BCC-A7FCEF0C31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2602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1514F1-781F-92FC-C804-E47F836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2C88192-44AC-8770-86C2-999DA963D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CBD31DF-8A7B-2022-33CC-41C45A3B9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5BF00AC-15F2-CCAF-B283-E05AF419A0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1677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838432D-B8E3-5BF2-CF02-59D23D1F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49A960C-B8E8-3C82-684C-763389E3A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0D36281-318A-BD68-C219-3FE6D8242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0FE4D43-4B54-86B3-43C5-86003B3E1F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47393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192FB6B-B7D7-FF38-C38A-F6CD77EC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4A66303-BEE3-EB08-907A-BFA69E9D4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CF9DA79-85E5-D0BB-E319-3D34A85AA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5B20E93-412D-DF9C-8795-0D261418BE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68826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58FF88D-CE55-2A38-02ED-B3195049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E4A8F3D-4298-2FC7-75A3-6FE52C5ED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4BE14FD-23F4-94E8-6A35-A2A0D4FDF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0365954-47C0-F0AB-68DF-BBFD938A2A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14025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EE9EEEC-83CA-CC09-C477-FE7FF05B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B0D942F-E81C-CCEF-8364-6E9B3DE3E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DC3B91D-4AEF-A5E1-EED1-D8574C12B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B799AE-445D-0989-0BE6-5BD1ECFFC6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7157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3B3B399-5C0E-7EAB-0351-F446FB14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551C99E-8253-D6F1-6E44-F6E98D48A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FA85F10-06E3-2DD1-A115-E8F7FB57F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32F10E9-1865-A472-37F8-0DE35919E6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9912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3AD60F7-F02A-F57A-2972-D397DD8ED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3DA43A9-FAF9-319B-6A91-52AEFCD65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3C96D78-0E70-4757-C04F-CBCB2D999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4DD6FFF-9AF1-4D8F-22FC-0F751E6046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4006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3450B83-92E6-EBD0-1D4E-223ADBEB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795919D-EF2B-FD0B-2EA9-D63F84650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C9B795D-C4F5-C566-8072-ECF38DA95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415B8D2-6A02-E8A6-635E-CA69FC7CD7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1725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FAAA759-32D6-3376-5776-5D53E047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A4D3C46-71D0-03CB-AD25-9BDFD6F5E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B524724-42EB-7545-0F74-EBD78F7CA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4A48D04-0BE2-BBC9-FDC0-A9680D202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86015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FAAA759-32D6-3376-5776-5D53E047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A4D3C46-71D0-03CB-AD25-9BDFD6F5E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B524724-42EB-7545-0F74-EBD78F7CA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4A48D04-0BE2-BBC9-FDC0-A9680D202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9021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E0AD478-E29D-7E8E-BD00-5537327A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64FAFC1-8FBF-9B69-BCD7-185E3E025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C15BE2E-DFC3-B32A-8588-F99074E6F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71951E5-8536-40CB-7D9B-DAEC3CDB60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8065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3A56B2D-82E7-DA68-1B84-902D6A45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95C79CF-4599-E432-792D-1207A5D66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D4721D1-00EE-00F1-F409-316127E12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336D3CF-7B71-A730-D8FA-A175C75DCE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70277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9E25496-C5AE-F220-442E-404A45D9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9C8A2D2-682C-D2A8-7877-1DF5369E4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ACE264-01BD-249D-8A3B-3CF8CFBA6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5B7C841-238A-B1A0-1CF6-3FFE448159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6942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546345-896B-4823-E9EE-5393C8D0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A35C986-59DE-A7E1-8C99-33FCD00AF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3BFC0ED-2E45-C096-9006-4B9D56138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2AAE87E-FB3C-6BCC-0880-E596A2A301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22833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3472796-1A19-80D1-86C5-DD85AA38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844C975-4EC1-1E17-0C1C-0AF41A0BB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C9F9145-AD27-6CC0-B4C9-742721596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AC1354F-B022-C573-71B6-821873AEDF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46262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5ED8CDC-1DF3-2612-B5AB-CC1D5E59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F802CC0-BDC3-C9C7-9A41-428249941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F6C5EAC-DF15-2E63-978C-FCA45B8C4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255A15A-D0F7-29C4-5577-4EC6F5E04E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74517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9A7EEDB-ED3F-71F1-A4D2-810D4327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53D7D93-8382-B6C9-97AD-8965BF00F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846B5EA-8500-3125-B9BC-3B116D2E7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42E41F1-EC31-6F2E-5C9B-671562138F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67928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93A771D-18B0-9184-0004-DA52A80B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DFCE265-226D-0B18-94FF-72DC0BC1F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1393BF1-4BD5-02BD-30C2-14C5612DB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ACD913C-E6FD-55F8-5113-90FB47A5F4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01751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7E1D37F-53D4-296D-C5B5-45AD6698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0BE53C3-23EF-16A4-7896-2EACED91D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4301029-EB2A-F2E0-CF6F-0EE2206E9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581729C-0EE4-5BD2-E33A-11F08E7070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04370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9E33D3C-F2A7-FB84-0A2F-AE8A99E1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1EEF56D-A1FC-2F7E-06C6-23F81681D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3157634-504E-FA67-7473-99F1B7C01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6A96A4C-B2A8-6D86-7C4D-4C2BBF85F2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2443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BE01835-6C7A-FDA2-6BB7-263726C8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0503483-F45D-4840-5738-18AD9E7B1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0FE87F5-D354-8742-DAE0-0F5F6399C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2C2A7CA-19E6-388D-6DD7-E8A7673EA1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47169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EBDE7F3-F9C3-59FE-5D1F-5877D2B6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4CE954B-F0FC-E8D1-B1A4-EF7655E84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7D7D47E-D00B-23C9-E9D0-15095C7CD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676B387-6EBA-0C7F-2AC5-072574EC73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09938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0FA8350-8A82-186C-D91A-FB1DFEBF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50D580-731B-45D4-EBB5-4AD248ECF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17E7055-C104-ACF6-AE20-771B9E260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8059933-A533-D15C-F29C-BE0E8B1E1F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2753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EB74ACD-8049-6298-0107-4B2B6385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6650C78-D750-FF9C-C4F5-3F922B76C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0EDA4C0-1FBC-5EE5-5B77-7E33A2D3C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F427CAF-1A81-5190-1D4F-677CB1B90B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72111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499226A-E929-8A0F-48A9-23BE7E50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399BA26-CC04-7572-2B25-0885B2583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6247F27-8480-F2F2-35AB-5E7DABE1C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3865B53-4719-E89B-C164-C2E0372FD7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023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49268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596" y="713233"/>
            <a:ext cx="3767469" cy="334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19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8411246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19291"/>
          </a:xfrm>
        </p:spPr>
        <p:txBody>
          <a:bodyPr lIns="0" tIns="0" rIns="0" bIns="0"/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03556647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93803120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687271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766835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79965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0255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42723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13038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3906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43946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38041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987916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411828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20985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47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7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6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347" imgH="348" progId="TCLayout.ActiveDocument.1">
                  <p:embed/>
                </p:oleObj>
              </mc:Choice>
              <mc:Fallback>
                <p:oleObj name="think-cell Slide" r:id="rId87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  <p:sldLayoutId id="2147483775" r:id="rId8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8" y="0"/>
            <a:ext cx="5027930" cy="454025"/>
          </a:xfrm>
          <a:custGeom>
            <a:avLst/>
            <a:gdLst/>
            <a:ahLst/>
            <a:cxnLst/>
            <a:rect l="l" t="t" r="r" b="b"/>
            <a:pathLst>
              <a:path w="5027930" h="454025">
                <a:moveTo>
                  <a:pt x="5027591" y="0"/>
                </a:moveTo>
                <a:lnTo>
                  <a:pt x="0" y="0"/>
                </a:lnTo>
                <a:lnTo>
                  <a:pt x="0" y="454025"/>
                </a:lnTo>
                <a:lnTo>
                  <a:pt x="4570413" y="454025"/>
                </a:lnTo>
                <a:lnTo>
                  <a:pt x="5027591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4572001" y="6397624"/>
            <a:ext cx="4570730" cy="457200"/>
          </a:xfrm>
          <a:custGeom>
            <a:avLst/>
            <a:gdLst/>
            <a:ahLst/>
            <a:cxnLst/>
            <a:rect l="l" t="t" r="r" b="b"/>
            <a:pathLst>
              <a:path w="4570730" h="457200">
                <a:moveTo>
                  <a:pt x="4570412" y="0"/>
                </a:moveTo>
                <a:lnTo>
                  <a:pt x="460375" y="0"/>
                </a:lnTo>
                <a:lnTo>
                  <a:pt x="0" y="457199"/>
                </a:lnTo>
                <a:lnTo>
                  <a:pt x="4570412" y="457199"/>
                </a:lnTo>
                <a:lnTo>
                  <a:pt x="4570412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9338" y="365127"/>
            <a:ext cx="1374775" cy="485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54260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85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9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84.xml"/><Relationship Id="rId4" Type="http://schemas.openxmlformats.org/officeDocument/2006/relationships/hyperlink" Target="https://github.com/FarshidKeivanian" TargetMode="Externa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336331"/>
            <a:ext cx="4373370" cy="2734885"/>
          </a:xfrm>
        </p:spPr>
        <p:txBody>
          <a:bodyPr/>
          <a:lstStyle/>
          <a:p>
            <a:r>
              <a:rPr lang="en-US" sz="3400" dirty="0"/>
              <a:t>Small-scale database implementation – Query By Example (QBE)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6AD0-6036-4879-B5D7-F60847E3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8C77-E952-41E0-8B40-BAC1771F8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4796BC-CEFD-189B-E9D1-5A9CBE8BAF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Week 6 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E6214-3988-BA86-3529-05DB78221CDF}"/>
              </a:ext>
            </a:extLst>
          </p:cNvPr>
          <p:cNvSpPr txBox="1"/>
          <p:nvPr/>
        </p:nvSpPr>
        <p:spPr>
          <a:xfrm>
            <a:off x="11875" y="528318"/>
            <a:ext cx="9120249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Why Practice Microsoft Access?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Query by Example (QBE) in Access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1: Create </a:t>
            </a:r>
            <a:r>
              <a:rPr lang="en-US" sz="2200" dirty="0" err="1">
                <a:latin typeface="Calibir"/>
              </a:rPr>
              <a:t>QRY_CustomerCity</a:t>
            </a:r>
            <a:endParaRPr lang="en-US" sz="2200" dirty="0">
              <a:latin typeface="Calibir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Adding Criteria to Queries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2: Filter Reservations by Date &amp; Day (OR)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Building Flexible Queries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3: Count Customers per </a:t>
            </a:r>
            <a:r>
              <a:rPr lang="en-US" sz="2200" dirty="0" err="1">
                <a:latin typeface="Calibir"/>
              </a:rPr>
              <a:t>ClassType</a:t>
            </a:r>
            <a:r>
              <a:rPr lang="en-US" sz="2200" dirty="0">
                <a:latin typeface="Calibir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Action Queries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4: Update “Cardio” Prices (+10%)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Research / Debate Questions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Preparation for Tutorial Week 6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Calibir"/>
              </a:rPr>
              <a:t>Review and Feedback on Tutorial Week 4 and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C55C3C-1C70-4B05-DCEF-7BC51078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A7F4-72EE-787C-9315-6B43A6FF7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7ED2A-D90D-9FF9-7659-CD0E5643E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F5CC17E-1EEA-6DF1-8B95-4FFA28C84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573C5-EDA9-F7CB-5DAD-074958321411}"/>
              </a:ext>
            </a:extLst>
          </p:cNvPr>
          <p:cNvSpPr txBox="1"/>
          <p:nvPr/>
        </p:nvSpPr>
        <p:spPr>
          <a:xfrm>
            <a:off x="0" y="667974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this matters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Helps you </a:t>
            </a:r>
            <a:r>
              <a:rPr lang="en-US" sz="2800" dirty="0" err="1">
                <a:latin typeface="Calibir"/>
              </a:rPr>
              <a:t>organise</a:t>
            </a:r>
            <a:r>
              <a:rPr lang="en-US" sz="2800" dirty="0">
                <a:latin typeface="Calibir"/>
              </a:rPr>
              <a:t> and manage data easily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Teaches you how to find useful information quickly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Builds skills used in real jobs and businesses</a:t>
            </a:r>
          </a:p>
        </p:txBody>
      </p:sp>
    </p:spTree>
    <p:extLst>
      <p:ext uri="{BB962C8B-B14F-4D97-AF65-F5344CB8AC3E}">
        <p14:creationId xmlns:p14="http://schemas.microsoft.com/office/powerpoint/2010/main" val="222865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9656177-1C16-1F86-C67E-15014C9E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5F025-7685-CAFA-9F15-5CB6FC176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71379-4C5C-4858-D05B-7B6575CE3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D22A721-BB97-4F69-0034-3D53FC46C1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E1A50-516B-A1E6-51C6-C5A78B5B3F22}"/>
              </a:ext>
            </a:extLst>
          </p:cNvPr>
          <p:cNvSpPr txBox="1"/>
          <p:nvPr/>
        </p:nvSpPr>
        <p:spPr>
          <a:xfrm>
            <a:off x="0" y="667974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we practice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Practice helps you understand how databases work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learn by doing, not just watching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 improves your problem-solving skills</a:t>
            </a:r>
          </a:p>
        </p:txBody>
      </p:sp>
    </p:spTree>
    <p:extLst>
      <p:ext uri="{BB962C8B-B14F-4D97-AF65-F5344CB8AC3E}">
        <p14:creationId xmlns:p14="http://schemas.microsoft.com/office/powerpoint/2010/main" val="90612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1FB8C9-97C1-5703-3382-930FBCEB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9585E-98E8-4CD6-14BD-B3A6F9A66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815D3-8D19-E1CB-3BE3-C802C0333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1B4FBE5-2BC6-FAF1-BCC9-714E9C2D71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CC99A-913D-B3A4-5A81-DE13F07D3972}"/>
              </a:ext>
            </a:extLst>
          </p:cNvPr>
          <p:cNvSpPr txBox="1"/>
          <p:nvPr/>
        </p:nvSpPr>
        <p:spPr>
          <a:xfrm>
            <a:off x="0" y="667974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Big Picture: Beyond Microsoft Access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Today, many companies and universities 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SQL Databases (MySQL, PostgreSQL, SQL Server)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Cloud systems (Google </a:t>
            </a:r>
            <a:r>
              <a:rPr lang="en-US" sz="2800" dirty="0" err="1">
                <a:latin typeface="Calibir"/>
              </a:rPr>
              <a:t>BigQuery</a:t>
            </a:r>
            <a:r>
              <a:rPr lang="en-US" sz="2800" dirty="0">
                <a:latin typeface="Calibir"/>
              </a:rPr>
              <a:t>, AWS, Azure)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Data tools (Power BI, Tableau)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DFC7D-5388-7C0B-CE1E-11270341CCAA}"/>
              </a:ext>
            </a:extLst>
          </p:cNvPr>
          <p:cNvSpPr txBox="1"/>
          <p:nvPr/>
        </p:nvSpPr>
        <p:spPr>
          <a:xfrm>
            <a:off x="23751" y="3925148"/>
            <a:ext cx="898634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Think of it like a system: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Database (SQL)</a:t>
            </a:r>
            <a:r>
              <a:rPr lang="en-US" sz="2800" dirty="0">
                <a:latin typeface="Calibir"/>
              </a:rPr>
              <a:t> → stores data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Cloud</a:t>
            </a:r>
            <a:r>
              <a:rPr lang="en-US" sz="2800" dirty="0">
                <a:latin typeface="Calibir"/>
              </a:rPr>
              <a:t> → stores and runs the database online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Data tools</a:t>
            </a:r>
            <a:r>
              <a:rPr lang="en-US" sz="2800" dirty="0">
                <a:latin typeface="Calibir"/>
              </a:rPr>
              <a:t> → show the data in charts/dashboards</a:t>
            </a:r>
          </a:p>
        </p:txBody>
      </p:sp>
    </p:spTree>
    <p:extLst>
      <p:ext uri="{BB962C8B-B14F-4D97-AF65-F5344CB8AC3E}">
        <p14:creationId xmlns:p14="http://schemas.microsoft.com/office/powerpoint/2010/main" val="5382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8E211A0-E39F-EE43-631B-87D97A99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D2DEC-2C39-8580-E652-3814A976D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481EC-4D0C-5D34-19E7-609CB850D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93AD80-425B-62A9-B2A6-1AADDCFC7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6A879E-083F-E6CD-C706-651F19C80935}"/>
              </a:ext>
            </a:extLst>
          </p:cNvPr>
          <p:cNvSpPr txBox="1"/>
          <p:nvPr/>
        </p:nvSpPr>
        <p:spPr>
          <a:xfrm>
            <a:off x="0" y="667974"/>
            <a:ext cx="912024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Simple Example (Gym System)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1: Data is stored (SQL Database)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Table: Customers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BB5BE7-E5D2-5CFA-ECC7-3BA67BF60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745579"/>
              </p:ext>
            </p:extLst>
          </p:nvPr>
        </p:nvGraphicFramePr>
        <p:xfrm>
          <a:off x="616774" y="2838512"/>
          <a:ext cx="7886700" cy="15544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5977281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94688038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79323047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46853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CustomerID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Name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Class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Day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23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Cardio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Wednesday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508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Friday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985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28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9BE6B6A-EE90-45FA-56A8-0A7F3214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20591-640D-C6DB-D35F-A82A0459B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A8281-1D44-55A1-33C7-C00C0142C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D67A690-315D-1BE0-A029-7F21CEA891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6E8FF5-B8A7-B8D0-BDFF-97B5F8C8C09F}"/>
              </a:ext>
            </a:extLst>
          </p:cNvPr>
          <p:cNvSpPr txBox="1"/>
          <p:nvPr/>
        </p:nvSpPr>
        <p:spPr>
          <a:xfrm>
            <a:off x="0" y="667974"/>
            <a:ext cx="9120249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Ask a question (SQL Query)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“Show customers in Cardio classes”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SELECT Name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FROM Customers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WHERE Class = 'Cardio';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Result: Alex</a:t>
            </a:r>
          </a:p>
        </p:txBody>
      </p:sp>
    </p:spTree>
    <p:extLst>
      <p:ext uri="{BB962C8B-B14F-4D97-AF65-F5344CB8AC3E}">
        <p14:creationId xmlns:p14="http://schemas.microsoft.com/office/powerpoint/2010/main" val="197760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E2952ED-F027-679E-86F2-F053BD3F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380FF-EC52-A808-77DA-2A0CC3927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F953C-954B-B072-FB01-60D32C172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0DF591-D8DF-9096-DDE3-2F8B3E7453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F9A5F-855B-1002-D2B3-6466DCFDF6C3}"/>
              </a:ext>
            </a:extLst>
          </p:cNvPr>
          <p:cNvSpPr txBox="1"/>
          <p:nvPr/>
        </p:nvSpPr>
        <p:spPr>
          <a:xfrm>
            <a:off x="0" y="667974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3: Cloud system (</a:t>
            </a:r>
            <a:r>
              <a:rPr lang="en-US" sz="2800" b="1" dirty="0" err="1">
                <a:latin typeface="Calibir"/>
              </a:rPr>
              <a:t>BigQuery</a:t>
            </a:r>
            <a:r>
              <a:rPr lang="en-US" sz="2800" b="1" dirty="0">
                <a:latin typeface="Calibir"/>
              </a:rPr>
              <a:t> / AWS / Azure)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Stores this database online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Allows access from anywhere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Handles large amounts of data</a:t>
            </a:r>
          </a:p>
        </p:txBody>
      </p:sp>
    </p:spTree>
    <p:extLst>
      <p:ext uri="{BB962C8B-B14F-4D97-AF65-F5344CB8AC3E}">
        <p14:creationId xmlns:p14="http://schemas.microsoft.com/office/powerpoint/2010/main" val="3399072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B7A7E3F-693C-30E7-4908-DFBDC0E1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60284-34B9-AB41-C7D1-30813559F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619C-3A74-682F-7B63-A2D86C7DD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5602C7E-16FC-A805-F758-D8A7E1BCD0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39EC9-DE6E-75DF-0DAE-C09DDF41910C}"/>
              </a:ext>
            </a:extLst>
          </p:cNvPr>
          <p:cNvSpPr txBox="1"/>
          <p:nvPr/>
        </p:nvSpPr>
        <p:spPr>
          <a:xfrm>
            <a:off x="0" y="667974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4: Data tool (Power BI / Tableau)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Turns results into charts &amp; dashboards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Bar chart: Number of customers per class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Pie chart: % of class types</a:t>
            </a:r>
          </a:p>
        </p:txBody>
      </p:sp>
    </p:spTree>
    <p:extLst>
      <p:ext uri="{BB962C8B-B14F-4D97-AF65-F5344CB8AC3E}">
        <p14:creationId xmlns:p14="http://schemas.microsoft.com/office/powerpoint/2010/main" val="122482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A0D7E2B-A5C3-3CC9-C9D8-CB271E51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2428B-44FE-AFF7-E765-9690ABA3D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80214-82C6-5DBB-14F3-B6392D4D2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41E55E4-9D93-AEC4-F1E9-CFE828F86E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974FF-1763-DE2C-70CC-9E4E7E50A18E}"/>
              </a:ext>
            </a:extLst>
          </p:cNvPr>
          <p:cNvSpPr txBox="1"/>
          <p:nvPr/>
        </p:nvSpPr>
        <p:spPr>
          <a:xfrm>
            <a:off x="0" y="667974"/>
            <a:ext cx="912024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Flow (Big Picture)</a:t>
            </a:r>
            <a:endParaRPr lang="en-US" sz="2800" dirty="0">
              <a:latin typeface="Calibir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337688-F02D-D930-7934-EDE04E2ACA1C}"/>
              </a:ext>
            </a:extLst>
          </p:cNvPr>
          <p:cNvSpPr/>
          <p:nvPr/>
        </p:nvSpPr>
        <p:spPr>
          <a:xfrm>
            <a:off x="214038" y="1767348"/>
            <a:ext cx="3145116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Users/Apps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201FE4-397B-1D95-4F62-9944C1E39713}"/>
              </a:ext>
            </a:extLst>
          </p:cNvPr>
          <p:cNvSpPr/>
          <p:nvPr/>
        </p:nvSpPr>
        <p:spPr>
          <a:xfrm>
            <a:off x="214038" y="2731082"/>
            <a:ext cx="3145115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SQL Database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F8C549-F5D8-09FA-A2EA-C521A7500840}"/>
              </a:ext>
            </a:extLst>
          </p:cNvPr>
          <p:cNvSpPr/>
          <p:nvPr/>
        </p:nvSpPr>
        <p:spPr>
          <a:xfrm>
            <a:off x="202162" y="3694816"/>
            <a:ext cx="3145116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Cloud Platform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DC32C2-8EEF-4C2F-D9FF-2B1B792B6112}"/>
              </a:ext>
            </a:extLst>
          </p:cNvPr>
          <p:cNvSpPr/>
          <p:nvPr/>
        </p:nvSpPr>
        <p:spPr>
          <a:xfrm>
            <a:off x="202162" y="4658550"/>
            <a:ext cx="3156991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SQL Query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F19D43-15F0-A305-BF34-B1E34EBD7508}"/>
              </a:ext>
            </a:extLst>
          </p:cNvPr>
          <p:cNvSpPr/>
          <p:nvPr/>
        </p:nvSpPr>
        <p:spPr>
          <a:xfrm>
            <a:off x="190285" y="5567940"/>
            <a:ext cx="3156992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Power BI / Tableau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9C7901-AC42-581E-97D8-7569C9096F91}"/>
              </a:ext>
            </a:extLst>
          </p:cNvPr>
          <p:cNvSpPr txBox="1"/>
          <p:nvPr/>
        </p:nvSpPr>
        <p:spPr>
          <a:xfrm>
            <a:off x="3893536" y="2731082"/>
            <a:ext cx="52623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3D3935"/>
                </a:solidFill>
                <a:latin typeface="Calibir"/>
              </a:rPr>
              <a:t>(e.g. MySQL, SQL Server, PostgreSQL)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FAE75-FC25-8621-63C5-923ED9261883}"/>
              </a:ext>
            </a:extLst>
          </p:cNvPr>
          <p:cNvSpPr txBox="1"/>
          <p:nvPr/>
        </p:nvSpPr>
        <p:spPr>
          <a:xfrm>
            <a:off x="3924795" y="3429000"/>
            <a:ext cx="51879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alibir"/>
              </a:rPr>
              <a:t>(e.g. Microsoft Azure, AWS)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- hosts the database online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- runs the system (servers, storage)</a:t>
            </a:r>
            <a:endParaRPr lang="en-US" sz="2200" dirty="0">
              <a:solidFill>
                <a:srgbClr val="3D3935"/>
              </a:solidFill>
              <a:latin typeface="Calibi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3FB69-E40F-F5C6-28F6-552E0C22A9F9}"/>
              </a:ext>
            </a:extLst>
          </p:cNvPr>
          <p:cNvSpPr txBox="1"/>
          <p:nvPr/>
        </p:nvSpPr>
        <p:spPr>
          <a:xfrm>
            <a:off x="3881658" y="4553226"/>
            <a:ext cx="52742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alibir"/>
              </a:rPr>
              <a:t>(written by developers / analysts)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asks questions from the database</a:t>
            </a:r>
            <a:endParaRPr lang="en-US" sz="2200" dirty="0">
              <a:solidFill>
                <a:srgbClr val="3D3935"/>
              </a:solidFill>
              <a:latin typeface="Calibi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221B13-91F8-952F-765B-C381BC0ACF5C}"/>
              </a:ext>
            </a:extLst>
          </p:cNvPr>
          <p:cNvSpPr txBox="1"/>
          <p:nvPr/>
        </p:nvSpPr>
        <p:spPr>
          <a:xfrm>
            <a:off x="3893535" y="5528366"/>
            <a:ext cx="52267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alibir"/>
              </a:rPr>
              <a:t>creates dashboards, charts, reports</a:t>
            </a:r>
            <a:endParaRPr lang="en-US" sz="2200" dirty="0">
              <a:solidFill>
                <a:srgbClr val="3D3935"/>
              </a:solidFill>
              <a:latin typeface="Calibir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7C6271-7B13-718C-B30A-C23495D2D0D9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444651" y="1959165"/>
            <a:ext cx="448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549CDF-4506-4D75-5ACB-6E1D67A0962B}"/>
              </a:ext>
            </a:extLst>
          </p:cNvPr>
          <p:cNvSpPr txBox="1"/>
          <p:nvPr/>
        </p:nvSpPr>
        <p:spPr>
          <a:xfrm>
            <a:off x="3893536" y="1743721"/>
            <a:ext cx="52192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Calibir"/>
              </a:rPr>
              <a:t>(website, mobile app, staff using system)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5E95F6-C2E0-419B-E5A8-6F0E5007B9BB}"/>
              </a:ext>
            </a:extLst>
          </p:cNvPr>
          <p:cNvCxnSpPr>
            <a:cxnSpLocks/>
          </p:cNvCxnSpPr>
          <p:nvPr/>
        </p:nvCxnSpPr>
        <p:spPr>
          <a:xfrm>
            <a:off x="3444651" y="3002483"/>
            <a:ext cx="448885" cy="4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2C030F-7F02-5FF4-DFF1-C927354D73EC}"/>
              </a:ext>
            </a:extLst>
          </p:cNvPr>
          <p:cNvCxnSpPr>
            <a:cxnSpLocks/>
          </p:cNvCxnSpPr>
          <p:nvPr/>
        </p:nvCxnSpPr>
        <p:spPr>
          <a:xfrm>
            <a:off x="3432771" y="5779675"/>
            <a:ext cx="448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FB616B-260F-3D06-D14B-4CD1A3A1AD84}"/>
              </a:ext>
            </a:extLst>
          </p:cNvPr>
          <p:cNvCxnSpPr>
            <a:cxnSpLocks/>
          </p:cNvCxnSpPr>
          <p:nvPr/>
        </p:nvCxnSpPr>
        <p:spPr>
          <a:xfrm>
            <a:off x="3444650" y="4928338"/>
            <a:ext cx="448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5A1350-E85E-F5CB-E781-C92AF35A0A06}"/>
              </a:ext>
            </a:extLst>
          </p:cNvPr>
          <p:cNvCxnSpPr>
            <a:cxnSpLocks/>
          </p:cNvCxnSpPr>
          <p:nvPr/>
        </p:nvCxnSpPr>
        <p:spPr>
          <a:xfrm>
            <a:off x="3432771" y="3982406"/>
            <a:ext cx="4488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516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D63147-1A89-806F-4323-522DCB58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96232-34C8-2FA1-1A8F-FC4645779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8F909-4261-946C-7C8E-87E79D637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5A40A6-43E7-B5B6-BC22-0E7D519A0B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F1F45F33-3B09-04ED-6430-FC5FA9AE5310}"/>
              </a:ext>
            </a:extLst>
          </p:cNvPr>
          <p:cNvSpPr txBox="1">
            <a:spLocks/>
          </p:cNvSpPr>
          <p:nvPr/>
        </p:nvSpPr>
        <p:spPr>
          <a:xfrm>
            <a:off x="83302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AU" sz="1000" kern="1200" smtClean="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A81D6C-A9D6-78CC-BDA1-9B9437CCC0E4}"/>
              </a:ext>
            </a:extLst>
          </p:cNvPr>
          <p:cNvSpPr txBox="1"/>
          <p:nvPr/>
        </p:nvSpPr>
        <p:spPr>
          <a:xfrm>
            <a:off x="0" y="1154082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Where is Microsoft Access used?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Microsoft Access is usually used here instead:</a:t>
            </a: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	 - stores data + forms + queries in ONE file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        - used for small systems (school, small business)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253F181-219E-3FBE-2D78-49BA2CCA574A}"/>
              </a:ext>
            </a:extLst>
          </p:cNvPr>
          <p:cNvSpPr/>
          <p:nvPr/>
        </p:nvSpPr>
        <p:spPr>
          <a:xfrm>
            <a:off x="2673459" y="2713279"/>
            <a:ext cx="3145116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Users/Apps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33D71CE-E236-3A78-A1D0-A60CBE090ED8}"/>
              </a:ext>
            </a:extLst>
          </p:cNvPr>
          <p:cNvSpPr/>
          <p:nvPr/>
        </p:nvSpPr>
        <p:spPr>
          <a:xfrm>
            <a:off x="2673459" y="3677013"/>
            <a:ext cx="3145115" cy="51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ir"/>
              </a:rPr>
              <a:t>Microsoft Access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5D67E9-2EDF-895D-AB08-04E36475480D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4246017" y="3228287"/>
            <a:ext cx="0" cy="448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51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4DE38C3-AB1F-7C9C-17F2-678F49EE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003EB-7FAE-737D-BA1A-5F75BFD01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C2C79-FC6E-E860-63E6-D72CAFA3D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3E98C8-4235-715D-6B6F-3F8C7A0D44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3A8BC624-9953-5CD3-ED28-BC882BED0268}"/>
              </a:ext>
            </a:extLst>
          </p:cNvPr>
          <p:cNvSpPr txBox="1">
            <a:spLocks/>
          </p:cNvSpPr>
          <p:nvPr/>
        </p:nvSpPr>
        <p:spPr>
          <a:xfrm>
            <a:off x="83302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AU" sz="1000" kern="1200" smtClean="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AB1B3-FB84-1246-A829-380D69D40C32}"/>
              </a:ext>
            </a:extLst>
          </p:cNvPr>
          <p:cNvSpPr txBox="1"/>
          <p:nvPr/>
        </p:nvSpPr>
        <p:spPr>
          <a:xfrm>
            <a:off x="241738" y="1944414"/>
            <a:ext cx="850286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Access = all-in-one tool (small scale)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SQL + Cloud + BI tools = modern large systems</a:t>
            </a:r>
          </a:p>
        </p:txBody>
      </p:sp>
    </p:spTree>
    <p:extLst>
      <p:ext uri="{BB962C8B-B14F-4D97-AF65-F5344CB8AC3E}">
        <p14:creationId xmlns:p14="http://schemas.microsoft.com/office/powerpoint/2010/main" val="380509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8650BBC-AA6D-9FAA-95B6-90AEE7D0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F36B3E-B30F-41B2-25D7-64CA93266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E465E-9BE5-B35C-37C1-C49F21EF7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7289D2-F226-01F3-B71C-AE3A94E2A5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98797F-7244-8E74-D5E2-0B31C26DEACC}"/>
              </a:ext>
            </a:extLst>
          </p:cNvPr>
          <p:cNvSpPr txBox="1"/>
          <p:nvPr/>
        </p:nvSpPr>
        <p:spPr>
          <a:xfrm>
            <a:off x="0" y="667974"/>
            <a:ext cx="912024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Simple:</a:t>
            </a:r>
            <a:endParaRPr lang="en-US" sz="2800" dirty="0">
              <a:latin typeface="Calibir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1D7611E-9609-DD52-5AFA-1E3157E58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4908"/>
            <a:ext cx="7079695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Access = basic learning tool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SQL = language to talk to data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Cloud = where data lives today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Power BI/Tableau = how results are shown </a:t>
            </a:r>
          </a:p>
        </p:txBody>
      </p:sp>
    </p:spTree>
    <p:extLst>
      <p:ext uri="{BB962C8B-B14F-4D97-AF65-F5344CB8AC3E}">
        <p14:creationId xmlns:p14="http://schemas.microsoft.com/office/powerpoint/2010/main" val="3250014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17C110-C2D2-9B0F-162D-E7292C492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DFB01-ED73-ED8B-51A3-B297C01ED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C2DDE-F861-60D6-B7A7-53253C727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B9F584-31C3-3211-DBF3-EC0758E9DF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65501C-B13C-94E4-4EB1-07E549508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330579"/>
              </p:ext>
            </p:extLst>
          </p:nvPr>
        </p:nvGraphicFramePr>
        <p:xfrm>
          <a:off x="628650" y="1688319"/>
          <a:ext cx="7886700" cy="47244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347748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59626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8432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Tool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Where it fits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Used for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20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Calibir"/>
                        </a:rPr>
                        <a:t>Microsoft Access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Local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Learning, small databases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552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Calibir"/>
                        </a:rPr>
                        <a:t>SQL Database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Core data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Storing structured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15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Calibir"/>
                        </a:rPr>
                        <a:t>Azure / AWS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Cloud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Hosting databases &amp;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239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Calibir"/>
                        </a:rPr>
                        <a:t>Power BI / Tableau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Reports &amp;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4366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AF0090F-2E7D-AAA2-AF55-3322A57D2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0053"/>
            <a:ext cx="30668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Simple Comparison</a:t>
            </a:r>
          </a:p>
        </p:txBody>
      </p:sp>
    </p:spTree>
    <p:extLst>
      <p:ext uri="{BB962C8B-B14F-4D97-AF65-F5344CB8AC3E}">
        <p14:creationId xmlns:p14="http://schemas.microsoft.com/office/powerpoint/2010/main" val="1911547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6D90F2F-3168-C349-F829-974C2304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9D12F-572B-6CC0-74A6-80A82FA59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E816E-00DB-4174-7AD6-B66DBDD2A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766E46-AC82-5150-1361-BA0D55F14C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2C234D-788D-1ACF-5E77-F56A391D4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7" y="1054939"/>
            <a:ext cx="8693191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Real-Life Example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Gym system: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Customers book classes → </a:t>
            </a:r>
            <a:r>
              <a:rPr lang="en-US" sz="2800" i="1" dirty="0">
                <a:latin typeface="Calibir"/>
              </a:rPr>
              <a:t>(Users/App)</a:t>
            </a:r>
            <a:r>
              <a:rPr lang="en-US" sz="2800" dirty="0">
                <a:latin typeface="Calibir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Data saved → </a:t>
            </a:r>
            <a:r>
              <a:rPr lang="en-US" sz="2800" i="1" dirty="0">
                <a:latin typeface="Calibir"/>
              </a:rPr>
              <a:t>(SQL Database)</a:t>
            </a:r>
            <a:r>
              <a:rPr lang="en-US" sz="2800" dirty="0">
                <a:latin typeface="Calibir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Runs online → </a:t>
            </a:r>
            <a:r>
              <a:rPr lang="en-US" sz="2800" i="1" dirty="0">
                <a:latin typeface="Calibir"/>
              </a:rPr>
              <a:t>(Azure / AWS)</a:t>
            </a:r>
            <a:r>
              <a:rPr lang="en-US" sz="2800" dirty="0">
                <a:latin typeface="Calibir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Analyst checks data → </a:t>
            </a:r>
            <a:r>
              <a:rPr lang="en-US" sz="2800" i="1" dirty="0">
                <a:latin typeface="Calibir"/>
              </a:rPr>
              <a:t>(SQL Query)</a:t>
            </a:r>
            <a:r>
              <a:rPr lang="en-US" sz="2800" dirty="0">
                <a:latin typeface="Calibir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Manager sees report → </a:t>
            </a:r>
            <a:r>
              <a:rPr lang="en-US" sz="2800" i="1" dirty="0">
                <a:latin typeface="Calibir"/>
              </a:rPr>
              <a:t>(Power BI dashboard)</a:t>
            </a:r>
            <a:r>
              <a:rPr lang="en-US" sz="2800" dirty="0">
                <a:latin typeface="Calibi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5900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26E66E7-3482-F3AF-E9EA-1D0A5813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6E437-D52D-BE2D-982F-391E05FB3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29D81-7798-9102-4FB1-05CE2113B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9B56600-02FF-C9FA-9353-72CEE747A5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Why Practice Microsoft Access?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00EEB23-45CD-9AB1-841B-1C4BE4E5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7" y="1701270"/>
            <a:ext cx="8693191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Key Takeaway: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52438" algn="l"/>
                <a:tab pos="714375" algn="l"/>
              </a:tabLst>
            </a:pPr>
            <a:r>
              <a:rPr lang="en-US" sz="2800" dirty="0">
                <a:latin typeface="Calibir"/>
              </a:rPr>
              <a:t>“Microsoft Access does everything in one place for small systems.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52438" algn="l"/>
                <a:tab pos="714375" algn="l"/>
              </a:tabLst>
            </a:pPr>
            <a:r>
              <a:rPr lang="en-US" sz="2800" dirty="0">
                <a:latin typeface="Calibir"/>
              </a:rPr>
              <a:t>But real companies split it into parts: database, cloud, and reporting tools.”</a:t>
            </a:r>
          </a:p>
        </p:txBody>
      </p:sp>
    </p:spTree>
    <p:extLst>
      <p:ext uri="{BB962C8B-B14F-4D97-AF65-F5344CB8AC3E}">
        <p14:creationId xmlns:p14="http://schemas.microsoft.com/office/powerpoint/2010/main" val="600096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C3BAAAD-7E47-FE71-D4C0-0A8986D4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5883F-DFBE-D9EB-3CE3-013BB0CFA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104C6-2E6A-2F6E-7B95-CE8695B9E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F763433-4D9A-EC30-5F44-29B8D9054F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C3D4D-E109-3BC2-3710-6638A340960F}"/>
              </a:ext>
            </a:extLst>
          </p:cNvPr>
          <p:cNvSpPr txBox="1"/>
          <p:nvPr/>
        </p:nvSpPr>
        <p:spPr>
          <a:xfrm>
            <a:off x="0" y="667974"/>
            <a:ext cx="912024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By Example (QBE) lets you build queries visually in Access without writing SQL.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It’s beginner-friendly—just drag and drop fields instead of coding.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 of it like Excel filters with criteria, but in Access you can save and reuse it.</a:t>
            </a:r>
          </a:p>
        </p:txBody>
      </p:sp>
    </p:spTree>
    <p:extLst>
      <p:ext uri="{BB962C8B-B14F-4D97-AF65-F5344CB8AC3E}">
        <p14:creationId xmlns:p14="http://schemas.microsoft.com/office/powerpoint/2010/main" val="84324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EA88F4B-D635-5262-43BE-F9E420DF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EE21A-31DD-D532-464C-68D8C86DE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C14F9-9CF0-1060-72AE-E1A011993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2C24E5-224C-CF87-9E8E-965312966D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87A56-0E8F-0A8D-A3C3-B4819909AC0A}"/>
              </a:ext>
            </a:extLst>
          </p:cNvPr>
          <p:cNvSpPr txBox="1"/>
          <p:nvPr/>
        </p:nvSpPr>
        <p:spPr>
          <a:xfrm>
            <a:off x="0" y="667974"/>
            <a:ext cx="912024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(Pitt Fitness DB):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Download Pitt Fitness DB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FE125-0E6F-361E-D6C4-080028068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48" t="18071" r="13219" b="37586"/>
          <a:stretch>
            <a:fillRect/>
          </a:stretch>
        </p:blipFill>
        <p:spPr>
          <a:xfrm>
            <a:off x="23751" y="2250530"/>
            <a:ext cx="9120249" cy="328095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88649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9839F26-ED70-ED54-12B1-85546D7B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A3841-9B08-AA3E-935B-9A186F19A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62FF5-9AF5-431E-FCEB-E7EF8D121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24A6C3-A86E-1AE7-3EB6-A93B4B8748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D53D7B-C668-8D49-D167-21F04248D857}"/>
              </a:ext>
            </a:extLst>
          </p:cNvPr>
          <p:cNvSpPr txBox="1"/>
          <p:nvPr/>
        </p:nvSpPr>
        <p:spPr>
          <a:xfrm>
            <a:off x="1" y="667974"/>
            <a:ext cx="5297213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(Pitt Fitness DB):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Open Create → Query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EEC575-ABBA-9283-ED4A-A63FBE776C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391" b="45964"/>
          <a:stretch>
            <a:fillRect/>
          </a:stretch>
        </p:blipFill>
        <p:spPr>
          <a:xfrm>
            <a:off x="5297214" y="1077967"/>
            <a:ext cx="3846785" cy="369903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CC71A2-8A84-8C17-B503-DBC8E4C10F2A}"/>
              </a:ext>
            </a:extLst>
          </p:cNvPr>
          <p:cNvSpPr/>
          <p:nvPr/>
        </p:nvSpPr>
        <p:spPr>
          <a:xfrm>
            <a:off x="6789684" y="4246179"/>
            <a:ext cx="1303283" cy="35735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3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0598429-9FCC-8534-8A70-033D8119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314AC0-1E1C-C507-8903-FE5306B28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99" t="3359" r="51379" b="43308"/>
          <a:stretch>
            <a:fillRect/>
          </a:stretch>
        </p:blipFill>
        <p:spPr>
          <a:xfrm>
            <a:off x="4614040" y="515007"/>
            <a:ext cx="4529959" cy="374151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58D0A7-6D0F-B1FD-99C9-287816ACD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10BB3-19EF-81D7-4FB8-97E65E996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00B8BE-16F5-ABD2-C3B0-6E7EC2806F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1C3F3D-CF61-F107-DDF7-63DFE7D4B38C}"/>
              </a:ext>
            </a:extLst>
          </p:cNvPr>
          <p:cNvSpPr/>
          <p:nvPr/>
        </p:nvSpPr>
        <p:spPr>
          <a:xfrm>
            <a:off x="5062926" y="1524001"/>
            <a:ext cx="1295831" cy="2569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EE2C4B-C937-14AA-453A-096711C3C8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781" b="50000"/>
          <a:stretch>
            <a:fillRect/>
          </a:stretch>
        </p:blipFill>
        <p:spPr>
          <a:xfrm>
            <a:off x="5192110" y="4286250"/>
            <a:ext cx="3951890" cy="257175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BA2002-864A-739C-6ABB-5399E4E49765}"/>
              </a:ext>
            </a:extLst>
          </p:cNvPr>
          <p:cNvSpPr/>
          <p:nvPr/>
        </p:nvSpPr>
        <p:spPr>
          <a:xfrm>
            <a:off x="8250621" y="5370785"/>
            <a:ext cx="767254" cy="25224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DE7A213-0080-CF65-C82B-2F431CBE6E56}"/>
              </a:ext>
            </a:extLst>
          </p:cNvPr>
          <p:cNvCxnSpPr>
            <a:cxnSpLocks/>
            <a:stCxn id="5" idx="1"/>
            <a:endCxn id="10" idx="1"/>
          </p:cNvCxnSpPr>
          <p:nvPr/>
        </p:nvCxnSpPr>
        <p:spPr>
          <a:xfrm rot="10800000" flipH="1" flipV="1">
            <a:off x="4614040" y="2385765"/>
            <a:ext cx="578070" cy="3186359"/>
          </a:xfrm>
          <a:prstGeom prst="bentConnector3">
            <a:avLst>
              <a:gd name="adj1" fmla="val -3954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89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9AED1AD-C133-4C0D-6DBE-46B6B692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5D7E7-72B1-E7B4-25D3-50A455406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F20A2-BDFC-1DD9-B60B-04ED8BE7C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2CB394-CB03-13D0-59FF-A8723C9C3E3F}"/>
              </a:ext>
            </a:extLst>
          </p:cNvPr>
          <p:cNvSpPr/>
          <p:nvPr/>
        </p:nvSpPr>
        <p:spPr>
          <a:xfrm>
            <a:off x="7080912" y="2511973"/>
            <a:ext cx="1295831" cy="25698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4490B4-ADBF-0225-E415-7A951CF97E97}"/>
              </a:ext>
            </a:extLst>
          </p:cNvPr>
          <p:cNvSpPr/>
          <p:nvPr/>
        </p:nvSpPr>
        <p:spPr>
          <a:xfrm>
            <a:off x="7599586" y="4530516"/>
            <a:ext cx="197714" cy="17046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43312F2-665A-735D-5655-FEB1F43631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8130" y="2044916"/>
            <a:ext cx="604586" cy="125332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56BF45-EA9F-933D-5446-7C9A20BC2BB9}"/>
              </a:ext>
            </a:extLst>
          </p:cNvPr>
          <p:cNvSpPr/>
          <p:nvPr/>
        </p:nvSpPr>
        <p:spPr>
          <a:xfrm>
            <a:off x="7646031" y="4705873"/>
            <a:ext cx="678161" cy="33909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FF3ADE-A5B3-6E5D-35BF-E2D7827E14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F1B5D-E2FA-21C7-CDB4-57284C714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"/>
          <a:stretch>
            <a:fillRect/>
          </a:stretch>
        </p:blipFill>
        <p:spPr>
          <a:xfrm>
            <a:off x="0" y="1103471"/>
            <a:ext cx="9144000" cy="4818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343FE4-5E7C-45E9-C8D4-B962299C96BE}"/>
              </a:ext>
            </a:extLst>
          </p:cNvPr>
          <p:cNvSpPr txBox="1"/>
          <p:nvPr/>
        </p:nvSpPr>
        <p:spPr>
          <a:xfrm>
            <a:off x="0" y="3751366"/>
            <a:ext cx="2888166" cy="195703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On the top menu, go to Create → Query Design.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B5F7E7-7A5F-B073-8716-85C418AC01C0}"/>
              </a:ext>
            </a:extLst>
          </p:cNvPr>
          <p:cNvSpPr/>
          <p:nvPr/>
        </p:nvSpPr>
        <p:spPr>
          <a:xfrm>
            <a:off x="1966344" y="1590966"/>
            <a:ext cx="308506" cy="53891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7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13F4422-6154-64AD-8030-C7B2A8DD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BFC51E-1810-7806-E5A9-4ABFAE282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"/>
          <a:stretch>
            <a:fillRect/>
          </a:stretch>
        </p:blipFill>
        <p:spPr>
          <a:xfrm>
            <a:off x="0" y="857250"/>
            <a:ext cx="9144000" cy="481872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B997D3-4251-CEB8-4807-103B5BDD0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BC7A1-EC14-0B12-52D0-B07C7284E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8F2C29-9759-67D9-DA61-95FA8D38F430}"/>
              </a:ext>
            </a:extLst>
          </p:cNvPr>
          <p:cNvSpPr/>
          <p:nvPr/>
        </p:nvSpPr>
        <p:spPr>
          <a:xfrm>
            <a:off x="7698443" y="2977632"/>
            <a:ext cx="1295831" cy="1704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9FC9047-05DE-493E-8524-E38F21E7F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B3330-5B08-00A4-6677-19D060CED30A}"/>
              </a:ext>
            </a:extLst>
          </p:cNvPr>
          <p:cNvSpPr txBox="1"/>
          <p:nvPr/>
        </p:nvSpPr>
        <p:spPr>
          <a:xfrm>
            <a:off x="0" y="3751366"/>
            <a:ext cx="2888166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Double Click Customers</a:t>
            </a:r>
          </a:p>
        </p:txBody>
      </p:sp>
    </p:spTree>
    <p:extLst>
      <p:ext uri="{BB962C8B-B14F-4D97-AF65-F5344CB8AC3E}">
        <p14:creationId xmlns:p14="http://schemas.microsoft.com/office/powerpoint/2010/main" val="3651720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1ADD407-7A99-FA1F-1B8D-30DBBF75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40E002-E577-1C6D-0602-919568DD50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"/>
          <a:stretch>
            <a:fillRect/>
          </a:stretch>
        </p:blipFill>
        <p:spPr>
          <a:xfrm>
            <a:off x="0" y="857250"/>
            <a:ext cx="9144000" cy="481872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CE4FB-BB03-EC19-6EC3-2C53D49F5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4709-A7B0-F0C1-211E-8C2AF4E37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0A600E-BA26-5671-1A89-E9CEF88883E2}"/>
              </a:ext>
            </a:extLst>
          </p:cNvPr>
          <p:cNvSpPr/>
          <p:nvPr/>
        </p:nvSpPr>
        <p:spPr>
          <a:xfrm>
            <a:off x="7698443" y="2977632"/>
            <a:ext cx="1295831" cy="1704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62CCE7-71D4-3F5F-D79C-A7104E2856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3FCE1-68D1-16B4-6678-5B9C409C7C34}"/>
              </a:ext>
            </a:extLst>
          </p:cNvPr>
          <p:cNvSpPr txBox="1"/>
          <p:nvPr/>
        </p:nvSpPr>
        <p:spPr>
          <a:xfrm>
            <a:off x="16352" y="3148100"/>
            <a:ext cx="2983325" cy="3903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We’ll see the Query Design View with the grid at the bottom (rows for Field, Table, Sort, Show, Criteria).</a:t>
            </a:r>
          </a:p>
        </p:txBody>
      </p:sp>
    </p:spTree>
    <p:extLst>
      <p:ext uri="{BB962C8B-B14F-4D97-AF65-F5344CB8AC3E}">
        <p14:creationId xmlns:p14="http://schemas.microsoft.com/office/powerpoint/2010/main" val="456635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4894BB4-789B-1BF0-04E7-589562C9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AB909-78DB-0598-2D4C-55C1C5D70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0102B-96E6-5831-AFA7-8D9B90400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7755C8A-AADB-C577-1325-DA4E694C82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D9B8D-BA1D-140D-749B-403BE2FBF8D0}"/>
              </a:ext>
            </a:extLst>
          </p:cNvPr>
          <p:cNvSpPr txBox="1"/>
          <p:nvPr/>
        </p:nvSpPr>
        <p:spPr>
          <a:xfrm>
            <a:off x="-1" y="857251"/>
            <a:ext cx="2821259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Press Ctrl and Select CustomerID and LastName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195430-D1A9-8780-BF8E-03F7D31CD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829" b="18672"/>
          <a:stretch>
            <a:fillRect/>
          </a:stretch>
        </p:blipFill>
        <p:spPr>
          <a:xfrm>
            <a:off x="2926820" y="857251"/>
            <a:ext cx="6217179" cy="590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82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5C3F185-A7B7-E642-588C-FA530B75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FF374-0998-B0DA-FD09-16952544AB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A7BB2-1125-73CB-3D11-41985BD1E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DB86C7-D467-EFDD-F4EA-EAB99B6C0B8A}"/>
              </a:ext>
            </a:extLst>
          </p:cNvPr>
          <p:cNvSpPr/>
          <p:nvPr/>
        </p:nvSpPr>
        <p:spPr>
          <a:xfrm>
            <a:off x="7698443" y="2977632"/>
            <a:ext cx="1295831" cy="1704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3B6BC2-7C62-1480-7918-FD1A23F4BD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988B8-4510-FFE2-D7BE-3058E985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26" b="5866"/>
          <a:stretch>
            <a:fillRect/>
          </a:stretch>
        </p:blipFill>
        <p:spPr>
          <a:xfrm>
            <a:off x="2821258" y="857250"/>
            <a:ext cx="6322742" cy="49691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60E95B-19F6-B684-59BA-C7E066A252DD}"/>
              </a:ext>
            </a:extLst>
          </p:cNvPr>
          <p:cNvSpPr txBox="1"/>
          <p:nvPr/>
        </p:nvSpPr>
        <p:spPr>
          <a:xfrm>
            <a:off x="-1" y="857251"/>
            <a:ext cx="2821259" cy="32571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 them from the Customers table into the grid.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EE0C287-A83E-3ED1-632E-59074D7D3828}"/>
              </a:ext>
            </a:extLst>
          </p:cNvPr>
          <p:cNvCxnSpPr/>
          <p:nvPr/>
        </p:nvCxnSpPr>
        <p:spPr>
          <a:xfrm rot="16200000" flipH="1">
            <a:off x="3172523" y="3061009"/>
            <a:ext cx="1750741" cy="60216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313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801C7C7-F574-C9FF-5489-AF2F35F6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D57AA-6509-BBAD-960B-25B86B7A8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A019-2B83-3A34-A645-839A4555B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EBED15A-19AF-06BF-0BDF-2FD0F2DB2D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7EDCEC-4C96-5704-BA91-6D62B292A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73" t="20406" r="47561" b="23008"/>
          <a:stretch>
            <a:fillRect/>
          </a:stretch>
        </p:blipFill>
        <p:spPr>
          <a:xfrm>
            <a:off x="2926821" y="857250"/>
            <a:ext cx="3128291" cy="488912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C1571F-69C1-AA92-3F82-9EE96A186F29}"/>
              </a:ext>
            </a:extLst>
          </p:cNvPr>
          <p:cNvSpPr/>
          <p:nvPr/>
        </p:nvSpPr>
        <p:spPr>
          <a:xfrm>
            <a:off x="2926821" y="4527395"/>
            <a:ext cx="3128291" cy="53525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07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412B323-B55C-C06F-2CEA-60655DAC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A7F5E-DEF0-0A47-B1A7-4EBC058A8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AE591-7043-6CDB-4370-832FBF162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0BD3FC1-CCAD-2BB2-F679-C227765134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7FDC9-D417-F77F-011A-6E9945110E13}"/>
              </a:ext>
            </a:extLst>
          </p:cNvPr>
          <p:cNvSpPr txBox="1"/>
          <p:nvPr/>
        </p:nvSpPr>
        <p:spPr>
          <a:xfrm>
            <a:off x="0" y="950628"/>
            <a:ext cx="2821259" cy="26080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 Sort for LastName → select Ascending.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ACA36-EBF0-1704-AD7E-6224A43A3E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83" b="21924"/>
          <a:stretch>
            <a:fillRect/>
          </a:stretch>
        </p:blipFill>
        <p:spPr>
          <a:xfrm>
            <a:off x="2926821" y="950628"/>
            <a:ext cx="6217179" cy="521902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E55A6A-61FB-6ABD-7CDB-D14D3EA1E17A}"/>
              </a:ext>
            </a:extLst>
          </p:cNvPr>
          <p:cNvSpPr/>
          <p:nvPr/>
        </p:nvSpPr>
        <p:spPr>
          <a:xfrm>
            <a:off x="8109774" y="5631366"/>
            <a:ext cx="1034226" cy="17842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19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2178521-A723-C6F5-1242-385BD462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3CCE82-AFE1-5DB7-EED0-25FB17DC43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561" b="24960"/>
          <a:stretch>
            <a:fillRect/>
          </a:stretch>
        </p:blipFill>
        <p:spPr>
          <a:xfrm>
            <a:off x="2926820" y="950628"/>
            <a:ext cx="6217179" cy="50044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7FDE8-46D1-A835-F2F9-DC95958ED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26E5B-3D14-12D9-7732-1D4C323F0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62D811-4B39-EB9C-5FD3-B828471B0C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Query by Example (QBE) in Access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A032B-CD7B-B310-BF9E-CE05228EC340}"/>
              </a:ext>
            </a:extLst>
          </p:cNvPr>
          <p:cNvSpPr txBox="1"/>
          <p:nvPr/>
        </p:nvSpPr>
        <p:spPr>
          <a:xfrm>
            <a:off x="0" y="950628"/>
            <a:ext cx="2821259" cy="196175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Run (red !) to see results.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A671C8-CA7B-6031-AC24-A443C415B7BF}"/>
              </a:ext>
            </a:extLst>
          </p:cNvPr>
          <p:cNvSpPr/>
          <p:nvPr/>
        </p:nvSpPr>
        <p:spPr>
          <a:xfrm>
            <a:off x="3407682" y="1594625"/>
            <a:ext cx="406035" cy="61331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12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A7D7863-9EC8-44E0-2FDC-5BD0BBCA1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D5E13-CB8C-D084-F0D3-745D1C3D8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ECF72-44A4-8C7F-156C-61FF379CC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8262481-B22B-A89F-9C18-A85A6999F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05756-85DF-3713-2CDB-EDDC2E2193E3}"/>
              </a:ext>
            </a:extLst>
          </p:cNvPr>
          <p:cNvSpPr txBox="1"/>
          <p:nvPr/>
        </p:nvSpPr>
        <p:spPr>
          <a:xfrm>
            <a:off x="0" y="892097"/>
            <a:ext cx="898788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</a:t>
            </a:r>
            <a:r>
              <a:rPr lang="en-US" sz="2800" dirty="0">
                <a:latin typeface="Calibir"/>
              </a:rPr>
              <a:t> Build and save a query that shows LastName and City, sorted A–Z by LastName (3-4 minutes)</a:t>
            </a:r>
          </a:p>
        </p:txBody>
      </p:sp>
    </p:spTree>
    <p:extLst>
      <p:ext uri="{BB962C8B-B14F-4D97-AF65-F5344CB8AC3E}">
        <p14:creationId xmlns:p14="http://schemas.microsoft.com/office/powerpoint/2010/main" val="2299558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A7D7863-9EC8-44E0-2FDC-5BD0BBCA1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D5E13-CB8C-D084-F0D3-745D1C3D8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ECF72-44A4-8C7F-156C-61FF379CC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8262481-B22B-A89F-9C18-A85A6999F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76E309-933D-19EC-39DD-4941A4475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0578"/>
            <a:ext cx="9144000" cy="6718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Go to Create → Query Design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2BD84-C31C-B8A3-7200-9532CCA01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147" b="50000"/>
          <a:stretch>
            <a:fillRect/>
          </a:stretch>
        </p:blipFill>
        <p:spPr>
          <a:xfrm>
            <a:off x="2988527" y="2200910"/>
            <a:ext cx="6155473" cy="309957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F9B7FB-9DB0-FC80-8234-1E562ACA69AE}"/>
              </a:ext>
            </a:extLst>
          </p:cNvPr>
          <p:cNvSpPr/>
          <p:nvPr/>
        </p:nvSpPr>
        <p:spPr>
          <a:xfrm>
            <a:off x="5358581" y="2779244"/>
            <a:ext cx="363793" cy="77674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41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5259624-3C94-391A-087A-173C86DD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28D11-1554-45B6-A5D3-92ACAAA59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C2F0C-23E5-8CFF-C99E-0E2389EF9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7D7B20-54CB-3E13-E3F0-3A2CB20FCF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96D63A1-83E7-9DA4-D272-207AC1E41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2353"/>
            <a:ext cx="9144000" cy="669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sz="2800" dirty="0">
                <a:latin typeface="Calibir"/>
              </a:rPr>
              <a:t>In Show Table, double-click Customers → Close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E3165-0A02-55B4-D600-0F1C63A30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5413"/>
          <a:stretch>
            <a:fillRect/>
          </a:stretch>
        </p:blipFill>
        <p:spPr>
          <a:xfrm>
            <a:off x="363793" y="2379993"/>
            <a:ext cx="8416413" cy="44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77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D4CB215-50A8-A1AE-3445-05ED3C5A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AD7E201-0C0E-B6A9-03E6-03129F39F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572"/>
          <a:stretch>
            <a:fillRect/>
          </a:stretch>
        </p:blipFill>
        <p:spPr>
          <a:xfrm>
            <a:off x="0" y="2579411"/>
            <a:ext cx="9144000" cy="393106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3C048BE-EA92-A46E-0C63-0E1BA073E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3775"/>
            <a:ext cx="9144000" cy="1315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sz="2800" dirty="0">
                <a:latin typeface="Calibir"/>
              </a:rPr>
              <a:t>In the top pane, drag LastName to the first column of the grid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CF684-C3D5-E565-93D8-902F845E4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CE140-F229-6EC5-BF0A-A1CDC4862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70E01E7-A2C5-9E8A-4C47-57C63511E1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586FDF-B8BB-6508-DC76-CC04CF8C31B4}"/>
              </a:ext>
            </a:extLst>
          </p:cNvPr>
          <p:cNvSpPr/>
          <p:nvPr/>
        </p:nvSpPr>
        <p:spPr>
          <a:xfrm>
            <a:off x="3097162" y="4303285"/>
            <a:ext cx="1229032" cy="1114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3A2ECBD-080B-1676-385A-99B05D14C7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29525" y="4792622"/>
            <a:ext cx="1525208" cy="58993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570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378078B-3245-F368-D2CF-5EB86FEF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4DE500-D260-B1D5-0D6B-B396BD6E9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07"/>
          <a:stretch>
            <a:fillRect/>
          </a:stretch>
        </p:blipFill>
        <p:spPr>
          <a:xfrm>
            <a:off x="471948" y="2229200"/>
            <a:ext cx="8200103" cy="425711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0251D02-3C25-07FD-A847-52AE415F1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3775"/>
            <a:ext cx="9144000" cy="1315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sz="2800" dirty="0">
                <a:latin typeface="Calibir"/>
              </a:rPr>
              <a:t>In the top pane, drag LastName to the first column of the grid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70BF0-B385-9763-5229-C62C4AD0D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3FE5F-9A49-145D-9C92-8DF6D2B0B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7C9C2F-9A47-5B59-62B4-F9CAB1878C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705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2E01372-1E22-063C-D6C0-368312FB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5F293642-366F-4FBD-3432-B821FA0A9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6941"/>
            <a:ext cx="9144000" cy="669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4.    Drag City to the second column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F2BCD-F261-3418-E9E6-02B4BDFF7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A1B14-C1AE-5DFE-E1F7-FA1A6579B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8BE0BA-83D6-E6D4-4A9E-83B68CE60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0FE27-01D1-4D45-5B24-965BB145FF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03"/>
          <a:stretch>
            <a:fillRect/>
          </a:stretch>
        </p:blipFill>
        <p:spPr>
          <a:xfrm>
            <a:off x="249464" y="1920101"/>
            <a:ext cx="8645071" cy="459037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93D9F5-BB8B-7C80-8E19-F074A189115F}"/>
              </a:ext>
            </a:extLst>
          </p:cNvPr>
          <p:cNvSpPr/>
          <p:nvPr/>
        </p:nvSpPr>
        <p:spPr>
          <a:xfrm>
            <a:off x="4031226" y="4975123"/>
            <a:ext cx="737419" cy="36379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56CBF42-0F9C-8C92-6B9A-200284FCD0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86894" y="4013603"/>
            <a:ext cx="1157488" cy="73741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826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8C1DB97-CC8B-CF76-2BEB-C162970E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59EED8-D84F-1437-C00F-4ABB50E0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146"/>
          <a:stretch>
            <a:fillRect/>
          </a:stretch>
        </p:blipFill>
        <p:spPr>
          <a:xfrm>
            <a:off x="0" y="2063652"/>
            <a:ext cx="9144000" cy="390156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DC88937-DE11-4940-9FCE-0B8EEDAF7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6941"/>
            <a:ext cx="9144000" cy="669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5.    In the Sort row under LastName, choose Ascending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22C96-CA4D-7992-E857-E66118198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D6EC2-68AD-62F4-6F86-EE34D5B97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7C3786-4BD1-FD08-756E-6F8ABD7B33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742FC0-7630-1B19-2032-A00FB73493B3}"/>
              </a:ext>
            </a:extLst>
          </p:cNvPr>
          <p:cNvSpPr/>
          <p:nvPr/>
        </p:nvSpPr>
        <p:spPr>
          <a:xfrm>
            <a:off x="2936908" y="5309419"/>
            <a:ext cx="1113982" cy="65579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86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87A8E19-D967-D399-1764-F474E77D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8DD0CA-D8D4-E16B-C03B-D9B203468C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146"/>
          <a:stretch>
            <a:fillRect/>
          </a:stretch>
        </p:blipFill>
        <p:spPr>
          <a:xfrm>
            <a:off x="0" y="2063652"/>
            <a:ext cx="9144000" cy="390156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BAC6262-8083-1E3A-46A3-45F9D83F7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6941"/>
            <a:ext cx="9144000" cy="669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6.    Make sure Show is ticked for both fields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D48DC6-D44E-7EDA-B853-667328C3F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D06B-298B-B7EE-FB8C-30352BB2C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55E509B-144A-8E26-0892-83776365C2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CC495E-61E1-20FA-C2D8-AAE968381A87}"/>
              </a:ext>
            </a:extLst>
          </p:cNvPr>
          <p:cNvSpPr/>
          <p:nvPr/>
        </p:nvSpPr>
        <p:spPr>
          <a:xfrm>
            <a:off x="3559276" y="5692877"/>
            <a:ext cx="1209369" cy="11798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0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431B8C2-211F-0B56-A2CA-569F282B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1BBB50-8C2C-9A0A-052F-28A8893F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803"/>
          <a:stretch>
            <a:fillRect/>
          </a:stretch>
        </p:blipFill>
        <p:spPr>
          <a:xfrm>
            <a:off x="0" y="1830436"/>
            <a:ext cx="9144000" cy="46392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11366A5-47FF-F7AD-F570-CA87602CF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6941"/>
            <a:ext cx="9144000" cy="669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7.    Click Run (red !) to view results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315F3-B691-CC7B-A51E-BAA11EE11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0897D-AA11-A2B3-0FB3-B5C524305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FE56701-C856-ABAB-8825-0880DCC45C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6CD948-7163-E305-8151-EB0404763845}"/>
              </a:ext>
            </a:extLst>
          </p:cNvPr>
          <p:cNvSpPr/>
          <p:nvPr/>
        </p:nvSpPr>
        <p:spPr>
          <a:xfrm>
            <a:off x="393290" y="2332381"/>
            <a:ext cx="304802" cy="47964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09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6513427-61E6-098A-ABAF-EB81AD9E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71B866-9FEF-A310-A6BA-0DDCCC5B0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82"/>
          <a:stretch>
            <a:fillRect/>
          </a:stretch>
        </p:blipFill>
        <p:spPr>
          <a:xfrm>
            <a:off x="196645" y="1951557"/>
            <a:ext cx="8750710" cy="455891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6422017-AAD5-A370-1A40-7356EA054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2398"/>
            <a:ext cx="9144000" cy="13181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8.   Click Save (ctrl + S), name the query </a:t>
            </a:r>
            <a:r>
              <a:rPr lang="en-US" sz="2800" dirty="0" err="1">
                <a:latin typeface="Calibir"/>
              </a:rPr>
              <a:t>QRY_CustomerCity</a:t>
            </a:r>
            <a:r>
              <a:rPr lang="en-US" sz="2800" dirty="0">
                <a:latin typeface="Calibir"/>
              </a:rPr>
              <a:t> → OK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528BB-B60F-F0A6-BF88-A29965617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56C52-F2BB-AFE7-9039-0D4FD2D84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184B992-918A-E26A-2E3A-75FC9C3799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260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D49C39E-28C1-4F8F-E758-23907B1C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A5C53-2998-E9FF-273F-0846F966E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3086B-2990-BC7B-1CC0-47C26D488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60588B3-6140-51A1-1C6E-9979C96C2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543CC-1B63-1F7E-8623-9D40FA109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5"/>
          <a:stretch>
            <a:fillRect/>
          </a:stretch>
        </p:blipFill>
        <p:spPr>
          <a:xfrm>
            <a:off x="173420" y="1363274"/>
            <a:ext cx="8797159" cy="467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27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8B4C621-8825-A2D6-49BC-A7544669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790FF-DAC8-D4A5-E0C8-6702BC21C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26D68-1EF8-4BAA-3814-AB2B38CD9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BA33140-2591-9D8E-E5B0-A187F54374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Create </a:t>
            </a:r>
            <a:r>
              <a:rPr lang="en-US" sz="3200" dirty="0" err="1"/>
              <a:t>QRY_CustomerCity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AA984-6C10-C10A-AE2C-0A117B08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09"/>
          <a:stretch>
            <a:fillRect/>
          </a:stretch>
        </p:blipFill>
        <p:spPr>
          <a:xfrm>
            <a:off x="0" y="1236936"/>
            <a:ext cx="9144000" cy="484986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DEB4AE-2B27-7689-3680-6269586EE3BB}"/>
              </a:ext>
            </a:extLst>
          </p:cNvPr>
          <p:cNvSpPr/>
          <p:nvPr/>
        </p:nvSpPr>
        <p:spPr>
          <a:xfrm>
            <a:off x="4193628" y="2291256"/>
            <a:ext cx="1093075" cy="26275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61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253A7B3-D487-6A1B-7A68-C905F119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3AC105-A7A1-C118-8C0A-49FAF97E6BD6}"/>
              </a:ext>
            </a:extLst>
          </p:cNvPr>
          <p:cNvSpPr txBox="1"/>
          <p:nvPr/>
        </p:nvSpPr>
        <p:spPr>
          <a:xfrm>
            <a:off x="0" y="267044"/>
            <a:ext cx="9144000" cy="64888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What: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Criteria = filters we add to a query.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Why: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They help us find only the records we want.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Analogy: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Like shopping online at Woolworths and filtering for </a:t>
            </a:r>
            <a:r>
              <a:rPr lang="en-US" sz="2800" i="1" dirty="0">
                <a:latin typeface="Calibir"/>
              </a:rPr>
              <a:t>“Milk under $5”</a:t>
            </a:r>
            <a:r>
              <a:rPr lang="en-US" sz="2800" dirty="0">
                <a:latin typeface="Calibir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Examples: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Find products with </a:t>
            </a:r>
            <a:r>
              <a:rPr lang="en-US" sz="2800" b="1" dirty="0">
                <a:latin typeface="Calibir"/>
              </a:rPr>
              <a:t>Price &gt; 200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Find names starting with “M” → LIKE "M*"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FB5F5-4762-9F69-A96A-3F153567E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82555-5292-86A7-3595-99E144BC5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A757C1-4424-D289-71A8-9CA17B7E75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78058"/>
            <a:ext cx="7348654" cy="557050"/>
          </a:xfrm>
        </p:spPr>
        <p:txBody>
          <a:bodyPr>
            <a:noAutofit/>
          </a:bodyPr>
          <a:lstStyle/>
          <a:p>
            <a:r>
              <a:rPr lang="en-US" sz="3200" dirty="0"/>
              <a:t>Adding Criteria to Queries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74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5DBCE86-E65B-399C-E903-39D3B7B3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693E6-BB96-A224-3EB2-9B5EA9DA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D7FEA-AF1A-0A55-E11F-4CD5D7A7B1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B3376C6-CC52-844A-402E-95B33B9D46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2B851-6EBA-7771-CF8C-E056239629AC}"/>
              </a:ext>
            </a:extLst>
          </p:cNvPr>
          <p:cNvSpPr txBox="1"/>
          <p:nvPr/>
        </p:nvSpPr>
        <p:spPr>
          <a:xfrm>
            <a:off x="0" y="1045599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Show customers who have a reservation on 1/7/2021, then filter to Wednesday OR Friday.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9305C3FB-FC63-DAE2-B747-F2507D1639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460" t="44636" r="41034" b="40447"/>
          <a:stretch>
            <a:fillRect/>
          </a:stretch>
        </p:blipFill>
        <p:spPr>
          <a:xfrm>
            <a:off x="3725917" y="3342289"/>
            <a:ext cx="1692166" cy="76725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333340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0C13D61-3681-F41F-4EED-AEFB0C84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FE4F5-E8DE-8810-99AE-5D0C33EA6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C7ED5-F4D5-0E7F-8BCE-0091C9EDB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38ED28B-FDD6-B4F4-2888-50358FD3E3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37B15-5FE0-F0DC-BAF3-6DD862790281}"/>
              </a:ext>
            </a:extLst>
          </p:cNvPr>
          <p:cNvSpPr txBox="1"/>
          <p:nvPr/>
        </p:nvSpPr>
        <p:spPr>
          <a:xfrm>
            <a:off x="0" y="1962616"/>
            <a:ext cx="418812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Create → Query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10D60-D492-1462-D85A-B8172F18D6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44905"/>
          <a:stretch>
            <a:fillRect/>
          </a:stretch>
        </p:blipFill>
        <p:spPr>
          <a:xfrm>
            <a:off x="4554414" y="2096181"/>
            <a:ext cx="4572000" cy="28338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31D8C8-599C-0FD6-C58A-4993FF138677}"/>
              </a:ext>
            </a:extLst>
          </p:cNvPr>
          <p:cNvSpPr/>
          <p:nvPr/>
        </p:nvSpPr>
        <p:spPr>
          <a:xfrm>
            <a:off x="6512167" y="2586960"/>
            <a:ext cx="310661" cy="633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66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350DB79-5FAA-2A1C-6F59-D242E78D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4ED42-3B21-BE78-2710-31D4CD6E8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C850C-8F3E-5A56-26AE-92083E63F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2D121FA-9AB7-E52D-BA3E-E50CD972A5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96DE7-AD58-963C-7E57-21A259715E24}"/>
              </a:ext>
            </a:extLst>
          </p:cNvPr>
          <p:cNvSpPr txBox="1"/>
          <p:nvPr/>
        </p:nvSpPr>
        <p:spPr>
          <a:xfrm>
            <a:off x="0" y="1418487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2800" dirty="0">
                <a:latin typeface="Calibir"/>
              </a:rPr>
              <a:t>Add Customers and Reservations tables → Close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38C19-88B3-E6FF-DACA-BA70FA0CE9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322" b="22874"/>
          <a:stretch>
            <a:fillRect/>
          </a:stretch>
        </p:blipFill>
        <p:spPr>
          <a:xfrm>
            <a:off x="1492469" y="2234105"/>
            <a:ext cx="7651531" cy="396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362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08348FC-1514-AF9B-A4A4-92F9E79C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06B21-0D46-D8E2-947A-1F60AF406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1D37-36FC-F41D-F25F-F4580D1CC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8EF53EA-DC1C-CE32-5562-D7493B843F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F3A02-7D57-83F2-0E35-B6F46C1621FB}"/>
              </a:ext>
            </a:extLst>
          </p:cNvPr>
          <p:cNvSpPr txBox="1"/>
          <p:nvPr/>
        </p:nvSpPr>
        <p:spPr>
          <a:xfrm>
            <a:off x="0" y="939261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sz="2800" dirty="0">
                <a:latin typeface="Calibir"/>
              </a:rPr>
              <a:t>Add fields to the grid: Drag LastName (Customers), Drag City (Customers)</a:t>
            </a:r>
            <a:endParaRPr lang="en-US" altLang="en-US" sz="2800" dirty="0">
              <a:latin typeface="Calibi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42CEC-D080-0DF0-4EC5-7482E8BE0862}"/>
              </a:ext>
            </a:extLst>
          </p:cNvPr>
          <p:cNvSpPr txBox="1"/>
          <p:nvPr/>
        </p:nvSpPr>
        <p:spPr>
          <a:xfrm>
            <a:off x="0" y="2885879"/>
            <a:ext cx="307953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LastName and City (from Customers) → That shows </a:t>
            </a:r>
            <a:r>
              <a:rPr lang="en-US" sz="2800" i="1" dirty="0">
                <a:latin typeface="Calibir"/>
              </a:rPr>
              <a:t>who</a:t>
            </a:r>
            <a:r>
              <a:rPr lang="en-US" sz="2800" dirty="0">
                <a:latin typeface="Calibir"/>
              </a:rPr>
              <a:t> the customer is and </a:t>
            </a:r>
            <a:r>
              <a:rPr lang="en-US" sz="2800" i="1" dirty="0">
                <a:latin typeface="Calibir"/>
              </a:rPr>
              <a:t>where</a:t>
            </a:r>
            <a:r>
              <a:rPr lang="en-US" sz="2800" dirty="0">
                <a:latin typeface="Calibir"/>
              </a:rPr>
              <a:t> they live.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98EE64-0931-6057-FBA6-C1BF68DE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678" b="23691"/>
          <a:stretch>
            <a:fillRect/>
          </a:stretch>
        </p:blipFill>
        <p:spPr>
          <a:xfrm>
            <a:off x="3079531" y="2933043"/>
            <a:ext cx="6064469" cy="392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564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87772E0-091C-88DD-1EB7-0D7E2039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F9539-1218-804D-A5F3-71276E4E9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F0066-CD6C-8912-9C18-6D55EA4D6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BDF124-82A8-BE69-3D6B-9783787215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FE2BA-6849-C840-F93F-F6A4CF97E733}"/>
              </a:ext>
            </a:extLst>
          </p:cNvPr>
          <p:cNvSpPr txBox="1"/>
          <p:nvPr/>
        </p:nvSpPr>
        <p:spPr>
          <a:xfrm>
            <a:off x="0" y="892097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sz="2800" dirty="0">
                <a:latin typeface="Calibir"/>
              </a:rPr>
              <a:t>Drag </a:t>
            </a:r>
            <a:r>
              <a:rPr lang="en-US" sz="2800" dirty="0" err="1">
                <a:latin typeface="Calibir"/>
              </a:rPr>
              <a:t>ClassDate</a:t>
            </a:r>
            <a:r>
              <a:rPr lang="en-US" sz="2800" dirty="0">
                <a:latin typeface="Calibir"/>
              </a:rPr>
              <a:t> (Reservations) → this will act as the </a:t>
            </a:r>
            <a:r>
              <a:rPr lang="en-US" sz="2800" dirty="0" err="1">
                <a:latin typeface="Calibir"/>
              </a:rPr>
              <a:t>ReservationDate</a:t>
            </a:r>
            <a:endParaRPr lang="en-US" altLang="en-US" sz="2800" dirty="0"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7CF4B-90C5-617B-381C-66E035E46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00"/>
          <a:stretch>
            <a:fillRect/>
          </a:stretch>
        </p:blipFill>
        <p:spPr>
          <a:xfrm>
            <a:off x="189186" y="2188666"/>
            <a:ext cx="8765628" cy="466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8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1DAEDB8-DBE0-24B3-D3B0-BE446333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E502A-E20C-3EB1-91C2-9EC75DE69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EAD21-6157-3607-04AB-4DEB9B1D5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CDDFFE8-9E8C-E6B0-0EFC-262F6BEFC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2A359-AD0E-225C-70AB-9168524D4AD9}"/>
              </a:ext>
            </a:extLst>
          </p:cNvPr>
          <p:cNvSpPr txBox="1"/>
          <p:nvPr/>
        </p:nvSpPr>
        <p:spPr>
          <a:xfrm>
            <a:off x="0" y="892097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4.    In the Criteria row under </a:t>
            </a:r>
            <a:r>
              <a:rPr lang="en-US" sz="2800" dirty="0" err="1">
                <a:latin typeface="Calibir"/>
              </a:rPr>
              <a:t>ClassDate</a:t>
            </a:r>
            <a:r>
              <a:rPr lang="en-US" sz="2800" dirty="0">
                <a:latin typeface="Calibir"/>
              </a:rPr>
              <a:t> → type #02/01/2021#</a:t>
            </a:r>
            <a:endParaRPr lang="en-US" altLang="en-US" sz="2800" dirty="0">
              <a:latin typeface="Calibi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BE4B9E-D906-01F2-4BF9-E20BF43AAF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08"/>
          <a:stretch>
            <a:fillRect/>
          </a:stretch>
        </p:blipFill>
        <p:spPr>
          <a:xfrm>
            <a:off x="0" y="1660604"/>
            <a:ext cx="9144000" cy="48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68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EBE478-DB42-210B-A1EF-B35B522C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459AF-18E1-4BDC-ADFA-2C99C7149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1636E-D607-9A8F-F12B-0CD19AC6A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F1C61-D951-B8B4-A25B-F87350B5DC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348654" cy="892099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Filter Reservations by Date &amp; Day (OR)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7DCA7-D014-FD7F-C83A-E49EB7A5BC51}"/>
              </a:ext>
            </a:extLst>
          </p:cNvPr>
          <p:cNvSpPr txBox="1"/>
          <p:nvPr/>
        </p:nvSpPr>
        <p:spPr>
          <a:xfrm>
            <a:off x="0" y="892097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5.   Run → we’ll see only customers who had reservations on that date</a:t>
            </a:r>
            <a:endParaRPr lang="en-US" altLang="en-US" sz="2800" dirty="0"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F517A-3EF3-5C90-F84F-7FC5B97D5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00"/>
          <a:stretch>
            <a:fillRect/>
          </a:stretch>
        </p:blipFill>
        <p:spPr>
          <a:xfrm>
            <a:off x="209472" y="2210278"/>
            <a:ext cx="8725056" cy="464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180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0672CF3-740F-DBBA-092E-37E704C7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4FD31C-0EDF-12F7-339D-AC03117D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FBD89-9133-FEB6-C93D-55BCC00FF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CC6A747-05E5-085B-D30F-A94C6001D6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483478"/>
          </a:xfrm>
        </p:spPr>
        <p:txBody>
          <a:bodyPr>
            <a:noAutofit/>
          </a:bodyPr>
          <a:lstStyle/>
          <a:p>
            <a:r>
              <a:rPr lang="en-US" sz="3200" dirty="0"/>
              <a:t>Building Flexible Queries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4E6C4-A7B7-B124-2766-C32AB7C6D02D}"/>
              </a:ext>
            </a:extLst>
          </p:cNvPr>
          <p:cNvSpPr txBox="1"/>
          <p:nvPr/>
        </p:nvSpPr>
        <p:spPr>
          <a:xfrm>
            <a:off x="0" y="1040525"/>
            <a:ext cx="898634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Use Totals, Grouping, and Expressions in queries.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To get summaries (not just raw data).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Like making a Pivot Table in Excel.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Count how many customers are in each </a:t>
            </a:r>
            <a:r>
              <a:rPr lang="en-US" sz="2800" dirty="0" err="1">
                <a:latin typeface="Calibir"/>
              </a:rPr>
              <a:t>ClassType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93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F1C4322-A2BD-23F0-94F9-95B964D7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212D4-C94B-3FC3-FDF8-A62ADB2DA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56C08-6A97-5949-C958-5B44A4285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2FE0E95-82A0-5A45-DECD-8B3A13C7E7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DC635-EE39-155E-017E-8C0F77D4DF5B}"/>
              </a:ext>
            </a:extLst>
          </p:cNvPr>
          <p:cNvSpPr txBox="1"/>
          <p:nvPr/>
        </p:nvSpPr>
        <p:spPr>
          <a:xfrm>
            <a:off x="0" y="1040525"/>
            <a:ext cx="8986344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Task:</a:t>
            </a:r>
            <a:r>
              <a:rPr lang="en-US" sz="2800" dirty="0">
                <a:latin typeface="Calibir"/>
              </a:rPr>
              <a:t> Build and save a query that shows the number of customers in each </a:t>
            </a:r>
            <a:r>
              <a:rPr lang="en-US" sz="2800" dirty="0" err="1">
                <a:latin typeface="Calibir"/>
              </a:rPr>
              <a:t>ClassType</a:t>
            </a:r>
            <a:r>
              <a:rPr lang="en-US" sz="2800" dirty="0">
                <a:latin typeface="Calibir"/>
              </a:rPr>
              <a:t>.</a:t>
            </a:r>
          </a:p>
        </p:txBody>
      </p:sp>
      <p:pic>
        <p:nvPicPr>
          <p:cNvPr id="2" name="Timer">
            <a:hlinkClick r:id="" action="ppaction://media"/>
            <a:extLst>
              <a:ext uri="{FF2B5EF4-FFF2-40B4-BE49-F238E27FC236}">
                <a16:creationId xmlns:a16="http://schemas.microsoft.com/office/drawing/2014/main" id="{53A0E856-2DB7-93F2-8EB7-A31544D3E8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460" t="44636" r="41034" b="40447"/>
          <a:stretch>
            <a:fillRect/>
          </a:stretch>
        </p:blipFill>
        <p:spPr>
          <a:xfrm>
            <a:off x="3725917" y="3163613"/>
            <a:ext cx="1692166" cy="76725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355214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6555CF9-6D79-8FFC-6618-36EC3EC8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9F090-9159-0FA5-B6A0-9A25673E8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E4D1-12B3-A6CE-DB01-DC7EF6B95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E228476-C5A5-66C8-8490-EABD598A90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10C9E-4A07-109C-58CD-FF46541C90C0}"/>
              </a:ext>
            </a:extLst>
          </p:cNvPr>
          <p:cNvSpPr txBox="1"/>
          <p:nvPr/>
        </p:nvSpPr>
        <p:spPr>
          <a:xfrm>
            <a:off x="0" y="1040525"/>
            <a:ext cx="8986344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Go to Create → Query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8E6EC-D241-2452-07EB-BBD950CEB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00"/>
          <a:stretch>
            <a:fillRect/>
          </a:stretch>
        </p:blipFill>
        <p:spPr>
          <a:xfrm>
            <a:off x="0" y="1987112"/>
            <a:ext cx="9144000" cy="487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50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18D4120-A0FE-138A-1CB9-D961E045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C8697-55DD-AABD-C9DA-86C89E077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268EC-DE54-496C-9FAD-CD8AEACC9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E7849DC-42C9-18D1-20E4-668464A0B1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A931A3-FDD7-35BE-B4FE-7080A2D22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410" y="882869"/>
            <a:ext cx="646508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Reservations table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→ has the CustomerID (who booked).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Classes table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→ has the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TypeofClass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(what kind of class they booked).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2A69F6-7A99-523E-8443-5DA452D3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08"/>
          <a:stretch>
            <a:fillRect/>
          </a:stretch>
        </p:blipFill>
        <p:spPr>
          <a:xfrm>
            <a:off x="2678920" y="3429000"/>
            <a:ext cx="6465080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A70D20-6D1D-8C36-245B-C6A9D377C85D}"/>
              </a:ext>
            </a:extLst>
          </p:cNvPr>
          <p:cNvSpPr txBox="1"/>
          <p:nvPr/>
        </p:nvSpPr>
        <p:spPr>
          <a:xfrm>
            <a:off x="0" y="1040524"/>
            <a:ext cx="266841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2.   drag: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TypeofClass</a:t>
            </a:r>
            <a:r>
              <a:rPr lang="en-US" sz="2800" dirty="0">
                <a:latin typeface="Calibir"/>
              </a:rPr>
              <a:t> (from Classes)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CustomerID (from Reservations)</a:t>
            </a:r>
          </a:p>
        </p:txBody>
      </p:sp>
    </p:spTree>
    <p:extLst>
      <p:ext uri="{BB962C8B-B14F-4D97-AF65-F5344CB8AC3E}">
        <p14:creationId xmlns:p14="http://schemas.microsoft.com/office/powerpoint/2010/main" val="2347923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49BCC2C-0AF7-A40C-A61D-22179845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62CF1-11B8-CBDD-06B6-C84B30FB1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4626F-C2AD-15C5-F93F-D675EBF4D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E40C925-B2BF-DDC6-1ACF-2C1D32E563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75900-D5D5-1F22-7144-77186704D021}"/>
              </a:ext>
            </a:extLst>
          </p:cNvPr>
          <p:cNvSpPr txBox="1"/>
          <p:nvPr/>
        </p:nvSpPr>
        <p:spPr>
          <a:xfrm>
            <a:off x="0" y="1040524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3.  Click Totals (Σ) → new row “Total” appears.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C7F44-3284-433D-AD06-35DEE0FF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17"/>
          <a:stretch>
            <a:fillRect/>
          </a:stretch>
        </p:blipFill>
        <p:spPr>
          <a:xfrm>
            <a:off x="0" y="1686756"/>
            <a:ext cx="9144000" cy="4823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8B358C-541B-7BAB-E497-A5AA0A4BF29F}"/>
              </a:ext>
            </a:extLst>
          </p:cNvPr>
          <p:cNvSpPr/>
          <p:nvPr/>
        </p:nvSpPr>
        <p:spPr>
          <a:xfrm>
            <a:off x="5276193" y="2091560"/>
            <a:ext cx="346841" cy="67185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580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C9C2907-98C4-7406-E458-9D173163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785BD-574F-9F21-A973-480D81289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D93B2-360F-4409-80A3-99776CFBC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446D981-CA53-44C0-D24A-4F09CEDC0A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E2F45-4445-F515-26C1-2ADE2C8DAA6D}"/>
              </a:ext>
            </a:extLst>
          </p:cNvPr>
          <p:cNvSpPr txBox="1"/>
          <p:nvPr/>
        </p:nvSpPr>
        <p:spPr>
          <a:xfrm>
            <a:off x="0" y="1040524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3.  Click Totals (Σ) → new row “Total” appears.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8F23FF-F412-E61D-62EF-BA3B9D7F29B8}"/>
              </a:ext>
            </a:extLst>
          </p:cNvPr>
          <p:cNvSpPr/>
          <p:nvPr/>
        </p:nvSpPr>
        <p:spPr>
          <a:xfrm>
            <a:off x="5276193" y="2091560"/>
            <a:ext cx="346841" cy="67185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DA661-1AF6-542F-9AF2-B94F663E3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17"/>
          <a:stretch>
            <a:fillRect/>
          </a:stretch>
        </p:blipFill>
        <p:spPr>
          <a:xfrm>
            <a:off x="0" y="1712375"/>
            <a:ext cx="9144000" cy="482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307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2CC65E9-5CDA-7C85-0C7E-837B2812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867B1-A399-0C7E-3F71-0FEA6C2C3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53E1F-AB05-D0D5-1F87-ABEC133CE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2F397A4-D4F8-3008-8391-1E0A742EE2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E6C6B-95C3-8F52-BC62-CDEA16E0DFDA}"/>
              </a:ext>
            </a:extLst>
          </p:cNvPr>
          <p:cNvSpPr txBox="1"/>
          <p:nvPr/>
        </p:nvSpPr>
        <p:spPr>
          <a:xfrm>
            <a:off x="0" y="1040524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4.   Under </a:t>
            </a:r>
            <a:r>
              <a:rPr lang="en-US" sz="2800" dirty="0" err="1">
                <a:latin typeface="Calibir"/>
              </a:rPr>
              <a:t>TypeofClass</a:t>
            </a:r>
            <a:r>
              <a:rPr lang="en-US" sz="2800" dirty="0">
                <a:latin typeface="Calibir"/>
              </a:rPr>
              <a:t> → leave as Group By.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157F5-F25F-5724-D6DC-FFE11F363B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91"/>
          <a:stretch>
            <a:fillRect/>
          </a:stretch>
        </p:blipFill>
        <p:spPr>
          <a:xfrm>
            <a:off x="0" y="1867273"/>
            <a:ext cx="9144000" cy="416669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1680D-5281-3D21-ABD6-272AD9CED4F3}"/>
              </a:ext>
            </a:extLst>
          </p:cNvPr>
          <p:cNvSpPr/>
          <p:nvPr/>
        </p:nvSpPr>
        <p:spPr>
          <a:xfrm>
            <a:off x="3016469" y="5391808"/>
            <a:ext cx="1030014" cy="157654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54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DFE3894-702D-B899-6132-1A0E8F22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0AD74A-1CDD-E921-89BA-15B1B6C0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64"/>
          <a:stretch>
            <a:fillRect/>
          </a:stretch>
        </p:blipFill>
        <p:spPr>
          <a:xfrm>
            <a:off x="0" y="1807109"/>
            <a:ext cx="9144000" cy="482647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C5597-9C4B-8CD8-61CD-992DE1309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2D4C1-8A7C-9F10-CCA5-09AD6AC82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5892166-7C2E-6D46-C38F-1517F9D05D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5242D-F67E-A16D-8D91-DDC3D52678E6}"/>
              </a:ext>
            </a:extLst>
          </p:cNvPr>
          <p:cNvSpPr txBox="1"/>
          <p:nvPr/>
        </p:nvSpPr>
        <p:spPr>
          <a:xfrm>
            <a:off x="0" y="1040524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5.   Under CustomerID → change to Count.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E1D5F6-36AA-3F5C-0503-C46983D1C641}"/>
              </a:ext>
            </a:extLst>
          </p:cNvPr>
          <p:cNvSpPr/>
          <p:nvPr/>
        </p:nvSpPr>
        <p:spPr>
          <a:xfrm>
            <a:off x="3878317" y="5318235"/>
            <a:ext cx="1030014" cy="157654"/>
          </a:xfrm>
          <a:prstGeom prst="round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655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2421B7-9342-EC1A-8AF5-85B3E7108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4383F-616F-230F-E9FC-288D42127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868B0-A001-D62E-DB10-2EF066FAD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1467F4C-302E-1CAB-A56D-C9CB29D416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F601E-0519-B8D5-394D-BE8E992B97AF}"/>
              </a:ext>
            </a:extLst>
          </p:cNvPr>
          <p:cNvSpPr txBox="1"/>
          <p:nvPr/>
        </p:nvSpPr>
        <p:spPr>
          <a:xfrm>
            <a:off x="0" y="1040524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6.   Run (!) → we’ll see each class type with a count of customers.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5F1B5-CBC5-2226-CE28-414840DC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08"/>
          <a:stretch>
            <a:fillRect/>
          </a:stretch>
        </p:blipFill>
        <p:spPr>
          <a:xfrm>
            <a:off x="331076" y="2359330"/>
            <a:ext cx="8481848" cy="44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090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B962AA2-204D-2E5A-666B-82C8D5CE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9019F-F2EF-790B-EA69-F030C44F2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703E6-6ABD-774A-2BC7-6B246B4D4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51F7DFC-B4BC-F76F-900D-4E466482DB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3: Count Customers per </a:t>
            </a:r>
            <a:r>
              <a:rPr lang="en-US" sz="3200" dirty="0" err="1"/>
              <a:t>ClassType</a:t>
            </a:r>
            <a:r>
              <a:rPr lang="en-US" sz="3200" dirty="0"/>
              <a:t> 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BE85A-E2FF-964D-09F7-4BF796412AB7}"/>
              </a:ext>
            </a:extLst>
          </p:cNvPr>
          <p:cNvSpPr txBox="1"/>
          <p:nvPr/>
        </p:nvSpPr>
        <p:spPr>
          <a:xfrm>
            <a:off x="0" y="1040524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7.   Save as </a:t>
            </a:r>
            <a:r>
              <a:rPr lang="en-US" sz="2800" dirty="0" err="1">
                <a:latin typeface="Calibir"/>
              </a:rPr>
              <a:t>QRY_CountClassType</a:t>
            </a:r>
            <a:endParaRPr lang="en-US" sz="2800" dirty="0"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2A202C-5AB2-C357-2BB4-E1ADCD56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64"/>
          <a:stretch>
            <a:fillRect/>
          </a:stretch>
        </p:blipFill>
        <p:spPr>
          <a:xfrm>
            <a:off x="0" y="1709618"/>
            <a:ext cx="9144000" cy="482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83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49C4C5E-283E-6440-EFF8-E07878F4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48D85-6B34-4882-3E67-811EF505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7916C-3372-FD54-AE4A-A216E635D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33C633A-DECB-4D8C-A5FE-AD9240D72B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451946"/>
          </a:xfrm>
        </p:spPr>
        <p:txBody>
          <a:bodyPr>
            <a:noAutofit/>
          </a:bodyPr>
          <a:lstStyle/>
          <a:p>
            <a:r>
              <a:rPr lang="en-US" sz="3200" dirty="0"/>
              <a:t>Action Queries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40891-F09A-5120-A023-89684DE9B55C}"/>
              </a:ext>
            </a:extLst>
          </p:cNvPr>
          <p:cNvSpPr txBox="1"/>
          <p:nvPr/>
        </p:nvSpPr>
        <p:spPr>
          <a:xfrm>
            <a:off x="0" y="667974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Queries that change data, not just display it.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Types: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Update → change values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Delete → remove records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Append → add records to a table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Table → create a new table from results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Like doing a bulk find-and-replace in Word.</a:t>
            </a:r>
          </a:p>
        </p:txBody>
      </p:sp>
    </p:spTree>
    <p:extLst>
      <p:ext uri="{BB962C8B-B14F-4D97-AF65-F5344CB8AC3E}">
        <p14:creationId xmlns:p14="http://schemas.microsoft.com/office/powerpoint/2010/main" val="16021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FAAD36-E389-6E45-BC40-33CE0CE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8C14E-6E3C-4A23-A372-29BE772B9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6D2E3-50F6-0CA4-182E-2631BAF48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2EC8D4D-AD58-1D72-B1EE-2CB9A2CF55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451946"/>
          </a:xfrm>
        </p:spPr>
        <p:txBody>
          <a:bodyPr>
            <a:noAutofit/>
          </a:bodyPr>
          <a:lstStyle/>
          <a:p>
            <a:r>
              <a:rPr lang="en-US" sz="3200" dirty="0"/>
              <a:t>Action Queries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FB3C9-0CDD-7195-4A0B-F6D5CE4ADAE0}"/>
              </a:ext>
            </a:extLst>
          </p:cNvPr>
          <p:cNvSpPr txBox="1"/>
          <p:nvPr/>
        </p:nvSpPr>
        <p:spPr>
          <a:xfrm>
            <a:off x="0" y="667974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Examples:</a:t>
            </a:r>
            <a:endParaRPr lang="en-US" sz="2800" dirty="0">
              <a:latin typeface="Calibir"/>
            </a:endParaRP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Update all Cardio class prices by +10%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Delete all reservations taught by Neda Tahan</a:t>
            </a:r>
          </a:p>
        </p:txBody>
      </p:sp>
    </p:spTree>
    <p:extLst>
      <p:ext uri="{BB962C8B-B14F-4D97-AF65-F5344CB8AC3E}">
        <p14:creationId xmlns:p14="http://schemas.microsoft.com/office/powerpoint/2010/main" val="212271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2151579-C499-3B86-7FC7-10B85A56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05BD8-7E22-CFA6-E078-85B2D2CD7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4B70-06E3-F3E0-D0E8-560BAD612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460CEE0-AEAF-F022-60B3-D3EE479002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F99C7-A83A-B8D8-A277-D97CD7B1DE76}"/>
              </a:ext>
            </a:extLst>
          </p:cNvPr>
          <p:cNvSpPr txBox="1"/>
          <p:nvPr/>
        </p:nvSpPr>
        <p:spPr>
          <a:xfrm>
            <a:off x="0" y="1040524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Task: </a:t>
            </a:r>
            <a:r>
              <a:rPr lang="en-US" sz="2800" dirty="0">
                <a:latin typeface="Calibir"/>
              </a:rPr>
              <a:t>Increase </a:t>
            </a:r>
            <a:r>
              <a:rPr lang="en-US" sz="2800" dirty="0" err="1">
                <a:latin typeface="Calibir"/>
              </a:rPr>
              <a:t>ClassPrice</a:t>
            </a:r>
            <a:r>
              <a:rPr lang="en-US" sz="2800" dirty="0">
                <a:latin typeface="Calibir"/>
              </a:rPr>
              <a:t> by 10% for classes where </a:t>
            </a:r>
            <a:r>
              <a:rPr lang="en-US" sz="2800" dirty="0" err="1">
                <a:latin typeface="Calibir"/>
              </a:rPr>
              <a:t>TypeofClass</a:t>
            </a:r>
            <a:r>
              <a:rPr lang="en-US" sz="2800" dirty="0">
                <a:latin typeface="Calibir"/>
              </a:rPr>
              <a:t> = "Cardio".</a:t>
            </a:r>
          </a:p>
        </p:txBody>
      </p:sp>
      <p:pic>
        <p:nvPicPr>
          <p:cNvPr id="8" name="Timer">
            <a:hlinkClick r:id="" action="ppaction://media"/>
            <a:extLst>
              <a:ext uri="{FF2B5EF4-FFF2-40B4-BE49-F238E27FC236}">
                <a16:creationId xmlns:a16="http://schemas.microsoft.com/office/drawing/2014/main" id="{39E40C96-B2F3-6A06-D955-9501AB96BE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90" t="44751" r="41149" b="41148"/>
          <a:stretch>
            <a:fillRect/>
          </a:stretch>
        </p:blipFill>
        <p:spPr>
          <a:xfrm>
            <a:off x="3741682" y="3163613"/>
            <a:ext cx="1660635" cy="72521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6360471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2151579-C499-3B86-7FC7-10B85A56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05BD8-7E22-CFA6-E078-85B2D2CD7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4B70-06E3-F3E0-D0E8-560BAD612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460CEE0-AEAF-F022-60B3-D3EE479002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F99C7-A83A-B8D8-A277-D97CD7B1DE76}"/>
              </a:ext>
            </a:extLst>
          </p:cNvPr>
          <p:cNvSpPr txBox="1"/>
          <p:nvPr/>
        </p:nvSpPr>
        <p:spPr>
          <a:xfrm>
            <a:off x="0" y="1169384"/>
            <a:ext cx="5117118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Create → Query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CEB39-1906-7FE6-62B2-E4E17771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862" b="63333"/>
          <a:stretch>
            <a:fillRect/>
          </a:stretch>
        </p:blipFill>
        <p:spPr>
          <a:xfrm>
            <a:off x="5117118" y="1151540"/>
            <a:ext cx="4026882" cy="243290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698860-2274-A45B-7145-A1B530F301CB}"/>
              </a:ext>
            </a:extLst>
          </p:cNvPr>
          <p:cNvSpPr/>
          <p:nvPr/>
        </p:nvSpPr>
        <p:spPr>
          <a:xfrm>
            <a:off x="7664134" y="1792224"/>
            <a:ext cx="370149" cy="62910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02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FB0F402-CEE4-6F9C-C8B6-AB83F01F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C2A0D-EBC7-52FE-E0BA-8901992D4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22ED7-AE19-1523-CAF9-911440159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A39FEA4-BC4A-DC14-AE3A-6B089E640A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1A8B8-9217-5D5E-6761-8D2EB9BEE4DA}"/>
              </a:ext>
            </a:extLst>
          </p:cNvPr>
          <p:cNvSpPr txBox="1"/>
          <p:nvPr/>
        </p:nvSpPr>
        <p:spPr>
          <a:xfrm>
            <a:off x="-1" y="3957189"/>
            <a:ext cx="9144000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2800" dirty="0">
                <a:latin typeface="Calibir"/>
              </a:rPr>
              <a:t>Add Classes and Reservations tables (they should join on </a:t>
            </a:r>
            <a:r>
              <a:rPr lang="en-US" altLang="en-US" sz="2800" dirty="0" err="1">
                <a:latin typeface="Calibir"/>
              </a:rPr>
              <a:t>ClassID</a:t>
            </a:r>
            <a:r>
              <a:rPr lang="en-US" altLang="en-US" sz="2800" dirty="0">
                <a:latin typeface="Calibir"/>
              </a:rPr>
              <a:t>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164C7-D8D0-3E7D-8F75-273B6701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889"/>
          <a:stretch>
            <a:fillRect/>
          </a:stretch>
        </p:blipFill>
        <p:spPr>
          <a:xfrm>
            <a:off x="3177112" y="1169384"/>
            <a:ext cx="5966887" cy="27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019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EDF023D-0368-8545-5FE4-02D944EB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8AA3BE-0AB1-7221-3326-88BA3FC37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FF1A5-DEB3-838F-567A-5938D7BD3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64747B3-FD08-BD84-EE41-47D5D5DE8C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D4B3E-E5BC-E21E-830B-D5E259C50E05}"/>
              </a:ext>
            </a:extLst>
          </p:cNvPr>
          <p:cNvSpPr txBox="1"/>
          <p:nvPr/>
        </p:nvSpPr>
        <p:spPr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3.   Choose the field to update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Reservations, drag </a:t>
            </a:r>
            <a:r>
              <a:rPr lang="en-US" sz="2800" dirty="0" err="1">
                <a:latin typeface="Calibir"/>
              </a:rPr>
              <a:t>ClassPrice</a:t>
            </a:r>
            <a:r>
              <a:rPr lang="en-US" sz="2800" dirty="0">
                <a:latin typeface="Calibir"/>
              </a:rPr>
              <a:t> into the first empty column of the grid.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31838A-0B0F-DB3F-2827-045FAEE4C2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"/>
          <a:stretch>
            <a:fillRect/>
          </a:stretch>
        </p:blipFill>
        <p:spPr>
          <a:xfrm>
            <a:off x="630044" y="963732"/>
            <a:ext cx="7756947" cy="408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300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BA43B12-CE19-493E-BE2D-679ED19A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437F0-7CA1-7029-1B14-D093D90B3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0CF47-7BA9-9E9B-97F0-E983E60BB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8D0BD0B-11E0-F8BA-DC1D-0A83F2B939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030C0-014F-4116-1EB5-D19E76C1511E}"/>
              </a:ext>
            </a:extLst>
          </p:cNvPr>
          <p:cNvSpPr txBox="1"/>
          <p:nvPr/>
        </p:nvSpPr>
        <p:spPr>
          <a:xfrm>
            <a:off x="0" y="4619550"/>
            <a:ext cx="9144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4.  Tell Access how to update it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the Update To row of that </a:t>
            </a:r>
            <a:r>
              <a:rPr lang="en-US" sz="2800" dirty="0" err="1">
                <a:latin typeface="Calibir"/>
              </a:rPr>
              <a:t>ClassPrice</a:t>
            </a:r>
            <a:r>
              <a:rPr lang="en-US" sz="2800" dirty="0">
                <a:latin typeface="Calibir"/>
              </a:rPr>
              <a:t> column, type: [</a:t>
            </a:r>
            <a:r>
              <a:rPr lang="en-US" sz="2800" dirty="0" err="1">
                <a:latin typeface="Calibir"/>
              </a:rPr>
              <a:t>ClassPrice</a:t>
            </a:r>
            <a:r>
              <a:rPr lang="en-US" sz="2800" dirty="0">
                <a:latin typeface="Calibir"/>
              </a:rPr>
              <a:t>]*1.1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34C19-EAA3-06E2-DDDE-746A0D1D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008"/>
          <a:stretch>
            <a:fillRect/>
          </a:stretch>
        </p:blipFill>
        <p:spPr>
          <a:xfrm>
            <a:off x="0" y="950385"/>
            <a:ext cx="8642195" cy="37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83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C87F471-F5FA-9D56-FD6F-5476451F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981FD-E665-7C65-F313-651065AD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166E-23ED-90C1-4E96-C6089072F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AADAEE5-3BF4-2990-95B7-E625B8568B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B5370-46EF-982B-0288-82102A42C20F}"/>
              </a:ext>
            </a:extLst>
          </p:cNvPr>
          <p:cNvSpPr txBox="1"/>
          <p:nvPr/>
        </p:nvSpPr>
        <p:spPr>
          <a:xfrm>
            <a:off x="22302" y="4247157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5.   Filter to Cardio only (important!)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Classes, drag </a:t>
            </a:r>
            <a:r>
              <a:rPr lang="en-US" sz="2800" dirty="0" err="1">
                <a:latin typeface="Calibir"/>
              </a:rPr>
              <a:t>TypeOfClass</a:t>
            </a:r>
            <a:r>
              <a:rPr lang="en-US" sz="2800" dirty="0">
                <a:latin typeface="Calibir"/>
              </a:rPr>
              <a:t> into a second column.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Leave Update To blank for this column.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the Criteria row type: “Cardio”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4A0B7-1894-D0F0-4AA7-BA67EA16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195" b="23875"/>
          <a:stretch>
            <a:fillRect/>
          </a:stretch>
        </p:blipFill>
        <p:spPr>
          <a:xfrm>
            <a:off x="22302" y="882869"/>
            <a:ext cx="4661210" cy="345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507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9E8BD9C-C140-14A4-65D3-AC70B7C2A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5462F-A644-5993-57EA-375B00A36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4F3D9-6906-A9BA-7259-CDDAB2E8F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4D3BCC-0C0A-79D1-AFB7-7E192E57A7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D8BA35-37D6-844F-5081-14D64D532B66}"/>
              </a:ext>
            </a:extLst>
          </p:cNvPr>
          <p:cNvSpPr txBox="1"/>
          <p:nvPr/>
        </p:nvSpPr>
        <p:spPr>
          <a:xfrm>
            <a:off x="22302" y="4337117"/>
            <a:ext cx="9144000" cy="252088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6.  Run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Click Run (red !). Confirm the number of rows to be updated.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Open Reservations to spot-check a few </a:t>
            </a:r>
            <a:r>
              <a:rPr lang="en-US" sz="2700" dirty="0" err="1">
                <a:latin typeface="Calibir"/>
              </a:rPr>
              <a:t>ClassPrice</a:t>
            </a:r>
            <a:r>
              <a:rPr lang="en-US" sz="2700" dirty="0">
                <a:latin typeface="Calibir"/>
              </a:rPr>
              <a:t>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275E3-13B4-BB24-7710-7CE2982EB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83" b="26694"/>
          <a:stretch>
            <a:fillRect/>
          </a:stretch>
        </p:blipFill>
        <p:spPr>
          <a:xfrm>
            <a:off x="22302" y="882869"/>
            <a:ext cx="4895455" cy="352186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CEDB2-B31A-9F8E-B33F-F27CB3CE0927}"/>
              </a:ext>
            </a:extLst>
          </p:cNvPr>
          <p:cNvSpPr/>
          <p:nvPr/>
        </p:nvSpPr>
        <p:spPr>
          <a:xfrm>
            <a:off x="379142" y="1315843"/>
            <a:ext cx="289932" cy="59101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FAEA1-319A-44A3-D067-468AF47281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27" t="34093" r="37927" b="41224"/>
          <a:stretch>
            <a:fillRect/>
          </a:stretch>
        </p:blipFill>
        <p:spPr>
          <a:xfrm>
            <a:off x="5140712" y="1206021"/>
            <a:ext cx="3980986" cy="228903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79E2C9D-21F3-C542-0B2E-66089E299973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4917757" y="3495058"/>
            <a:ext cx="2213448" cy="5193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3558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CFDFA85-6FD1-43F2-6FA9-5ACBA0B9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6D1B7-E2F9-D4BD-0CBB-3731A0397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4CD35-683E-CDB0-9146-EDE67C6F0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FC484F2-1232-1FD6-E90C-A46516A4D2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3C47F-D643-5FF6-3396-84B5CB752CF6}"/>
              </a:ext>
            </a:extLst>
          </p:cNvPr>
          <p:cNvSpPr txBox="1"/>
          <p:nvPr/>
        </p:nvSpPr>
        <p:spPr>
          <a:xfrm>
            <a:off x="22302" y="4337117"/>
            <a:ext cx="9144000" cy="6511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7.  Save Object As </a:t>
            </a:r>
            <a:r>
              <a:rPr lang="en-US" sz="2700" dirty="0">
                <a:highlight>
                  <a:srgbClr val="FFFF00"/>
                </a:highlight>
                <a:latin typeface="Calibir"/>
              </a:rPr>
              <a:t>QRY_Update_Cardio_Price10</a:t>
            </a:r>
            <a:r>
              <a:rPr lang="en-US" sz="2700" dirty="0">
                <a:latin typeface="Calibir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C6D196-73AA-41D0-9DB2-B711CFB022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091" b="50000"/>
          <a:stretch>
            <a:fillRect/>
          </a:stretch>
        </p:blipFill>
        <p:spPr>
          <a:xfrm>
            <a:off x="0" y="1235008"/>
            <a:ext cx="5020886" cy="257175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924306-7FCD-DC24-5EE7-670D0649A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658" t="24092" r="38659" b="57133"/>
          <a:stretch>
            <a:fillRect/>
          </a:stretch>
        </p:blipFill>
        <p:spPr>
          <a:xfrm>
            <a:off x="5257824" y="1616245"/>
            <a:ext cx="3886176" cy="180927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58D8D89-9F4A-FAB3-9DE4-EF8AE1A7B7E5}"/>
              </a:ext>
            </a:extLst>
          </p:cNvPr>
          <p:cNvCxnSpPr>
            <a:stCxn id="6" idx="2"/>
            <a:endCxn id="12" idx="2"/>
          </p:cNvCxnSpPr>
          <p:nvPr/>
        </p:nvCxnSpPr>
        <p:spPr>
          <a:xfrm rot="5400000" flipH="1" flipV="1">
            <a:off x="4665058" y="1270904"/>
            <a:ext cx="381238" cy="4690469"/>
          </a:xfrm>
          <a:prstGeom prst="bentConnector3">
            <a:avLst>
              <a:gd name="adj1" fmla="val -5996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4309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41D174B-B4A3-5D00-7804-3D19DF18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5BB2A-EDDA-4670-E25A-234A582F4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E5DF2-B8F4-F90A-C9EA-96C52B0FB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70C2F5-69F7-7EDE-B860-DB063722B3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882870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4: Update “Cardio” Prices (+10%)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2A474-1044-F906-E691-E6742D9E606C}"/>
              </a:ext>
            </a:extLst>
          </p:cNvPr>
          <p:cNvSpPr txBox="1"/>
          <p:nvPr/>
        </p:nvSpPr>
        <p:spPr>
          <a:xfrm>
            <a:off x="0" y="1159726"/>
            <a:ext cx="7839307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we only update </a:t>
            </a:r>
            <a:r>
              <a:rPr lang="en-US" sz="2800" dirty="0" err="1">
                <a:latin typeface="Calibir"/>
              </a:rPr>
              <a:t>LengthOfTime</a:t>
            </a:r>
            <a:r>
              <a:rPr lang="en-US" sz="2800" dirty="0">
                <a:latin typeface="Calibir"/>
              </a:rPr>
              <a:t> instead: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Classes only (we don’t need Reservations).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Drag </a:t>
            </a:r>
            <a:r>
              <a:rPr lang="en-US" sz="2800" dirty="0" err="1">
                <a:latin typeface="Calibir"/>
              </a:rPr>
              <a:t>LengthOfTime</a:t>
            </a:r>
            <a:r>
              <a:rPr lang="en-US" sz="2800" dirty="0">
                <a:latin typeface="Calibir"/>
              </a:rPr>
              <a:t> to the grid.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Update To: [</a:t>
            </a:r>
            <a:r>
              <a:rPr lang="en-US" sz="2800" dirty="0" err="1">
                <a:latin typeface="Calibir"/>
              </a:rPr>
              <a:t>LengthOfTime</a:t>
            </a:r>
            <a:r>
              <a:rPr lang="en-US" sz="2800" dirty="0">
                <a:latin typeface="Calibir"/>
              </a:rPr>
              <a:t>]*1.1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</a:t>
            </a:r>
            <a:r>
              <a:rPr lang="en-US" sz="2800" dirty="0" err="1">
                <a:latin typeface="Calibir"/>
              </a:rPr>
              <a:t>TypeOfClass</a:t>
            </a:r>
            <a:r>
              <a:rPr lang="en-US" sz="2800" dirty="0">
                <a:latin typeface="Calibir"/>
              </a:rPr>
              <a:t> with Criteria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"Cardio" as before.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 and save as QRY_Update_Cardio_Length10.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06974-9865-5720-827C-639D9829AC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20" t="21924" r="46829" b="22358"/>
          <a:stretch>
            <a:fillRect/>
          </a:stretch>
        </p:blipFill>
        <p:spPr>
          <a:xfrm>
            <a:off x="6980663" y="2575931"/>
            <a:ext cx="2163337" cy="308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293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0BBD8FC-4C7C-FE10-7BD8-7C537765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7167B-A05C-8B24-0AA2-50CFFCA57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4C3E5-1F27-C61E-232A-73D61CC10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1927BE4-F498-FD58-5FD4-65DE086F35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Research / Debate Questions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CED09-6E27-F797-1928-F73C9A4A8D08}"/>
              </a:ext>
            </a:extLst>
          </p:cNvPr>
          <p:cNvSpPr txBox="1"/>
          <p:nvPr/>
        </p:nvSpPr>
        <p:spPr>
          <a:xfrm>
            <a:off x="0" y="1159726"/>
            <a:ext cx="9144000" cy="519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Q1:</a:t>
            </a:r>
            <a:r>
              <a:rPr lang="en-US" sz="2800" dirty="0">
                <a:latin typeface="Calibir"/>
              </a:rPr>
              <a:t> Why use QBE instead of writing SQL directly?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Students: Easier for beginners, visual approach.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Q2 (Debate):</a:t>
            </a:r>
            <a:r>
              <a:rPr lang="en-US" sz="2800" dirty="0">
                <a:latin typeface="Calibir"/>
              </a:rPr>
              <a:t> Should we allow cascade deletes?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Yes: keeps DB clean.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No: dangerous, may delete too much.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Q3:</a:t>
            </a:r>
            <a:r>
              <a:rPr lang="en-US" sz="2800" dirty="0">
                <a:latin typeface="Calibir"/>
              </a:rPr>
              <a:t> Compare Access Queries vs Excel Filters.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Access = reusable + relational.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Excel = one-off + flat file.</a:t>
            </a:r>
          </a:p>
        </p:txBody>
      </p:sp>
    </p:spTree>
    <p:extLst>
      <p:ext uri="{BB962C8B-B14F-4D97-AF65-F5344CB8AC3E}">
        <p14:creationId xmlns:p14="http://schemas.microsoft.com/office/powerpoint/2010/main" val="71613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EC2B67C-6FD5-FFAF-A995-27EA8997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A615B-3ED5-13FF-D1C0-03D889628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EBBA-6851-AC41-E9EA-860B272CA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2C0B14A-84E4-8E30-1178-C302D7ACDD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5BC56-D7A5-A7F1-234D-FFF420E7A71A}"/>
              </a:ext>
            </a:extLst>
          </p:cNvPr>
          <p:cNvSpPr txBox="1"/>
          <p:nvPr/>
        </p:nvSpPr>
        <p:spPr>
          <a:xfrm>
            <a:off x="0" y="1477248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Install MS Access (if personal laptop) or use lab computers.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Download Pitt Fitness Database (provided on Canvas).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Add to Trusted Locations in Access (to avoid security warning).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Check that tables open correctly (Customers, Classes, Reservations, etc.).</a:t>
            </a:r>
          </a:p>
        </p:txBody>
      </p:sp>
    </p:spTree>
    <p:extLst>
      <p:ext uri="{BB962C8B-B14F-4D97-AF65-F5344CB8AC3E}">
        <p14:creationId xmlns:p14="http://schemas.microsoft.com/office/powerpoint/2010/main" val="21559277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8575CFC-3282-4A15-D021-EBF6804B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CF660-4903-C4C3-780C-1B6C2F42C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34140-06C7-B671-CF56-904C74F9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DD2BF13-2824-1A9E-CAEE-483467A1D5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13EFB-FC41-BDC2-AFF3-6B9CBB692CB3}"/>
              </a:ext>
            </a:extLst>
          </p:cNvPr>
          <p:cNvSpPr txBox="1"/>
          <p:nvPr/>
        </p:nvSpPr>
        <p:spPr>
          <a:xfrm>
            <a:off x="0" y="791084"/>
            <a:ext cx="9144000" cy="563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ir"/>
              </a:rPr>
              <a:t>What to Do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Calibir"/>
              </a:rPr>
              <a:t>Download &amp; Open the Pitt Fitness Database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Use the file provided (Pitt Fitness.accdb).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If Access shows a security warning, enable content or add the folder to Trusted Locations.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Calibir"/>
              </a:rPr>
              <a:t>Create Queries in Access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You must build Query1 to Query10 (Query11 is optional).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Each query must be saved with a meaningful name (e.g., QRY_CustomersOnJuly1).</a:t>
            </a:r>
          </a:p>
        </p:txBody>
      </p:sp>
    </p:spTree>
    <p:extLst>
      <p:ext uri="{BB962C8B-B14F-4D97-AF65-F5344CB8AC3E}">
        <p14:creationId xmlns:p14="http://schemas.microsoft.com/office/powerpoint/2010/main" val="9351481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D0D5F6D-56B5-0835-BAAE-EB2D1F69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A4145-A17C-A174-9EB0-B598D8C95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53269-3953-A96D-96A0-996064701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B316DC9-5611-D815-F69F-4D50D0DA0E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246D2-83A5-0D18-A6D8-0C6CE836E774}"/>
              </a:ext>
            </a:extLst>
          </p:cNvPr>
          <p:cNvSpPr txBox="1"/>
          <p:nvPr/>
        </p:nvSpPr>
        <p:spPr>
          <a:xfrm>
            <a:off x="0" y="791084"/>
            <a:ext cx="9144000" cy="6129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400" b="1" dirty="0">
                <a:latin typeface="Calibir"/>
              </a:rPr>
              <a:t>Follow the Criteria Carefully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Example: Query 1 needs customers with reservations on 1/7/2021.</a:t>
            </a:r>
            <a:br>
              <a:rPr lang="en-US" altLang="en-US" sz="2400" dirty="0">
                <a:latin typeface="Calibir"/>
              </a:rPr>
            </a:br>
            <a:r>
              <a:rPr lang="en-US" altLang="en-US" sz="2400" dirty="0">
                <a:latin typeface="Calibir"/>
              </a:rPr>
              <a:t>→ Add Customers + Reservations tables, filter </a:t>
            </a:r>
            <a:r>
              <a:rPr lang="en-US" altLang="en-US" sz="2400" dirty="0" err="1">
                <a:latin typeface="Calibir"/>
              </a:rPr>
              <a:t>ClassDate</a:t>
            </a:r>
            <a:r>
              <a:rPr lang="en-US" altLang="en-US" sz="2400" dirty="0">
                <a:latin typeface="Calibir"/>
              </a:rPr>
              <a:t> = 1/7/2021.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Use Select queries for listing data, and Update/Delete/Append/Make-Table queries for Action tasks.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en-US" altLang="en-US" sz="2400" b="1" dirty="0">
                <a:latin typeface="Calibir"/>
              </a:rPr>
              <a:t>Check Results Before Saving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Always switch to Datasheet View to confirm that results look correct.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If the query shows too many or no rows, check your criteria.</a:t>
            </a:r>
          </a:p>
        </p:txBody>
      </p:sp>
    </p:spTree>
    <p:extLst>
      <p:ext uri="{BB962C8B-B14F-4D97-AF65-F5344CB8AC3E}">
        <p14:creationId xmlns:p14="http://schemas.microsoft.com/office/powerpoint/2010/main" val="4914845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FDA1EC8-FFA4-7676-45C9-258AD40C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C4540-E5F5-06FB-B4C1-2EB2C6AF4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DF722-42BB-8910-4729-CFEE23101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B0E66E2-32D5-C26E-C1A1-0D28E01BD2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7036D-6984-5886-BC87-FA326B641530}"/>
              </a:ext>
            </a:extLst>
          </p:cNvPr>
          <p:cNvSpPr txBox="1"/>
          <p:nvPr/>
        </p:nvSpPr>
        <p:spPr>
          <a:xfrm>
            <a:off x="0" y="791084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Calibir"/>
              </a:rPr>
              <a:t>Save &amp; Name Your Queries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names that match the task. Example: </a:t>
            </a:r>
            <a:r>
              <a:rPr lang="en-US" sz="2800" dirty="0" err="1">
                <a:latin typeface="Calibir"/>
              </a:rPr>
              <a:t>QRY_Cardio_WedFri</a:t>
            </a:r>
            <a:r>
              <a:rPr lang="en-US" sz="2800" dirty="0">
                <a:latin typeface="Calibir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Avoid leaving queries as Query1, Query2—that’s messy.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b="1" dirty="0">
                <a:latin typeface="Calibir"/>
              </a:rPr>
              <a:t>Submit Your Database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Submit the updated Access file (.</a:t>
            </a:r>
            <a:r>
              <a:rPr lang="en-US" sz="2800" dirty="0" err="1">
                <a:latin typeface="Calibir"/>
              </a:rPr>
              <a:t>accdb</a:t>
            </a:r>
            <a:r>
              <a:rPr lang="en-US" sz="2800" dirty="0">
                <a:latin typeface="Calibir"/>
              </a:rPr>
              <a:t>) with all queries saved inside.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a backup copy in case something goes wrong.</a:t>
            </a:r>
          </a:p>
        </p:txBody>
      </p:sp>
    </p:spTree>
    <p:extLst>
      <p:ext uri="{BB962C8B-B14F-4D97-AF65-F5344CB8AC3E}">
        <p14:creationId xmlns:p14="http://schemas.microsoft.com/office/powerpoint/2010/main" val="31834980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21A4DA0-2EBF-A780-96B7-8B68C5F1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6F54D-FB56-155B-245C-0E0AFAEBA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369C6-3A04-0293-7931-B5C5183CA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C05E149-E689-F9A3-4B56-BB4B313D78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E6DE1-97CC-BB87-E061-85D5AB5D1FBD}"/>
              </a:ext>
            </a:extLst>
          </p:cNvPr>
          <p:cNvSpPr txBox="1"/>
          <p:nvPr/>
        </p:nvSpPr>
        <p:spPr>
          <a:xfrm>
            <a:off x="0" y="791084"/>
            <a:ext cx="9144000" cy="52264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What to Avoid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Do not overwrite tables</a:t>
            </a:r>
            <a:r>
              <a:rPr lang="en-US" sz="2500" dirty="0">
                <a:latin typeface="Calibir"/>
              </a:rPr>
              <a:t> when testing action queries—always check which table you’re updating.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Do not submit screenshots</a:t>
            </a:r>
            <a:r>
              <a:rPr lang="en-US" sz="2500" dirty="0">
                <a:latin typeface="Calibir"/>
              </a:rPr>
              <a:t> of queries instead of the Access file.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Do not leave default query names</a:t>
            </a:r>
            <a:r>
              <a:rPr lang="en-US" sz="2500" dirty="0">
                <a:latin typeface="Calibir"/>
              </a:rPr>
              <a:t> (Query1, Query2)—this loses marks.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Do not hardcode wrong values</a:t>
            </a:r>
            <a:r>
              <a:rPr lang="en-US" sz="2500" dirty="0">
                <a:latin typeface="Calibir"/>
              </a:rPr>
              <a:t> (e.g., typing "Raymond" without checking instructor spelling). Use exact data from the tables.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Do not delete original tables</a:t>
            </a:r>
            <a:r>
              <a:rPr lang="en-US" sz="2500" dirty="0">
                <a:latin typeface="Calibir"/>
              </a:rPr>
              <a:t>—only work with queries.</a:t>
            </a:r>
          </a:p>
        </p:txBody>
      </p:sp>
    </p:spTree>
    <p:extLst>
      <p:ext uri="{BB962C8B-B14F-4D97-AF65-F5344CB8AC3E}">
        <p14:creationId xmlns:p14="http://schemas.microsoft.com/office/powerpoint/2010/main" val="30036922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38054A-2398-F40D-8405-07958D72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8237D-61D2-1460-E0C3-05235890E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0ACAF-0E05-D465-14C1-74A5AB485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D7769CE-F721-F3AC-7027-073D82FCD3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DD085-A48B-4C46-3E52-7067BCC3380F}"/>
              </a:ext>
            </a:extLst>
          </p:cNvPr>
          <p:cNvSpPr txBox="1"/>
          <p:nvPr/>
        </p:nvSpPr>
        <p:spPr>
          <a:xfrm>
            <a:off x="0" y="791084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to Submit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Access database file (.</a:t>
            </a:r>
            <a:r>
              <a:rPr lang="en-US" sz="2800" dirty="0" err="1">
                <a:latin typeface="Calibir"/>
              </a:rPr>
              <a:t>accdb</a:t>
            </a:r>
            <a:r>
              <a:rPr lang="en-US" sz="2800" dirty="0">
                <a:latin typeface="Calibir"/>
              </a:rPr>
              <a:t>) with: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Queries 1–10 (Query 11 if attempted).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saved with a clear, meaningful name.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sure queries run correctly when opened by your tutor.</a:t>
            </a:r>
          </a:p>
        </p:txBody>
      </p:sp>
    </p:spTree>
    <p:extLst>
      <p:ext uri="{BB962C8B-B14F-4D97-AF65-F5344CB8AC3E}">
        <p14:creationId xmlns:p14="http://schemas.microsoft.com/office/powerpoint/2010/main" val="31476194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9EFD0B3-564A-EE16-3F7D-4159C5AA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208A0-67D1-2EE1-A6C3-E8D94290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51537-DE23-0271-7B70-FE5457D7F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94C7D22-5C99-D462-D137-6A1F853475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348654" cy="502109"/>
          </a:xfrm>
        </p:spPr>
        <p:txBody>
          <a:bodyPr>
            <a:noAutofit/>
          </a:bodyPr>
          <a:lstStyle/>
          <a:p>
            <a:r>
              <a:rPr lang="en-US" sz="3200" dirty="0"/>
              <a:t>Preparation for Tutorial Week 6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C342D-E57B-1C0D-E4BE-4F5FC5D4974E}"/>
              </a:ext>
            </a:extLst>
          </p:cNvPr>
          <p:cNvSpPr txBox="1"/>
          <p:nvPr/>
        </p:nvSpPr>
        <p:spPr>
          <a:xfrm>
            <a:off x="0" y="791084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Tips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Use Design View for precision, then switch to Datasheet View to check results.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Use wildcards (LIKE "M*") for names starting with "M".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Use aggregates (Totals) for counting (Query6, Query7, Query9).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Always test criteria step by step—start with a Select query before converting to an Action query.</a:t>
            </a:r>
          </a:p>
        </p:txBody>
      </p:sp>
    </p:spTree>
    <p:extLst>
      <p:ext uri="{BB962C8B-B14F-4D97-AF65-F5344CB8AC3E}">
        <p14:creationId xmlns:p14="http://schemas.microsoft.com/office/powerpoint/2010/main" val="14779890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CD5BB-FD25-7302-E553-EF1050FB1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Peacock with fanned-out feathers">
            <a:extLst>
              <a:ext uri="{FF2B5EF4-FFF2-40B4-BE49-F238E27FC236}">
                <a16:creationId xmlns:a16="http://schemas.microsoft.com/office/drawing/2014/main" id="{ED542B04-B9C8-B1C2-B053-AF44B8F6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95" r="27525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B1648-324E-D430-E22F-E944F8C8A874}"/>
              </a:ext>
            </a:extLst>
          </p:cNvPr>
          <p:cNvSpPr txBox="1"/>
          <p:nvPr/>
        </p:nvSpPr>
        <p:spPr>
          <a:xfrm>
            <a:off x="358485" y="1122363"/>
            <a:ext cx="301752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defRPr/>
            </a:pPr>
            <a:r>
              <a:rPr lang="en-US" sz="4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Attendance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5925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999"/>
            <a:ext cx="9144000" cy="577517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+mn-lt"/>
              </a:rPr>
              <a:t>Let’s Answer Your Questions</a:t>
            </a:r>
            <a:endParaRPr lang="en-AU" sz="3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245" y="1769082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0" y="3610694"/>
            <a:ext cx="9144000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during class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Ask directly during sessions.</a:t>
            </a:r>
          </a:p>
          <a:p>
            <a:pPr marL="385763" indent="-38576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Canvas Inbox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For structured academic queries.</a:t>
            </a:r>
          </a:p>
          <a:p>
            <a:pPr marL="385763" indent="-38576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For formal communications or attachments.</a:t>
            </a:r>
          </a:p>
          <a:p>
            <a:pPr marL="385763" indent="-38576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Microsoft Team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Send a reminder if I did not reply after 3 business day</a:t>
            </a:r>
          </a:p>
        </p:txBody>
      </p:sp>
    </p:spTree>
    <p:extLst>
      <p:ext uri="{BB962C8B-B14F-4D97-AF65-F5344CB8AC3E}">
        <p14:creationId xmlns:p14="http://schemas.microsoft.com/office/powerpoint/2010/main" val="21912235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379064" y="1272864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791090" y="1178919"/>
            <a:ext cx="4352911" cy="449453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2100" b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Happy Learning and Bright Futures Ahead!</a:t>
            </a:r>
            <a:b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100" i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Dr. Farshid Keivanian</a:t>
            </a:r>
            <a:b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100" b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Stay Connected:</a:t>
            </a:r>
            <a:b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  <a:hlinkClick r:id="rId3"/>
              </a:rPr>
              <a:t>linkedin.com/in/farshid-keivanian</a:t>
            </a:r>
            <a: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 </a:t>
            </a:r>
            <a:b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</a:br>
            <a: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  <a:hlinkClick r:id="rId4"/>
              </a:rPr>
              <a:t>github.com/FarshidKeivanian</a:t>
            </a:r>
            <a: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 </a:t>
            </a:r>
          </a:p>
          <a:p>
            <a:pPr indent="-171450" defTabSz="68580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2100" i="1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Education is the most powerful weapon you can use to change the world. </a:t>
            </a:r>
            <a:r>
              <a:rPr lang="en-US" sz="2100" dirty="0">
                <a:solidFill>
                  <a:prstClr val="black">
                    <a:alpha val="80000"/>
                  </a:prstClr>
                </a:solidFill>
                <a:latin typeface="Calibri" panose="020F0502020204030204"/>
              </a:rPr>
              <a:t>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AE2E-97E0-BDCA-618B-720FE1F7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3548F9-A26E-1B74-C2A0-A0350AC21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827"/>
            <a:ext cx="6553200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200" dirty="0"/>
              <a:t>Thank You</a:t>
            </a:r>
            <a:endParaRPr sz="3200" spc="-8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5BD2D9-AABA-65D7-AD99-6F5B8666F0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6" rIns="0" bIns="0" rtlCol="0">
            <a:spAutoFit/>
          </a:bodyPr>
          <a:lstStyle/>
          <a:p>
            <a:pPr marL="28575" defTabSz="685800">
              <a:spcBef>
                <a:spcPts val="4"/>
              </a:spcBef>
            </a:pPr>
            <a:fld id="{81D60167-4931-47E6-BA6A-407CBD079E47}" type="slidenum">
              <a:rPr kern="0" dirty="0"/>
              <a:pPr marL="28575" defTabSz="685800">
                <a:spcBef>
                  <a:spcPts val="4"/>
                </a:spcBef>
              </a:pPr>
              <a:t>81</a:t>
            </a:fld>
            <a:r>
              <a:rPr kern="0" spc="176" dirty="0"/>
              <a:t> </a:t>
            </a:r>
            <a:r>
              <a:rPr kern="0" dirty="0"/>
              <a:t>|</a:t>
            </a:r>
            <a:r>
              <a:rPr kern="0" spc="300" dirty="0"/>
              <a:t> </a:t>
            </a:r>
            <a:r>
              <a:rPr kern="0" dirty="0"/>
              <a:t>Faculty</a:t>
            </a:r>
            <a:r>
              <a:rPr kern="0" spc="-11" dirty="0"/>
              <a:t> </a:t>
            </a:r>
            <a:r>
              <a:rPr kern="0" dirty="0"/>
              <a:t>of</a:t>
            </a:r>
            <a:r>
              <a:rPr kern="0" spc="-15" dirty="0"/>
              <a:t> </a:t>
            </a:r>
            <a:r>
              <a:rPr kern="0" dirty="0"/>
              <a:t>Business</a:t>
            </a:r>
            <a:r>
              <a:rPr kern="0" spc="-15" dirty="0"/>
              <a:t> </a:t>
            </a:r>
            <a:r>
              <a:rPr kern="0" dirty="0"/>
              <a:t>and</a:t>
            </a:r>
            <a:r>
              <a:rPr kern="0" spc="-15" dirty="0"/>
              <a:t> </a:t>
            </a:r>
            <a:r>
              <a:rPr kern="0" dirty="0"/>
              <a:t>Law</a:t>
            </a:r>
            <a:r>
              <a:rPr kern="0" spc="-11" dirty="0"/>
              <a:t> </a:t>
            </a:r>
            <a:r>
              <a:rPr kern="0" dirty="0"/>
              <a:t>|</a:t>
            </a:r>
            <a:r>
              <a:rPr kern="0" spc="-11" dirty="0"/>
              <a:t> </a:t>
            </a:r>
            <a:r>
              <a:rPr kern="0" dirty="0"/>
              <a:t>Peter</a:t>
            </a:r>
            <a:r>
              <a:rPr kern="0" spc="-8" dirty="0"/>
              <a:t> </a:t>
            </a:r>
            <a:r>
              <a:rPr kern="0" dirty="0"/>
              <a:t>Faber</a:t>
            </a:r>
            <a:r>
              <a:rPr kern="0" spc="-11" dirty="0"/>
              <a:t> </a:t>
            </a:r>
            <a:r>
              <a:rPr kern="0" dirty="0"/>
              <a:t>Business</a:t>
            </a:r>
            <a:r>
              <a:rPr kern="0" spc="-11" dirty="0"/>
              <a:t> </a:t>
            </a:r>
            <a:r>
              <a:rPr kern="0" spc="-8" dirty="0"/>
              <a:t>School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5F5B67-D420-B363-36D0-076510E9FACF}"/>
              </a:ext>
            </a:extLst>
          </p:cNvPr>
          <p:cNvSpPr txBox="1"/>
          <p:nvPr/>
        </p:nvSpPr>
        <p:spPr>
          <a:xfrm>
            <a:off x="154858" y="1214061"/>
            <a:ext cx="5808821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i="1" kern="0" dirty="0">
                <a:solidFill>
                  <a:prstClr val="black"/>
                </a:solidFill>
                <a:latin typeface="Calibri"/>
                <a:cs typeface="Arial"/>
              </a:rPr>
              <a:t>Have a Great Learning Day!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D47354F-B664-DD16-78CE-61C2CA4253AA}"/>
              </a:ext>
            </a:extLst>
          </p:cNvPr>
          <p:cNvSpPr txBox="1"/>
          <p:nvPr/>
        </p:nvSpPr>
        <p:spPr>
          <a:xfrm>
            <a:off x="154858" y="1720357"/>
            <a:ext cx="8074742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kern="0" dirty="0">
                <a:solidFill>
                  <a:prstClr val="black"/>
                </a:solidFill>
                <a:latin typeface="Calibri"/>
              </a:rPr>
              <a:t>Feel free to reach out with any questions!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6A8C491-6C04-81E4-0F77-7812ABB2A303}"/>
              </a:ext>
            </a:extLst>
          </p:cNvPr>
          <p:cNvSpPr txBox="1"/>
          <p:nvPr/>
        </p:nvSpPr>
        <p:spPr>
          <a:xfrm>
            <a:off x="154858" y="2226653"/>
            <a:ext cx="5808821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kern="0" dirty="0">
                <a:solidFill>
                  <a:prstClr val="black"/>
                </a:solidFill>
                <a:latin typeface="Calibri"/>
              </a:rPr>
              <a:t>Dr. Farshid Keivanian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376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4124</TotalTime>
  <Words>3675</Words>
  <Application>Microsoft Office PowerPoint</Application>
  <PresentationFormat>On-screen Show (4:3)</PresentationFormat>
  <Paragraphs>1025</Paragraphs>
  <Slides>81</Slides>
  <Notes>76</Notes>
  <HiddenSlides>0</HiddenSlides>
  <MMClips>3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Calibir</vt:lpstr>
      <vt:lpstr>Calibri</vt:lpstr>
      <vt:lpstr>Calibri Light</vt:lpstr>
      <vt:lpstr>ACU Presentation</vt:lpstr>
      <vt:lpstr>1_Office Theme</vt:lpstr>
      <vt:lpstr>Office Theme</vt:lpstr>
      <vt:lpstr>think-cell Slide</vt:lpstr>
      <vt:lpstr>Small-scale database implementation – Query By Example (QBE)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Answer Your Questions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807</cp:revision>
  <cp:lastPrinted>2017-08-03T04:07:41Z</cp:lastPrinted>
  <dcterms:created xsi:type="dcterms:W3CDTF">2017-05-11T09:33:32Z</dcterms:created>
  <dcterms:modified xsi:type="dcterms:W3CDTF">2026-04-13T18:08:04Z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