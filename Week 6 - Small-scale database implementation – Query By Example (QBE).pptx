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theme/theme2.xml" ContentType="application/vnd.openxmlformats-officedocument.theme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  <p:sldMasterId id="2147483769" r:id="rId5"/>
    <p:sldMasterId id="2147483776" r:id="rId6"/>
  </p:sldMasterIdLst>
  <p:notesMasterIdLst>
    <p:notesMasterId r:id="rId74"/>
  </p:notesMasterIdLst>
  <p:sldIdLst>
    <p:sldId id="421" r:id="rId7"/>
    <p:sldId id="258" r:id="rId8"/>
    <p:sldId id="2674" r:id="rId9"/>
    <p:sldId id="2799" r:id="rId10"/>
    <p:sldId id="2800" r:id="rId11"/>
    <p:sldId id="2801" r:id="rId12"/>
    <p:sldId id="2803" r:id="rId13"/>
    <p:sldId id="2804" r:id="rId14"/>
    <p:sldId id="2805" r:id="rId15"/>
    <p:sldId id="2807" r:id="rId16"/>
    <p:sldId id="2809" r:id="rId17"/>
    <p:sldId id="2808" r:id="rId18"/>
    <p:sldId id="2810" r:id="rId19"/>
    <p:sldId id="2811" r:id="rId20"/>
    <p:sldId id="2812" r:id="rId21"/>
    <p:sldId id="2813" r:id="rId22"/>
    <p:sldId id="2814" r:id="rId23"/>
    <p:sldId id="2815" r:id="rId24"/>
    <p:sldId id="2818" r:id="rId25"/>
    <p:sldId id="2819" r:id="rId26"/>
    <p:sldId id="2820" r:id="rId27"/>
    <p:sldId id="2821" r:id="rId28"/>
    <p:sldId id="2822" r:id="rId29"/>
    <p:sldId id="2823" r:id="rId30"/>
    <p:sldId id="2824" r:id="rId31"/>
    <p:sldId id="2825" r:id="rId32"/>
    <p:sldId id="2826" r:id="rId33"/>
    <p:sldId id="2827" r:id="rId34"/>
    <p:sldId id="2828" r:id="rId35"/>
    <p:sldId id="2829" r:id="rId36"/>
    <p:sldId id="2830" r:id="rId37"/>
    <p:sldId id="2832" r:id="rId38"/>
    <p:sldId id="2833" r:id="rId39"/>
    <p:sldId id="2834" r:id="rId40"/>
    <p:sldId id="2835" r:id="rId41"/>
    <p:sldId id="2836" r:id="rId42"/>
    <p:sldId id="2837" r:id="rId43"/>
    <p:sldId id="2838" r:id="rId44"/>
    <p:sldId id="2839" r:id="rId45"/>
    <p:sldId id="2841" r:id="rId46"/>
    <p:sldId id="2840" r:id="rId47"/>
    <p:sldId id="2842" r:id="rId48"/>
    <p:sldId id="2843" r:id="rId49"/>
    <p:sldId id="2844" r:id="rId50"/>
    <p:sldId id="2845" r:id="rId51"/>
    <p:sldId id="2846" r:id="rId52"/>
    <p:sldId id="2847" r:id="rId53"/>
    <p:sldId id="2848" r:id="rId54"/>
    <p:sldId id="2850" r:id="rId55"/>
    <p:sldId id="2851" r:id="rId56"/>
    <p:sldId id="2857" r:id="rId57"/>
    <p:sldId id="2858" r:id="rId58"/>
    <p:sldId id="2859" r:id="rId59"/>
    <p:sldId id="2860" r:id="rId60"/>
    <p:sldId id="2861" r:id="rId61"/>
    <p:sldId id="2862" r:id="rId62"/>
    <p:sldId id="2863" r:id="rId63"/>
    <p:sldId id="2869" r:id="rId64"/>
    <p:sldId id="2864" r:id="rId65"/>
    <p:sldId id="2865" r:id="rId66"/>
    <p:sldId id="2866" r:id="rId67"/>
    <p:sldId id="2867" r:id="rId68"/>
    <p:sldId id="2868" r:id="rId69"/>
    <p:sldId id="2870" r:id="rId70"/>
    <p:sldId id="1889" r:id="rId71"/>
    <p:sldId id="749" r:id="rId72"/>
    <p:sldId id="350" r:id="rId73"/>
  </p:sldIdLst>
  <p:sldSz cx="9144000" cy="6858000" type="screen4x3"/>
  <p:notesSz cx="6805613" cy="9939338"/>
  <p:custDataLst>
    <p:tags r:id="rId7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C857B"/>
    <a:srgbClr val="F2120C"/>
    <a:srgbClr val="3C1053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30" autoAdjust="0"/>
    <p:restoredTop sz="94694"/>
  </p:normalViewPr>
  <p:slideViewPr>
    <p:cSldViewPr snapToGrid="0">
      <p:cViewPr>
        <p:scale>
          <a:sx n="66" d="100"/>
          <a:sy n="66" d="100"/>
        </p:scale>
        <p:origin x="588" y="12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16" Type="http://schemas.openxmlformats.org/officeDocument/2006/relationships/slide" Target="slides/slide10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66" Type="http://schemas.openxmlformats.org/officeDocument/2006/relationships/slide" Target="slides/slide60.xml"/><Relationship Id="rId74" Type="http://schemas.openxmlformats.org/officeDocument/2006/relationships/notesMaster" Target="notesMasters/notesMaster1.xml"/><Relationship Id="rId79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61" Type="http://schemas.openxmlformats.org/officeDocument/2006/relationships/slide" Target="slides/slide55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77" Type="http://schemas.openxmlformats.org/officeDocument/2006/relationships/viewProps" Target="viewProps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slide" Target="slides/slide53.xml"/><Relationship Id="rId67" Type="http://schemas.openxmlformats.org/officeDocument/2006/relationships/slide" Target="slides/slide6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slide" Target="slides/slide56.xml"/><Relationship Id="rId70" Type="http://schemas.openxmlformats.org/officeDocument/2006/relationships/slide" Target="slides/slide64.xml"/><Relationship Id="rId75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presProps" Target="presProps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9E031-7821-4947-9A91-EC03C15F7566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98A5C1-1CB9-4F08-9AE0-90C38B1EBB9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2559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D0C3409-D902-FCEC-29B0-0516CC92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95181B0-9F54-1B5B-CE2D-5280A315DA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BDD3E02-DB95-F9E8-7171-9F53A3D00C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349A7C2-50CD-CDF4-12C9-F1A66E87771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74642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81C7443-0F16-0775-97DE-0F6CD7811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20A1FFF-8682-6B39-6DFB-344AC65A30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160DF9D-6B5A-6718-9827-F04B28AD9F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5756A8F-7699-733A-DD46-C877839254E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38916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F6F8B4A-83D3-3D08-35E4-269CAB53B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1BC0AFF-FACD-6974-62E6-9A6C39C9A2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BDD458D-6712-2698-B125-899B95E2B8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6CE6386-F1CE-B66E-87C4-87BB241425B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32700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6C7A903-D203-AF46-917D-86434E2C2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E16B3B3-222E-640A-E5D3-B0713E865B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71C66AE-AD00-BFC5-73A1-E3E89957EC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A02DD97-9FB1-E4F8-6942-2180D53AD48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6447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A55F887-0826-8D1F-8D17-68A7A2C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C32895F-FEE0-6DD3-00D6-A3868C6ABA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89BA894-9936-7F94-2270-BB52225219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6E3DD14-E3EF-0E89-99C2-FAA3FDE980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12228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DCC2E68-BD59-A7AD-C3AA-437C22B69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D16B87E-23C5-D95A-F884-DE03173857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F5AE920-A32E-B801-DEA5-073BD95240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1D23625-D504-A113-2AD4-110DD17FA46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76274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A404DC6-8BF4-047D-B7BD-33114E3A2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C2966C2-D03B-FB8E-35F9-B60CAAE1EA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5FF7065-B319-0199-E12A-AEA01A1C03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3913F12-93B1-4141-B92F-06191FF232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1108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8E31253-9ADA-168C-66A2-EC19A78DF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9E2CA4F-C4A2-0DF3-EBEC-00C6FE2307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19EAF24-5C13-DD3D-0424-5BB06A7A19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C946335-4FA4-DB64-2553-FFD973EE85F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4250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787ADD2-3B20-7AA5-41F3-506ED89A1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4559680-4518-E811-9CBE-09F5307769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143C4BA-CA33-65C2-7EBF-4D5ED13FEA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F61BBB3-1278-9E4D-D3FE-3AD2EB73EB5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62276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030BE5C-B84E-9AE0-5CF6-F19FC59AD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D9C8B65-EA5D-DC13-7AA8-1ADC029055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E480184-1F46-C6BC-BC14-08E698FE8F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CCD3D71-E257-7A0D-0E53-597D5885DCA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60709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1565940-670B-F445-9369-A4BC41230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B058DA0-FAC0-6323-CAF1-27EA3316B4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D367E2B-029F-685A-14C5-FB7BC27563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877F23E-2F4B-DC7B-9C1F-D16CE18BB3A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67342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92307E0-56AE-BBF9-8F13-130D9C399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D133B91-E137-8421-E8A9-F9A4A5D43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C8D0EBD-476D-FC9C-C0D3-55E8247943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9FB2339-D080-80DC-BDF8-C1140DBF86C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97248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89B1C27-E4E8-5867-5FFC-22B2EA31C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CFB0ADA-1C7A-19B9-FA1A-109CF8D693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07279EF-4336-0EBA-941F-28E7297500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52B7FC5-71D9-8848-4A05-6941F6B5CB0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74355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89B1C27-E4E8-5867-5FFC-22B2EA31C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CFB0ADA-1C7A-19B9-FA1A-109CF8D693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07279EF-4336-0EBA-941F-28E7297500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52B7FC5-71D9-8848-4A05-6941F6B5CB0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29588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D3C9886-0B15-35D3-D5FE-B68497DA0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8E53AD7-EB12-9E69-0F76-B758BC5F2B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0A283E5-94BF-9AB6-E07B-4418BB750A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C6EE60C-8F8F-9BD3-A1B9-D46D14C541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47077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2DDD2AF-2099-D484-423F-D9B3021F4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B21DAE8-6158-450A-6898-BFFBAFF646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BADED61-AAED-E6DA-1D2E-4347C3B016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6C5F707-EB49-B839-2E51-7357AEC8B74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19806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51A9860-0EE5-009A-3BF2-A07506134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8C355E4-FC90-AEB1-A7F0-E1DA999AF6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7EFCA59-3797-E268-5763-973308CA42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0BA74C6-092E-7940-95DB-EE354CE477E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19746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C46BF34-30F2-443C-8840-7E72ADB83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3881C59-FC21-2013-5223-43602A2BBA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5ED1FE2-EA34-5E4D-6AFB-A9645401FC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F06E075-D8E9-A90A-500D-3B5659EF0F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66875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7EF4A60-62B2-F32C-E674-32489826B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DBB6292-325E-9172-18F6-683A90BAC1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EC22924-5E16-4969-F06C-0706E1B405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BF1FD21-44AF-0BEF-1C64-ADBEE4AA674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0493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4624AEF-40A3-D9C8-91D1-D645AA316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BB1C57F-E176-07DF-0551-CB09CE7403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ED9EF12-B589-F041-BE88-FD432C693F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C0061C5-86CA-47F5-F272-179F7BC9F28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2653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978688C-8DB9-195D-A004-8B2723877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EDC09D5-1FE1-B772-AFD1-E646B41A6B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31B4571-A3CF-1AF4-7D74-205BF167F9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FCFBCE3-4063-F5BE-B763-3F71B603E24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28900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65757E9-6E3B-0211-CAE6-015F207AB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1D76903-79D8-6E36-F9FE-30C0FAB03E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1C03323-ADD9-17D5-7C9F-D1DF05E44E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338EF24-8A44-9312-BC46-EC404B6E1C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86895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E1B69DA-6AB0-FF5D-50EA-6C100DC4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9D81EA6-6D8D-B281-5454-7F454B7033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9A77544-7A48-2401-446E-673DF6C25A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64B4E1F-DD7B-C67A-5FFB-C615E741A14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60817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C5696F8-51CB-E150-8ECC-79080E87B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671ADC3-D081-1D43-B5B0-24074B3FBF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B88A215-C87F-E5CC-ECB7-C0C80D6938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12749FC-AAEF-3DD1-2A3A-77568421579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34592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0F4A58B-3FE7-AFEC-3812-2F6426073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C59138D-EB0B-331B-C29C-B1D26DB473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82E4DA5-9AE0-036D-3C1E-2FB70AE236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16D21E8-91D2-0D6E-AFF7-C2F522290A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907531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85FF6AF-E0E7-9ECC-9700-6CA0B5F1E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4795FCE-0927-0F81-5713-73ABCBE862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1EA609A-9370-A133-CF47-1937B8340C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5BC7C62-FF15-A78A-AD10-C4BFE9D8A78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007570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891271F-8EA8-B843-426E-3D6E4B4C5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8C2451C-5629-D7FD-6B6F-7CE92E1FBA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AF2FC44-B6BF-23CA-39BF-94DCFF9CDE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C7ED66E-ADB2-4F52-CE2A-529CAFB7DEE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736793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5846052-C22F-20A4-89DB-B5F07020E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17988B1-7AAC-F167-E84F-738F63491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5F2E9FA-0C88-9904-A909-F912B3C0DD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AE93DD0-9AAF-B1CA-5A0B-0FAC3C14951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3372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D64BED6-1F47-F322-81EC-94A0703B6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26932E2-2A20-9342-8AE4-B05F2DF57C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EC862D7-F02C-CB4F-6CB1-0ECB26E251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356EB35-1948-51E2-DD44-E79E4F06057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5930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01DA2BE-DF5E-6108-38DB-3016C38A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685D37B-1526-FA4D-75D0-106B5F7D32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20AF826-AE11-51F0-4083-1B24C84B3A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F9291D3-0AB0-6AD4-069D-A25B9A567D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785775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EE65139-9374-867C-5C42-6BBFF2BDC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38904B2-3B7E-C54E-D037-BBBAA008D4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21E7C85-5654-0609-678C-EEA1CA878E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C500967-69BE-3652-941E-838079AEAB3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658152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65530E4-FA21-0AF2-7658-B8E3EB08A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76CE03A-5AD7-5979-0134-816DEB90D0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207EF82-3433-28D8-11A8-4D4671DEE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9484E0E-D376-B7A4-D49A-3B3BAE10D43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723741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C906656-EA20-D735-1DFA-B080A0D2D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B3B4E71-72F1-AFD3-E730-9B3FB2482C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DA64CED-A31B-827E-CF61-AF3C964D99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507B21D-F676-8C60-1992-FE471B6CF68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90464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9C85ED2-AA73-2B84-8688-D3740DE0B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D4E637D-8DFF-2C69-5A54-4E72DAB7D3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7F052E2-5543-4CCB-A6F9-5E6F615045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B4437DD-57B5-6BAA-C839-E0561F3F367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245738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847CF08-C626-C9D6-8930-7CEFB34D3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3CB7F26-949A-1C0D-1A29-C5F1F74C69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8A48A63-A56E-2315-981A-C4B9660C75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9B61523-B80A-C18D-BB40-EAFD8AB5DA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556901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FD33ED5-EB6A-47C0-F2C7-53E362539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65EF6B3-8574-4ADB-0457-4D1B859FAB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18DD3AF-E974-2CB0-CB0D-F9BA635022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AE7FC31-6438-5D87-6BCC-A7FCEF0C311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426025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61514F1-781F-92FC-C804-E47F836E5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2C88192-44AC-8770-86C2-999DA963D4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CBD31DF-8A7B-2022-33CC-41C45A3B9F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5BF00AC-15F2-CCAF-B283-E05AF419A07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1677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838432D-B8E3-5BF2-CF02-59D23D1F9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49A960C-B8E8-3C82-684C-763389E3A5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0D36281-318A-BD68-C219-3FE6D82429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0FE4D43-4B54-86B3-43C5-86003B3E1FE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473931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192FB6B-B7D7-FF38-C38A-F6CD77EC4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4A66303-BEE3-EB08-907A-BFA69E9D47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CF9DA79-85E5-D0BB-E319-3D34A85AAF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5B20E93-412D-DF9C-8795-0D261418BE4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688263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58FF88D-CE55-2A38-02ED-B31950495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E4A8F3D-4298-2FC7-75A3-6FE52C5ED4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4BE14FD-23F4-94E8-6A35-A2A0D4FDF6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0365954-47C0-F0AB-68DF-BBFD938A2A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140250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EE9EEEC-83CA-CC09-C477-FE7FF05B8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B0D942F-E81C-CCEF-8364-6E9B3DE3E6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DC3B91D-4AEF-A5E1-EED1-D8574C12B2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1B799AE-445D-0989-0BE6-5BD1ECFFC69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471577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3B3B399-5C0E-7EAB-0351-F446FB146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551C99E-8253-D6F1-6E44-F6E98D48AE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FA85F10-06E3-2DD1-A115-E8F7FB57F9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32F10E9-1865-A472-37F8-0DE35919E68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999129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3AD60F7-F02A-F57A-2972-D397DD8ED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3DA43A9-FAF9-319B-6A91-52AEFCD65C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3C96D78-0E70-4757-C04F-CBCB2D9990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4DD6FFF-9AF1-4D8F-22FC-0F751E6046F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640068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3450B83-92E6-EBD0-1D4E-223ADBEB1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795919D-EF2B-FD0B-2EA9-D63F84650A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C9B795D-C4F5-C566-8072-ECF38DA95E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415B8D2-6A02-E8A6-635E-CA69FC7CD7F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117259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FAAA759-32D6-3376-5776-5D53E047E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A4D3C46-71D0-03CB-AD25-9BDFD6F5EF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B524724-42EB-7545-0F74-EBD78F7CA9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4A48D04-0BE2-BBC9-FDC0-A9680D20235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860152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FAAA759-32D6-3376-5776-5D53E047E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A4D3C46-71D0-03CB-AD25-9BDFD6F5EF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B524724-42EB-7545-0F74-EBD78F7CA9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4A48D04-0BE2-BBC9-FDC0-A9680D20235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690210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E0AD478-E29D-7E8E-BD00-5537327A4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64FAFC1-8FBF-9B69-BCD7-185E3E025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C15BE2E-DFC3-B32A-8588-F99074E6F1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71951E5-8536-40CB-7D9B-DAEC3CDB60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780657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3A56B2D-82E7-DA68-1B84-902D6A454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95C79CF-4599-E432-792D-1207A5D66E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D4721D1-00EE-00F1-F409-316127E12A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336D3CF-7B71-A730-D8FA-A175C75DCE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870277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9E25496-C5AE-F220-442E-404A45D94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9C8A2D2-682C-D2A8-7877-1DF5369E48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EACE264-01BD-249D-8A3B-3CF8CFBA69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5B7C841-238A-B1A0-1CF6-3FFE4481590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369429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6546345-896B-4823-E9EE-5393C8D09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A35C986-59DE-A7E1-8C99-33FCD00AFF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3BFC0ED-2E45-C096-9006-4B9D56138B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2AAE87E-FB3C-6BCC-0880-E596A2A3012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122833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3472796-1A19-80D1-86C5-DD85AA38D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844C975-4EC1-1E17-0C1C-0AF41A0BB6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C9F9145-AD27-6CC0-B4C9-742721596E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AC1354F-B022-C573-71B6-821873AEDF0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646262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5ED8CDC-1DF3-2612-B5AB-CC1D5E598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F802CC0-BDC3-C9C7-9A41-4282499416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F6C5EAC-DF15-2E63-978C-FCA45B8C4C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255A15A-D0F7-29C4-5577-4EC6F5E04E9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74517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9A7EEDB-ED3F-71F1-A4D2-810D4327E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53D7D93-8382-B6C9-97AD-8965BF00FD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846B5EA-8500-3125-B9BC-3B116D2E7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42E41F1-EC31-6F2E-5C9B-671562138F3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767928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93A771D-18B0-9184-0004-DA52A80B5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DFCE265-226D-0B18-94FF-72DC0BC1FB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1393BF1-4BD5-02BD-30C2-14C5612DB6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ACD913C-E6FD-55F8-5113-90FB47A5F4D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901751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7E1D37F-53D4-296D-C5B5-45AD66989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0BE53C3-23EF-16A4-7896-2EACED91D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4301029-EB2A-F2E0-CF6F-0EE2206E94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581729C-0EE4-5BD2-E33A-11F08E70704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04370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9E33D3C-F2A7-FB84-0A2F-AE8A99E1B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1EEF56D-A1FC-2F7E-06C6-23F81681D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3157634-504E-FA67-7473-99F1B7C01A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6A96A4C-B2A8-6D86-7C4D-4C2BBF85F2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224433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BE01835-6C7A-FDA2-6BB7-263726C8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0503483-F45D-4840-5738-18AD9E7B13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0FE87F5-D354-8742-DAE0-0F5F6399CC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2C2A7CA-19E6-388D-6DD7-E8A7673EA1A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2947169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EBDE7F3-F9C3-59FE-5D1F-5877D2B6C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4CE954B-F0FC-E8D1-B1A4-EF7655E841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7D7D47E-D00B-23C9-E9D0-15095C7CDD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676B387-6EBA-0C7F-2AC5-072574EC732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709938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0FA8350-8A82-186C-D91A-FB1DFEBF1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850D580-731B-45D4-EBB5-4AD248ECF7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17E7055-C104-ACF6-AE20-771B9E260F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8059933-A533-D15C-F29C-BE0E8B1E1F2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227533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EB74ACD-8049-6298-0107-4B2B6385F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6650C78-D750-FF9C-C4F5-3F922B76C7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0EDA4C0-1FBC-5EE5-5B77-7E33A2D3C5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F427CAF-1A81-5190-1D4F-677CB1B90BF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572111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499226A-E929-8A0F-48A9-23BE7E504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399BA26-CC04-7572-2B25-0885B2583B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6247F27-8480-F2F2-35AB-5E7DABE1CA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3865B53-4719-E89B-C164-C2E0372FD72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1023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5" name="Group 4"/>
          <p:cNvGrpSpPr>
            <a:grpSpLocks noChangeAspect="1"/>
          </p:cNvGrpSpPr>
          <p:nvPr userDrawn="1"/>
        </p:nvGrpSpPr>
        <p:grpSpPr bwMode="auto">
          <a:xfrm>
            <a:off x="0" y="0"/>
            <a:ext cx="9144227" cy="6858000"/>
            <a:chOff x="5" y="0"/>
            <a:chExt cx="5750" cy="4320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5" y="0"/>
              <a:ext cx="5750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Freeform 5"/>
            <p:cNvSpPr>
              <a:spLocks/>
            </p:cNvSpPr>
            <p:nvPr userDrawn="1"/>
          </p:nvSpPr>
          <p:spPr bwMode="auto">
            <a:xfrm>
              <a:off x="5" y="288"/>
              <a:ext cx="2875" cy="1871"/>
            </a:xfrm>
            <a:custGeom>
              <a:avLst/>
              <a:gdLst>
                <a:gd name="T0" fmla="*/ 2875 w 2875"/>
                <a:gd name="T1" fmla="*/ 0 h 1871"/>
                <a:gd name="T2" fmla="*/ 2875 w 2875"/>
                <a:gd name="T3" fmla="*/ 1871 h 1871"/>
                <a:gd name="T4" fmla="*/ 0 w 2875"/>
                <a:gd name="T5" fmla="*/ 1871 h 1871"/>
                <a:gd name="T6" fmla="*/ 0 w 2875"/>
                <a:gd name="T7" fmla="*/ 0 h 1871"/>
                <a:gd name="T8" fmla="*/ 2875 w 2875"/>
                <a:gd name="T9" fmla="*/ 0 h 1871"/>
                <a:gd name="T10" fmla="*/ 2875 w 2875"/>
                <a:gd name="T11" fmla="*/ 0 h 18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1871">
                  <a:moveTo>
                    <a:pt x="2875" y="0"/>
                  </a:moveTo>
                  <a:lnTo>
                    <a:pt x="2875" y="1871"/>
                  </a:lnTo>
                  <a:lnTo>
                    <a:pt x="0" y="1871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3935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 6"/>
            <p:cNvSpPr>
              <a:spLocks/>
            </p:cNvSpPr>
            <p:nvPr userDrawn="1"/>
          </p:nvSpPr>
          <p:spPr bwMode="auto">
            <a:xfrm>
              <a:off x="2880" y="2159"/>
              <a:ext cx="2875" cy="2159"/>
            </a:xfrm>
            <a:custGeom>
              <a:avLst/>
              <a:gdLst>
                <a:gd name="T0" fmla="*/ 2875 w 2875"/>
                <a:gd name="T1" fmla="*/ 0 h 2159"/>
                <a:gd name="T2" fmla="*/ 2875 w 2875"/>
                <a:gd name="T3" fmla="*/ 1869 h 2159"/>
                <a:gd name="T4" fmla="*/ 290 w 2875"/>
                <a:gd name="T5" fmla="*/ 1869 h 2159"/>
                <a:gd name="T6" fmla="*/ 0 w 2875"/>
                <a:gd name="T7" fmla="*/ 2159 h 2159"/>
                <a:gd name="T8" fmla="*/ 0 w 2875"/>
                <a:gd name="T9" fmla="*/ 0 h 2159"/>
                <a:gd name="T10" fmla="*/ 2875 w 2875"/>
                <a:gd name="T11" fmla="*/ 0 h 2159"/>
                <a:gd name="T12" fmla="*/ 2875 w 2875"/>
                <a:gd name="T13" fmla="*/ 0 h 2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59">
                  <a:moveTo>
                    <a:pt x="2875" y="0"/>
                  </a:moveTo>
                  <a:lnTo>
                    <a:pt x="2875" y="1869"/>
                  </a:lnTo>
                  <a:lnTo>
                    <a:pt x="290" y="1869"/>
                  </a:lnTo>
                  <a:lnTo>
                    <a:pt x="0" y="2159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F2120D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5" y="2159"/>
              <a:ext cx="2875" cy="2155"/>
            </a:xfrm>
            <a:custGeom>
              <a:avLst/>
              <a:gdLst>
                <a:gd name="T0" fmla="*/ 2875 w 2875"/>
                <a:gd name="T1" fmla="*/ 0 h 2155"/>
                <a:gd name="T2" fmla="*/ 2875 w 2875"/>
                <a:gd name="T3" fmla="*/ 2155 h 2155"/>
                <a:gd name="T4" fmla="*/ 0 w 2875"/>
                <a:gd name="T5" fmla="*/ 2155 h 2155"/>
                <a:gd name="T6" fmla="*/ 0 w 2875"/>
                <a:gd name="T7" fmla="*/ 0 h 2155"/>
                <a:gd name="T8" fmla="*/ 2875 w 2875"/>
                <a:gd name="T9" fmla="*/ 0 h 2155"/>
                <a:gd name="T10" fmla="*/ 2875 w 2875"/>
                <a:gd name="T11" fmla="*/ 0 h 2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2155">
                  <a:moveTo>
                    <a:pt x="2875" y="0"/>
                  </a:moveTo>
                  <a:lnTo>
                    <a:pt x="2875" y="2155"/>
                  </a:lnTo>
                  <a:lnTo>
                    <a:pt x="0" y="2155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8C857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Freeform 8"/>
            <p:cNvSpPr>
              <a:spLocks/>
            </p:cNvSpPr>
            <p:nvPr userDrawn="1"/>
          </p:nvSpPr>
          <p:spPr bwMode="auto">
            <a:xfrm>
              <a:off x="2880" y="-2"/>
              <a:ext cx="2875" cy="2161"/>
            </a:xfrm>
            <a:custGeom>
              <a:avLst/>
              <a:gdLst>
                <a:gd name="T0" fmla="*/ 2875 w 2875"/>
                <a:gd name="T1" fmla="*/ 0 h 2161"/>
                <a:gd name="T2" fmla="*/ 2875 w 2875"/>
                <a:gd name="T3" fmla="*/ 2161 h 2161"/>
                <a:gd name="T4" fmla="*/ 0 w 2875"/>
                <a:gd name="T5" fmla="*/ 2161 h 2161"/>
                <a:gd name="T6" fmla="*/ 0 w 2875"/>
                <a:gd name="T7" fmla="*/ 290 h 2161"/>
                <a:gd name="T8" fmla="*/ 290 w 2875"/>
                <a:gd name="T9" fmla="*/ 0 h 2161"/>
                <a:gd name="T10" fmla="*/ 2875 w 2875"/>
                <a:gd name="T11" fmla="*/ 0 h 2161"/>
                <a:gd name="T12" fmla="*/ 2875 w 2875"/>
                <a:gd name="T13" fmla="*/ 0 h 2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61">
                  <a:moveTo>
                    <a:pt x="2875" y="0"/>
                  </a:moveTo>
                  <a:lnTo>
                    <a:pt x="2875" y="2161"/>
                  </a:lnTo>
                  <a:lnTo>
                    <a:pt x="0" y="2161"/>
                  </a:lnTo>
                  <a:lnTo>
                    <a:pt x="0" y="290"/>
                  </a:lnTo>
                  <a:lnTo>
                    <a:pt x="29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Freeform 9"/>
            <p:cNvSpPr>
              <a:spLocks/>
            </p:cNvSpPr>
            <p:nvPr userDrawn="1"/>
          </p:nvSpPr>
          <p:spPr bwMode="auto">
            <a:xfrm>
              <a:off x="4659" y="234"/>
              <a:ext cx="182" cy="233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Freeform 10"/>
            <p:cNvSpPr>
              <a:spLocks/>
            </p:cNvSpPr>
            <p:nvPr userDrawn="1"/>
          </p:nvSpPr>
          <p:spPr bwMode="auto">
            <a:xfrm>
              <a:off x="4693" y="262"/>
              <a:ext cx="114" cy="149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Freeform 11"/>
            <p:cNvSpPr>
              <a:spLocks/>
            </p:cNvSpPr>
            <p:nvPr userDrawn="1"/>
          </p:nvSpPr>
          <p:spPr bwMode="auto">
            <a:xfrm>
              <a:off x="4709" y="294"/>
              <a:ext cx="82" cy="97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auto">
            <a:xfrm>
              <a:off x="4659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 13"/>
            <p:cNvSpPr>
              <a:spLocks/>
            </p:cNvSpPr>
            <p:nvPr userDrawn="1"/>
          </p:nvSpPr>
          <p:spPr bwMode="auto">
            <a:xfrm>
              <a:off x="4695" y="503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Freeform 14"/>
            <p:cNvSpPr>
              <a:spLocks/>
            </p:cNvSpPr>
            <p:nvPr userDrawn="1"/>
          </p:nvSpPr>
          <p:spPr bwMode="auto">
            <a:xfrm>
              <a:off x="4729" y="501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Freeform 15"/>
            <p:cNvSpPr>
              <a:spLocks/>
            </p:cNvSpPr>
            <p:nvPr userDrawn="1"/>
          </p:nvSpPr>
          <p:spPr bwMode="auto">
            <a:xfrm>
              <a:off x="4759" y="503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Freeform 16"/>
            <p:cNvSpPr>
              <a:spLocks noEditPoints="1"/>
            </p:cNvSpPr>
            <p:nvPr userDrawn="1"/>
          </p:nvSpPr>
          <p:spPr bwMode="auto">
            <a:xfrm>
              <a:off x="4791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Freeform 17"/>
            <p:cNvSpPr>
              <a:spLocks noEditPoints="1"/>
            </p:cNvSpPr>
            <p:nvPr userDrawn="1"/>
          </p:nvSpPr>
          <p:spPr bwMode="auto">
            <a:xfrm>
              <a:off x="4821" y="503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Freeform 18"/>
            <p:cNvSpPr>
              <a:spLocks/>
            </p:cNvSpPr>
            <p:nvPr userDrawn="1"/>
          </p:nvSpPr>
          <p:spPr bwMode="auto">
            <a:xfrm>
              <a:off x="4859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Freeform 19"/>
            <p:cNvSpPr>
              <a:spLocks/>
            </p:cNvSpPr>
            <p:nvPr userDrawn="1"/>
          </p:nvSpPr>
          <p:spPr bwMode="auto">
            <a:xfrm>
              <a:off x="4887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 20"/>
            <p:cNvSpPr>
              <a:spLocks noEditPoints="1"/>
            </p:cNvSpPr>
            <p:nvPr userDrawn="1"/>
          </p:nvSpPr>
          <p:spPr bwMode="auto">
            <a:xfrm>
              <a:off x="4897" y="503"/>
              <a:ext cx="33" cy="32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 21"/>
            <p:cNvSpPr>
              <a:spLocks/>
            </p:cNvSpPr>
            <p:nvPr userDrawn="1"/>
          </p:nvSpPr>
          <p:spPr bwMode="auto">
            <a:xfrm>
              <a:off x="4936" y="503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 22"/>
            <p:cNvSpPr>
              <a:spLocks/>
            </p:cNvSpPr>
            <p:nvPr userDrawn="1"/>
          </p:nvSpPr>
          <p:spPr bwMode="auto">
            <a:xfrm>
              <a:off x="4986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Freeform 23"/>
            <p:cNvSpPr>
              <a:spLocks noEditPoints="1"/>
            </p:cNvSpPr>
            <p:nvPr userDrawn="1"/>
          </p:nvSpPr>
          <p:spPr bwMode="auto">
            <a:xfrm>
              <a:off x="5018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Freeform 24"/>
            <p:cNvSpPr>
              <a:spLocks/>
            </p:cNvSpPr>
            <p:nvPr userDrawn="1"/>
          </p:nvSpPr>
          <p:spPr bwMode="auto">
            <a:xfrm>
              <a:off x="5050" y="503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Freeform 25"/>
            <p:cNvSpPr>
              <a:spLocks/>
            </p:cNvSpPr>
            <p:nvPr userDrawn="1"/>
          </p:nvSpPr>
          <p:spPr bwMode="auto">
            <a:xfrm>
              <a:off x="5082" y="503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Freeform 26"/>
            <p:cNvSpPr>
              <a:spLocks noEditPoints="1"/>
            </p:cNvSpPr>
            <p:nvPr userDrawn="1"/>
          </p:nvSpPr>
          <p:spPr bwMode="auto">
            <a:xfrm>
              <a:off x="5116" y="501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Freeform 27"/>
            <p:cNvSpPr>
              <a:spLocks/>
            </p:cNvSpPr>
            <p:nvPr userDrawn="1"/>
          </p:nvSpPr>
          <p:spPr bwMode="auto">
            <a:xfrm>
              <a:off x="5154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Freeform 28"/>
            <p:cNvSpPr>
              <a:spLocks/>
            </p:cNvSpPr>
            <p:nvPr userDrawn="1"/>
          </p:nvSpPr>
          <p:spPr bwMode="auto">
            <a:xfrm>
              <a:off x="5182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Freeform 29"/>
            <p:cNvSpPr>
              <a:spLocks/>
            </p:cNvSpPr>
            <p:nvPr userDrawn="1"/>
          </p:nvSpPr>
          <p:spPr bwMode="auto">
            <a:xfrm>
              <a:off x="5192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Freeform 30"/>
            <p:cNvSpPr>
              <a:spLocks/>
            </p:cNvSpPr>
            <p:nvPr userDrawn="1"/>
          </p:nvSpPr>
          <p:spPr bwMode="auto">
            <a:xfrm>
              <a:off x="5244" y="503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Freeform 31"/>
            <p:cNvSpPr>
              <a:spLocks/>
            </p:cNvSpPr>
            <p:nvPr userDrawn="1"/>
          </p:nvSpPr>
          <p:spPr bwMode="auto">
            <a:xfrm>
              <a:off x="5280" y="503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Freeform 32"/>
            <p:cNvSpPr>
              <a:spLocks/>
            </p:cNvSpPr>
            <p:nvPr userDrawn="1"/>
          </p:nvSpPr>
          <p:spPr bwMode="auto">
            <a:xfrm>
              <a:off x="5314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Freeform 33"/>
            <p:cNvSpPr>
              <a:spLocks/>
            </p:cNvSpPr>
            <p:nvPr userDrawn="1"/>
          </p:nvSpPr>
          <p:spPr bwMode="auto">
            <a:xfrm>
              <a:off x="5326" y="503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Freeform 34"/>
            <p:cNvSpPr>
              <a:spLocks/>
            </p:cNvSpPr>
            <p:nvPr userDrawn="1"/>
          </p:nvSpPr>
          <p:spPr bwMode="auto">
            <a:xfrm>
              <a:off x="5362" y="503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Freeform 35"/>
            <p:cNvSpPr>
              <a:spLocks noEditPoints="1"/>
            </p:cNvSpPr>
            <p:nvPr userDrawn="1"/>
          </p:nvSpPr>
          <p:spPr bwMode="auto">
            <a:xfrm>
              <a:off x="5394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Freeform 36"/>
            <p:cNvSpPr>
              <a:spLocks/>
            </p:cNvSpPr>
            <p:nvPr userDrawn="1"/>
          </p:nvSpPr>
          <p:spPr bwMode="auto">
            <a:xfrm>
              <a:off x="5424" y="501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Freeform 37"/>
            <p:cNvSpPr>
              <a:spLocks/>
            </p:cNvSpPr>
            <p:nvPr userDrawn="1"/>
          </p:nvSpPr>
          <p:spPr bwMode="auto">
            <a:xfrm>
              <a:off x="5458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Freeform 38"/>
            <p:cNvSpPr>
              <a:spLocks/>
            </p:cNvSpPr>
            <p:nvPr userDrawn="1"/>
          </p:nvSpPr>
          <p:spPr bwMode="auto">
            <a:xfrm>
              <a:off x="5470" y="503"/>
              <a:ext cx="53" cy="32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Freeform 39"/>
            <p:cNvSpPr>
              <a:spLocks/>
            </p:cNvSpPr>
            <p:nvPr userDrawn="1"/>
          </p:nvSpPr>
          <p:spPr bwMode="auto">
            <a:xfrm>
              <a:off x="5340" y="234"/>
              <a:ext cx="183" cy="229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Freeform 40"/>
            <p:cNvSpPr>
              <a:spLocks/>
            </p:cNvSpPr>
            <p:nvPr userDrawn="1"/>
          </p:nvSpPr>
          <p:spPr bwMode="auto">
            <a:xfrm>
              <a:off x="5096" y="230"/>
              <a:ext cx="212" cy="233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41"/>
            <p:cNvSpPr>
              <a:spLocks noEditPoints="1"/>
            </p:cNvSpPr>
            <p:nvPr userDrawn="1"/>
          </p:nvSpPr>
          <p:spPr bwMode="auto">
            <a:xfrm>
              <a:off x="4885" y="234"/>
              <a:ext cx="207" cy="225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003513" y="1366463"/>
            <a:ext cx="3770617" cy="1137024"/>
          </a:xfrm>
        </p:spPr>
        <p:txBody>
          <a:bodyPr anchor="b">
            <a:normAutofit/>
          </a:bodyPr>
          <a:lstStyle>
            <a:lvl1pPr algn="l"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003513" y="2503487"/>
            <a:ext cx="3770617" cy="599309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5003800" y="39449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003800" y="42398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0" y="469901"/>
            <a:ext cx="4565649" cy="2952750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0" y="3422650"/>
            <a:ext cx="4565649" cy="34353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77774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co-brand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73125" y="26581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7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8731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731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8731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44" name="Picture Placeholder 85"/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6639194" y="2653276"/>
            <a:ext cx="1766125" cy="502731"/>
          </a:xfrm>
        </p:spPr>
        <p:txBody>
          <a:bodyPr/>
          <a:lstStyle>
            <a:lvl1pPr marL="0" indent="0">
              <a:buNone/>
              <a:defRPr sz="12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Drag co-branded logo to placeholder or click icon to add</a:t>
            </a:r>
            <a:endParaRPr lang="en-AU" dirty="0"/>
          </a:p>
        </p:txBody>
      </p:sp>
      <p:grpSp>
        <p:nvGrpSpPr>
          <p:cNvPr id="45" name="Group 44"/>
          <p:cNvGrpSpPr/>
          <p:nvPr userDrawn="1"/>
        </p:nvGrpSpPr>
        <p:grpSpPr>
          <a:xfrm>
            <a:off x="7401258" y="6092825"/>
            <a:ext cx="1374019" cy="484188"/>
            <a:chOff x="7401258" y="365125"/>
            <a:chExt cx="1374019" cy="484188"/>
          </a:xfrm>
        </p:grpSpPr>
        <p:sp>
          <p:nvSpPr>
            <p:cNvPr id="46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887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0"/>
            <a:ext cx="9144227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Freeform 5"/>
          <p:cNvSpPr>
            <a:spLocks/>
          </p:cNvSpPr>
          <p:nvPr userDrawn="1"/>
        </p:nvSpPr>
        <p:spPr bwMode="auto">
          <a:xfrm>
            <a:off x="0" y="457200"/>
            <a:ext cx="4572114" cy="6388100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8C857B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Freeform 6"/>
          <p:cNvSpPr>
            <a:spLocks/>
          </p:cNvSpPr>
          <p:nvPr userDrawn="1"/>
        </p:nvSpPr>
        <p:spPr bwMode="auto">
          <a:xfrm>
            <a:off x="4572114" y="-3175"/>
            <a:ext cx="4572114" cy="6858000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Group 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48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5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6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8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8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9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0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1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038725" y="28486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2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50387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3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0387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84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50387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86" name="Picture Placeholder 85"/>
          <p:cNvSpPr>
            <a:spLocks noGrp="1"/>
          </p:cNvSpPr>
          <p:nvPr userDrawn="1">
            <p:ph type="pic" sz="quarter" idx="12"/>
          </p:nvPr>
        </p:nvSpPr>
        <p:spPr>
          <a:xfrm>
            <a:off x="0" y="457200"/>
            <a:ext cx="4572000" cy="63881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77701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073272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" name="Freeform 5"/>
          <p:cNvSpPr>
            <a:spLocks/>
          </p:cNvSpPr>
          <p:nvPr userDrawn="1"/>
        </p:nvSpPr>
        <p:spPr bwMode="auto">
          <a:xfrm>
            <a:off x="0" y="457201"/>
            <a:ext cx="4572232" cy="6388107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F2120D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Freeform 6"/>
          <p:cNvSpPr>
            <a:spLocks/>
          </p:cNvSpPr>
          <p:nvPr userDrawn="1"/>
        </p:nvSpPr>
        <p:spPr bwMode="auto">
          <a:xfrm>
            <a:off x="4572232" y="-3174"/>
            <a:ext cx="4572232" cy="6858007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1"/>
            <a:ext cx="9144464" cy="6858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804755" y="1054317"/>
            <a:ext cx="4247805" cy="4749367"/>
          </a:xfrm>
        </p:spPr>
        <p:txBody>
          <a:bodyPr lIns="0" tIns="0" rIns="0" bIns="0" anchor="ctr" anchorCtr="0">
            <a:noAutofit/>
          </a:bodyPr>
          <a:lstStyle>
            <a:lvl1pPr>
              <a:defRPr sz="37857" spc="-1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1</a:t>
            </a:r>
            <a:endParaRPr lang="en-AU" dirty="0"/>
          </a:p>
        </p:txBody>
      </p:sp>
      <p:sp>
        <p:nvSpPr>
          <p:cNvPr id="47" name="Text Placeholder 4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74420" y="3246827"/>
            <a:ext cx="3092450" cy="357995"/>
          </a:xfrm>
        </p:spPr>
        <p:txBody>
          <a:bodyPr>
            <a:normAutofit/>
          </a:bodyPr>
          <a:lstStyle>
            <a:lvl1pPr marL="0" indent="0">
              <a:buNone/>
              <a:defRPr sz="1997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title</a:t>
            </a:r>
          </a:p>
        </p:txBody>
      </p:sp>
      <p:grpSp>
        <p:nvGrpSpPr>
          <p:cNvPr id="82" name="Group 8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83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4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5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7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3114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" name="Object 46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1715332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47" name="Object 4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40871" y="689568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50" name="Text Placeholder 49"/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40871" y="1463720"/>
            <a:ext cx="8284029" cy="427259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52" name="Text Placeholder 5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40871" y="-8733"/>
            <a:ext cx="4343399" cy="462758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heading</a:t>
            </a:r>
          </a:p>
        </p:txBody>
      </p:sp>
      <p:sp>
        <p:nvSpPr>
          <p:cNvPr id="8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  <p:sp>
        <p:nvSpPr>
          <p:cNvPr id="8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4188129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Faculty of Business and Law | Peter Faber Business School</a:t>
            </a:r>
          </a:p>
        </p:txBody>
      </p:sp>
    </p:spTree>
    <p:extLst>
      <p:ext uri="{BB962C8B-B14F-4D97-AF65-F5344CB8AC3E}">
        <p14:creationId xmlns:p14="http://schemas.microsoft.com/office/powerpoint/2010/main" val="271879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s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70735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2" name="Text Placeholder 45"/>
          <p:cNvSpPr>
            <a:spLocks noGrp="1"/>
          </p:cNvSpPr>
          <p:nvPr>
            <p:ph type="body" sz="quarter" idx="13" hasCustomPrompt="1"/>
          </p:nvPr>
        </p:nvSpPr>
        <p:spPr>
          <a:xfrm>
            <a:off x="440871" y="1339935"/>
            <a:ext cx="6734398" cy="507831"/>
          </a:xfrm>
        </p:spPr>
        <p:txBody>
          <a:bodyPr anchor="ctr">
            <a:spAutoFit/>
          </a:bodyPr>
          <a:lstStyle>
            <a:lvl1pPr marL="0" indent="0">
              <a:lnSpc>
                <a:spcPct val="100000"/>
              </a:lnSpc>
              <a:buNone/>
              <a:defRPr sz="27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Title</a:t>
            </a:r>
          </a:p>
        </p:txBody>
      </p:sp>
      <p:sp>
        <p:nvSpPr>
          <p:cNvPr id="43" name="Text Placeholder 47"/>
          <p:cNvSpPr>
            <a:spLocks noGrp="1"/>
          </p:cNvSpPr>
          <p:nvPr>
            <p:ph type="body" sz="quarter" idx="14" hasCustomPrompt="1"/>
          </p:nvPr>
        </p:nvSpPr>
        <p:spPr>
          <a:xfrm>
            <a:off x="440872" y="2275570"/>
            <a:ext cx="8284028" cy="359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000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heading</a:t>
            </a:r>
          </a:p>
        </p:txBody>
      </p:sp>
      <p:sp>
        <p:nvSpPr>
          <p:cNvPr id="83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2640809"/>
            <a:ext cx="8284029" cy="309551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8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872246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208934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1" y="1626054"/>
            <a:ext cx="3867150" cy="4271941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51000"/>
            <a:ext cx="3887788" cy="4246995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7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93049"/>
            <a:ext cx="6734398" cy="493981"/>
          </a:xfrm>
        </p:spPr>
        <p:txBody>
          <a:bodyPr>
            <a:sp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3887787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289585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3888" y="1864188"/>
            <a:ext cx="7886700" cy="4070577"/>
          </a:xfrm>
        </p:spPr>
        <p:txBody>
          <a:bodyPr vert="eaVert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98929" y="1056579"/>
            <a:ext cx="6734398" cy="493981"/>
          </a:xfrm>
        </p:spPr>
        <p:txBody>
          <a:bodyPr>
            <a:norm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406363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hit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 9"/>
          <p:cNvSpPr>
            <a:spLocks/>
          </p:cNvSpPr>
          <p:nvPr userDrawn="1"/>
        </p:nvSpPr>
        <p:spPr bwMode="auto">
          <a:xfrm>
            <a:off x="7399338" y="371475"/>
            <a:ext cx="288925" cy="371475"/>
          </a:xfrm>
          <a:custGeom>
            <a:avLst/>
            <a:gdLst>
              <a:gd name="T0" fmla="*/ 91 w 91"/>
              <a:gd name="T1" fmla="*/ 0 h 117"/>
              <a:gd name="T2" fmla="*/ 91 w 91"/>
              <a:gd name="T3" fmla="*/ 51 h 117"/>
              <a:gd name="T4" fmla="*/ 46 w 91"/>
              <a:gd name="T5" fmla="*/ 117 h 117"/>
              <a:gd name="T6" fmla="*/ 0 w 91"/>
              <a:gd name="T7" fmla="*/ 51 h 117"/>
              <a:gd name="T8" fmla="*/ 0 w 91"/>
              <a:gd name="T9" fmla="*/ 0 h 117"/>
              <a:gd name="T10" fmla="*/ 91 w 91"/>
              <a:gd name="T11" fmla="*/ 0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91" h="117">
                <a:moveTo>
                  <a:pt x="91" y="0"/>
                </a:moveTo>
                <a:cubicBezTo>
                  <a:pt x="91" y="51"/>
                  <a:pt x="91" y="51"/>
                  <a:pt x="91" y="51"/>
                </a:cubicBezTo>
                <a:cubicBezTo>
                  <a:pt x="91" y="77"/>
                  <a:pt x="74" y="105"/>
                  <a:pt x="46" y="117"/>
                </a:cubicBezTo>
                <a:cubicBezTo>
                  <a:pt x="18" y="105"/>
                  <a:pt x="0" y="77"/>
                  <a:pt x="0" y="51"/>
                </a:cubicBezTo>
                <a:cubicBezTo>
                  <a:pt x="0" y="0"/>
                  <a:pt x="0" y="0"/>
                  <a:pt x="0" y="0"/>
                </a:cubicBezTo>
                <a:cubicBezTo>
                  <a:pt x="91" y="0"/>
                  <a:pt x="91" y="0"/>
                  <a:pt x="91" y="0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reeform 10"/>
          <p:cNvSpPr>
            <a:spLocks/>
          </p:cNvSpPr>
          <p:nvPr userDrawn="1"/>
        </p:nvSpPr>
        <p:spPr bwMode="auto">
          <a:xfrm>
            <a:off x="7453313" y="415925"/>
            <a:ext cx="180975" cy="238125"/>
          </a:xfrm>
          <a:custGeom>
            <a:avLst/>
            <a:gdLst>
              <a:gd name="T0" fmla="*/ 0 w 114"/>
              <a:gd name="T1" fmla="*/ 74 h 150"/>
              <a:gd name="T2" fmla="*/ 58 w 114"/>
              <a:gd name="T3" fmla="*/ 0 h 150"/>
              <a:gd name="T4" fmla="*/ 114 w 114"/>
              <a:gd name="T5" fmla="*/ 74 h 150"/>
              <a:gd name="T6" fmla="*/ 58 w 114"/>
              <a:gd name="T7" fmla="*/ 150 h 150"/>
              <a:gd name="T8" fmla="*/ 0 w 114"/>
              <a:gd name="T9" fmla="*/ 74 h 150"/>
              <a:gd name="T10" fmla="*/ 0 w 114"/>
              <a:gd name="T11" fmla="*/ 74 h 1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14" h="150">
                <a:moveTo>
                  <a:pt x="0" y="74"/>
                </a:moveTo>
                <a:lnTo>
                  <a:pt x="58" y="0"/>
                </a:lnTo>
                <a:lnTo>
                  <a:pt x="114" y="74"/>
                </a:lnTo>
                <a:lnTo>
                  <a:pt x="58" y="150"/>
                </a:lnTo>
                <a:lnTo>
                  <a:pt x="0" y="74"/>
                </a:lnTo>
                <a:lnTo>
                  <a:pt x="0" y="7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Freeform 11"/>
          <p:cNvSpPr>
            <a:spLocks/>
          </p:cNvSpPr>
          <p:nvPr userDrawn="1"/>
        </p:nvSpPr>
        <p:spPr bwMode="auto">
          <a:xfrm>
            <a:off x="7478713" y="466725"/>
            <a:ext cx="130175" cy="155575"/>
          </a:xfrm>
          <a:custGeom>
            <a:avLst/>
            <a:gdLst>
              <a:gd name="T0" fmla="*/ 18 w 41"/>
              <a:gd name="T1" fmla="*/ 26 h 49"/>
              <a:gd name="T2" fmla="*/ 21 w 41"/>
              <a:gd name="T3" fmla="*/ 49 h 49"/>
              <a:gd name="T4" fmla="*/ 21 w 41"/>
              <a:gd name="T5" fmla="*/ 49 h 49"/>
              <a:gd name="T6" fmla="*/ 21 w 41"/>
              <a:gd name="T7" fmla="*/ 49 h 49"/>
              <a:gd name="T8" fmla="*/ 23 w 41"/>
              <a:gd name="T9" fmla="*/ 26 h 49"/>
              <a:gd name="T10" fmla="*/ 23 w 41"/>
              <a:gd name="T11" fmla="*/ 24 h 49"/>
              <a:gd name="T12" fmla="*/ 32 w 41"/>
              <a:gd name="T13" fmla="*/ 24 h 49"/>
              <a:gd name="T14" fmla="*/ 32 w 41"/>
              <a:gd name="T15" fmla="*/ 25 h 49"/>
              <a:gd name="T16" fmla="*/ 35 w 41"/>
              <a:gd name="T17" fmla="*/ 28 h 49"/>
              <a:gd name="T18" fmla="*/ 37 w 41"/>
              <a:gd name="T19" fmla="*/ 25 h 49"/>
              <a:gd name="T20" fmla="*/ 37 w 41"/>
              <a:gd name="T21" fmla="*/ 24 h 49"/>
              <a:gd name="T22" fmla="*/ 38 w 41"/>
              <a:gd name="T23" fmla="*/ 24 h 49"/>
              <a:gd name="T24" fmla="*/ 41 w 41"/>
              <a:gd name="T25" fmla="*/ 21 h 49"/>
              <a:gd name="T26" fmla="*/ 38 w 41"/>
              <a:gd name="T27" fmla="*/ 19 h 49"/>
              <a:gd name="T28" fmla="*/ 37 w 41"/>
              <a:gd name="T29" fmla="*/ 19 h 49"/>
              <a:gd name="T30" fmla="*/ 37 w 41"/>
              <a:gd name="T31" fmla="*/ 18 h 49"/>
              <a:gd name="T32" fmla="*/ 35 w 41"/>
              <a:gd name="T33" fmla="*/ 15 h 49"/>
              <a:gd name="T34" fmla="*/ 32 w 41"/>
              <a:gd name="T35" fmla="*/ 18 h 49"/>
              <a:gd name="T36" fmla="*/ 32 w 41"/>
              <a:gd name="T37" fmla="*/ 19 h 49"/>
              <a:gd name="T38" fmla="*/ 23 w 41"/>
              <a:gd name="T39" fmla="*/ 19 h 49"/>
              <a:gd name="T40" fmla="*/ 23 w 41"/>
              <a:gd name="T41" fmla="*/ 9 h 49"/>
              <a:gd name="T42" fmla="*/ 24 w 41"/>
              <a:gd name="T43" fmla="*/ 9 h 49"/>
              <a:gd name="T44" fmla="*/ 27 w 41"/>
              <a:gd name="T45" fmla="*/ 6 h 49"/>
              <a:gd name="T46" fmla="*/ 24 w 41"/>
              <a:gd name="T47" fmla="*/ 3 h 49"/>
              <a:gd name="T48" fmla="*/ 23 w 41"/>
              <a:gd name="T49" fmla="*/ 3 h 49"/>
              <a:gd name="T50" fmla="*/ 23 w 41"/>
              <a:gd name="T51" fmla="*/ 3 h 49"/>
              <a:gd name="T52" fmla="*/ 21 w 41"/>
              <a:gd name="T53" fmla="*/ 0 h 49"/>
              <a:gd name="T54" fmla="*/ 18 w 41"/>
              <a:gd name="T55" fmla="*/ 3 h 49"/>
              <a:gd name="T56" fmla="*/ 18 w 41"/>
              <a:gd name="T57" fmla="*/ 3 h 49"/>
              <a:gd name="T58" fmla="*/ 17 w 41"/>
              <a:gd name="T59" fmla="*/ 3 h 49"/>
              <a:gd name="T60" fmla="*/ 14 w 41"/>
              <a:gd name="T61" fmla="*/ 6 h 49"/>
              <a:gd name="T62" fmla="*/ 17 w 41"/>
              <a:gd name="T63" fmla="*/ 9 h 49"/>
              <a:gd name="T64" fmla="*/ 18 w 41"/>
              <a:gd name="T65" fmla="*/ 9 h 49"/>
              <a:gd name="T66" fmla="*/ 18 w 41"/>
              <a:gd name="T67" fmla="*/ 19 h 49"/>
              <a:gd name="T68" fmla="*/ 18 w 41"/>
              <a:gd name="T69" fmla="*/ 19 h 49"/>
              <a:gd name="T70" fmla="*/ 10 w 41"/>
              <a:gd name="T71" fmla="*/ 19 h 49"/>
              <a:gd name="T72" fmla="*/ 10 w 41"/>
              <a:gd name="T73" fmla="*/ 18 h 49"/>
              <a:gd name="T74" fmla="*/ 7 w 41"/>
              <a:gd name="T75" fmla="*/ 15 h 49"/>
              <a:gd name="T76" fmla="*/ 4 w 41"/>
              <a:gd name="T77" fmla="*/ 18 h 49"/>
              <a:gd name="T78" fmla="*/ 4 w 41"/>
              <a:gd name="T79" fmla="*/ 19 h 49"/>
              <a:gd name="T80" fmla="*/ 4 w 41"/>
              <a:gd name="T81" fmla="*/ 19 h 49"/>
              <a:gd name="T82" fmla="*/ 0 w 41"/>
              <a:gd name="T83" fmla="*/ 21 h 49"/>
              <a:gd name="T84" fmla="*/ 4 w 41"/>
              <a:gd name="T85" fmla="*/ 24 h 49"/>
              <a:gd name="T86" fmla="*/ 4 w 41"/>
              <a:gd name="T87" fmla="*/ 24 h 49"/>
              <a:gd name="T88" fmla="*/ 4 w 41"/>
              <a:gd name="T89" fmla="*/ 25 h 49"/>
              <a:gd name="T90" fmla="*/ 7 w 41"/>
              <a:gd name="T91" fmla="*/ 28 h 49"/>
              <a:gd name="T92" fmla="*/ 10 w 41"/>
              <a:gd name="T93" fmla="*/ 25 h 49"/>
              <a:gd name="T94" fmla="*/ 10 w 41"/>
              <a:gd name="T95" fmla="*/ 24 h 49"/>
              <a:gd name="T96" fmla="*/ 18 w 41"/>
              <a:gd name="T97" fmla="*/ 24 h 49"/>
              <a:gd name="T98" fmla="*/ 18 w 41"/>
              <a:gd name="T99" fmla="*/ 26 h 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41" h="49">
                <a:moveTo>
                  <a:pt x="18" y="26"/>
                </a:moveTo>
                <a:cubicBezTo>
                  <a:pt x="18" y="36"/>
                  <a:pt x="20" y="48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8"/>
                  <a:pt x="23" y="36"/>
                  <a:pt x="23" y="26"/>
                </a:cubicBezTo>
                <a:cubicBezTo>
                  <a:pt x="23" y="24"/>
                  <a:pt x="23" y="24"/>
                  <a:pt x="23" y="24"/>
                </a:cubicBezTo>
                <a:cubicBezTo>
                  <a:pt x="32" y="24"/>
                  <a:pt x="32" y="24"/>
                  <a:pt x="32" y="24"/>
                </a:cubicBezTo>
                <a:cubicBezTo>
                  <a:pt x="32" y="25"/>
                  <a:pt x="32" y="25"/>
                  <a:pt x="32" y="25"/>
                </a:cubicBezTo>
                <a:cubicBezTo>
                  <a:pt x="32" y="26"/>
                  <a:pt x="33" y="28"/>
                  <a:pt x="35" y="28"/>
                </a:cubicBezTo>
                <a:cubicBezTo>
                  <a:pt x="36" y="28"/>
                  <a:pt x="37" y="26"/>
                  <a:pt x="37" y="25"/>
                </a:cubicBezTo>
                <a:cubicBezTo>
                  <a:pt x="37" y="24"/>
                  <a:pt x="37" y="24"/>
                  <a:pt x="37" y="24"/>
                </a:cubicBezTo>
                <a:cubicBezTo>
                  <a:pt x="38" y="24"/>
                  <a:pt x="38" y="24"/>
                  <a:pt x="38" y="24"/>
                </a:cubicBezTo>
                <a:cubicBezTo>
                  <a:pt x="39" y="24"/>
                  <a:pt x="41" y="23"/>
                  <a:pt x="41" y="21"/>
                </a:cubicBezTo>
                <a:cubicBezTo>
                  <a:pt x="41" y="20"/>
                  <a:pt x="39" y="19"/>
                  <a:pt x="38" y="19"/>
                </a:cubicBezTo>
                <a:cubicBezTo>
                  <a:pt x="37" y="19"/>
                  <a:pt x="37" y="19"/>
                  <a:pt x="37" y="19"/>
                </a:cubicBezTo>
                <a:cubicBezTo>
                  <a:pt x="37" y="18"/>
                  <a:pt x="37" y="18"/>
                  <a:pt x="37" y="18"/>
                </a:cubicBezTo>
                <a:cubicBezTo>
                  <a:pt x="37" y="17"/>
                  <a:pt x="36" y="15"/>
                  <a:pt x="35" y="15"/>
                </a:cubicBezTo>
                <a:cubicBezTo>
                  <a:pt x="33" y="15"/>
                  <a:pt x="32" y="17"/>
                  <a:pt x="32" y="18"/>
                </a:cubicBezTo>
                <a:cubicBezTo>
                  <a:pt x="32" y="19"/>
                  <a:pt x="32" y="19"/>
                  <a:pt x="32" y="19"/>
                </a:cubicBezTo>
                <a:cubicBezTo>
                  <a:pt x="23" y="19"/>
                  <a:pt x="23" y="19"/>
                  <a:pt x="23" y="19"/>
                </a:cubicBezTo>
                <a:cubicBezTo>
                  <a:pt x="23" y="9"/>
                  <a:pt x="23" y="9"/>
                  <a:pt x="23" y="9"/>
                </a:cubicBezTo>
                <a:cubicBezTo>
                  <a:pt x="24" y="9"/>
                  <a:pt x="24" y="9"/>
                  <a:pt x="24" y="9"/>
                </a:cubicBezTo>
                <a:cubicBezTo>
                  <a:pt x="25" y="9"/>
                  <a:pt x="27" y="8"/>
                  <a:pt x="27" y="6"/>
                </a:cubicBezTo>
                <a:cubicBezTo>
                  <a:pt x="27" y="5"/>
                  <a:pt x="25" y="3"/>
                  <a:pt x="24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1"/>
                  <a:pt x="22" y="0"/>
                  <a:pt x="21" y="0"/>
                </a:cubicBezTo>
                <a:cubicBezTo>
                  <a:pt x="19" y="0"/>
                  <a:pt x="18" y="1"/>
                  <a:pt x="18" y="3"/>
                </a:cubicBezTo>
                <a:cubicBezTo>
                  <a:pt x="18" y="3"/>
                  <a:pt x="18" y="3"/>
                  <a:pt x="18" y="3"/>
                </a:cubicBezTo>
                <a:cubicBezTo>
                  <a:pt x="17" y="3"/>
                  <a:pt x="17" y="3"/>
                  <a:pt x="17" y="3"/>
                </a:cubicBezTo>
                <a:cubicBezTo>
                  <a:pt x="16" y="3"/>
                  <a:pt x="14" y="5"/>
                  <a:pt x="14" y="6"/>
                </a:cubicBezTo>
                <a:cubicBezTo>
                  <a:pt x="14" y="8"/>
                  <a:pt x="16" y="9"/>
                  <a:pt x="17" y="9"/>
                </a:cubicBezTo>
                <a:cubicBezTo>
                  <a:pt x="18" y="9"/>
                  <a:pt x="18" y="9"/>
                  <a:pt x="18" y="9"/>
                </a:cubicBezTo>
                <a:cubicBezTo>
                  <a:pt x="18" y="19"/>
                  <a:pt x="18" y="19"/>
                  <a:pt x="18" y="19"/>
                </a:cubicBezTo>
                <a:cubicBezTo>
                  <a:pt x="18" y="19"/>
                  <a:pt x="18" y="19"/>
                  <a:pt x="18" y="19"/>
                </a:cubicBezTo>
                <a:cubicBezTo>
                  <a:pt x="10" y="19"/>
                  <a:pt x="10" y="19"/>
                  <a:pt x="10" y="19"/>
                </a:cubicBezTo>
                <a:cubicBezTo>
                  <a:pt x="10" y="18"/>
                  <a:pt x="10" y="18"/>
                  <a:pt x="10" y="18"/>
                </a:cubicBezTo>
                <a:cubicBezTo>
                  <a:pt x="10" y="17"/>
                  <a:pt x="8" y="15"/>
                  <a:pt x="7" y="15"/>
                </a:cubicBezTo>
                <a:cubicBezTo>
                  <a:pt x="5" y="15"/>
                  <a:pt x="4" y="17"/>
                  <a:pt x="4" y="18"/>
                </a:cubicBezTo>
                <a:cubicBezTo>
                  <a:pt x="4" y="19"/>
                  <a:pt x="4" y="19"/>
                  <a:pt x="4" y="19"/>
                </a:cubicBezTo>
                <a:cubicBezTo>
                  <a:pt x="4" y="19"/>
                  <a:pt x="4" y="19"/>
                  <a:pt x="4" y="19"/>
                </a:cubicBezTo>
                <a:cubicBezTo>
                  <a:pt x="2" y="19"/>
                  <a:pt x="0" y="20"/>
                  <a:pt x="0" y="21"/>
                </a:cubicBezTo>
                <a:cubicBezTo>
                  <a:pt x="0" y="23"/>
                  <a:pt x="2" y="24"/>
                  <a:pt x="4" y="24"/>
                </a:cubicBezTo>
                <a:cubicBezTo>
                  <a:pt x="4" y="24"/>
                  <a:pt x="4" y="24"/>
                  <a:pt x="4" y="24"/>
                </a:cubicBezTo>
                <a:cubicBezTo>
                  <a:pt x="4" y="25"/>
                  <a:pt x="4" y="25"/>
                  <a:pt x="4" y="25"/>
                </a:cubicBezTo>
                <a:cubicBezTo>
                  <a:pt x="4" y="26"/>
                  <a:pt x="5" y="28"/>
                  <a:pt x="7" y="28"/>
                </a:cubicBezTo>
                <a:cubicBezTo>
                  <a:pt x="8" y="28"/>
                  <a:pt x="10" y="26"/>
                  <a:pt x="10" y="25"/>
                </a:cubicBezTo>
                <a:cubicBezTo>
                  <a:pt x="10" y="24"/>
                  <a:pt x="10" y="24"/>
                  <a:pt x="10" y="24"/>
                </a:cubicBezTo>
                <a:cubicBezTo>
                  <a:pt x="18" y="24"/>
                  <a:pt x="18" y="24"/>
                  <a:pt x="18" y="24"/>
                </a:cubicBezTo>
                <a:cubicBezTo>
                  <a:pt x="18" y="26"/>
                  <a:pt x="18" y="26"/>
                  <a:pt x="18" y="26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reeform 12"/>
          <p:cNvSpPr>
            <a:spLocks noEditPoints="1"/>
          </p:cNvSpPr>
          <p:nvPr userDrawn="1"/>
        </p:nvSpPr>
        <p:spPr bwMode="auto">
          <a:xfrm>
            <a:off x="73993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10 w 34"/>
              <a:gd name="T9" fmla="*/ 26 h 32"/>
              <a:gd name="T10" fmla="*/ 26 w 34"/>
              <a:gd name="T11" fmla="*/ 26 h 32"/>
              <a:gd name="T12" fmla="*/ 30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2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10" y="26"/>
                </a:lnTo>
                <a:lnTo>
                  <a:pt x="26" y="26"/>
                </a:lnTo>
                <a:lnTo>
                  <a:pt x="30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2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 userDrawn="1"/>
        </p:nvSpPr>
        <p:spPr bwMode="auto">
          <a:xfrm>
            <a:off x="7456488" y="800100"/>
            <a:ext cx="44450" cy="50800"/>
          </a:xfrm>
          <a:custGeom>
            <a:avLst/>
            <a:gdLst>
              <a:gd name="T0" fmla="*/ 11 w 14"/>
              <a:gd name="T1" fmla="*/ 9 h 16"/>
              <a:gd name="T2" fmla="*/ 7 w 14"/>
              <a:gd name="T3" fmla="*/ 14 h 16"/>
              <a:gd name="T4" fmla="*/ 3 w 14"/>
              <a:gd name="T5" fmla="*/ 9 h 16"/>
              <a:gd name="T6" fmla="*/ 3 w 14"/>
              <a:gd name="T7" fmla="*/ 0 h 16"/>
              <a:gd name="T8" fmla="*/ 0 w 14"/>
              <a:gd name="T9" fmla="*/ 0 h 16"/>
              <a:gd name="T10" fmla="*/ 0 w 14"/>
              <a:gd name="T11" fmla="*/ 9 h 16"/>
              <a:gd name="T12" fmla="*/ 7 w 14"/>
              <a:gd name="T13" fmla="*/ 16 h 16"/>
              <a:gd name="T14" fmla="*/ 14 w 14"/>
              <a:gd name="T15" fmla="*/ 9 h 16"/>
              <a:gd name="T16" fmla="*/ 14 w 14"/>
              <a:gd name="T17" fmla="*/ 0 h 16"/>
              <a:gd name="T18" fmla="*/ 11 w 14"/>
              <a:gd name="T19" fmla="*/ 0 h 16"/>
              <a:gd name="T20" fmla="*/ 11 w 14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4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3" y="12"/>
                  <a:pt x="3" y="9"/>
                </a:cubicBezTo>
                <a:cubicBezTo>
                  <a:pt x="3" y="0"/>
                  <a:pt x="3" y="0"/>
                  <a:pt x="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4" y="16"/>
                  <a:pt x="7" y="16"/>
                </a:cubicBezTo>
                <a:cubicBezTo>
                  <a:pt x="10" y="16"/>
                  <a:pt x="14" y="14"/>
                  <a:pt x="14" y="9"/>
                </a:cubicBezTo>
                <a:cubicBezTo>
                  <a:pt x="14" y="0"/>
                  <a:pt x="14" y="0"/>
                  <a:pt x="14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14"/>
          <p:cNvSpPr>
            <a:spLocks/>
          </p:cNvSpPr>
          <p:nvPr userDrawn="1"/>
        </p:nvSpPr>
        <p:spPr bwMode="auto">
          <a:xfrm>
            <a:off x="7510463" y="796925"/>
            <a:ext cx="41275" cy="53975"/>
          </a:xfrm>
          <a:custGeom>
            <a:avLst/>
            <a:gdLst>
              <a:gd name="T0" fmla="*/ 7 w 13"/>
              <a:gd name="T1" fmla="*/ 7 h 17"/>
              <a:gd name="T2" fmla="*/ 3 w 13"/>
              <a:gd name="T3" fmla="*/ 5 h 17"/>
              <a:gd name="T4" fmla="*/ 7 w 13"/>
              <a:gd name="T5" fmla="*/ 3 h 17"/>
              <a:gd name="T6" fmla="*/ 11 w 13"/>
              <a:gd name="T7" fmla="*/ 5 h 17"/>
              <a:gd name="T8" fmla="*/ 11 w 13"/>
              <a:gd name="T9" fmla="*/ 5 h 17"/>
              <a:gd name="T10" fmla="*/ 13 w 13"/>
              <a:gd name="T11" fmla="*/ 4 h 17"/>
              <a:gd name="T12" fmla="*/ 13 w 13"/>
              <a:gd name="T13" fmla="*/ 3 h 17"/>
              <a:gd name="T14" fmla="*/ 7 w 13"/>
              <a:gd name="T15" fmla="*/ 0 h 17"/>
              <a:gd name="T16" fmla="*/ 2 w 13"/>
              <a:gd name="T17" fmla="*/ 2 h 17"/>
              <a:gd name="T18" fmla="*/ 0 w 13"/>
              <a:gd name="T19" fmla="*/ 5 h 17"/>
              <a:gd name="T20" fmla="*/ 7 w 13"/>
              <a:gd name="T21" fmla="*/ 10 h 17"/>
              <a:gd name="T22" fmla="*/ 11 w 13"/>
              <a:gd name="T23" fmla="*/ 12 h 17"/>
              <a:gd name="T24" fmla="*/ 7 w 13"/>
              <a:gd name="T25" fmla="*/ 15 h 17"/>
              <a:gd name="T26" fmla="*/ 2 w 13"/>
              <a:gd name="T27" fmla="*/ 12 h 17"/>
              <a:gd name="T28" fmla="*/ 2 w 13"/>
              <a:gd name="T29" fmla="*/ 12 h 17"/>
              <a:gd name="T30" fmla="*/ 0 w 13"/>
              <a:gd name="T31" fmla="*/ 13 h 17"/>
              <a:gd name="T32" fmla="*/ 0 w 13"/>
              <a:gd name="T33" fmla="*/ 14 h 17"/>
              <a:gd name="T34" fmla="*/ 7 w 13"/>
              <a:gd name="T35" fmla="*/ 17 h 17"/>
              <a:gd name="T36" fmla="*/ 13 w 13"/>
              <a:gd name="T37" fmla="*/ 12 h 17"/>
              <a:gd name="T38" fmla="*/ 7 w 13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3" h="17">
                <a:moveTo>
                  <a:pt x="7" y="7"/>
                </a:moveTo>
                <a:cubicBezTo>
                  <a:pt x="5" y="7"/>
                  <a:pt x="3" y="6"/>
                  <a:pt x="3" y="5"/>
                </a:cubicBezTo>
                <a:cubicBezTo>
                  <a:pt x="3" y="4"/>
                  <a:pt x="5" y="3"/>
                  <a:pt x="7" y="3"/>
                </a:cubicBezTo>
                <a:cubicBezTo>
                  <a:pt x="9" y="3"/>
                  <a:pt x="10" y="3"/>
                  <a:pt x="11" y="5"/>
                </a:cubicBezTo>
                <a:cubicBezTo>
                  <a:pt x="11" y="5"/>
                  <a:pt x="11" y="5"/>
                  <a:pt x="11" y="5"/>
                </a:cubicBezTo>
                <a:cubicBezTo>
                  <a:pt x="13" y="4"/>
                  <a:pt x="13" y="4"/>
                  <a:pt x="13" y="4"/>
                </a:cubicBezTo>
                <a:cubicBezTo>
                  <a:pt x="13" y="3"/>
                  <a:pt x="13" y="3"/>
                  <a:pt x="13" y="3"/>
                </a:cubicBezTo>
                <a:cubicBezTo>
                  <a:pt x="12" y="1"/>
                  <a:pt x="10" y="0"/>
                  <a:pt x="7" y="0"/>
                </a:cubicBezTo>
                <a:cubicBezTo>
                  <a:pt x="5" y="0"/>
                  <a:pt x="3" y="1"/>
                  <a:pt x="2" y="2"/>
                </a:cubicBezTo>
                <a:cubicBezTo>
                  <a:pt x="1" y="3"/>
                  <a:pt x="0" y="4"/>
                  <a:pt x="0" y="5"/>
                </a:cubicBezTo>
                <a:cubicBezTo>
                  <a:pt x="0" y="9"/>
                  <a:pt x="4" y="9"/>
                  <a:pt x="7" y="10"/>
                </a:cubicBezTo>
                <a:cubicBezTo>
                  <a:pt x="9" y="10"/>
                  <a:pt x="11" y="11"/>
                  <a:pt x="11" y="12"/>
                </a:cubicBezTo>
                <a:cubicBezTo>
                  <a:pt x="11" y="15"/>
                  <a:pt x="8" y="15"/>
                  <a:pt x="7" y="15"/>
                </a:cubicBezTo>
                <a:cubicBezTo>
                  <a:pt x="5" y="15"/>
                  <a:pt x="3" y="14"/>
                  <a:pt x="2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1" y="16"/>
                  <a:pt x="3" y="17"/>
                  <a:pt x="7" y="17"/>
                </a:cubicBezTo>
                <a:cubicBezTo>
                  <a:pt x="10" y="17"/>
                  <a:pt x="13" y="16"/>
                  <a:pt x="13" y="12"/>
                </a:cubicBezTo>
                <a:cubicBezTo>
                  <a:pt x="13" y="9"/>
                  <a:pt x="10" y="8"/>
                  <a:pt x="7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reeform 15"/>
          <p:cNvSpPr>
            <a:spLocks/>
          </p:cNvSpPr>
          <p:nvPr userDrawn="1"/>
        </p:nvSpPr>
        <p:spPr bwMode="auto">
          <a:xfrm>
            <a:off x="7558088" y="800100"/>
            <a:ext cx="41275" cy="50800"/>
          </a:xfrm>
          <a:custGeom>
            <a:avLst/>
            <a:gdLst>
              <a:gd name="T0" fmla="*/ 0 w 26"/>
              <a:gd name="T1" fmla="*/ 4 h 32"/>
              <a:gd name="T2" fmla="*/ 10 w 26"/>
              <a:gd name="T3" fmla="*/ 4 h 32"/>
              <a:gd name="T4" fmla="*/ 10 w 26"/>
              <a:gd name="T5" fmla="*/ 32 h 32"/>
              <a:gd name="T6" fmla="*/ 16 w 26"/>
              <a:gd name="T7" fmla="*/ 32 h 32"/>
              <a:gd name="T8" fmla="*/ 16 w 26"/>
              <a:gd name="T9" fmla="*/ 4 h 32"/>
              <a:gd name="T10" fmla="*/ 26 w 26"/>
              <a:gd name="T11" fmla="*/ 4 h 32"/>
              <a:gd name="T12" fmla="*/ 26 w 26"/>
              <a:gd name="T13" fmla="*/ 0 h 32"/>
              <a:gd name="T14" fmla="*/ 0 w 26"/>
              <a:gd name="T15" fmla="*/ 0 h 32"/>
              <a:gd name="T16" fmla="*/ 0 w 26"/>
              <a:gd name="T17" fmla="*/ 4 h 32"/>
              <a:gd name="T18" fmla="*/ 0 w 26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32">
                <a:moveTo>
                  <a:pt x="0" y="4"/>
                </a:move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26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Freeform 16"/>
          <p:cNvSpPr>
            <a:spLocks noEditPoints="1"/>
          </p:cNvSpPr>
          <p:nvPr userDrawn="1"/>
        </p:nvSpPr>
        <p:spPr bwMode="auto">
          <a:xfrm>
            <a:off x="760888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0 w 14"/>
              <a:gd name="T15" fmla="*/ 16 h 16"/>
              <a:gd name="T16" fmla="*/ 14 w 14"/>
              <a:gd name="T17" fmla="*/ 16 h 16"/>
              <a:gd name="T18" fmla="*/ 8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0" y="16"/>
                  <a:pt x="10" y="16"/>
                  <a:pt x="10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8" y="10"/>
                  <a:pt x="8" y="10"/>
                  <a:pt x="8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Freeform 17"/>
          <p:cNvSpPr>
            <a:spLocks noEditPoints="1"/>
          </p:cNvSpPr>
          <p:nvPr userDrawn="1"/>
        </p:nvSpPr>
        <p:spPr bwMode="auto">
          <a:xfrm>
            <a:off x="7656513" y="800100"/>
            <a:ext cx="53975" cy="50800"/>
          </a:xfrm>
          <a:custGeom>
            <a:avLst/>
            <a:gdLst>
              <a:gd name="T0" fmla="*/ 18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4 w 34"/>
              <a:gd name="T7" fmla="*/ 32 h 32"/>
              <a:gd name="T8" fmla="*/ 8 w 34"/>
              <a:gd name="T9" fmla="*/ 26 h 32"/>
              <a:gd name="T10" fmla="*/ 24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18 w 34"/>
              <a:gd name="T19" fmla="*/ 0 h 32"/>
              <a:gd name="T20" fmla="*/ 18 w 34"/>
              <a:gd name="T21" fmla="*/ 0 h 32"/>
              <a:gd name="T22" fmla="*/ 22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2 w 34"/>
              <a:gd name="T29" fmla="*/ 20 h 32"/>
              <a:gd name="T30" fmla="*/ 22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18" y="0"/>
                </a:moveTo>
                <a:lnTo>
                  <a:pt x="14" y="0"/>
                </a:lnTo>
                <a:lnTo>
                  <a:pt x="0" y="32"/>
                </a:lnTo>
                <a:lnTo>
                  <a:pt x="4" y="32"/>
                </a:lnTo>
                <a:lnTo>
                  <a:pt x="8" y="26"/>
                </a:lnTo>
                <a:lnTo>
                  <a:pt x="24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18" y="0"/>
                </a:lnTo>
                <a:lnTo>
                  <a:pt x="18" y="0"/>
                </a:lnTo>
                <a:close/>
                <a:moveTo>
                  <a:pt x="22" y="20"/>
                </a:moveTo>
                <a:lnTo>
                  <a:pt x="10" y="20"/>
                </a:lnTo>
                <a:lnTo>
                  <a:pt x="16" y="6"/>
                </a:lnTo>
                <a:lnTo>
                  <a:pt x="22" y="20"/>
                </a:lnTo>
                <a:lnTo>
                  <a:pt x="22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reeform 18"/>
          <p:cNvSpPr>
            <a:spLocks/>
          </p:cNvSpPr>
          <p:nvPr userDrawn="1"/>
        </p:nvSpPr>
        <p:spPr bwMode="auto">
          <a:xfrm>
            <a:off x="77168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Freeform 19"/>
          <p:cNvSpPr>
            <a:spLocks/>
          </p:cNvSpPr>
          <p:nvPr userDrawn="1"/>
        </p:nvSpPr>
        <p:spPr bwMode="auto">
          <a:xfrm>
            <a:off x="77612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Freeform 20"/>
          <p:cNvSpPr>
            <a:spLocks noEditPoints="1"/>
          </p:cNvSpPr>
          <p:nvPr userDrawn="1"/>
        </p:nvSpPr>
        <p:spPr bwMode="auto">
          <a:xfrm>
            <a:off x="7777163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Freeform 21"/>
          <p:cNvSpPr>
            <a:spLocks/>
          </p:cNvSpPr>
          <p:nvPr userDrawn="1"/>
        </p:nvSpPr>
        <p:spPr bwMode="auto">
          <a:xfrm>
            <a:off x="7840663" y="800100"/>
            <a:ext cx="41275" cy="50800"/>
          </a:xfrm>
          <a:custGeom>
            <a:avLst/>
            <a:gdLst>
              <a:gd name="T0" fmla="*/ 22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2 w 26"/>
              <a:gd name="T19" fmla="*/ 0 h 32"/>
              <a:gd name="T20" fmla="*/ 22 w 26"/>
              <a:gd name="T21" fmla="*/ 22 h 32"/>
              <a:gd name="T22" fmla="*/ 22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2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2" y="0"/>
                </a:lnTo>
                <a:lnTo>
                  <a:pt x="22" y="22"/>
                </a:lnTo>
                <a:lnTo>
                  <a:pt x="22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Freeform 22"/>
          <p:cNvSpPr>
            <a:spLocks/>
          </p:cNvSpPr>
          <p:nvPr userDrawn="1"/>
        </p:nvSpPr>
        <p:spPr bwMode="auto">
          <a:xfrm>
            <a:off x="7920038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2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4" y="15"/>
                  <a:pt x="3" y="12"/>
                  <a:pt x="3" y="9"/>
                </a:cubicBezTo>
                <a:cubicBezTo>
                  <a:pt x="3" y="6"/>
                  <a:pt x="4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2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Freeform 23"/>
          <p:cNvSpPr>
            <a:spLocks noEditPoints="1"/>
          </p:cNvSpPr>
          <p:nvPr userDrawn="1"/>
        </p:nvSpPr>
        <p:spPr bwMode="auto">
          <a:xfrm>
            <a:off x="79708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6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 24"/>
          <p:cNvSpPr>
            <a:spLocks/>
          </p:cNvSpPr>
          <p:nvPr userDrawn="1"/>
        </p:nvSpPr>
        <p:spPr bwMode="auto">
          <a:xfrm>
            <a:off x="8021638" y="800100"/>
            <a:ext cx="44450" cy="50800"/>
          </a:xfrm>
          <a:custGeom>
            <a:avLst/>
            <a:gdLst>
              <a:gd name="T0" fmla="*/ 0 w 28"/>
              <a:gd name="T1" fmla="*/ 4 h 32"/>
              <a:gd name="T2" fmla="*/ 12 w 28"/>
              <a:gd name="T3" fmla="*/ 4 h 32"/>
              <a:gd name="T4" fmla="*/ 12 w 28"/>
              <a:gd name="T5" fmla="*/ 32 h 32"/>
              <a:gd name="T6" fmla="*/ 16 w 28"/>
              <a:gd name="T7" fmla="*/ 32 h 32"/>
              <a:gd name="T8" fmla="*/ 16 w 28"/>
              <a:gd name="T9" fmla="*/ 4 h 32"/>
              <a:gd name="T10" fmla="*/ 28 w 28"/>
              <a:gd name="T11" fmla="*/ 4 h 32"/>
              <a:gd name="T12" fmla="*/ 28 w 28"/>
              <a:gd name="T13" fmla="*/ 0 h 32"/>
              <a:gd name="T14" fmla="*/ 0 w 28"/>
              <a:gd name="T15" fmla="*/ 0 h 32"/>
              <a:gd name="T16" fmla="*/ 0 w 28"/>
              <a:gd name="T17" fmla="*/ 4 h 32"/>
              <a:gd name="T18" fmla="*/ 0 w 28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8" h="32">
                <a:moveTo>
                  <a:pt x="0" y="4"/>
                </a:moveTo>
                <a:lnTo>
                  <a:pt x="12" y="4"/>
                </a:lnTo>
                <a:lnTo>
                  <a:pt x="12" y="32"/>
                </a:lnTo>
                <a:lnTo>
                  <a:pt x="16" y="32"/>
                </a:lnTo>
                <a:lnTo>
                  <a:pt x="16" y="4"/>
                </a:lnTo>
                <a:lnTo>
                  <a:pt x="28" y="4"/>
                </a:lnTo>
                <a:lnTo>
                  <a:pt x="28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Freeform 25"/>
          <p:cNvSpPr>
            <a:spLocks/>
          </p:cNvSpPr>
          <p:nvPr userDrawn="1"/>
        </p:nvSpPr>
        <p:spPr bwMode="auto">
          <a:xfrm>
            <a:off x="8072438" y="800100"/>
            <a:ext cx="44450" cy="50800"/>
          </a:xfrm>
          <a:custGeom>
            <a:avLst/>
            <a:gdLst>
              <a:gd name="T0" fmla="*/ 22 w 28"/>
              <a:gd name="T1" fmla="*/ 12 h 32"/>
              <a:gd name="T2" fmla="*/ 6 w 28"/>
              <a:gd name="T3" fmla="*/ 12 h 32"/>
              <a:gd name="T4" fmla="*/ 6 w 28"/>
              <a:gd name="T5" fmla="*/ 0 h 32"/>
              <a:gd name="T6" fmla="*/ 0 w 28"/>
              <a:gd name="T7" fmla="*/ 0 h 32"/>
              <a:gd name="T8" fmla="*/ 0 w 28"/>
              <a:gd name="T9" fmla="*/ 32 h 32"/>
              <a:gd name="T10" fmla="*/ 6 w 28"/>
              <a:gd name="T11" fmla="*/ 32 h 32"/>
              <a:gd name="T12" fmla="*/ 6 w 28"/>
              <a:gd name="T13" fmla="*/ 18 h 32"/>
              <a:gd name="T14" fmla="*/ 22 w 28"/>
              <a:gd name="T15" fmla="*/ 18 h 32"/>
              <a:gd name="T16" fmla="*/ 22 w 28"/>
              <a:gd name="T17" fmla="*/ 32 h 32"/>
              <a:gd name="T18" fmla="*/ 28 w 28"/>
              <a:gd name="T19" fmla="*/ 32 h 32"/>
              <a:gd name="T20" fmla="*/ 28 w 28"/>
              <a:gd name="T21" fmla="*/ 0 h 32"/>
              <a:gd name="T22" fmla="*/ 22 w 28"/>
              <a:gd name="T23" fmla="*/ 0 h 32"/>
              <a:gd name="T24" fmla="*/ 22 w 28"/>
              <a:gd name="T25" fmla="*/ 12 h 32"/>
              <a:gd name="T26" fmla="*/ 22 w 28"/>
              <a:gd name="T27" fmla="*/ 1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8" h="32">
                <a:moveTo>
                  <a:pt x="22" y="12"/>
                </a:moveTo>
                <a:lnTo>
                  <a:pt x="6" y="1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6" y="32"/>
                </a:lnTo>
                <a:lnTo>
                  <a:pt x="6" y="18"/>
                </a:lnTo>
                <a:lnTo>
                  <a:pt x="22" y="18"/>
                </a:lnTo>
                <a:lnTo>
                  <a:pt x="22" y="32"/>
                </a:lnTo>
                <a:lnTo>
                  <a:pt x="28" y="32"/>
                </a:lnTo>
                <a:lnTo>
                  <a:pt x="28" y="0"/>
                </a:lnTo>
                <a:lnTo>
                  <a:pt x="22" y="0"/>
                </a:lnTo>
                <a:lnTo>
                  <a:pt x="22" y="12"/>
                </a:lnTo>
                <a:lnTo>
                  <a:pt x="22" y="1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Freeform 26"/>
          <p:cNvSpPr>
            <a:spLocks noEditPoints="1"/>
          </p:cNvSpPr>
          <p:nvPr userDrawn="1"/>
        </p:nvSpPr>
        <p:spPr bwMode="auto">
          <a:xfrm>
            <a:off x="8126413" y="796925"/>
            <a:ext cx="50800" cy="53975"/>
          </a:xfrm>
          <a:custGeom>
            <a:avLst/>
            <a:gdLst>
              <a:gd name="T0" fmla="*/ 8 w 16"/>
              <a:gd name="T1" fmla="*/ 0 h 17"/>
              <a:gd name="T2" fmla="*/ 0 w 16"/>
              <a:gd name="T3" fmla="*/ 9 h 17"/>
              <a:gd name="T4" fmla="*/ 8 w 16"/>
              <a:gd name="T5" fmla="*/ 17 h 17"/>
              <a:gd name="T6" fmla="*/ 16 w 16"/>
              <a:gd name="T7" fmla="*/ 9 h 17"/>
              <a:gd name="T8" fmla="*/ 8 w 16"/>
              <a:gd name="T9" fmla="*/ 0 h 17"/>
              <a:gd name="T10" fmla="*/ 8 w 16"/>
              <a:gd name="T11" fmla="*/ 15 h 17"/>
              <a:gd name="T12" fmla="*/ 2 w 16"/>
              <a:gd name="T13" fmla="*/ 9 h 17"/>
              <a:gd name="T14" fmla="*/ 8 w 16"/>
              <a:gd name="T15" fmla="*/ 3 h 17"/>
              <a:gd name="T16" fmla="*/ 14 w 16"/>
              <a:gd name="T17" fmla="*/ 9 h 17"/>
              <a:gd name="T18" fmla="*/ 8 w 16"/>
              <a:gd name="T19" fmla="*/ 15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6" h="17">
                <a:moveTo>
                  <a:pt x="8" y="0"/>
                </a:moveTo>
                <a:cubicBezTo>
                  <a:pt x="3" y="0"/>
                  <a:pt x="0" y="4"/>
                  <a:pt x="0" y="9"/>
                </a:cubicBezTo>
                <a:cubicBezTo>
                  <a:pt x="0" y="13"/>
                  <a:pt x="2" y="17"/>
                  <a:pt x="8" y="17"/>
                </a:cubicBezTo>
                <a:cubicBezTo>
                  <a:pt x="14" y="17"/>
                  <a:pt x="16" y="13"/>
                  <a:pt x="16" y="9"/>
                </a:cubicBezTo>
                <a:cubicBezTo>
                  <a:pt x="16" y="5"/>
                  <a:pt x="14" y="0"/>
                  <a:pt x="8" y="0"/>
                </a:cubicBezTo>
                <a:close/>
                <a:moveTo>
                  <a:pt x="8" y="15"/>
                </a:moveTo>
                <a:cubicBezTo>
                  <a:pt x="4" y="15"/>
                  <a:pt x="2" y="12"/>
                  <a:pt x="2" y="9"/>
                </a:cubicBezTo>
                <a:cubicBezTo>
                  <a:pt x="2" y="6"/>
                  <a:pt x="4" y="3"/>
                  <a:pt x="8" y="3"/>
                </a:cubicBezTo>
                <a:cubicBezTo>
                  <a:pt x="12" y="3"/>
                  <a:pt x="14" y="6"/>
                  <a:pt x="14" y="9"/>
                </a:cubicBezTo>
                <a:cubicBezTo>
                  <a:pt x="14" y="12"/>
                  <a:pt x="12" y="15"/>
                  <a:pt x="8" y="15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Freeform 27"/>
          <p:cNvSpPr>
            <a:spLocks/>
          </p:cNvSpPr>
          <p:nvPr userDrawn="1"/>
        </p:nvSpPr>
        <p:spPr bwMode="auto">
          <a:xfrm>
            <a:off x="81867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Freeform 28"/>
          <p:cNvSpPr>
            <a:spLocks/>
          </p:cNvSpPr>
          <p:nvPr userDrawn="1"/>
        </p:nvSpPr>
        <p:spPr bwMode="auto">
          <a:xfrm>
            <a:off x="82311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Freeform 29"/>
          <p:cNvSpPr>
            <a:spLocks/>
          </p:cNvSpPr>
          <p:nvPr userDrawn="1"/>
        </p:nvSpPr>
        <p:spPr bwMode="auto">
          <a:xfrm>
            <a:off x="8247063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3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5" y="15"/>
                  <a:pt x="3" y="12"/>
                  <a:pt x="3" y="9"/>
                </a:cubicBezTo>
                <a:cubicBezTo>
                  <a:pt x="3" y="6"/>
                  <a:pt x="5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3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Freeform 30"/>
          <p:cNvSpPr>
            <a:spLocks/>
          </p:cNvSpPr>
          <p:nvPr userDrawn="1"/>
        </p:nvSpPr>
        <p:spPr bwMode="auto">
          <a:xfrm>
            <a:off x="8329613" y="800100"/>
            <a:ext cx="41275" cy="50800"/>
          </a:xfrm>
          <a:custGeom>
            <a:avLst/>
            <a:gdLst>
              <a:gd name="T0" fmla="*/ 11 w 13"/>
              <a:gd name="T1" fmla="*/ 9 h 16"/>
              <a:gd name="T2" fmla="*/ 7 w 13"/>
              <a:gd name="T3" fmla="*/ 14 h 16"/>
              <a:gd name="T4" fmla="*/ 2 w 13"/>
              <a:gd name="T5" fmla="*/ 9 h 16"/>
              <a:gd name="T6" fmla="*/ 2 w 13"/>
              <a:gd name="T7" fmla="*/ 0 h 16"/>
              <a:gd name="T8" fmla="*/ 0 w 13"/>
              <a:gd name="T9" fmla="*/ 0 h 16"/>
              <a:gd name="T10" fmla="*/ 0 w 13"/>
              <a:gd name="T11" fmla="*/ 9 h 16"/>
              <a:gd name="T12" fmla="*/ 7 w 13"/>
              <a:gd name="T13" fmla="*/ 16 h 16"/>
              <a:gd name="T14" fmla="*/ 13 w 13"/>
              <a:gd name="T15" fmla="*/ 9 h 16"/>
              <a:gd name="T16" fmla="*/ 13 w 13"/>
              <a:gd name="T17" fmla="*/ 0 h 16"/>
              <a:gd name="T18" fmla="*/ 11 w 13"/>
              <a:gd name="T19" fmla="*/ 0 h 16"/>
              <a:gd name="T20" fmla="*/ 11 w 13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3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2" y="12"/>
                  <a:pt x="2" y="9"/>
                </a:cubicBezTo>
                <a:cubicBezTo>
                  <a:pt x="2" y="0"/>
                  <a:pt x="2" y="0"/>
                  <a:pt x="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3" y="16"/>
                  <a:pt x="7" y="16"/>
                </a:cubicBezTo>
                <a:cubicBezTo>
                  <a:pt x="10" y="16"/>
                  <a:pt x="13" y="14"/>
                  <a:pt x="13" y="9"/>
                </a:cubicBezTo>
                <a:cubicBezTo>
                  <a:pt x="13" y="0"/>
                  <a:pt x="13" y="0"/>
                  <a:pt x="13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Freeform 31"/>
          <p:cNvSpPr>
            <a:spLocks/>
          </p:cNvSpPr>
          <p:nvPr userDrawn="1"/>
        </p:nvSpPr>
        <p:spPr bwMode="auto">
          <a:xfrm>
            <a:off x="8386763" y="800100"/>
            <a:ext cx="41275" cy="50800"/>
          </a:xfrm>
          <a:custGeom>
            <a:avLst/>
            <a:gdLst>
              <a:gd name="T0" fmla="*/ 20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0 w 26"/>
              <a:gd name="T19" fmla="*/ 0 h 32"/>
              <a:gd name="T20" fmla="*/ 20 w 26"/>
              <a:gd name="T21" fmla="*/ 22 h 32"/>
              <a:gd name="T22" fmla="*/ 20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0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0" y="0"/>
                </a:lnTo>
                <a:lnTo>
                  <a:pt x="20" y="22"/>
                </a:lnTo>
                <a:lnTo>
                  <a:pt x="20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Freeform 32"/>
          <p:cNvSpPr>
            <a:spLocks/>
          </p:cNvSpPr>
          <p:nvPr userDrawn="1"/>
        </p:nvSpPr>
        <p:spPr bwMode="auto">
          <a:xfrm>
            <a:off x="84407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Freeform 33"/>
          <p:cNvSpPr>
            <a:spLocks/>
          </p:cNvSpPr>
          <p:nvPr userDrawn="1"/>
        </p:nvSpPr>
        <p:spPr bwMode="auto">
          <a:xfrm>
            <a:off x="8459788" y="800100"/>
            <a:ext cx="50800" cy="50800"/>
          </a:xfrm>
          <a:custGeom>
            <a:avLst/>
            <a:gdLst>
              <a:gd name="T0" fmla="*/ 6 w 32"/>
              <a:gd name="T1" fmla="*/ 0 h 32"/>
              <a:gd name="T2" fmla="*/ 0 w 32"/>
              <a:gd name="T3" fmla="*/ 0 h 32"/>
              <a:gd name="T4" fmla="*/ 12 w 32"/>
              <a:gd name="T5" fmla="*/ 32 h 32"/>
              <a:gd name="T6" fmla="*/ 18 w 32"/>
              <a:gd name="T7" fmla="*/ 32 h 32"/>
              <a:gd name="T8" fmla="*/ 32 w 32"/>
              <a:gd name="T9" fmla="*/ 0 h 32"/>
              <a:gd name="T10" fmla="*/ 26 w 32"/>
              <a:gd name="T11" fmla="*/ 0 h 32"/>
              <a:gd name="T12" fmla="*/ 16 w 32"/>
              <a:gd name="T13" fmla="*/ 26 h 32"/>
              <a:gd name="T14" fmla="*/ 6 w 32"/>
              <a:gd name="T15" fmla="*/ 0 h 32"/>
              <a:gd name="T16" fmla="*/ 6 w 32"/>
              <a:gd name="T1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2" h="32">
                <a:moveTo>
                  <a:pt x="6" y="0"/>
                </a:moveTo>
                <a:lnTo>
                  <a:pt x="0" y="0"/>
                </a:lnTo>
                <a:lnTo>
                  <a:pt x="12" y="32"/>
                </a:lnTo>
                <a:lnTo>
                  <a:pt x="18" y="32"/>
                </a:lnTo>
                <a:lnTo>
                  <a:pt x="32" y="0"/>
                </a:lnTo>
                <a:lnTo>
                  <a:pt x="26" y="0"/>
                </a:lnTo>
                <a:lnTo>
                  <a:pt x="16" y="26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Freeform 34"/>
          <p:cNvSpPr>
            <a:spLocks/>
          </p:cNvSpPr>
          <p:nvPr userDrawn="1"/>
        </p:nvSpPr>
        <p:spPr bwMode="auto">
          <a:xfrm>
            <a:off x="8516938" y="800100"/>
            <a:ext cx="38100" cy="50800"/>
          </a:xfrm>
          <a:custGeom>
            <a:avLst/>
            <a:gdLst>
              <a:gd name="T0" fmla="*/ 6 w 24"/>
              <a:gd name="T1" fmla="*/ 18 h 32"/>
              <a:gd name="T2" fmla="*/ 24 w 24"/>
              <a:gd name="T3" fmla="*/ 18 h 32"/>
              <a:gd name="T4" fmla="*/ 24 w 24"/>
              <a:gd name="T5" fmla="*/ 12 h 32"/>
              <a:gd name="T6" fmla="*/ 6 w 24"/>
              <a:gd name="T7" fmla="*/ 12 h 32"/>
              <a:gd name="T8" fmla="*/ 6 w 24"/>
              <a:gd name="T9" fmla="*/ 4 h 32"/>
              <a:gd name="T10" fmla="*/ 24 w 24"/>
              <a:gd name="T11" fmla="*/ 4 h 32"/>
              <a:gd name="T12" fmla="*/ 24 w 24"/>
              <a:gd name="T13" fmla="*/ 0 h 32"/>
              <a:gd name="T14" fmla="*/ 0 w 24"/>
              <a:gd name="T15" fmla="*/ 0 h 32"/>
              <a:gd name="T16" fmla="*/ 0 w 24"/>
              <a:gd name="T17" fmla="*/ 32 h 32"/>
              <a:gd name="T18" fmla="*/ 24 w 24"/>
              <a:gd name="T19" fmla="*/ 32 h 32"/>
              <a:gd name="T20" fmla="*/ 24 w 24"/>
              <a:gd name="T21" fmla="*/ 26 h 32"/>
              <a:gd name="T22" fmla="*/ 6 w 24"/>
              <a:gd name="T23" fmla="*/ 26 h 32"/>
              <a:gd name="T24" fmla="*/ 6 w 24"/>
              <a:gd name="T25" fmla="*/ 18 h 32"/>
              <a:gd name="T26" fmla="*/ 6 w 24"/>
              <a:gd name="T27" fmla="*/ 18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4" h="32">
                <a:moveTo>
                  <a:pt x="6" y="18"/>
                </a:moveTo>
                <a:lnTo>
                  <a:pt x="24" y="18"/>
                </a:lnTo>
                <a:lnTo>
                  <a:pt x="24" y="12"/>
                </a:lnTo>
                <a:lnTo>
                  <a:pt x="6" y="12"/>
                </a:lnTo>
                <a:lnTo>
                  <a:pt x="6" y="4"/>
                </a:lnTo>
                <a:lnTo>
                  <a:pt x="24" y="4"/>
                </a:lnTo>
                <a:lnTo>
                  <a:pt x="24" y="0"/>
                </a:lnTo>
                <a:lnTo>
                  <a:pt x="0" y="0"/>
                </a:lnTo>
                <a:lnTo>
                  <a:pt x="0" y="32"/>
                </a:lnTo>
                <a:lnTo>
                  <a:pt x="24" y="32"/>
                </a:lnTo>
                <a:lnTo>
                  <a:pt x="24" y="26"/>
                </a:lnTo>
                <a:lnTo>
                  <a:pt x="6" y="26"/>
                </a:lnTo>
                <a:lnTo>
                  <a:pt x="6" y="18"/>
                </a:lnTo>
                <a:lnTo>
                  <a:pt x="6" y="18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Freeform 35"/>
          <p:cNvSpPr>
            <a:spLocks noEditPoints="1"/>
          </p:cNvSpPr>
          <p:nvPr userDrawn="1"/>
        </p:nvSpPr>
        <p:spPr bwMode="auto">
          <a:xfrm>
            <a:off x="856773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1 w 14"/>
              <a:gd name="T15" fmla="*/ 16 h 16"/>
              <a:gd name="T16" fmla="*/ 14 w 14"/>
              <a:gd name="T17" fmla="*/ 16 h 16"/>
              <a:gd name="T18" fmla="*/ 9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1" y="16"/>
                  <a:pt x="11" y="16"/>
                  <a:pt x="11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9" y="10"/>
                  <a:pt x="9" y="10"/>
                  <a:pt x="9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Freeform 36"/>
          <p:cNvSpPr>
            <a:spLocks/>
          </p:cNvSpPr>
          <p:nvPr userDrawn="1"/>
        </p:nvSpPr>
        <p:spPr bwMode="auto">
          <a:xfrm>
            <a:off x="8615363" y="796925"/>
            <a:ext cx="44450" cy="53975"/>
          </a:xfrm>
          <a:custGeom>
            <a:avLst/>
            <a:gdLst>
              <a:gd name="T0" fmla="*/ 8 w 14"/>
              <a:gd name="T1" fmla="*/ 7 h 17"/>
              <a:gd name="T2" fmla="*/ 4 w 14"/>
              <a:gd name="T3" fmla="*/ 5 h 17"/>
              <a:gd name="T4" fmla="*/ 7 w 14"/>
              <a:gd name="T5" fmla="*/ 3 h 17"/>
              <a:gd name="T6" fmla="*/ 12 w 14"/>
              <a:gd name="T7" fmla="*/ 5 h 17"/>
              <a:gd name="T8" fmla="*/ 12 w 14"/>
              <a:gd name="T9" fmla="*/ 5 h 17"/>
              <a:gd name="T10" fmla="*/ 14 w 14"/>
              <a:gd name="T11" fmla="*/ 4 h 17"/>
              <a:gd name="T12" fmla="*/ 14 w 14"/>
              <a:gd name="T13" fmla="*/ 3 h 17"/>
              <a:gd name="T14" fmla="*/ 7 w 14"/>
              <a:gd name="T15" fmla="*/ 0 h 17"/>
              <a:gd name="T16" fmla="*/ 2 w 14"/>
              <a:gd name="T17" fmla="*/ 2 h 17"/>
              <a:gd name="T18" fmla="*/ 1 w 14"/>
              <a:gd name="T19" fmla="*/ 5 h 17"/>
              <a:gd name="T20" fmla="*/ 7 w 14"/>
              <a:gd name="T21" fmla="*/ 10 h 17"/>
              <a:gd name="T22" fmla="*/ 12 w 14"/>
              <a:gd name="T23" fmla="*/ 12 h 17"/>
              <a:gd name="T24" fmla="*/ 7 w 14"/>
              <a:gd name="T25" fmla="*/ 15 h 17"/>
              <a:gd name="T26" fmla="*/ 3 w 14"/>
              <a:gd name="T27" fmla="*/ 12 h 17"/>
              <a:gd name="T28" fmla="*/ 2 w 14"/>
              <a:gd name="T29" fmla="*/ 12 h 17"/>
              <a:gd name="T30" fmla="*/ 0 w 14"/>
              <a:gd name="T31" fmla="*/ 13 h 17"/>
              <a:gd name="T32" fmla="*/ 0 w 14"/>
              <a:gd name="T33" fmla="*/ 14 h 17"/>
              <a:gd name="T34" fmla="*/ 7 w 14"/>
              <a:gd name="T35" fmla="*/ 17 h 17"/>
              <a:gd name="T36" fmla="*/ 14 w 14"/>
              <a:gd name="T37" fmla="*/ 12 h 17"/>
              <a:gd name="T38" fmla="*/ 8 w 14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4" h="17">
                <a:moveTo>
                  <a:pt x="8" y="7"/>
                </a:moveTo>
                <a:cubicBezTo>
                  <a:pt x="5" y="7"/>
                  <a:pt x="4" y="6"/>
                  <a:pt x="4" y="5"/>
                </a:cubicBezTo>
                <a:cubicBezTo>
                  <a:pt x="4" y="4"/>
                  <a:pt x="5" y="3"/>
                  <a:pt x="7" y="3"/>
                </a:cubicBezTo>
                <a:cubicBezTo>
                  <a:pt x="9" y="3"/>
                  <a:pt x="11" y="3"/>
                  <a:pt x="12" y="5"/>
                </a:cubicBezTo>
                <a:cubicBezTo>
                  <a:pt x="12" y="5"/>
                  <a:pt x="12" y="5"/>
                  <a:pt x="12" y="5"/>
                </a:cubicBezTo>
                <a:cubicBezTo>
                  <a:pt x="14" y="4"/>
                  <a:pt x="14" y="4"/>
                  <a:pt x="14" y="4"/>
                </a:cubicBezTo>
                <a:cubicBezTo>
                  <a:pt x="14" y="3"/>
                  <a:pt x="14" y="3"/>
                  <a:pt x="14" y="3"/>
                </a:cubicBezTo>
                <a:cubicBezTo>
                  <a:pt x="12" y="1"/>
                  <a:pt x="10" y="0"/>
                  <a:pt x="7" y="0"/>
                </a:cubicBezTo>
                <a:cubicBezTo>
                  <a:pt x="6" y="0"/>
                  <a:pt x="3" y="1"/>
                  <a:pt x="2" y="2"/>
                </a:cubicBezTo>
                <a:cubicBezTo>
                  <a:pt x="1" y="3"/>
                  <a:pt x="1" y="4"/>
                  <a:pt x="1" y="5"/>
                </a:cubicBezTo>
                <a:cubicBezTo>
                  <a:pt x="1" y="9"/>
                  <a:pt x="5" y="9"/>
                  <a:pt x="7" y="10"/>
                </a:cubicBezTo>
                <a:cubicBezTo>
                  <a:pt x="10" y="10"/>
                  <a:pt x="12" y="11"/>
                  <a:pt x="12" y="12"/>
                </a:cubicBezTo>
                <a:cubicBezTo>
                  <a:pt x="12" y="15"/>
                  <a:pt x="8" y="15"/>
                  <a:pt x="7" y="15"/>
                </a:cubicBezTo>
                <a:cubicBezTo>
                  <a:pt x="6" y="15"/>
                  <a:pt x="4" y="14"/>
                  <a:pt x="3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2" y="16"/>
                  <a:pt x="4" y="17"/>
                  <a:pt x="7" y="17"/>
                </a:cubicBezTo>
                <a:cubicBezTo>
                  <a:pt x="11" y="17"/>
                  <a:pt x="14" y="16"/>
                  <a:pt x="14" y="12"/>
                </a:cubicBezTo>
                <a:cubicBezTo>
                  <a:pt x="14" y="9"/>
                  <a:pt x="11" y="8"/>
                  <a:pt x="8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Freeform 37"/>
          <p:cNvSpPr>
            <a:spLocks/>
          </p:cNvSpPr>
          <p:nvPr userDrawn="1"/>
        </p:nvSpPr>
        <p:spPr bwMode="auto">
          <a:xfrm>
            <a:off x="86693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Freeform 38"/>
          <p:cNvSpPr>
            <a:spLocks/>
          </p:cNvSpPr>
          <p:nvPr userDrawn="1"/>
        </p:nvSpPr>
        <p:spPr bwMode="auto">
          <a:xfrm>
            <a:off x="8688388" y="800100"/>
            <a:ext cx="85725" cy="50800"/>
          </a:xfrm>
          <a:custGeom>
            <a:avLst/>
            <a:gdLst>
              <a:gd name="T0" fmla="*/ 30 w 54"/>
              <a:gd name="T1" fmla="*/ 0 h 32"/>
              <a:gd name="T2" fmla="*/ 0 w 54"/>
              <a:gd name="T3" fmla="*/ 0 h 32"/>
              <a:gd name="T4" fmla="*/ 0 w 54"/>
              <a:gd name="T5" fmla="*/ 4 h 32"/>
              <a:gd name="T6" fmla="*/ 10 w 54"/>
              <a:gd name="T7" fmla="*/ 4 h 32"/>
              <a:gd name="T8" fmla="*/ 10 w 54"/>
              <a:gd name="T9" fmla="*/ 32 h 32"/>
              <a:gd name="T10" fmla="*/ 16 w 54"/>
              <a:gd name="T11" fmla="*/ 32 h 32"/>
              <a:gd name="T12" fmla="*/ 16 w 54"/>
              <a:gd name="T13" fmla="*/ 4 h 32"/>
              <a:gd name="T14" fmla="*/ 26 w 54"/>
              <a:gd name="T15" fmla="*/ 4 h 32"/>
              <a:gd name="T16" fmla="*/ 36 w 54"/>
              <a:gd name="T17" fmla="*/ 18 h 32"/>
              <a:gd name="T18" fmla="*/ 36 w 54"/>
              <a:gd name="T19" fmla="*/ 32 h 32"/>
              <a:gd name="T20" fmla="*/ 42 w 54"/>
              <a:gd name="T21" fmla="*/ 32 h 32"/>
              <a:gd name="T22" fmla="*/ 42 w 54"/>
              <a:gd name="T23" fmla="*/ 18 h 32"/>
              <a:gd name="T24" fmla="*/ 54 w 54"/>
              <a:gd name="T25" fmla="*/ 0 h 32"/>
              <a:gd name="T26" fmla="*/ 54 w 54"/>
              <a:gd name="T27" fmla="*/ 0 h 32"/>
              <a:gd name="T28" fmla="*/ 54 w 54"/>
              <a:gd name="T29" fmla="*/ 0 h 32"/>
              <a:gd name="T30" fmla="*/ 48 w 54"/>
              <a:gd name="T31" fmla="*/ 0 h 32"/>
              <a:gd name="T32" fmla="*/ 38 w 54"/>
              <a:gd name="T33" fmla="*/ 14 h 32"/>
              <a:gd name="T34" fmla="*/ 30 w 54"/>
              <a:gd name="T35" fmla="*/ 0 h 32"/>
              <a:gd name="T36" fmla="*/ 30 w 54"/>
              <a:gd name="T3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4" h="32">
                <a:moveTo>
                  <a:pt x="30" y="0"/>
                </a:moveTo>
                <a:lnTo>
                  <a:pt x="0" y="0"/>
                </a:lnTo>
                <a:lnTo>
                  <a:pt x="0" y="4"/>
                </a:ln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36" y="18"/>
                </a:lnTo>
                <a:lnTo>
                  <a:pt x="36" y="32"/>
                </a:lnTo>
                <a:lnTo>
                  <a:pt x="42" y="32"/>
                </a:lnTo>
                <a:lnTo>
                  <a:pt x="42" y="18"/>
                </a:lnTo>
                <a:lnTo>
                  <a:pt x="54" y="0"/>
                </a:lnTo>
                <a:lnTo>
                  <a:pt x="54" y="0"/>
                </a:lnTo>
                <a:lnTo>
                  <a:pt x="54" y="0"/>
                </a:lnTo>
                <a:lnTo>
                  <a:pt x="48" y="0"/>
                </a:lnTo>
                <a:lnTo>
                  <a:pt x="38" y="14"/>
                </a:lnTo>
                <a:lnTo>
                  <a:pt x="30" y="0"/>
                </a:lnTo>
                <a:lnTo>
                  <a:pt x="30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Freeform 39"/>
          <p:cNvSpPr>
            <a:spLocks/>
          </p:cNvSpPr>
          <p:nvPr userDrawn="1"/>
        </p:nvSpPr>
        <p:spPr bwMode="auto">
          <a:xfrm>
            <a:off x="8482013" y="371475"/>
            <a:ext cx="292100" cy="365125"/>
          </a:xfrm>
          <a:custGeom>
            <a:avLst/>
            <a:gdLst>
              <a:gd name="T0" fmla="*/ 92 w 92"/>
              <a:gd name="T1" fmla="*/ 0 h 115"/>
              <a:gd name="T2" fmla="*/ 92 w 92"/>
              <a:gd name="T3" fmla="*/ 71 h 115"/>
              <a:gd name="T4" fmla="*/ 49 w 92"/>
              <a:gd name="T5" fmla="*/ 115 h 115"/>
              <a:gd name="T6" fmla="*/ 0 w 92"/>
              <a:gd name="T7" fmla="*/ 70 h 115"/>
              <a:gd name="T8" fmla="*/ 0 w 92"/>
              <a:gd name="T9" fmla="*/ 0 h 115"/>
              <a:gd name="T10" fmla="*/ 22 w 92"/>
              <a:gd name="T11" fmla="*/ 0 h 115"/>
              <a:gd name="T12" fmla="*/ 22 w 92"/>
              <a:gd name="T13" fmla="*/ 72 h 115"/>
              <a:gd name="T14" fmla="*/ 50 w 92"/>
              <a:gd name="T15" fmla="*/ 105 h 115"/>
              <a:gd name="T16" fmla="*/ 79 w 92"/>
              <a:gd name="T17" fmla="*/ 73 h 115"/>
              <a:gd name="T18" fmla="*/ 79 w 92"/>
              <a:gd name="T19" fmla="*/ 0 h 115"/>
              <a:gd name="T20" fmla="*/ 92 w 92"/>
              <a:gd name="T21" fmla="*/ 0 h 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92" h="115">
                <a:moveTo>
                  <a:pt x="92" y="0"/>
                </a:moveTo>
                <a:cubicBezTo>
                  <a:pt x="92" y="71"/>
                  <a:pt x="92" y="71"/>
                  <a:pt x="92" y="71"/>
                </a:cubicBezTo>
                <a:cubicBezTo>
                  <a:pt x="92" y="109"/>
                  <a:pt x="62" y="115"/>
                  <a:pt x="49" y="115"/>
                </a:cubicBezTo>
                <a:cubicBezTo>
                  <a:pt x="25" y="115"/>
                  <a:pt x="0" y="107"/>
                  <a:pt x="0" y="70"/>
                </a:cubicBezTo>
                <a:cubicBezTo>
                  <a:pt x="0" y="0"/>
                  <a:pt x="0" y="0"/>
                  <a:pt x="0" y="0"/>
                </a:cubicBezTo>
                <a:cubicBezTo>
                  <a:pt x="22" y="0"/>
                  <a:pt x="22" y="0"/>
                  <a:pt x="22" y="0"/>
                </a:cubicBezTo>
                <a:cubicBezTo>
                  <a:pt x="22" y="72"/>
                  <a:pt x="22" y="72"/>
                  <a:pt x="22" y="72"/>
                </a:cubicBezTo>
                <a:cubicBezTo>
                  <a:pt x="22" y="93"/>
                  <a:pt x="32" y="105"/>
                  <a:pt x="50" y="105"/>
                </a:cubicBezTo>
                <a:cubicBezTo>
                  <a:pt x="66" y="105"/>
                  <a:pt x="79" y="95"/>
                  <a:pt x="79" y="73"/>
                </a:cubicBezTo>
                <a:cubicBezTo>
                  <a:pt x="79" y="0"/>
                  <a:pt x="79" y="0"/>
                  <a:pt x="79" y="0"/>
                </a:cubicBezTo>
                <a:cubicBezTo>
                  <a:pt x="92" y="0"/>
                  <a:pt x="92" y="0"/>
                  <a:pt x="92" y="0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Freeform 40"/>
          <p:cNvSpPr>
            <a:spLocks/>
          </p:cNvSpPr>
          <p:nvPr userDrawn="1"/>
        </p:nvSpPr>
        <p:spPr bwMode="auto">
          <a:xfrm>
            <a:off x="8094663" y="365125"/>
            <a:ext cx="336550" cy="371475"/>
          </a:xfrm>
          <a:custGeom>
            <a:avLst/>
            <a:gdLst>
              <a:gd name="T0" fmla="*/ 61 w 106"/>
              <a:gd name="T1" fmla="*/ 117 h 117"/>
              <a:gd name="T2" fmla="*/ 0 w 106"/>
              <a:gd name="T3" fmla="*/ 60 h 117"/>
              <a:gd name="T4" fmla="*/ 63 w 106"/>
              <a:gd name="T5" fmla="*/ 0 h 117"/>
              <a:gd name="T6" fmla="*/ 97 w 106"/>
              <a:gd name="T7" fmla="*/ 13 h 117"/>
              <a:gd name="T8" fmla="*/ 106 w 106"/>
              <a:gd name="T9" fmla="*/ 28 h 117"/>
              <a:gd name="T10" fmla="*/ 94 w 106"/>
              <a:gd name="T11" fmla="*/ 39 h 117"/>
              <a:gd name="T12" fmla="*/ 83 w 106"/>
              <a:gd name="T13" fmla="*/ 28 h 117"/>
              <a:gd name="T14" fmla="*/ 86 w 106"/>
              <a:gd name="T15" fmla="*/ 20 h 117"/>
              <a:gd name="T16" fmla="*/ 63 w 106"/>
              <a:gd name="T17" fmla="*/ 10 h 117"/>
              <a:gd name="T18" fmla="*/ 21 w 106"/>
              <a:gd name="T19" fmla="*/ 58 h 117"/>
              <a:gd name="T20" fmla="*/ 65 w 106"/>
              <a:gd name="T21" fmla="*/ 108 h 117"/>
              <a:gd name="T22" fmla="*/ 102 w 106"/>
              <a:gd name="T23" fmla="*/ 93 h 117"/>
              <a:gd name="T24" fmla="*/ 106 w 106"/>
              <a:gd name="T25" fmla="*/ 99 h 117"/>
              <a:gd name="T26" fmla="*/ 61 w 106"/>
              <a:gd name="T27" fmla="*/ 117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106" h="117">
                <a:moveTo>
                  <a:pt x="61" y="117"/>
                </a:moveTo>
                <a:cubicBezTo>
                  <a:pt x="23" y="117"/>
                  <a:pt x="0" y="91"/>
                  <a:pt x="0" y="60"/>
                </a:cubicBezTo>
                <a:cubicBezTo>
                  <a:pt x="0" y="29"/>
                  <a:pt x="24" y="0"/>
                  <a:pt x="63" y="0"/>
                </a:cubicBezTo>
                <a:cubicBezTo>
                  <a:pt x="74" y="0"/>
                  <a:pt x="88" y="4"/>
                  <a:pt x="97" y="13"/>
                </a:cubicBezTo>
                <a:cubicBezTo>
                  <a:pt x="102" y="16"/>
                  <a:pt x="106" y="23"/>
                  <a:pt x="106" y="28"/>
                </a:cubicBezTo>
                <a:cubicBezTo>
                  <a:pt x="106" y="34"/>
                  <a:pt x="101" y="39"/>
                  <a:pt x="94" y="39"/>
                </a:cubicBezTo>
                <a:cubicBezTo>
                  <a:pt x="88" y="39"/>
                  <a:pt x="83" y="34"/>
                  <a:pt x="83" y="28"/>
                </a:cubicBezTo>
                <a:cubicBezTo>
                  <a:pt x="83" y="25"/>
                  <a:pt x="84" y="22"/>
                  <a:pt x="86" y="20"/>
                </a:cubicBezTo>
                <a:cubicBezTo>
                  <a:pt x="81" y="14"/>
                  <a:pt x="71" y="10"/>
                  <a:pt x="63" y="10"/>
                </a:cubicBezTo>
                <a:cubicBezTo>
                  <a:pt x="36" y="10"/>
                  <a:pt x="21" y="35"/>
                  <a:pt x="21" y="58"/>
                </a:cubicBezTo>
                <a:cubicBezTo>
                  <a:pt x="21" y="85"/>
                  <a:pt x="38" y="108"/>
                  <a:pt x="65" y="108"/>
                </a:cubicBezTo>
                <a:cubicBezTo>
                  <a:pt x="79" y="108"/>
                  <a:pt x="90" y="102"/>
                  <a:pt x="102" y="93"/>
                </a:cubicBezTo>
                <a:cubicBezTo>
                  <a:pt x="106" y="99"/>
                  <a:pt x="106" y="99"/>
                  <a:pt x="106" y="99"/>
                </a:cubicBezTo>
                <a:cubicBezTo>
                  <a:pt x="94" y="111"/>
                  <a:pt x="77" y="117"/>
                  <a:pt x="61" y="11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Freeform 41"/>
          <p:cNvSpPr>
            <a:spLocks noEditPoints="1"/>
          </p:cNvSpPr>
          <p:nvPr userDrawn="1"/>
        </p:nvSpPr>
        <p:spPr bwMode="auto">
          <a:xfrm>
            <a:off x="7758113" y="371475"/>
            <a:ext cx="330200" cy="358775"/>
          </a:xfrm>
          <a:custGeom>
            <a:avLst/>
            <a:gdLst>
              <a:gd name="T0" fmla="*/ 164 w 208"/>
              <a:gd name="T1" fmla="*/ 226 h 226"/>
              <a:gd name="T2" fmla="*/ 208 w 208"/>
              <a:gd name="T3" fmla="*/ 226 h 226"/>
              <a:gd name="T4" fmla="*/ 120 w 208"/>
              <a:gd name="T5" fmla="*/ 0 h 226"/>
              <a:gd name="T6" fmla="*/ 86 w 208"/>
              <a:gd name="T7" fmla="*/ 0 h 226"/>
              <a:gd name="T8" fmla="*/ 0 w 208"/>
              <a:gd name="T9" fmla="*/ 226 h 226"/>
              <a:gd name="T10" fmla="*/ 22 w 208"/>
              <a:gd name="T11" fmla="*/ 226 h 226"/>
              <a:gd name="T12" fmla="*/ 48 w 208"/>
              <a:gd name="T13" fmla="*/ 162 h 226"/>
              <a:gd name="T14" fmla="*/ 140 w 208"/>
              <a:gd name="T15" fmla="*/ 162 h 226"/>
              <a:gd name="T16" fmla="*/ 164 w 208"/>
              <a:gd name="T17" fmla="*/ 226 h 226"/>
              <a:gd name="T18" fmla="*/ 164 w 208"/>
              <a:gd name="T19" fmla="*/ 226 h 226"/>
              <a:gd name="T20" fmla="*/ 54 w 208"/>
              <a:gd name="T21" fmla="*/ 142 h 226"/>
              <a:gd name="T22" fmla="*/ 94 w 208"/>
              <a:gd name="T23" fmla="*/ 36 h 226"/>
              <a:gd name="T24" fmla="*/ 134 w 208"/>
              <a:gd name="T25" fmla="*/ 142 h 226"/>
              <a:gd name="T26" fmla="*/ 54 w 208"/>
              <a:gd name="T27" fmla="*/ 142 h 226"/>
              <a:gd name="T28" fmla="*/ 54 w 208"/>
              <a:gd name="T29" fmla="*/ 142 h 2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208" h="226">
                <a:moveTo>
                  <a:pt x="164" y="226"/>
                </a:moveTo>
                <a:lnTo>
                  <a:pt x="208" y="226"/>
                </a:lnTo>
                <a:lnTo>
                  <a:pt x="120" y="0"/>
                </a:lnTo>
                <a:lnTo>
                  <a:pt x="86" y="0"/>
                </a:lnTo>
                <a:lnTo>
                  <a:pt x="0" y="226"/>
                </a:lnTo>
                <a:lnTo>
                  <a:pt x="22" y="226"/>
                </a:lnTo>
                <a:lnTo>
                  <a:pt x="48" y="162"/>
                </a:lnTo>
                <a:lnTo>
                  <a:pt x="140" y="162"/>
                </a:lnTo>
                <a:lnTo>
                  <a:pt x="164" y="226"/>
                </a:lnTo>
                <a:lnTo>
                  <a:pt x="164" y="226"/>
                </a:lnTo>
                <a:close/>
                <a:moveTo>
                  <a:pt x="54" y="142"/>
                </a:moveTo>
                <a:lnTo>
                  <a:pt x="94" y="36"/>
                </a:lnTo>
                <a:lnTo>
                  <a:pt x="134" y="142"/>
                </a:lnTo>
                <a:lnTo>
                  <a:pt x="54" y="142"/>
                </a:lnTo>
                <a:lnTo>
                  <a:pt x="54" y="14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492378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ith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079407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 flipV="1">
            <a:off x="0" y="4137025"/>
            <a:ext cx="9144000" cy="4603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4" name="Rounded Rectangle 3"/>
          <p:cNvSpPr/>
          <p:nvPr/>
        </p:nvSpPr>
        <p:spPr bwMode="white">
          <a:xfrm>
            <a:off x="5410202" y="3962401"/>
            <a:ext cx="3063875" cy="26988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5" name="Rounded Rectangle 4"/>
          <p:cNvSpPr/>
          <p:nvPr/>
        </p:nvSpPr>
        <p:spPr bwMode="white">
          <a:xfrm>
            <a:off x="7377113" y="4060826"/>
            <a:ext cx="1600200" cy="36513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3962401"/>
            <a:ext cx="9144000" cy="244475"/>
          </a:xfrm>
          <a:prstGeom prst="rect">
            <a:avLst/>
          </a:prstGeom>
          <a:solidFill>
            <a:schemeClr val="accent6">
              <a:lumMod val="40000"/>
              <a:lumOff val="60000"/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3970338"/>
            <a:ext cx="9144000" cy="141287"/>
          </a:xfrm>
          <a:prstGeom prst="rect">
            <a:avLst/>
          </a:prstGeom>
          <a:solidFill>
            <a:srgbClr val="002060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1"/>
            <a:ext cx="9144000" cy="397033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584293" y="4724400"/>
            <a:ext cx="6324600" cy="1295400"/>
          </a:xfrm>
        </p:spPr>
        <p:txBody>
          <a:bodyPr>
            <a:noAutofit/>
          </a:bodyPr>
          <a:lstStyle>
            <a:lvl1pPr marL="59739" indent="0" algn="ctr">
              <a:buNone/>
              <a:defRPr sz="3200">
                <a:solidFill>
                  <a:schemeClr val="accent3">
                    <a:lumMod val="75000"/>
                  </a:schemeClr>
                </a:solidFill>
              </a:defRPr>
            </a:lvl1pPr>
            <a:lvl2pPr marL="426705" indent="0" algn="ctr">
              <a:buNone/>
            </a:lvl2pPr>
            <a:lvl3pPr marL="853410" indent="0" algn="ctr">
              <a:buNone/>
            </a:lvl3pPr>
            <a:lvl4pPr marL="1280114" indent="0" algn="ctr">
              <a:buNone/>
            </a:lvl4pPr>
            <a:lvl5pPr marL="1706819" indent="0" algn="ctr">
              <a:buNone/>
            </a:lvl5pPr>
            <a:lvl6pPr marL="2133524" indent="0" algn="ctr">
              <a:buNone/>
            </a:lvl6pPr>
            <a:lvl7pPr marL="2560229" indent="0" algn="ctr">
              <a:buNone/>
            </a:lvl7pPr>
            <a:lvl8pPr marL="2986933" indent="0" algn="ctr">
              <a:buNone/>
            </a:lvl8pPr>
            <a:lvl9pPr marL="341363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163286"/>
            <a:ext cx="2667000" cy="36884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8447248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539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599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72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083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9136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35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007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718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41201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8922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2315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910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144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2388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13242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485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1938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435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8008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6359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29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49783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10934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5123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574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83454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0970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072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87420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2331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87792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16748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2709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44708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4434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46776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52023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07320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467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72074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06116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9359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1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468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6716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4321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31028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0580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64863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4504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7901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83126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36139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86069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20900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7395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6149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03913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24380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9977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63219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6472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72143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1584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5028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152554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5878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27288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16914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rgbClr val="FFFFFF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" y="-3"/>
            <a:ext cx="11328385" cy="69194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" name="Google Shape;40;p2"/>
          <p:cNvGrpSpPr/>
          <p:nvPr/>
        </p:nvGrpSpPr>
        <p:grpSpPr>
          <a:xfrm>
            <a:off x="22" y="4740126"/>
            <a:ext cx="7314320" cy="1169029"/>
            <a:chOff x="-11" y="1378677"/>
            <a:chExt cx="7314320" cy="4116300"/>
          </a:xfrm>
        </p:grpSpPr>
        <p:sp>
          <p:nvSpPr>
            <p:cNvPr id="41" name="Google Shape;41;p2"/>
            <p:cNvSpPr/>
            <p:nvPr/>
          </p:nvSpPr>
          <p:spPr>
            <a:xfrm flipH="1">
              <a:off x="-11" y="1378677"/>
              <a:ext cx="187800" cy="41163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2" name="Google Shape;42;p2"/>
            <p:cNvSpPr/>
            <p:nvPr/>
          </p:nvSpPr>
          <p:spPr>
            <a:xfrm flipH="1">
              <a:off x="187809" y="1378677"/>
              <a:ext cx="7126500" cy="4116300"/>
            </a:xfrm>
            <a:prstGeom prst="rect">
              <a:avLst/>
            </a:pr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3" name="Google Shape;43;p2"/>
          <p:cNvSpPr txBox="1">
            <a:spLocks noGrp="1"/>
          </p:cNvSpPr>
          <p:nvPr>
            <p:ph type="ctrTitle"/>
          </p:nvPr>
        </p:nvSpPr>
        <p:spPr>
          <a:xfrm>
            <a:off x="414375" y="4842443"/>
            <a:ext cx="6400800" cy="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None/>
              <a:defRPr sz="36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22015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5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59" name="Google Shape;59;p5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0" name="Google Shape;60;p5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61" name="Google Shape;61;p5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939164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45;p3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46" name="Google Shape;46;p3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7" name="Google Shape;47;p3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8" name="Google Shape;48;p3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"/>
          <p:cNvSpPr txBox="1">
            <a:spLocks noGrp="1"/>
          </p:cNvSpPr>
          <p:nvPr>
            <p:ph type="body" idx="1"/>
          </p:nvPr>
        </p:nvSpPr>
        <p:spPr>
          <a:xfrm>
            <a:off x="457200" y="1704688"/>
            <a:ext cx="8229600" cy="484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218105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2C67-E368-7D38-83A4-DC56A3CE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83C6-8621-2FAD-A749-9E13A6E8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A0925-44BC-4207-88BC-094591F6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63BBE-E6DD-4BA0-5A98-015DA3DC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556D0-7775-3B39-DE7E-B43E5937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3492683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9596" y="713233"/>
            <a:ext cx="3767469" cy="334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21929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25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8411246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8455" y="1392429"/>
            <a:ext cx="8127091" cy="219291"/>
          </a:xfrm>
        </p:spPr>
        <p:txBody>
          <a:bodyPr lIns="0" tIns="0" rIns="0" bIns="0"/>
          <a:lstStyle>
            <a:lvl1pPr>
              <a:defRPr sz="1425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035566474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393803120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368727114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7668356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3CF8-4CC4-7F3B-2E2C-B754C2E0B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7C4A4-F523-ACA9-5C84-1EB3B80F5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56B62-F469-5355-6292-CF3055CB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6D681-D058-06A0-CFA9-1ACBCF9DA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1BDF-B5C2-115A-032D-5C46CBD9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79799659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2C67-E368-7D38-83A4-DC56A3CE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83C6-8621-2FAD-A749-9E13A6E8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A0925-44BC-4207-88BC-094591F6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63BBE-E6DD-4BA0-5A98-015DA3DC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556D0-7775-3B39-DE7E-B43E5937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9002550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96912-D2E1-9F64-1372-FD29BECA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B3F36E-92D4-F7A9-5611-D4EBA0BE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A57A2-4AEF-2382-EDA9-9845CA39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7D0E-8F76-6E7D-576B-3044ADA8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2D88E-0EE8-C9D0-7C68-6610F7CE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98427231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8EEF-DD28-69EB-29C5-D19A23E2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7F8B3-1006-F7DE-14E9-62BEEF0BC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9AB7C-879B-50DC-E53A-4393B966D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D7845-F396-BCEB-3205-F5CB38CB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D3CE-E9A4-DBF3-1F0E-201F7D7F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8F1D0-0AD2-C539-20D2-851B13FB1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9130389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249C5-0226-85F6-8D4F-D4EA9199B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293AD-8E77-DFCC-2C3E-8937176F9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B92EC-30B6-5005-98C8-910D96DB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C2EA1-CEE9-87F1-74CA-7EA588BF2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4F0A23-C285-3B5E-0EF8-4DF4263F03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63897-C5FE-C3C3-0CDA-10587181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D7EC9-F5EC-C2D4-DFE1-05F4CA0D1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EC484-2B60-830F-28B9-0BF2FCAE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6839062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555B2-54AC-E8D5-3367-D1C2415C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7327B-BCFB-7F1B-0D11-15CDAFA5E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EA2D0-8DDC-C686-66FD-4DE83C54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0BFAB-E28F-508B-19B8-6522D8ACF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5439465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769272-1C68-4E9F-DF2B-EFBD432E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DC98D-0E86-D36E-F380-6954CD1E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1A426-B4F3-BBC6-83AE-7CC2B62F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69380411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050BF-D428-3081-57B1-8789F773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5AD68-6E43-EC2D-C33D-9C8C408CC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07F6F4-D743-9E3B-ECD3-FC039ED7A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4F5F1-6B2A-22C2-ECEA-5177C220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F1728-E389-E41B-E406-1E97CFE6A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B1710-9C83-7478-4B35-7F8EEFEF0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59879166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6ED2-C254-312D-15C0-846C33DE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BD8503-8FCB-7F53-63D6-495FC6DA0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F4EB0-E8B0-EA92-3CF8-6A5D1F5C74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D7A35-CE5F-ECE8-2441-58A2C9202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0283E-7CC6-0CCE-C2FC-702F78F90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E77FBD-6EC1-3B80-4A79-3B5A0E2E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74118287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148A-761D-E27D-E888-B7E27FD8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74B11-2215-EBF3-BEA3-EF320EE38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7CD92-D758-240E-A2D2-4E195BC7F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B3A7E-35BE-57C3-5A4F-F3FB5F4D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17621-F8C1-F075-FE92-FD0DDB61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52209859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FC27C-709B-17D0-FA2E-D84DCAB7F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9340E5-47C9-4263-1E76-9BE55624B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996FD-B031-5E26-AF28-582721D53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9D959-5F65-A253-A7EB-99402547B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B7ADB-FEDC-6841-0342-4A29EDFCF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1472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88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tags" Target="../tags/tag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oleObject" Target="../embeddings/oleObject1.bin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7.xml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86.xml"/><Relationship Id="rId1" Type="http://schemas.openxmlformats.org/officeDocument/2006/relationships/slideLayout" Target="../slideLayouts/slideLayout85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89.xml"/><Relationship Id="rId4" Type="http://schemas.openxmlformats.org/officeDocument/2006/relationships/slideLayout" Target="../slideLayouts/slideLayout8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2.xml"/><Relationship Id="rId7" Type="http://schemas.openxmlformats.org/officeDocument/2006/relationships/slideLayout" Target="../slideLayouts/slideLayout96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91.xml"/><Relationship Id="rId1" Type="http://schemas.openxmlformats.org/officeDocument/2006/relationships/slideLayout" Target="../slideLayouts/slideLayout90.xml"/><Relationship Id="rId6" Type="http://schemas.openxmlformats.org/officeDocument/2006/relationships/slideLayout" Target="../slideLayouts/slideLayout95.xml"/><Relationship Id="rId11" Type="http://schemas.openxmlformats.org/officeDocument/2006/relationships/slideLayout" Target="../slideLayouts/slideLayout100.xml"/><Relationship Id="rId5" Type="http://schemas.openxmlformats.org/officeDocument/2006/relationships/slideLayout" Target="../slideLayouts/slideLayout94.xml"/><Relationship Id="rId10" Type="http://schemas.openxmlformats.org/officeDocument/2006/relationships/slideLayout" Target="../slideLayouts/slideLayout99.xml"/><Relationship Id="rId4" Type="http://schemas.openxmlformats.org/officeDocument/2006/relationships/slideLayout" Target="../slideLayouts/slideLayout93.xml"/><Relationship Id="rId9" Type="http://schemas.openxmlformats.org/officeDocument/2006/relationships/slideLayout" Target="../slideLayouts/slideLayout9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86"/>
            </p:custDataLst>
            <p:extLst>
              <p:ext uri="{D42A27DB-BD31-4B8C-83A1-F6EECF244321}">
                <p14:modId xmlns:p14="http://schemas.microsoft.com/office/powerpoint/2010/main" val="34756964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7" imgW="347" imgH="348" progId="TCLayout.ActiveDocument.1">
                  <p:embed/>
                </p:oleObj>
              </mc:Choice>
              <mc:Fallback>
                <p:oleObj name="think-cell Slide" r:id="rId87" imgW="347" imgH="348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87" name="Group 4"/>
          <p:cNvGrpSpPr>
            <a:grpSpLocks noChangeAspect="1"/>
          </p:cNvGrpSpPr>
          <p:nvPr userDrawn="1"/>
        </p:nvGrpSpPr>
        <p:grpSpPr bwMode="auto">
          <a:xfrm>
            <a:off x="1588" y="0"/>
            <a:ext cx="9140825" cy="6858000"/>
            <a:chOff x="1" y="0"/>
            <a:chExt cx="5758" cy="4320"/>
          </a:xfrm>
        </p:grpSpPr>
        <p:sp>
          <p:nvSpPr>
            <p:cNvPr id="88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1" y="0"/>
              <a:ext cx="5758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5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6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7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8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9"/>
            <p:cNvSpPr>
              <a:spLocks/>
            </p:cNvSpPr>
            <p:nvPr userDrawn="1"/>
          </p:nvSpPr>
          <p:spPr bwMode="auto">
            <a:xfrm>
              <a:off x="4661" y="234"/>
              <a:ext cx="182" cy="234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0"/>
            <p:cNvSpPr>
              <a:spLocks/>
            </p:cNvSpPr>
            <p:nvPr userDrawn="1"/>
          </p:nvSpPr>
          <p:spPr bwMode="auto">
            <a:xfrm>
              <a:off x="4695" y="262"/>
              <a:ext cx="114" cy="150"/>
            </a:xfrm>
            <a:custGeom>
              <a:avLst/>
              <a:gdLst>
                <a:gd name="T0" fmla="*/ 0 w 114"/>
                <a:gd name="T1" fmla="*/ 74 h 150"/>
                <a:gd name="T2" fmla="*/ 58 w 114"/>
                <a:gd name="T3" fmla="*/ 0 h 150"/>
                <a:gd name="T4" fmla="*/ 114 w 114"/>
                <a:gd name="T5" fmla="*/ 74 h 150"/>
                <a:gd name="T6" fmla="*/ 58 w 114"/>
                <a:gd name="T7" fmla="*/ 150 h 150"/>
                <a:gd name="T8" fmla="*/ 0 w 114"/>
                <a:gd name="T9" fmla="*/ 74 h 150"/>
                <a:gd name="T10" fmla="*/ 0 w 114"/>
                <a:gd name="T11" fmla="*/ 74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50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50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1"/>
            <p:cNvSpPr>
              <a:spLocks/>
            </p:cNvSpPr>
            <p:nvPr userDrawn="1"/>
          </p:nvSpPr>
          <p:spPr bwMode="auto">
            <a:xfrm>
              <a:off x="4711" y="294"/>
              <a:ext cx="82" cy="9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12"/>
            <p:cNvSpPr>
              <a:spLocks noEditPoints="1"/>
            </p:cNvSpPr>
            <p:nvPr userDrawn="1"/>
          </p:nvSpPr>
          <p:spPr bwMode="auto">
            <a:xfrm>
              <a:off x="466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13"/>
            <p:cNvSpPr>
              <a:spLocks/>
            </p:cNvSpPr>
            <p:nvPr userDrawn="1"/>
          </p:nvSpPr>
          <p:spPr bwMode="auto">
            <a:xfrm>
              <a:off x="4697" y="504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14"/>
            <p:cNvSpPr>
              <a:spLocks/>
            </p:cNvSpPr>
            <p:nvPr userDrawn="1"/>
          </p:nvSpPr>
          <p:spPr bwMode="auto">
            <a:xfrm>
              <a:off x="4731" y="502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15"/>
            <p:cNvSpPr>
              <a:spLocks/>
            </p:cNvSpPr>
            <p:nvPr userDrawn="1"/>
          </p:nvSpPr>
          <p:spPr bwMode="auto">
            <a:xfrm>
              <a:off x="4761" y="504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16"/>
            <p:cNvSpPr>
              <a:spLocks noEditPoints="1"/>
            </p:cNvSpPr>
            <p:nvPr userDrawn="1"/>
          </p:nvSpPr>
          <p:spPr bwMode="auto">
            <a:xfrm>
              <a:off x="4793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17"/>
            <p:cNvSpPr>
              <a:spLocks noEditPoints="1"/>
            </p:cNvSpPr>
            <p:nvPr userDrawn="1"/>
          </p:nvSpPr>
          <p:spPr bwMode="auto">
            <a:xfrm>
              <a:off x="4823" y="504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18"/>
            <p:cNvSpPr>
              <a:spLocks/>
            </p:cNvSpPr>
            <p:nvPr userDrawn="1"/>
          </p:nvSpPr>
          <p:spPr bwMode="auto">
            <a:xfrm>
              <a:off x="4861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19"/>
            <p:cNvSpPr>
              <a:spLocks/>
            </p:cNvSpPr>
            <p:nvPr userDrawn="1"/>
          </p:nvSpPr>
          <p:spPr bwMode="auto">
            <a:xfrm>
              <a:off x="4889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0"/>
            <p:cNvSpPr>
              <a:spLocks noEditPoints="1"/>
            </p:cNvSpPr>
            <p:nvPr userDrawn="1"/>
          </p:nvSpPr>
          <p:spPr bwMode="auto">
            <a:xfrm>
              <a:off x="4899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1"/>
            <p:cNvSpPr>
              <a:spLocks/>
            </p:cNvSpPr>
            <p:nvPr userDrawn="1"/>
          </p:nvSpPr>
          <p:spPr bwMode="auto">
            <a:xfrm>
              <a:off x="4939" y="504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22"/>
            <p:cNvSpPr>
              <a:spLocks/>
            </p:cNvSpPr>
            <p:nvPr userDrawn="1"/>
          </p:nvSpPr>
          <p:spPr bwMode="auto">
            <a:xfrm>
              <a:off x="4989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23"/>
            <p:cNvSpPr>
              <a:spLocks noEditPoints="1"/>
            </p:cNvSpPr>
            <p:nvPr userDrawn="1"/>
          </p:nvSpPr>
          <p:spPr bwMode="auto">
            <a:xfrm>
              <a:off x="502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24"/>
            <p:cNvSpPr>
              <a:spLocks/>
            </p:cNvSpPr>
            <p:nvPr userDrawn="1"/>
          </p:nvSpPr>
          <p:spPr bwMode="auto">
            <a:xfrm>
              <a:off x="5053" y="504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25"/>
            <p:cNvSpPr>
              <a:spLocks/>
            </p:cNvSpPr>
            <p:nvPr userDrawn="1"/>
          </p:nvSpPr>
          <p:spPr bwMode="auto">
            <a:xfrm>
              <a:off x="5085" y="504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26"/>
            <p:cNvSpPr>
              <a:spLocks noEditPoints="1"/>
            </p:cNvSpPr>
            <p:nvPr userDrawn="1"/>
          </p:nvSpPr>
          <p:spPr bwMode="auto">
            <a:xfrm>
              <a:off x="5119" y="502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27"/>
            <p:cNvSpPr>
              <a:spLocks/>
            </p:cNvSpPr>
            <p:nvPr userDrawn="1"/>
          </p:nvSpPr>
          <p:spPr bwMode="auto">
            <a:xfrm>
              <a:off x="5157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28"/>
            <p:cNvSpPr>
              <a:spLocks/>
            </p:cNvSpPr>
            <p:nvPr userDrawn="1"/>
          </p:nvSpPr>
          <p:spPr bwMode="auto">
            <a:xfrm>
              <a:off x="5185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29"/>
            <p:cNvSpPr>
              <a:spLocks/>
            </p:cNvSpPr>
            <p:nvPr userDrawn="1"/>
          </p:nvSpPr>
          <p:spPr bwMode="auto">
            <a:xfrm>
              <a:off x="5195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0"/>
            <p:cNvSpPr>
              <a:spLocks/>
            </p:cNvSpPr>
            <p:nvPr userDrawn="1"/>
          </p:nvSpPr>
          <p:spPr bwMode="auto">
            <a:xfrm>
              <a:off x="5247" y="504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1"/>
            <p:cNvSpPr>
              <a:spLocks/>
            </p:cNvSpPr>
            <p:nvPr userDrawn="1"/>
          </p:nvSpPr>
          <p:spPr bwMode="auto">
            <a:xfrm>
              <a:off x="5283" y="504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 32"/>
            <p:cNvSpPr>
              <a:spLocks/>
            </p:cNvSpPr>
            <p:nvPr userDrawn="1"/>
          </p:nvSpPr>
          <p:spPr bwMode="auto">
            <a:xfrm>
              <a:off x="5317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7" name="Freeform 33"/>
            <p:cNvSpPr>
              <a:spLocks/>
            </p:cNvSpPr>
            <p:nvPr userDrawn="1"/>
          </p:nvSpPr>
          <p:spPr bwMode="auto">
            <a:xfrm>
              <a:off x="5329" y="504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8" name="Freeform 34"/>
            <p:cNvSpPr>
              <a:spLocks/>
            </p:cNvSpPr>
            <p:nvPr userDrawn="1"/>
          </p:nvSpPr>
          <p:spPr bwMode="auto">
            <a:xfrm>
              <a:off x="5365" y="504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9" name="Freeform 35"/>
            <p:cNvSpPr>
              <a:spLocks noEditPoints="1"/>
            </p:cNvSpPr>
            <p:nvPr userDrawn="1"/>
          </p:nvSpPr>
          <p:spPr bwMode="auto">
            <a:xfrm>
              <a:off x="5397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0" name="Freeform 36"/>
            <p:cNvSpPr>
              <a:spLocks/>
            </p:cNvSpPr>
            <p:nvPr userDrawn="1"/>
          </p:nvSpPr>
          <p:spPr bwMode="auto">
            <a:xfrm>
              <a:off x="5427" y="502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 37"/>
            <p:cNvSpPr>
              <a:spLocks/>
            </p:cNvSpPr>
            <p:nvPr userDrawn="1"/>
          </p:nvSpPr>
          <p:spPr bwMode="auto">
            <a:xfrm>
              <a:off x="5461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2" name="Freeform 38"/>
            <p:cNvSpPr>
              <a:spLocks/>
            </p:cNvSpPr>
            <p:nvPr userDrawn="1"/>
          </p:nvSpPr>
          <p:spPr bwMode="auto">
            <a:xfrm>
              <a:off x="5473" y="504"/>
              <a:ext cx="54" cy="32"/>
            </a:xfrm>
            <a:custGeom>
              <a:avLst/>
              <a:gdLst>
                <a:gd name="T0" fmla="*/ 30 w 54"/>
                <a:gd name="T1" fmla="*/ 0 h 32"/>
                <a:gd name="T2" fmla="*/ 0 w 54"/>
                <a:gd name="T3" fmla="*/ 0 h 32"/>
                <a:gd name="T4" fmla="*/ 0 w 54"/>
                <a:gd name="T5" fmla="*/ 4 h 32"/>
                <a:gd name="T6" fmla="*/ 10 w 54"/>
                <a:gd name="T7" fmla="*/ 4 h 32"/>
                <a:gd name="T8" fmla="*/ 10 w 54"/>
                <a:gd name="T9" fmla="*/ 32 h 32"/>
                <a:gd name="T10" fmla="*/ 16 w 54"/>
                <a:gd name="T11" fmla="*/ 32 h 32"/>
                <a:gd name="T12" fmla="*/ 16 w 54"/>
                <a:gd name="T13" fmla="*/ 4 h 32"/>
                <a:gd name="T14" fmla="*/ 26 w 54"/>
                <a:gd name="T15" fmla="*/ 4 h 32"/>
                <a:gd name="T16" fmla="*/ 36 w 54"/>
                <a:gd name="T17" fmla="*/ 18 h 32"/>
                <a:gd name="T18" fmla="*/ 36 w 54"/>
                <a:gd name="T19" fmla="*/ 32 h 32"/>
                <a:gd name="T20" fmla="*/ 42 w 54"/>
                <a:gd name="T21" fmla="*/ 32 h 32"/>
                <a:gd name="T22" fmla="*/ 42 w 54"/>
                <a:gd name="T23" fmla="*/ 18 h 32"/>
                <a:gd name="T24" fmla="*/ 54 w 54"/>
                <a:gd name="T25" fmla="*/ 0 h 32"/>
                <a:gd name="T26" fmla="*/ 54 w 54"/>
                <a:gd name="T27" fmla="*/ 0 h 32"/>
                <a:gd name="T28" fmla="*/ 54 w 54"/>
                <a:gd name="T29" fmla="*/ 0 h 32"/>
                <a:gd name="T30" fmla="*/ 48 w 54"/>
                <a:gd name="T31" fmla="*/ 0 h 32"/>
                <a:gd name="T32" fmla="*/ 38 w 54"/>
                <a:gd name="T33" fmla="*/ 14 h 32"/>
                <a:gd name="T34" fmla="*/ 30 w 54"/>
                <a:gd name="T35" fmla="*/ 0 h 32"/>
                <a:gd name="T36" fmla="*/ 30 w 54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4" h="32">
                  <a:moveTo>
                    <a:pt x="30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36" y="18"/>
                  </a:lnTo>
                  <a:lnTo>
                    <a:pt x="36" y="32"/>
                  </a:lnTo>
                  <a:lnTo>
                    <a:pt x="42" y="32"/>
                  </a:lnTo>
                  <a:lnTo>
                    <a:pt x="42" y="18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48" y="0"/>
                  </a:lnTo>
                  <a:lnTo>
                    <a:pt x="38" y="14"/>
                  </a:lnTo>
                  <a:lnTo>
                    <a:pt x="30" y="0"/>
                  </a:lnTo>
                  <a:lnTo>
                    <a:pt x="30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 39"/>
            <p:cNvSpPr>
              <a:spLocks/>
            </p:cNvSpPr>
            <p:nvPr userDrawn="1"/>
          </p:nvSpPr>
          <p:spPr bwMode="auto">
            <a:xfrm>
              <a:off x="5343" y="234"/>
              <a:ext cx="184" cy="230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4" name="Freeform 40"/>
            <p:cNvSpPr>
              <a:spLocks/>
            </p:cNvSpPr>
            <p:nvPr userDrawn="1"/>
          </p:nvSpPr>
          <p:spPr bwMode="auto">
            <a:xfrm>
              <a:off x="5099" y="230"/>
              <a:ext cx="212" cy="234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Freeform 41"/>
            <p:cNvSpPr>
              <a:spLocks noEditPoints="1"/>
            </p:cNvSpPr>
            <p:nvPr userDrawn="1"/>
          </p:nvSpPr>
          <p:spPr bwMode="auto">
            <a:xfrm>
              <a:off x="4887" y="234"/>
              <a:ext cx="208" cy="226"/>
            </a:xfrm>
            <a:custGeom>
              <a:avLst/>
              <a:gdLst>
                <a:gd name="T0" fmla="*/ 164 w 208"/>
                <a:gd name="T1" fmla="*/ 226 h 226"/>
                <a:gd name="T2" fmla="*/ 208 w 208"/>
                <a:gd name="T3" fmla="*/ 226 h 226"/>
                <a:gd name="T4" fmla="*/ 120 w 208"/>
                <a:gd name="T5" fmla="*/ 0 h 226"/>
                <a:gd name="T6" fmla="*/ 86 w 208"/>
                <a:gd name="T7" fmla="*/ 0 h 226"/>
                <a:gd name="T8" fmla="*/ 0 w 208"/>
                <a:gd name="T9" fmla="*/ 226 h 226"/>
                <a:gd name="T10" fmla="*/ 22 w 208"/>
                <a:gd name="T11" fmla="*/ 226 h 226"/>
                <a:gd name="T12" fmla="*/ 48 w 208"/>
                <a:gd name="T13" fmla="*/ 162 h 226"/>
                <a:gd name="T14" fmla="*/ 140 w 208"/>
                <a:gd name="T15" fmla="*/ 162 h 226"/>
                <a:gd name="T16" fmla="*/ 164 w 208"/>
                <a:gd name="T17" fmla="*/ 226 h 226"/>
                <a:gd name="T18" fmla="*/ 164 w 208"/>
                <a:gd name="T19" fmla="*/ 226 h 226"/>
                <a:gd name="T20" fmla="*/ 54 w 208"/>
                <a:gd name="T21" fmla="*/ 142 h 226"/>
                <a:gd name="T22" fmla="*/ 94 w 208"/>
                <a:gd name="T23" fmla="*/ 36 h 226"/>
                <a:gd name="T24" fmla="*/ 134 w 208"/>
                <a:gd name="T25" fmla="*/ 142 h 226"/>
                <a:gd name="T26" fmla="*/ 54 w 208"/>
                <a:gd name="T27" fmla="*/ 142 h 226"/>
                <a:gd name="T28" fmla="*/ 54 w 208"/>
                <a:gd name="T29" fmla="*/ 142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8" h="226">
                  <a:moveTo>
                    <a:pt x="164" y="226"/>
                  </a:moveTo>
                  <a:lnTo>
                    <a:pt x="208" y="226"/>
                  </a:lnTo>
                  <a:lnTo>
                    <a:pt x="120" y="0"/>
                  </a:lnTo>
                  <a:lnTo>
                    <a:pt x="86" y="0"/>
                  </a:lnTo>
                  <a:lnTo>
                    <a:pt x="0" y="226"/>
                  </a:lnTo>
                  <a:lnTo>
                    <a:pt x="22" y="226"/>
                  </a:lnTo>
                  <a:lnTo>
                    <a:pt x="48" y="162"/>
                  </a:lnTo>
                  <a:lnTo>
                    <a:pt x="140" y="162"/>
                  </a:lnTo>
                  <a:lnTo>
                    <a:pt x="164" y="226"/>
                  </a:lnTo>
                  <a:lnTo>
                    <a:pt x="164" y="226"/>
                  </a:lnTo>
                  <a:close/>
                  <a:moveTo>
                    <a:pt x="54" y="142"/>
                  </a:moveTo>
                  <a:lnTo>
                    <a:pt x="94" y="36"/>
                  </a:lnTo>
                  <a:lnTo>
                    <a:pt x="134" y="142"/>
                  </a:lnTo>
                  <a:lnTo>
                    <a:pt x="54" y="142"/>
                  </a:lnTo>
                  <a:lnTo>
                    <a:pt x="54" y="14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298006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91" r:id="rId2"/>
    <p:sldLayoutId id="2147483663" r:id="rId3"/>
    <p:sldLayoutId id="2147483664" r:id="rId4"/>
    <p:sldLayoutId id="2147483665" r:id="rId5"/>
    <p:sldLayoutId id="2147483682" r:id="rId6"/>
    <p:sldLayoutId id="2147483679" r:id="rId7"/>
    <p:sldLayoutId id="2147483686" r:id="rId8"/>
    <p:sldLayoutId id="2147483689" r:id="rId9"/>
    <p:sldLayoutId id="2147483692" r:id="rId10"/>
    <p:sldLayoutId id="2147483693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  <p:sldLayoutId id="2147483710" r:id="rId27"/>
    <p:sldLayoutId id="2147483711" r:id="rId28"/>
    <p:sldLayoutId id="2147483712" r:id="rId29"/>
    <p:sldLayoutId id="2147483713" r:id="rId30"/>
    <p:sldLayoutId id="2147483714" r:id="rId31"/>
    <p:sldLayoutId id="2147483715" r:id="rId32"/>
    <p:sldLayoutId id="2147483716" r:id="rId33"/>
    <p:sldLayoutId id="2147483717" r:id="rId34"/>
    <p:sldLayoutId id="2147483718" r:id="rId35"/>
    <p:sldLayoutId id="2147483719" r:id="rId36"/>
    <p:sldLayoutId id="2147483720" r:id="rId37"/>
    <p:sldLayoutId id="2147483721" r:id="rId38"/>
    <p:sldLayoutId id="2147483722" r:id="rId39"/>
    <p:sldLayoutId id="2147483723" r:id="rId40"/>
    <p:sldLayoutId id="2147483724" r:id="rId41"/>
    <p:sldLayoutId id="2147483726" r:id="rId42"/>
    <p:sldLayoutId id="2147483727" r:id="rId43"/>
    <p:sldLayoutId id="2147483728" r:id="rId44"/>
    <p:sldLayoutId id="2147483729" r:id="rId45"/>
    <p:sldLayoutId id="2147483730" r:id="rId46"/>
    <p:sldLayoutId id="2147483731" r:id="rId47"/>
    <p:sldLayoutId id="2147483732" r:id="rId48"/>
    <p:sldLayoutId id="2147483733" r:id="rId49"/>
    <p:sldLayoutId id="2147483734" r:id="rId50"/>
    <p:sldLayoutId id="2147483735" r:id="rId51"/>
    <p:sldLayoutId id="2147483736" r:id="rId52"/>
    <p:sldLayoutId id="2147483737" r:id="rId53"/>
    <p:sldLayoutId id="2147483738" r:id="rId54"/>
    <p:sldLayoutId id="2147483739" r:id="rId55"/>
    <p:sldLayoutId id="2147483740" r:id="rId56"/>
    <p:sldLayoutId id="2147483741" r:id="rId57"/>
    <p:sldLayoutId id="2147483742" r:id="rId58"/>
    <p:sldLayoutId id="2147483743" r:id="rId59"/>
    <p:sldLayoutId id="2147483744" r:id="rId60"/>
    <p:sldLayoutId id="2147483745" r:id="rId61"/>
    <p:sldLayoutId id="2147483746" r:id="rId62"/>
    <p:sldLayoutId id="2147483747" r:id="rId63"/>
    <p:sldLayoutId id="2147483748" r:id="rId64"/>
    <p:sldLayoutId id="2147483749" r:id="rId65"/>
    <p:sldLayoutId id="2147483750" r:id="rId66"/>
    <p:sldLayoutId id="2147483751" r:id="rId67"/>
    <p:sldLayoutId id="2147483752" r:id="rId68"/>
    <p:sldLayoutId id="2147483753" r:id="rId69"/>
    <p:sldLayoutId id="2147483754" r:id="rId70"/>
    <p:sldLayoutId id="2147483755" r:id="rId71"/>
    <p:sldLayoutId id="2147483756" r:id="rId72"/>
    <p:sldLayoutId id="2147483757" r:id="rId73"/>
    <p:sldLayoutId id="2147483758" r:id="rId74"/>
    <p:sldLayoutId id="2147483759" r:id="rId75"/>
    <p:sldLayoutId id="2147483760" r:id="rId76"/>
    <p:sldLayoutId id="2147483761" r:id="rId77"/>
    <p:sldLayoutId id="2147483762" r:id="rId78"/>
    <p:sldLayoutId id="2147483763" r:id="rId79"/>
    <p:sldLayoutId id="2147483764" r:id="rId80"/>
    <p:sldLayoutId id="2147483766" r:id="rId81"/>
    <p:sldLayoutId id="2147483767" r:id="rId82"/>
    <p:sldLayoutId id="2147483768" r:id="rId83"/>
    <p:sldLayoutId id="2147483775" r:id="rId8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866" b="1" kern="1200">
          <a:solidFill>
            <a:srgbClr val="3D393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F2120C"/>
        </a:buClr>
        <a:buFont typeface="Arial" panose="020B0604020202020204" pitchFamily="34" charset="0"/>
        <a:buChar char="•"/>
        <a:defRPr sz="2533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4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0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588" y="0"/>
            <a:ext cx="5027930" cy="454025"/>
          </a:xfrm>
          <a:custGeom>
            <a:avLst/>
            <a:gdLst/>
            <a:ahLst/>
            <a:cxnLst/>
            <a:rect l="l" t="t" r="r" b="b"/>
            <a:pathLst>
              <a:path w="5027930" h="454025">
                <a:moveTo>
                  <a:pt x="5027591" y="0"/>
                </a:moveTo>
                <a:lnTo>
                  <a:pt x="0" y="0"/>
                </a:lnTo>
                <a:lnTo>
                  <a:pt x="0" y="454025"/>
                </a:lnTo>
                <a:lnTo>
                  <a:pt x="4570413" y="454025"/>
                </a:lnTo>
                <a:lnTo>
                  <a:pt x="5027591" y="0"/>
                </a:lnTo>
                <a:close/>
              </a:path>
            </a:pathLst>
          </a:custGeom>
          <a:solidFill>
            <a:srgbClr val="E8E3DB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sp>
        <p:nvSpPr>
          <p:cNvPr id="17" name="bg object 17"/>
          <p:cNvSpPr/>
          <p:nvPr/>
        </p:nvSpPr>
        <p:spPr>
          <a:xfrm>
            <a:off x="4572001" y="6397624"/>
            <a:ext cx="4570730" cy="457200"/>
          </a:xfrm>
          <a:custGeom>
            <a:avLst/>
            <a:gdLst/>
            <a:ahLst/>
            <a:cxnLst/>
            <a:rect l="l" t="t" r="r" b="b"/>
            <a:pathLst>
              <a:path w="4570730" h="457200">
                <a:moveTo>
                  <a:pt x="4570412" y="0"/>
                </a:moveTo>
                <a:lnTo>
                  <a:pt x="460375" y="0"/>
                </a:lnTo>
                <a:lnTo>
                  <a:pt x="0" y="457199"/>
                </a:lnTo>
                <a:lnTo>
                  <a:pt x="4570412" y="457199"/>
                </a:lnTo>
                <a:lnTo>
                  <a:pt x="4570412" y="0"/>
                </a:lnTo>
                <a:close/>
              </a:path>
            </a:pathLst>
          </a:custGeom>
          <a:solidFill>
            <a:srgbClr val="E8E3DB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pic>
        <p:nvPicPr>
          <p:cNvPr id="18" name="bg 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399338" y="365127"/>
            <a:ext cx="1374775" cy="4857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4462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8455" y="1392429"/>
            <a:ext cx="8127091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1"/>
            <a:ext cx="29260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1"/>
            <a:ext cx="21031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2269" y="6556594"/>
            <a:ext cx="3729354" cy="11541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2542608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42900">
        <a:defRPr>
          <a:latin typeface="+mn-lt"/>
          <a:ea typeface="+mn-ea"/>
          <a:cs typeface="+mn-cs"/>
        </a:defRPr>
      </a:lvl2pPr>
      <a:lvl3pPr marL="685800">
        <a:defRPr>
          <a:latin typeface="+mn-lt"/>
          <a:ea typeface="+mn-ea"/>
          <a:cs typeface="+mn-cs"/>
        </a:defRPr>
      </a:lvl3pPr>
      <a:lvl4pPr marL="1028700">
        <a:defRPr>
          <a:latin typeface="+mn-lt"/>
          <a:ea typeface="+mn-ea"/>
          <a:cs typeface="+mn-cs"/>
        </a:defRPr>
      </a:lvl4pPr>
      <a:lvl5pPr marL="1371600">
        <a:defRPr>
          <a:latin typeface="+mn-lt"/>
          <a:ea typeface="+mn-ea"/>
          <a:cs typeface="+mn-cs"/>
        </a:defRPr>
      </a:lvl5pPr>
      <a:lvl6pPr marL="1714500">
        <a:defRPr>
          <a:latin typeface="+mn-lt"/>
          <a:ea typeface="+mn-ea"/>
          <a:cs typeface="+mn-cs"/>
        </a:defRPr>
      </a:lvl6pPr>
      <a:lvl7pPr marL="2057400">
        <a:defRPr>
          <a:latin typeface="+mn-lt"/>
          <a:ea typeface="+mn-ea"/>
          <a:cs typeface="+mn-cs"/>
        </a:defRPr>
      </a:lvl7pPr>
      <a:lvl8pPr marL="2400300">
        <a:defRPr>
          <a:latin typeface="+mn-lt"/>
          <a:ea typeface="+mn-ea"/>
          <a:cs typeface="+mn-cs"/>
        </a:defRPr>
      </a:lvl8pPr>
      <a:lvl9pPr marL="27432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42900">
        <a:defRPr>
          <a:latin typeface="+mn-lt"/>
          <a:ea typeface="+mn-ea"/>
          <a:cs typeface="+mn-cs"/>
        </a:defRPr>
      </a:lvl2pPr>
      <a:lvl3pPr marL="685800">
        <a:defRPr>
          <a:latin typeface="+mn-lt"/>
          <a:ea typeface="+mn-ea"/>
          <a:cs typeface="+mn-cs"/>
        </a:defRPr>
      </a:lvl3pPr>
      <a:lvl4pPr marL="1028700">
        <a:defRPr>
          <a:latin typeface="+mn-lt"/>
          <a:ea typeface="+mn-ea"/>
          <a:cs typeface="+mn-cs"/>
        </a:defRPr>
      </a:lvl4pPr>
      <a:lvl5pPr marL="1371600">
        <a:defRPr>
          <a:latin typeface="+mn-lt"/>
          <a:ea typeface="+mn-ea"/>
          <a:cs typeface="+mn-cs"/>
        </a:defRPr>
      </a:lvl5pPr>
      <a:lvl6pPr marL="1714500">
        <a:defRPr>
          <a:latin typeface="+mn-lt"/>
          <a:ea typeface="+mn-ea"/>
          <a:cs typeface="+mn-cs"/>
        </a:defRPr>
      </a:lvl6pPr>
      <a:lvl7pPr marL="2057400">
        <a:defRPr>
          <a:latin typeface="+mn-lt"/>
          <a:ea typeface="+mn-ea"/>
          <a:cs typeface="+mn-cs"/>
        </a:defRPr>
      </a:lvl7pPr>
      <a:lvl8pPr marL="2400300">
        <a:defRPr>
          <a:latin typeface="+mn-lt"/>
          <a:ea typeface="+mn-ea"/>
          <a:cs typeface="+mn-cs"/>
        </a:defRPr>
      </a:lvl8pPr>
      <a:lvl9pPr marL="2743200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DAB3A-0A22-D024-CB1E-FB00658BE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D3B34-6582-BD11-4D42-366502C70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8C151-0A35-D9DB-7435-13417BC8F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A40DC-3820-4F90-B4E8-98BE2140A65D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A9709-41CF-642F-7858-53BE89DAE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F23B-D3DD-D490-A64F-7E733F664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70853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78" r:id="rId2"/>
    <p:sldLayoutId id="2147483779" r:id="rId3"/>
    <p:sldLayoutId id="2147483780" r:id="rId4"/>
    <p:sldLayoutId id="2147483781" r:id="rId5"/>
    <p:sldLayoutId id="2147483782" r:id="rId6"/>
    <p:sldLayoutId id="2147483783" r:id="rId7"/>
    <p:sldLayoutId id="2147483784" r:id="rId8"/>
    <p:sldLayoutId id="2147483785" r:id="rId9"/>
    <p:sldLayoutId id="2147483786" r:id="rId10"/>
    <p:sldLayoutId id="214748378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31.png"/><Relationship Id="rId4" Type="http://schemas.openxmlformats.org/officeDocument/2006/relationships/notesSlide" Target="../notesSlides/notesSlide2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31.png"/><Relationship Id="rId4" Type="http://schemas.openxmlformats.org/officeDocument/2006/relationships/notesSlide" Target="../notesSlides/notesSlide3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31.png"/><Relationship Id="rId4" Type="http://schemas.openxmlformats.org/officeDocument/2006/relationships/notesSlide" Target="../notesSlides/notesSlide4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9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8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84.xml"/><Relationship Id="rId4" Type="http://schemas.openxmlformats.org/officeDocument/2006/relationships/hyperlink" Target="https://github.com/FarshidKeivanian" TargetMode="Externa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ACF62-ED9D-4C0F-A976-E9C35DDB3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630" y="336331"/>
            <a:ext cx="4373370" cy="2734885"/>
          </a:xfrm>
        </p:spPr>
        <p:txBody>
          <a:bodyPr/>
          <a:lstStyle/>
          <a:p>
            <a:r>
              <a:rPr lang="en-US" sz="3400" dirty="0"/>
              <a:t>Small-scale database implementation – Query By Example (QBE)</a:t>
            </a:r>
            <a:endParaRPr lang="en-AU" sz="3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EDDFE-62E7-4B7A-B286-FF3EA6C17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288" y="3893642"/>
            <a:ext cx="3867150" cy="447675"/>
          </a:xfrm>
        </p:spPr>
        <p:txBody>
          <a:bodyPr/>
          <a:lstStyle/>
          <a:p>
            <a:r>
              <a:rPr lang="en-AU" sz="2000" b="1" dirty="0"/>
              <a:t>Week 6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DAEE5F-D393-479E-8BB0-2D5C057945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Dr. Farshid Keivanian</a:t>
            </a:r>
          </a:p>
        </p:txBody>
      </p:sp>
    </p:spTree>
    <p:extLst>
      <p:ext uri="{BB962C8B-B14F-4D97-AF65-F5344CB8AC3E}">
        <p14:creationId xmlns:p14="http://schemas.microsoft.com/office/powerpoint/2010/main" val="581688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646AD0-6036-4879-B5D7-F60847E332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Faculty of Business and Law | Peter Faber Business School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78C77-E952-41E0-8B40-BAC1771F8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14796BC-CEFD-189B-E9D1-5A9CBE8BAF7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Week 6 Outline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EE6214-3988-BA86-3529-05DB78221CDF}"/>
              </a:ext>
            </a:extLst>
          </p:cNvPr>
          <p:cNvSpPr txBox="1"/>
          <p:nvPr/>
        </p:nvSpPr>
        <p:spPr>
          <a:xfrm>
            <a:off x="11875" y="528318"/>
            <a:ext cx="9120249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Query by Example (QBE) in Access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1: Create </a:t>
            </a:r>
            <a:r>
              <a:rPr lang="en-US" sz="2400" dirty="0" err="1">
                <a:latin typeface="Calibir"/>
              </a:rPr>
              <a:t>QRY_CustomerCity</a:t>
            </a:r>
            <a:endParaRPr lang="en-US" sz="2400" dirty="0">
              <a:latin typeface="Calibir"/>
            </a:endParaRP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Adding Criteria to Queries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2: Filter Reservations by Date &amp; Day (OR)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Building Flexible Queries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3: Count Customers per </a:t>
            </a:r>
            <a:r>
              <a:rPr lang="en-US" sz="2400" dirty="0" err="1">
                <a:latin typeface="Calibir"/>
              </a:rPr>
              <a:t>ClassType</a:t>
            </a:r>
            <a:r>
              <a:rPr lang="en-US" sz="2400" dirty="0">
                <a:latin typeface="Calibir"/>
              </a:rPr>
              <a:t> 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Action Queries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4: Update “Cardio” Prices (+10%)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Research / Debate Questions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Preparation for Tutorial Week 6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Review and Feedback on Tutorial Week 4 and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BC55C3C-1C70-4B05-DCEF-7BC510781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59A7F4-72EE-787C-9315-6B43A6FF78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87ED2A-D90D-9FF9-7659-CD0E5643E0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F5CC17E-1EEA-6DF1-8B95-4FFA28C844F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Query by Example (QBE) in Access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C573C5-EDA9-F7CB-5DAD-074958321411}"/>
              </a:ext>
            </a:extLst>
          </p:cNvPr>
          <p:cNvSpPr txBox="1"/>
          <p:nvPr/>
        </p:nvSpPr>
        <p:spPr>
          <a:xfrm>
            <a:off x="0" y="667974"/>
            <a:ext cx="912024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Query By Example (QBE) lets you build queries visually in Access without writing SQL.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It’s beginner-friendly—just drag and drop fields instead of coding.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Think of it like Excel filters with criteria, but in Access you can save and reuse it.</a:t>
            </a:r>
          </a:p>
        </p:txBody>
      </p:sp>
    </p:spTree>
    <p:extLst>
      <p:ext uri="{BB962C8B-B14F-4D97-AF65-F5344CB8AC3E}">
        <p14:creationId xmlns:p14="http://schemas.microsoft.com/office/powerpoint/2010/main" val="2228658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EA88F4B-D635-5262-43BE-F9E420DFD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CEE21A-31DD-D532-464C-68D8C86DE4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C14F9-9CF0-1060-72AE-E1A011993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32C24E5-224C-CF87-9E8E-965312966D8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Query by Example (QBE) in Access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687A56-0E8F-0A8D-A3C3-B4819909AC0A}"/>
              </a:ext>
            </a:extLst>
          </p:cNvPr>
          <p:cNvSpPr txBox="1"/>
          <p:nvPr/>
        </p:nvSpPr>
        <p:spPr>
          <a:xfrm>
            <a:off x="0" y="667974"/>
            <a:ext cx="9120249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 (Pitt Fitness DB):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Download Pitt Fitness DB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EFE125-0E6F-361E-D6C4-0800280686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448" t="18071" r="13219" b="37586"/>
          <a:stretch>
            <a:fillRect/>
          </a:stretch>
        </p:blipFill>
        <p:spPr>
          <a:xfrm>
            <a:off x="23751" y="2250530"/>
            <a:ext cx="9120249" cy="3280950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988649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9839F26-ED70-ED54-12B1-85546D7BE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5A3841-9B08-AA3E-935B-9A186F19AD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62FF5-9AF5-431E-FCEB-E7EF8D1213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024A6C3-A86E-1AE7-3EB6-A93B4B8748A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Query by Example (QBE) in Access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D53D7B-C668-8D49-D167-21F04248D857}"/>
              </a:ext>
            </a:extLst>
          </p:cNvPr>
          <p:cNvSpPr txBox="1"/>
          <p:nvPr/>
        </p:nvSpPr>
        <p:spPr>
          <a:xfrm>
            <a:off x="1" y="667974"/>
            <a:ext cx="5297213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 (Pitt Fitness DB):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Open Create → Query Design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EEC575-ABBA-9283-ED4A-A63FBE776C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391" b="45964"/>
          <a:stretch>
            <a:fillRect/>
          </a:stretch>
        </p:blipFill>
        <p:spPr>
          <a:xfrm>
            <a:off x="5297214" y="1077967"/>
            <a:ext cx="3846785" cy="36990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9CC71A2-8A84-8C17-B503-DBC8E4C10F2A}"/>
              </a:ext>
            </a:extLst>
          </p:cNvPr>
          <p:cNvSpPr/>
          <p:nvPr/>
        </p:nvSpPr>
        <p:spPr>
          <a:xfrm>
            <a:off x="6789684" y="4246179"/>
            <a:ext cx="1303283" cy="35735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934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0598429-9FCC-8534-8A70-033D8119F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314AC0-1E1C-C507-8903-FE5306B28E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299" t="3359" r="51379" b="43308"/>
          <a:stretch>
            <a:fillRect/>
          </a:stretch>
        </p:blipFill>
        <p:spPr>
          <a:xfrm>
            <a:off x="4614040" y="515007"/>
            <a:ext cx="4529959" cy="374151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58D0A7-6D0F-B1FD-99C9-287816ACD8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10BB3-19EF-81D7-4FB8-97E65E9960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300B8BE-16F5-ABD2-C3B0-6E7EC2806F2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Query by Example (QBE) in Access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B1C3F3D-CF61-F107-DDF7-63DFE7D4B38C}"/>
              </a:ext>
            </a:extLst>
          </p:cNvPr>
          <p:cNvSpPr/>
          <p:nvPr/>
        </p:nvSpPr>
        <p:spPr>
          <a:xfrm>
            <a:off x="5062926" y="1524001"/>
            <a:ext cx="1295831" cy="256984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2EE2C4B-C937-14AA-453A-096711C3C89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6781" b="50000"/>
          <a:stretch>
            <a:fillRect/>
          </a:stretch>
        </p:blipFill>
        <p:spPr>
          <a:xfrm>
            <a:off x="5192110" y="4286250"/>
            <a:ext cx="3951890" cy="2571750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3BA2002-864A-739C-6ABB-5399E4E49765}"/>
              </a:ext>
            </a:extLst>
          </p:cNvPr>
          <p:cNvSpPr/>
          <p:nvPr/>
        </p:nvSpPr>
        <p:spPr>
          <a:xfrm>
            <a:off x="8250621" y="5370785"/>
            <a:ext cx="767254" cy="25224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DE7A213-0080-CF65-C82B-2F431CBE6E56}"/>
              </a:ext>
            </a:extLst>
          </p:cNvPr>
          <p:cNvCxnSpPr>
            <a:cxnSpLocks/>
            <a:stCxn id="5" idx="1"/>
            <a:endCxn id="10" idx="1"/>
          </p:cNvCxnSpPr>
          <p:nvPr/>
        </p:nvCxnSpPr>
        <p:spPr>
          <a:xfrm rot="10800000" flipH="1" flipV="1">
            <a:off x="4614040" y="2385765"/>
            <a:ext cx="578070" cy="3186359"/>
          </a:xfrm>
          <a:prstGeom prst="bentConnector3">
            <a:avLst>
              <a:gd name="adj1" fmla="val -39545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58898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9AED1AD-C133-4C0D-6DBE-46B6B6922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F5D7E7-72B1-E7B4-25D3-50A4554068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F20A2-BDFC-1DD9-B60B-04ED8BE7C3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32CB394-CB03-13D0-59FF-A8723C9C3E3F}"/>
              </a:ext>
            </a:extLst>
          </p:cNvPr>
          <p:cNvSpPr/>
          <p:nvPr/>
        </p:nvSpPr>
        <p:spPr>
          <a:xfrm>
            <a:off x="7080912" y="2511973"/>
            <a:ext cx="1295831" cy="256984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94490B4-ADBF-0225-E415-7A951CF97E97}"/>
              </a:ext>
            </a:extLst>
          </p:cNvPr>
          <p:cNvSpPr/>
          <p:nvPr/>
        </p:nvSpPr>
        <p:spPr>
          <a:xfrm>
            <a:off x="7599586" y="4530516"/>
            <a:ext cx="197714" cy="17046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643312F2-665A-735D-5655-FEB1F4363195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88130" y="2044916"/>
            <a:ext cx="604586" cy="1253327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156BF45-EA9F-933D-5446-7C9A20BC2BB9}"/>
              </a:ext>
            </a:extLst>
          </p:cNvPr>
          <p:cNvSpPr/>
          <p:nvPr/>
        </p:nvSpPr>
        <p:spPr>
          <a:xfrm>
            <a:off x="7646031" y="4705873"/>
            <a:ext cx="678161" cy="33909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DFF3ADE-A5B3-6E5D-35BF-E2D7827E14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Query by Example (QBE) in Access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2F1B5D-E2FA-21C7-CDB4-57284C7144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314"/>
          <a:stretch>
            <a:fillRect/>
          </a:stretch>
        </p:blipFill>
        <p:spPr>
          <a:xfrm>
            <a:off x="0" y="1103471"/>
            <a:ext cx="9144000" cy="481872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2343FE4-5E7C-45E9-C8D4-B962299C96BE}"/>
              </a:ext>
            </a:extLst>
          </p:cNvPr>
          <p:cNvSpPr txBox="1"/>
          <p:nvPr/>
        </p:nvSpPr>
        <p:spPr>
          <a:xfrm>
            <a:off x="0" y="3751366"/>
            <a:ext cx="2888166" cy="195703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On the top menu, go to Create → Query Design.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0B5F7E7-7A5F-B073-8716-85C418AC01C0}"/>
              </a:ext>
            </a:extLst>
          </p:cNvPr>
          <p:cNvSpPr/>
          <p:nvPr/>
        </p:nvSpPr>
        <p:spPr>
          <a:xfrm>
            <a:off x="1966344" y="1590966"/>
            <a:ext cx="308506" cy="53891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74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13F4422-6154-64AD-8030-C7B2A8DD7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BFC51E-1810-7806-E5A9-4ABFAE282F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314"/>
          <a:stretch>
            <a:fillRect/>
          </a:stretch>
        </p:blipFill>
        <p:spPr>
          <a:xfrm>
            <a:off x="0" y="857250"/>
            <a:ext cx="9144000" cy="4818721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B997D3-4251-CEB8-4807-103B5BDD0A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8BC7A1-EC14-0B12-52D0-B07C7284E2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38F2C29-9759-67D9-DA61-95FA8D38F430}"/>
              </a:ext>
            </a:extLst>
          </p:cNvPr>
          <p:cNvSpPr/>
          <p:nvPr/>
        </p:nvSpPr>
        <p:spPr>
          <a:xfrm>
            <a:off x="7698443" y="2977632"/>
            <a:ext cx="1295831" cy="17046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9FC9047-05DE-493E-8524-E38F21E7F9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Query by Example (QBE) in Access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8B3330-5B08-00A4-6677-19D060CED30A}"/>
              </a:ext>
            </a:extLst>
          </p:cNvPr>
          <p:cNvSpPr txBox="1"/>
          <p:nvPr/>
        </p:nvSpPr>
        <p:spPr>
          <a:xfrm>
            <a:off x="0" y="3751366"/>
            <a:ext cx="2888166" cy="131818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Double Click Customers</a:t>
            </a:r>
          </a:p>
        </p:txBody>
      </p:sp>
    </p:spTree>
    <p:extLst>
      <p:ext uri="{BB962C8B-B14F-4D97-AF65-F5344CB8AC3E}">
        <p14:creationId xmlns:p14="http://schemas.microsoft.com/office/powerpoint/2010/main" val="3651720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1ADD407-7A99-FA1F-1B8D-30DBBF75D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E40E002-E577-1C6D-0602-919568DD50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314"/>
          <a:stretch>
            <a:fillRect/>
          </a:stretch>
        </p:blipFill>
        <p:spPr>
          <a:xfrm>
            <a:off x="0" y="857250"/>
            <a:ext cx="9144000" cy="4818721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ECE4FB-BB03-EC19-6EC3-2C53D49F5C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44709-A7B0-F0C1-211E-8C2AF4E37C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A0A600E-BA26-5671-1A89-E9CEF88883E2}"/>
              </a:ext>
            </a:extLst>
          </p:cNvPr>
          <p:cNvSpPr/>
          <p:nvPr/>
        </p:nvSpPr>
        <p:spPr>
          <a:xfrm>
            <a:off x="7698443" y="2977632"/>
            <a:ext cx="1295831" cy="17046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E62CCE7-71D4-3F5F-D79C-A7104E28563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Query by Example (QBE) in Access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03FCE1-68D1-16B4-6678-5B9C409C7C34}"/>
              </a:ext>
            </a:extLst>
          </p:cNvPr>
          <p:cNvSpPr txBox="1"/>
          <p:nvPr/>
        </p:nvSpPr>
        <p:spPr>
          <a:xfrm>
            <a:off x="16352" y="3148100"/>
            <a:ext cx="2983325" cy="390350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We’ll see the Query Design View with the grid at the bottom (rows for Field, Table, Sort, Show, Criteria).</a:t>
            </a:r>
          </a:p>
        </p:txBody>
      </p:sp>
    </p:spTree>
    <p:extLst>
      <p:ext uri="{BB962C8B-B14F-4D97-AF65-F5344CB8AC3E}">
        <p14:creationId xmlns:p14="http://schemas.microsoft.com/office/powerpoint/2010/main" val="456635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4894BB4-789B-1BF0-04E7-589562C95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4AB909-78DB-0598-2D4C-55C1C5D700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0102B-96E6-5831-AFA7-8D9B90400A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7755C8A-AADB-C577-1325-DA4E694C82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Query by Example (QBE) in Access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1D9B8D-BA1D-140D-749B-403BE2FBF8D0}"/>
              </a:ext>
            </a:extLst>
          </p:cNvPr>
          <p:cNvSpPr txBox="1"/>
          <p:nvPr/>
        </p:nvSpPr>
        <p:spPr>
          <a:xfrm>
            <a:off x="-1" y="857251"/>
            <a:ext cx="2821259" cy="26108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Press Ctrl and Select CustomerID and LastName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4195430-D1A9-8780-BF8E-03F7D31CD9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1829" b="18672"/>
          <a:stretch>
            <a:fillRect/>
          </a:stretch>
        </p:blipFill>
        <p:spPr>
          <a:xfrm>
            <a:off x="2926820" y="857251"/>
            <a:ext cx="6217179" cy="5904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5826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5C3F185-A7B7-E642-588C-FA530B75F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9FF374-0998-B0DA-FD09-16952544AB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A7BB2-1125-73CB-3D11-41985BD1E3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9DB86C7-D467-EFDD-F4EA-EAB99B6C0B8A}"/>
              </a:ext>
            </a:extLst>
          </p:cNvPr>
          <p:cNvSpPr/>
          <p:nvPr/>
        </p:nvSpPr>
        <p:spPr>
          <a:xfrm>
            <a:off x="7698443" y="2977632"/>
            <a:ext cx="1295831" cy="17046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83B6BC2-7C62-1480-7918-FD1A23F4BD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Query by Example (QBE) in Access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3988B8-4510-FFE2-D7BE-3058E98554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626" b="5866"/>
          <a:stretch>
            <a:fillRect/>
          </a:stretch>
        </p:blipFill>
        <p:spPr>
          <a:xfrm>
            <a:off x="2821258" y="857250"/>
            <a:ext cx="6322742" cy="49691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60E95B-19F6-B684-59BA-C7E066A252DD}"/>
              </a:ext>
            </a:extLst>
          </p:cNvPr>
          <p:cNvSpPr txBox="1"/>
          <p:nvPr/>
        </p:nvSpPr>
        <p:spPr>
          <a:xfrm>
            <a:off x="-1" y="857251"/>
            <a:ext cx="2821259" cy="325717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 them from the Customers table into the grid.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1EE0C287-A83E-3ED1-632E-59074D7D3828}"/>
              </a:ext>
            </a:extLst>
          </p:cNvPr>
          <p:cNvCxnSpPr/>
          <p:nvPr/>
        </p:nvCxnSpPr>
        <p:spPr>
          <a:xfrm rot="16200000" flipH="1">
            <a:off x="3172523" y="3061009"/>
            <a:ext cx="1750741" cy="602166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1313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801C7C7-F574-C9FF-5489-AF2F35F6A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D57AA-6509-BBAD-960B-25B86B7A8A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7A019-2B83-3A34-A645-839A4555B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EBED15A-19AF-06BF-0BDF-2FD0F2DB2D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Query by Example (QBE) in Access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E7EDCEC-4C96-5704-BA91-6D62B292A7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073" t="20406" r="47561" b="23008"/>
          <a:stretch>
            <a:fillRect/>
          </a:stretch>
        </p:blipFill>
        <p:spPr>
          <a:xfrm>
            <a:off x="2926821" y="857250"/>
            <a:ext cx="3128291" cy="4889127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C1571F-69C1-AA92-3F82-9EE96A186F29}"/>
              </a:ext>
            </a:extLst>
          </p:cNvPr>
          <p:cNvSpPr/>
          <p:nvPr/>
        </p:nvSpPr>
        <p:spPr>
          <a:xfrm>
            <a:off x="2926821" y="4527395"/>
            <a:ext cx="3128291" cy="535259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307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412B323-B55C-C06F-2CEA-60655DACA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2A7F5E-DEF0-0A47-B1A7-4EBC058A84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5AE591-7043-6CDB-4370-832FBF162A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0BD3FC1-CCAD-2BB2-F679-C2277651341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Query by Example (QBE) in Access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47FDC9-D417-F77F-011A-6E9945110E13}"/>
              </a:ext>
            </a:extLst>
          </p:cNvPr>
          <p:cNvSpPr txBox="1"/>
          <p:nvPr/>
        </p:nvSpPr>
        <p:spPr>
          <a:xfrm>
            <a:off x="0" y="950628"/>
            <a:ext cx="2821259" cy="260808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Under Sort for LastName → select Ascending.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4ACA36-EBF0-1704-AD7E-6224A43A3EE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683" b="21924"/>
          <a:stretch>
            <a:fillRect/>
          </a:stretch>
        </p:blipFill>
        <p:spPr>
          <a:xfrm>
            <a:off x="2926821" y="950628"/>
            <a:ext cx="6217179" cy="5219025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E55A6A-61FB-6ABD-7CDB-D14D3EA1E17A}"/>
              </a:ext>
            </a:extLst>
          </p:cNvPr>
          <p:cNvSpPr/>
          <p:nvPr/>
        </p:nvSpPr>
        <p:spPr>
          <a:xfrm>
            <a:off x="8109774" y="5631366"/>
            <a:ext cx="1034226" cy="17842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6199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2178521-A723-C6F5-1242-385BD462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C3CCE82-AFE1-5DB7-EED0-25FB17DC43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561" b="24960"/>
          <a:stretch>
            <a:fillRect/>
          </a:stretch>
        </p:blipFill>
        <p:spPr>
          <a:xfrm>
            <a:off x="2926820" y="950628"/>
            <a:ext cx="6217179" cy="5004468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B7FDE8-46D1-A835-F2F9-DC95958ED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26E5B-3D14-12D9-7732-1D4C323F0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062D811-4B39-EB9C-5FD3-B828471B0C9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Query by Example (QBE) in Access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BA032B-CD7B-B310-BF9E-CE05228EC340}"/>
              </a:ext>
            </a:extLst>
          </p:cNvPr>
          <p:cNvSpPr txBox="1"/>
          <p:nvPr/>
        </p:nvSpPr>
        <p:spPr>
          <a:xfrm>
            <a:off x="0" y="950628"/>
            <a:ext cx="2821259" cy="196175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Click Run (red !) to see results.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AA671C8-CA7B-6031-AC24-A443C415B7BF}"/>
              </a:ext>
            </a:extLst>
          </p:cNvPr>
          <p:cNvSpPr/>
          <p:nvPr/>
        </p:nvSpPr>
        <p:spPr>
          <a:xfrm>
            <a:off x="3407682" y="1594625"/>
            <a:ext cx="406035" cy="61331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112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A7D7863-9EC8-44E0-2FDC-5BD0BBCA1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AD5E13-CB8C-D084-F0D3-745D1C3D87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ECF72-44A4-8C7F-156C-61FF379CCB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8262481-B22B-A89F-9C18-A85A6999F5B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Create </a:t>
            </a:r>
            <a:r>
              <a:rPr lang="en-US" sz="3200" dirty="0" err="1"/>
              <a:t>QRY_CustomerCity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E05756-85DF-3713-2CDB-EDDC2E2193E3}"/>
              </a:ext>
            </a:extLst>
          </p:cNvPr>
          <p:cNvSpPr txBox="1"/>
          <p:nvPr/>
        </p:nvSpPr>
        <p:spPr>
          <a:xfrm>
            <a:off x="0" y="892097"/>
            <a:ext cx="898788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Task:</a:t>
            </a:r>
            <a:r>
              <a:rPr lang="en-US" sz="2800" dirty="0">
                <a:latin typeface="Calibir"/>
              </a:rPr>
              <a:t> Build and save a query that shows LastName and City, sorted A–Z by LastName (3-4 minutes)</a:t>
            </a:r>
          </a:p>
        </p:txBody>
      </p:sp>
    </p:spTree>
    <p:extLst>
      <p:ext uri="{BB962C8B-B14F-4D97-AF65-F5344CB8AC3E}">
        <p14:creationId xmlns:p14="http://schemas.microsoft.com/office/powerpoint/2010/main" val="2299558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A7D7863-9EC8-44E0-2FDC-5BD0BBCA1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AD5E13-CB8C-D084-F0D3-745D1C3D87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ECF72-44A4-8C7F-156C-61FF379CCB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8262481-B22B-A89F-9C18-A85A6999F5B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Create </a:t>
            </a:r>
            <a:r>
              <a:rPr lang="en-US" sz="3200" dirty="0" err="1"/>
              <a:t>QRY_CustomerCity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E76E309-933D-19EC-39DD-4941A4475A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10578"/>
            <a:ext cx="9144000" cy="67185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14350" marR="0" lvl="0" indent="-5143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Go to Create → Query Design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92BD84-C31C-B8A3-7200-9532CCA017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4147" b="50000"/>
          <a:stretch>
            <a:fillRect/>
          </a:stretch>
        </p:blipFill>
        <p:spPr>
          <a:xfrm>
            <a:off x="2988527" y="2200910"/>
            <a:ext cx="6155473" cy="3099576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BF9B7FB-9DB0-FC80-8234-1E562ACA69AE}"/>
              </a:ext>
            </a:extLst>
          </p:cNvPr>
          <p:cNvSpPr/>
          <p:nvPr/>
        </p:nvSpPr>
        <p:spPr>
          <a:xfrm>
            <a:off x="5358581" y="2779244"/>
            <a:ext cx="363793" cy="776749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5412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5259624-3C94-391A-087A-173C86DD4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428D11-1554-45B6-A5D3-92ACAAA597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C2F0C-23E5-8CFF-C99E-0E2389EF9E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7D7B20-54CB-3E13-E3F0-3A2CB20FCF3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Create </a:t>
            </a:r>
            <a:r>
              <a:rPr lang="en-US" sz="3200" dirty="0" err="1"/>
              <a:t>QRY_CustomerCity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96D63A1-83E7-9DA4-D272-207AC1E410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352353"/>
            <a:ext cx="9144000" cy="66909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2"/>
            </a:pPr>
            <a:r>
              <a:rPr lang="en-US" sz="2800" dirty="0">
                <a:latin typeface="Calibir"/>
              </a:rPr>
              <a:t>In Show Table, double-click Customers → Close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CE3165-0A02-55B4-D600-0F1C63A301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5413"/>
          <a:stretch>
            <a:fillRect/>
          </a:stretch>
        </p:blipFill>
        <p:spPr>
          <a:xfrm>
            <a:off x="363793" y="2379993"/>
            <a:ext cx="8416413" cy="447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9771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D4CB215-50A8-A1AE-3445-05ED3C5AE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8AD7E201-0C0E-B6A9-03E6-03129F39F9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572"/>
          <a:stretch>
            <a:fillRect/>
          </a:stretch>
        </p:blipFill>
        <p:spPr>
          <a:xfrm>
            <a:off x="0" y="2579411"/>
            <a:ext cx="9144000" cy="393106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C3C048BE-EA92-A46E-0C63-0E1BA073E9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13775"/>
            <a:ext cx="9144000" cy="131542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sz="2800" dirty="0">
                <a:latin typeface="Calibir"/>
              </a:rPr>
              <a:t>In the top pane, drag LastName to the first column of the grid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BCF684-C3D5-E565-93D8-902F845E4A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CE140-F229-6EC5-BF0A-A1CDC4862E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70E01E7-A2C5-9E8A-4C47-57C63511E18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Create </a:t>
            </a:r>
            <a:r>
              <a:rPr lang="en-US" sz="3200" dirty="0" err="1"/>
              <a:t>QRY_CustomerCity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3586FDF-B8BB-6508-DC76-CC04CF8C31B4}"/>
              </a:ext>
            </a:extLst>
          </p:cNvPr>
          <p:cNvSpPr/>
          <p:nvPr/>
        </p:nvSpPr>
        <p:spPr>
          <a:xfrm>
            <a:off x="3097162" y="4303285"/>
            <a:ext cx="1229032" cy="1114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53A2ECBD-080B-1676-385A-99B05D14C756}"/>
              </a:ext>
            </a:extLst>
          </p:cNvPr>
          <p:cNvCxnSpPr>
            <a:cxnSpLocks/>
          </p:cNvCxnSpPr>
          <p:nvPr/>
        </p:nvCxnSpPr>
        <p:spPr>
          <a:xfrm rot="16200000" flipH="1">
            <a:off x="2629525" y="4792622"/>
            <a:ext cx="1525208" cy="589935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75709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378078B-3245-F368-D2CF-5EB86FEF1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04DE500-D260-B1D5-0D6B-B396BD6E96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707"/>
          <a:stretch>
            <a:fillRect/>
          </a:stretch>
        </p:blipFill>
        <p:spPr>
          <a:xfrm>
            <a:off x="471948" y="2229200"/>
            <a:ext cx="8200103" cy="425711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90251D02-3C25-07FD-A847-52AE415F1C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13775"/>
            <a:ext cx="9144000" cy="131542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sz="2800" dirty="0">
                <a:latin typeface="Calibir"/>
              </a:rPr>
              <a:t>In the top pane, drag LastName to the first column of the grid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270BF0-B385-9763-5229-C62C4AD0D8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3FE5F-9A49-145D-9C92-8DF6D2B0B9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F7C9C2F-9A47-5B59-62B4-F9CAB1878C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Create </a:t>
            </a:r>
            <a:r>
              <a:rPr lang="en-US" sz="3200" dirty="0" err="1"/>
              <a:t>QRY_CustomerCity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07050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2E01372-1E22-063C-D6C0-368312FB6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5F293642-366F-4FBD-3432-B821FA0A97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36941"/>
            <a:ext cx="9144000" cy="66909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4.    Drag City to the second column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8F2BCD-F261-3418-E9E6-02B4BDFF7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A1B14-C1AE-5DFE-E1F7-FA1A6579B1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8BE0BA-83D6-E6D4-4A9E-83B68CE60E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Create </a:t>
            </a:r>
            <a:r>
              <a:rPr lang="en-US" sz="3200" dirty="0" err="1"/>
              <a:t>QRY_CustomerCity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A0FE27-01D1-4D45-5B24-965BB145FF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603"/>
          <a:stretch>
            <a:fillRect/>
          </a:stretch>
        </p:blipFill>
        <p:spPr>
          <a:xfrm>
            <a:off x="249464" y="1920101"/>
            <a:ext cx="8645071" cy="459037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493D9F5-BB8B-7C80-8E19-F074A189115F}"/>
              </a:ext>
            </a:extLst>
          </p:cNvPr>
          <p:cNvSpPr/>
          <p:nvPr/>
        </p:nvSpPr>
        <p:spPr>
          <a:xfrm>
            <a:off x="4031226" y="4975123"/>
            <a:ext cx="737419" cy="36379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756CBF42-0F9C-8C92-6B9A-200284FCD04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486894" y="4013603"/>
            <a:ext cx="1157488" cy="737418"/>
          </a:xfrm>
          <a:prstGeom prst="bentConnector3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3826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8C1DB97-CC8B-CF76-2BEB-C162970E1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359EED8-D84F-1437-C00F-4ABB50E074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4146"/>
          <a:stretch>
            <a:fillRect/>
          </a:stretch>
        </p:blipFill>
        <p:spPr>
          <a:xfrm>
            <a:off x="0" y="2063652"/>
            <a:ext cx="9144000" cy="3901563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4DC88937-DE11-4940-9FCE-0B8EEDAF7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36941"/>
            <a:ext cx="9144000" cy="66909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5.    In the Sort row under LastName, choose Ascending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E22C96-CA4D-7992-E857-E661181988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AD6EC2-68AD-62F4-6F86-EE34D5B972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A7C3786-4BD1-FD08-756E-6F8ABD7B33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Create </a:t>
            </a:r>
            <a:r>
              <a:rPr lang="en-US" sz="3200" dirty="0" err="1"/>
              <a:t>QRY_CustomerCity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3742FC0-7630-1B19-2032-A00FB73493B3}"/>
              </a:ext>
            </a:extLst>
          </p:cNvPr>
          <p:cNvSpPr/>
          <p:nvPr/>
        </p:nvSpPr>
        <p:spPr>
          <a:xfrm>
            <a:off x="2936908" y="5309419"/>
            <a:ext cx="1113982" cy="65579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868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87A8E19-D967-D399-1764-F474E77DC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A8DD0CA-D8D4-E16B-C03B-D9B203468C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4146"/>
          <a:stretch>
            <a:fillRect/>
          </a:stretch>
        </p:blipFill>
        <p:spPr>
          <a:xfrm>
            <a:off x="0" y="2063652"/>
            <a:ext cx="9144000" cy="3901563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ABAC6262-8083-1E3A-46A3-45F9D83F76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36941"/>
            <a:ext cx="9144000" cy="66909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6.    Make sure Show is ticked for both fields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D48DC6-D44E-7EDA-B853-667328C3FA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3D06B-298B-B7EE-FB8C-30352BB2CC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55E509B-144A-8E26-0892-83776365C2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Create </a:t>
            </a:r>
            <a:r>
              <a:rPr lang="en-US" sz="3200" dirty="0" err="1"/>
              <a:t>QRY_CustomerCity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3CC495E-61E1-20FA-C2D8-AAE968381A87}"/>
              </a:ext>
            </a:extLst>
          </p:cNvPr>
          <p:cNvSpPr/>
          <p:nvPr/>
        </p:nvSpPr>
        <p:spPr>
          <a:xfrm>
            <a:off x="3559276" y="5692877"/>
            <a:ext cx="1209369" cy="11798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2407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431B8C2-211F-0B56-A2CA-569F282BA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E1BBB50-8C2C-9A0A-052F-28A8893F87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803"/>
          <a:stretch>
            <a:fillRect/>
          </a:stretch>
        </p:blipFill>
        <p:spPr>
          <a:xfrm>
            <a:off x="0" y="1830436"/>
            <a:ext cx="9144000" cy="4639283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B11366A5-47FF-F7AD-F570-CA87602CFA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36941"/>
            <a:ext cx="9144000" cy="66909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7.    Click Run (red !) to view results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9315F3-B691-CC7B-A51E-BAA11EE116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20897D-AA11-A2B3-0FB3-B5C5243059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FE56701-C856-ABAB-8825-0880DCC45C1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Create </a:t>
            </a:r>
            <a:r>
              <a:rPr lang="en-US" sz="3200" dirty="0" err="1"/>
              <a:t>QRY_CustomerCity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E6CD948-7163-E305-8151-EB0404763845}"/>
              </a:ext>
            </a:extLst>
          </p:cNvPr>
          <p:cNvSpPr/>
          <p:nvPr/>
        </p:nvSpPr>
        <p:spPr>
          <a:xfrm>
            <a:off x="393290" y="2332381"/>
            <a:ext cx="304802" cy="479645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609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6513427-61E6-098A-ABAF-EB81AD9E1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71B866-9FEF-A310-A6BA-0DDCCC5B03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382"/>
          <a:stretch>
            <a:fillRect/>
          </a:stretch>
        </p:blipFill>
        <p:spPr>
          <a:xfrm>
            <a:off x="196645" y="1951557"/>
            <a:ext cx="8750710" cy="4558914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76422017-AAD5-A370-1A40-7356EA0547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12398"/>
            <a:ext cx="9144000" cy="131818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8.   Click Save (ctrl + S), name the query </a:t>
            </a:r>
            <a:r>
              <a:rPr lang="en-US" sz="2800" dirty="0" err="1">
                <a:latin typeface="Calibir"/>
              </a:rPr>
              <a:t>QRY_CustomerCity</a:t>
            </a:r>
            <a:r>
              <a:rPr lang="en-US" sz="2800" dirty="0">
                <a:latin typeface="Calibir"/>
              </a:rPr>
              <a:t> → OK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A528BB-B60F-F0A6-BF88-A299656177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56C52-F2BB-AFE7-9039-0D4FD2D84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184B992-918A-E26A-2E3A-75FC9C37990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Create </a:t>
            </a:r>
            <a:r>
              <a:rPr lang="en-US" sz="3200" dirty="0" err="1"/>
              <a:t>QRY_CustomerCity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02607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D49C39E-28C1-4F8F-E758-23907B1CA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BA5C53-2998-E9FF-273F-0846F966EB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3086B-2990-BC7B-1CC0-47C26D4889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60588B3-6140-51A1-1C6E-9979C96C2C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Create </a:t>
            </a:r>
            <a:r>
              <a:rPr lang="en-US" sz="3200" dirty="0" err="1"/>
              <a:t>QRY_CustomerCity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1543CC-1B63-1F7E-8623-9D40FA109B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505"/>
          <a:stretch>
            <a:fillRect/>
          </a:stretch>
        </p:blipFill>
        <p:spPr>
          <a:xfrm>
            <a:off x="173420" y="1363274"/>
            <a:ext cx="8797159" cy="4676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9279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8B4C621-8825-A2D6-49BC-A75446690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6790FF-DAC8-D4A5-E0C8-6702BC21C9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26D68-1EF8-4BAA-3814-AB2B38CD94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BA33140-2591-9D8E-E5B0-A187F54374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1: Create </a:t>
            </a:r>
            <a:r>
              <a:rPr lang="en-US" sz="3200" dirty="0" err="1"/>
              <a:t>QRY_CustomerCity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5AA984-6C10-C10A-AE2C-0A117B0881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709"/>
          <a:stretch>
            <a:fillRect/>
          </a:stretch>
        </p:blipFill>
        <p:spPr>
          <a:xfrm>
            <a:off x="0" y="1236936"/>
            <a:ext cx="9144000" cy="4849867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3DEB4AE-2B27-7689-3680-6269586EE3BB}"/>
              </a:ext>
            </a:extLst>
          </p:cNvPr>
          <p:cNvSpPr/>
          <p:nvPr/>
        </p:nvSpPr>
        <p:spPr>
          <a:xfrm>
            <a:off x="4193628" y="2291256"/>
            <a:ext cx="1093075" cy="26275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3611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253A7B3-D487-6A1B-7A68-C905F119C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A3AC105-A7A1-C118-8C0A-49FAF97E6BD6}"/>
              </a:ext>
            </a:extLst>
          </p:cNvPr>
          <p:cNvSpPr txBox="1"/>
          <p:nvPr/>
        </p:nvSpPr>
        <p:spPr>
          <a:xfrm>
            <a:off x="0" y="267044"/>
            <a:ext cx="9144000" cy="648882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What: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Criteria = filters we add to a query.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Why: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They help us find only the records we want.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Analogy: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Like shopping online at Woolworths and filtering for </a:t>
            </a:r>
            <a:r>
              <a:rPr lang="en-US" sz="2800" i="1" dirty="0">
                <a:latin typeface="Calibir"/>
              </a:rPr>
              <a:t>“Milk under $5”</a:t>
            </a:r>
            <a:r>
              <a:rPr lang="en-US" sz="2800" dirty="0">
                <a:latin typeface="Calibir"/>
              </a:rPr>
              <a:t>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Examples: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Find products with </a:t>
            </a:r>
            <a:r>
              <a:rPr lang="en-US" sz="2800" b="1" dirty="0">
                <a:latin typeface="Calibir"/>
              </a:rPr>
              <a:t>Price &gt; 200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Find names starting with “M” → LIKE "M*"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0FB5F5-4762-9F69-A96A-3F153567EE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182555-5292-86A7-3595-99E144BC5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7A757C1-4424-D289-71A8-9CA17B7E759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78058"/>
            <a:ext cx="7348654" cy="557050"/>
          </a:xfrm>
        </p:spPr>
        <p:txBody>
          <a:bodyPr>
            <a:noAutofit/>
          </a:bodyPr>
          <a:lstStyle/>
          <a:p>
            <a:r>
              <a:rPr lang="en-US" sz="3200" dirty="0"/>
              <a:t>Adding Criteria to Queries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74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5DBCE86-E65B-399C-E903-39D3B7B3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C693E6-BB96-A224-3EB2-9B5EA9DABF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BD7FEA-AF1A-0A55-E11F-4CD5D7A7B1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B3376C6-CC52-844A-402E-95B33B9D46D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Filter Reservations by Date &amp; Day (OR)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C2B851-6EBA-7771-CF8C-E056239629AC}"/>
              </a:ext>
            </a:extLst>
          </p:cNvPr>
          <p:cNvSpPr txBox="1"/>
          <p:nvPr/>
        </p:nvSpPr>
        <p:spPr>
          <a:xfrm>
            <a:off x="0" y="1045599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Task: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Show customers who have a reservation on 1/7/2021, then filter to Wednesday OR Friday.</a:t>
            </a:r>
          </a:p>
        </p:txBody>
      </p:sp>
      <p:pic>
        <p:nvPicPr>
          <p:cNvPr id="7" name="Timer">
            <a:hlinkClick r:id="" action="ppaction://media"/>
            <a:extLst>
              <a:ext uri="{FF2B5EF4-FFF2-40B4-BE49-F238E27FC236}">
                <a16:creationId xmlns:a16="http://schemas.microsoft.com/office/drawing/2014/main" id="{9305C3FB-FC63-DAE2-B747-F2507D16395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0460" t="44636" r="41034" b="40447"/>
          <a:stretch>
            <a:fillRect/>
          </a:stretch>
        </p:blipFill>
        <p:spPr>
          <a:xfrm>
            <a:off x="3725917" y="3342289"/>
            <a:ext cx="1692166" cy="76725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713333400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0C13D61-3681-F41F-4EED-AEFB0C840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5FE4F5-E8DE-8810-99AE-5D0C33EA6B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C7ED5-F4D5-0E7F-8BCE-0091C9EDB6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38ED28B-FDD6-B4F4-2888-50358FD3E34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Filter Reservations by Date &amp; Day (OR)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537B15-5FE0-F0DC-BAF3-6DD862790281}"/>
              </a:ext>
            </a:extLst>
          </p:cNvPr>
          <p:cNvSpPr txBox="1"/>
          <p:nvPr/>
        </p:nvSpPr>
        <p:spPr>
          <a:xfrm>
            <a:off x="0" y="1962616"/>
            <a:ext cx="4188129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Create → Query Design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810D60-D492-1462-D85A-B8172F18D6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44905"/>
          <a:stretch>
            <a:fillRect/>
          </a:stretch>
        </p:blipFill>
        <p:spPr>
          <a:xfrm>
            <a:off x="4554414" y="2096181"/>
            <a:ext cx="4572000" cy="283380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631D8C8-599C-0FD6-C58A-4993FF138677}"/>
              </a:ext>
            </a:extLst>
          </p:cNvPr>
          <p:cNvSpPr/>
          <p:nvPr/>
        </p:nvSpPr>
        <p:spPr>
          <a:xfrm>
            <a:off x="6512167" y="2586960"/>
            <a:ext cx="310661" cy="63304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66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350DB79-5FAA-2A1C-6F59-D242E78D9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64ED42-3B21-BE78-2710-31D4CD6E86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AC850C-8F3E-5A56-26AE-92083E63F9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2D121FA-9AB7-E52D-BA3E-E50CD972A50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Filter Reservations by Date &amp; Day (OR)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996DE7-AD58-963C-7E57-21A259715E24}"/>
              </a:ext>
            </a:extLst>
          </p:cNvPr>
          <p:cNvSpPr txBox="1"/>
          <p:nvPr/>
        </p:nvSpPr>
        <p:spPr>
          <a:xfrm>
            <a:off x="0" y="1418487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2"/>
            </a:pPr>
            <a:r>
              <a:rPr lang="en-US" altLang="en-US" sz="2800" dirty="0">
                <a:latin typeface="Calibir"/>
              </a:rPr>
              <a:t>Add Customers and Reservations tables → Close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538C19-88B3-E6FF-DACA-BA70FA0CE9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322" b="22874"/>
          <a:stretch>
            <a:fillRect/>
          </a:stretch>
        </p:blipFill>
        <p:spPr>
          <a:xfrm>
            <a:off x="1492469" y="2234105"/>
            <a:ext cx="7651531" cy="3966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5362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08348FC-1514-AF9B-A4A4-92F9E79CD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06B21-0D46-D8E2-947A-1F60AF406F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21D37-36FC-F41D-F25F-F4580D1CCD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8EF53EA-DC1C-CE32-5562-D7493B843F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Filter Reservations by Date &amp; Day (OR)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2F3A02-7D57-83F2-0E35-B6F46C1621FB}"/>
              </a:ext>
            </a:extLst>
          </p:cNvPr>
          <p:cNvSpPr txBox="1"/>
          <p:nvPr/>
        </p:nvSpPr>
        <p:spPr>
          <a:xfrm>
            <a:off x="0" y="939261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sz="2800" dirty="0">
                <a:latin typeface="Calibir"/>
              </a:rPr>
              <a:t>Add fields to the grid: Drag LastName (Customers), Drag City (Customers)</a:t>
            </a:r>
            <a:endParaRPr lang="en-US" altLang="en-US" sz="2800" dirty="0">
              <a:latin typeface="Calibir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042CEC-D080-0DF0-4EC5-7482E8BE0862}"/>
              </a:ext>
            </a:extLst>
          </p:cNvPr>
          <p:cNvSpPr txBox="1"/>
          <p:nvPr/>
        </p:nvSpPr>
        <p:spPr>
          <a:xfrm>
            <a:off x="0" y="2885879"/>
            <a:ext cx="3079531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LastName and City (from Customers) → That shows </a:t>
            </a:r>
            <a:r>
              <a:rPr lang="en-US" sz="2800" i="1" dirty="0">
                <a:latin typeface="Calibir"/>
              </a:rPr>
              <a:t>who</a:t>
            </a:r>
            <a:r>
              <a:rPr lang="en-US" sz="2800" dirty="0">
                <a:latin typeface="Calibir"/>
              </a:rPr>
              <a:t> the customer is and </a:t>
            </a:r>
            <a:r>
              <a:rPr lang="en-US" sz="2800" i="1" dirty="0">
                <a:latin typeface="Calibir"/>
              </a:rPr>
              <a:t>where</a:t>
            </a:r>
            <a:r>
              <a:rPr lang="en-US" sz="2800" dirty="0">
                <a:latin typeface="Calibir"/>
              </a:rPr>
              <a:t> they live.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298EE64-0931-6057-FBA6-C1BF68DE00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3678" b="23691"/>
          <a:stretch>
            <a:fillRect/>
          </a:stretch>
        </p:blipFill>
        <p:spPr>
          <a:xfrm>
            <a:off x="3079531" y="2933043"/>
            <a:ext cx="6064469" cy="3924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7564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87772E0-091C-88DD-1EB7-0D7E2039D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4F9539-1218-804D-A5F3-71276E4E90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2F0066-CD6C-8912-9C18-6D55EA4D6E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BDF124-82A8-BE69-3D6B-9783787215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Filter Reservations by Date &amp; Day (OR)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9FE2BA-6849-C840-F93F-F6A4CF97E733}"/>
              </a:ext>
            </a:extLst>
          </p:cNvPr>
          <p:cNvSpPr txBox="1"/>
          <p:nvPr/>
        </p:nvSpPr>
        <p:spPr>
          <a:xfrm>
            <a:off x="0" y="892097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sz="2800" dirty="0">
                <a:latin typeface="Calibir"/>
              </a:rPr>
              <a:t>Drag </a:t>
            </a:r>
            <a:r>
              <a:rPr lang="en-US" sz="2800" dirty="0" err="1">
                <a:latin typeface="Calibir"/>
              </a:rPr>
              <a:t>ClassDate</a:t>
            </a:r>
            <a:r>
              <a:rPr lang="en-US" sz="2800" dirty="0">
                <a:latin typeface="Calibir"/>
              </a:rPr>
              <a:t> (Reservations) → this will act as the </a:t>
            </a:r>
            <a:r>
              <a:rPr lang="en-US" sz="2800" dirty="0" err="1">
                <a:latin typeface="Calibir"/>
              </a:rPr>
              <a:t>ReservationDate</a:t>
            </a:r>
            <a:endParaRPr lang="en-US" altLang="en-US" sz="2800" dirty="0">
              <a:latin typeface="Calibi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C7CF4B-90C5-617B-381C-66E035E463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00"/>
          <a:stretch>
            <a:fillRect/>
          </a:stretch>
        </p:blipFill>
        <p:spPr>
          <a:xfrm>
            <a:off x="189186" y="2188666"/>
            <a:ext cx="8765628" cy="466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780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1DAEDB8-DBE0-24B3-D3B0-BE446333F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1E502A-E20C-3EB1-91C2-9EC75DE695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CEAD21-6157-3607-04AB-4DEB9B1D55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CDDFFE8-9E8C-E6B0-0EFC-262F6BEFC79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Filter Reservations by Date &amp; Day (OR)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C2A359-AD0E-225C-70AB-9168524D4AD9}"/>
              </a:ext>
            </a:extLst>
          </p:cNvPr>
          <p:cNvSpPr txBox="1"/>
          <p:nvPr/>
        </p:nvSpPr>
        <p:spPr>
          <a:xfrm>
            <a:off x="0" y="892097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4.    In the Criteria row under </a:t>
            </a:r>
            <a:r>
              <a:rPr lang="en-US" sz="2800" dirty="0" err="1">
                <a:latin typeface="Calibir"/>
              </a:rPr>
              <a:t>ClassDate</a:t>
            </a:r>
            <a:r>
              <a:rPr lang="en-US" sz="2800" dirty="0">
                <a:latin typeface="Calibir"/>
              </a:rPr>
              <a:t> → type #02/01/2021#</a:t>
            </a:r>
            <a:endParaRPr lang="en-US" altLang="en-US" sz="2800" dirty="0">
              <a:latin typeface="Calibir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9BE4B9E-D906-01F2-4BF9-E20BF43AAF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708"/>
          <a:stretch>
            <a:fillRect/>
          </a:stretch>
        </p:blipFill>
        <p:spPr>
          <a:xfrm>
            <a:off x="0" y="1660604"/>
            <a:ext cx="9144000" cy="4849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1683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3EBE478-DB42-210B-A1EF-B35B522C3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0459AF-18E1-4BDC-ADFA-2C99C7149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31636E-D607-9A8F-F12B-0CD19AC6AF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99F1C61-D951-B8B4-A25B-F87350B5DC9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2"/>
            <a:ext cx="7348654" cy="892099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2: Filter Reservations by Date &amp; Day (OR)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C7DCA7-D014-FD7F-C83A-E49EB7A5BC51}"/>
              </a:ext>
            </a:extLst>
          </p:cNvPr>
          <p:cNvSpPr txBox="1"/>
          <p:nvPr/>
        </p:nvSpPr>
        <p:spPr>
          <a:xfrm>
            <a:off x="0" y="892097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5.   Run → we’ll see only customers who had reservations on that date</a:t>
            </a:r>
            <a:endParaRPr lang="en-US" altLang="en-US" sz="2800" dirty="0">
              <a:latin typeface="Calibi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6F517A-3EF3-5C90-F84F-7FC5B97D5B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00"/>
          <a:stretch>
            <a:fillRect/>
          </a:stretch>
        </p:blipFill>
        <p:spPr>
          <a:xfrm>
            <a:off x="209472" y="2210278"/>
            <a:ext cx="8725056" cy="4647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3180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0672CF3-740F-DBBA-092E-37E704C77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4FD31C-0EDF-12F7-339D-AC03117DB5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DFBD89-9133-FEB6-C93D-55BCC00FF7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CC6A747-05E5-085B-D30F-A94C6001D6A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483478"/>
          </a:xfrm>
        </p:spPr>
        <p:txBody>
          <a:bodyPr>
            <a:noAutofit/>
          </a:bodyPr>
          <a:lstStyle/>
          <a:p>
            <a:r>
              <a:rPr lang="en-US" sz="3200" dirty="0"/>
              <a:t>Building Flexible Queries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54E6C4-A7B7-B124-2766-C32AB7C6D02D}"/>
              </a:ext>
            </a:extLst>
          </p:cNvPr>
          <p:cNvSpPr txBox="1"/>
          <p:nvPr/>
        </p:nvSpPr>
        <p:spPr>
          <a:xfrm>
            <a:off x="0" y="1040525"/>
            <a:ext cx="8986344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What: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Use Totals, Grouping, and Expressions in queries.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Why: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To get summaries (not just raw data).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Analogy: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Like making a Pivot Table in Excel.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Example: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Count how many customers are in each </a:t>
            </a:r>
            <a:r>
              <a:rPr lang="en-US" sz="2800" dirty="0" err="1">
                <a:latin typeface="Calibir"/>
              </a:rPr>
              <a:t>ClassType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7933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F1C4322-A2BD-23F0-94F9-95B964D7F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5212D4-C94B-3FC3-FDF8-A62ADB2DAA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56C08-6A97-5949-C958-5B44A4285B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2FE0E95-82A0-5A45-DECD-8B3A13C7E7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3: Count Customers per </a:t>
            </a:r>
            <a:r>
              <a:rPr lang="en-US" sz="3200" dirty="0" err="1"/>
              <a:t>ClassType</a:t>
            </a:r>
            <a:r>
              <a:rPr lang="en-US" sz="3200" dirty="0"/>
              <a:t> 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FDC635-EE39-155E-017E-8C0F77D4DF5B}"/>
              </a:ext>
            </a:extLst>
          </p:cNvPr>
          <p:cNvSpPr txBox="1"/>
          <p:nvPr/>
        </p:nvSpPr>
        <p:spPr>
          <a:xfrm>
            <a:off x="0" y="1040525"/>
            <a:ext cx="8986344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Task:</a:t>
            </a:r>
            <a:r>
              <a:rPr lang="en-US" sz="2800" dirty="0">
                <a:latin typeface="Calibir"/>
              </a:rPr>
              <a:t> Build and save a query that shows the number of customers in each </a:t>
            </a:r>
            <a:r>
              <a:rPr lang="en-US" sz="2800" dirty="0" err="1">
                <a:latin typeface="Calibir"/>
              </a:rPr>
              <a:t>ClassType</a:t>
            </a:r>
            <a:r>
              <a:rPr lang="en-US" sz="2800" dirty="0">
                <a:latin typeface="Calibir"/>
              </a:rPr>
              <a:t>.</a:t>
            </a:r>
          </a:p>
        </p:txBody>
      </p:sp>
      <p:pic>
        <p:nvPicPr>
          <p:cNvPr id="2" name="Timer">
            <a:hlinkClick r:id="" action="ppaction://media"/>
            <a:extLst>
              <a:ext uri="{FF2B5EF4-FFF2-40B4-BE49-F238E27FC236}">
                <a16:creationId xmlns:a16="http://schemas.microsoft.com/office/drawing/2014/main" id="{53A0E856-2DB7-93F2-8EB7-A31544D3E82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0460" t="44636" r="41034" b="40447"/>
          <a:stretch>
            <a:fillRect/>
          </a:stretch>
        </p:blipFill>
        <p:spPr>
          <a:xfrm>
            <a:off x="3725917" y="3163613"/>
            <a:ext cx="1692166" cy="76725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935521411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6555CF9-6D79-8FFC-6618-36EC3EC8D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C9F090-9159-0FA5-B6A0-9A25673E80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0DE4D1-12B3-A6CE-DB01-DC7EF6B953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E228476-C5A5-66C8-8490-EABD598A90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3: Count Customers per </a:t>
            </a:r>
            <a:r>
              <a:rPr lang="en-US" sz="3200" dirty="0" err="1"/>
              <a:t>ClassType</a:t>
            </a:r>
            <a:r>
              <a:rPr lang="en-US" sz="3200" dirty="0"/>
              <a:t> 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B10C9E-4A07-109C-58CD-FF46541C90C0}"/>
              </a:ext>
            </a:extLst>
          </p:cNvPr>
          <p:cNvSpPr txBox="1"/>
          <p:nvPr/>
        </p:nvSpPr>
        <p:spPr>
          <a:xfrm>
            <a:off x="0" y="1040525"/>
            <a:ext cx="8986344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Go to Create → Query Design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E8E6EC-D241-2452-07EB-BBD950CEB7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00"/>
          <a:stretch>
            <a:fillRect/>
          </a:stretch>
        </p:blipFill>
        <p:spPr>
          <a:xfrm>
            <a:off x="0" y="1987112"/>
            <a:ext cx="9144000" cy="4870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0509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18D4120-A0FE-138A-1CB9-D961E0452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8C8697-55DD-AABD-C9DA-86C89E077C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268EC-DE54-496C-9FAD-CD8AEACC9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E7849DC-42C9-18D1-20E4-668464A0B19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3: Count Customers per </a:t>
            </a:r>
            <a:r>
              <a:rPr lang="en-US" sz="3200" dirty="0" err="1"/>
              <a:t>ClassType</a:t>
            </a:r>
            <a:r>
              <a:rPr lang="en-US" sz="3200" dirty="0"/>
              <a:t> 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A931A3-FDD7-35BE-B4FE-7080A2D228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8410" y="882869"/>
            <a:ext cx="6465080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Reservations table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→ has the CustomerID (who booked).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Classes table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→ has the 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TypeofClass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(what kind of class they booked).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2A69F6-7A99-523E-8443-5DA452D3A1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708"/>
          <a:stretch>
            <a:fillRect/>
          </a:stretch>
        </p:blipFill>
        <p:spPr>
          <a:xfrm>
            <a:off x="2678920" y="3429000"/>
            <a:ext cx="6465080" cy="3429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A70D20-6D1D-8C36-245B-C6A9D377C85D}"/>
              </a:ext>
            </a:extLst>
          </p:cNvPr>
          <p:cNvSpPr txBox="1"/>
          <p:nvPr/>
        </p:nvSpPr>
        <p:spPr>
          <a:xfrm>
            <a:off x="0" y="1040524"/>
            <a:ext cx="266841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2.   drag: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TypeofClass</a:t>
            </a:r>
            <a:r>
              <a:rPr lang="en-US" sz="2800" dirty="0">
                <a:latin typeface="Calibir"/>
              </a:rPr>
              <a:t> (from Classes)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CustomerID (from Reservations)</a:t>
            </a:r>
          </a:p>
        </p:txBody>
      </p:sp>
    </p:spTree>
    <p:extLst>
      <p:ext uri="{BB962C8B-B14F-4D97-AF65-F5344CB8AC3E}">
        <p14:creationId xmlns:p14="http://schemas.microsoft.com/office/powerpoint/2010/main" val="23479232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49BCC2C-0AF7-A40C-A61D-22179845A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062CF1-11B8-CBDD-06B6-C84B30FB11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4626F-C2AD-15C5-F93F-D675EBF4D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E40C925-B2BF-DDC6-1ACF-2C1D32E563C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3: Count Customers per </a:t>
            </a:r>
            <a:r>
              <a:rPr lang="en-US" sz="3200" dirty="0" err="1"/>
              <a:t>ClassType</a:t>
            </a:r>
            <a:r>
              <a:rPr lang="en-US" sz="3200" dirty="0"/>
              <a:t> 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775900-D5D5-1F22-7144-77186704D021}"/>
              </a:ext>
            </a:extLst>
          </p:cNvPr>
          <p:cNvSpPr txBox="1"/>
          <p:nvPr/>
        </p:nvSpPr>
        <p:spPr>
          <a:xfrm>
            <a:off x="0" y="1040524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3.  Click Totals (Σ) → new row “Total” appears.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EC7F44-3284-433D-AD06-35DEE0FFC3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217"/>
          <a:stretch>
            <a:fillRect/>
          </a:stretch>
        </p:blipFill>
        <p:spPr>
          <a:xfrm>
            <a:off x="0" y="1686756"/>
            <a:ext cx="9144000" cy="482371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58B358C-541B-7BAB-E497-A5AA0A4BF29F}"/>
              </a:ext>
            </a:extLst>
          </p:cNvPr>
          <p:cNvSpPr/>
          <p:nvPr/>
        </p:nvSpPr>
        <p:spPr>
          <a:xfrm>
            <a:off x="5276193" y="2091560"/>
            <a:ext cx="346841" cy="67185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580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C9C2907-98C4-7406-E458-9D1731634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1785BD-574F-9F21-A973-480D812891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ED93B2-360F-4409-80A3-99776CFBC7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446D981-CA53-44C0-D24A-4F09CEDC0A8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3: Count Customers per </a:t>
            </a:r>
            <a:r>
              <a:rPr lang="en-US" sz="3200" dirty="0" err="1"/>
              <a:t>ClassType</a:t>
            </a:r>
            <a:r>
              <a:rPr lang="en-US" sz="3200" dirty="0"/>
              <a:t> 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CE2F45-4445-F515-26C1-2ADE2C8DAA6D}"/>
              </a:ext>
            </a:extLst>
          </p:cNvPr>
          <p:cNvSpPr txBox="1"/>
          <p:nvPr/>
        </p:nvSpPr>
        <p:spPr>
          <a:xfrm>
            <a:off x="0" y="1040524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3.  Click Totals (Σ) → new row “Total” appears.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C8F23FF-F412-E61D-62EF-BA3B9D7F29B8}"/>
              </a:ext>
            </a:extLst>
          </p:cNvPr>
          <p:cNvSpPr/>
          <p:nvPr/>
        </p:nvSpPr>
        <p:spPr>
          <a:xfrm>
            <a:off x="5276193" y="2091560"/>
            <a:ext cx="346841" cy="67185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0DA661-1AF6-542F-9AF2-B94F663E3A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217"/>
          <a:stretch>
            <a:fillRect/>
          </a:stretch>
        </p:blipFill>
        <p:spPr>
          <a:xfrm>
            <a:off x="0" y="1712375"/>
            <a:ext cx="9144000" cy="4823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5307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2CC65E9-5CDA-7C85-0C7E-837B28126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2867B1-A399-0C7E-3F71-0FEA6C2C3C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C53E1F-AB05-D0D5-1F87-ABEC133CE9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2F397A4-D4F8-3008-8391-1E0A742EE21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3: Count Customers per </a:t>
            </a:r>
            <a:r>
              <a:rPr lang="en-US" sz="3200" dirty="0" err="1"/>
              <a:t>ClassType</a:t>
            </a:r>
            <a:r>
              <a:rPr lang="en-US" sz="3200" dirty="0"/>
              <a:t> 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2E6C6B-95C3-8F52-BC62-CDEA16E0DFDA}"/>
              </a:ext>
            </a:extLst>
          </p:cNvPr>
          <p:cNvSpPr txBox="1"/>
          <p:nvPr/>
        </p:nvSpPr>
        <p:spPr>
          <a:xfrm>
            <a:off x="0" y="1040524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4.   Under </a:t>
            </a:r>
            <a:r>
              <a:rPr lang="en-US" sz="2800" dirty="0" err="1">
                <a:latin typeface="Calibir"/>
              </a:rPr>
              <a:t>TypeofClass</a:t>
            </a:r>
            <a:r>
              <a:rPr lang="en-US" sz="2800" dirty="0">
                <a:latin typeface="Calibir"/>
              </a:rPr>
              <a:t> → leave as Group By.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4157F5-F25F-5724-D6DC-FFE11F363B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991"/>
          <a:stretch>
            <a:fillRect/>
          </a:stretch>
        </p:blipFill>
        <p:spPr>
          <a:xfrm>
            <a:off x="0" y="1867273"/>
            <a:ext cx="9144000" cy="4166695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C1680D-5281-3D21-ABD6-272AD9CED4F3}"/>
              </a:ext>
            </a:extLst>
          </p:cNvPr>
          <p:cNvSpPr/>
          <p:nvPr/>
        </p:nvSpPr>
        <p:spPr>
          <a:xfrm>
            <a:off x="3016469" y="5391808"/>
            <a:ext cx="1030014" cy="157654"/>
          </a:xfrm>
          <a:prstGeom prst="roundRect">
            <a:avLst/>
          </a:prstGeom>
          <a:noFill/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6054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DFE3894-702D-B899-6132-1A0E8F22D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90AD74A-1CDD-E921-89BA-15B1B6C089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164"/>
          <a:stretch>
            <a:fillRect/>
          </a:stretch>
        </p:blipFill>
        <p:spPr>
          <a:xfrm>
            <a:off x="0" y="1807109"/>
            <a:ext cx="9144000" cy="4826472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CC5597-9C4B-8CD8-61CD-992DE13097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2D4C1-8A7C-9F10-CCA5-09AD6AC822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5892166-7C2E-6D46-C38F-1517F9D05D8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3: Count Customers per </a:t>
            </a:r>
            <a:r>
              <a:rPr lang="en-US" sz="3200" dirty="0" err="1"/>
              <a:t>ClassType</a:t>
            </a:r>
            <a:r>
              <a:rPr lang="en-US" sz="3200" dirty="0"/>
              <a:t> 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F5242D-F67E-A16D-8D91-DDC3D52678E6}"/>
              </a:ext>
            </a:extLst>
          </p:cNvPr>
          <p:cNvSpPr txBox="1"/>
          <p:nvPr/>
        </p:nvSpPr>
        <p:spPr>
          <a:xfrm>
            <a:off x="0" y="1040524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5.   Under CustomerID → change to Count.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DE1D5F6-36AA-3F5C-0503-C46983D1C641}"/>
              </a:ext>
            </a:extLst>
          </p:cNvPr>
          <p:cNvSpPr/>
          <p:nvPr/>
        </p:nvSpPr>
        <p:spPr>
          <a:xfrm>
            <a:off x="3878317" y="5318235"/>
            <a:ext cx="1030014" cy="157654"/>
          </a:xfrm>
          <a:prstGeom prst="roundRect">
            <a:avLst/>
          </a:prstGeom>
          <a:noFill/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3655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D2421B7-9342-EC1A-8AF5-85B3E7108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D4383F-616F-230F-E9FC-288D421276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7868B0-A001-D62E-DB10-2EF066FAD8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1467F4C-302E-1CAB-A56D-C9CB29D4166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3: Count Customers per </a:t>
            </a:r>
            <a:r>
              <a:rPr lang="en-US" sz="3200" dirty="0" err="1"/>
              <a:t>ClassType</a:t>
            </a:r>
            <a:r>
              <a:rPr lang="en-US" sz="3200" dirty="0"/>
              <a:t> 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AF601E-0519-B8D5-394D-BE8E992B97AF}"/>
              </a:ext>
            </a:extLst>
          </p:cNvPr>
          <p:cNvSpPr txBox="1"/>
          <p:nvPr/>
        </p:nvSpPr>
        <p:spPr>
          <a:xfrm>
            <a:off x="0" y="1040524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6.   Run (!) → we’ll see each class type with a count of customers.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25F1B5-CBC5-2226-CE28-414840DCD5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708"/>
          <a:stretch>
            <a:fillRect/>
          </a:stretch>
        </p:blipFill>
        <p:spPr>
          <a:xfrm>
            <a:off x="331076" y="2359330"/>
            <a:ext cx="8481848" cy="4498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6090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B962AA2-204D-2E5A-666B-82C8D5CEC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39019F-F2EF-790B-EA69-F030C44F2B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A703E6-6ABD-774A-2BC7-6B246B4D41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51F7DFC-B4BC-F76F-900D-4E466482DB8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3: Count Customers per </a:t>
            </a:r>
            <a:r>
              <a:rPr lang="en-US" sz="3200" dirty="0" err="1"/>
              <a:t>ClassType</a:t>
            </a:r>
            <a:r>
              <a:rPr lang="en-US" sz="3200" dirty="0"/>
              <a:t> 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8BE85A-E2FF-964D-09F7-4BF796412AB7}"/>
              </a:ext>
            </a:extLst>
          </p:cNvPr>
          <p:cNvSpPr txBox="1"/>
          <p:nvPr/>
        </p:nvSpPr>
        <p:spPr>
          <a:xfrm>
            <a:off x="0" y="1040524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7.   Save as </a:t>
            </a:r>
            <a:r>
              <a:rPr lang="en-US" sz="2800" dirty="0" err="1">
                <a:latin typeface="Calibir"/>
              </a:rPr>
              <a:t>QRY_CountClassType</a:t>
            </a:r>
            <a:endParaRPr lang="en-US" sz="2800" dirty="0">
              <a:latin typeface="Calibir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2A202C-5AB2-C357-2BB4-E1ADCD5669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164"/>
          <a:stretch>
            <a:fillRect/>
          </a:stretch>
        </p:blipFill>
        <p:spPr>
          <a:xfrm>
            <a:off x="0" y="1709618"/>
            <a:ext cx="9144000" cy="4826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8833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49C4C5E-283E-6440-EFF8-E07878F44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948D85-6B34-4882-3E67-811EF50517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7916C-3372-FD54-AE4A-A216E635D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33C633A-DECB-4D8C-A5FE-AD9240D72B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451946"/>
          </a:xfrm>
        </p:spPr>
        <p:txBody>
          <a:bodyPr>
            <a:noAutofit/>
          </a:bodyPr>
          <a:lstStyle/>
          <a:p>
            <a:r>
              <a:rPr lang="en-US" sz="3200" dirty="0"/>
              <a:t>Action Queries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F40891-F09A-5120-A023-89684DE9B55C}"/>
              </a:ext>
            </a:extLst>
          </p:cNvPr>
          <p:cNvSpPr txBox="1"/>
          <p:nvPr/>
        </p:nvSpPr>
        <p:spPr>
          <a:xfrm>
            <a:off x="0" y="667974"/>
            <a:ext cx="9144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Queries that change data, not just display it.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Types: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Update → change values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Delete → remove records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Append → add records to a table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Table → create a new table from results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Analogy: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Like doing a bulk find-and-replace in Word.</a:t>
            </a:r>
          </a:p>
        </p:txBody>
      </p:sp>
    </p:spTree>
    <p:extLst>
      <p:ext uri="{BB962C8B-B14F-4D97-AF65-F5344CB8AC3E}">
        <p14:creationId xmlns:p14="http://schemas.microsoft.com/office/powerpoint/2010/main" val="16021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6FAAD36-E389-6E45-BC40-33CE0CEC7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48C14E-6E3C-4A23-A372-29BE772B96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C6D2E3-50F6-0CA4-182E-2631BAF482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2EC8D4D-AD58-1D72-B1EE-2CB9A2CF55F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451946"/>
          </a:xfrm>
        </p:spPr>
        <p:txBody>
          <a:bodyPr>
            <a:noAutofit/>
          </a:bodyPr>
          <a:lstStyle/>
          <a:p>
            <a:r>
              <a:rPr lang="en-US" sz="3200" dirty="0"/>
              <a:t>Action Queries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AFB3C9-0CDD-7195-4A0B-F6D5CE4ADAE0}"/>
              </a:ext>
            </a:extLst>
          </p:cNvPr>
          <p:cNvSpPr txBox="1"/>
          <p:nvPr/>
        </p:nvSpPr>
        <p:spPr>
          <a:xfrm>
            <a:off x="0" y="667974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Examples:</a:t>
            </a:r>
            <a:endParaRPr lang="en-US" sz="2800" dirty="0">
              <a:latin typeface="Calibir"/>
            </a:endParaRP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Update all Cardio class prices by +10%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Delete all reservations taught by Neda Tahan</a:t>
            </a:r>
          </a:p>
        </p:txBody>
      </p:sp>
    </p:spTree>
    <p:extLst>
      <p:ext uri="{BB962C8B-B14F-4D97-AF65-F5344CB8AC3E}">
        <p14:creationId xmlns:p14="http://schemas.microsoft.com/office/powerpoint/2010/main" val="2122718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2151579-C499-3B86-7FC7-10B85A56A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805BD8-7E22-CFA6-E078-85B2D2CD7E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64B70-06E3-F3E0-D0E8-560BAD6121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460CEE0-AEAF-F022-60B3-D3EE479002D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4: Update “Cardio” Prices (+10%)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DF99C7-A83A-B8D8-A277-D97CD7B1DE76}"/>
              </a:ext>
            </a:extLst>
          </p:cNvPr>
          <p:cNvSpPr txBox="1"/>
          <p:nvPr/>
        </p:nvSpPr>
        <p:spPr>
          <a:xfrm>
            <a:off x="0" y="1040524"/>
            <a:ext cx="9144000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Task: </a:t>
            </a:r>
            <a:r>
              <a:rPr lang="en-US" sz="2800" dirty="0">
                <a:latin typeface="Calibir"/>
              </a:rPr>
              <a:t>Increase </a:t>
            </a:r>
            <a:r>
              <a:rPr lang="en-US" sz="2800" dirty="0" err="1">
                <a:latin typeface="Calibir"/>
              </a:rPr>
              <a:t>ClassPrice</a:t>
            </a:r>
            <a:r>
              <a:rPr lang="en-US" sz="2800" dirty="0">
                <a:latin typeface="Calibir"/>
              </a:rPr>
              <a:t> by 10% for classes where </a:t>
            </a:r>
            <a:r>
              <a:rPr lang="en-US" sz="2800" dirty="0" err="1">
                <a:latin typeface="Calibir"/>
              </a:rPr>
              <a:t>TypeofClass</a:t>
            </a:r>
            <a:r>
              <a:rPr lang="en-US" sz="2800" dirty="0">
                <a:latin typeface="Calibir"/>
              </a:rPr>
              <a:t> = "Cardio".</a:t>
            </a:r>
          </a:p>
        </p:txBody>
      </p:sp>
      <p:pic>
        <p:nvPicPr>
          <p:cNvPr id="8" name="Timer">
            <a:hlinkClick r:id="" action="ppaction://media"/>
            <a:extLst>
              <a:ext uri="{FF2B5EF4-FFF2-40B4-BE49-F238E27FC236}">
                <a16:creationId xmlns:a16="http://schemas.microsoft.com/office/drawing/2014/main" id="{39E40C96-B2F3-6A06-D955-9501AB96BEA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0690" t="44751" r="41149" b="41148"/>
          <a:stretch>
            <a:fillRect/>
          </a:stretch>
        </p:blipFill>
        <p:spPr>
          <a:xfrm>
            <a:off x="3741682" y="3163613"/>
            <a:ext cx="1660635" cy="72521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63604717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2151579-C499-3B86-7FC7-10B85A56A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805BD8-7E22-CFA6-E078-85B2D2CD7E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64B70-06E3-F3E0-D0E8-560BAD6121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460CEE0-AEAF-F022-60B3-D3EE479002D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4: Update “Cardio” Prices (+10%)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DF99C7-A83A-B8D8-A277-D97CD7B1DE76}"/>
              </a:ext>
            </a:extLst>
          </p:cNvPr>
          <p:cNvSpPr txBox="1"/>
          <p:nvPr/>
        </p:nvSpPr>
        <p:spPr>
          <a:xfrm>
            <a:off x="0" y="1169384"/>
            <a:ext cx="5117118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Create → Query Design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5CEB39-1906-7FE6-62B2-E4E17771E5E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862" b="63333"/>
          <a:stretch>
            <a:fillRect/>
          </a:stretch>
        </p:blipFill>
        <p:spPr>
          <a:xfrm>
            <a:off x="5117118" y="1151540"/>
            <a:ext cx="4026882" cy="2432908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4698860-2274-A45B-7145-A1B530F301CB}"/>
              </a:ext>
            </a:extLst>
          </p:cNvPr>
          <p:cNvSpPr/>
          <p:nvPr/>
        </p:nvSpPr>
        <p:spPr>
          <a:xfrm>
            <a:off x="7664134" y="1792224"/>
            <a:ext cx="370149" cy="62910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202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FB0F402-CEE4-6F9C-C8B6-AB83F01F7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EC2A0D-EBC7-52FE-E0BA-8901992D4F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22ED7-AE19-1523-CAF9-9114401598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A39FEA4-BC4A-DC14-AE3A-6B089E640A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4: Update “Cardio” Prices (+10%)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C1A8B8-9217-5D5E-6761-8D2EB9BEE4DA}"/>
              </a:ext>
            </a:extLst>
          </p:cNvPr>
          <p:cNvSpPr txBox="1"/>
          <p:nvPr/>
        </p:nvSpPr>
        <p:spPr>
          <a:xfrm>
            <a:off x="-1" y="3957189"/>
            <a:ext cx="9144000" cy="131818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2"/>
            </a:pPr>
            <a:r>
              <a:rPr lang="en-US" altLang="en-US" sz="2800" dirty="0">
                <a:latin typeface="Calibir"/>
              </a:rPr>
              <a:t>Add Classes and Reservations tables (they should join on </a:t>
            </a:r>
            <a:r>
              <a:rPr lang="en-US" altLang="en-US" sz="2800" dirty="0" err="1">
                <a:latin typeface="Calibir"/>
              </a:rPr>
              <a:t>ClassID</a:t>
            </a:r>
            <a:r>
              <a:rPr lang="en-US" altLang="en-US" sz="2800" dirty="0">
                <a:latin typeface="Calibir"/>
              </a:rPr>
              <a:t>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B164C7-D8D0-3E7D-8F75-273B670183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889"/>
          <a:stretch>
            <a:fillRect/>
          </a:stretch>
        </p:blipFill>
        <p:spPr>
          <a:xfrm>
            <a:off x="3177112" y="1169384"/>
            <a:ext cx="5966887" cy="2722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9019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EDF023D-0368-8545-5FE4-02D944EB6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8AA3BE-0AB1-7221-3326-88BA3FC37F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FF1A5-DEB3-838F-567A-5938D7BD3A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64747B3-FD08-BD84-EE41-47D5D5DE8C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4: Update “Cardio” Prices (+10%)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5D4B3E-E5BC-E21E-830B-D5E259C50E05}"/>
              </a:ext>
            </a:extLst>
          </p:cNvPr>
          <p:cNvSpPr txBox="1"/>
          <p:nvPr/>
        </p:nvSpPr>
        <p:spPr>
          <a:xfrm>
            <a:off x="0" y="4893488"/>
            <a:ext cx="9144000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3.   Choose the field to update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From Reservations, drag </a:t>
            </a:r>
            <a:r>
              <a:rPr lang="en-US" sz="2800" dirty="0" err="1">
                <a:latin typeface="Calibir"/>
              </a:rPr>
              <a:t>ClassPrice</a:t>
            </a:r>
            <a:r>
              <a:rPr lang="en-US" sz="2800" dirty="0">
                <a:latin typeface="Calibir"/>
              </a:rPr>
              <a:t> into the first empty column of the grid.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31838A-0B0F-DB3F-2827-045FAEE4C2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314"/>
          <a:stretch>
            <a:fillRect/>
          </a:stretch>
        </p:blipFill>
        <p:spPr>
          <a:xfrm>
            <a:off x="630044" y="963732"/>
            <a:ext cx="7756947" cy="408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9300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BA43B12-CE19-493E-BE2D-679ED19AC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A437F0-7CA1-7029-1B14-D093D90B3C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30CF47-7BA9-9E9B-97F0-E983E60BB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8D0BD0B-11E0-F8BA-DC1D-0A83F2B939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4: Update “Cardio” Prices (+10%)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C030C0-014F-4116-1EB5-D19E76C1511E}"/>
              </a:ext>
            </a:extLst>
          </p:cNvPr>
          <p:cNvSpPr txBox="1"/>
          <p:nvPr/>
        </p:nvSpPr>
        <p:spPr>
          <a:xfrm>
            <a:off x="0" y="4619550"/>
            <a:ext cx="9144000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4.  Tell Access how to update it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the Update To row of that </a:t>
            </a:r>
            <a:r>
              <a:rPr lang="en-US" sz="2800" dirty="0" err="1">
                <a:latin typeface="Calibir"/>
              </a:rPr>
              <a:t>ClassPrice</a:t>
            </a:r>
            <a:r>
              <a:rPr lang="en-US" sz="2800" dirty="0">
                <a:latin typeface="Calibir"/>
              </a:rPr>
              <a:t> column, type: [</a:t>
            </a:r>
            <a:r>
              <a:rPr lang="en-US" sz="2800" dirty="0" err="1">
                <a:latin typeface="Calibir"/>
              </a:rPr>
              <a:t>ClassPrice</a:t>
            </a:r>
            <a:r>
              <a:rPr lang="en-US" sz="2800" dirty="0">
                <a:latin typeface="Calibir"/>
              </a:rPr>
              <a:t>]*1.1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734C19-EAA3-06E2-DDDE-746A0D1D83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008"/>
          <a:stretch>
            <a:fillRect/>
          </a:stretch>
        </p:blipFill>
        <p:spPr>
          <a:xfrm>
            <a:off x="0" y="950385"/>
            <a:ext cx="8642195" cy="3742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5838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C87F471-F5FA-9D56-FD6F-5476451FD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F981FD-E665-7C65-F313-651065AD5E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166E-23ED-90C1-4E96-C6089072F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AADAEE5-3BF4-2990-95B7-E625B8568B8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4: Update “Cardio” Prices (+10%)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0B5370-46EF-982B-0288-82102A42C20F}"/>
              </a:ext>
            </a:extLst>
          </p:cNvPr>
          <p:cNvSpPr txBox="1"/>
          <p:nvPr/>
        </p:nvSpPr>
        <p:spPr>
          <a:xfrm>
            <a:off x="22302" y="4247157"/>
            <a:ext cx="9144000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5.   Filter to Cardio only (important!)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From Classes, drag </a:t>
            </a:r>
            <a:r>
              <a:rPr lang="en-US" sz="2800" dirty="0" err="1">
                <a:latin typeface="Calibir"/>
              </a:rPr>
              <a:t>TypeOfClass</a:t>
            </a:r>
            <a:r>
              <a:rPr lang="en-US" sz="2800" dirty="0">
                <a:latin typeface="Calibir"/>
              </a:rPr>
              <a:t> into a second column.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Leave Update To blank for this column.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the Criteria row type: “Cardio”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14A0B7-1894-D0F0-4AA7-BA67EA166F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195" b="23875"/>
          <a:stretch>
            <a:fillRect/>
          </a:stretch>
        </p:blipFill>
        <p:spPr>
          <a:xfrm>
            <a:off x="22302" y="882869"/>
            <a:ext cx="4661210" cy="3452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4507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9E8BD9C-C140-14A4-65D3-AC70B7C2A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D5462F-A644-5993-57EA-375B00A367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4F3D9-6906-A9BA-7259-CDDAB2E8FE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34D3BCC-0C0A-79D1-AFB7-7E192E57A73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4: Update “Cardio” Prices (+10%)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D8BA35-37D6-844F-5081-14D64D532B66}"/>
              </a:ext>
            </a:extLst>
          </p:cNvPr>
          <p:cNvSpPr txBox="1"/>
          <p:nvPr/>
        </p:nvSpPr>
        <p:spPr>
          <a:xfrm>
            <a:off x="22302" y="4337117"/>
            <a:ext cx="9144000" cy="252088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6.  Run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Click Run (red !). Confirm the number of rows to be updated.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Open Reservations to spot-check a few </a:t>
            </a:r>
            <a:r>
              <a:rPr lang="en-US" sz="2700" dirty="0" err="1">
                <a:latin typeface="Calibir"/>
              </a:rPr>
              <a:t>ClassPrice</a:t>
            </a:r>
            <a:r>
              <a:rPr lang="en-US" sz="2700" dirty="0">
                <a:latin typeface="Calibir"/>
              </a:rPr>
              <a:t> values.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9275E3-13B4-BB24-7710-7CE2982EB8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683" b="26694"/>
          <a:stretch>
            <a:fillRect/>
          </a:stretch>
        </p:blipFill>
        <p:spPr>
          <a:xfrm>
            <a:off x="22302" y="882869"/>
            <a:ext cx="4895455" cy="352186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8ECEDB2-B31A-9F8E-B33F-F27CB3CE0927}"/>
              </a:ext>
            </a:extLst>
          </p:cNvPr>
          <p:cNvSpPr/>
          <p:nvPr/>
        </p:nvSpPr>
        <p:spPr>
          <a:xfrm>
            <a:off x="379142" y="1315843"/>
            <a:ext cx="289932" cy="591015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C5FAEA1-319A-44A3-D067-468AF47281E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7927" t="34093" r="37927" b="41224"/>
          <a:stretch>
            <a:fillRect/>
          </a:stretch>
        </p:blipFill>
        <p:spPr>
          <a:xfrm>
            <a:off x="5140712" y="1206021"/>
            <a:ext cx="3980986" cy="228903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E79E2C9D-21F3-C542-0B2E-66089E299973}"/>
              </a:ext>
            </a:extLst>
          </p:cNvPr>
          <p:cNvCxnSpPr>
            <a:cxnSpLocks/>
            <a:endCxn id="11" idx="2"/>
          </p:cNvCxnSpPr>
          <p:nvPr/>
        </p:nvCxnSpPr>
        <p:spPr>
          <a:xfrm flipV="1">
            <a:off x="4917757" y="3495058"/>
            <a:ext cx="2213448" cy="519381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33558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CFDFA85-6FD1-43F2-6FA9-5ACBA0B9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76D1B7-E2F9-D4BD-0CBB-3731A0397A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A4CD35-683E-CDB0-9146-EDE67C6F0D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FC484F2-1232-1FD6-E90C-A46516A4D2E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4: Update “Cardio” Prices (+10%)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33C47F-D643-5FF6-3396-84B5CB752CF6}"/>
              </a:ext>
            </a:extLst>
          </p:cNvPr>
          <p:cNvSpPr txBox="1"/>
          <p:nvPr/>
        </p:nvSpPr>
        <p:spPr>
          <a:xfrm>
            <a:off x="22302" y="4337117"/>
            <a:ext cx="9144000" cy="65114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7.  Save Object As </a:t>
            </a:r>
            <a:r>
              <a:rPr lang="en-US" sz="2700" dirty="0">
                <a:highlight>
                  <a:srgbClr val="FFFF00"/>
                </a:highlight>
                <a:latin typeface="Calibir"/>
              </a:rPr>
              <a:t>QRY_Update_Cardio_Price10</a:t>
            </a:r>
            <a:r>
              <a:rPr lang="en-US" sz="2700" dirty="0">
                <a:latin typeface="Calibir"/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C6D196-73AA-41D0-9DB2-B711CFB022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5091" b="50000"/>
          <a:stretch>
            <a:fillRect/>
          </a:stretch>
        </p:blipFill>
        <p:spPr>
          <a:xfrm>
            <a:off x="0" y="1235008"/>
            <a:ext cx="5020886" cy="2571750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1924306-7FCD-DC24-5EE7-670D0649A70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8658" t="24092" r="38659" b="57133"/>
          <a:stretch>
            <a:fillRect/>
          </a:stretch>
        </p:blipFill>
        <p:spPr>
          <a:xfrm>
            <a:off x="5257824" y="1616245"/>
            <a:ext cx="3886176" cy="1809275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958D8D89-9F4A-FAB3-9DE4-EF8AE1A7B7E5}"/>
              </a:ext>
            </a:extLst>
          </p:cNvPr>
          <p:cNvCxnSpPr>
            <a:stCxn id="6" idx="2"/>
            <a:endCxn id="12" idx="2"/>
          </p:cNvCxnSpPr>
          <p:nvPr/>
        </p:nvCxnSpPr>
        <p:spPr>
          <a:xfrm rot="5400000" flipH="1" flipV="1">
            <a:off x="4665058" y="1270904"/>
            <a:ext cx="381238" cy="4690469"/>
          </a:xfrm>
          <a:prstGeom prst="bentConnector3">
            <a:avLst>
              <a:gd name="adj1" fmla="val -59963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74309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41D174B-B4A3-5D00-7804-3D19DF186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05BB2A-EDDA-4670-E25A-234A582F4A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5E5DF2-B8F4-F90A-C9EA-96C52B0FB1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D70C2F5-69F7-7EDE-B860-DB063722B3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882870"/>
          </a:xfrm>
        </p:spPr>
        <p:txBody>
          <a:bodyPr>
            <a:noAutofit/>
          </a:bodyPr>
          <a:lstStyle/>
          <a:p>
            <a:r>
              <a:rPr lang="en-US" sz="3200" dirty="0"/>
              <a:t>Hands-On Activity 4: Update “Cardio” Prices (+10%)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E2A474-1044-F906-E691-E6742D9E606C}"/>
              </a:ext>
            </a:extLst>
          </p:cNvPr>
          <p:cNvSpPr txBox="1"/>
          <p:nvPr/>
        </p:nvSpPr>
        <p:spPr>
          <a:xfrm>
            <a:off x="0" y="1159726"/>
            <a:ext cx="7839307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If we only update </a:t>
            </a:r>
            <a:r>
              <a:rPr lang="en-US" sz="2800" dirty="0" err="1">
                <a:latin typeface="Calibir"/>
              </a:rPr>
              <a:t>LengthOfTime</a:t>
            </a:r>
            <a:r>
              <a:rPr lang="en-US" sz="2800" dirty="0">
                <a:latin typeface="Calibir"/>
              </a:rPr>
              <a:t> instead: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Classes only (we don’t need Reservations).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Drag </a:t>
            </a:r>
            <a:r>
              <a:rPr lang="en-US" sz="2800" dirty="0" err="1">
                <a:latin typeface="Calibir"/>
              </a:rPr>
              <a:t>LengthOfTime</a:t>
            </a:r>
            <a:r>
              <a:rPr lang="en-US" sz="2800" dirty="0">
                <a:latin typeface="Calibir"/>
              </a:rPr>
              <a:t> to the grid.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Update To: [</a:t>
            </a:r>
            <a:r>
              <a:rPr lang="en-US" sz="2800" dirty="0" err="1">
                <a:latin typeface="Calibir"/>
              </a:rPr>
              <a:t>LengthOfTime</a:t>
            </a:r>
            <a:r>
              <a:rPr lang="en-US" sz="2800" dirty="0">
                <a:latin typeface="Calibir"/>
              </a:rPr>
              <a:t>]*1.1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</a:t>
            </a:r>
            <a:r>
              <a:rPr lang="en-US" sz="2800" dirty="0" err="1">
                <a:latin typeface="Calibir"/>
              </a:rPr>
              <a:t>TypeOfClass</a:t>
            </a:r>
            <a:r>
              <a:rPr lang="en-US" sz="2800" dirty="0">
                <a:latin typeface="Calibir"/>
              </a:rPr>
              <a:t> with Criteria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"Cardio" as before.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Run and save as QRY_Update_Cardio_Length10.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F106974-9865-5720-827C-639D9829AC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220" t="21924" r="46829" b="22358"/>
          <a:stretch>
            <a:fillRect/>
          </a:stretch>
        </p:blipFill>
        <p:spPr>
          <a:xfrm>
            <a:off x="6980663" y="2575931"/>
            <a:ext cx="2163337" cy="308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8293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0BBD8FC-4C7C-FE10-7BD8-7C537765E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37167B-A05C-8B24-0AA2-50CFFCA577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4C3E5-1F27-C61E-232A-73D61CC10F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1927BE4-F498-FD58-5FD4-65DE086F35A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502109"/>
          </a:xfrm>
        </p:spPr>
        <p:txBody>
          <a:bodyPr>
            <a:noAutofit/>
          </a:bodyPr>
          <a:lstStyle/>
          <a:p>
            <a:r>
              <a:rPr lang="en-US" sz="3200" dirty="0"/>
              <a:t>Research / Debate Questions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6CED09-6E27-F797-1928-F73C9A4A8D08}"/>
              </a:ext>
            </a:extLst>
          </p:cNvPr>
          <p:cNvSpPr txBox="1"/>
          <p:nvPr/>
        </p:nvSpPr>
        <p:spPr>
          <a:xfrm>
            <a:off x="0" y="1159726"/>
            <a:ext cx="9144000" cy="5193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Q1:</a:t>
            </a:r>
            <a:r>
              <a:rPr lang="en-US" sz="2800" dirty="0">
                <a:latin typeface="Calibir"/>
              </a:rPr>
              <a:t> Why use QBE instead of writing SQL directly?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Students: Easier for beginners, visual approach.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Q2 (Debate):</a:t>
            </a:r>
            <a:r>
              <a:rPr lang="en-US" sz="2800" dirty="0">
                <a:latin typeface="Calibir"/>
              </a:rPr>
              <a:t> Should we allow cascade deletes?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Yes: keeps DB clean.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No: dangerous, may delete too much.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Q3:</a:t>
            </a:r>
            <a:r>
              <a:rPr lang="en-US" sz="2800" dirty="0">
                <a:latin typeface="Calibir"/>
              </a:rPr>
              <a:t> Compare Access Queries vs Excel Filters.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Access = reusable + relational.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Excel = one-off + flat file.</a:t>
            </a:r>
          </a:p>
        </p:txBody>
      </p:sp>
    </p:spTree>
    <p:extLst>
      <p:ext uri="{BB962C8B-B14F-4D97-AF65-F5344CB8AC3E}">
        <p14:creationId xmlns:p14="http://schemas.microsoft.com/office/powerpoint/2010/main" val="716138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EC2B67C-6FD5-FFAF-A995-27EA89970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EA615B-3ED5-13FF-D1C0-03D8896287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7EBBA-6851-AC41-E9EA-860B272CA5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2C0B14A-84E4-8E30-1178-C302D7ACDDC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502109"/>
          </a:xfrm>
        </p:spPr>
        <p:txBody>
          <a:bodyPr>
            <a:noAutofit/>
          </a:bodyPr>
          <a:lstStyle/>
          <a:p>
            <a:r>
              <a:rPr lang="en-US" sz="3200" dirty="0"/>
              <a:t>Preparation for Tutorial Week 6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95BC56-D7A5-A7F1-234D-FFF420E7A71A}"/>
              </a:ext>
            </a:extLst>
          </p:cNvPr>
          <p:cNvSpPr txBox="1"/>
          <p:nvPr/>
        </p:nvSpPr>
        <p:spPr>
          <a:xfrm>
            <a:off x="0" y="1477248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Install MS Access (if personal laptop) or use lab computers.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Download Pitt Fitness Database (provided on Canvas).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Add to Trusted Locations in Access (to avoid security warning).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Check that tables open correctly (Customers, Classes, Reservations, etc.).</a:t>
            </a:r>
          </a:p>
        </p:txBody>
      </p:sp>
    </p:spTree>
    <p:extLst>
      <p:ext uri="{BB962C8B-B14F-4D97-AF65-F5344CB8AC3E}">
        <p14:creationId xmlns:p14="http://schemas.microsoft.com/office/powerpoint/2010/main" val="21559277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8575CFC-3282-4A15-D021-EBF6804BC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3CF660-4903-C4C3-780C-1B6C2F42C0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34140-06C7-B671-CF56-904C74F950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DD2BF13-2824-1A9E-CAEE-483467A1D5F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502109"/>
          </a:xfrm>
        </p:spPr>
        <p:txBody>
          <a:bodyPr>
            <a:noAutofit/>
          </a:bodyPr>
          <a:lstStyle/>
          <a:p>
            <a:r>
              <a:rPr lang="en-US" sz="3200" dirty="0"/>
              <a:t>Preparation for Tutorial Week 6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513EFB-FC41-BDC2-AFF3-6B9CBB692CB3}"/>
              </a:ext>
            </a:extLst>
          </p:cNvPr>
          <p:cNvSpPr txBox="1"/>
          <p:nvPr/>
        </p:nvSpPr>
        <p:spPr>
          <a:xfrm>
            <a:off x="0" y="791084"/>
            <a:ext cx="9144000" cy="5637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b="1" dirty="0">
                <a:latin typeface="Calibir"/>
              </a:rPr>
              <a:t>What to Do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700" b="1" dirty="0">
                <a:latin typeface="Calibir"/>
              </a:rPr>
              <a:t>Download &amp; Open the Pitt Fitness Database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Use the file provided (Pitt Fitness.accdb).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If Access shows a security warning, enable content or add the folder to Trusted Locations.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700" b="1" dirty="0">
                <a:latin typeface="Calibir"/>
              </a:rPr>
              <a:t>Create Queries in Access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You must build Query1 to Query10 (Query11 is optional).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Each query must be saved with a meaningful name (e.g., QRY_CustomersOnJuly1).</a:t>
            </a:r>
          </a:p>
        </p:txBody>
      </p:sp>
    </p:spTree>
    <p:extLst>
      <p:ext uri="{BB962C8B-B14F-4D97-AF65-F5344CB8AC3E}">
        <p14:creationId xmlns:p14="http://schemas.microsoft.com/office/powerpoint/2010/main" val="93514818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D0D5F6D-56B5-0835-BAAE-EB2D1F695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FA4145-A17C-A174-9EB0-B598D8C95E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53269-3953-A96D-96A0-9960647012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B316DC9-5611-D815-F69F-4D50D0DA0E9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502109"/>
          </a:xfrm>
        </p:spPr>
        <p:txBody>
          <a:bodyPr>
            <a:noAutofit/>
          </a:bodyPr>
          <a:lstStyle/>
          <a:p>
            <a:r>
              <a:rPr lang="en-US" sz="3200" dirty="0"/>
              <a:t>Preparation for Tutorial Week 6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5246D2-83A5-0D18-A6D8-0C6CE836E774}"/>
              </a:ext>
            </a:extLst>
          </p:cNvPr>
          <p:cNvSpPr txBox="1"/>
          <p:nvPr/>
        </p:nvSpPr>
        <p:spPr>
          <a:xfrm>
            <a:off x="0" y="791084"/>
            <a:ext cx="9144000" cy="612905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altLang="en-US" sz="2400" b="1" dirty="0">
                <a:latin typeface="Calibir"/>
              </a:rPr>
              <a:t>Follow the Criteria Carefully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Calibir"/>
              </a:rPr>
              <a:t>Example: Query 1 needs customers with reservations on 1/7/2021.</a:t>
            </a:r>
            <a:br>
              <a:rPr lang="en-US" altLang="en-US" sz="2400" dirty="0">
                <a:latin typeface="Calibir"/>
              </a:rPr>
            </a:br>
            <a:r>
              <a:rPr lang="en-US" altLang="en-US" sz="2400" dirty="0">
                <a:latin typeface="Calibir"/>
              </a:rPr>
              <a:t>→ Add Customers + Reservations tables, filter </a:t>
            </a:r>
            <a:r>
              <a:rPr lang="en-US" altLang="en-US" sz="2400" dirty="0" err="1">
                <a:latin typeface="Calibir"/>
              </a:rPr>
              <a:t>ClassDate</a:t>
            </a:r>
            <a:r>
              <a:rPr lang="en-US" altLang="en-US" sz="2400" dirty="0">
                <a:latin typeface="Calibir"/>
              </a:rPr>
              <a:t> = 1/7/2021.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Calibir"/>
              </a:rPr>
              <a:t>Use Select queries for listing data, and Update/Delete/Append/Make-Table queries for Action tasks.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4"/>
            </a:pPr>
            <a:r>
              <a:rPr lang="en-US" altLang="en-US" sz="2400" b="1" dirty="0">
                <a:latin typeface="Calibir"/>
              </a:rPr>
              <a:t>Check Results Before Saving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Calibir"/>
              </a:rPr>
              <a:t>Always switch to Datasheet View to confirm that results look correct.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Calibir"/>
              </a:rPr>
              <a:t>If the query shows too many or no rows, check your criteria.</a:t>
            </a:r>
          </a:p>
        </p:txBody>
      </p:sp>
    </p:spTree>
    <p:extLst>
      <p:ext uri="{BB962C8B-B14F-4D97-AF65-F5344CB8AC3E}">
        <p14:creationId xmlns:p14="http://schemas.microsoft.com/office/powerpoint/2010/main" val="49148456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FDA1EC8-FFA4-7676-45C9-258AD40CB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3C4540-E5F5-06FB-B4C1-2EB2C6AF41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DF722-42BB-8910-4729-CFEE23101C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B0E66E2-32D5-C26E-C1A1-0D28E01BD24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502109"/>
          </a:xfrm>
        </p:spPr>
        <p:txBody>
          <a:bodyPr>
            <a:noAutofit/>
          </a:bodyPr>
          <a:lstStyle/>
          <a:p>
            <a:r>
              <a:rPr lang="en-US" sz="3200" dirty="0"/>
              <a:t>Preparation for Tutorial Week 6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27036D-6984-5886-BC87-FA326B641530}"/>
              </a:ext>
            </a:extLst>
          </p:cNvPr>
          <p:cNvSpPr txBox="1"/>
          <p:nvPr/>
        </p:nvSpPr>
        <p:spPr>
          <a:xfrm>
            <a:off x="0" y="791084"/>
            <a:ext cx="9144000" cy="51961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sz="2800" b="1" dirty="0">
                <a:latin typeface="Calibir"/>
              </a:rPr>
              <a:t>Save &amp; Name Your Queries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names that match the task. Example: </a:t>
            </a:r>
            <a:r>
              <a:rPr lang="en-US" sz="2800" dirty="0" err="1">
                <a:latin typeface="Calibir"/>
              </a:rPr>
              <a:t>QRY_Cardio_WedFri</a:t>
            </a:r>
            <a:r>
              <a:rPr lang="en-US" sz="2800" dirty="0">
                <a:latin typeface="Calibir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Avoid leaving queries as Query1, Query2—that’s messy.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6"/>
            </a:pPr>
            <a:r>
              <a:rPr lang="en-US" sz="2800" b="1" dirty="0">
                <a:latin typeface="Calibir"/>
              </a:rPr>
              <a:t>Submit Your Database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Submit the updated Access file (.</a:t>
            </a:r>
            <a:r>
              <a:rPr lang="en-US" sz="2800" dirty="0" err="1">
                <a:latin typeface="Calibir"/>
              </a:rPr>
              <a:t>accdb</a:t>
            </a:r>
            <a:r>
              <a:rPr lang="en-US" sz="2800" dirty="0">
                <a:latin typeface="Calibir"/>
              </a:rPr>
              <a:t>) with all queries saved inside.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a backup copy in case something goes wrong.</a:t>
            </a:r>
          </a:p>
        </p:txBody>
      </p:sp>
    </p:spTree>
    <p:extLst>
      <p:ext uri="{BB962C8B-B14F-4D97-AF65-F5344CB8AC3E}">
        <p14:creationId xmlns:p14="http://schemas.microsoft.com/office/powerpoint/2010/main" val="31834980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21A4DA0-2EBF-A780-96B7-8B68C5F15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06F54D-FB56-155B-245C-0E0AFAEBA6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369C6-3A04-0293-7931-B5C5183CAF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C05E149-E689-F9A3-4B56-BB4B313D78E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502109"/>
          </a:xfrm>
        </p:spPr>
        <p:txBody>
          <a:bodyPr>
            <a:noAutofit/>
          </a:bodyPr>
          <a:lstStyle/>
          <a:p>
            <a:r>
              <a:rPr lang="en-US" sz="3200" dirty="0"/>
              <a:t>Preparation for Tutorial Week 6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CE6DE1-97CC-BB87-E061-85D5AB5D1FBD}"/>
              </a:ext>
            </a:extLst>
          </p:cNvPr>
          <p:cNvSpPr txBox="1"/>
          <p:nvPr/>
        </p:nvSpPr>
        <p:spPr>
          <a:xfrm>
            <a:off x="0" y="791084"/>
            <a:ext cx="9144000" cy="52264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What to Avoid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latin typeface="Calibir"/>
              </a:rPr>
              <a:t>Do not overwrite tables</a:t>
            </a:r>
            <a:r>
              <a:rPr lang="en-US" sz="2500" dirty="0">
                <a:latin typeface="Calibir"/>
              </a:rPr>
              <a:t> when testing action queries—always check which table you’re updating.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latin typeface="Calibir"/>
              </a:rPr>
              <a:t>Do not submit screenshots</a:t>
            </a:r>
            <a:r>
              <a:rPr lang="en-US" sz="2500" dirty="0">
                <a:latin typeface="Calibir"/>
              </a:rPr>
              <a:t> of queries instead of the Access file.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latin typeface="Calibir"/>
              </a:rPr>
              <a:t>Do not leave default query names</a:t>
            </a:r>
            <a:r>
              <a:rPr lang="en-US" sz="2500" dirty="0">
                <a:latin typeface="Calibir"/>
              </a:rPr>
              <a:t> (Query1, Query2)—this loses marks.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latin typeface="Calibir"/>
              </a:rPr>
              <a:t>Do not hardcode wrong values</a:t>
            </a:r>
            <a:r>
              <a:rPr lang="en-US" sz="2500" dirty="0">
                <a:latin typeface="Calibir"/>
              </a:rPr>
              <a:t> (e.g., typing "Raymond" without checking instructor spelling). Use exact data from the tables.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b="1" dirty="0">
                <a:latin typeface="Calibir"/>
              </a:rPr>
              <a:t>Do not delete original tables</a:t>
            </a:r>
            <a:r>
              <a:rPr lang="en-US" sz="2500" dirty="0">
                <a:latin typeface="Calibir"/>
              </a:rPr>
              <a:t>—only work with queries.</a:t>
            </a:r>
          </a:p>
        </p:txBody>
      </p:sp>
    </p:spTree>
    <p:extLst>
      <p:ext uri="{BB962C8B-B14F-4D97-AF65-F5344CB8AC3E}">
        <p14:creationId xmlns:p14="http://schemas.microsoft.com/office/powerpoint/2010/main" val="30036922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038054A-2398-F40D-8405-07958D72F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18237D-61D2-1460-E0C3-05235890E0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0ACAF-0E05-D465-14C1-74A5AB4859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D7769CE-F721-F3AC-7027-073D82FCD3C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502109"/>
          </a:xfrm>
        </p:spPr>
        <p:txBody>
          <a:bodyPr>
            <a:noAutofit/>
          </a:bodyPr>
          <a:lstStyle/>
          <a:p>
            <a:r>
              <a:rPr lang="en-US" sz="3200" dirty="0"/>
              <a:t>Preparation for Tutorial Week 6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8DD085-A48B-4C46-3E52-7067BCC3380F}"/>
              </a:ext>
            </a:extLst>
          </p:cNvPr>
          <p:cNvSpPr txBox="1"/>
          <p:nvPr/>
        </p:nvSpPr>
        <p:spPr>
          <a:xfrm>
            <a:off x="0" y="791084"/>
            <a:ext cx="9144000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to Submit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One Access database file (.</a:t>
            </a:r>
            <a:r>
              <a:rPr lang="en-US" sz="2800" dirty="0" err="1">
                <a:latin typeface="Calibir"/>
              </a:rPr>
              <a:t>accdb</a:t>
            </a:r>
            <a:r>
              <a:rPr lang="en-US" sz="2800" dirty="0">
                <a:latin typeface="Calibir"/>
              </a:rPr>
              <a:t>) with: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Queries 1–10 (Query 11 if attempted).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saved with a clear, meaningful name.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sure queries run correctly when opened by your tutor.</a:t>
            </a:r>
          </a:p>
        </p:txBody>
      </p:sp>
    </p:spTree>
    <p:extLst>
      <p:ext uri="{BB962C8B-B14F-4D97-AF65-F5344CB8AC3E}">
        <p14:creationId xmlns:p14="http://schemas.microsoft.com/office/powerpoint/2010/main" val="31476194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9EFD0B3-564A-EE16-3F7D-4159C5AAA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6208A0-67D1-2EE1-A6C3-E8D94290C4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151537-DE23-0271-7B70-FE5457D7F5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94C7D22-5C99-D462-D137-6A1F8534755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348654" cy="502109"/>
          </a:xfrm>
        </p:spPr>
        <p:txBody>
          <a:bodyPr>
            <a:noAutofit/>
          </a:bodyPr>
          <a:lstStyle/>
          <a:p>
            <a:r>
              <a:rPr lang="en-US" sz="3200" dirty="0"/>
              <a:t>Preparation for Tutorial Week 6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AC342D-E57B-1C0D-E4BE-4F5FC5D4974E}"/>
              </a:ext>
            </a:extLst>
          </p:cNvPr>
          <p:cNvSpPr txBox="1"/>
          <p:nvPr/>
        </p:nvSpPr>
        <p:spPr>
          <a:xfrm>
            <a:off x="0" y="791084"/>
            <a:ext cx="9144000" cy="51961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Tips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Use Design View for precision, then switch to Datasheet View to check results.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Use wildcards (LIKE "M*") for names starting with "M".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Use aggregates (Totals) for counting (Query6, Query7, Query9).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Always test criteria step by step—start with a Select query before converting to an Action query.</a:t>
            </a:r>
          </a:p>
        </p:txBody>
      </p:sp>
    </p:spTree>
    <p:extLst>
      <p:ext uri="{BB962C8B-B14F-4D97-AF65-F5344CB8AC3E}">
        <p14:creationId xmlns:p14="http://schemas.microsoft.com/office/powerpoint/2010/main" val="14779890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CD5BB-FD25-7302-E553-EF1050FB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Peacock with fanned-out feathers">
            <a:extLst>
              <a:ext uri="{FF2B5EF4-FFF2-40B4-BE49-F238E27FC236}">
                <a16:creationId xmlns:a16="http://schemas.microsoft.com/office/drawing/2014/main" id="{ED542B04-B9C8-B1C2-B053-AF44B8F6AA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195" r="27525" b="-1"/>
          <a:stretch>
            <a:fillRect/>
          </a:stretch>
        </p:blipFill>
        <p:spPr>
          <a:xfrm>
            <a:off x="2642616" y="10"/>
            <a:ext cx="6501384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AB1648-324E-D430-E22F-E944F8C8A874}"/>
              </a:ext>
            </a:extLst>
          </p:cNvPr>
          <p:cNvSpPr txBox="1"/>
          <p:nvPr/>
        </p:nvSpPr>
        <p:spPr>
          <a:xfrm>
            <a:off x="358485" y="1122363"/>
            <a:ext cx="3017520" cy="320413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450"/>
              </a:spcAft>
              <a:defRPr/>
            </a:pPr>
            <a:r>
              <a:rPr lang="en-US" sz="4200" b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Attendance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1653" y="434802"/>
            <a:ext cx="146304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4546920"/>
            <a:ext cx="298323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85925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BCADA-C2BC-8C89-F224-6C84B30E1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E8AB4A3-BE79-06FA-AC7C-BEC57E783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7999"/>
            <a:ext cx="9144000" cy="577517"/>
          </a:xfrm>
        </p:spPr>
        <p:txBody>
          <a:bodyPr>
            <a:normAutofit/>
          </a:bodyPr>
          <a:lstStyle/>
          <a:p>
            <a:r>
              <a:rPr lang="en-US" sz="3000" dirty="0">
                <a:solidFill>
                  <a:srgbClr val="FF0000"/>
                </a:solidFill>
                <a:latin typeface="+mn-lt"/>
              </a:rPr>
              <a:t>Let’s Answer Your Questions</a:t>
            </a:r>
            <a:endParaRPr lang="en-AU" sz="3000" dirty="0">
              <a:solidFill>
                <a:srgbClr val="FF0000"/>
              </a:solidFill>
              <a:latin typeface="+mn-lt"/>
            </a:endParaRPr>
          </a:p>
        </p:txBody>
      </p:sp>
      <p:pic>
        <p:nvPicPr>
          <p:cNvPr id="1028" name="Picture 4" descr="Answering Questions In Complete Sentences">
            <a:extLst>
              <a:ext uri="{FF2B5EF4-FFF2-40B4-BE49-F238E27FC236}">
                <a16:creationId xmlns:a16="http://schemas.microsoft.com/office/drawing/2014/main" id="{84E5527E-4D0B-667B-4471-EFDB8B314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9245" y="1769082"/>
            <a:ext cx="3385511" cy="2115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0BBB43-1E60-3AC7-6893-6AAB3EFF1E14}"/>
              </a:ext>
            </a:extLst>
          </p:cNvPr>
          <p:cNvSpPr txBox="1"/>
          <p:nvPr/>
        </p:nvSpPr>
        <p:spPr>
          <a:xfrm>
            <a:off x="0" y="3610694"/>
            <a:ext cx="9144000" cy="1981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5763" indent="-385763" defTabSz="6858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defRPr/>
            </a:pPr>
            <a:r>
              <a:rPr lang="en-US" altLang="en-US" sz="21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Live during class</a:t>
            </a:r>
            <a:r>
              <a:rPr lang="en-US" altLang="en-US" sz="210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– Ask directly during sessions.</a:t>
            </a:r>
          </a:p>
          <a:p>
            <a:pPr marL="385763" indent="-385763" defTabSz="6858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defRPr/>
            </a:pPr>
            <a:r>
              <a:rPr lang="en-US" altLang="en-US" sz="21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Canvas Inbox</a:t>
            </a:r>
            <a:r>
              <a:rPr lang="en-US" altLang="en-US" sz="210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– For structured academic queries.</a:t>
            </a:r>
          </a:p>
          <a:p>
            <a:pPr marL="385763" indent="-385763" defTabSz="6858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defRPr/>
            </a:pPr>
            <a:r>
              <a:rPr lang="en-US" altLang="en-US" sz="21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Email</a:t>
            </a:r>
            <a:r>
              <a:rPr lang="en-US" altLang="en-US" sz="210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– For formal communications or attachments.</a:t>
            </a:r>
          </a:p>
          <a:p>
            <a:pPr marL="385763" indent="-385763" defTabSz="6858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defRPr/>
            </a:pPr>
            <a:r>
              <a:rPr lang="en-US" altLang="en-US" sz="21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Microsoft Team </a:t>
            </a:r>
            <a:r>
              <a:rPr lang="en-US" altLang="en-US" sz="210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 Send a reminder if I did not reply after 3 business day</a:t>
            </a:r>
          </a:p>
        </p:txBody>
      </p:sp>
    </p:spTree>
    <p:extLst>
      <p:ext uri="{BB962C8B-B14F-4D97-AF65-F5344CB8AC3E}">
        <p14:creationId xmlns:p14="http://schemas.microsoft.com/office/powerpoint/2010/main" val="21912235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379064" y="1272864"/>
            <a:ext cx="4306642" cy="4306642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4791090" y="1178919"/>
            <a:ext cx="4352911" cy="4494530"/>
          </a:xfrm>
          <a:prstGeom prst="rect">
            <a:avLst/>
          </a:prstGeom>
        </p:spPr>
        <p:txBody>
          <a:bodyPr vert="horz" lIns="68580" tIns="34290" rIns="68580" bIns="34290" rtlCol="0" anchor="t">
            <a:noAutofit/>
          </a:bodyPr>
          <a:lstStyle/>
          <a:p>
            <a:pPr defTabSz="685800">
              <a:lnSpc>
                <a:spcPct val="150000"/>
              </a:lnSpc>
              <a:spcAft>
                <a:spcPts val="450"/>
              </a:spcAft>
              <a:defRPr/>
            </a:pPr>
            <a:r>
              <a:rPr lang="en-US" sz="2100" b="1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  <a:t>Happy Learning and Bright Futures Ahead!</a:t>
            </a:r>
            <a:b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</a:br>
            <a:r>
              <a:rPr lang="en-US" sz="2100" i="1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  <a:t>Dr. Farshid Keivanian</a:t>
            </a:r>
            <a:b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</a:br>
            <a:r>
              <a:rPr lang="en-US" sz="2100" b="1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  <a:t>Stay Connected:</a:t>
            </a:r>
            <a:b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</a:br>
            <a: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  <a:hlinkClick r:id="rId3"/>
              </a:rPr>
              <a:t>linkedin.com/in/farshid-keivanian</a:t>
            </a:r>
            <a: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  <a:t> </a:t>
            </a:r>
            <a:b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</a:br>
            <a: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  <a:hlinkClick r:id="rId4"/>
              </a:rPr>
              <a:t>github.com/FarshidKeivanian</a:t>
            </a:r>
            <a: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  <a:t> </a:t>
            </a:r>
          </a:p>
          <a:p>
            <a:pPr indent="-171450" defTabSz="685800">
              <a:lnSpc>
                <a:spcPct val="150000"/>
              </a:lnSpc>
              <a:spcAft>
                <a:spcPts val="450"/>
              </a:spcAft>
              <a:buFont typeface="Arial" panose="020B0604020202020204" pitchFamily="34" charset="0"/>
              <a:buChar char="•"/>
              <a:defRPr/>
            </a:pPr>
            <a:r>
              <a:rPr lang="en-US" sz="2100" i="1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  <a:t>Education is the most powerful weapon you can use to change the world. </a:t>
            </a:r>
            <a:r>
              <a:rPr lang="en-US" sz="2100" dirty="0">
                <a:solidFill>
                  <a:prstClr val="black">
                    <a:alpha val="80000"/>
                  </a:prstClr>
                </a:solidFill>
                <a:latin typeface="Calibri" panose="020F0502020204030204"/>
              </a:rPr>
              <a:t>— Nelson Mandela</a:t>
            </a:r>
          </a:p>
        </p:txBody>
      </p: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AE2E-97E0-BDCA-618B-720FE1F7F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13548F9-A26E-1B74-C2A0-A0350AC21E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3827"/>
            <a:ext cx="6553200" cy="502061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spcBef>
                <a:spcPts val="75"/>
              </a:spcBef>
            </a:pPr>
            <a:r>
              <a:rPr lang="en-US" sz="3200" dirty="0"/>
              <a:t>Thank You</a:t>
            </a:r>
            <a:endParaRPr sz="3200" spc="-8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85BD2D9-AABA-65D7-AD99-6F5B8666F073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476" rIns="0" bIns="0" rtlCol="0">
            <a:spAutoFit/>
          </a:bodyPr>
          <a:lstStyle/>
          <a:p>
            <a:pPr marL="28575" defTabSz="685800">
              <a:spcBef>
                <a:spcPts val="4"/>
              </a:spcBef>
            </a:pPr>
            <a:fld id="{81D60167-4931-47E6-BA6A-407CBD079E47}" type="slidenum">
              <a:rPr kern="0" dirty="0"/>
              <a:pPr marL="28575" defTabSz="685800">
                <a:spcBef>
                  <a:spcPts val="4"/>
                </a:spcBef>
              </a:pPr>
              <a:t>67</a:t>
            </a:fld>
            <a:r>
              <a:rPr kern="0" spc="176" dirty="0"/>
              <a:t> </a:t>
            </a:r>
            <a:r>
              <a:rPr kern="0" dirty="0"/>
              <a:t>|</a:t>
            </a:r>
            <a:r>
              <a:rPr kern="0" spc="300" dirty="0"/>
              <a:t> </a:t>
            </a:r>
            <a:r>
              <a:rPr kern="0" dirty="0"/>
              <a:t>Faculty</a:t>
            </a:r>
            <a:r>
              <a:rPr kern="0" spc="-11" dirty="0"/>
              <a:t> </a:t>
            </a:r>
            <a:r>
              <a:rPr kern="0" dirty="0"/>
              <a:t>of</a:t>
            </a:r>
            <a:r>
              <a:rPr kern="0" spc="-15" dirty="0"/>
              <a:t> </a:t>
            </a:r>
            <a:r>
              <a:rPr kern="0" dirty="0"/>
              <a:t>Business</a:t>
            </a:r>
            <a:r>
              <a:rPr kern="0" spc="-15" dirty="0"/>
              <a:t> </a:t>
            </a:r>
            <a:r>
              <a:rPr kern="0" dirty="0"/>
              <a:t>and</a:t>
            </a:r>
            <a:r>
              <a:rPr kern="0" spc="-15" dirty="0"/>
              <a:t> </a:t>
            </a:r>
            <a:r>
              <a:rPr kern="0" dirty="0"/>
              <a:t>Law</a:t>
            </a:r>
            <a:r>
              <a:rPr kern="0" spc="-11" dirty="0"/>
              <a:t> </a:t>
            </a:r>
            <a:r>
              <a:rPr kern="0" dirty="0"/>
              <a:t>|</a:t>
            </a:r>
            <a:r>
              <a:rPr kern="0" spc="-11" dirty="0"/>
              <a:t> </a:t>
            </a:r>
            <a:r>
              <a:rPr kern="0" dirty="0"/>
              <a:t>Peter</a:t>
            </a:r>
            <a:r>
              <a:rPr kern="0" spc="-8" dirty="0"/>
              <a:t> </a:t>
            </a:r>
            <a:r>
              <a:rPr kern="0" dirty="0"/>
              <a:t>Faber</a:t>
            </a:r>
            <a:r>
              <a:rPr kern="0" spc="-11" dirty="0"/>
              <a:t> </a:t>
            </a:r>
            <a:r>
              <a:rPr kern="0" dirty="0"/>
              <a:t>Business</a:t>
            </a:r>
            <a:r>
              <a:rPr kern="0" spc="-11" dirty="0"/>
              <a:t> </a:t>
            </a:r>
            <a:r>
              <a:rPr kern="0" spc="-8" dirty="0"/>
              <a:t>School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C5F5B67-D420-B363-36D0-076510E9FACF}"/>
              </a:ext>
            </a:extLst>
          </p:cNvPr>
          <p:cNvSpPr txBox="1"/>
          <p:nvPr/>
        </p:nvSpPr>
        <p:spPr>
          <a:xfrm>
            <a:off x="154858" y="1214061"/>
            <a:ext cx="5808821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i="1" kern="0" dirty="0">
                <a:solidFill>
                  <a:prstClr val="black"/>
                </a:solidFill>
                <a:latin typeface="Calibri"/>
                <a:cs typeface="Arial"/>
              </a:rPr>
              <a:t>Have a Great Learning Day!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4D47354F-B664-DD16-78CE-61C2CA4253AA}"/>
              </a:ext>
            </a:extLst>
          </p:cNvPr>
          <p:cNvSpPr txBox="1"/>
          <p:nvPr/>
        </p:nvSpPr>
        <p:spPr>
          <a:xfrm>
            <a:off x="154858" y="1720357"/>
            <a:ext cx="8074742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kern="0" dirty="0">
                <a:solidFill>
                  <a:prstClr val="black"/>
                </a:solidFill>
                <a:latin typeface="Calibri"/>
              </a:rPr>
              <a:t>Feel free to reach out with any questions!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26A8C491-6C04-81E4-0F77-7812ABB2A303}"/>
              </a:ext>
            </a:extLst>
          </p:cNvPr>
          <p:cNvSpPr txBox="1"/>
          <p:nvPr/>
        </p:nvSpPr>
        <p:spPr>
          <a:xfrm>
            <a:off x="154858" y="2226653"/>
            <a:ext cx="5808821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kern="0" dirty="0">
                <a:solidFill>
                  <a:prstClr val="black"/>
                </a:solidFill>
                <a:latin typeface="Calibri"/>
              </a:rPr>
              <a:t>Dr. Farshid Keivanian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37682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U Presentation">
  <a:themeElements>
    <a:clrScheme name="ACUColourScheme">
      <a:dk1>
        <a:srgbClr val="3C1053"/>
      </a:dk1>
      <a:lt1>
        <a:srgbClr val="FFFFFF"/>
      </a:lt1>
      <a:dk2>
        <a:srgbClr val="3C1053"/>
      </a:dk2>
      <a:lt2>
        <a:srgbClr val="E8E3DB"/>
      </a:lt2>
      <a:accent1>
        <a:srgbClr val="F2120C"/>
      </a:accent1>
      <a:accent2>
        <a:srgbClr val="3D3935"/>
      </a:accent2>
      <a:accent3>
        <a:srgbClr val="8C857B"/>
      </a:accent3>
      <a:accent4>
        <a:srgbClr val="3C1053"/>
      </a:accent4>
      <a:accent5>
        <a:srgbClr val="E8E3DB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rgbClr val="3D3935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_Template_4_3_V2.potx" id="{F3B38964-EE74-4E1D-A3FE-21D8EB788CBF}" vid="{2C9D612A-0DB5-43BD-9B9F-0A9FAAF24DC0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DC8B17FFF79F46AB892AACDE15F09D" ma:contentTypeVersion="1" ma:contentTypeDescription="Create a new document." ma:contentTypeScope="" ma:versionID="a5ba99c893f738a110fead59b8aec54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c96ba11fc0b0f11135d6dc28d8a2ff0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360E499-BA5F-475B-94B4-A8CCAB2763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05866CA7-3031-48D4-BC56-8127880CD39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19D6D79-91EF-4340-8C3D-E484566A2E2F}">
  <ds:schemaRefs>
    <ds:schemaRef ds:uri="http://purl.org/dc/dcmitype/"/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PPT_Template_4_3_V2.potx</Template>
  <TotalTime>4100</TotalTime>
  <Words>2867</Words>
  <Application>Microsoft Office PowerPoint</Application>
  <PresentationFormat>On-screen Show (4:3)</PresentationFormat>
  <Paragraphs>787</Paragraphs>
  <Slides>67</Slides>
  <Notes>62</Notes>
  <HiddenSlides>0</HiddenSlides>
  <MMClips>3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5" baseType="lpstr">
      <vt:lpstr>Arial</vt:lpstr>
      <vt:lpstr>Calibir</vt:lpstr>
      <vt:lpstr>Calibri</vt:lpstr>
      <vt:lpstr>Calibri Light</vt:lpstr>
      <vt:lpstr>ACU Presentation</vt:lpstr>
      <vt:lpstr>1_Office Theme</vt:lpstr>
      <vt:lpstr>Office Theme</vt:lpstr>
      <vt:lpstr>think-cell Slide</vt:lpstr>
      <vt:lpstr>Small-scale database implementation – Query By Example (QBE)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Let’s Answer Your Questions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ACU Presentation</dc:title>
  <dc:creator>Husnen Rupani;Simone.Byrnes@acu.edu.au</dc:creator>
  <cp:lastModifiedBy>Farshid Keivanian</cp:lastModifiedBy>
  <cp:revision>781</cp:revision>
  <cp:lastPrinted>2017-08-03T04:07:41Z</cp:lastPrinted>
  <dcterms:created xsi:type="dcterms:W3CDTF">2017-05-11T09:33:32Z</dcterms:created>
  <dcterms:modified xsi:type="dcterms:W3CDTF">2026-04-13T06:38:51Z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0x0101007CDC8B17FFF79F46AB892AACDE15F09D</vt:lpwstr>
  </property>
</Properties>
</file>