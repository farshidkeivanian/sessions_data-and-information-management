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</p:sldMasterIdLst>
  <p:notesMasterIdLst>
    <p:notesMasterId r:id="rId93"/>
  </p:notesMasterIdLst>
  <p:sldIdLst>
    <p:sldId id="421" r:id="rId6"/>
    <p:sldId id="258" r:id="rId7"/>
    <p:sldId id="2674" r:id="rId8"/>
    <p:sldId id="2870" r:id="rId9"/>
    <p:sldId id="2871" r:id="rId10"/>
    <p:sldId id="2872" r:id="rId11"/>
    <p:sldId id="2873" r:id="rId12"/>
    <p:sldId id="2874" r:id="rId13"/>
    <p:sldId id="2875" r:id="rId14"/>
    <p:sldId id="2877" r:id="rId15"/>
    <p:sldId id="2878" r:id="rId16"/>
    <p:sldId id="2880" r:id="rId17"/>
    <p:sldId id="2881" r:id="rId18"/>
    <p:sldId id="2882" r:id="rId19"/>
    <p:sldId id="2883" r:id="rId20"/>
    <p:sldId id="2884" r:id="rId21"/>
    <p:sldId id="2885" r:id="rId22"/>
    <p:sldId id="2886" r:id="rId23"/>
    <p:sldId id="2887" r:id="rId24"/>
    <p:sldId id="2888" r:id="rId25"/>
    <p:sldId id="2889" r:id="rId26"/>
    <p:sldId id="2891" r:id="rId27"/>
    <p:sldId id="2894" r:id="rId28"/>
    <p:sldId id="2892" r:id="rId29"/>
    <p:sldId id="2893" r:id="rId30"/>
    <p:sldId id="2895" r:id="rId31"/>
    <p:sldId id="2896" r:id="rId32"/>
    <p:sldId id="2897" r:id="rId33"/>
    <p:sldId id="2898" r:id="rId34"/>
    <p:sldId id="2899" r:id="rId35"/>
    <p:sldId id="2900" r:id="rId36"/>
    <p:sldId id="2566" r:id="rId37"/>
    <p:sldId id="2908" r:id="rId38"/>
    <p:sldId id="2909" r:id="rId39"/>
    <p:sldId id="2910" r:id="rId40"/>
    <p:sldId id="2911" r:id="rId41"/>
    <p:sldId id="2912" r:id="rId42"/>
    <p:sldId id="2913" r:id="rId43"/>
    <p:sldId id="2914" r:id="rId44"/>
    <p:sldId id="2915" r:id="rId45"/>
    <p:sldId id="2916" r:id="rId46"/>
    <p:sldId id="2917" r:id="rId47"/>
    <p:sldId id="2919" r:id="rId48"/>
    <p:sldId id="2920" r:id="rId49"/>
    <p:sldId id="2921" r:id="rId50"/>
    <p:sldId id="2922" r:id="rId51"/>
    <p:sldId id="2923" r:id="rId52"/>
    <p:sldId id="2924" r:id="rId53"/>
    <p:sldId id="2925" r:id="rId54"/>
    <p:sldId id="2926" r:id="rId55"/>
    <p:sldId id="2927" r:id="rId56"/>
    <p:sldId id="2928" r:id="rId57"/>
    <p:sldId id="2929" r:id="rId58"/>
    <p:sldId id="2930" r:id="rId59"/>
    <p:sldId id="2931" r:id="rId60"/>
    <p:sldId id="2932" r:id="rId61"/>
    <p:sldId id="2933" r:id="rId62"/>
    <p:sldId id="2907" r:id="rId63"/>
    <p:sldId id="2935" r:id="rId64"/>
    <p:sldId id="2936" r:id="rId65"/>
    <p:sldId id="2937" r:id="rId66"/>
    <p:sldId id="2938" r:id="rId67"/>
    <p:sldId id="2939" r:id="rId68"/>
    <p:sldId id="2940" r:id="rId69"/>
    <p:sldId id="2941" r:id="rId70"/>
    <p:sldId id="2944" r:id="rId71"/>
    <p:sldId id="2945" r:id="rId72"/>
    <p:sldId id="2946" r:id="rId73"/>
    <p:sldId id="2947" r:id="rId74"/>
    <p:sldId id="2948" r:id="rId75"/>
    <p:sldId id="2949" r:id="rId76"/>
    <p:sldId id="2950" r:id="rId77"/>
    <p:sldId id="2951" r:id="rId78"/>
    <p:sldId id="2952" r:id="rId79"/>
    <p:sldId id="2953" r:id="rId80"/>
    <p:sldId id="2954" r:id="rId81"/>
    <p:sldId id="2955" r:id="rId82"/>
    <p:sldId id="2956" r:id="rId83"/>
    <p:sldId id="2957" r:id="rId84"/>
    <p:sldId id="2958" r:id="rId85"/>
    <p:sldId id="2934" r:id="rId86"/>
    <p:sldId id="2902" r:id="rId87"/>
    <p:sldId id="2905" r:id="rId88"/>
    <p:sldId id="2906" r:id="rId89"/>
    <p:sldId id="2903" r:id="rId90"/>
    <p:sldId id="2904" r:id="rId91"/>
    <p:sldId id="350" r:id="rId92"/>
  </p:sldIdLst>
  <p:sldSz cx="9144000" cy="6858000" type="screen4x3"/>
  <p:notesSz cx="6805613" cy="9939338"/>
  <p:custDataLst>
    <p:tags r:id="rId9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8C857B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1677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presProps" Target="pres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15/09/2025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0C3409-D902-FCEC-29B0-0516CC92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5181B0-9F54-1B5B-CE2D-5280A315D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D3E02-DB95-F9E8-7171-9F53A3D00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49A7C2-50CD-CDF4-12C9-F1A66E877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464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344082F-5C95-973C-091A-F53217AA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CC6D7A3-BD13-A74B-A078-E5CDF71B68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5EA9E37-B313-EECF-AAF0-2CDD9765A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3D1D30E-37B3-0602-5417-BECB5FC55A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129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CFB00AC-2B75-1CE6-FFD8-47CB14BE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A7429F3-1801-7968-0960-72F5E53E8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B41C959-C3F5-897A-B59E-EA84906E3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CFA8DD8-35E9-6923-6CC5-1E51D7569C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89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72750C-85A0-413C-527A-60E4C10D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630AC54-FC00-BFCB-96A7-33C1B0164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5334D88-478C-43EA-36B9-97190C24C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A0C346A-7F0C-3772-8D5C-BCCBC9AC6E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28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7C3E57-B1E1-5A4E-FDC2-07D9EADF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E9251A8-12A1-00F0-4AE2-7E37D0951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377AF13-1E8F-D257-FD17-2F176C474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30B846B-EE1E-BCD8-C1CB-13A8E4C17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967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9179D11-7E45-CE26-0757-8A95DB36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5D43EB2-D382-07F7-3D2A-32C893DA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3E2AE71-6CCB-53C7-3E0E-460BDF08CD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0FBE80-AE55-5310-EAFA-EE63EF2452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91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28AAE67-7711-44E3-FED0-AF2192F8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38BB18B-B40D-3DC4-771B-7774CD7BA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BBBBBFE-83E5-30AE-BE98-1C4B00F11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4340D3B-13AF-3FBB-E326-690A90FFC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944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89F7E17-2CEF-C818-AA4B-D181CD6F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B9E0720-EFD0-6C5E-B3DA-C7D47B9DF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3FD9912-8DBF-3FB4-22BB-3E2C3F845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3A297B3-8830-EFBE-4C47-FB4BC8277F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241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D28C903-00CA-C791-7074-29680A9B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6DEC31F-B273-9692-84F0-9EEB0EBF1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30E5FB-C98C-6345-486B-5EDBC80E5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E3ABE7C-336B-2C1C-39EB-E5B733B811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108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ECD8B14-DC43-E036-297D-BBBE7849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D61A128-A14D-E017-E616-78CB1C1E2D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C7E530-7AD7-D69E-5D28-64AE4DC81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5907FB6-C624-0AF1-3A38-57F146C277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255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6CE8A30-DCAF-AF5C-48F7-16F70588E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CA6161D-9366-E022-0348-453FFD30F1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1B95910-4789-0F6A-8930-324325207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9BB1CBF-083C-59DB-1174-E2C5E38E5C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291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6798224-7F07-DA6C-89FF-C8E5A0BB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3BD2DF-C7D4-9503-6C94-74005252E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246ADD5-5A44-E834-BDBA-9D1311297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04BD421-78B3-8F88-3935-46D6D0469C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920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04F15AD-DB51-B01F-3936-A85EBDF5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B8EA4D5-FC4C-A277-FB15-EC7BB48FC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D0C622D-2D00-C046-C18B-3E107E6AE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276EAAD-A9BE-24EA-EB2D-322E2865D4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457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3ECB3A1-1B1E-33E5-E815-E9DA610F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982E094-81FD-6EF9-4C56-38817BCEA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29BC903-FFB6-5307-EC5F-3B40C3386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0CF9EDC-C664-2C1F-077B-0C6585840C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758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7D91B4B-B13D-61C2-6F39-A97BCB42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9BE1C7B-311B-B436-0A9D-F01266E08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ADD0CC2-C2D5-A6D4-5061-A827D7432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DED83CF-5255-94B2-EB09-A0A25A03AE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667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281DC86-A9B0-E7EB-9A4F-C8C36BAA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EC790C0-D1B8-8AA8-2600-F4FDD431E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B954DA-B633-6A59-B271-955CA3913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5F3F636-3930-F2BA-01FB-907BD4A131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5462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1AFBE10-239F-28D2-8FDE-86033D4C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62D4BA6-7A4D-5CEC-4A94-B5AECAE2D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6B86F31-AA74-A9E7-2A88-5EBE1935B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895BE86-F928-0D73-DDF8-22081420D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6340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54735D6-5FF9-2BDE-4BC3-87B417C9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425BBFD-C0BF-52D4-7464-F1A966256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7E663E-59CB-FF43-B4D9-6C5636838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F0DE96-0425-5B50-2A41-900CF209E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429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7219EEB-B7F8-691F-B0EB-E3B31C34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4925B9C-DCDB-A0A4-01EC-218AD64AF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1EFA3D1-6D81-FB78-136F-EF41344AE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BACFB6B-901F-7590-F59E-E43F9562D7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0300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6460313-1BAB-48B1-9720-9EC2086F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943CF08-ED98-5B01-7C12-1477F9B94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F22511B-33EB-57AD-E39B-319E07051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BFB9470-D4F8-681F-0D0E-C4FEA24756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95446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4804AD-0BEB-0B8E-10F3-EA306934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5ECD7DA-D4E6-60B9-7424-0F4E7884A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6B12B8E-07F7-F666-05A8-7930D7971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2AF5BA8-7224-9C06-DE2C-1E15B9B105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653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7BB5305-003D-0185-2640-6C92B05F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FDD8CEA-704A-5004-424B-9A185B350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8BE6083-7E6E-5842-1DDE-F8D577D879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10043FE-4253-D58A-9B0D-B9EFE00EC6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59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99F5949-A3F0-9C79-7F6C-CD928EB7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AB4D293-8611-D263-3DF0-35EB0E963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D58146E-30B4-03E6-5A52-EA801AA54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35E779-A1FA-0A94-C564-E61099540E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722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126EA3-C11D-7177-415F-29EA0F0F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E71E8B8-6C1B-C0B7-19F5-52F5D22D8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18169E1-75F2-831C-1D62-ADF084EE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8389629-5AE3-FAAD-2D0C-EF6277C68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585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673A440-D83D-26FB-1453-BB334164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363B345-BC7A-3327-4AAA-A6A735874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D8489DF-1C46-FB19-0585-2FCA60CEF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BB18505-68D1-6366-7738-C7E065D09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6719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2DB42B2-4BAF-7011-2DF3-5C7C1974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6DD6FA6-CB3D-6A51-F751-12DFC65FD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DABE4C1-C982-78D4-2816-DF577F593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6029747-2786-7E11-E1E1-5D552021BF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6062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1C899FD-3C08-4DD1-6B28-58BCD707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6D12B97-77FD-A9A9-735D-F268056AD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5601C1-AC99-13E8-FA0A-98FD3E69D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C410AC-08CC-F3B1-83AB-43D065D0BF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0832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BCDFF3A-660E-679C-46CE-21797AF1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17BA736-87D9-7937-AE81-FC93FCC4B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D5E386E-8B8F-B706-4A17-6BD834372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6B1A141-4F73-9FEF-DFB9-1426C4890D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427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2C15C25-03B1-E7A7-5B0C-B9CB7EBE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6ED1000-7E98-EB14-3DF6-D4F7F7EF0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BB5F9C4-6C27-4FCE-E8EF-D7FADD11B7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2A86B60-E72D-6CDB-2493-243AE154C7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0872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FEA5949-89EA-325A-8E79-8D5829FC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285E08-573B-DF5E-81CE-0DB9C6BD2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E04875-F22F-08FE-9E08-E34E881C2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BBA8256-5E6C-F2F9-DD2F-DA01B66DE9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2768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D6D179-5478-D373-839E-57760164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0EF4BF-A28C-0833-D66A-C60C08522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ECE5B38-84DE-0C47-5A68-46FD0A641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88FC59E-08A7-7B9B-A4CA-4C32112CDD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2756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1AB1847-A5CD-1556-DCDD-1B10CDD7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75BA60B-83CB-21BA-8DDA-20C79B658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51C0093-845B-9E77-BDD5-A13F6339E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167DD9C-F90B-CBA1-2ACA-B1FDC4B73E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2869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5123E4-2716-6F74-316F-45CA59FA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10AD0CD-0288-8B29-4D11-3CC965883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B3B4BB3-BAF7-7951-AE17-34696D18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9529786-0FB7-3DC8-10D8-E0AEB9A70A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629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743B0ED-0C53-8348-C0B3-C874B01B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AA98230-711C-8A9B-5596-41B6398A53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0035014-5383-B70B-6219-DC5F83A6F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AB5F917-CB13-216A-C9E1-AB08786D6C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3154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609EE0-24FC-16EA-DE12-D7EE7F83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DB7A056-6B4F-CF20-1123-C4F959888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87E060-A3EA-C4E8-5C0F-88D2A2C7B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778BA37-128A-CDAF-4646-5AD4573808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320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951283-8817-D22B-0EEB-AB4CB8FF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9634B93-2EF6-EAB2-F9A9-F6BDBC312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2E318A-67AF-B48B-A3FC-E2D6D72A4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EE2145-4511-4E25-63BE-9736222289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93444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B18233E-AEFE-8ABB-1C98-4CC4AD80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2056457-CB74-D208-9A8E-9A1B03A31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B6D063-D87C-596B-6636-99111DC49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3DCFB68-90F8-8CD1-919B-449E6F380B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6035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322406F-8EEF-D848-7E3D-6AFFCCA4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872A696-49B3-4EB1-24EC-9154D5DE5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8791D85-D01C-3754-B4E0-A2DBCB0E7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BC336C8-3457-4B55-9E51-2475ABA543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1368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A2257F4-7777-5D84-8D32-BF6BE9BC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2DD2473-9DA5-D325-29F1-DA4E21BDE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5775C59-AD04-658A-DC75-1F356D271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FB53D98-76A7-5B21-B6EE-244F9EB723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3861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C6D69B9-41DA-70A4-D4C6-F0CC3820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37C1804-7B4D-BC18-2227-6115895A4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B1DB594-466E-027A-8D3E-4B246FB0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0D2D103-0A8B-9477-EA36-2431359088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0249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906434E-478A-5E8B-574D-73BBDDD5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00658C8-5D0F-8981-D038-064C2ED53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146D556-404C-8B4D-784B-513D50AD6B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7676C28-8D66-24B6-0E5F-F65B5902F2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2278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0488E5E-9F25-0738-B9C0-D77DE62D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7121E1E-6FF1-DB44-5122-BEEE15FFC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CE5798A-9095-77D8-B60F-847E06FB4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8646D6A-81B5-E235-69BC-2CADE4FCFB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7950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299588B-E725-8E95-913D-DFF6873E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EDA1E72-8EDE-ED7F-3709-52FA755A0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0AC5086-B2CB-B9F8-6D55-C72064794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BF0A0C9-F8B8-2A02-1D05-D4362605A5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1053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B5AE5EA-3468-921F-04D3-58FED8B4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91EB2D-52B3-76DD-5C8F-57550ED8D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8E0D68B-9B70-CC65-3D06-B77C507D4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712EC2E-4501-DF2D-1595-9F350B82B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9793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7F2A741-7C94-E18C-D208-D8FA7813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DF99D8E-80ED-2B6B-E176-5D29F63C0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D994F88-E82A-E6F6-63AE-647AC9121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5332685-D5A6-4C49-2C30-8889AC3F2F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7912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D820CF-3B8D-33BD-56FF-10E1CC58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718C563-99FF-1EE8-48AC-93BA3AD47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68F6CB6-2554-2CD2-CCDC-EBA5B554C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353C493-293B-F144-C4EB-2A1CCDD23C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0435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487335-0DFA-31D1-CDFE-141042D7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C81322E-F2F0-511E-CBDD-6940FD542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D0F01A7-CE2A-B845-0F1C-C82B156D3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E3ABF92-2732-D227-2B4E-51281BD0CD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34327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454D2F-B0EC-7DBC-9E19-476935C1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27BF388-400A-F7E1-DA1C-63AE038A6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5625DF3-35F2-99D0-070C-9707F656F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1F9BCE8-5B94-8926-36CD-0D3BA73745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5929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5125DDC-5AEF-9E89-C892-6EB9D2F2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379FECE-DDD7-9B58-E94A-4FB1B9D10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7DB9C2D-899D-D2F4-65DC-A8B07D6F2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6A2C911-4F6C-290D-692C-7485FB06C6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137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797EED-3E6A-2BF7-4D20-74EDA2DB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DBFCC4F-F721-3DDA-9F21-60AA6CE38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B7AA018-9DDF-A2A5-E67E-2A91FD829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3D17FAF-7710-56F9-107D-4542DECFF8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70712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16E55A-FED7-B3A6-4A42-6EE3F925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1EBC37E-F9EE-289F-DCC0-36AF094C1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CC155D9-AA79-174F-9F3B-24CDC199D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FE3C00D-38AB-01EC-8B06-27DBB3617A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6333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3D05F73-96BC-D946-A97C-3E347406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DFF0F57-FA5D-E6B7-CFAB-C985B9A01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F175911-3309-50E3-AFD4-674D71DF1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B300375-36DB-DF95-3AC7-958AD2074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201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EC17FC1-539A-8AE7-BE12-FF81A4184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C481951-5086-93F9-728F-7D1B59D6D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DF35453-6500-C83F-4822-566C2DFFC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3E49477-B14E-6197-B17E-CDC6F7B8FF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1867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0D27A8-59FC-4547-D989-002B822A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9FEC5FD-64E3-447F-F16F-8C20D7B1F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60016A1-7E81-03B5-FA56-DF414FBB34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97D47E1-38CB-2246-C06F-31774B56A8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3331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C82E1C-EA56-9A9A-614F-948A76B2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FAE95AF-D4B2-BC77-9259-50ED63CD6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740DA60-7296-FACC-F624-49B635A47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2031F2-3E34-D94D-75F4-A1AD42CA38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80719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B54DBAE-B265-7B61-6967-051BAEEF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E416189-3997-7CBA-3939-333208907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E7F90EB-E319-D391-AB7D-EA00D3831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D4246FC-2C0C-2C1A-15CB-128ED2F810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2650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59B7BAB-FFD3-3E59-CA1B-05056A0F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BCBC017-6391-9856-23AD-6CA87D632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98D00C7-026C-FEB6-95D9-FDCBA578D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C0CB51D-C2DE-FB42-F072-84B5E0F3C9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3037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3D7389E-3BF3-F8AE-D05C-138DCFD3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8115F7-2C55-B173-485C-18A891F11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3112B99-9717-CC35-49E9-09E7F18A1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EDA9B4A-21DE-4886-39CF-5B85EEA2D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8169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83B9E57-9DF9-CC42-6297-3ABDBD02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04C9753-2EAD-2F7A-8211-0299E81C5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48E3C39-1F4C-F74B-02C5-41CDFFA34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4C28756-D0BC-23AB-7A4C-618D41A1F2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2046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353CBDA-4EE7-0269-B282-4F2785FB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880D2D7-2208-24C5-1239-EA6C79AED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28B3C1C-E64D-2468-6F83-83BAE11D4C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1C103F-9D20-D0CD-7340-2D895AE16D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33466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9FF63D-3E0D-6A04-89A2-04E40084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520382D-1058-8364-6580-32C0FD4FF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A922B46-A48E-9E64-D508-CEB0062DF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27751E8-1FAB-504D-0580-F74939EEF7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59398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2BB0F56-F618-1865-5619-0C392C83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2754BE-E26D-CD94-A645-33EF0BBE0F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88E166D-8A3E-9ACA-B77A-DB0A3628C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140C226-E5B3-9AF1-1CE0-BBBFC378D5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09438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C3F7BF-8A07-B39A-E65D-00D4DF38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82EF9E2-90D4-CBDA-6061-42A622A14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CDA533B-45CC-1833-49C8-BAABACB29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2BE7F7C-7515-04A6-5C1E-868E03117A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4465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F5D8FE1-4129-574E-E030-7E582238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DD635C-F5EF-2561-8D54-E1BB1B666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3DEE401-87E5-FECB-7201-9C6D18031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ACEDB56-FFE5-19C5-D4B6-3E7F9C2DF2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07216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0D0B0B-58F5-A422-042D-B6B8B63C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06B94B7-BD05-9ADC-B928-6F569904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A1C0128-2AB9-F450-9F35-633C127AD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93CF458-E03C-80AF-169C-DEAEC8B5EC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3654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EF14F45-C9F4-5FB2-3E7E-D85BB65F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D272A34-9843-0A5D-0EFC-CF3F02501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3D89AF0-20ED-E874-AAA4-99538B4F6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D15944D-DC09-CE70-C8DF-DF4595EFA3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7685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4A945C-B28A-A9A1-EA9C-AE5BF692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E054F10-A3C2-A308-E87F-D492DA870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08050E6-9C9B-470C-B7D1-8594EBA99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8867AFC-32C1-BC41-2D7F-58B184DEA3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4615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D136696-5BC3-A57C-C985-2A7365FA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52ACAD-D921-58D5-0E5A-440E3E69F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3400667-5755-21CB-1E8B-4640B74F3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E58336F-5806-C74B-6E30-AA38FC8345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7935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8500859-3E47-6E19-1A73-E3256903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CCF480-F20B-0CD3-496B-CB115D87D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4AF27A1-9881-422D-5A6B-4EB2918E2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7B43EDB-4A86-E417-627A-C487609E25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016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66BDA94-64D0-8C7F-79DE-674915BB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1DE2FB8-5C68-FF2C-DE2C-22DFEEDDA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50D82B5-334F-5FA8-439F-16A59D53E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3831B8-9442-C923-FB27-DE7D5F1905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39766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86E116-A870-68C0-C5CE-49EB3F1C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9D91078-D3D1-569B-A2E6-D7D12B752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E1AC8B9-AD21-6511-D8E0-F690943DE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8193BEE-217D-F96F-1678-DB32F07DCC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8667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29B206E-FC65-3C6C-F0FA-9E98BB01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B14489D-3DDD-AD00-3F31-97702A0FE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1101DEB-7C33-574C-7E2D-4739B5D73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61BFBB8-E791-4D91-E362-4641FBC4F6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81453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E47D01-DF69-3AE9-732A-E8E21FD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66B3F47-AA62-3085-CD1E-759A345C9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64ADB03-423A-6A94-C9B6-DA6C52BBA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9A19EA0-2E33-64D2-F2CD-59E1528CDB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55499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30CDE6F-824A-CE55-13A9-C66129F8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8DAB541-605E-0286-5F65-CE9A3E2B5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4C11F23-BD9D-CC79-7623-72A1437F4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7830747-1B95-2016-4170-545300ECB2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21393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51D600D-DB2D-3596-7106-CFE0073D3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3485EF9-3B23-A9E9-EE8F-E042FF3AC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D21C733-D9AA-061B-A29A-787136370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FBAE8A5-0E89-53F3-B9AB-134665E0CB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3500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5509EA3-A0C4-DDBF-77F0-09072E1B9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93061F2-AAA2-3696-D577-211B9DFDD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13E4455-B94F-E85D-49D0-A510B76EF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A347639-46A4-18CA-B3D9-705720DD00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58232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8C53B26-C282-D920-E84A-1DD50C1B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E33026C-DC33-3750-089B-2015167A99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F5105C0-5D75-B810-88B7-329E7C51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E182377-6A1C-8E0E-192C-2D21BE2C2C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7450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D7D2350-CA75-879A-4052-D1A3F258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B67F86B-65F4-34DE-DBE2-AA1902CAE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2EC6AF9-50B4-6425-628E-774B81740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CB9DF21-385F-5795-8DE2-6C0257D771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31258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51FABD5-1B78-6E54-369F-95BF42F24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4B94019-D155-FF8C-A31E-5F021BD1B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601A438-0C2E-823F-044D-7BDC4F63B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488E066-1474-58C1-EE7B-BD2AC8DF57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59880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ECEA33E-A6F2-C31D-D8C0-F17BCBDD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114475A-70BA-86DB-0259-0EC2F9ADD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A445B91-9D79-06A7-2F6C-36AA77C6F4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7D36DE3-49F9-2BCF-1946-9EBD3AAC92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41382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62A10DD-8726-46F0-9F9D-D5874DDE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707BDBF-2E84-74B0-9529-7B64ED4A2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DD8A59E-3AF5-86D1-2414-480C9FFA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8D47C9C-5D94-C7E0-C117-478489953A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27645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76244F-541D-BCB5-5322-C9336C61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0826D5B-3484-9AF9-6B83-C30CC8E7D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63A6C6-D760-1220-B769-16CB4284C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3C67A0B-A531-B0A8-235A-FD382523C4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31148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716A207-25F6-3189-D69F-B69E4438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62FB745-6DF3-5572-AD04-0C091BE85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F48DFEE-6B37-FC95-C7CE-E77267751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8C179EF-E328-F5FF-8601-3834C482E1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01725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07A46D8-29E3-1C2E-FE90-FBCE1F3A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2BD1435-574C-C191-E8AA-F08B30F9A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904896F-6A82-4C56-AED6-60462C890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F7733BF-52E5-AD8D-548D-D735F3F9DD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984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8411246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0355664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93803120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6872711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766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image" Target="../media/image1.emf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5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347" imgH="348" progId="TCLayout.ActiveDocument.1">
                  <p:embed/>
                </p:oleObj>
              </mc:Choice>
              <mc:Fallback>
                <p:oleObj name="think-cell Slide" r:id="rId86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54260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336332"/>
            <a:ext cx="4373370" cy="1702676"/>
          </a:xfrm>
        </p:spPr>
        <p:txBody>
          <a:bodyPr/>
          <a:lstStyle/>
          <a:p>
            <a:r>
              <a:rPr lang="en-US" sz="3400" dirty="0"/>
              <a:t>Create forms and reports in MS Access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Week 7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11875" y="528318"/>
            <a:ext cx="9120249" cy="604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Introduction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Role of Forms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Hands-On Activity 1: Creating a Customer Form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Generating Forms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Hands-On Activity 2: Building a Products Form with Search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Compare Wizard vs Design View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Reports — Customers with their Orders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Compact/Repair, Password, Backup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Tutorial Preparation (Week 7)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What to Submit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What to Avoid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Discussion &amp; Debate Questions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ir"/>
              </a:rPr>
              <a:t>Problem-Solving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C55C3C-1C70-4B05-DCEF-7BC5107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A7F4-72EE-787C-9315-6B43A6FF7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D2A-D90D-9FF9-7659-CD0E5643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5CC17E-1EEA-6DF1-8B95-4FFA28C84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573C5-EDA9-F7CB-5DAD-074958321411}"/>
              </a:ext>
            </a:extLst>
          </p:cNvPr>
          <p:cNvSpPr txBox="1"/>
          <p:nvPr/>
        </p:nvSpPr>
        <p:spPr>
          <a:xfrm>
            <a:off x="0" y="667974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Topic: Forms &amp; Reports in MS Access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we’ll do today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Learn how to make databases user-friendly with forms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reports to </a:t>
            </a:r>
            <a:r>
              <a:rPr lang="en-US" sz="2800" dirty="0" err="1">
                <a:latin typeface="Calibir"/>
              </a:rPr>
              <a:t>summarise</a:t>
            </a:r>
            <a:r>
              <a:rPr lang="en-US" sz="2800" dirty="0">
                <a:latin typeface="Calibir"/>
              </a:rPr>
              <a:t> and present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simple navigation (main menu)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Discuss database maintenance (backups, passwords)</a:t>
            </a:r>
          </a:p>
        </p:txBody>
      </p:sp>
    </p:spTree>
    <p:extLst>
      <p:ext uri="{BB962C8B-B14F-4D97-AF65-F5344CB8AC3E}">
        <p14:creationId xmlns:p14="http://schemas.microsoft.com/office/powerpoint/2010/main" val="222865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B1A25EF-7EAD-5CB9-0281-2A917056F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F0EF3-0897-453D-1CB1-F63CB9653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177A4-72D3-BE10-A67C-A8A4CB97C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7E06DB7-8DCE-A1C9-0235-7C6EF9F540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676BD-ED22-E490-AD6E-2C19F6F11EF0}"/>
              </a:ext>
            </a:extLst>
          </p:cNvPr>
          <p:cNvSpPr txBox="1"/>
          <p:nvPr/>
        </p:nvSpPr>
        <p:spPr>
          <a:xfrm>
            <a:off x="0" y="667974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it matters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Tables are for storage → but users need friendly screens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Reports turn raw data into professional documents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Skills useful for real business tasks (e.g., invoices, order lists, staff reports in Australia)</a:t>
            </a:r>
          </a:p>
        </p:txBody>
      </p:sp>
    </p:spTree>
    <p:extLst>
      <p:ext uri="{BB962C8B-B14F-4D97-AF65-F5344CB8AC3E}">
        <p14:creationId xmlns:p14="http://schemas.microsoft.com/office/powerpoint/2010/main" val="130833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247B2BE-C178-E728-C75B-06C9B1E0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0C8EF-8B77-99C8-0FC2-DDD6332F7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458EC-C193-CC6E-BCBD-7DA2A058E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43CA7A-D9FB-BE06-95CC-981CF04098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2723B-A63F-2962-D95A-7D9E728925A7}"/>
              </a:ext>
            </a:extLst>
          </p:cNvPr>
          <p:cNvSpPr txBox="1"/>
          <p:nvPr/>
        </p:nvSpPr>
        <p:spPr>
          <a:xfrm>
            <a:off x="0" y="667974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Medicare card form = entering info through a form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Woolworths receipt = a report generated from transactions</a:t>
            </a:r>
          </a:p>
        </p:txBody>
      </p:sp>
    </p:spTree>
    <p:extLst>
      <p:ext uri="{BB962C8B-B14F-4D97-AF65-F5344CB8AC3E}">
        <p14:creationId xmlns:p14="http://schemas.microsoft.com/office/powerpoint/2010/main" val="231521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497323-59DC-79B7-851D-3967919D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78A3D-5FA1-10AC-19B8-94794EDFB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5863-8A08-45BD-8406-93D231583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D665F72-132B-9B64-4D2C-864898231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Role of Forms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AD665-0A0A-E53D-53B3-905B7F754DB8}"/>
              </a:ext>
            </a:extLst>
          </p:cNvPr>
          <p:cNvSpPr txBox="1"/>
          <p:nvPr/>
        </p:nvSpPr>
        <p:spPr>
          <a:xfrm>
            <a:off x="0" y="667974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Role of Forms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Forms are the </a:t>
            </a:r>
            <a:r>
              <a:rPr lang="en-US" sz="2800" i="1" dirty="0">
                <a:latin typeface="Calibir"/>
              </a:rPr>
              <a:t>friendly face</a:t>
            </a:r>
            <a:r>
              <a:rPr lang="en-US" sz="2800" dirty="0">
                <a:latin typeface="Calibir"/>
              </a:rPr>
              <a:t> of a database. Instead of typing into raw tables, you use a neat screen to enter and view data.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 (Australia)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Like a Medicare form — you don’t see the big system behind it, just a simple sheet asking for name, address, Medicare number.</a:t>
            </a:r>
          </a:p>
        </p:txBody>
      </p:sp>
    </p:spTree>
    <p:extLst>
      <p:ext uri="{BB962C8B-B14F-4D97-AF65-F5344CB8AC3E}">
        <p14:creationId xmlns:p14="http://schemas.microsoft.com/office/powerpoint/2010/main" val="270983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DF942D-65DA-D0BC-7F0E-1C1EE254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E822A-5D17-F572-3572-780949AC8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AF492-65E9-C876-208D-2F6B7576D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A920246-EFC9-1BA4-7C51-F4C9C37FD4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Role of Forms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CBE77-CF79-6FEA-1E90-455E7D2E10CE}"/>
              </a:ext>
            </a:extLst>
          </p:cNvPr>
          <p:cNvSpPr txBox="1"/>
          <p:nvPr/>
        </p:nvSpPr>
        <p:spPr>
          <a:xfrm>
            <a:off x="0" y="667974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use forms?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Reduce mistakes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data entry easier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Allow built-in checks (validation)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Table</a:t>
            </a:r>
            <a:r>
              <a:rPr lang="en-US" sz="2800" dirty="0">
                <a:latin typeface="Calibir"/>
              </a:rPr>
              <a:t>: Customer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Form</a:t>
            </a:r>
            <a:r>
              <a:rPr lang="en-US" sz="2800" dirty="0">
                <a:latin typeface="Calibir"/>
              </a:rPr>
              <a:t>: Screen to type customer name, email, postcode</a:t>
            </a:r>
          </a:p>
        </p:txBody>
      </p:sp>
    </p:spTree>
    <p:extLst>
      <p:ext uri="{BB962C8B-B14F-4D97-AF65-F5344CB8AC3E}">
        <p14:creationId xmlns:p14="http://schemas.microsoft.com/office/powerpoint/2010/main" val="180018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67576AB-96C8-21D0-97D5-EAAD0F32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AE141-81EA-039F-E87F-9A27B0020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2F145-EABC-C2C1-B60F-987FAE11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C5ED634-A5F3-70F6-8B3A-398B0A6CE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3DF0C-397E-521D-A47C-01B53889D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080" t="15620" r="27012" b="46780"/>
          <a:stretch>
            <a:fillRect/>
          </a:stretch>
        </p:blipFill>
        <p:spPr>
          <a:xfrm>
            <a:off x="0" y="1219199"/>
            <a:ext cx="5786177" cy="5118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5EF030-9D42-E0D8-3AAF-C32FE0844C35}"/>
              </a:ext>
            </a:extLst>
          </p:cNvPr>
          <p:cNvSpPr txBox="1"/>
          <p:nvPr/>
        </p:nvSpPr>
        <p:spPr>
          <a:xfrm>
            <a:off x="5846180" y="1208687"/>
            <a:ext cx="329782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Step 1: Open Your Database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Access.</a:t>
            </a:r>
          </a:p>
        </p:txBody>
      </p:sp>
    </p:spTree>
    <p:extLst>
      <p:ext uri="{BB962C8B-B14F-4D97-AF65-F5344CB8AC3E}">
        <p14:creationId xmlns:p14="http://schemas.microsoft.com/office/powerpoint/2010/main" val="248545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3763061-D967-A03E-33D5-008B928E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C4C9F-3F8E-AAB7-3F1D-522A39998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9B6FF-4E15-2DD6-EF21-1C0D800C5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B62675C-A5DB-DF55-15BF-FD5DE5C153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92EC9A-95DF-BB3B-2829-04EAAA218A56}"/>
              </a:ext>
            </a:extLst>
          </p:cNvPr>
          <p:cNvSpPr txBox="1"/>
          <p:nvPr/>
        </p:nvSpPr>
        <p:spPr>
          <a:xfrm>
            <a:off x="5665076" y="1177158"/>
            <a:ext cx="347892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dirty="0">
                <a:latin typeface="Calibir"/>
              </a:rPr>
              <a:t>Download Module 6&amp;7 DB.accdb file from Canvas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98BB52-9421-55C4-7757-ADC615490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1" t="21750" r="20459" b="9590"/>
          <a:stretch>
            <a:fillRect/>
          </a:stretch>
        </p:blipFill>
        <p:spPr>
          <a:xfrm>
            <a:off x="0" y="1177158"/>
            <a:ext cx="5528442" cy="35314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408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AE472BE-7697-E551-784F-520E0F144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9C982-235B-4D9A-767F-6CBC3D327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CF314-C768-61DE-1610-2123E0230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AE6E7BD-0066-2670-B886-D5022C23BC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DC2B7-4C2C-9C45-2A31-FD9469CE9728}"/>
              </a:ext>
            </a:extLst>
          </p:cNvPr>
          <p:cNvSpPr txBox="1"/>
          <p:nvPr/>
        </p:nvSpPr>
        <p:spPr>
          <a:xfrm>
            <a:off x="5846180" y="1256643"/>
            <a:ext cx="329782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Open the Tutorial Week 7 database.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DB53D-50E6-C3CF-DE5C-E9F1185EB3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632" b="28799"/>
          <a:stretch>
            <a:fillRect/>
          </a:stretch>
        </p:blipFill>
        <p:spPr>
          <a:xfrm>
            <a:off x="0" y="1256643"/>
            <a:ext cx="5846179" cy="27752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44263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07488B7-A1FC-1748-ECC1-83D000C2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2A009-8D47-BCC3-BD6B-9607E58C7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F8DF0-5655-BEAB-510C-633798009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6D9C051-D5DB-1F41-F574-D3D4C309A3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49D228-3E65-C9E9-0865-349948662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65"/>
          <a:stretch>
            <a:fillRect/>
          </a:stretch>
        </p:blipFill>
        <p:spPr>
          <a:xfrm>
            <a:off x="0" y="1056946"/>
            <a:ext cx="9144000" cy="4744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9CE9E7-049B-559D-D66D-DE71F78B217B}"/>
              </a:ext>
            </a:extLst>
          </p:cNvPr>
          <p:cNvSpPr txBox="1"/>
          <p:nvPr/>
        </p:nvSpPr>
        <p:spPr>
          <a:xfrm>
            <a:off x="2963917" y="2446743"/>
            <a:ext cx="6180083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dirty="0">
                <a:latin typeface="Calibir"/>
              </a:rPr>
              <a:t>Turn on content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At the top yellow bar, click Enable Content.</a:t>
            </a:r>
          </a:p>
        </p:txBody>
      </p:sp>
    </p:spTree>
    <p:extLst>
      <p:ext uri="{BB962C8B-B14F-4D97-AF65-F5344CB8AC3E}">
        <p14:creationId xmlns:p14="http://schemas.microsoft.com/office/powerpoint/2010/main" val="347369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7EEC515-42AF-1C72-025C-D137D301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5EEEDD-BD8D-C263-3B42-3231642DE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857250"/>
            <a:ext cx="9144000" cy="483935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4D86E-21E3-8696-F836-994156CF8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3451B-C468-0BC4-5E88-A41B3186E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C3E6EFE-B8CA-748B-4D16-C2963A3DCC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BB875-40BF-3385-8B7C-5A38D3FB1A9C}"/>
              </a:ext>
            </a:extLst>
          </p:cNvPr>
          <p:cNvSpPr txBox="1"/>
          <p:nvPr/>
        </p:nvSpPr>
        <p:spPr>
          <a:xfrm>
            <a:off x="2974428" y="2575035"/>
            <a:ext cx="6169572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latin typeface="Calibir"/>
              </a:rPr>
              <a:t>Open the Form Wizard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Go to Create tab.</a:t>
            </a:r>
          </a:p>
        </p:txBody>
      </p:sp>
    </p:spTree>
    <p:extLst>
      <p:ext uri="{BB962C8B-B14F-4D97-AF65-F5344CB8AC3E}">
        <p14:creationId xmlns:p14="http://schemas.microsoft.com/office/powerpoint/2010/main" val="144480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0AB6EDC-3D86-DD6B-5ADD-F390E559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2F65C-BC76-89FC-7760-3EE24B24B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CCD9C-A52B-AB4D-7BB8-4A8D4890D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823619-1323-D220-B930-8B72A7046B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F6E33-5D0B-7FD6-739C-0D0834660A91}"/>
              </a:ext>
            </a:extLst>
          </p:cNvPr>
          <p:cNvSpPr txBox="1"/>
          <p:nvPr/>
        </p:nvSpPr>
        <p:spPr>
          <a:xfrm>
            <a:off x="5129848" y="1187669"/>
            <a:ext cx="4014152" cy="67185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Form Wizard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6C3D8-0303-4379-00BF-7506E28ED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78" t="16795" r="33793" b="39630"/>
          <a:stretch>
            <a:fillRect/>
          </a:stretch>
        </p:blipFill>
        <p:spPr>
          <a:xfrm>
            <a:off x="0" y="1187669"/>
            <a:ext cx="5063153" cy="381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3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2902D70-F181-BCDF-0EE9-2F0FC780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83A4D-B16B-308B-1862-0A7B13B33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2DE41-A74C-5A16-F013-54B827096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684095-482A-1676-140E-75F4A1A97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F89C8-F248-F87A-131A-5BD38F51C02B}"/>
              </a:ext>
            </a:extLst>
          </p:cNvPr>
          <p:cNvSpPr txBox="1"/>
          <p:nvPr/>
        </p:nvSpPr>
        <p:spPr>
          <a:xfrm>
            <a:off x="5129848" y="1187669"/>
            <a:ext cx="4014152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6) Pick the source and fields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Tables/Queries, choose Table: </a:t>
            </a:r>
            <a:r>
              <a:rPr lang="en-US" sz="2800" dirty="0" err="1">
                <a:latin typeface="Calibir"/>
              </a:rPr>
              <a:t>CustomerCreditCards</a:t>
            </a:r>
            <a:r>
              <a:rPr lang="en-US" sz="2800" dirty="0">
                <a:latin typeface="Calibir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6E446-8A43-A5FA-AC18-94461FD912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78" t="16795" r="33793" b="39630"/>
          <a:stretch>
            <a:fillRect/>
          </a:stretch>
        </p:blipFill>
        <p:spPr>
          <a:xfrm>
            <a:off x="0" y="1187669"/>
            <a:ext cx="5063153" cy="381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8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231F42C-EB9B-56D1-CD3E-B607D538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E83A1-C45D-2326-3E80-252625B0D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6E541-D74E-3ADE-EF52-26A4D7C73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3C2E5AC-767C-5CF2-2BE8-D03C24D96F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367AF-336A-F446-B288-0E26124ECD74}"/>
              </a:ext>
            </a:extLst>
          </p:cNvPr>
          <p:cNvSpPr txBox="1"/>
          <p:nvPr/>
        </p:nvSpPr>
        <p:spPr>
          <a:xfrm>
            <a:off x="5020886" y="1187669"/>
            <a:ext cx="4123114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Move these fields to Selected Fields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6911D7-380A-EEEC-A303-962A6DA50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93" t="16504" r="33780" b="38618"/>
          <a:stretch>
            <a:fillRect/>
          </a:stretch>
        </p:blipFill>
        <p:spPr>
          <a:xfrm>
            <a:off x="44605" y="1187668"/>
            <a:ext cx="4937968" cy="3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84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1788206-35A2-0E59-FA4C-17FFE9DF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47B29-9589-A012-A9FB-FCEA0041B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BEC49-5C9A-AAA4-9D75-E2138C5A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4D0B68-1E74-8680-87CA-2CA9C6FBE3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C5FF4-2101-E5D7-E039-5C46D08429FB}"/>
              </a:ext>
            </a:extLst>
          </p:cNvPr>
          <p:cNvSpPr txBox="1"/>
          <p:nvPr/>
        </p:nvSpPr>
        <p:spPr>
          <a:xfrm>
            <a:off x="5020886" y="1187669"/>
            <a:ext cx="4123114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Next → choose Columnar layout → Next.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AA904-0B08-4508-AB92-70C795C41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80" t="16504" r="34025" b="39702"/>
          <a:stretch>
            <a:fillRect/>
          </a:stretch>
        </p:blipFill>
        <p:spPr>
          <a:xfrm>
            <a:off x="-1" y="1187668"/>
            <a:ext cx="4972771" cy="380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30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C7E2C64-BC5D-EE65-1A70-77B9B8C9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4359F-CEEC-DC62-E5EC-88059A959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88F6-D561-0AF6-699C-A43F8435C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240ED5-954C-2C73-4E45-C436680B62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955A2-EDE3-9523-379E-7BE830274221}"/>
              </a:ext>
            </a:extLst>
          </p:cNvPr>
          <p:cNvSpPr txBox="1"/>
          <p:nvPr/>
        </p:nvSpPr>
        <p:spPr>
          <a:xfrm>
            <a:off x="5020886" y="1187669"/>
            <a:ext cx="4123114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Name it </a:t>
            </a:r>
            <a:r>
              <a:rPr lang="en-US" sz="2800" dirty="0" err="1">
                <a:latin typeface="Calibir"/>
              </a:rPr>
              <a:t>CustomerCreditCards</a:t>
            </a:r>
            <a:r>
              <a:rPr lang="en-US" sz="2800" dirty="0">
                <a:latin typeface="Calibir"/>
              </a:rPr>
              <a:t> → Finish.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2A30CA-6C06-38AF-67A9-25CFC4422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59" t="16072" r="34146" b="39268"/>
          <a:stretch>
            <a:fillRect/>
          </a:stretch>
        </p:blipFill>
        <p:spPr>
          <a:xfrm>
            <a:off x="0" y="1187669"/>
            <a:ext cx="4966002" cy="387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5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CBD0B88-F13E-CC50-3C6F-7A1D669D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B0F00-11E4-4B98-2E6F-5F5303BE7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20D04-8E3E-8C6C-01F4-49516A410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929737F-2668-312E-5F26-6436AEF84A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24FF69-4A82-6C4C-C91D-DFF0561E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24"/>
          <a:stretch>
            <a:fillRect/>
          </a:stretch>
        </p:blipFill>
        <p:spPr>
          <a:xfrm>
            <a:off x="0" y="1022459"/>
            <a:ext cx="9144000" cy="481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35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8441A68-1DEF-7C4A-7A3F-FA5F3826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D68752-CD9E-372B-87BF-D4FA62D67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4F154-4DA2-FA2E-14E0-FBB7EA9D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D33935-2D11-A682-496E-B62DC584AE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1641FA-9B42-200E-C3FF-D4A18DEBD3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1"/>
          <a:stretch>
            <a:fillRect/>
          </a:stretch>
        </p:blipFill>
        <p:spPr>
          <a:xfrm>
            <a:off x="306163" y="991762"/>
            <a:ext cx="8531673" cy="4548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F963FC-E0E4-9B51-9D94-B4F4B88FA944}"/>
              </a:ext>
            </a:extLst>
          </p:cNvPr>
          <p:cNvSpPr txBox="1"/>
          <p:nvPr/>
        </p:nvSpPr>
        <p:spPr>
          <a:xfrm>
            <a:off x="0" y="5539819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7.   Make it nicer (</a:t>
            </a:r>
            <a:r>
              <a:rPr lang="en-US" sz="2800" b="1" dirty="0" err="1">
                <a:latin typeface="Calibir"/>
              </a:rPr>
              <a:t>colours</a:t>
            </a:r>
            <a:r>
              <a:rPr lang="en-US" sz="2800" b="1" dirty="0">
                <a:latin typeface="Calibir"/>
              </a:rPr>
              <a:t> &amp; fonts)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Switch to Design View (top-left view drop-down).</a:t>
            </a:r>
          </a:p>
        </p:txBody>
      </p:sp>
    </p:spTree>
    <p:extLst>
      <p:ext uri="{BB962C8B-B14F-4D97-AF65-F5344CB8AC3E}">
        <p14:creationId xmlns:p14="http://schemas.microsoft.com/office/powerpoint/2010/main" val="102086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270008B-35E3-9442-915B-5C1B2446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C4D69-EC78-0CAD-69B1-F1B78825E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5C79C-D389-6E5E-6D9C-ED924CC4A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E88A6E-1D27-D8CC-3FAE-FACA91136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2"/>
            <a:ext cx="7849590" cy="98797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7A7CF-EFD1-C69B-EAF1-E21D475272AC}"/>
              </a:ext>
            </a:extLst>
          </p:cNvPr>
          <p:cNvSpPr txBox="1"/>
          <p:nvPr/>
        </p:nvSpPr>
        <p:spPr>
          <a:xfrm>
            <a:off x="0" y="5775714"/>
            <a:ext cx="9144000" cy="67185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on Format tab → choose a Background Color.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92F91-6C17-59BD-03B4-D80D8D0A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39"/>
          <a:stretch>
            <a:fillRect/>
          </a:stretch>
        </p:blipFill>
        <p:spPr>
          <a:xfrm>
            <a:off x="0" y="987971"/>
            <a:ext cx="9144000" cy="47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49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25104A5-7289-11B5-3084-D8287170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4B135-EFB2-5C9E-AB41-1261D9797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983D-2A6D-BB0D-8E68-19F2F1700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5FC04-89C3-D6C6-2B4F-89691570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32"/>
          <a:stretch>
            <a:fillRect/>
          </a:stretch>
        </p:blipFill>
        <p:spPr>
          <a:xfrm>
            <a:off x="0" y="0"/>
            <a:ext cx="9144000" cy="4807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663031-04A2-66BB-199C-D198310F3208}"/>
              </a:ext>
            </a:extLst>
          </p:cNvPr>
          <p:cNvSpPr txBox="1"/>
          <p:nvPr/>
        </p:nvSpPr>
        <p:spPr>
          <a:xfrm>
            <a:off x="0" y="4669069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Make the title stand out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once on the grey box that says </a:t>
            </a:r>
            <a:r>
              <a:rPr lang="en-US" sz="2800" dirty="0" err="1">
                <a:latin typeface="Calibir"/>
              </a:rPr>
              <a:t>CustomerCreditCards</a:t>
            </a:r>
            <a:r>
              <a:rPr lang="en-US" sz="2800" dirty="0">
                <a:latin typeface="Calibir"/>
              </a:rPr>
              <a:t> (the title label in the header).</a:t>
            </a:r>
          </a:p>
        </p:txBody>
      </p:sp>
    </p:spTree>
    <p:extLst>
      <p:ext uri="{BB962C8B-B14F-4D97-AF65-F5344CB8AC3E}">
        <p14:creationId xmlns:p14="http://schemas.microsoft.com/office/powerpoint/2010/main" val="3931396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E4123B9-89A7-4B7C-36A1-0AAE6DF7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0C792-55EF-1FEB-95E2-1AE51637F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FDEB8-3486-73EE-81F8-4415DB81E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00AB5-B255-93E2-0598-A03273B7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32"/>
          <a:stretch>
            <a:fillRect/>
          </a:stretch>
        </p:blipFill>
        <p:spPr>
          <a:xfrm>
            <a:off x="0" y="0"/>
            <a:ext cx="9144000" cy="4807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0B1AF9-94D8-946D-7B13-377515FA9A2A}"/>
              </a:ext>
            </a:extLst>
          </p:cNvPr>
          <p:cNvSpPr txBox="1"/>
          <p:nvPr/>
        </p:nvSpPr>
        <p:spPr>
          <a:xfrm>
            <a:off x="-11151" y="4516975"/>
            <a:ext cx="9144000" cy="23410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In the Format tab: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Change Font Size (e.g., 22–24).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Make it Bold.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Optional: Change the Font </a:t>
            </a:r>
            <a:r>
              <a:rPr lang="en-US" sz="2500" dirty="0" err="1">
                <a:latin typeface="Calibir"/>
              </a:rPr>
              <a:t>Colour</a:t>
            </a:r>
            <a:r>
              <a:rPr lang="en-US" sz="2500" dirty="0">
                <a:latin typeface="Calibir"/>
              </a:rPr>
              <a:t> (e.g., dark blue)</a:t>
            </a:r>
          </a:p>
        </p:txBody>
      </p:sp>
    </p:spTree>
    <p:extLst>
      <p:ext uri="{BB962C8B-B14F-4D97-AF65-F5344CB8AC3E}">
        <p14:creationId xmlns:p14="http://schemas.microsoft.com/office/powerpoint/2010/main" val="2710270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3EF1D3E-9043-1357-0C54-045B57EB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E6F6C-889D-20E2-7535-0BDDEDC63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0D35D-2AAD-2F29-2339-82E3B7996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45077-6588-E820-00B9-F9057729A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948"/>
          <a:stretch>
            <a:fillRect/>
          </a:stretch>
        </p:blipFill>
        <p:spPr>
          <a:xfrm>
            <a:off x="0" y="2295757"/>
            <a:ext cx="9144000" cy="2008613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B095A9-80D9-9BC8-6A21-247A0B786D06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7849590" cy="987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91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68F20FA-0DDC-DAFB-1B1D-E84406A5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021AF-F4E3-919A-2A06-E3B984F68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49434-DE0A-1A94-6A8B-1BF967182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5DBA7-74C9-06D2-45D5-4D3624810985}"/>
              </a:ext>
            </a:extLst>
          </p:cNvPr>
          <p:cNvSpPr txBox="1"/>
          <p:nvPr/>
        </p:nvSpPr>
        <p:spPr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Improve the field labels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Hold Ctrl and click the labels (e.g., </a:t>
            </a:r>
            <a:r>
              <a:rPr lang="en-US" sz="2800" i="1" dirty="0">
                <a:latin typeface="Calibir"/>
              </a:rPr>
              <a:t>ID, </a:t>
            </a:r>
            <a:r>
              <a:rPr lang="en-US" sz="2800" i="1" dirty="0" err="1">
                <a:latin typeface="Calibir"/>
              </a:rPr>
              <a:t>CardName</a:t>
            </a:r>
            <a:r>
              <a:rPr lang="en-US" sz="2800" i="1" dirty="0">
                <a:latin typeface="Calibir"/>
              </a:rPr>
              <a:t>, </a:t>
            </a:r>
            <a:r>
              <a:rPr lang="en-US" sz="2800" i="1" dirty="0" err="1">
                <a:latin typeface="Calibir"/>
              </a:rPr>
              <a:t>CardType</a:t>
            </a:r>
            <a:r>
              <a:rPr lang="en-US" sz="2800" i="1" dirty="0">
                <a:latin typeface="Calibir"/>
              </a:rPr>
              <a:t>, </a:t>
            </a:r>
            <a:r>
              <a:rPr lang="en-US" sz="2800" i="1" dirty="0" err="1">
                <a:latin typeface="Calibir"/>
              </a:rPr>
              <a:t>CardNumber</a:t>
            </a:r>
            <a:r>
              <a:rPr lang="en-US" sz="2800" i="1" dirty="0">
                <a:latin typeface="Calibir"/>
              </a:rPr>
              <a:t>…</a:t>
            </a:r>
            <a:r>
              <a:rPr lang="en-US" sz="2800" dirty="0">
                <a:latin typeface="Calibir"/>
              </a:rPr>
              <a:t>).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A0F2A42-C0AF-77FD-7122-71AB85223628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7849590" cy="9879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None/>
              <a:defRPr sz="1500" b="1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/>
              <a:t>Hands-On Activity 1: Creating a Customer Form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28FA75-E842-D9BB-3091-85B4A438A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596"/>
          <a:stretch>
            <a:fillRect/>
          </a:stretch>
        </p:blipFill>
        <p:spPr>
          <a:xfrm>
            <a:off x="0" y="1222396"/>
            <a:ext cx="9144000" cy="356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84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AA30612-AEBB-C2F0-8A75-18E92E40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60F19-D2A0-F0BA-E433-F80C90D34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B491D-BF23-30CE-1504-B4612ABCC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A94F7-43C1-F384-0267-E7ABAEE08198}"/>
              </a:ext>
            </a:extLst>
          </p:cNvPr>
          <p:cNvSpPr txBox="1"/>
          <p:nvPr/>
        </p:nvSpPr>
        <p:spPr>
          <a:xfrm>
            <a:off x="0" y="4247157"/>
            <a:ext cx="9144000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In the Format tab: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Change Font Size to 12–14pt.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them Bold if you like.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Align them neatly using the Arrange → Align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C717B0-B908-E60F-21FE-EBC42BCD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50"/>
          <a:stretch>
            <a:fillRect/>
          </a:stretch>
        </p:blipFill>
        <p:spPr>
          <a:xfrm>
            <a:off x="0" y="0"/>
            <a:ext cx="8285356" cy="422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36FE210-8B30-3A4D-F8FA-F57155EA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4E612-5113-B0DF-1B8B-622504A74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EB642-2D9A-F0BE-3D54-FC06ACF48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F53F4-8627-D053-3DDD-D066EB9799C6}"/>
              </a:ext>
            </a:extLst>
          </p:cNvPr>
          <p:cNvSpPr txBox="1"/>
          <p:nvPr/>
        </p:nvSpPr>
        <p:spPr>
          <a:xfrm>
            <a:off x="0" y="3600826"/>
            <a:ext cx="9144000" cy="32571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Save the Form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Press </a:t>
            </a:r>
            <a:r>
              <a:rPr lang="en-US" sz="2800" dirty="0" err="1">
                <a:latin typeface="Calibir"/>
              </a:rPr>
              <a:t>Ctrl+S</a:t>
            </a:r>
            <a:r>
              <a:rPr lang="en-US" sz="2800" dirty="0">
                <a:latin typeface="Calibir"/>
              </a:rPr>
              <a:t> (or click the floppy disk icon in the top-left).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the form name is something clear like </a:t>
            </a:r>
            <a:r>
              <a:rPr lang="en-US" sz="2800" dirty="0" err="1">
                <a:latin typeface="Calibir"/>
              </a:rPr>
              <a:t>CustomerCreditCards</a:t>
            </a:r>
            <a:r>
              <a:rPr lang="en-US" sz="2800" dirty="0">
                <a:latin typeface="Calibir"/>
              </a:rPr>
              <a:t> Form.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621014-5737-9075-1FC0-2FA9CE9E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49"/>
          <a:stretch>
            <a:fillRect/>
          </a:stretch>
        </p:blipFill>
        <p:spPr>
          <a:xfrm>
            <a:off x="0" y="1"/>
            <a:ext cx="6813395" cy="35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9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EB8A8A0-8939-E929-58A1-C1E4E57F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AA9B1-E79C-143B-80A5-AAC79285D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81781-B420-1C62-6A3B-616EFA2BD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B50-FC0F-20A4-C713-63E59FB3713B}"/>
              </a:ext>
            </a:extLst>
          </p:cNvPr>
          <p:cNvSpPr txBox="1"/>
          <p:nvPr/>
        </p:nvSpPr>
        <p:spPr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Switch to Form 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Select Form View.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This will show you how the form looks to users.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AB522-2AB0-FA73-F609-527C0325F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80"/>
          <a:stretch>
            <a:fillRect/>
          </a:stretch>
        </p:blipFill>
        <p:spPr>
          <a:xfrm>
            <a:off x="0" y="101308"/>
            <a:ext cx="9144000" cy="490793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F39926-C588-B0D2-93C4-2096DFD08AF1}"/>
              </a:ext>
            </a:extLst>
          </p:cNvPr>
          <p:cNvSpPr/>
          <p:nvPr/>
        </p:nvSpPr>
        <p:spPr>
          <a:xfrm>
            <a:off x="8229600" y="4739268"/>
            <a:ext cx="434898" cy="27878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5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B539419-D0AF-D174-239D-2FA31668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0D507-AA3D-B3A2-9015-A97847227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072E1-8BCF-827F-5A17-098AC690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2AE79-F40F-7CBC-7506-84EA427FC4B0}"/>
              </a:ext>
            </a:extLst>
          </p:cNvPr>
          <p:cNvSpPr txBox="1"/>
          <p:nvPr/>
        </p:nvSpPr>
        <p:spPr>
          <a:xfrm>
            <a:off x="0" y="4893488"/>
            <a:ext cx="9144000" cy="196451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Switch to Form 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Select Form View.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This will show you how the form looks to users.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3AFDEB-BE92-D02A-C01A-9986466F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96"/>
          <a:stretch>
            <a:fillRect/>
          </a:stretch>
        </p:blipFill>
        <p:spPr>
          <a:xfrm>
            <a:off x="0" y="0"/>
            <a:ext cx="9144000" cy="489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0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A00A2BF-E4CD-6EF5-C2FF-9E6AA5B8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152F7-7953-B150-B550-03D0AB0B7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05428-5064-33EE-935A-43DC0B9C1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93713-55A4-FBE9-98A5-95E4C0A763BF}"/>
              </a:ext>
            </a:extLst>
          </p:cNvPr>
          <p:cNvSpPr txBox="1"/>
          <p:nvPr/>
        </p:nvSpPr>
        <p:spPr>
          <a:xfrm>
            <a:off x="0" y="4278961"/>
            <a:ext cx="9144000" cy="257903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Test by Adding a Record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In Form View, go to the empty fields at the bottom.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Type in some test details (e.g., </a:t>
            </a:r>
            <a:r>
              <a:rPr lang="en-US" sz="2200" dirty="0" err="1">
                <a:latin typeface="Calibir"/>
              </a:rPr>
              <a:t>CardName</a:t>
            </a:r>
            <a:r>
              <a:rPr lang="en-US" sz="2200" dirty="0">
                <a:latin typeface="Calibir"/>
              </a:rPr>
              <a:t> = “Farshid”, </a:t>
            </a:r>
            <a:r>
              <a:rPr lang="en-US" sz="2200" dirty="0" err="1">
                <a:latin typeface="Calibir"/>
              </a:rPr>
              <a:t>CardType</a:t>
            </a:r>
            <a:r>
              <a:rPr lang="en-US" sz="2200" dirty="0">
                <a:latin typeface="Calibir"/>
              </a:rPr>
              <a:t> = “MasterCard”, </a:t>
            </a:r>
            <a:r>
              <a:rPr lang="en-US" sz="2200" dirty="0" err="1">
                <a:latin typeface="Calibir"/>
              </a:rPr>
              <a:t>CardNumber</a:t>
            </a:r>
            <a:r>
              <a:rPr lang="en-US" sz="2200" dirty="0">
                <a:latin typeface="Calibir"/>
              </a:rPr>
              <a:t> = “123456”, </a:t>
            </a:r>
            <a:r>
              <a:rPr lang="en-US" sz="2200" dirty="0" err="1">
                <a:latin typeface="Calibir"/>
              </a:rPr>
              <a:t>ExpirationDate</a:t>
            </a:r>
            <a:r>
              <a:rPr lang="en-US" sz="2200" dirty="0">
                <a:latin typeface="Calibir"/>
              </a:rPr>
              <a:t> = “31/12/2026”, CustomerID = 1).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1F714F-82BE-DBA1-3B56-3F48E1078D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0"/>
            <a:ext cx="7935310" cy="42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45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8E679DD-23BB-3B4E-D213-C1391FF1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EB3C1-BFCB-29D1-4A47-CF41745A8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16985-D34C-8191-39EC-4AE3D35BB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75AE2-4289-D379-206C-A2E6374AD152}"/>
              </a:ext>
            </a:extLst>
          </p:cNvPr>
          <p:cNvSpPr txBox="1"/>
          <p:nvPr/>
        </p:nvSpPr>
        <p:spPr>
          <a:xfrm>
            <a:off x="0" y="4278961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Press Tab or click the Next record arrow at the bottom to save (Fill it, e.g., Enter Your Name).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E0264A-93C6-2086-FA74-4A0F75D7B7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0"/>
            <a:ext cx="7935310" cy="42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23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A999698-8E63-F8EC-ABE3-A2F76D85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7AAF0-E659-F2EC-FE24-3375BE184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F7CA-FCF4-E12E-C22D-F335F7B7B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3F976-DB98-3FFA-5383-111F3C3CE606}"/>
              </a:ext>
            </a:extLst>
          </p:cNvPr>
          <p:cNvSpPr txBox="1"/>
          <p:nvPr/>
        </p:nvSpPr>
        <p:spPr>
          <a:xfrm>
            <a:off x="0" y="4278961"/>
            <a:ext cx="9144000" cy="131818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Open the </a:t>
            </a:r>
            <a:r>
              <a:rPr lang="en-US" sz="2800" dirty="0" err="1">
                <a:latin typeface="Calibir"/>
              </a:rPr>
              <a:t>CustomerCreditCards</a:t>
            </a:r>
            <a:r>
              <a:rPr lang="en-US" sz="2800" dirty="0">
                <a:latin typeface="Calibir"/>
              </a:rPr>
              <a:t> table (from left side) → check if your test record was saved.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B388A-6D38-BD78-10A9-BC46877B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00"/>
          <a:stretch>
            <a:fillRect/>
          </a:stretch>
        </p:blipFill>
        <p:spPr>
          <a:xfrm>
            <a:off x="0" y="0"/>
            <a:ext cx="7892326" cy="420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40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B7825A4-FF02-6935-1D7B-E0A1D19A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EA7FBF-B179-1462-E16E-32D0E99E99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Generating Forms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2FEB8-80BA-EB27-C7F7-2B9F08F788A7}"/>
              </a:ext>
            </a:extLst>
          </p:cNvPr>
          <p:cNvSpPr txBox="1"/>
          <p:nvPr/>
        </p:nvSpPr>
        <p:spPr>
          <a:xfrm>
            <a:off x="0" y="1477248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Form Wizard: quick and automatic.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Form Design View: full control for layout.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From the Products table → Build a form.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Add a dropdown for Category.</a:t>
            </a:r>
          </a:p>
        </p:txBody>
      </p:sp>
    </p:spTree>
    <p:extLst>
      <p:ext uri="{BB962C8B-B14F-4D97-AF65-F5344CB8AC3E}">
        <p14:creationId xmlns:p14="http://schemas.microsoft.com/office/powerpoint/2010/main" val="2608832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3626B1E-81A6-8F84-0B66-3C6CB1F0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B074A6-3FF9-86B1-5AAE-58BF6385E9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Generating Forms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114DB9-ACD0-538A-F9CA-A92D60894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776254"/>
              </p:ext>
            </p:extLst>
          </p:nvPr>
        </p:nvGraphicFramePr>
        <p:xfrm>
          <a:off x="628650" y="2392680"/>
          <a:ext cx="7886700" cy="20726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451006886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730711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Wizard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Design 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Fast, auto-layout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Manual, more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4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Limited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Full customisation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27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Good for beginners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Good for polished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241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69EB450-1F23-0757-83DD-E30D0D6C6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2443"/>
            <a:ext cx="28457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Comparison 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565961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432A486-4887-E7C9-42D5-C07B6D99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969208-45A2-BBD6-C812-3CF8EEF336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6C43D7-E9DB-61EA-2ED4-59977CC61419}"/>
              </a:ext>
            </a:extLst>
          </p:cNvPr>
          <p:cNvSpPr txBox="1"/>
          <p:nvPr/>
        </p:nvSpPr>
        <p:spPr>
          <a:xfrm>
            <a:off x="0" y="1219201"/>
            <a:ext cx="89863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1: Create a Products Form with Wizard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Go to the Create tab.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Click Form Wizard.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7CD8B-22CE-E3A3-6DDC-42CCD6551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18" b="39834"/>
          <a:stretch>
            <a:fillRect/>
          </a:stretch>
        </p:blipFill>
        <p:spPr>
          <a:xfrm>
            <a:off x="68317" y="3295650"/>
            <a:ext cx="8849710" cy="309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1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DBDC22B-BA59-2C3E-CF6C-1D307FD8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2326ED3-1492-BC2A-FB71-C113A81208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D2446-739F-037F-F2F6-C0D7CBC3A94C}"/>
              </a:ext>
            </a:extLst>
          </p:cNvPr>
          <p:cNvSpPr txBox="1"/>
          <p:nvPr/>
        </p:nvSpPr>
        <p:spPr>
          <a:xfrm>
            <a:off x="0" y="1219201"/>
            <a:ext cx="898634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dirty="0">
                <a:latin typeface="Calibir"/>
              </a:rPr>
              <a:t>In Tables/Queries, pick Table: Products.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80817D-F8DB-F51D-55C2-EEDA30E565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0" y="1976602"/>
            <a:ext cx="9144000" cy="488139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D9E32E-6ED3-2535-DF15-E60AC9FB619E}"/>
              </a:ext>
            </a:extLst>
          </p:cNvPr>
          <p:cNvSpPr/>
          <p:nvPr/>
        </p:nvSpPr>
        <p:spPr>
          <a:xfrm>
            <a:off x="0" y="4414344"/>
            <a:ext cx="2921876" cy="13663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0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071D9F0-FFFD-EF5E-25A8-F69AE24C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CCDAC66-DDE8-AC58-A8ED-6B52684478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7E588-8B12-C86B-A452-9924E9CE7327}"/>
              </a:ext>
            </a:extLst>
          </p:cNvPr>
          <p:cNvSpPr txBox="1"/>
          <p:nvPr/>
        </p:nvSpPr>
        <p:spPr>
          <a:xfrm>
            <a:off x="0" y="1219201"/>
            <a:ext cx="898634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dirty="0">
                <a:latin typeface="Calibir"/>
              </a:rPr>
              <a:t>Move all fields to the right (&gt;&gt;).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9CFA4-0EAF-742F-5642-A6DB6AEA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63" t="16233" r="33793" b="39221"/>
          <a:stretch>
            <a:fillRect/>
          </a:stretch>
        </p:blipFill>
        <p:spPr>
          <a:xfrm>
            <a:off x="2711669" y="3830044"/>
            <a:ext cx="3720662" cy="28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4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5673427-35B5-DC88-33F4-C39F7619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74BECC-46D6-940F-022C-4F3C06585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A408F-1D3F-5D84-CE16-31695C09B8FF}"/>
              </a:ext>
            </a:extLst>
          </p:cNvPr>
          <p:cNvSpPr txBox="1"/>
          <p:nvPr/>
        </p:nvSpPr>
        <p:spPr>
          <a:xfrm>
            <a:off x="0" y="1219201"/>
            <a:ext cx="89863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latin typeface="Calibir"/>
              </a:rPr>
              <a:t>Click Next → Choose Columnar layout → Next.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latin typeface="Calibir"/>
              </a:rPr>
              <a:t>Name it Products Form → Finish.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Access will open the Products form automatically.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6B36A-1080-E67F-EDF7-5AFEF784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48" t="16641" r="33678" b="39630"/>
          <a:stretch>
            <a:fillRect/>
          </a:stretch>
        </p:blipFill>
        <p:spPr>
          <a:xfrm>
            <a:off x="2426391" y="3429000"/>
            <a:ext cx="4291218" cy="321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21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3C51A66-1C42-E737-1575-3E53066F7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596C497-E84A-5875-2DC5-74DBB6004B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B7862-2E3C-EDA9-612A-F4FBCAEE35E0}"/>
              </a:ext>
            </a:extLst>
          </p:cNvPr>
          <p:cNvSpPr txBox="1"/>
          <p:nvPr/>
        </p:nvSpPr>
        <p:spPr>
          <a:xfrm>
            <a:off x="0" y="1219201"/>
            <a:ext cx="89863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latin typeface="Calibir"/>
              </a:rPr>
              <a:t>Click Next → Choose Columnar layout → Next.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sz="2800" dirty="0">
                <a:latin typeface="Calibir"/>
              </a:rPr>
              <a:t>Name it Products Form → Finish.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→ Access will open the Products form automatically.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B4BB2E-B8C4-73FC-687D-210EB36F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44" t="16824" r="33921" b="40244"/>
          <a:stretch>
            <a:fillRect/>
          </a:stretch>
        </p:blipFill>
        <p:spPr>
          <a:xfrm>
            <a:off x="2318272" y="3183713"/>
            <a:ext cx="4507455" cy="337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58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C2A3838-09EA-D036-454E-8D7AC792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4F17EE-CB21-4F27-736F-185DE2C943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3208A-22BA-9F57-CD68-C5BC1C0F0ED8}"/>
              </a:ext>
            </a:extLst>
          </p:cNvPr>
          <p:cNvSpPr txBox="1"/>
          <p:nvPr/>
        </p:nvSpPr>
        <p:spPr>
          <a:xfrm>
            <a:off x="0" y="1219201"/>
            <a:ext cx="898634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Add a Search Box (Design View)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Switch to Design View.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 the Design tab, click Text Box.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A3E63-5BFF-E1F2-FF99-B634278268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00"/>
          <a:stretch>
            <a:fillRect/>
          </a:stretch>
        </p:blipFill>
        <p:spPr>
          <a:xfrm>
            <a:off x="0" y="3118054"/>
            <a:ext cx="7020910" cy="373994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4A085A-A0D7-D329-4F7A-47DF256E7702}"/>
              </a:ext>
            </a:extLst>
          </p:cNvPr>
          <p:cNvSpPr/>
          <p:nvPr/>
        </p:nvSpPr>
        <p:spPr>
          <a:xfrm>
            <a:off x="1219200" y="3552497"/>
            <a:ext cx="241738" cy="38888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76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BE812C-C632-4742-9A35-F8E2F4F0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1E32DD1-9F4F-39CF-71E6-2A55825723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696ED-A7BA-249A-C03F-F126549D5CF5}"/>
              </a:ext>
            </a:extLst>
          </p:cNvPr>
          <p:cNvSpPr txBox="1"/>
          <p:nvPr/>
        </p:nvSpPr>
        <p:spPr>
          <a:xfrm>
            <a:off x="0" y="1219201"/>
            <a:ext cx="898634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Draw a box in the Form Header area.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F13DD8-3414-1A92-976A-1342CBF07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347"/>
          <a:stretch>
            <a:fillRect/>
          </a:stretch>
        </p:blipFill>
        <p:spPr>
          <a:xfrm>
            <a:off x="783020" y="3718482"/>
            <a:ext cx="7577959" cy="3139518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12BC9FF-27FD-749A-3220-40EDD9A98142}"/>
              </a:ext>
            </a:extLst>
          </p:cNvPr>
          <p:cNvCxnSpPr/>
          <p:nvPr/>
        </p:nvCxnSpPr>
        <p:spPr>
          <a:xfrm rot="5400000" flipH="1" flipV="1">
            <a:off x="3983420" y="3468414"/>
            <a:ext cx="3026980" cy="126124"/>
          </a:xfrm>
          <a:prstGeom prst="bentConnector3">
            <a:avLst>
              <a:gd name="adj1" fmla="val 2048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555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33044AF-E66D-FC7D-C3A2-8E5662F9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42C99B1-4522-E455-E560-80F1008D12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F2A10-8F80-6087-EAB1-B200973415EA}"/>
              </a:ext>
            </a:extLst>
          </p:cNvPr>
          <p:cNvSpPr txBox="1"/>
          <p:nvPr/>
        </p:nvSpPr>
        <p:spPr>
          <a:xfrm>
            <a:off x="0" y="1219201"/>
            <a:ext cx="8986344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Select the new text box → right-click → Properties.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 the Other tab: set Name = </a:t>
            </a:r>
            <a:r>
              <a:rPr lang="en-US" altLang="en-US" sz="2800" dirty="0" err="1">
                <a:latin typeface="Calibir"/>
              </a:rPr>
              <a:t>txtSearchProduct</a:t>
            </a:r>
            <a:r>
              <a:rPr lang="en-US" altLang="en-US" sz="2800" dirty="0">
                <a:latin typeface="Calibir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B4B956-6F9C-3948-8FDF-CE5FFA9C43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1187669" y="3723510"/>
            <a:ext cx="5759669" cy="308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92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CC9A057-2A23-EC70-697F-B3A78BDF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CE96A0-CC1F-9B5D-D45E-B0CFBC607D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9DFC5-4AD1-C000-9DB6-2042DA864809}"/>
              </a:ext>
            </a:extLst>
          </p:cNvPr>
          <p:cNvSpPr txBox="1"/>
          <p:nvPr/>
        </p:nvSpPr>
        <p:spPr>
          <a:xfrm>
            <a:off x="0" y="1219201"/>
            <a:ext cx="8986344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Just Type directly into text box and Replace ‘Unbound’ with ‘Search Product Name’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0CA3F-265B-DED7-50E2-BC7D79EF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96"/>
          <a:stretch>
            <a:fillRect/>
          </a:stretch>
        </p:blipFill>
        <p:spPr>
          <a:xfrm>
            <a:off x="557048" y="2571347"/>
            <a:ext cx="8029903" cy="42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73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0B67C3C-5057-33B0-DD41-DE1734E7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C0D0A8-E3C1-2E9E-58C5-6E4A6B99F8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5DE50-ACBD-870B-9D66-4DD7B4299034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the Command Button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Use Control Wizards (wand icon in your screenshot) is ticked 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From the Design tab, click the Button tool.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61152-2E2B-50DE-0F46-00A989B4B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086"/>
          <a:stretch>
            <a:fillRect/>
          </a:stretch>
        </p:blipFill>
        <p:spPr>
          <a:xfrm>
            <a:off x="0" y="3643366"/>
            <a:ext cx="9144000" cy="200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973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DF9BE02-DCEB-CBD6-8212-8A036F1F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E706F7-E5C2-2A12-1016-F628F63D64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C0C91-00DA-EDCC-655B-318F40652AB7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Draw it next to the text box.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Command Button Wizard will open: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Form Operations → Apply Form Filter → Next → Finish.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4995C4-537E-6454-BFF7-90C3C1F8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217"/>
          <a:stretch>
            <a:fillRect/>
          </a:stretch>
        </p:blipFill>
        <p:spPr>
          <a:xfrm>
            <a:off x="867103" y="3626346"/>
            <a:ext cx="7409793" cy="332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655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8C4115A-AC2C-7FE6-26C6-986604ED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20B4475-D749-862B-7C9A-910A911457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76A3B-9B53-B14A-EE49-EBE2DF5448E1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Draw it next to the text box.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Command Button Wizard will open: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Form Operations → Apply Form Filter → Next → Finish.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78CFE-C911-F4B0-5220-6877111BA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73" t="41571" r="31954" b="20420"/>
          <a:stretch>
            <a:fillRect/>
          </a:stretch>
        </p:blipFill>
        <p:spPr>
          <a:xfrm>
            <a:off x="1996965" y="3508654"/>
            <a:ext cx="5150070" cy="334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11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12634BD-405A-FDB8-149F-60E0A865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2A7E80-5FF1-8C2A-A6A3-E911023B17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7D68E-D7E4-3C4B-B2BD-1BBFD077D3D8}"/>
              </a:ext>
            </a:extLst>
          </p:cNvPr>
          <p:cNvSpPr txBox="1"/>
          <p:nvPr/>
        </p:nvSpPr>
        <p:spPr>
          <a:xfrm>
            <a:off x="0" y="1015503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new button will appear in your form.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Enter 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05B66-E94B-B785-FCA9-50BC172B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58" t="41570" r="32299" b="20217"/>
          <a:stretch>
            <a:fillRect/>
          </a:stretch>
        </p:blipFill>
        <p:spPr>
          <a:xfrm>
            <a:off x="-30633" y="2362183"/>
            <a:ext cx="4392425" cy="2892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20E996-4E01-1EB1-CABB-EF348DC91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57" t="41162" r="32299" b="20626"/>
          <a:stretch>
            <a:fillRect/>
          </a:stretch>
        </p:blipFill>
        <p:spPr>
          <a:xfrm>
            <a:off x="4361792" y="3697384"/>
            <a:ext cx="4782208" cy="3148851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5665141-EA98-7C01-B9B2-6D7FEF2D6FAE}"/>
              </a:ext>
            </a:extLst>
          </p:cNvPr>
          <p:cNvCxnSpPr>
            <a:endCxn id="7" idx="0"/>
          </p:cNvCxnSpPr>
          <p:nvPr/>
        </p:nvCxnSpPr>
        <p:spPr>
          <a:xfrm>
            <a:off x="4445876" y="2333684"/>
            <a:ext cx="2307020" cy="13637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68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7A4198C-BD0C-B0F6-639E-593C35EE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C364484-64BC-E015-F3E5-7D1A54A5B7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1989E-D957-7C39-72A0-E496BD96824E}"/>
              </a:ext>
            </a:extLst>
          </p:cNvPr>
          <p:cNvSpPr txBox="1"/>
          <p:nvPr/>
        </p:nvSpPr>
        <p:spPr>
          <a:xfrm>
            <a:off x="0" y="1015503"/>
            <a:ext cx="9144000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After you click Finish, you can still adjust the Name in the Property Sheet → Other tab to </a:t>
            </a:r>
            <a:r>
              <a:rPr lang="en-US" sz="2800" dirty="0" err="1">
                <a:latin typeface="Calibir"/>
              </a:rPr>
              <a:t>btnSearch</a:t>
            </a:r>
            <a:r>
              <a:rPr lang="en-US" sz="2800" dirty="0">
                <a:latin typeface="Calibir"/>
              </a:rPr>
              <a:t> (this is the internal name Access uses).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231DF-DCF6-AA30-9941-8997F7F8D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1"/>
          <a:stretch>
            <a:fillRect/>
          </a:stretch>
        </p:blipFill>
        <p:spPr>
          <a:xfrm>
            <a:off x="1881352" y="2972587"/>
            <a:ext cx="7262648" cy="388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99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5E645AD-5136-7E9C-FBF3-F9768934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F5CF08-DDAD-3CE8-D5C3-318045AE79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E1139-518E-6B19-EF6E-97A7B41BFE44}"/>
              </a:ext>
            </a:extLst>
          </p:cNvPr>
          <p:cNvSpPr txBox="1"/>
          <p:nvPr/>
        </p:nvSpPr>
        <p:spPr>
          <a:xfrm>
            <a:off x="0" y="1015503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Adjust the Button Properties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Select the new button → look at the Property Sheet (on the right).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 Other: change Name to </a:t>
            </a:r>
            <a:r>
              <a:rPr lang="en-US" sz="2800" dirty="0" err="1">
                <a:latin typeface="Calibir"/>
              </a:rPr>
              <a:t>btnSearch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 Format: change Caption to 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BFA12B-92A6-795A-CBA3-12F46C3AE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604"/>
          <a:stretch>
            <a:fillRect/>
          </a:stretch>
        </p:blipFill>
        <p:spPr>
          <a:xfrm>
            <a:off x="3205654" y="4172520"/>
            <a:ext cx="5938345" cy="268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90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19732CF-2C27-53CE-3401-AEC5A84F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CBDB692-70AD-B1CF-337E-005697E5B4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2A47A-8430-54DA-2FC4-B66293F98574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Wire the Filter (make it actually search)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With the button still selected → Property Sheet → Event tab.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On Click, click the … button → choose Macro Builder.</a:t>
            </a:r>
          </a:p>
        </p:txBody>
      </p:sp>
    </p:spTree>
    <p:extLst>
      <p:ext uri="{BB962C8B-B14F-4D97-AF65-F5344CB8AC3E}">
        <p14:creationId xmlns:p14="http://schemas.microsoft.com/office/powerpoint/2010/main" val="2090850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3FEA86F-A435-F2AD-9416-AD92B673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00BEDBF-E84D-2A0C-DA16-80E650F749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28"/>
          <a:stretch>
            <a:fillRect/>
          </a:stretch>
        </p:blipFill>
        <p:spPr>
          <a:xfrm>
            <a:off x="0" y="1118860"/>
            <a:ext cx="9144000" cy="4807693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BB19673-FAAD-E6E8-A7A5-CDEC0DDE8F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FD013-4371-3511-3CFB-591A74E77EA5}"/>
              </a:ext>
            </a:extLst>
          </p:cNvPr>
          <p:cNvSpPr txBox="1"/>
          <p:nvPr/>
        </p:nvSpPr>
        <p:spPr>
          <a:xfrm>
            <a:off x="0" y="4247157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the macro window: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Remove the default action (if you see </a:t>
            </a:r>
            <a:r>
              <a:rPr lang="en-US" sz="2800" dirty="0" err="1">
                <a:latin typeface="Calibir"/>
              </a:rPr>
              <a:t>RunMenuCommand</a:t>
            </a:r>
            <a:r>
              <a:rPr lang="en-US" sz="2800" dirty="0">
                <a:latin typeface="Calibir"/>
              </a:rPr>
              <a:t> / </a:t>
            </a:r>
            <a:r>
              <a:rPr lang="en-US" sz="2800" dirty="0" err="1">
                <a:latin typeface="Calibir"/>
              </a:rPr>
              <a:t>ApplyFilterSort</a:t>
            </a:r>
            <a:r>
              <a:rPr lang="en-US" sz="2800" dirty="0">
                <a:latin typeface="Calibir"/>
              </a:rPr>
              <a:t>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the gray bar to the left of that row → press Delete.</a:t>
            </a:r>
          </a:p>
        </p:txBody>
      </p:sp>
    </p:spTree>
    <p:extLst>
      <p:ext uri="{BB962C8B-B14F-4D97-AF65-F5344CB8AC3E}">
        <p14:creationId xmlns:p14="http://schemas.microsoft.com/office/powerpoint/2010/main" val="5879562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1BF7D2D-DBD3-81A8-C063-CFF192E1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71726B6-4840-2FED-703F-A6A2AE7DAF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E11BC-ACCE-E237-72C1-1FE0A4097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5"/>
          <a:stretch>
            <a:fillRect/>
          </a:stretch>
        </p:blipFill>
        <p:spPr>
          <a:xfrm>
            <a:off x="0" y="1414298"/>
            <a:ext cx="9144000" cy="48603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63BB1-8DEA-D90A-FBA3-51F338001DB2}"/>
              </a:ext>
            </a:extLst>
          </p:cNvPr>
          <p:cNvSpPr txBox="1"/>
          <p:nvPr/>
        </p:nvSpPr>
        <p:spPr>
          <a:xfrm>
            <a:off x="0" y="3700431"/>
            <a:ext cx="6818585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 the right action: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Add New Action → choose </a:t>
            </a:r>
            <a:r>
              <a:rPr lang="en-US" sz="2800" dirty="0" err="1">
                <a:latin typeface="Calibir"/>
              </a:rPr>
              <a:t>ApplyFilter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7583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2B5F647-91CF-405F-2CE5-0AE01C92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B53190-3FE3-9F41-3AA4-752B980D4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28"/>
          <a:stretch>
            <a:fillRect/>
          </a:stretch>
        </p:blipFill>
        <p:spPr>
          <a:xfrm>
            <a:off x="0" y="998483"/>
            <a:ext cx="7505060" cy="3945978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F06D2E1-9861-A88F-61BD-4D16641EE8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FB77AB-27E2-8E5B-F75F-4DFD4604A6EF}"/>
              </a:ext>
            </a:extLst>
          </p:cNvPr>
          <p:cNvSpPr txBox="1"/>
          <p:nvPr/>
        </p:nvSpPr>
        <p:spPr>
          <a:xfrm>
            <a:off x="0" y="2753710"/>
            <a:ext cx="646386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Fill the action details (you’ll see fields for the action):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Filter Name: leave blank.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Where Condition: type exactly: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CFFE3-8C70-5D33-EEAB-0CF6280792E9}"/>
              </a:ext>
            </a:extLst>
          </p:cNvPr>
          <p:cNvSpPr txBox="1"/>
          <p:nvPr/>
        </p:nvSpPr>
        <p:spPr>
          <a:xfrm>
            <a:off x="0" y="5336297"/>
            <a:ext cx="838462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[</a:t>
            </a:r>
            <a:r>
              <a:rPr lang="en-US" sz="2800" dirty="0" err="1">
                <a:latin typeface="Calibir"/>
              </a:rPr>
              <a:t>ProdName</a:t>
            </a:r>
            <a:r>
              <a:rPr lang="en-US" sz="2800" dirty="0">
                <a:latin typeface="Calibir"/>
              </a:rPr>
              <a:t>] Like "*" &amp; [</a:t>
            </a:r>
            <a:r>
              <a:rPr lang="en-US" sz="2800" dirty="0" err="1">
                <a:latin typeface="Calibir"/>
              </a:rPr>
              <a:t>txtSearchProduct</a:t>
            </a:r>
            <a:r>
              <a:rPr lang="en-US" sz="2800" dirty="0">
                <a:latin typeface="Calibir"/>
              </a:rPr>
              <a:t>] &amp; "*"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3EDC15-BE62-4B2E-2A59-7CD9A84E990F}"/>
              </a:ext>
            </a:extLst>
          </p:cNvPr>
          <p:cNvSpPr txBox="1"/>
          <p:nvPr/>
        </p:nvSpPr>
        <p:spPr>
          <a:xfrm>
            <a:off x="0" y="5802455"/>
            <a:ext cx="9144000" cy="1055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We use our actual field name — in your table it’s </a:t>
            </a:r>
            <a:r>
              <a:rPr lang="en-US" sz="2200" dirty="0" err="1">
                <a:latin typeface="Calibir"/>
              </a:rPr>
              <a:t>ProdName</a:t>
            </a:r>
            <a:r>
              <a:rPr lang="en-US" sz="2200" dirty="0">
                <a:latin typeface="Calibir"/>
              </a:rPr>
              <a:t> — and your text box name </a:t>
            </a:r>
            <a:r>
              <a:rPr lang="en-US" sz="2200" dirty="0" err="1">
                <a:latin typeface="Calibir"/>
              </a:rPr>
              <a:t>txtSearchProduct</a:t>
            </a:r>
            <a:r>
              <a:rPr lang="en-US" sz="2200" dirty="0">
                <a:latin typeface="Calibir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9471083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90CC300-4998-0594-3B22-61625570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45262C-4E9D-E4A3-942E-8BF5BBA9FD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C0A6-F414-DA47-45D3-B839D0A4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13"/>
          <a:stretch>
            <a:fillRect/>
          </a:stretch>
        </p:blipFill>
        <p:spPr>
          <a:xfrm>
            <a:off x="0" y="1120008"/>
            <a:ext cx="9144000" cy="4839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8C9207-818B-8DEE-C1F9-AA444EEDE292}"/>
              </a:ext>
            </a:extLst>
          </p:cNvPr>
          <p:cNvSpPr txBox="1"/>
          <p:nvPr/>
        </p:nvSpPr>
        <p:spPr>
          <a:xfrm>
            <a:off x="283779" y="4110412"/>
            <a:ext cx="73152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Save the macro: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Click Save (or press </a:t>
            </a:r>
            <a:r>
              <a:rPr lang="en-US" sz="2800" dirty="0" err="1">
                <a:latin typeface="Calibir"/>
              </a:rPr>
              <a:t>Ctrl+S</a:t>
            </a:r>
            <a:r>
              <a:rPr lang="en-US" sz="2800" dirty="0">
                <a:latin typeface="Calibir"/>
              </a:rPr>
              <a:t>) → click Close.</a:t>
            </a:r>
          </a:p>
        </p:txBody>
      </p:sp>
    </p:spTree>
    <p:extLst>
      <p:ext uri="{BB962C8B-B14F-4D97-AF65-F5344CB8AC3E}">
        <p14:creationId xmlns:p14="http://schemas.microsoft.com/office/powerpoint/2010/main" val="24145255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FEF8E28-BDE5-9A7F-85E9-7F21376E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63D878-0CE1-823F-811B-0CD25103FF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7A470-B2C8-EDE5-6B04-8050D67B6A8A}"/>
              </a:ext>
            </a:extLst>
          </p:cNvPr>
          <p:cNvSpPr txBox="1"/>
          <p:nvPr/>
        </p:nvSpPr>
        <p:spPr>
          <a:xfrm>
            <a:off x="-31531" y="4504827"/>
            <a:ext cx="914399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 it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Switch the form to Form View.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Search Product Name, type part of a name (e.g., Drone).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A67B9-3545-9797-1A56-5DE45FDDE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27" b="28799"/>
          <a:stretch>
            <a:fillRect/>
          </a:stretch>
        </p:blipFill>
        <p:spPr>
          <a:xfrm>
            <a:off x="0" y="920884"/>
            <a:ext cx="7577959" cy="36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040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6B2DD53-D477-5BE9-06AC-BBFBA06D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BBA71A-7233-4A2E-6A41-E13ECBA436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D7BAD-1BAF-A500-60B2-C9884DBDA76C}"/>
              </a:ext>
            </a:extLst>
          </p:cNvPr>
          <p:cNvSpPr txBox="1"/>
          <p:nvPr/>
        </p:nvSpPr>
        <p:spPr>
          <a:xfrm>
            <a:off x="-115614" y="4456386"/>
            <a:ext cx="914399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Search → the form should show only matching products.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809805-A95D-266A-7BFC-C45B625DE0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27" b="28799"/>
          <a:stretch>
            <a:fillRect/>
          </a:stretch>
        </p:blipFill>
        <p:spPr>
          <a:xfrm>
            <a:off x="0" y="920884"/>
            <a:ext cx="7315795" cy="35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722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7EF3EF0-2D13-DFDA-146D-CBA10FDC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2AFFA9C-CA9B-1319-86C5-E548E358C3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998483"/>
          </a:xfrm>
        </p:spPr>
        <p:txBody>
          <a:bodyPr>
            <a:noAutofit/>
          </a:bodyPr>
          <a:lstStyle/>
          <a:p>
            <a:r>
              <a:rPr lang="en-US" sz="3200" dirty="0"/>
              <a:t>Hands-On Activity 2: Building a Products Form with Search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6B73B-1CBF-2748-A421-5739316C4B55}"/>
              </a:ext>
            </a:extLst>
          </p:cNvPr>
          <p:cNvSpPr txBox="1"/>
          <p:nvPr/>
        </p:nvSpPr>
        <p:spPr>
          <a:xfrm>
            <a:off x="0" y="4247157"/>
            <a:ext cx="914399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Or search for Robot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637FA-DA63-B0BF-523A-87905874E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17"/>
          <a:stretch>
            <a:fillRect/>
          </a:stretch>
        </p:blipFill>
        <p:spPr>
          <a:xfrm>
            <a:off x="1" y="998483"/>
            <a:ext cx="6329024" cy="334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20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8183C58-AB3E-E12F-9670-CE5FE776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78A3E71-C2E2-98A9-4A4C-ADF3BC2576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1277"/>
          </a:xfrm>
        </p:spPr>
        <p:txBody>
          <a:bodyPr>
            <a:noAutofit/>
          </a:bodyPr>
          <a:lstStyle/>
          <a:p>
            <a:r>
              <a:rPr lang="en-US" sz="3200" dirty="0"/>
              <a:t>Compare Wizard vs Design View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3EDCC3-85F5-114D-CEA4-496CDABCF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902335"/>
              </p:ext>
            </p:extLst>
          </p:nvPr>
        </p:nvGraphicFramePr>
        <p:xfrm>
          <a:off x="628650" y="1539240"/>
          <a:ext cx="7886700" cy="37795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37828495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4183969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Wizard (what you built first)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Design View (what you added)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494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Fast, automatic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Manual layout and controls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1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Limited 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Full customisation (search, dropdowns, styling)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8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Good for beginners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Best for polished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90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7739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BCF6BAA-9A2D-5592-F075-346C9709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194DDA-8CF4-AFB6-68CF-8C1D777700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60D99-D874-DA15-F0D3-EB2470F4BA16}"/>
              </a:ext>
            </a:extLst>
          </p:cNvPr>
          <p:cNvSpPr txBox="1"/>
          <p:nvPr/>
        </p:nvSpPr>
        <p:spPr>
          <a:xfrm>
            <a:off x="0" y="1002890"/>
            <a:ext cx="8986684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A. Build the report (Report Wizard)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Go to Create → Report Wizard.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8FB58-C688-08D7-CC8D-C7BECDA2D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964"/>
          <a:stretch>
            <a:fillRect/>
          </a:stretch>
        </p:blipFill>
        <p:spPr>
          <a:xfrm>
            <a:off x="73572" y="2462906"/>
            <a:ext cx="9144000" cy="277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67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5E73D53-E39F-8E73-F078-C91E27E7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302E9A-FC2B-A53A-0337-C773827627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B16CF-BCBB-086A-E91D-FC5695AA180B}"/>
              </a:ext>
            </a:extLst>
          </p:cNvPr>
          <p:cNvSpPr txBox="1"/>
          <p:nvPr/>
        </p:nvSpPr>
        <p:spPr>
          <a:xfrm>
            <a:off x="0" y="1002890"/>
            <a:ext cx="8986684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Tables/Queries, choose Table: Orders.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9D9C9-9824-B7AB-7B23-E001342A978E}"/>
              </a:ext>
            </a:extLst>
          </p:cNvPr>
          <p:cNvSpPr txBox="1"/>
          <p:nvPr/>
        </p:nvSpPr>
        <p:spPr>
          <a:xfrm>
            <a:off x="378372" y="1674741"/>
            <a:ext cx="8387255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Add these fields (use what exists in your DB):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From Orders: </a:t>
            </a:r>
            <a:r>
              <a:rPr lang="en-US" sz="2800" dirty="0" err="1">
                <a:latin typeface="Calibir"/>
              </a:rPr>
              <a:t>OrderID</a:t>
            </a:r>
            <a:r>
              <a:rPr lang="en-US" sz="2800" dirty="0">
                <a:latin typeface="Calibir"/>
              </a:rPr>
              <a:t>, Date, Quantity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11734-9A3C-4EAB-F2A8-EE6366D9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78" t="15893" r="33564" b="39017"/>
          <a:stretch>
            <a:fillRect/>
          </a:stretch>
        </p:blipFill>
        <p:spPr>
          <a:xfrm>
            <a:off x="2543843" y="3289425"/>
            <a:ext cx="3898998" cy="301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574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79AC4AE-9460-C3DA-0B9C-A22DBB6C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886B062-5201-04FB-E120-A2B3393B0D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E32A7-7BB4-4862-22D5-5CE35320FD73}"/>
              </a:ext>
            </a:extLst>
          </p:cNvPr>
          <p:cNvSpPr txBox="1"/>
          <p:nvPr/>
        </p:nvSpPr>
        <p:spPr>
          <a:xfrm>
            <a:off x="378372" y="907486"/>
            <a:ext cx="8387255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From Customers (expand it in the list): CustomerID or FirstName, LastName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7F510-709A-EB6F-A66C-E28091B21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63" t="15823" r="34368" b="40040"/>
          <a:stretch>
            <a:fillRect/>
          </a:stretch>
        </p:blipFill>
        <p:spPr>
          <a:xfrm>
            <a:off x="1828798" y="2225667"/>
            <a:ext cx="5486402" cy="424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822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4B76EFB-0335-AB74-EBF8-5A3F8BDF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876BEF-D3B5-79E9-EC6C-DA34D5CB0F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5E7BA-7BBA-3AEF-A269-5867F75A23F5}"/>
              </a:ext>
            </a:extLst>
          </p:cNvPr>
          <p:cNvSpPr txBox="1"/>
          <p:nvPr/>
        </p:nvSpPr>
        <p:spPr>
          <a:xfrm>
            <a:off x="378372" y="907486"/>
            <a:ext cx="8387255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From Products: </a:t>
            </a:r>
            <a:r>
              <a:rPr lang="en-US" sz="2800" dirty="0" err="1">
                <a:latin typeface="Calibir"/>
              </a:rPr>
              <a:t>ProdName</a:t>
            </a:r>
            <a:r>
              <a:rPr lang="en-US" sz="2800" dirty="0">
                <a:latin typeface="Calibir"/>
              </a:rPr>
              <a:t>, Price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0747D-039D-41A1-3321-B7725238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78" t="16028" r="33793" b="39221"/>
          <a:stretch>
            <a:fillRect/>
          </a:stretch>
        </p:blipFill>
        <p:spPr>
          <a:xfrm>
            <a:off x="2191406" y="1586774"/>
            <a:ext cx="4761186" cy="368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171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4BC1576-5532-D209-EA9E-2DB97DC1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876A42A-1D05-24A6-A65E-312A426730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624DB-4073-9D77-CFDB-575ECAE83019}"/>
              </a:ext>
            </a:extLst>
          </p:cNvPr>
          <p:cNvSpPr txBox="1"/>
          <p:nvPr/>
        </p:nvSpPr>
        <p:spPr>
          <a:xfrm>
            <a:off x="0" y="907486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Click the </a:t>
            </a:r>
            <a:r>
              <a:rPr lang="en-US" sz="2800" b="1" dirty="0">
                <a:latin typeface="Calibir"/>
              </a:rPr>
              <a:t>&gt;</a:t>
            </a:r>
            <a:r>
              <a:rPr lang="en-US" sz="2800" dirty="0">
                <a:latin typeface="Calibir"/>
              </a:rPr>
              <a:t> button → this moves it into the “grouping levels” box.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means all orders will be grouped under each customer.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AD65EE-CBAF-AA0B-968B-8C9BF9B6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98" t="17033" r="34185" b="39632"/>
          <a:stretch>
            <a:fillRect/>
          </a:stretch>
        </p:blipFill>
        <p:spPr>
          <a:xfrm>
            <a:off x="2081047" y="2986497"/>
            <a:ext cx="4981904" cy="378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782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543FD8-7A9A-0D19-ED0E-20D4464F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973329-3038-559C-C520-C0434BAA98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C4DB6-E3C7-A3CD-37AF-5075700B24F7}"/>
              </a:ext>
            </a:extLst>
          </p:cNvPr>
          <p:cNvSpPr txBox="1"/>
          <p:nvPr/>
        </p:nvSpPr>
        <p:spPr>
          <a:xfrm>
            <a:off x="378372" y="907486"/>
            <a:ext cx="8387255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Click Next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Sort by Date (Ascending)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Click Next.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2ADEF-9DA1-9EF7-8EEC-4DE33EBE5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18" t="15620" r="33793" b="39834"/>
          <a:stretch>
            <a:fillRect/>
          </a:stretch>
        </p:blipFill>
        <p:spPr>
          <a:xfrm>
            <a:off x="31531" y="2871998"/>
            <a:ext cx="5184432" cy="39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078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23D1725-FA8E-C345-DDDC-0A057250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07E66D-89A2-E69B-5742-49FF095AAD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D174F-D28C-798E-C1B5-C2F63B4E3D1C}"/>
              </a:ext>
            </a:extLst>
          </p:cNvPr>
          <p:cNvSpPr txBox="1"/>
          <p:nvPr/>
        </p:nvSpPr>
        <p:spPr>
          <a:xfrm>
            <a:off x="0" y="1002890"/>
            <a:ext cx="8765627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Add Summary Options… → tick Sum for Quantity (and Price).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Finish → your grouped report will open.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647EA-C69F-5201-DC8C-BB47FB94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97" t="17050" r="34483" b="41025"/>
          <a:stretch>
            <a:fillRect/>
          </a:stretch>
        </p:blipFill>
        <p:spPr>
          <a:xfrm>
            <a:off x="2165130" y="2967402"/>
            <a:ext cx="4813740" cy="367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724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75DCE4-F4E6-B394-FE33-3DF3FB66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11036-C1F6-FE74-59D4-0B30E9A2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05"/>
          <a:stretch>
            <a:fillRect/>
          </a:stretch>
        </p:blipFill>
        <p:spPr>
          <a:xfrm>
            <a:off x="0" y="0"/>
            <a:ext cx="7252138" cy="3854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D30BE-5D3C-2FF7-FEA8-AB45C910E815}"/>
              </a:ext>
            </a:extLst>
          </p:cNvPr>
          <p:cNvSpPr txBox="1"/>
          <p:nvPr/>
        </p:nvSpPr>
        <p:spPr>
          <a:xfrm>
            <a:off x="0" y="3600825"/>
            <a:ext cx="9144001" cy="325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Customer is listed with their Orders.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 the bottom of each customer section, you see a Sum of Quantity (total items they ordered).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It’s basically showing: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Customer → Orders → Total per Customer.</a:t>
            </a:r>
          </a:p>
        </p:txBody>
      </p:sp>
    </p:spTree>
    <p:extLst>
      <p:ext uri="{BB962C8B-B14F-4D97-AF65-F5344CB8AC3E}">
        <p14:creationId xmlns:p14="http://schemas.microsoft.com/office/powerpoint/2010/main" val="40602202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5A688BC-92EA-5D8C-1AAB-CD760816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C55A909-6CB3-0676-41DA-68A0C75F73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0505E-9AAC-3F1F-0DF4-7D6A003DC774}"/>
              </a:ext>
            </a:extLst>
          </p:cNvPr>
          <p:cNvSpPr txBox="1"/>
          <p:nvPr/>
        </p:nvSpPr>
        <p:spPr>
          <a:xfrm>
            <a:off x="0" y="1002890"/>
            <a:ext cx="8765627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Add a line total (optional but nice)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Switch to Design View.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the Detail section, add a Text Box to the right of Quantity.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C11FA-5BD2-DC7B-E655-8310A9BE47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81"/>
          <a:stretch>
            <a:fillRect/>
          </a:stretch>
        </p:blipFill>
        <p:spPr>
          <a:xfrm>
            <a:off x="2403822" y="3289610"/>
            <a:ext cx="6740178" cy="356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36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7049EBF-23E1-D89A-4333-8A86EFFF0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A58D39D-CB6D-B197-B0D3-0AD90C04E2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5F74E-DEB9-BC09-23CA-0C79D14558C0}"/>
              </a:ext>
            </a:extLst>
          </p:cNvPr>
          <p:cNvSpPr txBox="1"/>
          <p:nvPr/>
        </p:nvSpPr>
        <p:spPr>
          <a:xfrm>
            <a:off x="0" y="1002890"/>
            <a:ext cx="8765627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Set its Control Source to: 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=[Quantity]*[Price]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Set Format = Currency.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Change the label to Line Total.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A259F-D7D3-7908-E352-28B9575B9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81"/>
          <a:stretch>
            <a:fillRect/>
          </a:stretch>
        </p:blipFill>
        <p:spPr>
          <a:xfrm>
            <a:off x="1750741" y="2943855"/>
            <a:ext cx="7393259" cy="391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59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CB718B4-6A88-C837-723D-BF8DE673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DEED6FC-656F-000B-3318-BB5C91C5AA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2E5BD-BCAD-F26C-3F28-D542736BB255}"/>
              </a:ext>
            </a:extLst>
          </p:cNvPr>
          <p:cNvSpPr txBox="1"/>
          <p:nvPr/>
        </p:nvSpPr>
        <p:spPr>
          <a:xfrm>
            <a:off x="0" y="1002890"/>
            <a:ext cx="8765627" cy="461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Add totals per customer + grand total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Ensure you have a Customer Footer (Report Wizard usually adds it). If not: Design → Group &amp; Sort → add a group on customer and show Footer.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In the Customer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 Footer, add a Text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 Box with Control 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latin typeface="Calibir"/>
              </a:rPr>
              <a:t>Source: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=Sum([Quantity]*[Price])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E95F8-DD2B-0D5C-D5D5-0A4798A99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2988529" y="3429000"/>
            <a:ext cx="6155471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C0EF1B-EC2A-D783-45CC-FBCBEA055319}"/>
              </a:ext>
            </a:extLst>
          </p:cNvPr>
          <p:cNvSpPr txBox="1"/>
          <p:nvPr/>
        </p:nvSpPr>
        <p:spPr>
          <a:xfrm>
            <a:off x="0" y="5552725"/>
            <a:ext cx="4192859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Label it Customer Total, Format = Currency.</a:t>
            </a:r>
          </a:p>
        </p:txBody>
      </p:sp>
    </p:spTree>
    <p:extLst>
      <p:ext uri="{BB962C8B-B14F-4D97-AF65-F5344CB8AC3E}">
        <p14:creationId xmlns:p14="http://schemas.microsoft.com/office/powerpoint/2010/main" val="5390850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FDCF497-27B1-FFAD-83FE-FC726ED0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6499B1A-D888-ADB2-BD84-4156FD421D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91E1D-044A-CDFC-3098-31E2FFCD36C4}"/>
              </a:ext>
            </a:extLst>
          </p:cNvPr>
          <p:cNvSpPr txBox="1"/>
          <p:nvPr/>
        </p:nvSpPr>
        <p:spPr>
          <a:xfrm>
            <a:off x="0" y="1002890"/>
            <a:ext cx="8765627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the Report Footer, add another Text Box with: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=Sum([Quantity]*[Price])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Label it Grand Total, Format = Currency.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F2085-1E3A-1A6A-8CEB-B047A890C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1884557" y="2985167"/>
            <a:ext cx="7259442" cy="385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36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EABBBE0-FF25-C487-ADC3-98031C2E4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2A0867E-869C-84F0-D28D-1BEAF89ABC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275F2-C601-586B-3ACA-D2B88828E5FB}"/>
              </a:ext>
            </a:extLst>
          </p:cNvPr>
          <p:cNvSpPr txBox="1"/>
          <p:nvPr/>
        </p:nvSpPr>
        <p:spPr>
          <a:xfrm>
            <a:off x="0" y="1002890"/>
            <a:ext cx="8765627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Format the report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Design → Logo → insert your ACU logo (place it in the Report Header).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Click the report title → increase font size / bold.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Use Themes →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Colors/Fonts for a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clean look.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 Preview to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check margins and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page breaks.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274CA-1084-994E-E55B-73F4139FCF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43604"/>
          <a:stretch>
            <a:fillRect/>
          </a:stretch>
        </p:blipFill>
        <p:spPr>
          <a:xfrm>
            <a:off x="4059044" y="3631843"/>
            <a:ext cx="5084956" cy="322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599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2B19764-F4FD-1213-9EAA-F87BBA0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C3BD491-0FAF-4216-9A77-BB5F5E30C7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1B06E-C065-4871-273E-DC1AFBC31142}"/>
              </a:ext>
            </a:extLst>
          </p:cNvPr>
          <p:cNvSpPr txBox="1"/>
          <p:nvPr/>
        </p:nvSpPr>
        <p:spPr>
          <a:xfrm>
            <a:off x="0" y="1002890"/>
            <a:ext cx="8765627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Format the report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Design → Logo → insert your ACU logo (place it in the Report Header).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Click the report title → increase font size / bold.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Use Themes →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Colors/Fonts for a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clean look.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 Preview to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check margins and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page breaks.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926137-C5D4-AEDA-E6BC-9535B19F9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29" b="10650"/>
          <a:stretch>
            <a:fillRect/>
          </a:stretch>
        </p:blipFill>
        <p:spPr>
          <a:xfrm>
            <a:off x="4349264" y="3323062"/>
            <a:ext cx="4794735" cy="35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62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53A62A8-64B6-F745-6374-4D64E51D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4F50BFA-F57B-6C0A-CC4D-8CACCA9070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AEA0F-B898-E14C-9E09-B05F13936588}"/>
              </a:ext>
            </a:extLst>
          </p:cNvPr>
          <p:cNvSpPr txBox="1"/>
          <p:nvPr/>
        </p:nvSpPr>
        <p:spPr>
          <a:xfrm>
            <a:off x="0" y="1002890"/>
            <a:ext cx="8765627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Format the report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Design → Logo → insert your ACU logo (place it in the Report Header).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Click the report title → increase font size / bold.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Use Themes →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Colors/Fonts for a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clean look.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 Preview to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check margins and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page breaks.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4A0A1-80DB-E948-EE26-BA0033ADA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341" b="27994"/>
          <a:stretch>
            <a:fillRect/>
          </a:stretch>
        </p:blipFill>
        <p:spPr>
          <a:xfrm>
            <a:off x="3662149" y="3624146"/>
            <a:ext cx="5481851" cy="32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917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A468C36-4CF0-854D-9C47-B7D72897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E1018E9-CC7E-1D94-2431-4E914B5F7E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1002890"/>
          </a:xfrm>
        </p:spPr>
        <p:txBody>
          <a:bodyPr>
            <a:noAutofit/>
          </a:bodyPr>
          <a:lstStyle/>
          <a:p>
            <a:r>
              <a:rPr lang="en-US" sz="3200" dirty="0"/>
              <a:t>Reports — Customers with their Orders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7236E-2C6B-4080-9725-13CECA82D7CF}"/>
              </a:ext>
            </a:extLst>
          </p:cNvPr>
          <p:cNvSpPr txBox="1"/>
          <p:nvPr/>
        </p:nvSpPr>
        <p:spPr>
          <a:xfrm>
            <a:off x="0" y="1002890"/>
            <a:ext cx="8765627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Format the report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Design → Logo → insert your ACU logo (place it in the Report Header).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Click the report title → increase font size / bold.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Use Themes →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Colors/Fonts for a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clean look.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Print Preview to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check margins and 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page breaks.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60014-B1F7-FCB0-B249-D4313B3994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46" t="33415" r="9634" b="11517"/>
          <a:stretch>
            <a:fillRect/>
          </a:stretch>
        </p:blipFill>
        <p:spPr>
          <a:xfrm>
            <a:off x="3570273" y="3780264"/>
            <a:ext cx="5573728" cy="307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170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53A5D4E-783A-0DD5-E30E-B5A84BF4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A4FFF7-AA91-C009-1C91-84A430FBC2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5F0AF-5527-4582-C470-C31CA7BBAB0F}"/>
              </a:ext>
            </a:extLst>
          </p:cNvPr>
          <p:cNvSpPr txBox="1"/>
          <p:nvPr/>
        </p:nvSpPr>
        <p:spPr>
          <a:xfrm>
            <a:off x="0" y="1002890"/>
            <a:ext cx="8765627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A. Compact &amp; Repair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Close open objects (tables/forms/reports) if prompted.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Go to Database Tools → Compact and Repair Database.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it does: cleans up the file and fixes small issues.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D4F2C-D8D9-5869-A65F-F8BE178A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951" b="40136"/>
          <a:stretch>
            <a:fillRect/>
          </a:stretch>
        </p:blipFill>
        <p:spPr>
          <a:xfrm>
            <a:off x="4962293" y="3586969"/>
            <a:ext cx="4181707" cy="327103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799E54-2300-5978-EB21-4C9E1ED20C54}"/>
              </a:ext>
            </a:extLst>
          </p:cNvPr>
          <p:cNvSpPr/>
          <p:nvPr/>
        </p:nvSpPr>
        <p:spPr>
          <a:xfrm>
            <a:off x="5029200" y="4103649"/>
            <a:ext cx="747132" cy="64634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118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D9611C-FD17-F34C-A8F8-FF00715B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5C1CE0-F572-ABAA-A95D-CEC53FA54B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F4593-E9DD-BBB8-0DE3-099DBE9D5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0" y="1002913"/>
            <a:ext cx="9144000" cy="48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895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AF0583E-85EB-CCB9-980D-378A095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E0341A-4592-F443-F0BA-4259D0C4A5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9880D-1C6E-D623-7813-DDA7923D7CA0}"/>
              </a:ext>
            </a:extLst>
          </p:cNvPr>
          <p:cNvSpPr txBox="1"/>
          <p:nvPr/>
        </p:nvSpPr>
        <p:spPr>
          <a:xfrm>
            <a:off x="0" y="959005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B. Add a password (demo)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File Exclusive → Info → Encrypt with Password.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15A9D-6319-1383-36D3-AB1EC208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33198"/>
          <a:stretch>
            <a:fillRect/>
          </a:stretch>
        </p:blipFill>
        <p:spPr>
          <a:xfrm>
            <a:off x="1483112" y="2259440"/>
            <a:ext cx="6177776" cy="464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127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84318FD-5C32-2A57-8A47-4FA2D17A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00C89FF-4D6F-40E1-03FA-1794AE35CB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0872E8-932A-55B8-6451-C6661130250F}"/>
              </a:ext>
            </a:extLst>
          </p:cNvPr>
          <p:cNvSpPr txBox="1"/>
          <p:nvPr/>
        </p:nvSpPr>
        <p:spPr>
          <a:xfrm>
            <a:off x="0" y="959005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a strong password → OK.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Note: Don’t forget it. You’ll need it every time you open the DB.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remove: File → Info → Decrypt Database (enter current password).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EDFFBA-1A6A-D57B-2FD4-17506E64D2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829" b="22358"/>
          <a:stretch>
            <a:fillRect/>
          </a:stretch>
        </p:blipFill>
        <p:spPr>
          <a:xfrm>
            <a:off x="3891776" y="3493148"/>
            <a:ext cx="5252224" cy="336485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35258E-08DC-35DE-6A2B-401612BFB8C7}"/>
              </a:ext>
            </a:extLst>
          </p:cNvPr>
          <p:cNvSpPr/>
          <p:nvPr/>
        </p:nvSpPr>
        <p:spPr>
          <a:xfrm>
            <a:off x="4572000" y="6255834"/>
            <a:ext cx="3105615" cy="60216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852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2659730-E0EA-0DF9-88EB-E0FD5D44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0B80E71-7084-396A-3914-743C6D9698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DA586-9378-120C-F778-FB19E6DE5B02}"/>
              </a:ext>
            </a:extLst>
          </p:cNvPr>
          <p:cNvSpPr txBox="1"/>
          <p:nvPr/>
        </p:nvSpPr>
        <p:spPr>
          <a:xfrm>
            <a:off x="0" y="959005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Enter a strong password → OK.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Note: Don’t forget it. You’ll need it every time you open the DB.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remove: File → Info → Decrypt Database (enter current password).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282CA-21FB-EB18-C9E6-56A71A72A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12" t="24959" r="39634" b="57480"/>
          <a:stretch>
            <a:fillRect/>
          </a:stretch>
        </p:blipFill>
        <p:spPr>
          <a:xfrm>
            <a:off x="2046249" y="3916425"/>
            <a:ext cx="5051502" cy="239281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7140546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AAF0A9B-8EA5-BA34-0506-08FEA733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3D5E4A7-F8B5-02A7-A500-2CEA6096DE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CFE84-CE94-DDC8-7B31-7C16AD6EA615}"/>
              </a:ext>
            </a:extLst>
          </p:cNvPr>
          <p:cNvSpPr txBox="1"/>
          <p:nvPr/>
        </p:nvSpPr>
        <p:spPr>
          <a:xfrm>
            <a:off x="0" y="959005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C. Make a backup copy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File → Save As → Back Up Database.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your folder (e.g., a “Backups” folder) → Save.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You’ll get a date-stamped .</a:t>
            </a:r>
            <a:r>
              <a:rPr lang="en-US" sz="2800" dirty="0" err="1">
                <a:latin typeface="Calibir"/>
              </a:rPr>
              <a:t>accdb</a:t>
            </a:r>
            <a:r>
              <a:rPr lang="en-US" sz="2800" dirty="0">
                <a:latin typeface="Calibir"/>
              </a:rPr>
              <a:t> copy.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DAFC13-0B61-430C-0615-132A7317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401"/>
          <a:stretch>
            <a:fillRect/>
          </a:stretch>
        </p:blipFill>
        <p:spPr>
          <a:xfrm>
            <a:off x="0" y="3689660"/>
            <a:ext cx="9144000" cy="31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084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FE1BC94-8AC4-0AB1-AA2B-8D6C42B5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A3C0029-E806-AA97-8CF0-F02F05BB8C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12956"/>
          </a:xfrm>
        </p:spPr>
        <p:txBody>
          <a:bodyPr>
            <a:noAutofit/>
          </a:bodyPr>
          <a:lstStyle/>
          <a:p>
            <a:r>
              <a:rPr lang="en-US" sz="3200" dirty="0"/>
              <a:t>Compact/Repair, Password, Backup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7BFBA7-C0F0-6BD4-AD9D-6DCC9A5708C7}"/>
              </a:ext>
            </a:extLst>
          </p:cNvPr>
          <p:cNvSpPr txBox="1"/>
          <p:nvPr/>
        </p:nvSpPr>
        <p:spPr>
          <a:xfrm>
            <a:off x="0" y="959005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C. Make a backup copy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File → Save As → Back Up Database.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your folder (e.g., a “Backups” folder) → Save.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You’ll get a date-stamped .</a:t>
            </a:r>
            <a:r>
              <a:rPr lang="en-US" sz="2800" dirty="0" err="1">
                <a:latin typeface="Calibir"/>
              </a:rPr>
              <a:t>accdb</a:t>
            </a:r>
            <a:r>
              <a:rPr lang="en-US" sz="2800" dirty="0">
                <a:latin typeface="Calibir"/>
              </a:rPr>
              <a:t> copy.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54789-612D-2530-2A8E-2D22046DEF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42954"/>
          <a:stretch>
            <a:fillRect/>
          </a:stretch>
        </p:blipFill>
        <p:spPr>
          <a:xfrm>
            <a:off x="0" y="3569848"/>
            <a:ext cx="5084956" cy="32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848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B07FDD2-AC53-5FEE-EE5C-D07AC25F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AE6B1E0-1693-2520-8A8E-16073162B9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Tutorial Preparation (Week 7)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864D7-35F8-54BA-F94A-78FDDD488A5F}"/>
              </a:ext>
            </a:extLst>
          </p:cNvPr>
          <p:cNvSpPr txBox="1"/>
          <p:nvPr/>
        </p:nvSpPr>
        <p:spPr>
          <a:xfrm>
            <a:off x="0" y="1477248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Step-by-step:</a:t>
            </a:r>
            <a:endParaRPr lang="en-US" sz="2800" dirty="0">
              <a:latin typeface="Calibir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Download MS Access (Office 365 / University license). (For Download and install refer to Week 6)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the provided sample database.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If security warning appears → add folder to Trusted Locations.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Save as Week7_yourname.accdb.</a:t>
            </a:r>
          </a:p>
        </p:txBody>
      </p:sp>
    </p:spTree>
    <p:extLst>
      <p:ext uri="{BB962C8B-B14F-4D97-AF65-F5344CB8AC3E}">
        <p14:creationId xmlns:p14="http://schemas.microsoft.com/office/powerpoint/2010/main" val="41601699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63C82ED-E3D6-7695-840B-C7112028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2A89E26-1CBD-30B2-1423-57A3EDC7A3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Tutorial Preparation (Week 7)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A0960-8AB4-F953-A9EB-415C17D3C370}"/>
              </a:ext>
            </a:extLst>
          </p:cNvPr>
          <p:cNvSpPr txBox="1"/>
          <p:nvPr/>
        </p:nvSpPr>
        <p:spPr>
          <a:xfrm>
            <a:off x="-10510" y="899179"/>
            <a:ext cx="9144000" cy="56371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You will build Forms &amp; Reports: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Customer Form (refine fonts, </a:t>
            </a:r>
            <a:r>
              <a:rPr lang="en-US" sz="2700" dirty="0" err="1">
                <a:latin typeface="Calibir"/>
              </a:rPr>
              <a:t>colours</a:t>
            </a:r>
            <a:r>
              <a:rPr lang="en-US" sz="2700" dirty="0">
                <a:latin typeface="Calibir"/>
              </a:rPr>
              <a:t>, layout).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Product Form (add search dropdown).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Employee Form (refine for readability).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Customer Orders Form (main + </a:t>
            </a:r>
            <a:r>
              <a:rPr lang="en-US" sz="2700" dirty="0" err="1">
                <a:latin typeface="Calibir"/>
              </a:rPr>
              <a:t>subform</a:t>
            </a:r>
            <a:r>
              <a:rPr lang="en-US" sz="2700" dirty="0">
                <a:latin typeface="Calibir"/>
              </a:rPr>
              <a:t>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Employee Report (group by department).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Customer Orders Report (totals, new page per customer).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700" dirty="0">
                <a:latin typeface="Calibir"/>
              </a:rPr>
              <a:t>Main Menu Form with navigation buttons + student details.</a:t>
            </a:r>
          </a:p>
        </p:txBody>
      </p:sp>
    </p:spTree>
    <p:extLst>
      <p:ext uri="{BB962C8B-B14F-4D97-AF65-F5344CB8AC3E}">
        <p14:creationId xmlns:p14="http://schemas.microsoft.com/office/powerpoint/2010/main" val="8220431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F105493-9BF1-F950-8F79-58F942EE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B723E33-1E3E-5EF8-93A8-9A106A91E6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What to Submit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403BE-A19B-12E8-3194-A2718E374BB2}"/>
              </a:ext>
            </a:extLst>
          </p:cNvPr>
          <p:cNvSpPr txBox="1"/>
          <p:nvPr/>
        </p:nvSpPr>
        <p:spPr>
          <a:xfrm>
            <a:off x="-10510" y="899179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Completed Access database with forms &amp; reports.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Screenshots of each form &amp; report.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Main Menu form with student name &amp; ID.</a:t>
            </a:r>
          </a:p>
        </p:txBody>
      </p:sp>
    </p:spTree>
    <p:extLst>
      <p:ext uri="{BB962C8B-B14F-4D97-AF65-F5344CB8AC3E}">
        <p14:creationId xmlns:p14="http://schemas.microsoft.com/office/powerpoint/2010/main" val="39491335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069B03F-3B41-5750-807A-F6DDBDA48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BC6846C-881A-1C1F-1CAC-99666EA2D9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What to Avoid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57744-B717-A35F-CA10-9BE079A003F5}"/>
              </a:ext>
            </a:extLst>
          </p:cNvPr>
          <p:cNvSpPr txBox="1"/>
          <p:nvPr/>
        </p:nvSpPr>
        <p:spPr>
          <a:xfrm>
            <a:off x="-10510" y="899179"/>
            <a:ext cx="9144000" cy="19616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800" dirty="0">
                <a:latin typeface="Calibir"/>
              </a:rPr>
              <a:t> Submitting tables only (no forms/reports).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800" dirty="0">
                <a:latin typeface="Calibir"/>
              </a:rPr>
              <a:t> Leaving default layouts (ugly/unprofessional).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800" dirty="0">
                <a:latin typeface="Calibir"/>
              </a:rPr>
              <a:t> Missing student name/ID in the Main Menu form.</a:t>
            </a:r>
          </a:p>
        </p:txBody>
      </p:sp>
    </p:spTree>
    <p:extLst>
      <p:ext uri="{BB962C8B-B14F-4D97-AF65-F5344CB8AC3E}">
        <p14:creationId xmlns:p14="http://schemas.microsoft.com/office/powerpoint/2010/main" val="33213879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8ACF3B4-84DE-841B-79A8-EFD13251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DCA8F17-9B51-B942-5EB8-5B03E6E87A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Discussion &amp; Debate Questions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D5D79-CD37-B65D-7160-19DFC3A46A95}"/>
              </a:ext>
            </a:extLst>
          </p:cNvPr>
          <p:cNvSpPr txBox="1"/>
          <p:nvPr/>
        </p:nvSpPr>
        <p:spPr>
          <a:xfrm>
            <a:off x="-10510" y="899179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Q: Should forms allow cascade delete (e.g., deleting a customer removes all their orders)?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Yes side:</a:t>
            </a:r>
            <a:r>
              <a:rPr lang="en-US" altLang="en-US" sz="2800" dirty="0">
                <a:latin typeface="Calibir"/>
              </a:rPr>
              <a:t> Keeps data clean.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No side:</a:t>
            </a:r>
            <a:r>
              <a:rPr lang="en-US" altLang="en-US" sz="2800" dirty="0">
                <a:latin typeface="Calibir"/>
              </a:rPr>
              <a:t> Dangerous, might lose important history.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Q: Should reports always show all details, or just summaries?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>
                <a:latin typeface="Calibir"/>
              </a:rPr>
              <a:t>Depends on audience:</a:t>
            </a:r>
            <a:r>
              <a:rPr lang="en-US" altLang="en-US" sz="2800" dirty="0">
                <a:latin typeface="Calibir"/>
              </a:rPr>
              <a:t> Managers may want summaries, auditors need details.</a:t>
            </a:r>
          </a:p>
        </p:txBody>
      </p:sp>
    </p:spTree>
    <p:extLst>
      <p:ext uri="{BB962C8B-B14F-4D97-AF65-F5344CB8AC3E}">
        <p14:creationId xmlns:p14="http://schemas.microsoft.com/office/powerpoint/2010/main" val="331518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1B6840-780E-0F8D-D32D-FF9FE333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98C60D-48D9-BE4B-1ECE-EF3D5E4445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315200" cy="588579"/>
          </a:xfrm>
        </p:spPr>
        <p:txBody>
          <a:bodyPr>
            <a:noAutofit/>
          </a:bodyPr>
          <a:lstStyle/>
          <a:p>
            <a:r>
              <a:rPr lang="en-US" sz="3200" dirty="0"/>
              <a:t>Problem-Solving Examples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B14AD-DF2C-805C-4988-FEB8FC12560C}"/>
              </a:ext>
            </a:extLst>
          </p:cNvPr>
          <p:cNvSpPr txBox="1"/>
          <p:nvPr/>
        </p:nvSpPr>
        <p:spPr>
          <a:xfrm>
            <a:off x="-10510" y="899179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Calibir"/>
              </a:rPr>
              <a:t>Problem:</a:t>
            </a:r>
            <a:r>
              <a:rPr lang="en-US" altLang="en-US" sz="2800" dirty="0">
                <a:latin typeface="Calibir"/>
              </a:rPr>
              <a:t> Customer form allows empty postcode.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Fix:</a:t>
            </a:r>
            <a:r>
              <a:rPr lang="en-US" altLang="en-US" sz="2800" dirty="0">
                <a:latin typeface="Calibir"/>
              </a:rPr>
              <a:t> Set </a:t>
            </a:r>
            <a:r>
              <a:rPr lang="en-US" altLang="en-US" sz="2800" i="1" dirty="0">
                <a:latin typeface="Calibir"/>
              </a:rPr>
              <a:t>Required = Yes</a:t>
            </a:r>
            <a:r>
              <a:rPr lang="en-US" altLang="en-US" sz="2800" dirty="0">
                <a:latin typeface="Calibir"/>
              </a:rPr>
              <a:t> and </a:t>
            </a:r>
            <a:r>
              <a:rPr lang="en-US" altLang="en-US" sz="2800" i="1" dirty="0">
                <a:latin typeface="Calibir"/>
              </a:rPr>
              <a:t>Input Mask = 0000</a:t>
            </a:r>
            <a:r>
              <a:rPr lang="en-US" altLang="en-US" sz="2800" dirty="0">
                <a:latin typeface="Calibir"/>
              </a:rPr>
              <a:t>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Calibir"/>
              </a:rPr>
              <a:t>Problem:</a:t>
            </a:r>
            <a:r>
              <a:rPr lang="en-US" altLang="en-US" sz="2800" dirty="0">
                <a:latin typeface="Calibir"/>
              </a:rPr>
              <a:t> Report shows all employees, but you need only NSW staff.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Fix:</a:t>
            </a:r>
            <a:r>
              <a:rPr lang="en-US" altLang="en-US" sz="2800" dirty="0">
                <a:latin typeface="Calibir"/>
              </a:rPr>
              <a:t> Add filter State = "NSW".</a:t>
            </a:r>
          </a:p>
        </p:txBody>
      </p:sp>
    </p:spTree>
    <p:extLst>
      <p:ext uri="{BB962C8B-B14F-4D97-AF65-F5344CB8AC3E}">
        <p14:creationId xmlns:p14="http://schemas.microsoft.com/office/powerpoint/2010/main" val="6773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AE2E-97E0-BDCA-618B-720FE1F7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3548F9-A26E-1B74-C2A0-A0350AC21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827"/>
            <a:ext cx="6553200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200" dirty="0"/>
              <a:t>Thank You</a:t>
            </a:r>
            <a:endParaRPr sz="3200" spc="-8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5BD2D9-AABA-65D7-AD99-6F5B8666F0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6" rIns="0" bIns="0" rtlCol="0">
            <a:spAutoFit/>
          </a:bodyPr>
          <a:lstStyle/>
          <a:p>
            <a:pPr marL="28575" defTabSz="685800">
              <a:spcBef>
                <a:spcPts val="4"/>
              </a:spcBef>
            </a:pPr>
            <a:fld id="{81D60167-4931-47E6-BA6A-407CBD079E47}" type="slidenum">
              <a:rPr kern="0" dirty="0"/>
              <a:pPr marL="28575" defTabSz="685800">
                <a:spcBef>
                  <a:spcPts val="4"/>
                </a:spcBef>
              </a:pPr>
              <a:t>87</a:t>
            </a:fld>
            <a:r>
              <a:rPr kern="0" spc="176" dirty="0"/>
              <a:t> </a:t>
            </a:r>
            <a:r>
              <a:rPr kern="0" dirty="0"/>
              <a:t>|</a:t>
            </a:r>
            <a:r>
              <a:rPr kern="0" spc="300" dirty="0"/>
              <a:t> </a:t>
            </a:r>
            <a:r>
              <a:rPr kern="0" dirty="0"/>
              <a:t>Faculty</a:t>
            </a:r>
            <a:r>
              <a:rPr kern="0" spc="-11" dirty="0"/>
              <a:t> </a:t>
            </a:r>
            <a:r>
              <a:rPr kern="0" dirty="0"/>
              <a:t>of</a:t>
            </a:r>
            <a:r>
              <a:rPr kern="0" spc="-15" dirty="0"/>
              <a:t> </a:t>
            </a:r>
            <a:r>
              <a:rPr kern="0" dirty="0"/>
              <a:t>Business</a:t>
            </a:r>
            <a:r>
              <a:rPr kern="0" spc="-15" dirty="0"/>
              <a:t> </a:t>
            </a:r>
            <a:r>
              <a:rPr kern="0" dirty="0"/>
              <a:t>and</a:t>
            </a:r>
            <a:r>
              <a:rPr kern="0" spc="-15" dirty="0"/>
              <a:t> </a:t>
            </a:r>
            <a:r>
              <a:rPr kern="0" dirty="0"/>
              <a:t>Law</a:t>
            </a:r>
            <a:r>
              <a:rPr kern="0" spc="-11" dirty="0"/>
              <a:t> </a:t>
            </a:r>
            <a:r>
              <a:rPr kern="0" dirty="0"/>
              <a:t>|</a:t>
            </a:r>
            <a:r>
              <a:rPr kern="0" spc="-11" dirty="0"/>
              <a:t> </a:t>
            </a:r>
            <a:r>
              <a:rPr kern="0" dirty="0"/>
              <a:t>Peter</a:t>
            </a:r>
            <a:r>
              <a:rPr kern="0" spc="-8" dirty="0"/>
              <a:t> </a:t>
            </a:r>
            <a:r>
              <a:rPr kern="0" dirty="0"/>
              <a:t>Faber</a:t>
            </a:r>
            <a:r>
              <a:rPr kern="0" spc="-11" dirty="0"/>
              <a:t> </a:t>
            </a:r>
            <a:r>
              <a:rPr kern="0" dirty="0"/>
              <a:t>Business</a:t>
            </a:r>
            <a:r>
              <a:rPr kern="0" spc="-11" dirty="0"/>
              <a:t> </a:t>
            </a:r>
            <a:r>
              <a:rPr kern="0" spc="-8" dirty="0"/>
              <a:t>School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5F5B67-D420-B363-36D0-076510E9FACF}"/>
              </a:ext>
            </a:extLst>
          </p:cNvPr>
          <p:cNvSpPr txBox="1"/>
          <p:nvPr/>
        </p:nvSpPr>
        <p:spPr>
          <a:xfrm>
            <a:off x="154858" y="1214061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i="1" kern="0" dirty="0">
                <a:solidFill>
                  <a:prstClr val="black"/>
                </a:solidFill>
                <a:latin typeface="Calibri"/>
                <a:cs typeface="Arial"/>
              </a:rPr>
              <a:t>Have a Great Learning Day!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D47354F-B664-DD16-78CE-61C2CA4253AA}"/>
              </a:ext>
            </a:extLst>
          </p:cNvPr>
          <p:cNvSpPr txBox="1"/>
          <p:nvPr/>
        </p:nvSpPr>
        <p:spPr>
          <a:xfrm>
            <a:off x="154858" y="1720357"/>
            <a:ext cx="8074742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Feel free to reach out with any questions!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6A8C491-6C04-81E4-0F77-7812ABB2A303}"/>
              </a:ext>
            </a:extLst>
          </p:cNvPr>
          <p:cNvSpPr txBox="1"/>
          <p:nvPr/>
        </p:nvSpPr>
        <p:spPr>
          <a:xfrm>
            <a:off x="154858" y="2226653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Dr. Farshid Keivanian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376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4454</TotalTime>
  <Words>3215</Words>
  <Application>Microsoft Office PowerPoint</Application>
  <PresentationFormat>On-screen Show (4:3)</PresentationFormat>
  <Paragraphs>986</Paragraphs>
  <Slides>87</Slides>
  <Notes>85</Notes>
  <HiddenSlides>20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Calibir</vt:lpstr>
      <vt:lpstr>Calibri</vt:lpstr>
      <vt:lpstr>ACU Presentation</vt:lpstr>
      <vt:lpstr>1_Office Theme</vt:lpstr>
      <vt:lpstr>think-cell Slide</vt:lpstr>
      <vt:lpstr>Create forms and reports in MS Access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922</cp:revision>
  <cp:lastPrinted>2017-08-03T04:07:41Z</cp:lastPrinted>
  <dcterms:created xsi:type="dcterms:W3CDTF">2017-05-11T09:33:32Z</dcterms:created>
  <dcterms:modified xsi:type="dcterms:W3CDTF">2025-09-15T06:35:23Z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