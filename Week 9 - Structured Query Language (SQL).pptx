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769" r:id="rId5"/>
  </p:sldMasterIdLst>
  <p:notesMasterIdLst>
    <p:notesMasterId r:id="rId106"/>
  </p:notesMasterIdLst>
  <p:sldIdLst>
    <p:sldId id="421" r:id="rId6"/>
    <p:sldId id="2984" r:id="rId7"/>
    <p:sldId id="3020" r:id="rId8"/>
    <p:sldId id="3021" r:id="rId9"/>
    <p:sldId id="3022" r:id="rId10"/>
    <p:sldId id="3076" r:id="rId11"/>
    <p:sldId id="2973" r:id="rId12"/>
    <p:sldId id="2987" r:id="rId13"/>
    <p:sldId id="2988" r:id="rId14"/>
    <p:sldId id="3023" r:id="rId15"/>
    <p:sldId id="2989" r:id="rId16"/>
    <p:sldId id="2990" r:id="rId17"/>
    <p:sldId id="2991" r:id="rId18"/>
    <p:sldId id="2992" r:id="rId19"/>
    <p:sldId id="2993" r:id="rId20"/>
    <p:sldId id="3077" r:id="rId21"/>
    <p:sldId id="3097" r:id="rId22"/>
    <p:sldId id="3098" r:id="rId23"/>
    <p:sldId id="2997" r:id="rId24"/>
    <p:sldId id="2998" r:id="rId25"/>
    <p:sldId id="3000" r:id="rId26"/>
    <p:sldId id="3001" r:id="rId27"/>
    <p:sldId id="3002" r:id="rId28"/>
    <p:sldId id="3082" r:id="rId29"/>
    <p:sldId id="3084" r:id="rId30"/>
    <p:sldId id="3085" r:id="rId31"/>
    <p:sldId id="3086" r:id="rId32"/>
    <p:sldId id="3088" r:id="rId33"/>
    <p:sldId id="3005" r:id="rId34"/>
    <p:sldId id="3089" r:id="rId35"/>
    <p:sldId id="3006" r:id="rId36"/>
    <p:sldId id="3026" r:id="rId37"/>
    <p:sldId id="3027" r:id="rId38"/>
    <p:sldId id="3028" r:id="rId39"/>
    <p:sldId id="3029" r:id="rId40"/>
    <p:sldId id="3030" r:id="rId41"/>
    <p:sldId id="3031" r:id="rId42"/>
    <p:sldId id="3032" r:id="rId43"/>
    <p:sldId id="3033" r:id="rId44"/>
    <p:sldId id="3034" r:id="rId45"/>
    <p:sldId id="3035" r:id="rId46"/>
    <p:sldId id="3090" r:id="rId47"/>
    <p:sldId id="3036" r:id="rId48"/>
    <p:sldId id="3037" r:id="rId49"/>
    <p:sldId id="3039" r:id="rId50"/>
    <p:sldId id="3040" r:id="rId51"/>
    <p:sldId id="3041" r:id="rId52"/>
    <p:sldId id="3099" r:id="rId53"/>
    <p:sldId id="3042" r:id="rId54"/>
    <p:sldId id="3091" r:id="rId55"/>
    <p:sldId id="3093" r:id="rId56"/>
    <p:sldId id="3094" r:id="rId57"/>
    <p:sldId id="3092" r:id="rId58"/>
    <p:sldId id="3095" r:id="rId59"/>
    <p:sldId id="3096" r:id="rId60"/>
    <p:sldId id="3112" r:id="rId61"/>
    <p:sldId id="3118" r:id="rId62"/>
    <p:sldId id="3100" r:id="rId63"/>
    <p:sldId id="3113" r:id="rId64"/>
    <p:sldId id="3114" r:id="rId65"/>
    <p:sldId id="3101" r:id="rId66"/>
    <p:sldId id="3115" r:id="rId67"/>
    <p:sldId id="3116" r:id="rId68"/>
    <p:sldId id="3102" r:id="rId69"/>
    <p:sldId id="3119" r:id="rId70"/>
    <p:sldId id="3120" r:id="rId71"/>
    <p:sldId id="3121" r:id="rId72"/>
    <p:sldId id="3103" r:id="rId73"/>
    <p:sldId id="3122" r:id="rId74"/>
    <p:sldId id="3123" r:id="rId75"/>
    <p:sldId id="3104" r:id="rId76"/>
    <p:sldId id="3124" r:id="rId77"/>
    <p:sldId id="3125" r:id="rId78"/>
    <p:sldId id="3126" r:id="rId79"/>
    <p:sldId id="3107" r:id="rId80"/>
    <p:sldId id="3127" r:id="rId81"/>
    <p:sldId id="3128" r:id="rId82"/>
    <p:sldId id="3108" r:id="rId83"/>
    <p:sldId id="3129" r:id="rId84"/>
    <p:sldId id="3130" r:id="rId85"/>
    <p:sldId id="3131" r:id="rId86"/>
    <p:sldId id="3109" r:id="rId87"/>
    <p:sldId id="3132" r:id="rId88"/>
    <p:sldId id="3133" r:id="rId89"/>
    <p:sldId id="3134" r:id="rId90"/>
    <p:sldId id="3110" r:id="rId91"/>
    <p:sldId id="3136" r:id="rId92"/>
    <p:sldId id="3137" r:id="rId93"/>
    <p:sldId id="3138" r:id="rId94"/>
    <p:sldId id="3139" r:id="rId95"/>
    <p:sldId id="3111" r:id="rId96"/>
    <p:sldId id="3140" r:id="rId97"/>
    <p:sldId id="3141" r:id="rId98"/>
    <p:sldId id="3142" r:id="rId99"/>
    <p:sldId id="3143" r:id="rId100"/>
    <p:sldId id="3135" r:id="rId101"/>
    <p:sldId id="2981" r:id="rId102"/>
    <p:sldId id="3105" r:id="rId103"/>
    <p:sldId id="3106" r:id="rId104"/>
    <p:sldId id="350" r:id="rId105"/>
  </p:sldIdLst>
  <p:sldSz cx="9144000" cy="6858000" type="screen4x3"/>
  <p:notesSz cx="6805613" cy="9939338"/>
  <p:custDataLst>
    <p:tags r:id="rId10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120C"/>
    <a:srgbClr val="8C857B"/>
    <a:srgbClr val="3C1053"/>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30" autoAdjust="0"/>
    <p:restoredTop sz="94694"/>
  </p:normalViewPr>
  <p:slideViewPr>
    <p:cSldViewPr snapToGrid="0">
      <p:cViewPr varScale="1">
        <p:scale>
          <a:sx n="105" d="100"/>
          <a:sy n="105" d="100"/>
        </p:scale>
        <p:origin x="1902" y="11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07" Type="http://schemas.openxmlformats.org/officeDocument/2006/relationships/tags" Target="tags/tag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presProps" Target="presProps.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notesMaster" Target="notesMasters/notesMaster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viewProps" Target="viewProps.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theme" Target="theme/theme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6F69E031-7821-4947-9A91-EC03C15F7566}" type="datetimeFigureOut">
              <a:rPr lang="en-AU" smtClean="0"/>
              <a:t>5/05/2026</a:t>
            </a:fld>
            <a:endParaRPr lang="en-AU"/>
          </a:p>
        </p:txBody>
      </p:sp>
      <p:sp>
        <p:nvSpPr>
          <p:cNvPr id="4" name="Slide Image Placeholder 3"/>
          <p:cNvSpPr>
            <a:spLocks noGrp="1" noRot="1" noChangeAspect="1"/>
          </p:cNvSpPr>
          <p:nvPr>
            <p:ph type="sldImg" idx="2"/>
          </p:nvPr>
        </p:nvSpPr>
        <p:spPr>
          <a:xfrm>
            <a:off x="1166813" y="1243013"/>
            <a:ext cx="4471987" cy="3354387"/>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4C98A5C1-1CB9-4F08-9AE0-90C38B1EBB91}" type="slidenum">
              <a:rPr lang="en-AU" smtClean="0"/>
              <a:t>‹#›</a:t>
            </a:fld>
            <a:endParaRPr lang="en-AU"/>
          </a:p>
        </p:txBody>
      </p:sp>
    </p:spTree>
    <p:extLst>
      <p:ext uri="{BB962C8B-B14F-4D97-AF65-F5344CB8AC3E}">
        <p14:creationId xmlns:p14="http://schemas.microsoft.com/office/powerpoint/2010/main" val="1452559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98A5C1-1CB9-4F08-9AE0-90C38B1EBB91}" type="slidenum">
              <a:rPr lang="en-AU" smtClean="0"/>
              <a:t>1</a:t>
            </a:fld>
            <a:endParaRPr lang="en-AU"/>
          </a:p>
        </p:txBody>
      </p:sp>
    </p:spTree>
    <p:extLst>
      <p:ext uri="{BB962C8B-B14F-4D97-AF65-F5344CB8AC3E}">
        <p14:creationId xmlns:p14="http://schemas.microsoft.com/office/powerpoint/2010/main" val="2666480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4DDECE2-2C03-6D0D-7451-4AD87CF2BF4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746AA02-44F0-E41C-8C34-0C7E413EE99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C6DF3DA-5601-6BB4-ADB8-0C2E64FC18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5492648-6074-1426-5629-8D50B61CBAC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54204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5971EBDC-3F3A-78DA-A7B4-1AAB8ECC258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075EEC8-1560-1D69-57E1-FA694761A63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A12A764-CBAB-AE2E-EBB3-D9ECBB9229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97E275F-B5E7-96BD-40BD-7E361B607897}"/>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945873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8BA5225-9C9E-2677-7E21-BB9DCC92056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0E4BD025-1522-2645-E207-B53EA0D28C4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63EDE31A-B192-4B1F-211B-18C732D660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2D2A903-8644-B2C4-50C5-54195212861C}"/>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743305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8D82582-C809-7AC2-6DA4-6010333C2DF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29263861-A45F-8694-30BA-CEDE1344F88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0516086-4447-9941-4289-0A156BFA10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D53461A-28C3-744B-60E2-F3FB3AB4C7F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214016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C0F6F3F8-AC6B-B609-8635-C8B703D276D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D9EB21B5-9D3D-E728-8652-BF93837B00E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00012716-C03E-2896-5E5F-F4C022C265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A337780-A7C2-606A-D270-3FFC4AED347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569575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5FE82A2-686F-E960-3351-C0D17448C63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60B6854-E8FD-D157-4A9C-DDA202A551C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1793B14-0E68-8DE2-C206-BC80A52DB7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5DEE078-B538-9664-FCDD-012E7877C8E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407320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76595C2-3CF4-DB83-6DB0-C9D76B7EBEC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41023EE-9634-8644-5412-E5E17471C1B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217FCAC-7CD9-4C4E-9AAA-387B045E37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E758F8A-20D9-8159-E849-AFF6FA29E4A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877185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8665AA1-BF41-0457-BD81-2DB1EBF41C84}"/>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EA142FC-F1BE-A394-817A-E505E44031C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284EAF6-B0CB-5357-4381-7737E9C08F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7FC5188-1097-9089-21A9-DB8F3C42A91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123135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D8BF520-5898-097A-3615-D57A434D557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90AB247-1960-E0DC-1773-646E76B2ACF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2EDFA76-D67A-C464-6FC4-EA3BABF670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8F76214-8FBF-59A8-57F0-E12AF8A51C5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2831270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9EEEA9B-9C28-C742-523F-A237CDD1CC2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4CA6232-1A70-C37E-F238-CD525227F51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B4E4685-EAC6-B243-AD51-0F7C1C40A0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EAF69F1-13E0-62A9-0EE6-61C2C92B425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469776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740EEE9-BDA9-311D-EFAA-E2FB1FC7A8F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9AAF76A-65AA-B161-F723-7B2F89D2EFC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5F8C625-3842-A029-540F-B70A7F1C45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E315700-B9A3-FDF5-A155-DAC3F64B4BF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4000067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DB76D08-A6B4-6CC0-1CFE-9E102B4839E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05401E8-DF02-ADDD-5569-05E35C302DC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8AC4D75E-63C4-6122-3D76-F09B79A6A8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85E69496-BFD4-DA9D-11D5-F50B1AE31FC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1911962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329D099-8CC2-F5EF-0446-0390FC082C6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5FA2564-332C-61B5-8569-8F0F87FF966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ED54D034-075B-BC56-FB28-BE2B6811D6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8F650AC-12D4-4234-0745-A7D6B7F3B40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9568976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073584F-702C-2675-6CBB-D253E945079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ECF8B72-D2E5-A7B9-89AA-95D22DC8C1B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E0EEE49-0D55-DE37-93A6-86E17A46DD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10F8CA1-73FC-BB44-5E12-18ED33D6AC1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225744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DB76EAD-8CE3-C2A6-965D-A11F8E383AC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01C6B12A-900E-CF89-63D9-9DE6F63B6FD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B3677F4-6622-24A7-709B-E51181149E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96B87B0-12B1-7264-5C3B-FF3333752C3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216206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CC2FB77-BC96-6292-068E-2FDDA54C00C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0FF0CB0-5DA9-8B1D-C68A-3BA0B6D0E01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9CC9DF2-800A-DA43-0381-CA9C74B9BF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107A5C0-C591-3D08-671C-3469A20329C7}"/>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678939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CF96033-6A31-65FD-1866-F10F40948F1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AE94586-40B1-EE72-C361-3E7406FC82D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0DB5915-8E38-C947-7FCA-3789DC2DAB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2E6C1ED-AA7C-BB8D-C886-9F4A09358E0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914400" marR="0" lvl="2"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1371600" marR="0" lvl="3"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1828800" marR="0" lvl="4"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2286000" marR="0" lvl="5"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2743200" marR="0" lvl="6"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3200400" marR="0" lvl="7"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3657600" marR="0" lvl="8"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774706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2534946-577E-650C-BE36-89196C63066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E329511-7DC2-B940-76B4-F053E91EF30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85CF3440-406C-B180-D4A8-D2C9808B3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CC3F74D-0C83-A1B9-2DC8-34DAF457871D}"/>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914400" marR="0" lvl="2"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1371600" marR="0" lvl="3"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1828800" marR="0" lvl="4"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2286000" marR="0" lvl="5"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2743200" marR="0" lvl="6"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3200400" marR="0" lvl="7"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3657600" marR="0" lvl="8"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80367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320B196-913A-5259-8F22-2A1EDA0F614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7203724-1FED-DD01-1D50-02B0141891E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E4DC8E1-D042-5A17-B824-264B751C48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9E49A75-68FC-211B-F7C4-F210CBBB306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914400" marR="0" lvl="2"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1371600" marR="0" lvl="3"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1828800" marR="0" lvl="4"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2286000" marR="0" lvl="5"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2743200" marR="0" lvl="6"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3200400" marR="0" lvl="7"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3657600" marR="0" lvl="8"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747095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2D2918F-0CAA-DA04-1C9E-E2128CF2F24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119B013-898D-9537-62BF-2DDF02DFA2F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9F5D6E2A-A95E-5F3C-BBE8-60C53F557E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7ECAF750-4070-5504-0279-BE36D30584D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914400" marR="0" lvl="2"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1371600" marR="0" lvl="3"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1828800" marR="0" lvl="4"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2286000" marR="0" lvl="5"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2743200" marR="0" lvl="6"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3200400" marR="0" lvl="7"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3657600" marR="0" lvl="8"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9985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53E4326B-9397-4C52-66A5-6F2D0CA3ED0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F3D16C6-BBED-EC88-5B9F-6415F0D6EE9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451897E-302F-C7F7-B340-930DC3B434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9B3FF64-AE93-B87F-48E1-4C3D79A7D1F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914400" marR="0" lvl="2"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1371600" marR="0" lvl="3"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1828800" marR="0" lvl="4"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2286000" marR="0" lvl="5"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2743200" marR="0" lvl="6"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3200400" marR="0" lvl="7"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3657600" marR="0" lvl="8"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122725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E53E435-3A10-E433-C3E3-F6833B77B71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CE978636-FDC5-24E8-F2ED-73F98645C1C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B1E60DE-898F-5A3A-8BB7-ED9E293D68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1BEFEE1-7EE8-0E70-347C-1031AC0AB09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914400" marR="0" lvl="2"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1371600" marR="0" lvl="3"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1828800" marR="0" lvl="4"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2286000" marR="0" lvl="5"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2743200" marR="0" lvl="6"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3200400" marR="0" lvl="7"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3657600" marR="0" lvl="8"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66000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702F000-DDB9-3C6F-27E2-16C772280E1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D9DBC7B-9547-DDC4-A57B-52DF4F7EBC5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DBE8792-5170-A85F-7DBC-C1E9C087A7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CC18325D-0206-8131-2861-52AE0D12CFA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8047186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2C871DC-F6C4-A0F1-F22C-9BE2335A264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92ED866-8FDC-7481-CD39-20C5AB46CB3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FDCA6B6-F1F2-2E54-4A63-7A7D38C149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46210CB2-6B1B-37AF-8F33-528BB9B722E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9087937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07F2CDE-0121-59FF-D72C-FF8AD6D1CFA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1C8FC2D-FE20-32C4-BBB8-6400AF9BCE7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888CD0D-0D60-A467-29A7-B8C2F8784F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9BFC3AA-74E8-5635-356C-F78FF46204D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4951099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D843CE8-FA3C-D93A-3B76-0843F6E69A5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C095ED2-0E56-34D4-BE83-4C710F358B9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700D1FA-EE33-56F3-E941-3EE088B5F6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4DF4D67-09DD-2BFC-ECC6-839DFC84504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9034171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C995A604-0388-CD67-83D0-69C0E5C14D3B}"/>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95C430FC-D334-7108-FAC7-168EDDBB4D4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B9A4340-D6C4-D9AC-D957-8F98A479F5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7F3C79EC-1D21-7DCD-A5ED-430F9EEFBD4F}"/>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5357993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6A41E7B-8CC2-8AAC-432C-147A7541C1A6}"/>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1979523-7585-B856-D7F1-30281DAE527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080A87B-A6EA-AF96-B900-476CDABDD2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0197BF4-6DB3-637F-8D81-6BDE83AD065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9522342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4EEB814-BD0F-140B-C180-6D1F817499C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9C55372C-276D-CA6B-04AC-C95FCE260F1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2E6B4E6-FE7E-9D16-D1C3-AD1ADBC17F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EF254B0-E1CF-933F-AC97-0F427C2E391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3458411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B8E68D5-CA8E-ECF1-3B74-1E5FA542BAE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73D75AF-F41D-501F-DB00-B03F3DF5180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6B8D573-A775-E9DB-FBF1-C680860B36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4EE66AD1-6509-BC2D-B004-AE18B065485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6691543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55D20F7A-800E-9C92-0012-8BB0B574077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971CEFCB-43B9-20FB-6482-80BF4374722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9C6A99C8-F07B-0E92-7957-A80CFC47F5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A7984140-6521-2E92-A57A-45AFE749951C}"/>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3561401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D62B347-C6D2-C659-6AC4-37AC54F571D4}"/>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CC52359-AE77-0388-137F-A47174CB9F0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62C34C90-E6FA-5EE5-F8B7-C021449785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F78FBDE-6D4A-023A-AE44-BF8FBB4F19D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0688495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55DF64F-F88C-D7E3-3753-FA225803625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DD64D9C-D9DB-DD56-DD04-5D3883F5A25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8B48770-6059-8B99-2E13-C3F688E99F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3D2D8B1-4B3C-B6E5-41DF-5E0BB895470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3822131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269966E-B0B4-569D-E570-0C8A24E6E74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EDBFB39-BCC9-DDF0-4F60-8B5686271FD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1BA48E4-5CDC-D8C7-1F43-896EF5C88D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F3B8E88-C384-8E7A-2655-9D68AEB26437}"/>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8063097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C2D042E2-9EF0-3792-3D9B-0D894B31B96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D69D3134-3EAE-59D2-9EB8-850E19264B2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F21B648-8FE9-BF4C-59BC-454176BE90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AC460A6-1C20-69CE-A0FE-5DA848B2F8F0}"/>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901415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4D539EE-E0C2-E492-5C94-70967DCE4B8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2633D0D-23EA-B4C8-896D-ADA3FABBEFD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6E60377-0586-8233-DE04-9633E6A4A3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DC43983-C675-2388-5991-F9127A8E4E0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1437822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F1C6947-6979-AD6A-82B6-5AEBB4E4FEF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05C2849-0707-DB81-8147-21E4DFDC427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77BE679-718D-9783-F679-BBDA32881B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120F092-B5A8-2980-8080-C97673D464E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8496582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C815865-1D4D-2A31-8265-36C3624F144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442BCCE-CB23-4068-EB9A-03FECD00384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B527566-9A5E-5FC8-C3A5-9E28028EF1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C6D2314-CBCF-7CDE-0DB1-6E2DAF79566F}"/>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3110708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54848D31-3D98-4E7E-4C1C-BB74FC07747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633990F-5334-FD5C-7569-6C054576474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C63B4A4-9C79-9D10-CC11-087EBAAA32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723D1B2C-35FC-C82F-3531-923D67F705B7}"/>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6111038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B3689F2-6940-88C1-1DE9-62B71BC394B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28961989-5317-A129-6407-71A1BA5A903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FFBD45A-6916-89D8-686E-CAB240EE26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70801FE1-287C-A4E3-B69D-6423D5B490E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0954057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C39364F8-10E2-EF87-4CEB-7E13361D794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4C6D8D1-8CBE-B34F-D357-426E194A69B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5120063-D427-8664-9183-83F87EE115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7BEE0ED-08B0-996B-C32E-DEB5D061D94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7312252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C891BC88-7A9D-B914-592F-170E2BF177C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712DE62-D9D3-BFA7-33FF-1D9ED44A74A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6E11C01-CFA0-38CD-2500-2F828DC857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4AF440A-327B-0B92-C5A2-6B116595952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9957978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2260C61-0211-4467-F8B2-FBE91953333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88341A0-4DF5-0284-25B5-0886ACFE8FB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1FC96C6-A53B-CF3E-C2E6-D8576C9DCF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FB6DD20-AD6D-B629-C96C-C1826C827A4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479857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AED1AD6-62E7-3305-DC49-2A18768930D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C64E097D-E7FF-33E5-A6AB-D246228C0FA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8DE2078-821E-F511-94B5-FFF5D87396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221DB42-4090-B271-B2C5-F839D9038C77}"/>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4880388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3824EF1-C303-A58A-610D-39442953816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D2B4182A-D79C-4304-302E-9BBE7D73ACB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30219AF-18B3-8328-FFA3-363885C58F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F544088-D01A-45A3-7E17-048445F214A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70854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A48E1AE-0DD4-ADF5-A9FD-5832302A008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E3E7266-1951-6BB9-608C-253C62D1C6E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EBBC77A0-C0F2-72F0-FC30-0B35C91C75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C4460C5-89D3-BE0C-EFEA-09DE4F1623B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0926327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6FCEA6C-64A1-BF82-1D49-024B94D9D5F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8F87E10-6CB0-61F8-DEC1-762090D718D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1608E2D-948A-9750-0086-F05EF315E0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D8C2206-9BA4-1A0C-8558-0BDA1674967C}"/>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2563885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D05EE27-3BD4-A4B6-4A12-E2DB355BAFC6}"/>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E187688-8C42-9CE9-C9D5-77112433161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BF62BFA-E8AD-FAAC-2FFB-50864DFFA2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FE636F8-857D-ED0F-9E79-92601F2317D7}"/>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1683222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36D3803-ECCA-BF7A-AD1A-29BD1B9D89B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171EDE4-F5E3-6577-3C33-83C1CC95686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3CA5F31-3194-03A3-C253-783E07C963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8905D6B-FBC1-0680-84C2-9CE4A057FFA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1980869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339A2BA-A558-F7E8-FD30-E32756B126D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A147FCD-DD02-A4A8-5FBF-C2CAFE2A91D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4135E64-C59F-DD48-DB4D-24DAA6A7AE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B68CB1D-03B8-5237-95A7-9DA456E2E6C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483470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5D7016C-B35D-3DF8-5844-4595A754944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92CFAA83-D223-11BE-95FF-F753C847F2D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7C04710-43DE-A207-CF86-772C8F21DF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6DEF257-7387-9D9A-D450-9CCBF6BE5E4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3262716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A7FC69C-05AF-47BD-76A2-AF30EF842276}"/>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CF89B23A-6048-C91F-869A-7EB0103C224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42F98E1-FCD6-834B-33AD-1A81A86009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0D77ED5-EF62-BBF7-020E-C1AFF36E2C1D}"/>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5773932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7BC4543-B493-19B5-C1F3-C86126D87AC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1E661C8-C99B-76CE-6009-A032BD16241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E14A21C-0C44-90D7-A0D7-55B3B25BC0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545A119-AF3E-7C3E-370F-3FE9D56FD3D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7861986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D1678CE-E17A-4669-AE8D-836B6BA448F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D83CB587-D3A1-5A34-C294-43F9526112B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08E32F52-BDAA-7E02-DCC8-9449C3A98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01A1467-8DFA-A0E5-9310-2607F948CFD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0336343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E87E919-6DFA-175B-23D2-FB663301A00B}"/>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7BF02B1-1543-9658-8C14-51CC583AC04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E51EB5E-680D-0E57-93D4-EC70FA5E56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DC42462-98DE-F7C8-753A-811F48E27ADC}"/>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0978680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66E298F-DC51-888A-EE05-AE2032DB464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3FF58F7-445F-CA0C-4E0F-AEAFC247B5D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D2F0605-78D6-0EB6-1747-CDEBAE2499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0C2C7DF-5E6C-15B2-A787-E32DAADCD2F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14647725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44869FC-D0A7-6EB0-BB86-EDF8D13F56F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A8D1A2D1-234E-9D27-2198-E889ABE9DAB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0EDBB40-63CF-7C26-16A7-0C44D9026F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E5ADF08-97F8-3954-7DF1-7D99B6AAC4CC}"/>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02832754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4C3CE92-A311-008D-5800-11C57F6BBB5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DB1AFBF-EBD7-4252-39DC-63D281213E0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5B988DF-F965-A4E0-0515-B759D44C5F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BA49E3A-4179-6882-86F4-CF08A0EB343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8989584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7A18358-5F5C-A218-4ED2-C8F22B7A36C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FEDF815-910E-BE2A-E2C7-8D00EFD2A97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57EBD63-0EB1-8B91-BD46-A1A5D06067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5C28AA1-6688-3BEE-30BE-74BAD27ACF2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8381490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B701395-CD47-D6D2-5B15-26F22C961A5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AE3B1E9E-CDAD-3C2F-9B25-2C30B656814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D2A1CE1-4BFF-8B9B-CDD9-3717625F07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869F92F-CFD8-E0E5-0A21-0A9AE2444C5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9123196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A39C6B8-0FCF-8EBF-6A2C-7F019A9943E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209D080-DC7C-EF03-807B-2D822A5C79D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9302D7D5-13E3-9390-C0A7-DEA6605F56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552C728-15C3-1A1F-7F5A-B0D08746BD3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48860794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36D4D07-49FD-6ACE-0CD1-C32602D55F2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128FEE5-0067-D01E-D84B-CABF9240B1B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05584EC-F99C-7831-D9C2-6C2D02DCDF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DC4D767-D3AE-E641-DF32-9EF9B9090AC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77582766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4A521C7-CA6F-E8A7-E149-1F6625D6B65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2E446C4-8E64-BEA9-02E0-8C5C4DCC12A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23E9CC8-4C19-C53B-6254-50CD7ACCED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5660C1E-CDEC-8E36-ABF8-FEA44A14A54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67421424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276C79E-E9C5-5C05-B5F9-F420BDB7A5E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DDCC278-D933-3C8D-11EB-6DA7359ABF2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0A7684C3-533C-424F-E251-158FFDB040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4F03BBB-7AB5-4EDE-E8D6-FF9FC28BDC3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5206091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6A17A15-0751-B8D3-C5A7-C548664F427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DC42454F-BE36-FDC7-B727-1C296AD978F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7A01268-41E9-BC2C-9665-D8762E6170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4CBA8902-95D2-159D-0392-F5C1792BF24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13148705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9C66E7F-9754-6D2A-69F7-CCA2BAEB63C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36FEAA6-AAA5-E5B8-99C2-3BC97135952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558A04F-EB68-DF09-8001-A138612A63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8648596-AAE4-5FB9-79FD-3408D665F3D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34648005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5D3845F-E799-D08F-0136-F4957557056B}"/>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04998F6D-9B71-A9D7-5B62-5D1F46F7C3F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14A684E-9DE3-7EB9-2990-B1E756950A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A18CE09E-C43C-DDD4-9AF1-DDC7F2EB5C8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73136785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69F32E5-6B66-0E3B-0733-82A6C69ACDE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B69D000-E8AF-386D-861D-278D2E2B71D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E031CAF-04D8-B3FD-49C5-4D6BF0661B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C9FB2FE2-055B-29BF-0E2C-AF80F488C1C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20399273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322D959-6A28-BFB9-5F90-CF6A37D47CB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8B873DE-2C52-36E9-6A23-CA8686FA6C3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66DA7BB-9F5D-DE54-5256-BD07BF5EB0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D3D4469-D2D4-0760-1417-C22F337632B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49572262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6D84341-8D3A-3566-C4CD-997FC7156C0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33544F9-CB27-21BB-42AF-47287AAFBA3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776E53F-F997-DBDB-FEC4-2CC818065B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C6044F92-2470-D4F4-0DD9-8B82D97EAA6F}"/>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35359625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502290B5-16B1-06D2-580A-0F1FC942A6A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E292A7F-4BB6-BCA6-C864-036DED3FF08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ACB3089-F1AB-570C-824E-31C2F1D9FE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446DBA22-BB00-7A09-E5ED-A56199754E2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4611997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434371E-7B79-30F7-4086-10C5772A202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D7DCDAC3-AB25-0E4B-DFA7-14EA32B2EE3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5A29BE7-9ACA-84F2-A384-3CA13347EA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3F291B8-E3CB-611B-2D51-B79B83B2FAA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84710652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C4528D4-074C-6293-39AF-677513B3E14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19F788D-2F0D-AF4D-6086-9365373A504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29F855F-B4D4-DFBD-EB17-15CAD2CCD5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A6642338-0ACC-A594-4242-629688FB4A0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5042635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20586B1-5FA8-63AB-C0B8-C35A0C0C8C4B}"/>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53E3F2B-0F04-93F4-A868-488822DB8A5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4A597EA-D02A-DBC3-1D9E-5868C20BE0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EFAD571-8A39-D61A-F50F-CA3426F44E5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19771685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011A8D3-8D64-A174-808B-7F7358422C2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E3A00CE-B751-7206-A232-3A01C9BBAC5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D6C48C6-3B25-03A9-CB4E-7B8E296A23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206E77F-DB7C-3C19-E3BC-A6C54F4B28D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8203341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538A66C-269B-4C1C-E520-BB674D3E5AE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C19E17CD-0F2A-B06E-F03A-91638FD8A02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69802BFA-78C2-49DC-FEB4-414CC9BD5D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7A89892A-7667-4A01-91BD-380A3897283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10593618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7BC3D81-0F1B-342C-50E6-5BC8429CB09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3BD8506-2366-8B6F-CEA9-2A11046ECC0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C7C8EAC-E268-46D7-CED1-9667DD1E2D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3680847-4541-C81B-490F-E6B1731D68F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47372559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A2EC73E-6C9A-4A6D-2EA1-343F50CD7DB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88F272B-0487-9D30-7493-BFFC20C898F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60E0C54-7FE5-4E3C-8B06-A6931D0BE5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149E73E-0B68-D8C1-5BCB-0CEDCC4848D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98242194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EC109C5-78B8-A75C-4F1E-9E687C4F41B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3830F62-33BE-99DD-6E9E-E7CE471AFFA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9252B0D-A79D-C56A-F607-2A65CD06A4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329C4C7-2894-3B6C-7C72-B67A1D019AA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67925135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9AB2EC3-4E39-7F6E-368E-3E7F5CFB8D9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2CFD6EB7-5F99-403D-8C3A-314CCEF3AE3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D37DCCD-DB71-6EEB-8A6F-E6C6009227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B69E3E2-3D41-67C3-330C-7E19C9F026B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01287876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DF09164-1A74-A37E-74EF-411D78F6EEA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5F4FDB0-0FA5-3AC3-67A5-21840426D15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8233C38C-2D20-C9B8-58D7-D0D13E39B9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C7205D34-551B-A5CE-89FE-DD58E050473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91910305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A0B882F-B23B-9C23-8861-C0A25C22FFE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0AFD4C3-FAD5-4353-7979-50094F93169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994CEF65-E476-A79F-30B5-93D57B8FD8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C453DC64-BA3E-E2E7-8E47-FAA1E07E1A2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67030887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1A7DE9B-AE0B-3D72-8A93-E26443E1E59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E1BEAE4-38B3-9631-5D06-AFBD003A0C9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945E57A-19D5-A8D2-72B8-932AF4F614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2DBE10C-4B08-F133-150F-B73BEC780D0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93892753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8FCB00A-2384-51FB-8FBF-7A799F8C079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1F576EA-D363-6EEB-E335-C98C6C1C713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E85DCF1-7F8F-427F-DD21-4E23674D51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4BA0E92-990A-050A-C7FE-F31F82D0E9B0}"/>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28891868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77F5F40-54CF-8097-A5F2-4BBF1BEC716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25D4674-838E-4D92-B05A-3B1E2560056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E604BD74-E108-0E8E-7BC5-E794AE62B3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4F58B40-1F6E-1EA8-860E-0A3F1D3EE6F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43156893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69CFBBA-3777-62F1-4125-E6C9A61A2DD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46C42C1-35EC-B8BE-2D8F-5B92DD5A6FB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4C13CD7-59EA-838E-E616-FB5FDB368D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8CA8E3F8-0846-1024-E246-97975AB6752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53247349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34546DE-32C7-3115-9A59-6D22B520E51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749C65C-BF4D-E66A-36D4-EB3FB0C411C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F8A3BE8-CDB5-1270-2D1D-39D58C8132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0DFA8C3-DCD9-53C8-8460-FC330CBE9BED}"/>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78834956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5171B4C-61DD-65D1-A84B-627A55555F3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5FAD36F-511F-E8A3-DDAD-3AC75A7FB1B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50A941F-446C-83E4-9762-6427522B46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8A63A1C-9C97-A961-A5D3-63E36A77C5E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84561189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5ED49349-C661-658B-F891-84EDD4FACC6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3D074E8-8BDE-92E4-FB36-246B7FB4425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363AB25-E9C5-E73B-980A-AFFCD46C94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0BAF620-EDDB-9D03-FAE9-CDA06C7473B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88314569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8093176-3AA9-62F7-A917-0CF0510D78F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B7A8DDF-CB1C-EBF4-F2D8-7AF5FDAD34F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6DBFF04-8464-A587-8E11-297ED3CA5D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445E313-51FB-08BC-586E-8F41704340BD}"/>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18736716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BCD988A-F4F1-847E-58F5-FF58C58B1FA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0FEE9E92-8C9B-77D6-9BDE-67AA0E19CB3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0288606F-92A0-61A8-E955-2746EA83B3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DEC4EAB-C3BF-4278-4483-BB2A34B937A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6563040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715008A-7FC1-436A-EE78-8EE53BC8DAE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80DB11C-38C7-C026-1C69-2044C2AEE1A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9A12375-D394-CDE3-3EAD-47680F568F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927ECAF-9E46-9FA9-0A05-CD6517FBBEF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19543204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8A2BE72-B48C-5B72-D636-DE46F046B87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BC74EF6-1A03-6E21-F2F6-81FE66E4A61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02B9A419-2E31-DE9B-1A25-ABFCA54C0E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A8CFD6CF-2808-811D-2340-79A991ECA890}"/>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75423521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D11D020-7266-77A2-3135-8CDE2F3321D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392E303-E3FA-6004-2F18-150E2EC34E7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DB7684F-10B3-881A-3461-3E87EFDDA6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E0B880C-2C0B-5408-7FA9-CDDCFA4438A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16340153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1EE6EB4-1942-F25D-4A9B-7B8BA756710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C99527EF-608D-56F5-A9F6-2C94EC96E80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21C871A-DF68-0276-DAFD-08F3735F34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8D39B38-B3BD-8406-475E-8660A0254B5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66957609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20FD28A-E337-0EBD-CD9F-5034AC77F43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E536D74-0BF2-7613-D222-A0E9A4C78FF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7BAA04A-E651-4280-B56E-F972FE5FDE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89A3700E-68B2-A9F7-CAC9-ADC6A00B1B3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47366050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0001E36-B5E3-34C7-F862-78224F97DC2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8E7F52C-ABA6-EE52-5BA8-AD0EBB8C2C6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0CF1A77F-59C5-7742-48D2-39D3FD3994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A3DD1AE-9672-3FE7-48E2-C1A223412290}"/>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22430396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D070734-4BE4-9F2F-63CE-07AFF871585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4F6038A-4E6B-E5EC-2395-A9771A1E97D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9070401-220D-FFF6-906B-9F2D6ACC55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EB0572A-8D00-E9B0-897A-1758FFB3FB6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232307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48" name="Rectangle 47"/>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 name="Group 4"/>
          <p:cNvGrpSpPr>
            <a:grpSpLocks noChangeAspect="1"/>
          </p:cNvGrpSpPr>
          <p:nvPr userDrawn="1"/>
        </p:nvGrpSpPr>
        <p:grpSpPr bwMode="auto">
          <a:xfrm>
            <a:off x="0" y="0"/>
            <a:ext cx="9144227" cy="6858000"/>
            <a:chOff x="5" y="0"/>
            <a:chExt cx="5750" cy="4320"/>
          </a:xfrm>
        </p:grpSpPr>
        <p:sp>
          <p:nvSpPr>
            <p:cNvPr id="6" name="AutoShape 3"/>
            <p:cNvSpPr>
              <a:spLocks noChangeAspect="1" noChangeArrowheads="1" noTextEdit="1"/>
            </p:cNvSpPr>
            <p:nvPr userDrawn="1"/>
          </p:nvSpPr>
          <p:spPr bwMode="auto">
            <a:xfrm>
              <a:off x="5" y="0"/>
              <a:ext cx="5750" cy="4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 name="Freeform 5"/>
            <p:cNvSpPr>
              <a:spLocks/>
            </p:cNvSpPr>
            <p:nvPr userDrawn="1"/>
          </p:nvSpPr>
          <p:spPr bwMode="auto">
            <a:xfrm>
              <a:off x="5" y="288"/>
              <a:ext cx="2875" cy="1871"/>
            </a:xfrm>
            <a:custGeom>
              <a:avLst/>
              <a:gdLst>
                <a:gd name="T0" fmla="*/ 2875 w 2875"/>
                <a:gd name="T1" fmla="*/ 0 h 1871"/>
                <a:gd name="T2" fmla="*/ 2875 w 2875"/>
                <a:gd name="T3" fmla="*/ 1871 h 1871"/>
                <a:gd name="T4" fmla="*/ 0 w 2875"/>
                <a:gd name="T5" fmla="*/ 1871 h 1871"/>
                <a:gd name="T6" fmla="*/ 0 w 2875"/>
                <a:gd name="T7" fmla="*/ 0 h 1871"/>
                <a:gd name="T8" fmla="*/ 2875 w 2875"/>
                <a:gd name="T9" fmla="*/ 0 h 1871"/>
                <a:gd name="T10" fmla="*/ 2875 w 2875"/>
                <a:gd name="T11" fmla="*/ 0 h 1871"/>
              </a:gdLst>
              <a:ahLst/>
              <a:cxnLst>
                <a:cxn ang="0">
                  <a:pos x="T0" y="T1"/>
                </a:cxn>
                <a:cxn ang="0">
                  <a:pos x="T2" y="T3"/>
                </a:cxn>
                <a:cxn ang="0">
                  <a:pos x="T4" y="T5"/>
                </a:cxn>
                <a:cxn ang="0">
                  <a:pos x="T6" y="T7"/>
                </a:cxn>
                <a:cxn ang="0">
                  <a:pos x="T8" y="T9"/>
                </a:cxn>
                <a:cxn ang="0">
                  <a:pos x="T10" y="T11"/>
                </a:cxn>
              </a:cxnLst>
              <a:rect l="0" t="0" r="r" b="b"/>
              <a:pathLst>
                <a:path w="2875" h="1871">
                  <a:moveTo>
                    <a:pt x="2875" y="0"/>
                  </a:moveTo>
                  <a:lnTo>
                    <a:pt x="2875" y="1871"/>
                  </a:lnTo>
                  <a:lnTo>
                    <a:pt x="0" y="1871"/>
                  </a:lnTo>
                  <a:lnTo>
                    <a:pt x="0" y="0"/>
                  </a:lnTo>
                  <a:lnTo>
                    <a:pt x="2875" y="0"/>
                  </a:lnTo>
                  <a:lnTo>
                    <a:pt x="2875" y="0"/>
                  </a:lnTo>
                  <a:close/>
                </a:path>
              </a:pathLst>
            </a:custGeom>
            <a:solidFill>
              <a:srgbClr val="3D393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6"/>
            <p:cNvSpPr>
              <a:spLocks/>
            </p:cNvSpPr>
            <p:nvPr userDrawn="1"/>
          </p:nvSpPr>
          <p:spPr bwMode="auto">
            <a:xfrm>
              <a:off x="2880" y="2159"/>
              <a:ext cx="2875" cy="2159"/>
            </a:xfrm>
            <a:custGeom>
              <a:avLst/>
              <a:gdLst>
                <a:gd name="T0" fmla="*/ 2875 w 2875"/>
                <a:gd name="T1" fmla="*/ 0 h 2159"/>
                <a:gd name="T2" fmla="*/ 2875 w 2875"/>
                <a:gd name="T3" fmla="*/ 1869 h 2159"/>
                <a:gd name="T4" fmla="*/ 290 w 2875"/>
                <a:gd name="T5" fmla="*/ 1869 h 2159"/>
                <a:gd name="T6" fmla="*/ 0 w 2875"/>
                <a:gd name="T7" fmla="*/ 2159 h 2159"/>
                <a:gd name="T8" fmla="*/ 0 w 2875"/>
                <a:gd name="T9" fmla="*/ 0 h 2159"/>
                <a:gd name="T10" fmla="*/ 2875 w 2875"/>
                <a:gd name="T11" fmla="*/ 0 h 2159"/>
                <a:gd name="T12" fmla="*/ 2875 w 2875"/>
                <a:gd name="T13" fmla="*/ 0 h 2159"/>
              </a:gdLst>
              <a:ahLst/>
              <a:cxnLst>
                <a:cxn ang="0">
                  <a:pos x="T0" y="T1"/>
                </a:cxn>
                <a:cxn ang="0">
                  <a:pos x="T2" y="T3"/>
                </a:cxn>
                <a:cxn ang="0">
                  <a:pos x="T4" y="T5"/>
                </a:cxn>
                <a:cxn ang="0">
                  <a:pos x="T6" y="T7"/>
                </a:cxn>
                <a:cxn ang="0">
                  <a:pos x="T8" y="T9"/>
                </a:cxn>
                <a:cxn ang="0">
                  <a:pos x="T10" y="T11"/>
                </a:cxn>
                <a:cxn ang="0">
                  <a:pos x="T12" y="T13"/>
                </a:cxn>
              </a:cxnLst>
              <a:rect l="0" t="0" r="r" b="b"/>
              <a:pathLst>
                <a:path w="2875" h="2159">
                  <a:moveTo>
                    <a:pt x="2875" y="0"/>
                  </a:moveTo>
                  <a:lnTo>
                    <a:pt x="2875" y="1869"/>
                  </a:lnTo>
                  <a:lnTo>
                    <a:pt x="290" y="1869"/>
                  </a:lnTo>
                  <a:lnTo>
                    <a:pt x="0" y="2159"/>
                  </a:lnTo>
                  <a:lnTo>
                    <a:pt x="0" y="0"/>
                  </a:lnTo>
                  <a:lnTo>
                    <a:pt x="2875" y="0"/>
                  </a:lnTo>
                  <a:lnTo>
                    <a:pt x="2875" y="0"/>
                  </a:lnTo>
                  <a:close/>
                </a:path>
              </a:pathLst>
            </a:custGeom>
            <a:solidFill>
              <a:srgbClr val="F2120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 name="Freeform 7"/>
            <p:cNvSpPr>
              <a:spLocks/>
            </p:cNvSpPr>
            <p:nvPr userDrawn="1"/>
          </p:nvSpPr>
          <p:spPr bwMode="auto">
            <a:xfrm>
              <a:off x="5" y="2159"/>
              <a:ext cx="2875" cy="2155"/>
            </a:xfrm>
            <a:custGeom>
              <a:avLst/>
              <a:gdLst>
                <a:gd name="T0" fmla="*/ 2875 w 2875"/>
                <a:gd name="T1" fmla="*/ 0 h 2155"/>
                <a:gd name="T2" fmla="*/ 2875 w 2875"/>
                <a:gd name="T3" fmla="*/ 2155 h 2155"/>
                <a:gd name="T4" fmla="*/ 0 w 2875"/>
                <a:gd name="T5" fmla="*/ 2155 h 2155"/>
                <a:gd name="T6" fmla="*/ 0 w 2875"/>
                <a:gd name="T7" fmla="*/ 0 h 2155"/>
                <a:gd name="T8" fmla="*/ 2875 w 2875"/>
                <a:gd name="T9" fmla="*/ 0 h 2155"/>
                <a:gd name="T10" fmla="*/ 2875 w 2875"/>
                <a:gd name="T11" fmla="*/ 0 h 2155"/>
              </a:gdLst>
              <a:ahLst/>
              <a:cxnLst>
                <a:cxn ang="0">
                  <a:pos x="T0" y="T1"/>
                </a:cxn>
                <a:cxn ang="0">
                  <a:pos x="T2" y="T3"/>
                </a:cxn>
                <a:cxn ang="0">
                  <a:pos x="T4" y="T5"/>
                </a:cxn>
                <a:cxn ang="0">
                  <a:pos x="T6" y="T7"/>
                </a:cxn>
                <a:cxn ang="0">
                  <a:pos x="T8" y="T9"/>
                </a:cxn>
                <a:cxn ang="0">
                  <a:pos x="T10" y="T11"/>
                </a:cxn>
              </a:cxnLst>
              <a:rect l="0" t="0" r="r" b="b"/>
              <a:pathLst>
                <a:path w="2875" h="2155">
                  <a:moveTo>
                    <a:pt x="2875" y="0"/>
                  </a:moveTo>
                  <a:lnTo>
                    <a:pt x="2875" y="2155"/>
                  </a:lnTo>
                  <a:lnTo>
                    <a:pt x="0" y="2155"/>
                  </a:lnTo>
                  <a:lnTo>
                    <a:pt x="0" y="0"/>
                  </a:lnTo>
                  <a:lnTo>
                    <a:pt x="2875" y="0"/>
                  </a:lnTo>
                  <a:lnTo>
                    <a:pt x="2875" y="0"/>
                  </a:lnTo>
                  <a:close/>
                </a:path>
              </a:pathLst>
            </a:custGeom>
            <a:solidFill>
              <a:srgbClr val="8C857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4" name="Freeform 8"/>
            <p:cNvSpPr>
              <a:spLocks/>
            </p:cNvSpPr>
            <p:nvPr userDrawn="1"/>
          </p:nvSpPr>
          <p:spPr bwMode="auto">
            <a:xfrm>
              <a:off x="2880" y="-2"/>
              <a:ext cx="2875" cy="2161"/>
            </a:xfrm>
            <a:custGeom>
              <a:avLst/>
              <a:gdLst>
                <a:gd name="T0" fmla="*/ 2875 w 2875"/>
                <a:gd name="T1" fmla="*/ 0 h 2161"/>
                <a:gd name="T2" fmla="*/ 2875 w 2875"/>
                <a:gd name="T3" fmla="*/ 2161 h 2161"/>
                <a:gd name="T4" fmla="*/ 0 w 2875"/>
                <a:gd name="T5" fmla="*/ 2161 h 2161"/>
                <a:gd name="T6" fmla="*/ 0 w 2875"/>
                <a:gd name="T7" fmla="*/ 290 h 2161"/>
                <a:gd name="T8" fmla="*/ 290 w 2875"/>
                <a:gd name="T9" fmla="*/ 0 h 2161"/>
                <a:gd name="T10" fmla="*/ 2875 w 2875"/>
                <a:gd name="T11" fmla="*/ 0 h 2161"/>
                <a:gd name="T12" fmla="*/ 2875 w 2875"/>
                <a:gd name="T13" fmla="*/ 0 h 2161"/>
              </a:gdLst>
              <a:ahLst/>
              <a:cxnLst>
                <a:cxn ang="0">
                  <a:pos x="T0" y="T1"/>
                </a:cxn>
                <a:cxn ang="0">
                  <a:pos x="T2" y="T3"/>
                </a:cxn>
                <a:cxn ang="0">
                  <a:pos x="T4" y="T5"/>
                </a:cxn>
                <a:cxn ang="0">
                  <a:pos x="T6" y="T7"/>
                </a:cxn>
                <a:cxn ang="0">
                  <a:pos x="T8" y="T9"/>
                </a:cxn>
                <a:cxn ang="0">
                  <a:pos x="T10" y="T11"/>
                </a:cxn>
                <a:cxn ang="0">
                  <a:pos x="T12" y="T13"/>
                </a:cxn>
              </a:cxnLst>
              <a:rect l="0" t="0" r="r" b="b"/>
              <a:pathLst>
                <a:path w="2875" h="2161">
                  <a:moveTo>
                    <a:pt x="2875" y="0"/>
                  </a:moveTo>
                  <a:lnTo>
                    <a:pt x="2875" y="2161"/>
                  </a:lnTo>
                  <a:lnTo>
                    <a:pt x="0" y="2161"/>
                  </a:lnTo>
                  <a:lnTo>
                    <a:pt x="0" y="290"/>
                  </a:lnTo>
                  <a:lnTo>
                    <a:pt x="290" y="0"/>
                  </a:lnTo>
                  <a:lnTo>
                    <a:pt x="2875" y="0"/>
                  </a:lnTo>
                  <a:lnTo>
                    <a:pt x="2875"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5" name="Freeform 9"/>
            <p:cNvSpPr>
              <a:spLocks/>
            </p:cNvSpPr>
            <p:nvPr userDrawn="1"/>
          </p:nvSpPr>
          <p:spPr bwMode="auto">
            <a:xfrm>
              <a:off x="4659" y="234"/>
              <a:ext cx="182" cy="233"/>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6" name="Freeform 10"/>
            <p:cNvSpPr>
              <a:spLocks/>
            </p:cNvSpPr>
            <p:nvPr userDrawn="1"/>
          </p:nvSpPr>
          <p:spPr bwMode="auto">
            <a:xfrm>
              <a:off x="4693" y="262"/>
              <a:ext cx="114" cy="149"/>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7" name="Freeform 11"/>
            <p:cNvSpPr>
              <a:spLocks/>
            </p:cNvSpPr>
            <p:nvPr userDrawn="1"/>
          </p:nvSpPr>
          <p:spPr bwMode="auto">
            <a:xfrm>
              <a:off x="4709" y="294"/>
              <a:ext cx="82" cy="97"/>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8" name="Freeform 12"/>
            <p:cNvSpPr>
              <a:spLocks noEditPoints="1"/>
            </p:cNvSpPr>
            <p:nvPr userDrawn="1"/>
          </p:nvSpPr>
          <p:spPr bwMode="auto">
            <a:xfrm>
              <a:off x="4659" y="503"/>
              <a:ext cx="34" cy="32"/>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9" name="Freeform 13"/>
            <p:cNvSpPr>
              <a:spLocks/>
            </p:cNvSpPr>
            <p:nvPr userDrawn="1"/>
          </p:nvSpPr>
          <p:spPr bwMode="auto">
            <a:xfrm>
              <a:off x="4695" y="503"/>
              <a:ext cx="28" cy="32"/>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0" name="Freeform 14"/>
            <p:cNvSpPr>
              <a:spLocks/>
            </p:cNvSpPr>
            <p:nvPr userDrawn="1"/>
          </p:nvSpPr>
          <p:spPr bwMode="auto">
            <a:xfrm>
              <a:off x="4729" y="501"/>
              <a:ext cx="26" cy="34"/>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1" name="Freeform 15"/>
            <p:cNvSpPr>
              <a:spLocks/>
            </p:cNvSpPr>
            <p:nvPr userDrawn="1"/>
          </p:nvSpPr>
          <p:spPr bwMode="auto">
            <a:xfrm>
              <a:off x="4759" y="503"/>
              <a:ext cx="26" cy="32"/>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2" name="Freeform 16"/>
            <p:cNvSpPr>
              <a:spLocks noEditPoints="1"/>
            </p:cNvSpPr>
            <p:nvPr userDrawn="1"/>
          </p:nvSpPr>
          <p:spPr bwMode="auto">
            <a:xfrm>
              <a:off x="4791" y="503"/>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3" name="Freeform 17"/>
            <p:cNvSpPr>
              <a:spLocks noEditPoints="1"/>
            </p:cNvSpPr>
            <p:nvPr userDrawn="1"/>
          </p:nvSpPr>
          <p:spPr bwMode="auto">
            <a:xfrm>
              <a:off x="4821" y="503"/>
              <a:ext cx="34" cy="32"/>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4" name="Freeform 18"/>
            <p:cNvSpPr>
              <a:spLocks/>
            </p:cNvSpPr>
            <p:nvPr userDrawn="1"/>
          </p:nvSpPr>
          <p:spPr bwMode="auto">
            <a:xfrm>
              <a:off x="4859" y="503"/>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5" name="Freeform 19"/>
            <p:cNvSpPr>
              <a:spLocks/>
            </p:cNvSpPr>
            <p:nvPr userDrawn="1"/>
          </p:nvSpPr>
          <p:spPr bwMode="auto">
            <a:xfrm>
              <a:off x="4887" y="503"/>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6" name="Freeform 20"/>
            <p:cNvSpPr>
              <a:spLocks noEditPoints="1"/>
            </p:cNvSpPr>
            <p:nvPr userDrawn="1"/>
          </p:nvSpPr>
          <p:spPr bwMode="auto">
            <a:xfrm>
              <a:off x="4897" y="503"/>
              <a:ext cx="33" cy="32"/>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7" name="Freeform 21"/>
            <p:cNvSpPr>
              <a:spLocks/>
            </p:cNvSpPr>
            <p:nvPr userDrawn="1"/>
          </p:nvSpPr>
          <p:spPr bwMode="auto">
            <a:xfrm>
              <a:off x="4936" y="503"/>
              <a:ext cx="26" cy="32"/>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8" name="Freeform 22"/>
            <p:cNvSpPr>
              <a:spLocks/>
            </p:cNvSpPr>
            <p:nvPr userDrawn="1"/>
          </p:nvSpPr>
          <p:spPr bwMode="auto">
            <a:xfrm>
              <a:off x="4986" y="501"/>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9" name="Freeform 23"/>
            <p:cNvSpPr>
              <a:spLocks noEditPoints="1"/>
            </p:cNvSpPr>
            <p:nvPr userDrawn="1"/>
          </p:nvSpPr>
          <p:spPr bwMode="auto">
            <a:xfrm>
              <a:off x="5018" y="503"/>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0" name="Freeform 24"/>
            <p:cNvSpPr>
              <a:spLocks/>
            </p:cNvSpPr>
            <p:nvPr userDrawn="1"/>
          </p:nvSpPr>
          <p:spPr bwMode="auto">
            <a:xfrm>
              <a:off x="5050" y="503"/>
              <a:ext cx="28" cy="32"/>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1" name="Freeform 25"/>
            <p:cNvSpPr>
              <a:spLocks/>
            </p:cNvSpPr>
            <p:nvPr userDrawn="1"/>
          </p:nvSpPr>
          <p:spPr bwMode="auto">
            <a:xfrm>
              <a:off x="5082" y="503"/>
              <a:ext cx="28" cy="32"/>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2" name="Freeform 26"/>
            <p:cNvSpPr>
              <a:spLocks noEditPoints="1"/>
            </p:cNvSpPr>
            <p:nvPr userDrawn="1"/>
          </p:nvSpPr>
          <p:spPr bwMode="auto">
            <a:xfrm>
              <a:off x="5116" y="501"/>
              <a:ext cx="32" cy="34"/>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3" name="Freeform 27"/>
            <p:cNvSpPr>
              <a:spLocks/>
            </p:cNvSpPr>
            <p:nvPr userDrawn="1"/>
          </p:nvSpPr>
          <p:spPr bwMode="auto">
            <a:xfrm>
              <a:off x="5154" y="503"/>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4" name="Freeform 28"/>
            <p:cNvSpPr>
              <a:spLocks/>
            </p:cNvSpPr>
            <p:nvPr userDrawn="1"/>
          </p:nvSpPr>
          <p:spPr bwMode="auto">
            <a:xfrm>
              <a:off x="5182" y="503"/>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5" name="Freeform 29"/>
            <p:cNvSpPr>
              <a:spLocks/>
            </p:cNvSpPr>
            <p:nvPr userDrawn="1"/>
          </p:nvSpPr>
          <p:spPr bwMode="auto">
            <a:xfrm>
              <a:off x="5192" y="501"/>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6" name="Freeform 30"/>
            <p:cNvSpPr>
              <a:spLocks/>
            </p:cNvSpPr>
            <p:nvPr userDrawn="1"/>
          </p:nvSpPr>
          <p:spPr bwMode="auto">
            <a:xfrm>
              <a:off x="5244" y="503"/>
              <a:ext cx="26" cy="32"/>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7" name="Freeform 31"/>
            <p:cNvSpPr>
              <a:spLocks/>
            </p:cNvSpPr>
            <p:nvPr userDrawn="1"/>
          </p:nvSpPr>
          <p:spPr bwMode="auto">
            <a:xfrm>
              <a:off x="5280" y="503"/>
              <a:ext cx="26" cy="32"/>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8" name="Freeform 32"/>
            <p:cNvSpPr>
              <a:spLocks/>
            </p:cNvSpPr>
            <p:nvPr userDrawn="1"/>
          </p:nvSpPr>
          <p:spPr bwMode="auto">
            <a:xfrm>
              <a:off x="5314" y="503"/>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9" name="Freeform 33"/>
            <p:cNvSpPr>
              <a:spLocks/>
            </p:cNvSpPr>
            <p:nvPr userDrawn="1"/>
          </p:nvSpPr>
          <p:spPr bwMode="auto">
            <a:xfrm>
              <a:off x="5326" y="503"/>
              <a:ext cx="32" cy="32"/>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0" name="Freeform 34"/>
            <p:cNvSpPr>
              <a:spLocks/>
            </p:cNvSpPr>
            <p:nvPr userDrawn="1"/>
          </p:nvSpPr>
          <p:spPr bwMode="auto">
            <a:xfrm>
              <a:off x="5362" y="503"/>
              <a:ext cx="24" cy="32"/>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1" name="Freeform 35"/>
            <p:cNvSpPr>
              <a:spLocks noEditPoints="1"/>
            </p:cNvSpPr>
            <p:nvPr userDrawn="1"/>
          </p:nvSpPr>
          <p:spPr bwMode="auto">
            <a:xfrm>
              <a:off x="5394" y="503"/>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2" name="Freeform 36"/>
            <p:cNvSpPr>
              <a:spLocks/>
            </p:cNvSpPr>
            <p:nvPr userDrawn="1"/>
          </p:nvSpPr>
          <p:spPr bwMode="auto">
            <a:xfrm>
              <a:off x="5424" y="501"/>
              <a:ext cx="28" cy="34"/>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3" name="Freeform 37"/>
            <p:cNvSpPr>
              <a:spLocks/>
            </p:cNvSpPr>
            <p:nvPr userDrawn="1"/>
          </p:nvSpPr>
          <p:spPr bwMode="auto">
            <a:xfrm>
              <a:off x="5458" y="503"/>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4" name="Freeform 38"/>
            <p:cNvSpPr>
              <a:spLocks/>
            </p:cNvSpPr>
            <p:nvPr userDrawn="1"/>
          </p:nvSpPr>
          <p:spPr bwMode="auto">
            <a:xfrm>
              <a:off x="5470" y="503"/>
              <a:ext cx="53" cy="32"/>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5" name="Freeform 39"/>
            <p:cNvSpPr>
              <a:spLocks/>
            </p:cNvSpPr>
            <p:nvPr userDrawn="1"/>
          </p:nvSpPr>
          <p:spPr bwMode="auto">
            <a:xfrm>
              <a:off x="5340" y="234"/>
              <a:ext cx="183" cy="229"/>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6" name="Freeform 40"/>
            <p:cNvSpPr>
              <a:spLocks/>
            </p:cNvSpPr>
            <p:nvPr userDrawn="1"/>
          </p:nvSpPr>
          <p:spPr bwMode="auto">
            <a:xfrm>
              <a:off x="5096" y="230"/>
              <a:ext cx="212" cy="233"/>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41"/>
            <p:cNvSpPr>
              <a:spLocks noEditPoints="1"/>
            </p:cNvSpPr>
            <p:nvPr userDrawn="1"/>
          </p:nvSpPr>
          <p:spPr bwMode="auto">
            <a:xfrm>
              <a:off x="4885" y="234"/>
              <a:ext cx="207" cy="225"/>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2" name="Title 1"/>
          <p:cNvSpPr>
            <a:spLocks noGrp="1"/>
          </p:cNvSpPr>
          <p:nvPr>
            <p:ph type="ctrTitle" hasCustomPrompt="1"/>
          </p:nvPr>
        </p:nvSpPr>
        <p:spPr>
          <a:xfrm>
            <a:off x="5003513" y="1366463"/>
            <a:ext cx="3770617" cy="1137024"/>
          </a:xfrm>
        </p:spPr>
        <p:txBody>
          <a:bodyPr anchor="b">
            <a:normAutofit/>
          </a:bodyPr>
          <a:lstStyle>
            <a:lvl1pPr algn="l">
              <a:defRPr sz="3860" b="1">
                <a:solidFill>
                  <a:schemeClr val="bg1"/>
                </a:solidFill>
                <a:latin typeface="Arial" panose="020B0604020202020204" pitchFamily="34" charset="0"/>
                <a:cs typeface="Arial" panose="020B0604020202020204" pitchFamily="34" charset="0"/>
              </a:defRPr>
            </a:lvl1pPr>
          </a:lstStyle>
          <a:p>
            <a:r>
              <a:rPr lang="en-US" dirty="0"/>
              <a:t>Heading</a:t>
            </a:r>
          </a:p>
        </p:txBody>
      </p:sp>
      <p:sp>
        <p:nvSpPr>
          <p:cNvPr id="3" name="Subtitle 2"/>
          <p:cNvSpPr>
            <a:spLocks noGrp="1"/>
          </p:cNvSpPr>
          <p:nvPr>
            <p:ph type="subTitle" idx="1" hasCustomPrompt="1"/>
          </p:nvPr>
        </p:nvSpPr>
        <p:spPr>
          <a:xfrm>
            <a:off x="5003513" y="2503487"/>
            <a:ext cx="3770617" cy="599309"/>
          </a:xfrm>
        </p:spPr>
        <p:txBody>
          <a:bodyPr anchor="b">
            <a:noAutofit/>
          </a:bodyPr>
          <a:lstStyle>
            <a:lvl1pPr marL="0" indent="0" algn="l">
              <a:buNone/>
              <a:defRPr sz="1863">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a:t>
            </a:r>
          </a:p>
        </p:txBody>
      </p:sp>
      <p:sp>
        <p:nvSpPr>
          <p:cNvPr id="8" name="Text Placeholder 7"/>
          <p:cNvSpPr>
            <a:spLocks noGrp="1"/>
          </p:cNvSpPr>
          <p:nvPr>
            <p:ph type="body" sz="quarter" idx="10" hasCustomPrompt="1"/>
          </p:nvPr>
        </p:nvSpPr>
        <p:spPr>
          <a:xfrm>
            <a:off x="5003800" y="3944938"/>
            <a:ext cx="3770313" cy="294882"/>
          </a:xfrm>
        </p:spPr>
        <p:txBody>
          <a:bodyPr>
            <a:normAutofit/>
          </a:bodyPr>
          <a:lstStyle>
            <a:lvl1pPr marL="0" indent="0">
              <a:buNone/>
              <a:defRPr sz="1597" b="1" baseline="0">
                <a:solidFill>
                  <a:schemeClr val="bg1"/>
                </a:solidFill>
                <a:latin typeface="Arial" panose="020B0604020202020204" pitchFamily="34" charset="0"/>
                <a:cs typeface="Arial" panose="020B0604020202020204" pitchFamily="34" charset="0"/>
              </a:defRPr>
            </a:lvl1pPr>
          </a:lstStyle>
          <a:p>
            <a:pPr lvl="0"/>
            <a:r>
              <a:rPr lang="en-AU" dirty="0"/>
              <a:t>Presenter Name</a:t>
            </a:r>
          </a:p>
        </p:txBody>
      </p:sp>
      <p:sp>
        <p:nvSpPr>
          <p:cNvPr id="9" name="Text Placeholder 7"/>
          <p:cNvSpPr>
            <a:spLocks noGrp="1"/>
          </p:cNvSpPr>
          <p:nvPr>
            <p:ph type="body" sz="quarter" idx="11" hasCustomPrompt="1"/>
          </p:nvPr>
        </p:nvSpPr>
        <p:spPr>
          <a:xfrm>
            <a:off x="5003800" y="4239820"/>
            <a:ext cx="3770313" cy="328773"/>
          </a:xfrm>
        </p:spPr>
        <p:txBody>
          <a:bodyPr>
            <a:normAutofit/>
          </a:bodyPr>
          <a:lstStyle>
            <a:lvl1pPr marL="0" indent="0">
              <a:buNone/>
              <a:defRPr sz="1597" baseline="0">
                <a:solidFill>
                  <a:schemeClr val="bg1"/>
                </a:solidFill>
                <a:latin typeface="Arial" panose="020B0604020202020204" pitchFamily="34" charset="0"/>
                <a:cs typeface="Arial" panose="020B0604020202020204" pitchFamily="34" charset="0"/>
              </a:defRPr>
            </a:lvl1pPr>
          </a:lstStyle>
          <a:p>
            <a:pPr lvl="0"/>
            <a:r>
              <a:rPr lang="en-AU" dirty="0"/>
              <a:t>Date</a:t>
            </a:r>
          </a:p>
        </p:txBody>
      </p:sp>
      <p:sp>
        <p:nvSpPr>
          <p:cNvPr id="11" name="Picture Placeholder 10"/>
          <p:cNvSpPr>
            <a:spLocks noGrp="1"/>
          </p:cNvSpPr>
          <p:nvPr>
            <p:ph type="pic" sz="quarter" idx="12"/>
          </p:nvPr>
        </p:nvSpPr>
        <p:spPr>
          <a:xfrm>
            <a:off x="0" y="469901"/>
            <a:ext cx="4565649" cy="2952750"/>
          </a:xfrm>
        </p:spPr>
        <p:txBody>
          <a:bodyPr>
            <a:normAutofit/>
          </a:bodyPr>
          <a:lstStyle>
            <a:lvl1pPr marL="0" indent="0">
              <a:buNone/>
              <a:defRPr sz="12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
        <p:nvSpPr>
          <p:cNvPr id="13" name="Picture Placeholder 10"/>
          <p:cNvSpPr>
            <a:spLocks noGrp="1"/>
          </p:cNvSpPr>
          <p:nvPr>
            <p:ph type="pic" sz="quarter" idx="13"/>
          </p:nvPr>
        </p:nvSpPr>
        <p:spPr>
          <a:xfrm>
            <a:off x="0" y="3422650"/>
            <a:ext cx="4565649" cy="3435349"/>
          </a:xfrm>
        </p:spPr>
        <p:txBody>
          <a:bodyPr>
            <a:normAutofit/>
          </a:bodyPr>
          <a:lstStyle>
            <a:lvl1pPr marL="0" indent="0">
              <a:buNone/>
              <a:defRPr sz="12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Tree>
    <p:extLst>
      <p:ext uri="{BB962C8B-B14F-4D97-AF65-F5344CB8AC3E}">
        <p14:creationId xmlns:p14="http://schemas.microsoft.com/office/powerpoint/2010/main" val="3777774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co-branded">
    <p:spTree>
      <p:nvGrpSpPr>
        <p:cNvPr id="1" name=""/>
        <p:cNvGrpSpPr/>
        <p:nvPr/>
      </p:nvGrpSpPr>
      <p:grpSpPr>
        <a:xfrm>
          <a:off x="0" y="0"/>
          <a:ext cx="0" cy="0"/>
          <a:chOff x="0" y="0"/>
          <a:chExt cx="0" cy="0"/>
        </a:xfrm>
      </p:grpSpPr>
      <p:sp>
        <p:nvSpPr>
          <p:cNvPr id="42" name="Rectangle 41"/>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p:cNvSpPr>
          <p:nvPr userDrawn="1">
            <p:ph type="title" hasCustomPrompt="1"/>
          </p:nvPr>
        </p:nvSpPr>
        <p:spPr>
          <a:xfrm>
            <a:off x="873125" y="2658154"/>
            <a:ext cx="3867150" cy="580346"/>
          </a:xfrm>
        </p:spPr>
        <p:txBody>
          <a:bodyPr anchor="b">
            <a:noAutofit/>
          </a:bodyPr>
          <a:lstStyle>
            <a:lvl1pPr>
              <a:defRPr sz="386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7" name="Subtitle 2"/>
          <p:cNvSpPr>
            <a:spLocks noGrp="1"/>
          </p:cNvSpPr>
          <p:nvPr userDrawn="1">
            <p:ph type="subTitle" idx="1" hasCustomPrompt="1"/>
          </p:nvPr>
        </p:nvSpPr>
        <p:spPr>
          <a:xfrm>
            <a:off x="873125" y="3652838"/>
            <a:ext cx="3867150" cy="447675"/>
          </a:xfrm>
        </p:spPr>
        <p:txBody>
          <a:bodyPr anchor="b">
            <a:noAutofit/>
          </a:bodyPr>
          <a:lstStyle>
            <a:lvl1pPr marL="0" indent="0" algn="l">
              <a:buNone/>
              <a:defRPr sz="1863">
                <a:solidFill>
                  <a:srgbClr val="3D3935"/>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a:t>
            </a:r>
          </a:p>
        </p:txBody>
      </p:sp>
      <p:sp>
        <p:nvSpPr>
          <p:cNvPr id="8" name="Text Placeholder 7"/>
          <p:cNvSpPr>
            <a:spLocks noGrp="1"/>
          </p:cNvSpPr>
          <p:nvPr userDrawn="1">
            <p:ph type="body" sz="quarter" idx="10" hasCustomPrompt="1"/>
          </p:nvPr>
        </p:nvSpPr>
        <p:spPr>
          <a:xfrm>
            <a:off x="873125" y="5316538"/>
            <a:ext cx="3770313" cy="294882"/>
          </a:xfrm>
        </p:spPr>
        <p:txBody>
          <a:bodyPr>
            <a:normAutofit/>
          </a:bodyPr>
          <a:lstStyle>
            <a:lvl1pPr marL="0" indent="0">
              <a:buNone/>
              <a:defRPr sz="1597" b="1" baseline="0">
                <a:solidFill>
                  <a:srgbClr val="3D3935"/>
                </a:solidFill>
                <a:latin typeface="Arial" panose="020B0604020202020204" pitchFamily="34" charset="0"/>
                <a:cs typeface="Arial" panose="020B0604020202020204" pitchFamily="34" charset="0"/>
              </a:defRPr>
            </a:lvl1pPr>
          </a:lstStyle>
          <a:p>
            <a:pPr lvl="0"/>
            <a:r>
              <a:rPr lang="en-AU" dirty="0"/>
              <a:t>Presenter Name</a:t>
            </a:r>
          </a:p>
        </p:txBody>
      </p:sp>
      <p:sp>
        <p:nvSpPr>
          <p:cNvPr id="9" name="Text Placeholder 7"/>
          <p:cNvSpPr>
            <a:spLocks noGrp="1"/>
          </p:cNvSpPr>
          <p:nvPr userDrawn="1">
            <p:ph type="body" sz="quarter" idx="11" hasCustomPrompt="1"/>
          </p:nvPr>
        </p:nvSpPr>
        <p:spPr>
          <a:xfrm>
            <a:off x="873125" y="5611420"/>
            <a:ext cx="3770313" cy="328773"/>
          </a:xfrm>
        </p:spPr>
        <p:txBody>
          <a:bodyPr>
            <a:normAutofit/>
          </a:bodyPr>
          <a:lstStyle>
            <a:lvl1pPr marL="0" indent="0">
              <a:buNone/>
              <a:defRPr sz="1597" baseline="0">
                <a:solidFill>
                  <a:srgbClr val="3D3935"/>
                </a:solidFill>
                <a:latin typeface="Arial" panose="020B0604020202020204" pitchFamily="34" charset="0"/>
                <a:cs typeface="Arial" panose="020B0604020202020204" pitchFamily="34" charset="0"/>
              </a:defRPr>
            </a:lvl1pPr>
          </a:lstStyle>
          <a:p>
            <a:pPr lvl="0"/>
            <a:r>
              <a:rPr lang="en-AU" dirty="0"/>
              <a:t>Date</a:t>
            </a:r>
          </a:p>
        </p:txBody>
      </p:sp>
      <p:sp>
        <p:nvSpPr>
          <p:cNvPr id="44" name="Picture Placeholder 85"/>
          <p:cNvSpPr>
            <a:spLocks noGrp="1"/>
          </p:cNvSpPr>
          <p:nvPr userDrawn="1">
            <p:ph type="pic" sz="quarter" idx="13" hasCustomPrompt="1"/>
          </p:nvPr>
        </p:nvSpPr>
        <p:spPr>
          <a:xfrm>
            <a:off x="6639194" y="2653276"/>
            <a:ext cx="1766125" cy="502731"/>
          </a:xfrm>
        </p:spPr>
        <p:txBody>
          <a:bodyPr/>
          <a:lstStyle>
            <a:lvl1pPr marL="0" indent="0">
              <a:buNone/>
              <a:defRPr sz="1200">
                <a:solidFill>
                  <a:srgbClr val="3D3935"/>
                </a:solidFill>
                <a:latin typeface="Arial" panose="020B0604020202020204" pitchFamily="34" charset="0"/>
                <a:cs typeface="Arial" panose="020B0604020202020204" pitchFamily="34" charset="0"/>
              </a:defRPr>
            </a:lvl1pPr>
          </a:lstStyle>
          <a:p>
            <a:r>
              <a:rPr lang="en-US" dirty="0"/>
              <a:t>Drag co-branded logo to placeholder or click icon to add</a:t>
            </a:r>
            <a:endParaRPr lang="en-AU" dirty="0"/>
          </a:p>
        </p:txBody>
      </p:sp>
      <p:grpSp>
        <p:nvGrpSpPr>
          <p:cNvPr id="45" name="Group 44"/>
          <p:cNvGrpSpPr/>
          <p:nvPr userDrawn="1"/>
        </p:nvGrpSpPr>
        <p:grpSpPr>
          <a:xfrm>
            <a:off x="7401258" y="6092825"/>
            <a:ext cx="1374019" cy="484188"/>
            <a:chOff x="7401258" y="365125"/>
            <a:chExt cx="1374019" cy="484188"/>
          </a:xfrm>
        </p:grpSpPr>
        <p:sp>
          <p:nvSpPr>
            <p:cNvPr id="46"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8"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9"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0"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1"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2"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3"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4"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178878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44" name="Rectangle 43"/>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AutoShape 3"/>
          <p:cNvSpPr>
            <a:spLocks noChangeAspect="1" noChangeArrowheads="1" noTextEdit="1"/>
          </p:cNvSpPr>
          <p:nvPr userDrawn="1"/>
        </p:nvSpPr>
        <p:spPr bwMode="auto">
          <a:xfrm>
            <a:off x="0" y="0"/>
            <a:ext cx="9144227"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6" name="Freeform 5"/>
          <p:cNvSpPr>
            <a:spLocks/>
          </p:cNvSpPr>
          <p:nvPr userDrawn="1"/>
        </p:nvSpPr>
        <p:spPr bwMode="auto">
          <a:xfrm>
            <a:off x="0" y="457200"/>
            <a:ext cx="4572114" cy="6388100"/>
          </a:xfrm>
          <a:custGeom>
            <a:avLst/>
            <a:gdLst>
              <a:gd name="T0" fmla="*/ 2875 w 2875"/>
              <a:gd name="T1" fmla="*/ 0 h 4024"/>
              <a:gd name="T2" fmla="*/ 2875 w 2875"/>
              <a:gd name="T3" fmla="*/ 4024 h 4024"/>
              <a:gd name="T4" fmla="*/ 0 w 2875"/>
              <a:gd name="T5" fmla="*/ 4024 h 4024"/>
              <a:gd name="T6" fmla="*/ 0 w 2875"/>
              <a:gd name="T7" fmla="*/ 0 h 4024"/>
              <a:gd name="T8" fmla="*/ 2875 w 2875"/>
              <a:gd name="T9" fmla="*/ 0 h 4024"/>
              <a:gd name="T10" fmla="*/ 2875 w 2875"/>
              <a:gd name="T11" fmla="*/ 0 h 4024"/>
            </a:gdLst>
            <a:ahLst/>
            <a:cxnLst>
              <a:cxn ang="0">
                <a:pos x="T0" y="T1"/>
              </a:cxn>
              <a:cxn ang="0">
                <a:pos x="T2" y="T3"/>
              </a:cxn>
              <a:cxn ang="0">
                <a:pos x="T4" y="T5"/>
              </a:cxn>
              <a:cxn ang="0">
                <a:pos x="T6" y="T7"/>
              </a:cxn>
              <a:cxn ang="0">
                <a:pos x="T8" y="T9"/>
              </a:cxn>
              <a:cxn ang="0">
                <a:pos x="T10" y="T11"/>
              </a:cxn>
            </a:cxnLst>
            <a:rect l="0" t="0" r="r" b="b"/>
            <a:pathLst>
              <a:path w="2875" h="4024">
                <a:moveTo>
                  <a:pt x="2875" y="0"/>
                </a:moveTo>
                <a:lnTo>
                  <a:pt x="2875" y="4024"/>
                </a:lnTo>
                <a:lnTo>
                  <a:pt x="0" y="4024"/>
                </a:lnTo>
                <a:lnTo>
                  <a:pt x="0" y="0"/>
                </a:lnTo>
                <a:lnTo>
                  <a:pt x="2875" y="0"/>
                </a:lnTo>
                <a:lnTo>
                  <a:pt x="2875" y="0"/>
                </a:lnTo>
                <a:close/>
              </a:path>
            </a:pathLst>
          </a:custGeom>
          <a:solidFill>
            <a:srgbClr val="8C857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6"/>
          <p:cNvSpPr>
            <a:spLocks/>
          </p:cNvSpPr>
          <p:nvPr userDrawn="1"/>
        </p:nvSpPr>
        <p:spPr bwMode="auto">
          <a:xfrm>
            <a:off x="4572114" y="-3175"/>
            <a:ext cx="4572114" cy="6858000"/>
          </a:xfrm>
          <a:custGeom>
            <a:avLst/>
            <a:gdLst>
              <a:gd name="T0" fmla="*/ 2875 w 2875"/>
              <a:gd name="T1" fmla="*/ 0 h 4320"/>
              <a:gd name="T2" fmla="*/ 2875 w 2875"/>
              <a:gd name="T3" fmla="*/ 4030 h 4320"/>
              <a:gd name="T4" fmla="*/ 290 w 2875"/>
              <a:gd name="T5" fmla="*/ 4030 h 4320"/>
              <a:gd name="T6" fmla="*/ 0 w 2875"/>
              <a:gd name="T7" fmla="*/ 4320 h 4320"/>
              <a:gd name="T8" fmla="*/ 0 w 2875"/>
              <a:gd name="T9" fmla="*/ 290 h 4320"/>
              <a:gd name="T10" fmla="*/ 290 w 2875"/>
              <a:gd name="T11" fmla="*/ 0 h 4320"/>
              <a:gd name="T12" fmla="*/ 2875 w 2875"/>
              <a:gd name="T13" fmla="*/ 0 h 4320"/>
              <a:gd name="T14" fmla="*/ 2875 w 2875"/>
              <a:gd name="T15" fmla="*/ 0 h 4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75" h="4320">
                <a:moveTo>
                  <a:pt x="2875" y="0"/>
                </a:moveTo>
                <a:lnTo>
                  <a:pt x="2875" y="4030"/>
                </a:lnTo>
                <a:lnTo>
                  <a:pt x="290" y="4030"/>
                </a:lnTo>
                <a:lnTo>
                  <a:pt x="0" y="4320"/>
                </a:lnTo>
                <a:lnTo>
                  <a:pt x="0" y="290"/>
                </a:lnTo>
                <a:lnTo>
                  <a:pt x="290" y="0"/>
                </a:lnTo>
                <a:lnTo>
                  <a:pt x="2875" y="0"/>
                </a:lnTo>
                <a:lnTo>
                  <a:pt x="2875"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nvGrpSpPr>
          <p:cNvPr id="2" name="Group 1"/>
          <p:cNvGrpSpPr/>
          <p:nvPr userDrawn="1"/>
        </p:nvGrpSpPr>
        <p:grpSpPr>
          <a:xfrm>
            <a:off x="7401258" y="365125"/>
            <a:ext cx="1374019" cy="484188"/>
            <a:chOff x="7401258" y="365125"/>
            <a:chExt cx="1374019" cy="484188"/>
          </a:xfrm>
        </p:grpSpPr>
        <p:sp>
          <p:nvSpPr>
            <p:cNvPr id="48"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9"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0"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1"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2"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3"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4"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5"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6"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7"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8"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9"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0"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1"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2"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3"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4"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5"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6"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7"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8"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9"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0"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1"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2"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3"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4"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5"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6"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7"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8"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9"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0"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81" name="Title 1"/>
          <p:cNvSpPr>
            <a:spLocks noGrp="1"/>
          </p:cNvSpPr>
          <p:nvPr userDrawn="1">
            <p:ph type="title" hasCustomPrompt="1"/>
          </p:nvPr>
        </p:nvSpPr>
        <p:spPr>
          <a:xfrm>
            <a:off x="5038725" y="2848654"/>
            <a:ext cx="3867150" cy="580346"/>
          </a:xfrm>
        </p:spPr>
        <p:txBody>
          <a:bodyPr anchor="b">
            <a:noAutofit/>
          </a:bodyPr>
          <a:lstStyle>
            <a:lvl1pPr>
              <a:defRPr sz="3860" b="1">
                <a:solidFill>
                  <a:schemeClr val="bg1"/>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82" name="Subtitle 2"/>
          <p:cNvSpPr>
            <a:spLocks noGrp="1"/>
          </p:cNvSpPr>
          <p:nvPr userDrawn="1">
            <p:ph type="subTitle" idx="1" hasCustomPrompt="1"/>
          </p:nvPr>
        </p:nvSpPr>
        <p:spPr>
          <a:xfrm>
            <a:off x="5038725" y="3652838"/>
            <a:ext cx="3867150" cy="447675"/>
          </a:xfrm>
        </p:spPr>
        <p:txBody>
          <a:bodyPr anchor="b">
            <a:noAutofit/>
          </a:bodyPr>
          <a:lstStyle>
            <a:lvl1pPr marL="0" indent="0" algn="l">
              <a:buNone/>
              <a:defRPr sz="1863">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a:t>
            </a:r>
          </a:p>
        </p:txBody>
      </p:sp>
      <p:sp>
        <p:nvSpPr>
          <p:cNvPr id="83" name="Text Placeholder 7"/>
          <p:cNvSpPr>
            <a:spLocks noGrp="1"/>
          </p:cNvSpPr>
          <p:nvPr userDrawn="1">
            <p:ph type="body" sz="quarter" idx="10" hasCustomPrompt="1"/>
          </p:nvPr>
        </p:nvSpPr>
        <p:spPr>
          <a:xfrm>
            <a:off x="5038725" y="5316538"/>
            <a:ext cx="3770313" cy="294882"/>
          </a:xfrm>
        </p:spPr>
        <p:txBody>
          <a:bodyPr>
            <a:normAutofit/>
          </a:bodyPr>
          <a:lstStyle>
            <a:lvl1pPr marL="0" indent="0">
              <a:buNone/>
              <a:defRPr sz="1597" b="1" baseline="0">
                <a:solidFill>
                  <a:schemeClr val="bg1"/>
                </a:solidFill>
                <a:latin typeface="Arial" panose="020B0604020202020204" pitchFamily="34" charset="0"/>
                <a:cs typeface="Arial" panose="020B0604020202020204" pitchFamily="34" charset="0"/>
              </a:defRPr>
            </a:lvl1pPr>
          </a:lstStyle>
          <a:p>
            <a:pPr lvl="0"/>
            <a:r>
              <a:rPr lang="en-AU" dirty="0"/>
              <a:t>Presenter Name</a:t>
            </a:r>
          </a:p>
        </p:txBody>
      </p:sp>
      <p:sp>
        <p:nvSpPr>
          <p:cNvPr id="84" name="Text Placeholder 7"/>
          <p:cNvSpPr>
            <a:spLocks noGrp="1"/>
          </p:cNvSpPr>
          <p:nvPr userDrawn="1">
            <p:ph type="body" sz="quarter" idx="11" hasCustomPrompt="1"/>
          </p:nvPr>
        </p:nvSpPr>
        <p:spPr>
          <a:xfrm>
            <a:off x="5038725" y="5611420"/>
            <a:ext cx="3770313" cy="328773"/>
          </a:xfrm>
        </p:spPr>
        <p:txBody>
          <a:bodyPr>
            <a:normAutofit/>
          </a:bodyPr>
          <a:lstStyle>
            <a:lvl1pPr marL="0" indent="0">
              <a:buNone/>
              <a:defRPr sz="1597" baseline="0">
                <a:solidFill>
                  <a:schemeClr val="bg1"/>
                </a:solidFill>
                <a:latin typeface="Arial" panose="020B0604020202020204" pitchFamily="34" charset="0"/>
                <a:cs typeface="Arial" panose="020B0604020202020204" pitchFamily="34" charset="0"/>
              </a:defRPr>
            </a:lvl1pPr>
          </a:lstStyle>
          <a:p>
            <a:pPr lvl="0"/>
            <a:r>
              <a:rPr lang="en-AU" dirty="0"/>
              <a:t>Date</a:t>
            </a:r>
          </a:p>
        </p:txBody>
      </p:sp>
      <p:sp>
        <p:nvSpPr>
          <p:cNvPr id="86" name="Picture Placeholder 85"/>
          <p:cNvSpPr>
            <a:spLocks noGrp="1"/>
          </p:cNvSpPr>
          <p:nvPr userDrawn="1">
            <p:ph type="pic" sz="quarter" idx="12"/>
          </p:nvPr>
        </p:nvSpPr>
        <p:spPr>
          <a:xfrm>
            <a:off x="0" y="457200"/>
            <a:ext cx="4572000" cy="6388100"/>
          </a:xfrm>
        </p:spPr>
        <p:txBody>
          <a:bodyPr/>
          <a:lstStyle>
            <a:lvl1pPr marL="0" indent="0">
              <a:buNone/>
              <a:defRPr sz="12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Tree>
    <p:extLst>
      <p:ext uri="{BB962C8B-B14F-4D97-AF65-F5344CB8AC3E}">
        <p14:creationId xmlns:p14="http://schemas.microsoft.com/office/powerpoint/2010/main" val="1577701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2" name="Rectangle 41"/>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607327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16" name="Freeform 5"/>
          <p:cNvSpPr>
            <a:spLocks/>
          </p:cNvSpPr>
          <p:nvPr userDrawn="1"/>
        </p:nvSpPr>
        <p:spPr bwMode="auto">
          <a:xfrm>
            <a:off x="0" y="457201"/>
            <a:ext cx="4572232" cy="6388107"/>
          </a:xfrm>
          <a:custGeom>
            <a:avLst/>
            <a:gdLst>
              <a:gd name="T0" fmla="*/ 2875 w 2875"/>
              <a:gd name="T1" fmla="*/ 0 h 4024"/>
              <a:gd name="T2" fmla="*/ 2875 w 2875"/>
              <a:gd name="T3" fmla="*/ 4024 h 4024"/>
              <a:gd name="T4" fmla="*/ 0 w 2875"/>
              <a:gd name="T5" fmla="*/ 4024 h 4024"/>
              <a:gd name="T6" fmla="*/ 0 w 2875"/>
              <a:gd name="T7" fmla="*/ 0 h 4024"/>
              <a:gd name="T8" fmla="*/ 2875 w 2875"/>
              <a:gd name="T9" fmla="*/ 0 h 4024"/>
              <a:gd name="T10" fmla="*/ 2875 w 2875"/>
              <a:gd name="T11" fmla="*/ 0 h 4024"/>
            </a:gdLst>
            <a:ahLst/>
            <a:cxnLst>
              <a:cxn ang="0">
                <a:pos x="T0" y="T1"/>
              </a:cxn>
              <a:cxn ang="0">
                <a:pos x="T2" y="T3"/>
              </a:cxn>
              <a:cxn ang="0">
                <a:pos x="T4" y="T5"/>
              </a:cxn>
              <a:cxn ang="0">
                <a:pos x="T6" y="T7"/>
              </a:cxn>
              <a:cxn ang="0">
                <a:pos x="T8" y="T9"/>
              </a:cxn>
              <a:cxn ang="0">
                <a:pos x="T10" y="T11"/>
              </a:cxn>
            </a:cxnLst>
            <a:rect l="0" t="0" r="r" b="b"/>
            <a:pathLst>
              <a:path w="2875" h="4024">
                <a:moveTo>
                  <a:pt x="2875" y="0"/>
                </a:moveTo>
                <a:lnTo>
                  <a:pt x="2875" y="4024"/>
                </a:lnTo>
                <a:lnTo>
                  <a:pt x="0" y="4024"/>
                </a:lnTo>
                <a:lnTo>
                  <a:pt x="0" y="0"/>
                </a:lnTo>
                <a:lnTo>
                  <a:pt x="2875" y="0"/>
                </a:lnTo>
                <a:lnTo>
                  <a:pt x="2875" y="0"/>
                </a:lnTo>
                <a:close/>
              </a:path>
            </a:pathLst>
          </a:custGeom>
          <a:solidFill>
            <a:srgbClr val="F2120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7" name="Freeform 6"/>
          <p:cNvSpPr>
            <a:spLocks/>
          </p:cNvSpPr>
          <p:nvPr userDrawn="1"/>
        </p:nvSpPr>
        <p:spPr bwMode="auto">
          <a:xfrm>
            <a:off x="4572232" y="-3174"/>
            <a:ext cx="4572232" cy="6858007"/>
          </a:xfrm>
          <a:custGeom>
            <a:avLst/>
            <a:gdLst>
              <a:gd name="T0" fmla="*/ 2875 w 2875"/>
              <a:gd name="T1" fmla="*/ 0 h 4320"/>
              <a:gd name="T2" fmla="*/ 2875 w 2875"/>
              <a:gd name="T3" fmla="*/ 4030 h 4320"/>
              <a:gd name="T4" fmla="*/ 290 w 2875"/>
              <a:gd name="T5" fmla="*/ 4030 h 4320"/>
              <a:gd name="T6" fmla="*/ 0 w 2875"/>
              <a:gd name="T7" fmla="*/ 4320 h 4320"/>
              <a:gd name="T8" fmla="*/ 0 w 2875"/>
              <a:gd name="T9" fmla="*/ 290 h 4320"/>
              <a:gd name="T10" fmla="*/ 290 w 2875"/>
              <a:gd name="T11" fmla="*/ 0 h 4320"/>
              <a:gd name="T12" fmla="*/ 2875 w 2875"/>
              <a:gd name="T13" fmla="*/ 0 h 4320"/>
              <a:gd name="T14" fmla="*/ 2875 w 2875"/>
              <a:gd name="T15" fmla="*/ 0 h 4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75" h="4320">
                <a:moveTo>
                  <a:pt x="2875" y="0"/>
                </a:moveTo>
                <a:lnTo>
                  <a:pt x="2875" y="4030"/>
                </a:lnTo>
                <a:lnTo>
                  <a:pt x="290" y="4030"/>
                </a:lnTo>
                <a:lnTo>
                  <a:pt x="0" y="4320"/>
                </a:lnTo>
                <a:lnTo>
                  <a:pt x="0" y="290"/>
                </a:lnTo>
                <a:lnTo>
                  <a:pt x="290" y="0"/>
                </a:lnTo>
                <a:lnTo>
                  <a:pt x="2875" y="0"/>
                </a:lnTo>
                <a:lnTo>
                  <a:pt x="2875"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5" name="AutoShape 3"/>
          <p:cNvSpPr>
            <a:spLocks noChangeAspect="1" noChangeArrowheads="1" noTextEdit="1"/>
          </p:cNvSpPr>
          <p:nvPr userDrawn="1"/>
        </p:nvSpPr>
        <p:spPr bwMode="auto">
          <a:xfrm>
            <a:off x="0" y="1"/>
            <a:ext cx="9144464" cy="68580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 name="Title 1"/>
          <p:cNvSpPr>
            <a:spLocks noGrp="1"/>
          </p:cNvSpPr>
          <p:nvPr userDrawn="1">
            <p:ph type="title" hasCustomPrompt="1"/>
          </p:nvPr>
        </p:nvSpPr>
        <p:spPr>
          <a:xfrm>
            <a:off x="4804755" y="1054317"/>
            <a:ext cx="4247805" cy="4749367"/>
          </a:xfrm>
        </p:spPr>
        <p:txBody>
          <a:bodyPr lIns="0" tIns="0" rIns="0" bIns="0" anchor="ctr" anchorCtr="0">
            <a:noAutofit/>
          </a:bodyPr>
          <a:lstStyle>
            <a:lvl1pPr>
              <a:defRPr sz="37857" spc="-150">
                <a:solidFill>
                  <a:schemeClr val="bg1"/>
                </a:solidFill>
                <a:latin typeface="Arial" panose="020B0604020202020204" pitchFamily="34" charset="0"/>
                <a:cs typeface="Arial" panose="020B0604020202020204" pitchFamily="34" charset="0"/>
              </a:defRPr>
            </a:lvl1pPr>
          </a:lstStyle>
          <a:p>
            <a:r>
              <a:rPr lang="en-US" dirty="0"/>
              <a:t>1</a:t>
            </a:r>
            <a:endParaRPr lang="en-AU" dirty="0"/>
          </a:p>
        </p:txBody>
      </p:sp>
      <p:sp>
        <p:nvSpPr>
          <p:cNvPr id="47" name="Text Placeholder 46"/>
          <p:cNvSpPr>
            <a:spLocks noGrp="1"/>
          </p:cNvSpPr>
          <p:nvPr userDrawn="1">
            <p:ph type="body" sz="quarter" idx="10" hasCustomPrompt="1"/>
          </p:nvPr>
        </p:nvSpPr>
        <p:spPr>
          <a:xfrm>
            <a:off x="374420" y="3246827"/>
            <a:ext cx="3092450" cy="357995"/>
          </a:xfrm>
        </p:spPr>
        <p:txBody>
          <a:bodyPr>
            <a:normAutofit/>
          </a:bodyPr>
          <a:lstStyle>
            <a:lvl1pPr marL="0" indent="0">
              <a:buNone/>
              <a:defRPr sz="1997">
                <a:solidFill>
                  <a:schemeClr val="bg1"/>
                </a:solidFill>
                <a:latin typeface="Arial" panose="020B0604020202020204" pitchFamily="34" charset="0"/>
                <a:cs typeface="Arial" panose="020B0604020202020204" pitchFamily="34" charset="0"/>
              </a:defRPr>
            </a:lvl1pPr>
          </a:lstStyle>
          <a:p>
            <a:pPr lvl="0"/>
            <a:r>
              <a:rPr lang="en-AU" dirty="0"/>
              <a:t>Section title</a:t>
            </a:r>
          </a:p>
        </p:txBody>
      </p:sp>
      <p:grpSp>
        <p:nvGrpSpPr>
          <p:cNvPr id="82" name="Group 81"/>
          <p:cNvGrpSpPr/>
          <p:nvPr userDrawn="1"/>
        </p:nvGrpSpPr>
        <p:grpSpPr>
          <a:xfrm>
            <a:off x="7401258" y="365125"/>
            <a:ext cx="1374019" cy="484188"/>
            <a:chOff x="7401258" y="365125"/>
            <a:chExt cx="1374019" cy="484188"/>
          </a:xfrm>
        </p:grpSpPr>
        <p:sp>
          <p:nvSpPr>
            <p:cNvPr id="83"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4"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5"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6"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7"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8"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9"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0"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1"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263114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7" name="Object 46" hidden="1"/>
          <p:cNvGraphicFramePr>
            <a:graphicFrameLocks noChangeAspect="1"/>
          </p:cNvGraphicFramePr>
          <p:nvPr userDrawn="1">
            <p:custDataLst>
              <p:tags r:id="rId1"/>
            </p:custDataLst>
            <p:extLst>
              <p:ext uri="{D42A27DB-BD31-4B8C-83A1-F6EECF244321}">
                <p14:modId xmlns:p14="http://schemas.microsoft.com/office/powerpoint/2010/main" val="29171533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7" name="Object 46"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userDrawn="1">
            <p:ph type="title" hasCustomPrompt="1"/>
          </p:nvPr>
        </p:nvSpPr>
        <p:spPr>
          <a:xfrm>
            <a:off x="440871" y="689568"/>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50" name="Text Placeholder 49"/>
          <p:cNvSpPr>
            <a:spLocks noGrp="1"/>
          </p:cNvSpPr>
          <p:nvPr userDrawn="1">
            <p:ph type="body" sz="quarter" idx="15" hasCustomPrompt="1"/>
          </p:nvPr>
        </p:nvSpPr>
        <p:spPr>
          <a:xfrm>
            <a:off x="440871" y="1463720"/>
            <a:ext cx="8284029" cy="4272599"/>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52" name="Text Placeholder 51"/>
          <p:cNvSpPr>
            <a:spLocks noGrp="1"/>
          </p:cNvSpPr>
          <p:nvPr userDrawn="1">
            <p:ph type="body" sz="quarter" idx="16" hasCustomPrompt="1"/>
          </p:nvPr>
        </p:nvSpPr>
        <p:spPr>
          <a:xfrm>
            <a:off x="440871" y="-8733"/>
            <a:ext cx="4343399" cy="462758"/>
          </a:xfrm>
        </p:spPr>
        <p:txBody>
          <a:bodyPr anchor="ctr">
            <a:normAutofit/>
          </a:bodyPr>
          <a:lstStyle>
            <a:lvl1pPr marL="0" indent="0">
              <a:buNone/>
              <a:defRPr sz="1500" b="1">
                <a:solidFill>
                  <a:srgbClr val="3D3935"/>
                </a:solidFill>
                <a:latin typeface="Arial" panose="020B0604020202020204" pitchFamily="34" charset="0"/>
                <a:cs typeface="Arial" panose="020B0604020202020204" pitchFamily="34" charset="0"/>
              </a:defRPr>
            </a:lvl1pPr>
          </a:lstStyle>
          <a:p>
            <a:pPr lvl="0"/>
            <a:r>
              <a:rPr lang="en-AU" dirty="0"/>
              <a:t>Section heading</a:t>
            </a:r>
          </a:p>
        </p:txBody>
      </p:sp>
      <p:sp>
        <p:nvSpPr>
          <p:cNvPr id="8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
        <p:nvSpPr>
          <p:cNvPr id="85" name="Footer Placeholder 4"/>
          <p:cNvSpPr>
            <a:spLocks noGrp="1"/>
          </p:cNvSpPr>
          <p:nvPr>
            <p:ph type="ftr" sz="quarter" idx="3"/>
          </p:nvPr>
        </p:nvSpPr>
        <p:spPr>
          <a:xfrm>
            <a:off x="832757" y="6510471"/>
            <a:ext cx="4188129"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dirty="0"/>
              <a:t>Faculty of Business and Law | Peter Faber Business School</a:t>
            </a:r>
          </a:p>
        </p:txBody>
      </p:sp>
    </p:spTree>
    <p:extLst>
      <p:ext uri="{BB962C8B-B14F-4D97-AF65-F5344CB8AC3E}">
        <p14:creationId xmlns:p14="http://schemas.microsoft.com/office/powerpoint/2010/main" val="2718792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itles and Content">
    <p:spTree>
      <p:nvGrpSpPr>
        <p:cNvPr id="1" name=""/>
        <p:cNvGrpSpPr/>
        <p:nvPr/>
      </p:nvGrpSpPr>
      <p:grpSpPr>
        <a:xfrm>
          <a:off x="0" y="0"/>
          <a:ext cx="0" cy="0"/>
          <a:chOff x="0" y="0"/>
          <a:chExt cx="0" cy="0"/>
        </a:xfrm>
      </p:grpSpPr>
      <p:sp>
        <p:nvSpPr>
          <p:cNvPr id="41" name="Title 1"/>
          <p:cNvSpPr>
            <a:spLocks noGrp="1"/>
          </p:cNvSpPr>
          <p:nvPr>
            <p:ph type="title" hasCustomPrompt="1"/>
          </p:nvPr>
        </p:nvSpPr>
        <p:spPr>
          <a:xfrm>
            <a:off x="440871" y="770735"/>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2" name="Text Placeholder 45"/>
          <p:cNvSpPr>
            <a:spLocks noGrp="1"/>
          </p:cNvSpPr>
          <p:nvPr>
            <p:ph type="body" sz="quarter" idx="13" hasCustomPrompt="1"/>
          </p:nvPr>
        </p:nvSpPr>
        <p:spPr>
          <a:xfrm>
            <a:off x="440871" y="1339935"/>
            <a:ext cx="6734398" cy="507831"/>
          </a:xfrm>
        </p:spPr>
        <p:txBody>
          <a:bodyPr anchor="ctr">
            <a:spAutoFit/>
          </a:bodyPr>
          <a:lstStyle>
            <a:lvl1pPr marL="0" indent="0">
              <a:lnSpc>
                <a:spcPct val="100000"/>
              </a:lnSpc>
              <a:buNone/>
              <a:defRPr sz="2700">
                <a:solidFill>
                  <a:srgbClr val="3D3935"/>
                </a:solidFill>
                <a:latin typeface="Arial" panose="020B0604020202020204" pitchFamily="34" charset="0"/>
                <a:cs typeface="Arial" panose="020B0604020202020204" pitchFamily="34" charset="0"/>
              </a:defRPr>
            </a:lvl1pPr>
          </a:lstStyle>
          <a:p>
            <a:pPr lvl="0"/>
            <a:r>
              <a:rPr lang="en-AU" dirty="0"/>
              <a:t>Sub Title</a:t>
            </a:r>
          </a:p>
        </p:txBody>
      </p:sp>
      <p:sp>
        <p:nvSpPr>
          <p:cNvPr id="43" name="Text Placeholder 47"/>
          <p:cNvSpPr>
            <a:spLocks noGrp="1"/>
          </p:cNvSpPr>
          <p:nvPr>
            <p:ph type="body" sz="quarter" idx="14" hasCustomPrompt="1"/>
          </p:nvPr>
        </p:nvSpPr>
        <p:spPr>
          <a:xfrm>
            <a:off x="440872" y="2275570"/>
            <a:ext cx="8284028" cy="359681"/>
          </a:xfrm>
        </p:spPr>
        <p:txBody>
          <a:bodyPr anchor="ctr">
            <a:noAutofit/>
          </a:bodyPr>
          <a:lstStyle>
            <a:lvl1pPr marL="0" indent="0">
              <a:lnSpc>
                <a:spcPct val="100000"/>
              </a:lnSpc>
              <a:buNone/>
              <a:defRPr sz="2000" b="1" baseline="0">
                <a:solidFill>
                  <a:srgbClr val="3D3935"/>
                </a:solidFill>
                <a:latin typeface="Arial" panose="020B0604020202020204" pitchFamily="34" charset="0"/>
                <a:cs typeface="Arial" panose="020B0604020202020204" pitchFamily="34" charset="0"/>
              </a:defRPr>
            </a:lvl1pPr>
          </a:lstStyle>
          <a:p>
            <a:pPr lvl="0"/>
            <a:r>
              <a:rPr lang="en-AU" dirty="0"/>
              <a:t>Sub heading</a:t>
            </a:r>
          </a:p>
        </p:txBody>
      </p:sp>
      <p:sp>
        <p:nvSpPr>
          <p:cNvPr id="83" name="Text Placeholder 49"/>
          <p:cNvSpPr>
            <a:spLocks noGrp="1"/>
          </p:cNvSpPr>
          <p:nvPr>
            <p:ph type="body" sz="quarter" idx="15" hasCustomPrompt="1"/>
          </p:nvPr>
        </p:nvSpPr>
        <p:spPr>
          <a:xfrm>
            <a:off x="440871" y="2640809"/>
            <a:ext cx="8284029" cy="3095510"/>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84" name="Footer Placeholder 4"/>
          <p:cNvSpPr>
            <a:spLocks noGrp="1"/>
          </p:cNvSpPr>
          <p:nvPr>
            <p:ph type="ftr" sz="quarter" idx="3"/>
          </p:nvPr>
        </p:nvSpPr>
        <p:spPr>
          <a:xfrm>
            <a:off x="832758" y="6510471"/>
            <a:ext cx="3872246"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85"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3208934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47701" y="1626054"/>
            <a:ext cx="3867150" cy="4271941"/>
          </a:xfrm>
        </p:spPr>
        <p:txBody>
          <a:bodyPr/>
          <a:lstStyle>
            <a:lvl1pPr>
              <a:lnSpc>
                <a:spcPct val="100000"/>
              </a:lnSpc>
              <a:defRPr>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p:cNvSpPr>
            <a:spLocks noGrp="1"/>
          </p:cNvSpPr>
          <p:nvPr>
            <p:ph sz="half" idx="2"/>
          </p:nvPr>
        </p:nvSpPr>
        <p:spPr>
          <a:xfrm>
            <a:off x="4646613" y="1651000"/>
            <a:ext cx="3887788" cy="4246995"/>
          </a:xfrm>
        </p:spPr>
        <p:txBody>
          <a:bodyPr/>
          <a:lstStyle>
            <a:lvl1pPr>
              <a:lnSpc>
                <a:spcPct val="100000"/>
              </a:lnSpc>
              <a:defRPr>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7" name="Title 1"/>
          <p:cNvSpPr>
            <a:spLocks noGrp="1"/>
          </p:cNvSpPr>
          <p:nvPr>
            <p:ph type="title" hasCustomPrompt="1"/>
          </p:nvPr>
        </p:nvSpPr>
        <p:spPr>
          <a:xfrm>
            <a:off x="440871" y="793049"/>
            <a:ext cx="6734398" cy="493981"/>
          </a:xfrm>
        </p:spPr>
        <p:txBody>
          <a:bodyPr>
            <a:spAutoFit/>
          </a:bodyPr>
          <a:lstStyle>
            <a:lvl1pPr>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88" name="Footer Placeholder 4"/>
          <p:cNvSpPr>
            <a:spLocks noGrp="1"/>
          </p:cNvSpPr>
          <p:nvPr>
            <p:ph type="ftr" sz="quarter" idx="3"/>
          </p:nvPr>
        </p:nvSpPr>
        <p:spPr>
          <a:xfrm>
            <a:off x="832757" y="6510471"/>
            <a:ext cx="3887787"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89"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1289585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3888" y="1864188"/>
            <a:ext cx="7886700" cy="4070577"/>
          </a:xfrm>
        </p:spPr>
        <p:txBody>
          <a:bodyPr vert="eaVe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Title 1"/>
          <p:cNvSpPr>
            <a:spLocks noGrp="1"/>
          </p:cNvSpPr>
          <p:nvPr>
            <p:ph type="title" hasCustomPrompt="1"/>
          </p:nvPr>
        </p:nvSpPr>
        <p:spPr>
          <a:xfrm>
            <a:off x="498929" y="1056579"/>
            <a:ext cx="6734398" cy="493981"/>
          </a:xfrm>
        </p:spPr>
        <p:txBody>
          <a:bodyPr>
            <a:normAutofit/>
          </a:bodyPr>
          <a:lstStyle>
            <a:lvl1pPr>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3406363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in White with Logo">
    <p:spTree>
      <p:nvGrpSpPr>
        <p:cNvPr id="1" name=""/>
        <p:cNvGrpSpPr/>
        <p:nvPr/>
      </p:nvGrpSpPr>
      <p:grpSpPr>
        <a:xfrm>
          <a:off x="0" y="0"/>
          <a:ext cx="0" cy="0"/>
          <a:chOff x="0" y="0"/>
          <a:chExt cx="0" cy="0"/>
        </a:xfrm>
      </p:grpSpPr>
      <p:sp>
        <p:nvSpPr>
          <p:cNvPr id="4" name="Rectangle 3"/>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AutoShape 3"/>
          <p:cNvSpPr>
            <a:spLocks noChangeAspect="1" noChangeArrowheads="1" noTextEdit="1"/>
          </p:cNvSpPr>
          <p:nvPr userDrawn="1"/>
        </p:nvSpPr>
        <p:spPr bwMode="auto">
          <a:xfrm>
            <a:off x="1588" y="0"/>
            <a:ext cx="9140825"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 name="Freeform 6"/>
          <p:cNvSpPr>
            <a:spLocks/>
          </p:cNvSpPr>
          <p:nvPr userDrawn="1"/>
        </p:nvSpPr>
        <p:spPr bwMode="auto">
          <a:xfrm>
            <a:off x="1588" y="-3175"/>
            <a:ext cx="5030788" cy="457200"/>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8"/>
          <p:cNvSpPr>
            <a:spLocks/>
          </p:cNvSpPr>
          <p:nvPr userDrawn="1"/>
        </p:nvSpPr>
        <p:spPr bwMode="auto">
          <a:xfrm>
            <a:off x="4572001" y="6397625"/>
            <a:ext cx="4570413" cy="457200"/>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 name="Freeform 9"/>
          <p:cNvSpPr>
            <a:spLocks/>
          </p:cNvSpPr>
          <p:nvPr userDrawn="1"/>
        </p:nvSpPr>
        <p:spPr bwMode="auto">
          <a:xfrm>
            <a:off x="7399338" y="371475"/>
            <a:ext cx="288925" cy="371475"/>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 name="Freeform 10"/>
          <p:cNvSpPr>
            <a:spLocks/>
          </p:cNvSpPr>
          <p:nvPr userDrawn="1"/>
        </p:nvSpPr>
        <p:spPr bwMode="auto">
          <a:xfrm>
            <a:off x="7453313" y="415925"/>
            <a:ext cx="180975" cy="238125"/>
          </a:xfrm>
          <a:custGeom>
            <a:avLst/>
            <a:gdLst>
              <a:gd name="T0" fmla="*/ 0 w 114"/>
              <a:gd name="T1" fmla="*/ 74 h 150"/>
              <a:gd name="T2" fmla="*/ 58 w 114"/>
              <a:gd name="T3" fmla="*/ 0 h 150"/>
              <a:gd name="T4" fmla="*/ 114 w 114"/>
              <a:gd name="T5" fmla="*/ 74 h 150"/>
              <a:gd name="T6" fmla="*/ 58 w 114"/>
              <a:gd name="T7" fmla="*/ 150 h 150"/>
              <a:gd name="T8" fmla="*/ 0 w 114"/>
              <a:gd name="T9" fmla="*/ 74 h 150"/>
              <a:gd name="T10" fmla="*/ 0 w 114"/>
              <a:gd name="T11" fmla="*/ 74 h 150"/>
            </a:gdLst>
            <a:ahLst/>
            <a:cxnLst>
              <a:cxn ang="0">
                <a:pos x="T0" y="T1"/>
              </a:cxn>
              <a:cxn ang="0">
                <a:pos x="T2" y="T3"/>
              </a:cxn>
              <a:cxn ang="0">
                <a:pos x="T4" y="T5"/>
              </a:cxn>
              <a:cxn ang="0">
                <a:pos x="T6" y="T7"/>
              </a:cxn>
              <a:cxn ang="0">
                <a:pos x="T8" y="T9"/>
              </a:cxn>
              <a:cxn ang="0">
                <a:pos x="T10" y="T11"/>
              </a:cxn>
            </a:cxnLst>
            <a:rect l="0" t="0" r="r" b="b"/>
            <a:pathLst>
              <a:path w="114" h="150">
                <a:moveTo>
                  <a:pt x="0" y="74"/>
                </a:moveTo>
                <a:lnTo>
                  <a:pt x="58" y="0"/>
                </a:lnTo>
                <a:lnTo>
                  <a:pt x="114" y="74"/>
                </a:lnTo>
                <a:lnTo>
                  <a:pt x="58" y="150"/>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3" name="Freeform 11"/>
          <p:cNvSpPr>
            <a:spLocks/>
          </p:cNvSpPr>
          <p:nvPr userDrawn="1"/>
        </p:nvSpPr>
        <p:spPr bwMode="auto">
          <a:xfrm>
            <a:off x="7478713" y="466725"/>
            <a:ext cx="130175" cy="155575"/>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4" name="Freeform 12"/>
          <p:cNvSpPr>
            <a:spLocks noEditPoints="1"/>
          </p:cNvSpPr>
          <p:nvPr userDrawn="1"/>
        </p:nvSpPr>
        <p:spPr bwMode="auto">
          <a:xfrm>
            <a:off x="7399338" y="800100"/>
            <a:ext cx="53975"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5" name="Freeform 13"/>
          <p:cNvSpPr>
            <a:spLocks/>
          </p:cNvSpPr>
          <p:nvPr userDrawn="1"/>
        </p:nvSpPr>
        <p:spPr bwMode="auto">
          <a:xfrm>
            <a:off x="7456488" y="800100"/>
            <a:ext cx="44450"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6" name="Freeform 14"/>
          <p:cNvSpPr>
            <a:spLocks/>
          </p:cNvSpPr>
          <p:nvPr userDrawn="1"/>
        </p:nvSpPr>
        <p:spPr bwMode="auto">
          <a:xfrm>
            <a:off x="7510463" y="796925"/>
            <a:ext cx="41275"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7" name="Freeform 15"/>
          <p:cNvSpPr>
            <a:spLocks/>
          </p:cNvSpPr>
          <p:nvPr userDrawn="1"/>
        </p:nvSpPr>
        <p:spPr bwMode="auto">
          <a:xfrm>
            <a:off x="7558088" y="800100"/>
            <a:ext cx="41275"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8" name="Freeform 16"/>
          <p:cNvSpPr>
            <a:spLocks noEditPoints="1"/>
          </p:cNvSpPr>
          <p:nvPr userDrawn="1"/>
        </p:nvSpPr>
        <p:spPr bwMode="auto">
          <a:xfrm>
            <a:off x="7608888" y="800100"/>
            <a:ext cx="44450"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9" name="Freeform 17"/>
          <p:cNvSpPr>
            <a:spLocks noEditPoints="1"/>
          </p:cNvSpPr>
          <p:nvPr userDrawn="1"/>
        </p:nvSpPr>
        <p:spPr bwMode="auto">
          <a:xfrm>
            <a:off x="7656513" y="800100"/>
            <a:ext cx="53975"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0" name="Freeform 18"/>
          <p:cNvSpPr>
            <a:spLocks/>
          </p:cNvSpPr>
          <p:nvPr userDrawn="1"/>
        </p:nvSpPr>
        <p:spPr bwMode="auto">
          <a:xfrm>
            <a:off x="7716838" y="800100"/>
            <a:ext cx="34925"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1" name="Freeform 19"/>
          <p:cNvSpPr>
            <a:spLocks/>
          </p:cNvSpPr>
          <p:nvPr userDrawn="1"/>
        </p:nvSpPr>
        <p:spPr bwMode="auto">
          <a:xfrm>
            <a:off x="7761288" y="800100"/>
            <a:ext cx="6350"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2" name="Freeform 20"/>
          <p:cNvSpPr>
            <a:spLocks noEditPoints="1"/>
          </p:cNvSpPr>
          <p:nvPr userDrawn="1"/>
        </p:nvSpPr>
        <p:spPr bwMode="auto">
          <a:xfrm>
            <a:off x="7777163" y="800100"/>
            <a:ext cx="53975"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8"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3" name="Freeform 21"/>
          <p:cNvSpPr>
            <a:spLocks/>
          </p:cNvSpPr>
          <p:nvPr userDrawn="1"/>
        </p:nvSpPr>
        <p:spPr bwMode="auto">
          <a:xfrm>
            <a:off x="7840663" y="800100"/>
            <a:ext cx="41275"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4" name="Freeform 22"/>
          <p:cNvSpPr>
            <a:spLocks/>
          </p:cNvSpPr>
          <p:nvPr userDrawn="1"/>
        </p:nvSpPr>
        <p:spPr bwMode="auto">
          <a:xfrm>
            <a:off x="7920038" y="796925"/>
            <a:ext cx="47625"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5" name="Freeform 23"/>
          <p:cNvSpPr>
            <a:spLocks noEditPoints="1"/>
          </p:cNvSpPr>
          <p:nvPr userDrawn="1"/>
        </p:nvSpPr>
        <p:spPr bwMode="auto">
          <a:xfrm>
            <a:off x="7970838" y="800100"/>
            <a:ext cx="53975"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6" name="Freeform 24"/>
          <p:cNvSpPr>
            <a:spLocks/>
          </p:cNvSpPr>
          <p:nvPr userDrawn="1"/>
        </p:nvSpPr>
        <p:spPr bwMode="auto">
          <a:xfrm>
            <a:off x="8021638" y="800100"/>
            <a:ext cx="44450"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7" name="Freeform 25"/>
          <p:cNvSpPr>
            <a:spLocks/>
          </p:cNvSpPr>
          <p:nvPr userDrawn="1"/>
        </p:nvSpPr>
        <p:spPr bwMode="auto">
          <a:xfrm>
            <a:off x="8072438" y="800100"/>
            <a:ext cx="44450"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8" name="Freeform 26"/>
          <p:cNvSpPr>
            <a:spLocks noEditPoints="1"/>
          </p:cNvSpPr>
          <p:nvPr userDrawn="1"/>
        </p:nvSpPr>
        <p:spPr bwMode="auto">
          <a:xfrm>
            <a:off x="8126413" y="796925"/>
            <a:ext cx="5080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9" name="Freeform 27"/>
          <p:cNvSpPr>
            <a:spLocks/>
          </p:cNvSpPr>
          <p:nvPr userDrawn="1"/>
        </p:nvSpPr>
        <p:spPr bwMode="auto">
          <a:xfrm>
            <a:off x="8186738" y="800100"/>
            <a:ext cx="34925"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0" name="Freeform 28"/>
          <p:cNvSpPr>
            <a:spLocks/>
          </p:cNvSpPr>
          <p:nvPr userDrawn="1"/>
        </p:nvSpPr>
        <p:spPr bwMode="auto">
          <a:xfrm>
            <a:off x="8231188" y="800100"/>
            <a:ext cx="6350"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1" name="Freeform 29"/>
          <p:cNvSpPr>
            <a:spLocks/>
          </p:cNvSpPr>
          <p:nvPr userDrawn="1"/>
        </p:nvSpPr>
        <p:spPr bwMode="auto">
          <a:xfrm>
            <a:off x="8247063" y="796925"/>
            <a:ext cx="47625"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2" name="Freeform 30"/>
          <p:cNvSpPr>
            <a:spLocks/>
          </p:cNvSpPr>
          <p:nvPr userDrawn="1"/>
        </p:nvSpPr>
        <p:spPr bwMode="auto">
          <a:xfrm>
            <a:off x="8329613" y="800100"/>
            <a:ext cx="41275"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3" name="Freeform 31"/>
          <p:cNvSpPr>
            <a:spLocks/>
          </p:cNvSpPr>
          <p:nvPr userDrawn="1"/>
        </p:nvSpPr>
        <p:spPr bwMode="auto">
          <a:xfrm>
            <a:off x="8386763" y="800100"/>
            <a:ext cx="41275"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4" name="Freeform 32"/>
          <p:cNvSpPr>
            <a:spLocks/>
          </p:cNvSpPr>
          <p:nvPr userDrawn="1"/>
        </p:nvSpPr>
        <p:spPr bwMode="auto">
          <a:xfrm>
            <a:off x="8440738" y="800100"/>
            <a:ext cx="9525"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5" name="Freeform 33"/>
          <p:cNvSpPr>
            <a:spLocks/>
          </p:cNvSpPr>
          <p:nvPr userDrawn="1"/>
        </p:nvSpPr>
        <p:spPr bwMode="auto">
          <a:xfrm>
            <a:off x="8459788" y="800100"/>
            <a:ext cx="5080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6" name="Freeform 34"/>
          <p:cNvSpPr>
            <a:spLocks/>
          </p:cNvSpPr>
          <p:nvPr userDrawn="1"/>
        </p:nvSpPr>
        <p:spPr bwMode="auto">
          <a:xfrm>
            <a:off x="8516938" y="800100"/>
            <a:ext cx="38100"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7" name="Freeform 35"/>
          <p:cNvSpPr>
            <a:spLocks noEditPoints="1"/>
          </p:cNvSpPr>
          <p:nvPr userDrawn="1"/>
        </p:nvSpPr>
        <p:spPr bwMode="auto">
          <a:xfrm>
            <a:off x="8567738" y="800100"/>
            <a:ext cx="44450"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8" name="Freeform 36"/>
          <p:cNvSpPr>
            <a:spLocks/>
          </p:cNvSpPr>
          <p:nvPr userDrawn="1"/>
        </p:nvSpPr>
        <p:spPr bwMode="auto">
          <a:xfrm>
            <a:off x="8615363" y="796925"/>
            <a:ext cx="44450"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9" name="Freeform 37"/>
          <p:cNvSpPr>
            <a:spLocks/>
          </p:cNvSpPr>
          <p:nvPr userDrawn="1"/>
        </p:nvSpPr>
        <p:spPr bwMode="auto">
          <a:xfrm>
            <a:off x="8669338" y="800100"/>
            <a:ext cx="9525"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0" name="Freeform 38"/>
          <p:cNvSpPr>
            <a:spLocks/>
          </p:cNvSpPr>
          <p:nvPr userDrawn="1"/>
        </p:nvSpPr>
        <p:spPr bwMode="auto">
          <a:xfrm>
            <a:off x="8688388" y="800100"/>
            <a:ext cx="85725" cy="50800"/>
          </a:xfrm>
          <a:custGeom>
            <a:avLst/>
            <a:gdLst>
              <a:gd name="T0" fmla="*/ 30 w 54"/>
              <a:gd name="T1" fmla="*/ 0 h 32"/>
              <a:gd name="T2" fmla="*/ 0 w 54"/>
              <a:gd name="T3" fmla="*/ 0 h 32"/>
              <a:gd name="T4" fmla="*/ 0 w 54"/>
              <a:gd name="T5" fmla="*/ 4 h 32"/>
              <a:gd name="T6" fmla="*/ 10 w 54"/>
              <a:gd name="T7" fmla="*/ 4 h 32"/>
              <a:gd name="T8" fmla="*/ 10 w 54"/>
              <a:gd name="T9" fmla="*/ 32 h 32"/>
              <a:gd name="T10" fmla="*/ 16 w 54"/>
              <a:gd name="T11" fmla="*/ 32 h 32"/>
              <a:gd name="T12" fmla="*/ 16 w 54"/>
              <a:gd name="T13" fmla="*/ 4 h 32"/>
              <a:gd name="T14" fmla="*/ 26 w 54"/>
              <a:gd name="T15" fmla="*/ 4 h 32"/>
              <a:gd name="T16" fmla="*/ 36 w 54"/>
              <a:gd name="T17" fmla="*/ 18 h 32"/>
              <a:gd name="T18" fmla="*/ 36 w 54"/>
              <a:gd name="T19" fmla="*/ 32 h 32"/>
              <a:gd name="T20" fmla="*/ 42 w 54"/>
              <a:gd name="T21" fmla="*/ 32 h 32"/>
              <a:gd name="T22" fmla="*/ 42 w 54"/>
              <a:gd name="T23" fmla="*/ 18 h 32"/>
              <a:gd name="T24" fmla="*/ 54 w 54"/>
              <a:gd name="T25" fmla="*/ 0 h 32"/>
              <a:gd name="T26" fmla="*/ 54 w 54"/>
              <a:gd name="T27" fmla="*/ 0 h 32"/>
              <a:gd name="T28" fmla="*/ 54 w 54"/>
              <a:gd name="T29" fmla="*/ 0 h 32"/>
              <a:gd name="T30" fmla="*/ 48 w 54"/>
              <a:gd name="T31" fmla="*/ 0 h 32"/>
              <a:gd name="T32" fmla="*/ 38 w 54"/>
              <a:gd name="T33" fmla="*/ 14 h 32"/>
              <a:gd name="T34" fmla="*/ 30 w 54"/>
              <a:gd name="T35" fmla="*/ 0 h 32"/>
              <a:gd name="T36" fmla="*/ 30 w 54"/>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32">
                <a:moveTo>
                  <a:pt x="30" y="0"/>
                </a:moveTo>
                <a:lnTo>
                  <a:pt x="0" y="0"/>
                </a:lnTo>
                <a:lnTo>
                  <a:pt x="0" y="4"/>
                </a:lnTo>
                <a:lnTo>
                  <a:pt x="10" y="4"/>
                </a:lnTo>
                <a:lnTo>
                  <a:pt x="10" y="32"/>
                </a:lnTo>
                <a:lnTo>
                  <a:pt x="16" y="32"/>
                </a:lnTo>
                <a:lnTo>
                  <a:pt x="16" y="4"/>
                </a:lnTo>
                <a:lnTo>
                  <a:pt x="26" y="4"/>
                </a:lnTo>
                <a:lnTo>
                  <a:pt x="36" y="18"/>
                </a:lnTo>
                <a:lnTo>
                  <a:pt x="36" y="32"/>
                </a:lnTo>
                <a:lnTo>
                  <a:pt x="42" y="32"/>
                </a:lnTo>
                <a:lnTo>
                  <a:pt x="42" y="18"/>
                </a:lnTo>
                <a:lnTo>
                  <a:pt x="54" y="0"/>
                </a:lnTo>
                <a:lnTo>
                  <a:pt x="54" y="0"/>
                </a:lnTo>
                <a:lnTo>
                  <a:pt x="54" y="0"/>
                </a:lnTo>
                <a:lnTo>
                  <a:pt x="48" y="0"/>
                </a:lnTo>
                <a:lnTo>
                  <a:pt x="38" y="14"/>
                </a:lnTo>
                <a:lnTo>
                  <a:pt x="30" y="0"/>
                </a:lnTo>
                <a:lnTo>
                  <a:pt x="30"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1" name="Freeform 39"/>
          <p:cNvSpPr>
            <a:spLocks/>
          </p:cNvSpPr>
          <p:nvPr userDrawn="1"/>
        </p:nvSpPr>
        <p:spPr bwMode="auto">
          <a:xfrm>
            <a:off x="8482013" y="371475"/>
            <a:ext cx="292100" cy="365125"/>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2" name="Freeform 40"/>
          <p:cNvSpPr>
            <a:spLocks/>
          </p:cNvSpPr>
          <p:nvPr userDrawn="1"/>
        </p:nvSpPr>
        <p:spPr bwMode="auto">
          <a:xfrm>
            <a:off x="8094663" y="365125"/>
            <a:ext cx="336550" cy="371475"/>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3" name="Freeform 41"/>
          <p:cNvSpPr>
            <a:spLocks noEditPoints="1"/>
          </p:cNvSpPr>
          <p:nvPr userDrawn="1"/>
        </p:nvSpPr>
        <p:spPr bwMode="auto">
          <a:xfrm>
            <a:off x="7758113" y="371475"/>
            <a:ext cx="330200" cy="358775"/>
          </a:xfrm>
          <a:custGeom>
            <a:avLst/>
            <a:gdLst>
              <a:gd name="T0" fmla="*/ 164 w 208"/>
              <a:gd name="T1" fmla="*/ 226 h 226"/>
              <a:gd name="T2" fmla="*/ 208 w 208"/>
              <a:gd name="T3" fmla="*/ 226 h 226"/>
              <a:gd name="T4" fmla="*/ 120 w 208"/>
              <a:gd name="T5" fmla="*/ 0 h 226"/>
              <a:gd name="T6" fmla="*/ 86 w 208"/>
              <a:gd name="T7" fmla="*/ 0 h 226"/>
              <a:gd name="T8" fmla="*/ 0 w 208"/>
              <a:gd name="T9" fmla="*/ 226 h 226"/>
              <a:gd name="T10" fmla="*/ 22 w 208"/>
              <a:gd name="T11" fmla="*/ 226 h 226"/>
              <a:gd name="T12" fmla="*/ 48 w 208"/>
              <a:gd name="T13" fmla="*/ 162 h 226"/>
              <a:gd name="T14" fmla="*/ 140 w 208"/>
              <a:gd name="T15" fmla="*/ 162 h 226"/>
              <a:gd name="T16" fmla="*/ 164 w 208"/>
              <a:gd name="T17" fmla="*/ 226 h 226"/>
              <a:gd name="T18" fmla="*/ 164 w 208"/>
              <a:gd name="T19" fmla="*/ 226 h 226"/>
              <a:gd name="T20" fmla="*/ 54 w 208"/>
              <a:gd name="T21" fmla="*/ 142 h 226"/>
              <a:gd name="T22" fmla="*/ 94 w 208"/>
              <a:gd name="T23" fmla="*/ 36 h 226"/>
              <a:gd name="T24" fmla="*/ 134 w 208"/>
              <a:gd name="T25" fmla="*/ 142 h 226"/>
              <a:gd name="T26" fmla="*/ 54 w 208"/>
              <a:gd name="T27" fmla="*/ 142 h 226"/>
              <a:gd name="T28" fmla="*/ 54 w 208"/>
              <a:gd name="T29"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226">
                <a:moveTo>
                  <a:pt x="164" y="226"/>
                </a:moveTo>
                <a:lnTo>
                  <a:pt x="208" y="226"/>
                </a:lnTo>
                <a:lnTo>
                  <a:pt x="120" y="0"/>
                </a:lnTo>
                <a:lnTo>
                  <a:pt x="86" y="0"/>
                </a:lnTo>
                <a:lnTo>
                  <a:pt x="0" y="226"/>
                </a:lnTo>
                <a:lnTo>
                  <a:pt x="22" y="226"/>
                </a:lnTo>
                <a:lnTo>
                  <a:pt x="48" y="162"/>
                </a:lnTo>
                <a:lnTo>
                  <a:pt x="140" y="162"/>
                </a:lnTo>
                <a:lnTo>
                  <a:pt x="164" y="226"/>
                </a:lnTo>
                <a:lnTo>
                  <a:pt x="164" y="226"/>
                </a:lnTo>
                <a:close/>
                <a:moveTo>
                  <a:pt x="54" y="142"/>
                </a:moveTo>
                <a:lnTo>
                  <a:pt x="94" y="36"/>
                </a:lnTo>
                <a:lnTo>
                  <a:pt x="134" y="142"/>
                </a:lnTo>
                <a:lnTo>
                  <a:pt x="54" y="142"/>
                </a:lnTo>
                <a:lnTo>
                  <a:pt x="54" y="14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4" name="Title 1"/>
          <p:cNvSpPr>
            <a:spLocks noGrp="1"/>
          </p:cNvSpPr>
          <p:nvPr>
            <p:ph type="title" hasCustomPrompt="1"/>
          </p:nvPr>
        </p:nvSpPr>
        <p:spPr>
          <a:xfrm>
            <a:off x="440871" y="1014757"/>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7" name="Text Placeholder 49"/>
          <p:cNvSpPr>
            <a:spLocks noGrp="1"/>
          </p:cNvSpPr>
          <p:nvPr>
            <p:ph type="body" sz="quarter" idx="15" hasCustomPrompt="1"/>
          </p:nvPr>
        </p:nvSpPr>
        <p:spPr>
          <a:xfrm>
            <a:off x="440871" y="1751357"/>
            <a:ext cx="8284029" cy="3954411"/>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4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1492378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lain with no logo">
    <p:spTree>
      <p:nvGrpSpPr>
        <p:cNvPr id="1" name=""/>
        <p:cNvGrpSpPr/>
        <p:nvPr/>
      </p:nvGrpSpPr>
      <p:grpSpPr>
        <a:xfrm>
          <a:off x="0" y="0"/>
          <a:ext cx="0" cy="0"/>
          <a:chOff x="0" y="0"/>
          <a:chExt cx="0" cy="0"/>
        </a:xfrm>
      </p:grpSpPr>
      <p:sp>
        <p:nvSpPr>
          <p:cNvPr id="6" name="AutoShape 3"/>
          <p:cNvSpPr>
            <a:spLocks noChangeAspect="1" noChangeArrowheads="1" noTextEdit="1"/>
          </p:cNvSpPr>
          <p:nvPr userDrawn="1"/>
        </p:nvSpPr>
        <p:spPr bwMode="auto">
          <a:xfrm>
            <a:off x="1588" y="0"/>
            <a:ext cx="9140825"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 name="Freeform 6"/>
          <p:cNvSpPr>
            <a:spLocks/>
          </p:cNvSpPr>
          <p:nvPr userDrawn="1"/>
        </p:nvSpPr>
        <p:spPr bwMode="auto">
          <a:xfrm>
            <a:off x="1588" y="-3175"/>
            <a:ext cx="5030788" cy="457200"/>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8"/>
          <p:cNvSpPr>
            <a:spLocks/>
          </p:cNvSpPr>
          <p:nvPr userDrawn="1"/>
        </p:nvSpPr>
        <p:spPr bwMode="auto">
          <a:xfrm>
            <a:off x="4572001" y="6397625"/>
            <a:ext cx="4570413" cy="457200"/>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 name="Rectangle 1"/>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4" name="Title 1"/>
          <p:cNvSpPr>
            <a:spLocks noGrp="1"/>
          </p:cNvSpPr>
          <p:nvPr>
            <p:ph type="title" hasCustomPrompt="1"/>
          </p:nvPr>
        </p:nvSpPr>
        <p:spPr>
          <a:xfrm>
            <a:off x="440871" y="1014757"/>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7" name="Text Placeholder 49"/>
          <p:cNvSpPr>
            <a:spLocks noGrp="1"/>
          </p:cNvSpPr>
          <p:nvPr>
            <p:ph type="body" sz="quarter" idx="15" hasCustomPrompt="1"/>
          </p:nvPr>
        </p:nvSpPr>
        <p:spPr>
          <a:xfrm>
            <a:off x="440871" y="1751357"/>
            <a:ext cx="8284029" cy="3954411"/>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4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107940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3" name="Rectangle 2"/>
          <p:cNvSpPr/>
          <p:nvPr/>
        </p:nvSpPr>
        <p:spPr>
          <a:xfrm flipV="1">
            <a:off x="0" y="4137025"/>
            <a:ext cx="9144000" cy="4603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useBgFill="1">
        <p:nvSpPr>
          <p:cNvPr id="4" name="Rounded Rectangle 3"/>
          <p:cNvSpPr/>
          <p:nvPr/>
        </p:nvSpPr>
        <p:spPr bwMode="white">
          <a:xfrm>
            <a:off x="5410202" y="3962401"/>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useBgFill="1">
        <p:nvSpPr>
          <p:cNvPr id="5" name="Rounded Rectangle 4"/>
          <p:cNvSpPr/>
          <p:nvPr/>
        </p:nvSpPr>
        <p:spPr bwMode="white">
          <a:xfrm>
            <a:off x="7377113" y="4060826"/>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6" name="Rectangle 5"/>
          <p:cNvSpPr/>
          <p:nvPr/>
        </p:nvSpPr>
        <p:spPr>
          <a:xfrm>
            <a:off x="0" y="3962401"/>
            <a:ext cx="9144000" cy="244475"/>
          </a:xfrm>
          <a:prstGeom prst="rect">
            <a:avLst/>
          </a:prstGeom>
          <a:solidFill>
            <a:schemeClr val="accent6">
              <a:lumMod val="40000"/>
              <a:lumOff val="60000"/>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7" name="Rectangle 6"/>
          <p:cNvSpPr/>
          <p:nvPr/>
        </p:nvSpPr>
        <p:spPr>
          <a:xfrm>
            <a:off x="0" y="3970338"/>
            <a:ext cx="9144000" cy="141287"/>
          </a:xfrm>
          <a:prstGeom prst="rect">
            <a:avLst/>
          </a:prstGeom>
          <a:solidFill>
            <a:srgbClr val="00206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8" name="Rectangle 7"/>
          <p:cNvSpPr/>
          <p:nvPr userDrawn="1"/>
        </p:nvSpPr>
        <p:spPr>
          <a:xfrm>
            <a:off x="0" y="1"/>
            <a:ext cx="9144000" cy="3970338"/>
          </a:xfrm>
          <a:prstGeom prst="rect">
            <a:avLst/>
          </a:prstGeom>
          <a:solidFill>
            <a:schemeClr val="accent4">
              <a:lumMod val="7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9" name="Subtitle 8"/>
          <p:cNvSpPr>
            <a:spLocks noGrp="1"/>
          </p:cNvSpPr>
          <p:nvPr>
            <p:ph type="subTitle" idx="1"/>
          </p:nvPr>
        </p:nvSpPr>
        <p:spPr>
          <a:xfrm>
            <a:off x="1584293" y="4724400"/>
            <a:ext cx="6324600" cy="1295400"/>
          </a:xfrm>
        </p:spPr>
        <p:txBody>
          <a:bodyPr>
            <a:noAutofit/>
          </a:bodyPr>
          <a:lstStyle>
            <a:lvl1pPr marL="59739" indent="0" algn="ctr">
              <a:buNone/>
              <a:defRPr sz="3200">
                <a:solidFill>
                  <a:schemeClr val="accent3">
                    <a:lumMod val="75000"/>
                  </a:schemeClr>
                </a:solidFill>
              </a:defRPr>
            </a:lvl1pPr>
            <a:lvl2pPr marL="426705" indent="0" algn="ctr">
              <a:buNone/>
            </a:lvl2pPr>
            <a:lvl3pPr marL="853410" indent="0" algn="ctr">
              <a:buNone/>
            </a:lvl3pPr>
            <a:lvl4pPr marL="1280114" indent="0" algn="ctr">
              <a:buNone/>
            </a:lvl4pPr>
            <a:lvl5pPr marL="1706819" indent="0" algn="ctr">
              <a:buNone/>
            </a:lvl5pPr>
            <a:lvl6pPr marL="2133524" indent="0" algn="ctr">
              <a:buNone/>
            </a:lvl6pPr>
            <a:lvl7pPr marL="2560229" indent="0" algn="ctr">
              <a:buNone/>
            </a:lvl7pPr>
            <a:lvl8pPr marL="2986933" indent="0" algn="ctr">
              <a:buNone/>
            </a:lvl8pPr>
            <a:lvl9pPr marL="3413638" indent="0" algn="ctr">
              <a:buNone/>
            </a:lvl9pPr>
          </a:lstStyle>
          <a:p>
            <a:r>
              <a:rPr lang="en-US" dirty="0"/>
              <a:t>Click to edit Master subtitle style</a:t>
            </a:r>
          </a:p>
        </p:txBody>
      </p:sp>
      <p:pic>
        <p:nvPicPr>
          <p:cNvPr id="1026" name="Picture 2"/>
          <p:cNvPicPr>
            <a:picLocks noChangeAspect="1" noChangeArrowheads="1"/>
          </p:cNvPicPr>
          <p:nvPr userDrawn="1"/>
        </p:nvPicPr>
        <p:blipFill>
          <a:blip r:embed="rId2" cstate="print"/>
          <a:srcRect/>
          <a:stretch>
            <a:fillRect/>
          </a:stretch>
        </p:blipFill>
        <p:spPr bwMode="auto">
          <a:xfrm>
            <a:off x="3200400" y="163286"/>
            <a:ext cx="2667000" cy="3688497"/>
          </a:xfrm>
          <a:prstGeom prst="rect">
            <a:avLst/>
          </a:prstGeom>
          <a:noFill/>
          <a:ln w="9525">
            <a:noFill/>
            <a:miter lim="800000"/>
            <a:headEnd/>
            <a:tailEnd/>
          </a:ln>
        </p:spPr>
      </p:pic>
    </p:spTree>
    <p:extLst>
      <p:ext uri="{BB962C8B-B14F-4D97-AF65-F5344CB8AC3E}">
        <p14:creationId xmlns:p14="http://schemas.microsoft.com/office/powerpoint/2010/main" val="844724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18539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1485992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79607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8040083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759136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992358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071007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5639718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9794120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0038922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40242315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8902910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2375144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8732388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011324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070485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0991938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9427435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2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4988008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3156359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4359329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2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1114978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2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0981093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57512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2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332257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2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2508345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2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760970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2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7054072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3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208742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3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8322331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3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1588779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3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631674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3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7092709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3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2664470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3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6844434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3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6074677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3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8415202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4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64007320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4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1115467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4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6237207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4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0260611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4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71593599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4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1892215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4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55334682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4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50567166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4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3784321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4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16031028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5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54058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5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7966486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5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88645047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5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067901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5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3068312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5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4523613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5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19686069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5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5952090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5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167395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5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6116149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6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58203913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6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6972438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6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5229977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6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856321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6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28286472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6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07572143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6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411791584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6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9925028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cSld name="6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6815255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6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27945878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7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69927288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7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93316914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FFFFFF"/>
        </a:solidFill>
        <a:effectLst/>
      </p:bgPr>
    </p:bg>
    <p:spTree>
      <p:nvGrpSpPr>
        <p:cNvPr id="1" name="Shape 38"/>
        <p:cNvGrpSpPr/>
        <p:nvPr/>
      </p:nvGrpSpPr>
      <p:grpSpPr>
        <a:xfrm>
          <a:off x="0" y="0"/>
          <a:ext cx="0" cy="0"/>
          <a:chOff x="0" y="0"/>
          <a:chExt cx="0" cy="0"/>
        </a:xfrm>
      </p:grpSpPr>
      <p:pic>
        <p:nvPicPr>
          <p:cNvPr id="39" name="Google Shape;39;p2"/>
          <p:cNvPicPr preferRelativeResize="0"/>
          <p:nvPr/>
        </p:nvPicPr>
        <p:blipFill>
          <a:blip r:embed="rId2">
            <a:alphaModFix/>
          </a:blip>
          <a:stretch>
            <a:fillRect/>
          </a:stretch>
        </p:blipFill>
        <p:spPr>
          <a:xfrm>
            <a:off x="1" y="-3"/>
            <a:ext cx="11328385" cy="6919433"/>
          </a:xfrm>
          <a:prstGeom prst="rect">
            <a:avLst/>
          </a:prstGeom>
          <a:noFill/>
          <a:ln>
            <a:noFill/>
          </a:ln>
        </p:spPr>
      </p:pic>
      <p:grpSp>
        <p:nvGrpSpPr>
          <p:cNvPr id="40" name="Google Shape;40;p2"/>
          <p:cNvGrpSpPr/>
          <p:nvPr/>
        </p:nvGrpSpPr>
        <p:grpSpPr>
          <a:xfrm>
            <a:off x="22" y="4740126"/>
            <a:ext cx="7314320" cy="1169029"/>
            <a:chOff x="-11" y="1378677"/>
            <a:chExt cx="7314320" cy="4116300"/>
          </a:xfrm>
        </p:grpSpPr>
        <p:sp>
          <p:nvSpPr>
            <p:cNvPr id="41" name="Google Shape;41;p2"/>
            <p:cNvSpPr/>
            <p:nvPr/>
          </p:nvSpPr>
          <p:spPr>
            <a:xfrm flipH="1">
              <a:off x="-11" y="1378677"/>
              <a:ext cx="187800" cy="41163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sp>
          <p:nvSpPr>
            <p:cNvPr id="42" name="Google Shape;42;p2"/>
            <p:cNvSpPr/>
            <p:nvPr/>
          </p:nvSpPr>
          <p:spPr>
            <a:xfrm flipH="1">
              <a:off x="187809" y="1378677"/>
              <a:ext cx="7126500" cy="4116300"/>
            </a:xfrm>
            <a:prstGeom prst="rect">
              <a:avLst/>
            </a:prstGeom>
            <a:solidFill>
              <a:srgbClr val="434343"/>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grpSp>
      <p:sp>
        <p:nvSpPr>
          <p:cNvPr id="43" name="Google Shape;43;p2"/>
          <p:cNvSpPr txBox="1">
            <a:spLocks noGrp="1"/>
          </p:cNvSpPr>
          <p:nvPr>
            <p:ph type="ctrTitle"/>
          </p:nvPr>
        </p:nvSpPr>
        <p:spPr>
          <a:xfrm>
            <a:off x="414375" y="4842443"/>
            <a:ext cx="6400800" cy="964400"/>
          </a:xfrm>
          <a:prstGeom prst="rect">
            <a:avLst/>
          </a:prstGeom>
        </p:spPr>
        <p:txBody>
          <a:bodyPr spcFirstLastPara="1" wrap="square" lIns="91425" tIns="91425" rIns="91425" bIns="91425" anchor="b" anchorCtr="0">
            <a:noAutofit/>
          </a:bodyPr>
          <a:lstStyle>
            <a:lvl1pPr lvl="0">
              <a:spcBef>
                <a:spcPts val="0"/>
              </a:spcBef>
              <a:spcAft>
                <a:spcPts val="0"/>
              </a:spcAft>
              <a:buClr>
                <a:srgbClr val="FFFFFF"/>
              </a:buClr>
              <a:buSzPts val="3600"/>
              <a:buNone/>
              <a:defRPr sz="3600">
                <a:solidFill>
                  <a:srgbClr val="FFFFFF"/>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Tree>
    <p:extLst>
      <p:ext uri="{BB962C8B-B14F-4D97-AF65-F5344CB8AC3E}">
        <p14:creationId xmlns:p14="http://schemas.microsoft.com/office/powerpoint/2010/main" val="358220151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7"/>
        <p:cNvGrpSpPr/>
        <p:nvPr/>
      </p:nvGrpSpPr>
      <p:grpSpPr>
        <a:xfrm>
          <a:off x="0" y="0"/>
          <a:ext cx="0" cy="0"/>
          <a:chOff x="0" y="0"/>
          <a:chExt cx="0" cy="0"/>
        </a:xfrm>
      </p:grpSpPr>
      <p:grpSp>
        <p:nvGrpSpPr>
          <p:cNvPr id="58" name="Google Shape;58;p5"/>
          <p:cNvGrpSpPr/>
          <p:nvPr/>
        </p:nvGrpSpPr>
        <p:grpSpPr>
          <a:xfrm>
            <a:off x="-13" y="-12188"/>
            <a:ext cx="8005728" cy="1612563"/>
            <a:chOff x="-13" y="-12188"/>
            <a:chExt cx="8005728" cy="1161900"/>
          </a:xfrm>
        </p:grpSpPr>
        <p:sp>
          <p:nvSpPr>
            <p:cNvPr id="59" name="Google Shape;59;p5"/>
            <p:cNvSpPr/>
            <p:nvPr/>
          </p:nvSpPr>
          <p:spPr>
            <a:xfrm flipH="1">
              <a:off x="-13" y="-12188"/>
              <a:ext cx="1878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sp>
          <p:nvSpPr>
            <p:cNvPr id="60" name="Google Shape;60;p5"/>
            <p:cNvSpPr/>
            <p:nvPr/>
          </p:nvSpPr>
          <p:spPr>
            <a:xfrm flipH="1">
              <a:off x="187715" y="-12188"/>
              <a:ext cx="78180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grpSp>
      <p:sp>
        <p:nvSpPr>
          <p:cNvPr id="61" name="Google Shape;61;p5"/>
          <p:cNvSpPr txBox="1">
            <a:spLocks noGrp="1"/>
          </p:cNvSpPr>
          <p:nvPr>
            <p:ph type="title"/>
          </p:nvPr>
        </p:nvSpPr>
        <p:spPr>
          <a:xfrm>
            <a:off x="457200" y="134801"/>
            <a:ext cx="7315500" cy="1352000"/>
          </a:xfrm>
          <a:prstGeom prst="rect">
            <a:avLst/>
          </a:prstGeom>
        </p:spPr>
        <p:txBody>
          <a:bodyPr spcFirstLastPara="1" wrap="square" lIns="91425" tIns="91425" rIns="91425" bIns="91425" anchor="b" anchorCtr="0">
            <a:no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Tree>
    <p:extLst>
      <p:ext uri="{BB962C8B-B14F-4D97-AF65-F5344CB8AC3E}">
        <p14:creationId xmlns:p14="http://schemas.microsoft.com/office/powerpoint/2010/main" val="401939164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4"/>
        <p:cNvGrpSpPr/>
        <p:nvPr/>
      </p:nvGrpSpPr>
      <p:grpSpPr>
        <a:xfrm>
          <a:off x="0" y="0"/>
          <a:ext cx="0" cy="0"/>
          <a:chOff x="0" y="0"/>
          <a:chExt cx="0" cy="0"/>
        </a:xfrm>
      </p:grpSpPr>
      <p:grpSp>
        <p:nvGrpSpPr>
          <p:cNvPr id="45" name="Google Shape;45;p3"/>
          <p:cNvGrpSpPr/>
          <p:nvPr/>
        </p:nvGrpSpPr>
        <p:grpSpPr>
          <a:xfrm>
            <a:off x="-13" y="-12188"/>
            <a:ext cx="8005728" cy="1612563"/>
            <a:chOff x="-13" y="-12188"/>
            <a:chExt cx="8005728" cy="1161900"/>
          </a:xfrm>
        </p:grpSpPr>
        <p:sp>
          <p:nvSpPr>
            <p:cNvPr id="46" name="Google Shape;46;p3"/>
            <p:cNvSpPr/>
            <p:nvPr/>
          </p:nvSpPr>
          <p:spPr>
            <a:xfrm flipH="1">
              <a:off x="-13" y="-12188"/>
              <a:ext cx="1878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sp>
          <p:nvSpPr>
            <p:cNvPr id="47" name="Google Shape;47;p3"/>
            <p:cNvSpPr/>
            <p:nvPr/>
          </p:nvSpPr>
          <p:spPr>
            <a:xfrm flipH="1">
              <a:off x="187715" y="-12188"/>
              <a:ext cx="78180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grpSp>
      <p:sp>
        <p:nvSpPr>
          <p:cNvPr id="48" name="Google Shape;48;p3"/>
          <p:cNvSpPr txBox="1">
            <a:spLocks noGrp="1"/>
          </p:cNvSpPr>
          <p:nvPr>
            <p:ph type="title"/>
          </p:nvPr>
        </p:nvSpPr>
        <p:spPr>
          <a:xfrm>
            <a:off x="457200" y="134801"/>
            <a:ext cx="7315500" cy="1352000"/>
          </a:xfrm>
          <a:prstGeom prst="rect">
            <a:avLst/>
          </a:prstGeom>
        </p:spPr>
        <p:txBody>
          <a:bodyPr spcFirstLastPara="1" wrap="square" lIns="91425" tIns="91425" rIns="91425" bIns="91425" anchor="b" anchorCtr="0">
            <a:no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49" name="Google Shape;49;p3"/>
          <p:cNvSpPr txBox="1">
            <a:spLocks noGrp="1"/>
          </p:cNvSpPr>
          <p:nvPr>
            <p:ph type="body" idx="1"/>
          </p:nvPr>
        </p:nvSpPr>
        <p:spPr>
          <a:xfrm>
            <a:off x="457200" y="1704688"/>
            <a:ext cx="8229600" cy="4840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Tree>
    <p:extLst>
      <p:ext uri="{BB962C8B-B14F-4D97-AF65-F5344CB8AC3E}">
        <p14:creationId xmlns:p14="http://schemas.microsoft.com/office/powerpoint/2010/main" val="266218105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9596" y="713233"/>
            <a:ext cx="3767469" cy="334707"/>
          </a:xfrm>
          <a:prstGeom prst="rect">
            <a:avLst/>
          </a:prstGeom>
        </p:spPr>
        <p:txBody>
          <a:bodyPr wrap="square" lIns="0" tIns="0" rIns="0" bIns="0">
            <a:spAutoFit/>
          </a:bodyPr>
          <a:lstStyle>
            <a:lvl1pPr>
              <a:defRPr sz="2175" b="1" i="0">
                <a:solidFill>
                  <a:srgbClr val="3D3935"/>
                </a:solidFill>
                <a:latin typeface="Arial"/>
                <a:cs typeface="Arial"/>
              </a:defRPr>
            </a:lvl1pPr>
          </a:lstStyle>
          <a:p>
            <a:endParaRPr/>
          </a:p>
        </p:txBody>
      </p:sp>
      <p:sp>
        <p:nvSpPr>
          <p:cNvPr id="3" name="Holder 3"/>
          <p:cNvSpPr>
            <a:spLocks noGrp="1"/>
          </p:cNvSpPr>
          <p:nvPr>
            <p:ph type="subTitle" idx="4"/>
          </p:nvPr>
        </p:nvSpPr>
        <p:spPr>
          <a:xfrm>
            <a:off x="1371600" y="3840480"/>
            <a:ext cx="6400800" cy="219291"/>
          </a:xfrm>
          <a:prstGeom prst="rect">
            <a:avLst/>
          </a:prstGeom>
        </p:spPr>
        <p:txBody>
          <a:bodyPr wrap="square" lIns="0" tIns="0" rIns="0" bIns="0">
            <a:spAutoFit/>
          </a:bodyPr>
          <a:lstStyle>
            <a:lvl1pPr>
              <a:defRPr sz="1425" b="1" i="0">
                <a:solidFill>
                  <a:srgbClr val="0D0D0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5/5/2026</a:t>
            </a:fld>
            <a:endParaRPr lang="en-US"/>
          </a:p>
        </p:txBody>
      </p:sp>
      <p:sp>
        <p:nvSpPr>
          <p:cNvPr id="6" name="Holder 6"/>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184112460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type="body" idx="1"/>
          </p:nvPr>
        </p:nvSpPr>
        <p:spPr>
          <a:xfrm>
            <a:off x="508455" y="1392429"/>
            <a:ext cx="8127091" cy="219291"/>
          </a:xfrm>
        </p:spPr>
        <p:txBody>
          <a:bodyPr lIns="0" tIns="0" rIns="0" bIns="0"/>
          <a:lstStyle>
            <a:lvl1pPr>
              <a:defRPr sz="1425" b="1" i="0">
                <a:solidFill>
                  <a:srgbClr val="0D0D0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5/5/2026</a:t>
            </a:fld>
            <a:endParaRPr lang="en-US"/>
          </a:p>
        </p:txBody>
      </p:sp>
      <p:sp>
        <p:nvSpPr>
          <p:cNvPr id="6" name="Holder 6"/>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103556647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sz="half" idx="2"/>
          </p:nvPr>
        </p:nvSpPr>
        <p:spPr>
          <a:xfrm>
            <a:off x="457200" y="1577340"/>
            <a:ext cx="3977640" cy="29238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9238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5/5/2026</a:t>
            </a:fld>
            <a:endParaRPr lang="en-US"/>
          </a:p>
        </p:txBody>
      </p:sp>
      <p:sp>
        <p:nvSpPr>
          <p:cNvPr id="7" name="Holder 7"/>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393803120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5/5/2026</a:t>
            </a:fld>
            <a:endParaRPr lang="en-US"/>
          </a:p>
        </p:txBody>
      </p:sp>
      <p:sp>
        <p:nvSpPr>
          <p:cNvPr id="5" name="Holder 5"/>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368727114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5/5/2026</a:t>
            </a:fld>
            <a:endParaRPr lang="en-US"/>
          </a:p>
        </p:txBody>
      </p:sp>
      <p:sp>
        <p:nvSpPr>
          <p:cNvPr id="4" name="Holder 4"/>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1766835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theme" Target="../theme/theme1.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tags" Target="../tags/tag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image" Target="../media/image1.emf"/><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6.xml"/><Relationship Id="rId7" Type="http://schemas.openxmlformats.org/officeDocument/2006/relationships/image" Target="../media/image9.png"/><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theme" Target="../theme/theme2.xml"/><Relationship Id="rId5" Type="http://schemas.openxmlformats.org/officeDocument/2006/relationships/slideLayout" Target="../slideLayouts/slideLayout88.xml"/><Relationship Id="rId4"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85"/>
            </p:custDataLst>
            <p:extLst>
              <p:ext uri="{D42A27DB-BD31-4B8C-83A1-F6EECF244321}">
                <p14:modId xmlns:p14="http://schemas.microsoft.com/office/powerpoint/2010/main" val="347569646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86" imgW="347" imgH="348" progId="TCLayout.ActiveDocument.1">
                  <p:embed/>
                </p:oleObj>
              </mc:Choice>
              <mc:Fallback>
                <p:oleObj name="think-cell Slide" r:id="rId86" imgW="347" imgH="348" progId="TCLayout.ActiveDocument.1">
                  <p:embed/>
                  <p:pic>
                    <p:nvPicPr>
                      <p:cNvPr id="4" name="Object 3" hidden="1"/>
                      <p:cNvPicPr/>
                      <p:nvPr/>
                    </p:nvPicPr>
                    <p:blipFill>
                      <a:blip r:embed="rId87"/>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7" name="Group 4"/>
          <p:cNvGrpSpPr>
            <a:grpSpLocks noChangeAspect="1"/>
          </p:cNvGrpSpPr>
          <p:nvPr userDrawn="1"/>
        </p:nvGrpSpPr>
        <p:grpSpPr bwMode="auto">
          <a:xfrm>
            <a:off x="1588" y="0"/>
            <a:ext cx="9140825" cy="6858000"/>
            <a:chOff x="1" y="0"/>
            <a:chExt cx="5758" cy="4320"/>
          </a:xfrm>
        </p:grpSpPr>
        <p:sp>
          <p:nvSpPr>
            <p:cNvPr id="88" name="AutoShape 3"/>
            <p:cNvSpPr>
              <a:spLocks noChangeAspect="1" noChangeArrowheads="1" noTextEdit="1"/>
            </p:cNvSpPr>
            <p:nvPr userDrawn="1"/>
          </p:nvSpPr>
          <p:spPr bwMode="auto">
            <a:xfrm>
              <a:off x="1" y="0"/>
              <a:ext cx="5758" cy="4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9" name="Freeform 5"/>
            <p:cNvSpPr>
              <a:spLocks/>
            </p:cNvSpPr>
            <p:nvPr userDrawn="1"/>
          </p:nvSpPr>
          <p:spPr bwMode="auto">
            <a:xfrm>
              <a:off x="1" y="-2"/>
              <a:ext cx="3169" cy="288"/>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close/>
                </a:path>
              </a:pathLst>
            </a:custGeom>
            <a:solidFill>
              <a:srgbClr val="E8E3D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0" name="Freeform 6"/>
            <p:cNvSpPr>
              <a:spLocks/>
            </p:cNvSpPr>
            <p:nvPr userDrawn="1"/>
          </p:nvSpPr>
          <p:spPr bwMode="auto">
            <a:xfrm>
              <a:off x="1" y="-2"/>
              <a:ext cx="3169" cy="288"/>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1" name="Freeform 7"/>
            <p:cNvSpPr>
              <a:spLocks/>
            </p:cNvSpPr>
            <p:nvPr userDrawn="1"/>
          </p:nvSpPr>
          <p:spPr bwMode="auto">
            <a:xfrm>
              <a:off x="2880" y="4030"/>
              <a:ext cx="2879" cy="288"/>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close/>
                </a:path>
              </a:pathLst>
            </a:custGeom>
            <a:solidFill>
              <a:srgbClr val="E8E3D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8"/>
            <p:cNvSpPr>
              <a:spLocks/>
            </p:cNvSpPr>
            <p:nvPr userDrawn="1"/>
          </p:nvSpPr>
          <p:spPr bwMode="auto">
            <a:xfrm>
              <a:off x="2880" y="4030"/>
              <a:ext cx="2879" cy="288"/>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9"/>
            <p:cNvSpPr>
              <a:spLocks/>
            </p:cNvSpPr>
            <p:nvPr userDrawn="1"/>
          </p:nvSpPr>
          <p:spPr bwMode="auto">
            <a:xfrm>
              <a:off x="4661" y="234"/>
              <a:ext cx="182" cy="234"/>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0"/>
            <p:cNvSpPr>
              <a:spLocks/>
            </p:cNvSpPr>
            <p:nvPr userDrawn="1"/>
          </p:nvSpPr>
          <p:spPr bwMode="auto">
            <a:xfrm>
              <a:off x="4695" y="262"/>
              <a:ext cx="114" cy="150"/>
            </a:xfrm>
            <a:custGeom>
              <a:avLst/>
              <a:gdLst>
                <a:gd name="T0" fmla="*/ 0 w 114"/>
                <a:gd name="T1" fmla="*/ 74 h 150"/>
                <a:gd name="T2" fmla="*/ 58 w 114"/>
                <a:gd name="T3" fmla="*/ 0 h 150"/>
                <a:gd name="T4" fmla="*/ 114 w 114"/>
                <a:gd name="T5" fmla="*/ 74 h 150"/>
                <a:gd name="T6" fmla="*/ 58 w 114"/>
                <a:gd name="T7" fmla="*/ 150 h 150"/>
                <a:gd name="T8" fmla="*/ 0 w 114"/>
                <a:gd name="T9" fmla="*/ 74 h 150"/>
                <a:gd name="T10" fmla="*/ 0 w 114"/>
                <a:gd name="T11" fmla="*/ 74 h 150"/>
              </a:gdLst>
              <a:ahLst/>
              <a:cxnLst>
                <a:cxn ang="0">
                  <a:pos x="T0" y="T1"/>
                </a:cxn>
                <a:cxn ang="0">
                  <a:pos x="T2" y="T3"/>
                </a:cxn>
                <a:cxn ang="0">
                  <a:pos x="T4" y="T5"/>
                </a:cxn>
                <a:cxn ang="0">
                  <a:pos x="T6" y="T7"/>
                </a:cxn>
                <a:cxn ang="0">
                  <a:pos x="T8" y="T9"/>
                </a:cxn>
                <a:cxn ang="0">
                  <a:pos x="T10" y="T11"/>
                </a:cxn>
              </a:cxnLst>
              <a:rect l="0" t="0" r="r" b="b"/>
              <a:pathLst>
                <a:path w="114" h="150">
                  <a:moveTo>
                    <a:pt x="0" y="74"/>
                  </a:moveTo>
                  <a:lnTo>
                    <a:pt x="58" y="0"/>
                  </a:lnTo>
                  <a:lnTo>
                    <a:pt x="114" y="74"/>
                  </a:lnTo>
                  <a:lnTo>
                    <a:pt x="58" y="150"/>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1"/>
            <p:cNvSpPr>
              <a:spLocks/>
            </p:cNvSpPr>
            <p:nvPr userDrawn="1"/>
          </p:nvSpPr>
          <p:spPr bwMode="auto">
            <a:xfrm>
              <a:off x="4711" y="294"/>
              <a:ext cx="82" cy="9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12"/>
            <p:cNvSpPr>
              <a:spLocks noEditPoints="1"/>
            </p:cNvSpPr>
            <p:nvPr userDrawn="1"/>
          </p:nvSpPr>
          <p:spPr bwMode="auto">
            <a:xfrm>
              <a:off x="4661" y="504"/>
              <a:ext cx="34" cy="32"/>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13"/>
            <p:cNvSpPr>
              <a:spLocks/>
            </p:cNvSpPr>
            <p:nvPr userDrawn="1"/>
          </p:nvSpPr>
          <p:spPr bwMode="auto">
            <a:xfrm>
              <a:off x="4697" y="504"/>
              <a:ext cx="28" cy="32"/>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14"/>
            <p:cNvSpPr>
              <a:spLocks/>
            </p:cNvSpPr>
            <p:nvPr userDrawn="1"/>
          </p:nvSpPr>
          <p:spPr bwMode="auto">
            <a:xfrm>
              <a:off x="4731" y="502"/>
              <a:ext cx="26" cy="34"/>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15"/>
            <p:cNvSpPr>
              <a:spLocks/>
            </p:cNvSpPr>
            <p:nvPr userDrawn="1"/>
          </p:nvSpPr>
          <p:spPr bwMode="auto">
            <a:xfrm>
              <a:off x="4761" y="504"/>
              <a:ext cx="26" cy="32"/>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16"/>
            <p:cNvSpPr>
              <a:spLocks noEditPoints="1"/>
            </p:cNvSpPr>
            <p:nvPr userDrawn="1"/>
          </p:nvSpPr>
          <p:spPr bwMode="auto">
            <a:xfrm>
              <a:off x="4793" y="504"/>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17"/>
            <p:cNvSpPr>
              <a:spLocks noEditPoints="1"/>
            </p:cNvSpPr>
            <p:nvPr userDrawn="1"/>
          </p:nvSpPr>
          <p:spPr bwMode="auto">
            <a:xfrm>
              <a:off x="4823" y="504"/>
              <a:ext cx="34" cy="32"/>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18"/>
            <p:cNvSpPr>
              <a:spLocks/>
            </p:cNvSpPr>
            <p:nvPr userDrawn="1"/>
          </p:nvSpPr>
          <p:spPr bwMode="auto">
            <a:xfrm>
              <a:off x="4861" y="504"/>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19"/>
            <p:cNvSpPr>
              <a:spLocks/>
            </p:cNvSpPr>
            <p:nvPr userDrawn="1"/>
          </p:nvSpPr>
          <p:spPr bwMode="auto">
            <a:xfrm>
              <a:off x="4889" y="504"/>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0"/>
            <p:cNvSpPr>
              <a:spLocks noEditPoints="1"/>
            </p:cNvSpPr>
            <p:nvPr userDrawn="1"/>
          </p:nvSpPr>
          <p:spPr bwMode="auto">
            <a:xfrm>
              <a:off x="4899" y="504"/>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8"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1"/>
            <p:cNvSpPr>
              <a:spLocks/>
            </p:cNvSpPr>
            <p:nvPr userDrawn="1"/>
          </p:nvSpPr>
          <p:spPr bwMode="auto">
            <a:xfrm>
              <a:off x="4939" y="504"/>
              <a:ext cx="26" cy="32"/>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22"/>
            <p:cNvSpPr>
              <a:spLocks/>
            </p:cNvSpPr>
            <p:nvPr userDrawn="1"/>
          </p:nvSpPr>
          <p:spPr bwMode="auto">
            <a:xfrm>
              <a:off x="4989" y="502"/>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23"/>
            <p:cNvSpPr>
              <a:spLocks noEditPoints="1"/>
            </p:cNvSpPr>
            <p:nvPr userDrawn="1"/>
          </p:nvSpPr>
          <p:spPr bwMode="auto">
            <a:xfrm>
              <a:off x="5021" y="504"/>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24"/>
            <p:cNvSpPr>
              <a:spLocks/>
            </p:cNvSpPr>
            <p:nvPr userDrawn="1"/>
          </p:nvSpPr>
          <p:spPr bwMode="auto">
            <a:xfrm>
              <a:off x="5053" y="504"/>
              <a:ext cx="28" cy="32"/>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25"/>
            <p:cNvSpPr>
              <a:spLocks/>
            </p:cNvSpPr>
            <p:nvPr userDrawn="1"/>
          </p:nvSpPr>
          <p:spPr bwMode="auto">
            <a:xfrm>
              <a:off x="5085" y="504"/>
              <a:ext cx="28" cy="32"/>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26"/>
            <p:cNvSpPr>
              <a:spLocks noEditPoints="1"/>
            </p:cNvSpPr>
            <p:nvPr userDrawn="1"/>
          </p:nvSpPr>
          <p:spPr bwMode="auto">
            <a:xfrm>
              <a:off x="5119" y="502"/>
              <a:ext cx="32" cy="34"/>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27"/>
            <p:cNvSpPr>
              <a:spLocks/>
            </p:cNvSpPr>
            <p:nvPr userDrawn="1"/>
          </p:nvSpPr>
          <p:spPr bwMode="auto">
            <a:xfrm>
              <a:off x="5157" y="504"/>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28"/>
            <p:cNvSpPr>
              <a:spLocks/>
            </p:cNvSpPr>
            <p:nvPr userDrawn="1"/>
          </p:nvSpPr>
          <p:spPr bwMode="auto">
            <a:xfrm>
              <a:off x="5185" y="504"/>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29"/>
            <p:cNvSpPr>
              <a:spLocks/>
            </p:cNvSpPr>
            <p:nvPr userDrawn="1"/>
          </p:nvSpPr>
          <p:spPr bwMode="auto">
            <a:xfrm>
              <a:off x="5195" y="502"/>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0"/>
            <p:cNvSpPr>
              <a:spLocks/>
            </p:cNvSpPr>
            <p:nvPr userDrawn="1"/>
          </p:nvSpPr>
          <p:spPr bwMode="auto">
            <a:xfrm>
              <a:off x="5247" y="504"/>
              <a:ext cx="26" cy="32"/>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1"/>
            <p:cNvSpPr>
              <a:spLocks/>
            </p:cNvSpPr>
            <p:nvPr userDrawn="1"/>
          </p:nvSpPr>
          <p:spPr bwMode="auto">
            <a:xfrm>
              <a:off x="5283" y="504"/>
              <a:ext cx="26" cy="32"/>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6" name="Freeform 32"/>
            <p:cNvSpPr>
              <a:spLocks/>
            </p:cNvSpPr>
            <p:nvPr userDrawn="1"/>
          </p:nvSpPr>
          <p:spPr bwMode="auto">
            <a:xfrm>
              <a:off x="5317" y="504"/>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7" name="Freeform 33"/>
            <p:cNvSpPr>
              <a:spLocks/>
            </p:cNvSpPr>
            <p:nvPr userDrawn="1"/>
          </p:nvSpPr>
          <p:spPr bwMode="auto">
            <a:xfrm>
              <a:off x="5329" y="504"/>
              <a:ext cx="32" cy="32"/>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8" name="Freeform 34"/>
            <p:cNvSpPr>
              <a:spLocks/>
            </p:cNvSpPr>
            <p:nvPr userDrawn="1"/>
          </p:nvSpPr>
          <p:spPr bwMode="auto">
            <a:xfrm>
              <a:off x="5365" y="504"/>
              <a:ext cx="24" cy="32"/>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9" name="Freeform 35"/>
            <p:cNvSpPr>
              <a:spLocks noEditPoints="1"/>
            </p:cNvSpPr>
            <p:nvPr userDrawn="1"/>
          </p:nvSpPr>
          <p:spPr bwMode="auto">
            <a:xfrm>
              <a:off x="5397" y="504"/>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0" name="Freeform 36"/>
            <p:cNvSpPr>
              <a:spLocks/>
            </p:cNvSpPr>
            <p:nvPr userDrawn="1"/>
          </p:nvSpPr>
          <p:spPr bwMode="auto">
            <a:xfrm>
              <a:off x="5427" y="502"/>
              <a:ext cx="28" cy="34"/>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1" name="Freeform 37"/>
            <p:cNvSpPr>
              <a:spLocks/>
            </p:cNvSpPr>
            <p:nvPr userDrawn="1"/>
          </p:nvSpPr>
          <p:spPr bwMode="auto">
            <a:xfrm>
              <a:off x="5461" y="504"/>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2" name="Freeform 38"/>
            <p:cNvSpPr>
              <a:spLocks/>
            </p:cNvSpPr>
            <p:nvPr userDrawn="1"/>
          </p:nvSpPr>
          <p:spPr bwMode="auto">
            <a:xfrm>
              <a:off x="5473" y="504"/>
              <a:ext cx="54" cy="32"/>
            </a:xfrm>
            <a:custGeom>
              <a:avLst/>
              <a:gdLst>
                <a:gd name="T0" fmla="*/ 30 w 54"/>
                <a:gd name="T1" fmla="*/ 0 h 32"/>
                <a:gd name="T2" fmla="*/ 0 w 54"/>
                <a:gd name="T3" fmla="*/ 0 h 32"/>
                <a:gd name="T4" fmla="*/ 0 w 54"/>
                <a:gd name="T5" fmla="*/ 4 h 32"/>
                <a:gd name="T6" fmla="*/ 10 w 54"/>
                <a:gd name="T7" fmla="*/ 4 h 32"/>
                <a:gd name="T8" fmla="*/ 10 w 54"/>
                <a:gd name="T9" fmla="*/ 32 h 32"/>
                <a:gd name="T10" fmla="*/ 16 w 54"/>
                <a:gd name="T11" fmla="*/ 32 h 32"/>
                <a:gd name="T12" fmla="*/ 16 w 54"/>
                <a:gd name="T13" fmla="*/ 4 h 32"/>
                <a:gd name="T14" fmla="*/ 26 w 54"/>
                <a:gd name="T15" fmla="*/ 4 h 32"/>
                <a:gd name="T16" fmla="*/ 36 w 54"/>
                <a:gd name="T17" fmla="*/ 18 h 32"/>
                <a:gd name="T18" fmla="*/ 36 w 54"/>
                <a:gd name="T19" fmla="*/ 32 h 32"/>
                <a:gd name="T20" fmla="*/ 42 w 54"/>
                <a:gd name="T21" fmla="*/ 32 h 32"/>
                <a:gd name="T22" fmla="*/ 42 w 54"/>
                <a:gd name="T23" fmla="*/ 18 h 32"/>
                <a:gd name="T24" fmla="*/ 54 w 54"/>
                <a:gd name="T25" fmla="*/ 0 h 32"/>
                <a:gd name="T26" fmla="*/ 54 w 54"/>
                <a:gd name="T27" fmla="*/ 0 h 32"/>
                <a:gd name="T28" fmla="*/ 54 w 54"/>
                <a:gd name="T29" fmla="*/ 0 h 32"/>
                <a:gd name="T30" fmla="*/ 48 w 54"/>
                <a:gd name="T31" fmla="*/ 0 h 32"/>
                <a:gd name="T32" fmla="*/ 38 w 54"/>
                <a:gd name="T33" fmla="*/ 14 h 32"/>
                <a:gd name="T34" fmla="*/ 30 w 54"/>
                <a:gd name="T35" fmla="*/ 0 h 32"/>
                <a:gd name="T36" fmla="*/ 30 w 54"/>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32">
                  <a:moveTo>
                    <a:pt x="30" y="0"/>
                  </a:moveTo>
                  <a:lnTo>
                    <a:pt x="0" y="0"/>
                  </a:lnTo>
                  <a:lnTo>
                    <a:pt x="0" y="4"/>
                  </a:lnTo>
                  <a:lnTo>
                    <a:pt x="10" y="4"/>
                  </a:lnTo>
                  <a:lnTo>
                    <a:pt x="10" y="32"/>
                  </a:lnTo>
                  <a:lnTo>
                    <a:pt x="16" y="32"/>
                  </a:lnTo>
                  <a:lnTo>
                    <a:pt x="16" y="4"/>
                  </a:lnTo>
                  <a:lnTo>
                    <a:pt x="26" y="4"/>
                  </a:lnTo>
                  <a:lnTo>
                    <a:pt x="36" y="18"/>
                  </a:lnTo>
                  <a:lnTo>
                    <a:pt x="36" y="32"/>
                  </a:lnTo>
                  <a:lnTo>
                    <a:pt x="42" y="32"/>
                  </a:lnTo>
                  <a:lnTo>
                    <a:pt x="42" y="18"/>
                  </a:lnTo>
                  <a:lnTo>
                    <a:pt x="54" y="0"/>
                  </a:lnTo>
                  <a:lnTo>
                    <a:pt x="54" y="0"/>
                  </a:lnTo>
                  <a:lnTo>
                    <a:pt x="54" y="0"/>
                  </a:lnTo>
                  <a:lnTo>
                    <a:pt x="48" y="0"/>
                  </a:lnTo>
                  <a:lnTo>
                    <a:pt x="38" y="14"/>
                  </a:lnTo>
                  <a:lnTo>
                    <a:pt x="30" y="0"/>
                  </a:lnTo>
                  <a:lnTo>
                    <a:pt x="30"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3" name="Freeform 39"/>
            <p:cNvSpPr>
              <a:spLocks/>
            </p:cNvSpPr>
            <p:nvPr userDrawn="1"/>
          </p:nvSpPr>
          <p:spPr bwMode="auto">
            <a:xfrm>
              <a:off x="5343" y="234"/>
              <a:ext cx="184" cy="230"/>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4" name="Freeform 40"/>
            <p:cNvSpPr>
              <a:spLocks/>
            </p:cNvSpPr>
            <p:nvPr userDrawn="1"/>
          </p:nvSpPr>
          <p:spPr bwMode="auto">
            <a:xfrm>
              <a:off x="5099" y="230"/>
              <a:ext cx="212" cy="234"/>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5" name="Freeform 41"/>
            <p:cNvSpPr>
              <a:spLocks noEditPoints="1"/>
            </p:cNvSpPr>
            <p:nvPr userDrawn="1"/>
          </p:nvSpPr>
          <p:spPr bwMode="auto">
            <a:xfrm>
              <a:off x="4887" y="234"/>
              <a:ext cx="208" cy="226"/>
            </a:xfrm>
            <a:custGeom>
              <a:avLst/>
              <a:gdLst>
                <a:gd name="T0" fmla="*/ 164 w 208"/>
                <a:gd name="T1" fmla="*/ 226 h 226"/>
                <a:gd name="T2" fmla="*/ 208 w 208"/>
                <a:gd name="T3" fmla="*/ 226 h 226"/>
                <a:gd name="T4" fmla="*/ 120 w 208"/>
                <a:gd name="T5" fmla="*/ 0 h 226"/>
                <a:gd name="T6" fmla="*/ 86 w 208"/>
                <a:gd name="T7" fmla="*/ 0 h 226"/>
                <a:gd name="T8" fmla="*/ 0 w 208"/>
                <a:gd name="T9" fmla="*/ 226 h 226"/>
                <a:gd name="T10" fmla="*/ 22 w 208"/>
                <a:gd name="T11" fmla="*/ 226 h 226"/>
                <a:gd name="T12" fmla="*/ 48 w 208"/>
                <a:gd name="T13" fmla="*/ 162 h 226"/>
                <a:gd name="T14" fmla="*/ 140 w 208"/>
                <a:gd name="T15" fmla="*/ 162 h 226"/>
                <a:gd name="T16" fmla="*/ 164 w 208"/>
                <a:gd name="T17" fmla="*/ 226 h 226"/>
                <a:gd name="T18" fmla="*/ 164 w 208"/>
                <a:gd name="T19" fmla="*/ 226 h 226"/>
                <a:gd name="T20" fmla="*/ 54 w 208"/>
                <a:gd name="T21" fmla="*/ 142 h 226"/>
                <a:gd name="T22" fmla="*/ 94 w 208"/>
                <a:gd name="T23" fmla="*/ 36 h 226"/>
                <a:gd name="T24" fmla="*/ 134 w 208"/>
                <a:gd name="T25" fmla="*/ 142 h 226"/>
                <a:gd name="T26" fmla="*/ 54 w 208"/>
                <a:gd name="T27" fmla="*/ 142 h 226"/>
                <a:gd name="T28" fmla="*/ 54 w 208"/>
                <a:gd name="T29"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226">
                  <a:moveTo>
                    <a:pt x="164" y="226"/>
                  </a:moveTo>
                  <a:lnTo>
                    <a:pt x="208" y="226"/>
                  </a:lnTo>
                  <a:lnTo>
                    <a:pt x="120" y="0"/>
                  </a:lnTo>
                  <a:lnTo>
                    <a:pt x="86" y="0"/>
                  </a:lnTo>
                  <a:lnTo>
                    <a:pt x="0" y="226"/>
                  </a:lnTo>
                  <a:lnTo>
                    <a:pt x="22" y="226"/>
                  </a:lnTo>
                  <a:lnTo>
                    <a:pt x="48" y="162"/>
                  </a:lnTo>
                  <a:lnTo>
                    <a:pt x="140" y="162"/>
                  </a:lnTo>
                  <a:lnTo>
                    <a:pt x="164" y="226"/>
                  </a:lnTo>
                  <a:lnTo>
                    <a:pt x="164" y="226"/>
                  </a:lnTo>
                  <a:close/>
                  <a:moveTo>
                    <a:pt x="54" y="142"/>
                  </a:moveTo>
                  <a:lnTo>
                    <a:pt x="94" y="36"/>
                  </a:lnTo>
                  <a:lnTo>
                    <a:pt x="134" y="142"/>
                  </a:lnTo>
                  <a:lnTo>
                    <a:pt x="54" y="142"/>
                  </a:lnTo>
                  <a:lnTo>
                    <a:pt x="54" y="14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2980067865"/>
      </p:ext>
    </p:extLst>
  </p:cSld>
  <p:clrMap bg1="lt1" tx1="dk1" bg2="lt2" tx2="dk2" accent1="accent1" accent2="accent2" accent3="accent3" accent4="accent4" accent5="accent5" accent6="accent6" hlink="hlink" folHlink="folHlink"/>
  <p:sldLayoutIdLst>
    <p:sldLayoutId id="2147483661" r:id="rId1"/>
    <p:sldLayoutId id="2147483691" r:id="rId2"/>
    <p:sldLayoutId id="2147483663" r:id="rId3"/>
    <p:sldLayoutId id="2147483664" r:id="rId4"/>
    <p:sldLayoutId id="2147483665" r:id="rId5"/>
    <p:sldLayoutId id="2147483682" r:id="rId6"/>
    <p:sldLayoutId id="2147483679" r:id="rId7"/>
    <p:sldLayoutId id="2147483686" r:id="rId8"/>
    <p:sldLayoutId id="2147483689" r:id="rId9"/>
    <p:sldLayoutId id="2147483692" r:id="rId10"/>
    <p:sldLayoutId id="2147483693"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 id="2147483710" r:id="rId27"/>
    <p:sldLayoutId id="2147483711" r:id="rId28"/>
    <p:sldLayoutId id="2147483712" r:id="rId29"/>
    <p:sldLayoutId id="2147483713" r:id="rId30"/>
    <p:sldLayoutId id="2147483714" r:id="rId31"/>
    <p:sldLayoutId id="2147483715" r:id="rId32"/>
    <p:sldLayoutId id="2147483716" r:id="rId33"/>
    <p:sldLayoutId id="2147483717" r:id="rId34"/>
    <p:sldLayoutId id="2147483718" r:id="rId35"/>
    <p:sldLayoutId id="2147483719" r:id="rId36"/>
    <p:sldLayoutId id="2147483720" r:id="rId37"/>
    <p:sldLayoutId id="2147483721" r:id="rId38"/>
    <p:sldLayoutId id="2147483722" r:id="rId39"/>
    <p:sldLayoutId id="2147483723" r:id="rId40"/>
    <p:sldLayoutId id="2147483724" r:id="rId41"/>
    <p:sldLayoutId id="2147483726" r:id="rId42"/>
    <p:sldLayoutId id="2147483727" r:id="rId43"/>
    <p:sldLayoutId id="2147483728" r:id="rId44"/>
    <p:sldLayoutId id="2147483729" r:id="rId45"/>
    <p:sldLayoutId id="2147483730" r:id="rId46"/>
    <p:sldLayoutId id="2147483731" r:id="rId47"/>
    <p:sldLayoutId id="2147483732" r:id="rId48"/>
    <p:sldLayoutId id="2147483733" r:id="rId49"/>
    <p:sldLayoutId id="2147483734" r:id="rId50"/>
    <p:sldLayoutId id="2147483735" r:id="rId51"/>
    <p:sldLayoutId id="2147483736" r:id="rId52"/>
    <p:sldLayoutId id="2147483737" r:id="rId53"/>
    <p:sldLayoutId id="2147483738" r:id="rId54"/>
    <p:sldLayoutId id="2147483739" r:id="rId55"/>
    <p:sldLayoutId id="2147483740" r:id="rId56"/>
    <p:sldLayoutId id="2147483741" r:id="rId57"/>
    <p:sldLayoutId id="2147483742" r:id="rId58"/>
    <p:sldLayoutId id="2147483743" r:id="rId59"/>
    <p:sldLayoutId id="2147483744" r:id="rId60"/>
    <p:sldLayoutId id="2147483745" r:id="rId61"/>
    <p:sldLayoutId id="2147483746" r:id="rId62"/>
    <p:sldLayoutId id="2147483747" r:id="rId63"/>
    <p:sldLayoutId id="2147483748" r:id="rId64"/>
    <p:sldLayoutId id="2147483749" r:id="rId65"/>
    <p:sldLayoutId id="2147483750" r:id="rId66"/>
    <p:sldLayoutId id="2147483751" r:id="rId67"/>
    <p:sldLayoutId id="2147483752" r:id="rId68"/>
    <p:sldLayoutId id="2147483753" r:id="rId69"/>
    <p:sldLayoutId id="2147483754" r:id="rId70"/>
    <p:sldLayoutId id="2147483755" r:id="rId71"/>
    <p:sldLayoutId id="2147483756" r:id="rId72"/>
    <p:sldLayoutId id="2147483757" r:id="rId73"/>
    <p:sldLayoutId id="2147483758" r:id="rId74"/>
    <p:sldLayoutId id="2147483759" r:id="rId75"/>
    <p:sldLayoutId id="2147483760" r:id="rId76"/>
    <p:sldLayoutId id="2147483761" r:id="rId77"/>
    <p:sldLayoutId id="2147483762" r:id="rId78"/>
    <p:sldLayoutId id="2147483763" r:id="rId79"/>
    <p:sldLayoutId id="2147483764" r:id="rId80"/>
    <p:sldLayoutId id="2147483766" r:id="rId81"/>
    <p:sldLayoutId id="2147483767" r:id="rId82"/>
    <p:sldLayoutId id="2147483768" r:id="rId83"/>
  </p:sldLayoutIdLst>
  <p:hf hdr="0" dt="0"/>
  <p:txStyles>
    <p:titleStyle>
      <a:lvl1pPr algn="l" defTabSz="914400" rtl="0" eaLnBrk="1" latinLnBrk="0" hangingPunct="1">
        <a:lnSpc>
          <a:spcPct val="100000"/>
        </a:lnSpc>
        <a:spcBef>
          <a:spcPct val="0"/>
        </a:spcBef>
        <a:buNone/>
        <a:defRPr sz="3866" b="1" kern="1200">
          <a:solidFill>
            <a:srgbClr val="3D3935"/>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0"/>
        </a:spcBef>
        <a:buClr>
          <a:srgbClr val="F2120C"/>
        </a:buClr>
        <a:buFont typeface="Arial" panose="020B0604020202020204" pitchFamily="34" charset="0"/>
        <a:buChar char="•"/>
        <a:defRPr sz="2533"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88" y="0"/>
            <a:ext cx="5027930" cy="454025"/>
          </a:xfrm>
          <a:custGeom>
            <a:avLst/>
            <a:gdLst/>
            <a:ahLst/>
            <a:cxnLst/>
            <a:rect l="l" t="t" r="r" b="b"/>
            <a:pathLst>
              <a:path w="5027930" h="454025">
                <a:moveTo>
                  <a:pt x="5027591" y="0"/>
                </a:moveTo>
                <a:lnTo>
                  <a:pt x="0" y="0"/>
                </a:lnTo>
                <a:lnTo>
                  <a:pt x="0" y="454025"/>
                </a:lnTo>
                <a:lnTo>
                  <a:pt x="4570413" y="454025"/>
                </a:lnTo>
                <a:lnTo>
                  <a:pt x="5027591" y="0"/>
                </a:lnTo>
                <a:close/>
              </a:path>
            </a:pathLst>
          </a:custGeom>
          <a:solidFill>
            <a:srgbClr val="E8E3DB"/>
          </a:solidFill>
        </p:spPr>
        <p:txBody>
          <a:bodyPr wrap="square" lIns="0" tIns="0" rIns="0" bIns="0" rtlCol="0"/>
          <a:lstStyle/>
          <a:p>
            <a:endParaRPr sz="1350"/>
          </a:p>
        </p:txBody>
      </p:sp>
      <p:sp>
        <p:nvSpPr>
          <p:cNvPr id="17" name="bg object 17"/>
          <p:cNvSpPr/>
          <p:nvPr/>
        </p:nvSpPr>
        <p:spPr>
          <a:xfrm>
            <a:off x="4572001" y="6397624"/>
            <a:ext cx="4570730" cy="457200"/>
          </a:xfrm>
          <a:custGeom>
            <a:avLst/>
            <a:gdLst/>
            <a:ahLst/>
            <a:cxnLst/>
            <a:rect l="l" t="t" r="r" b="b"/>
            <a:pathLst>
              <a:path w="4570730" h="457200">
                <a:moveTo>
                  <a:pt x="4570412" y="0"/>
                </a:moveTo>
                <a:lnTo>
                  <a:pt x="460375" y="0"/>
                </a:lnTo>
                <a:lnTo>
                  <a:pt x="0" y="457199"/>
                </a:lnTo>
                <a:lnTo>
                  <a:pt x="4570412" y="457199"/>
                </a:lnTo>
                <a:lnTo>
                  <a:pt x="4570412" y="0"/>
                </a:lnTo>
                <a:close/>
              </a:path>
            </a:pathLst>
          </a:custGeom>
          <a:solidFill>
            <a:srgbClr val="E8E3DB"/>
          </a:solidFill>
        </p:spPr>
        <p:txBody>
          <a:bodyPr wrap="square" lIns="0" tIns="0" rIns="0" bIns="0" rtlCol="0"/>
          <a:lstStyle/>
          <a:p>
            <a:endParaRPr sz="1350"/>
          </a:p>
        </p:txBody>
      </p:sp>
      <p:pic>
        <p:nvPicPr>
          <p:cNvPr id="18" name="bg object 18"/>
          <p:cNvPicPr/>
          <p:nvPr/>
        </p:nvPicPr>
        <p:blipFill>
          <a:blip r:embed="rId7" cstate="print"/>
          <a:stretch>
            <a:fillRect/>
          </a:stretch>
        </p:blipFill>
        <p:spPr>
          <a:xfrm>
            <a:off x="7399338" y="365127"/>
            <a:ext cx="1374775" cy="485775"/>
          </a:xfrm>
          <a:prstGeom prst="rect">
            <a:avLst/>
          </a:prstGeom>
        </p:spPr>
      </p:pic>
      <p:sp>
        <p:nvSpPr>
          <p:cNvPr id="2" name="Holder 2"/>
          <p:cNvSpPr>
            <a:spLocks noGrp="1"/>
          </p:cNvSpPr>
          <p:nvPr>
            <p:ph type="title"/>
          </p:nvPr>
        </p:nvSpPr>
        <p:spPr>
          <a:xfrm>
            <a:off x="519610" y="713233"/>
            <a:ext cx="6553200" cy="446276"/>
          </a:xfrm>
          <a:prstGeom prst="rect">
            <a:avLst/>
          </a:prstGeom>
        </p:spPr>
        <p:txBody>
          <a:bodyPr wrap="square" lIns="0" tIns="0" rIns="0" bIns="0">
            <a:spAutoFit/>
          </a:bodyPr>
          <a:lstStyle>
            <a:lvl1pPr>
              <a:defRPr sz="2900" b="1" i="0">
                <a:solidFill>
                  <a:srgbClr val="3D3935"/>
                </a:solidFill>
                <a:latin typeface="Arial"/>
                <a:cs typeface="Arial"/>
              </a:defRPr>
            </a:lvl1pPr>
          </a:lstStyle>
          <a:p>
            <a:endParaRPr/>
          </a:p>
        </p:txBody>
      </p:sp>
      <p:sp>
        <p:nvSpPr>
          <p:cNvPr id="3" name="Holder 3"/>
          <p:cNvSpPr>
            <a:spLocks noGrp="1"/>
          </p:cNvSpPr>
          <p:nvPr>
            <p:ph type="body" idx="1"/>
          </p:nvPr>
        </p:nvSpPr>
        <p:spPr>
          <a:xfrm>
            <a:off x="508455" y="1392429"/>
            <a:ext cx="8127091" cy="292388"/>
          </a:xfrm>
          <a:prstGeom prst="rect">
            <a:avLst/>
          </a:prstGeom>
        </p:spPr>
        <p:txBody>
          <a:bodyPr wrap="square" lIns="0" tIns="0" rIns="0" bIns="0">
            <a:spAutoFit/>
          </a:bodyPr>
          <a:lstStyle>
            <a:lvl1pPr>
              <a:defRPr sz="1900" b="1" i="0">
                <a:solidFill>
                  <a:srgbClr val="0D0D0D"/>
                </a:solidFill>
                <a:latin typeface="Arial"/>
                <a:cs typeface="Arial"/>
              </a:defRPr>
            </a:lvl1pPr>
          </a:lstStyle>
          <a:p>
            <a:endParaRPr/>
          </a:p>
        </p:txBody>
      </p:sp>
      <p:sp>
        <p:nvSpPr>
          <p:cNvPr id="4" name="Holder 4"/>
          <p:cNvSpPr>
            <a:spLocks noGrp="1"/>
          </p:cNvSpPr>
          <p:nvPr>
            <p:ph type="ftr" sz="quarter" idx="5"/>
          </p:nvPr>
        </p:nvSpPr>
        <p:spPr>
          <a:xfrm>
            <a:off x="3108960" y="6377941"/>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1"/>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5/5/2026</a:t>
            </a:fld>
            <a:endParaRPr lang="en-US"/>
          </a:p>
        </p:txBody>
      </p:sp>
      <p:sp>
        <p:nvSpPr>
          <p:cNvPr id="6" name="Holder 6"/>
          <p:cNvSpPr>
            <a:spLocks noGrp="1"/>
          </p:cNvSpPr>
          <p:nvPr>
            <p:ph type="sldNum" sz="quarter" idx="7"/>
          </p:nvPr>
        </p:nvSpPr>
        <p:spPr>
          <a:xfrm>
            <a:off x="552269" y="6556594"/>
            <a:ext cx="3729354" cy="115416"/>
          </a:xfrm>
          <a:prstGeom prst="rect">
            <a:avLst/>
          </a:prstGeom>
        </p:spPr>
        <p:txBody>
          <a:bodyPr wrap="square" lIns="0" tIns="0" rIns="0" bIns="0">
            <a:spAutoFit/>
          </a:bodyPr>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2542608995"/>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Lst>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msle.learnondemand.net/"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6.xml"/><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ACF62-ED9D-4C0F-A976-E9C35DDB35EB}"/>
              </a:ext>
            </a:extLst>
          </p:cNvPr>
          <p:cNvSpPr>
            <a:spLocks noGrp="1"/>
          </p:cNvSpPr>
          <p:nvPr>
            <p:ph type="title"/>
          </p:nvPr>
        </p:nvSpPr>
        <p:spPr>
          <a:xfrm>
            <a:off x="198630" y="336332"/>
            <a:ext cx="4373370" cy="1250730"/>
          </a:xfrm>
        </p:spPr>
        <p:txBody>
          <a:bodyPr/>
          <a:lstStyle/>
          <a:p>
            <a:r>
              <a:rPr lang="en-US" sz="3400" dirty="0"/>
              <a:t>Structured Query Language (SQL)</a:t>
            </a:r>
            <a:endParaRPr lang="en-AU" sz="3400" dirty="0"/>
          </a:p>
        </p:txBody>
      </p:sp>
      <p:sp>
        <p:nvSpPr>
          <p:cNvPr id="3" name="Subtitle 2">
            <a:extLst>
              <a:ext uri="{FF2B5EF4-FFF2-40B4-BE49-F238E27FC236}">
                <a16:creationId xmlns:a16="http://schemas.microsoft.com/office/drawing/2014/main" id="{23EEDDFE-62E7-4B7A-B286-FF3EA6C173A5}"/>
              </a:ext>
            </a:extLst>
          </p:cNvPr>
          <p:cNvSpPr>
            <a:spLocks noGrp="1"/>
          </p:cNvSpPr>
          <p:nvPr>
            <p:ph type="subTitle" idx="1"/>
          </p:nvPr>
        </p:nvSpPr>
        <p:spPr>
          <a:xfrm>
            <a:off x="776288" y="3893642"/>
            <a:ext cx="3867150" cy="447675"/>
          </a:xfrm>
        </p:spPr>
        <p:txBody>
          <a:bodyPr/>
          <a:lstStyle/>
          <a:p>
            <a:r>
              <a:rPr lang="en-AU" sz="2000" b="1" dirty="0"/>
              <a:t>Week 9</a:t>
            </a:r>
          </a:p>
        </p:txBody>
      </p:sp>
      <p:sp>
        <p:nvSpPr>
          <p:cNvPr id="4" name="Text Placeholder 3">
            <a:extLst>
              <a:ext uri="{FF2B5EF4-FFF2-40B4-BE49-F238E27FC236}">
                <a16:creationId xmlns:a16="http://schemas.microsoft.com/office/drawing/2014/main" id="{08DAEE5F-D393-479E-8BB0-2D5C0579454F}"/>
              </a:ext>
            </a:extLst>
          </p:cNvPr>
          <p:cNvSpPr>
            <a:spLocks noGrp="1"/>
          </p:cNvSpPr>
          <p:nvPr>
            <p:ph type="body" sz="quarter" idx="10"/>
          </p:nvPr>
        </p:nvSpPr>
        <p:spPr/>
        <p:txBody>
          <a:bodyPr>
            <a:normAutofit fontScale="92500" lnSpcReduction="20000"/>
          </a:bodyPr>
          <a:lstStyle/>
          <a:p>
            <a:r>
              <a:rPr lang="en-AU" dirty="0"/>
              <a:t>Dr. Farshid Keivanian</a:t>
            </a:r>
          </a:p>
        </p:txBody>
      </p:sp>
    </p:spTree>
    <p:extLst>
      <p:ext uri="{BB962C8B-B14F-4D97-AF65-F5344CB8AC3E}">
        <p14:creationId xmlns:p14="http://schemas.microsoft.com/office/powerpoint/2010/main" val="581688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70660180-C222-1C0E-972D-3D88A9D4F0F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45A6B1-8B80-DB67-9023-1B2F212A75C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03A225C-DA99-BC7A-E7E6-1795A091203F}"/>
              </a:ext>
            </a:extLst>
          </p:cNvPr>
          <p:cNvSpPr>
            <a:spLocks noGrp="1"/>
          </p:cNvSpPr>
          <p:nvPr>
            <p:ph type="sldNum" sz="quarter" idx="4"/>
          </p:nvPr>
        </p:nvSpPr>
        <p:spPr/>
        <p:txBody>
          <a:bodyPr/>
          <a:lstStyle/>
          <a:p>
            <a:fld id="{16A89BA3-132D-40E1-AAB4-CDCD0A14C216}" type="slidenum">
              <a:rPr lang="en-AU" smtClean="0"/>
              <a:pPr/>
              <a:t>2</a:t>
            </a:fld>
            <a:r>
              <a:rPr lang="en-AU"/>
              <a:t>  |</a:t>
            </a:r>
            <a:endParaRPr lang="en-AU" dirty="0"/>
          </a:p>
        </p:txBody>
      </p:sp>
      <p:sp>
        <p:nvSpPr>
          <p:cNvPr id="7" name="TextBox 6">
            <a:extLst>
              <a:ext uri="{FF2B5EF4-FFF2-40B4-BE49-F238E27FC236}">
                <a16:creationId xmlns:a16="http://schemas.microsoft.com/office/drawing/2014/main" id="{9940C5FD-988D-4753-DC88-3C6402DBE469}"/>
              </a:ext>
            </a:extLst>
          </p:cNvPr>
          <p:cNvSpPr txBox="1"/>
          <p:nvPr/>
        </p:nvSpPr>
        <p:spPr>
          <a:xfrm>
            <a:off x="0" y="826289"/>
            <a:ext cx="6958361" cy="523220"/>
          </a:xfrm>
          <a:prstGeom prst="rect">
            <a:avLst/>
          </a:prstGeom>
          <a:solidFill>
            <a:schemeClr val="bg1"/>
          </a:solidFill>
        </p:spPr>
        <p:txBody>
          <a:bodyPr wrap="square">
            <a:spAutoFit/>
          </a:bodyPr>
          <a:lstStyle/>
          <a:p>
            <a:pPr marL="457200" indent="-457200">
              <a:buFont typeface="Arial" panose="020B0604020202020204" pitchFamily="34" charset="0"/>
              <a:buChar char="•"/>
            </a:pPr>
            <a:r>
              <a:rPr lang="en-US" sz="2800" dirty="0">
                <a:latin typeface="Calibir"/>
              </a:rPr>
              <a:t>Go to </a:t>
            </a:r>
            <a:r>
              <a:rPr lang="en-US" sz="2800" dirty="0">
                <a:latin typeface="Calibir"/>
                <a:hlinkClick r:id="rId3"/>
              </a:rPr>
              <a:t>https://msle.learnondemand.net/</a:t>
            </a:r>
            <a:endParaRPr lang="en-US" sz="2800" dirty="0">
              <a:latin typeface="Calibir"/>
            </a:endParaRPr>
          </a:p>
        </p:txBody>
      </p:sp>
      <p:sp>
        <p:nvSpPr>
          <p:cNvPr id="9" name="Text Placeholder 3">
            <a:extLst>
              <a:ext uri="{FF2B5EF4-FFF2-40B4-BE49-F238E27FC236}">
                <a16:creationId xmlns:a16="http://schemas.microsoft.com/office/drawing/2014/main" id="{47FEF29E-E553-F396-FF4A-DC7E74AA1C03}"/>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4CE15480-5E60-B12D-3600-734E22923A0E}"/>
              </a:ext>
            </a:extLst>
          </p:cNvPr>
          <p:cNvPicPr>
            <a:picLocks noChangeAspect="1"/>
          </p:cNvPicPr>
          <p:nvPr/>
        </p:nvPicPr>
        <p:blipFill>
          <a:blip r:embed="rId4"/>
          <a:srcRect t="8916" b="22221"/>
          <a:stretch>
            <a:fillRect/>
          </a:stretch>
        </p:blipFill>
        <p:spPr>
          <a:xfrm>
            <a:off x="0" y="1660791"/>
            <a:ext cx="9144000" cy="3541966"/>
          </a:xfrm>
          <a:prstGeom prst="rect">
            <a:avLst/>
          </a:prstGeom>
        </p:spPr>
      </p:pic>
    </p:spTree>
    <p:extLst>
      <p:ext uri="{BB962C8B-B14F-4D97-AF65-F5344CB8AC3E}">
        <p14:creationId xmlns:p14="http://schemas.microsoft.com/office/powerpoint/2010/main" val="187479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85937B1-D57B-0FEF-40C9-9BAB64F14C3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8DA9A4-F7F2-71AF-4CA4-1BF8B30163E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952E1A2-7FB2-A8A6-4F22-E9323412C0D7}"/>
              </a:ext>
            </a:extLst>
          </p:cNvPr>
          <p:cNvSpPr>
            <a:spLocks noGrp="1"/>
          </p:cNvSpPr>
          <p:nvPr>
            <p:ph type="sldNum" sz="quarter" idx="4"/>
          </p:nvPr>
        </p:nvSpPr>
        <p:spPr/>
        <p:txBody>
          <a:bodyPr/>
          <a:lstStyle/>
          <a:p>
            <a:fld id="{16A89BA3-132D-40E1-AAB4-CDCD0A14C216}" type="slidenum">
              <a:rPr lang="en-AU" smtClean="0"/>
              <a:pPr/>
              <a:t>3</a:t>
            </a:fld>
            <a:r>
              <a:rPr lang="en-AU"/>
              <a:t>  |</a:t>
            </a:r>
            <a:endParaRPr lang="en-AU" dirty="0"/>
          </a:p>
        </p:txBody>
      </p:sp>
      <p:sp>
        <p:nvSpPr>
          <p:cNvPr id="7" name="TextBox 6">
            <a:extLst>
              <a:ext uri="{FF2B5EF4-FFF2-40B4-BE49-F238E27FC236}">
                <a16:creationId xmlns:a16="http://schemas.microsoft.com/office/drawing/2014/main" id="{F87472EC-45A5-C1AC-6119-44A90D6307F3}"/>
              </a:ext>
            </a:extLst>
          </p:cNvPr>
          <p:cNvSpPr txBox="1"/>
          <p:nvPr/>
        </p:nvSpPr>
        <p:spPr>
          <a:xfrm>
            <a:off x="0" y="604807"/>
            <a:ext cx="6999890" cy="671851"/>
          </a:xfrm>
          <a:prstGeom prst="rect">
            <a:avLst/>
          </a:prstGeom>
          <a:solidFill>
            <a:schemeClr val="bg1"/>
          </a:solid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highlight>
                  <a:srgbClr val="FFFF00"/>
                </a:highlight>
                <a:latin typeface="Calibir"/>
              </a:rPr>
              <a:t>If already registered and you want to log in</a:t>
            </a:r>
          </a:p>
        </p:txBody>
      </p:sp>
      <p:sp>
        <p:nvSpPr>
          <p:cNvPr id="9" name="Text Placeholder 3">
            <a:extLst>
              <a:ext uri="{FF2B5EF4-FFF2-40B4-BE49-F238E27FC236}">
                <a16:creationId xmlns:a16="http://schemas.microsoft.com/office/drawing/2014/main" id="{DC8CE659-6094-5CED-99D1-FE3E8F5F935D}"/>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6F66419-0FBE-2468-D8FE-0927B08B692E}"/>
              </a:ext>
            </a:extLst>
          </p:cNvPr>
          <p:cNvSpPr txBox="1"/>
          <p:nvPr/>
        </p:nvSpPr>
        <p:spPr>
          <a:xfrm>
            <a:off x="0" y="1325036"/>
            <a:ext cx="9144000" cy="5196166"/>
          </a:xfrm>
          <a:prstGeom prst="rect">
            <a:avLst/>
          </a:prstGeom>
          <a:noFill/>
        </p:spPr>
        <p:txBody>
          <a:bodyPr wrap="square">
            <a:spAutoFit/>
          </a:bodyPr>
          <a:lstStyle/>
          <a:p>
            <a:pPr marL="971550" lvl="1" indent="-514350">
              <a:lnSpc>
                <a:spcPct val="150000"/>
              </a:lnSpc>
              <a:buFont typeface="+mj-lt"/>
              <a:buAutoNum type="arabicPeriod"/>
            </a:pPr>
            <a:r>
              <a:rPr lang="en-US" sz="2800" dirty="0">
                <a:latin typeface="Calibir"/>
              </a:rPr>
              <a:t>On the popup (as in your screenshot), choose </a:t>
            </a:r>
            <a:r>
              <a:rPr lang="en-US" sz="2800" dirty="0" err="1">
                <a:highlight>
                  <a:srgbClr val="FFFF00"/>
                </a:highlight>
                <a:latin typeface="Calibir"/>
              </a:rPr>
              <a:t>Skillable</a:t>
            </a:r>
            <a:r>
              <a:rPr lang="en-US" sz="2800" dirty="0">
                <a:highlight>
                  <a:srgbClr val="FFFF00"/>
                </a:highlight>
                <a:latin typeface="Calibir"/>
              </a:rPr>
              <a:t> Account</a:t>
            </a:r>
            <a:r>
              <a:rPr lang="en-US" sz="2800" dirty="0">
                <a:latin typeface="Calibir"/>
              </a:rPr>
              <a:t>.</a:t>
            </a:r>
          </a:p>
          <a:p>
            <a:pPr marL="971550" lvl="1" indent="-514350">
              <a:lnSpc>
                <a:spcPct val="150000"/>
              </a:lnSpc>
              <a:buFont typeface="+mj-lt"/>
              <a:buAutoNum type="arabicPeriod"/>
            </a:pPr>
            <a:r>
              <a:rPr lang="en-US" sz="2800" dirty="0">
                <a:latin typeface="Calibir"/>
              </a:rPr>
              <a:t>Enter the username/email and password you created when you first registered with the key.</a:t>
            </a:r>
          </a:p>
          <a:p>
            <a:pPr marL="971550" lvl="1" indent="-514350">
              <a:lnSpc>
                <a:spcPct val="150000"/>
              </a:lnSpc>
              <a:buFont typeface="+mj-lt"/>
              <a:buAutoNum type="arabicPeriod"/>
            </a:pPr>
            <a:r>
              <a:rPr lang="en-US" sz="2800" dirty="0">
                <a:latin typeface="Calibir"/>
              </a:rPr>
              <a:t>Once logged in, you’ll see </a:t>
            </a:r>
            <a:br>
              <a:rPr lang="en-US" sz="2800" dirty="0">
                <a:latin typeface="Calibir"/>
              </a:rPr>
            </a:br>
            <a:r>
              <a:rPr lang="en-US" sz="2800" dirty="0">
                <a:latin typeface="Calibir"/>
              </a:rPr>
              <a:t>your training dashboard → </a:t>
            </a:r>
            <a:br>
              <a:rPr lang="en-US" sz="2800" dirty="0">
                <a:latin typeface="Calibir"/>
              </a:rPr>
            </a:br>
            <a:r>
              <a:rPr lang="en-US" sz="2800" dirty="0">
                <a:latin typeface="Calibir"/>
              </a:rPr>
              <a:t>then launch Explore Azure </a:t>
            </a:r>
            <a:br>
              <a:rPr lang="en-US" sz="2800" dirty="0">
                <a:latin typeface="Calibir"/>
              </a:rPr>
            </a:br>
            <a:r>
              <a:rPr lang="en-US" sz="2800" dirty="0">
                <a:latin typeface="Calibir"/>
              </a:rPr>
              <a:t>SQL Database.</a:t>
            </a:r>
          </a:p>
        </p:txBody>
      </p:sp>
      <p:pic>
        <p:nvPicPr>
          <p:cNvPr id="10" name="Picture 9">
            <a:extLst>
              <a:ext uri="{FF2B5EF4-FFF2-40B4-BE49-F238E27FC236}">
                <a16:creationId xmlns:a16="http://schemas.microsoft.com/office/drawing/2014/main" id="{5053A05C-23D6-EE71-AC47-157B7926D73E}"/>
              </a:ext>
            </a:extLst>
          </p:cNvPr>
          <p:cNvPicPr>
            <a:picLocks noChangeAspect="1"/>
          </p:cNvPicPr>
          <p:nvPr/>
        </p:nvPicPr>
        <p:blipFill>
          <a:blip r:embed="rId3"/>
          <a:srcRect l="34483" t="36054" r="36322" b="24108"/>
          <a:stretch>
            <a:fillRect/>
          </a:stretch>
        </p:blipFill>
        <p:spPr>
          <a:xfrm>
            <a:off x="5181600" y="3816642"/>
            <a:ext cx="3962400" cy="3041358"/>
          </a:xfrm>
          <a:prstGeom prst="rect">
            <a:avLst/>
          </a:prstGeom>
        </p:spPr>
      </p:pic>
      <p:sp>
        <p:nvSpPr>
          <p:cNvPr id="11" name="Rectangle: Rounded Corners 10">
            <a:extLst>
              <a:ext uri="{FF2B5EF4-FFF2-40B4-BE49-F238E27FC236}">
                <a16:creationId xmlns:a16="http://schemas.microsoft.com/office/drawing/2014/main" id="{F52FEAA7-DCCF-7FCE-AAAE-74B2118B8199}"/>
              </a:ext>
            </a:extLst>
          </p:cNvPr>
          <p:cNvSpPr/>
          <p:nvPr/>
        </p:nvSpPr>
        <p:spPr>
          <a:xfrm>
            <a:off x="5286703" y="5875283"/>
            <a:ext cx="3731173" cy="694297"/>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9752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C4B13F1-8006-751B-6256-2E6EA564AC1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60560C8-505B-0D9E-92B6-5432E4D13646}"/>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B64BC23A-0D88-B887-93F9-9CD807532ADD}"/>
              </a:ext>
            </a:extLst>
          </p:cNvPr>
          <p:cNvSpPr>
            <a:spLocks noGrp="1"/>
          </p:cNvSpPr>
          <p:nvPr>
            <p:ph type="sldNum" sz="quarter" idx="4"/>
          </p:nvPr>
        </p:nvSpPr>
        <p:spPr/>
        <p:txBody>
          <a:bodyPr/>
          <a:lstStyle/>
          <a:p>
            <a:fld id="{16A89BA3-132D-40E1-AAB4-CDCD0A14C216}" type="slidenum">
              <a:rPr lang="en-AU" smtClean="0"/>
              <a:pPr/>
              <a:t>4</a:t>
            </a:fld>
            <a:r>
              <a:rPr lang="en-AU"/>
              <a:t>  |</a:t>
            </a:r>
            <a:endParaRPr lang="en-AU" dirty="0"/>
          </a:p>
        </p:txBody>
      </p:sp>
      <p:sp>
        <p:nvSpPr>
          <p:cNvPr id="9" name="Text Placeholder 3">
            <a:extLst>
              <a:ext uri="{FF2B5EF4-FFF2-40B4-BE49-F238E27FC236}">
                <a16:creationId xmlns:a16="http://schemas.microsoft.com/office/drawing/2014/main" id="{163DBAB1-50B4-1B8A-E73E-D1DC3A3DC78C}"/>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8DC7B63-FACA-7370-9B51-7AF7958ACE16}"/>
              </a:ext>
            </a:extLst>
          </p:cNvPr>
          <p:cNvSpPr txBox="1"/>
          <p:nvPr/>
        </p:nvSpPr>
        <p:spPr>
          <a:xfrm>
            <a:off x="0" y="1325036"/>
            <a:ext cx="9144000" cy="1964512"/>
          </a:xfrm>
          <a:prstGeom prst="rect">
            <a:avLst/>
          </a:prstGeom>
          <a:noFill/>
        </p:spPr>
        <p:txBody>
          <a:bodyPr wrap="square">
            <a:spAutoFit/>
          </a:bodyPr>
          <a:lstStyle/>
          <a:p>
            <a:pPr lvl="1">
              <a:lnSpc>
                <a:spcPct val="150000"/>
              </a:lnSpc>
            </a:pPr>
            <a:r>
              <a:rPr lang="en-US" sz="2800" dirty="0">
                <a:latin typeface="Calibir"/>
              </a:rPr>
              <a:t>Don’t pick Microsoft Account or Entra ID unless your lab instructions specifically require it — those are for enterprise logins.</a:t>
            </a:r>
          </a:p>
        </p:txBody>
      </p:sp>
      <p:pic>
        <p:nvPicPr>
          <p:cNvPr id="2" name="Picture 1">
            <a:extLst>
              <a:ext uri="{FF2B5EF4-FFF2-40B4-BE49-F238E27FC236}">
                <a16:creationId xmlns:a16="http://schemas.microsoft.com/office/drawing/2014/main" id="{C96D3C3C-EBC7-BCD9-0A8B-34CFADBC00B7}"/>
              </a:ext>
            </a:extLst>
          </p:cNvPr>
          <p:cNvPicPr>
            <a:picLocks noChangeAspect="1"/>
          </p:cNvPicPr>
          <p:nvPr/>
        </p:nvPicPr>
        <p:blipFill>
          <a:blip r:embed="rId3"/>
          <a:srcRect l="34483" t="36054" r="36322" b="24108"/>
          <a:stretch>
            <a:fillRect/>
          </a:stretch>
        </p:blipFill>
        <p:spPr>
          <a:xfrm>
            <a:off x="5181600" y="3816642"/>
            <a:ext cx="3962400" cy="3041358"/>
          </a:xfrm>
          <a:prstGeom prst="rect">
            <a:avLst/>
          </a:prstGeom>
        </p:spPr>
      </p:pic>
      <p:sp>
        <p:nvSpPr>
          <p:cNvPr id="6" name="Rectangle: Rounded Corners 5">
            <a:extLst>
              <a:ext uri="{FF2B5EF4-FFF2-40B4-BE49-F238E27FC236}">
                <a16:creationId xmlns:a16="http://schemas.microsoft.com/office/drawing/2014/main" id="{9B7C4369-8114-93D2-C741-85A11A8AECF5}"/>
              </a:ext>
            </a:extLst>
          </p:cNvPr>
          <p:cNvSpPr/>
          <p:nvPr/>
        </p:nvSpPr>
        <p:spPr>
          <a:xfrm>
            <a:off x="5286703" y="5875283"/>
            <a:ext cx="3731173" cy="694297"/>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A12B2FB-4912-C2AA-7D08-139BC120FFE3}"/>
              </a:ext>
            </a:extLst>
          </p:cNvPr>
          <p:cNvSpPr txBox="1"/>
          <p:nvPr/>
        </p:nvSpPr>
        <p:spPr>
          <a:xfrm>
            <a:off x="0" y="604807"/>
            <a:ext cx="6989379" cy="671851"/>
          </a:xfrm>
          <a:prstGeom prst="rect">
            <a:avLst/>
          </a:prstGeom>
          <a:solidFill>
            <a:schemeClr val="bg1"/>
          </a:solid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highlight>
                  <a:srgbClr val="FFFF00"/>
                </a:highlight>
                <a:latin typeface="Calibir"/>
              </a:rPr>
              <a:t>If already registered and you want to log in</a:t>
            </a:r>
          </a:p>
        </p:txBody>
      </p:sp>
    </p:spTree>
    <p:extLst>
      <p:ext uri="{BB962C8B-B14F-4D97-AF65-F5344CB8AC3E}">
        <p14:creationId xmlns:p14="http://schemas.microsoft.com/office/powerpoint/2010/main" val="176954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DBA0F7C-BED2-1A10-AD77-A3A0467F307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DEE1EE-F734-8BDD-363A-BB10BF495DC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E7FC96E-5D3D-5846-1621-EAB73004A771}"/>
              </a:ext>
            </a:extLst>
          </p:cNvPr>
          <p:cNvSpPr>
            <a:spLocks noGrp="1"/>
          </p:cNvSpPr>
          <p:nvPr>
            <p:ph type="sldNum" sz="quarter" idx="4"/>
          </p:nvPr>
        </p:nvSpPr>
        <p:spPr/>
        <p:txBody>
          <a:bodyPr/>
          <a:lstStyle/>
          <a:p>
            <a:fld id="{16A89BA3-132D-40E1-AAB4-CDCD0A14C216}" type="slidenum">
              <a:rPr lang="en-AU" smtClean="0"/>
              <a:pPr/>
              <a:t>5</a:t>
            </a:fld>
            <a:r>
              <a:rPr lang="en-AU"/>
              <a:t>  |</a:t>
            </a:r>
            <a:endParaRPr lang="en-AU" dirty="0"/>
          </a:p>
        </p:txBody>
      </p:sp>
      <p:sp>
        <p:nvSpPr>
          <p:cNvPr id="9" name="Text Placeholder 3">
            <a:extLst>
              <a:ext uri="{FF2B5EF4-FFF2-40B4-BE49-F238E27FC236}">
                <a16:creationId xmlns:a16="http://schemas.microsoft.com/office/drawing/2014/main" id="{BB97B283-CADB-D7D5-63A3-95FFB836EF67}"/>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21B5D358-04BB-B3AC-02FF-5A88CBB0446C}"/>
              </a:ext>
            </a:extLst>
          </p:cNvPr>
          <p:cNvPicPr>
            <a:picLocks noChangeAspect="1"/>
          </p:cNvPicPr>
          <p:nvPr/>
        </p:nvPicPr>
        <p:blipFill>
          <a:blip r:embed="rId3"/>
          <a:srcRect b="16948"/>
          <a:stretch>
            <a:fillRect/>
          </a:stretch>
        </p:blipFill>
        <p:spPr>
          <a:xfrm>
            <a:off x="0" y="811320"/>
            <a:ext cx="9144000" cy="4271798"/>
          </a:xfrm>
          <a:prstGeom prst="rect">
            <a:avLst/>
          </a:prstGeom>
          <a:ln>
            <a:solidFill>
              <a:schemeClr val="accent1"/>
            </a:solidFill>
          </a:ln>
        </p:spPr>
      </p:pic>
      <p:sp>
        <p:nvSpPr>
          <p:cNvPr id="10" name="Rectangle: Rounded Corners 9">
            <a:extLst>
              <a:ext uri="{FF2B5EF4-FFF2-40B4-BE49-F238E27FC236}">
                <a16:creationId xmlns:a16="http://schemas.microsoft.com/office/drawing/2014/main" id="{8E613094-7CC7-CF78-572F-EBC068480027}"/>
              </a:ext>
            </a:extLst>
          </p:cNvPr>
          <p:cNvSpPr/>
          <p:nvPr/>
        </p:nvSpPr>
        <p:spPr>
          <a:xfrm>
            <a:off x="1002182" y="3490372"/>
            <a:ext cx="1192378" cy="246221"/>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995BBE3E-4C5A-4578-83E3-4594D04B97CF}"/>
              </a:ext>
            </a:extLst>
          </p:cNvPr>
          <p:cNvPicPr>
            <a:picLocks noChangeAspect="1"/>
          </p:cNvPicPr>
          <p:nvPr/>
        </p:nvPicPr>
        <p:blipFill>
          <a:blip r:embed="rId4"/>
          <a:srcRect t="36284" r="59247" b="41159"/>
          <a:stretch>
            <a:fillRect/>
          </a:stretch>
        </p:blipFill>
        <p:spPr>
          <a:xfrm>
            <a:off x="0" y="5379431"/>
            <a:ext cx="3726426" cy="1160207"/>
          </a:xfrm>
          <a:prstGeom prst="rect">
            <a:avLst/>
          </a:prstGeom>
          <a:ln>
            <a:solidFill>
              <a:schemeClr val="accent1"/>
            </a:solidFill>
          </a:ln>
        </p:spPr>
      </p:pic>
      <p:cxnSp>
        <p:nvCxnSpPr>
          <p:cNvPr id="14" name="Connector: Elbow 13">
            <a:extLst>
              <a:ext uri="{FF2B5EF4-FFF2-40B4-BE49-F238E27FC236}">
                <a16:creationId xmlns:a16="http://schemas.microsoft.com/office/drawing/2014/main" id="{1AC8D17E-750B-F482-C0D6-84C7DB3F2036}"/>
              </a:ext>
            </a:extLst>
          </p:cNvPr>
          <p:cNvCxnSpPr>
            <a:stCxn id="8" idx="2"/>
            <a:endCxn id="12" idx="3"/>
          </p:cNvCxnSpPr>
          <p:nvPr/>
        </p:nvCxnSpPr>
        <p:spPr>
          <a:xfrm rot="5400000">
            <a:off x="3711005" y="5098539"/>
            <a:ext cx="876417" cy="845574"/>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BF7AC0D-46B2-5A4D-D4BE-037FF8632D4D}"/>
              </a:ext>
            </a:extLst>
          </p:cNvPr>
          <p:cNvSpPr txBox="1"/>
          <p:nvPr/>
        </p:nvSpPr>
        <p:spPr>
          <a:xfrm>
            <a:off x="832757" y="5886516"/>
            <a:ext cx="4655574" cy="369332"/>
          </a:xfrm>
          <a:prstGeom prst="rect">
            <a:avLst/>
          </a:prstGeom>
          <a:noFill/>
        </p:spPr>
        <p:txBody>
          <a:bodyPr wrap="square">
            <a:spAutoFit/>
          </a:bodyPr>
          <a:lstStyle/>
          <a:p>
            <a:r>
              <a:rPr lang="en-US" altLang="en-US" dirty="0">
                <a:highlight>
                  <a:srgbClr val="FFFF00"/>
                </a:highlight>
                <a:latin typeface="Calibir"/>
              </a:rPr>
              <a:t>39595D4F29DCCDC7</a:t>
            </a:r>
            <a:endParaRPr lang="en-US" dirty="0"/>
          </a:p>
        </p:txBody>
      </p:sp>
      <p:sp>
        <p:nvSpPr>
          <p:cNvPr id="17" name="TextBox 16">
            <a:extLst>
              <a:ext uri="{FF2B5EF4-FFF2-40B4-BE49-F238E27FC236}">
                <a16:creationId xmlns:a16="http://schemas.microsoft.com/office/drawing/2014/main" id="{38367DF0-FCE5-2F6C-B2D1-22B1F548FCE8}"/>
              </a:ext>
            </a:extLst>
          </p:cNvPr>
          <p:cNvSpPr txBox="1"/>
          <p:nvPr/>
        </p:nvSpPr>
        <p:spPr>
          <a:xfrm>
            <a:off x="1" y="604807"/>
            <a:ext cx="6872748" cy="671851"/>
          </a:xfrm>
          <a:prstGeom prst="rect">
            <a:avLst/>
          </a:prstGeom>
          <a:solidFill>
            <a:schemeClr val="bg1"/>
          </a:solid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highlight>
                  <a:srgbClr val="FFFF00"/>
                </a:highlight>
                <a:latin typeface="Calibir"/>
              </a:rPr>
              <a:t>If already registered and you want to log in</a:t>
            </a:r>
          </a:p>
        </p:txBody>
      </p:sp>
      <p:sp>
        <p:nvSpPr>
          <p:cNvPr id="5" name="TextBox 4">
            <a:extLst>
              <a:ext uri="{FF2B5EF4-FFF2-40B4-BE49-F238E27FC236}">
                <a16:creationId xmlns:a16="http://schemas.microsoft.com/office/drawing/2014/main" id="{9DE8A288-4170-71F4-F132-820DCEB4026B}"/>
              </a:ext>
            </a:extLst>
          </p:cNvPr>
          <p:cNvSpPr txBox="1"/>
          <p:nvPr/>
        </p:nvSpPr>
        <p:spPr>
          <a:xfrm>
            <a:off x="4962832" y="5883861"/>
            <a:ext cx="2490020" cy="369332"/>
          </a:xfrm>
          <a:prstGeom prst="rect">
            <a:avLst/>
          </a:prstGeom>
          <a:noFill/>
        </p:spPr>
        <p:txBody>
          <a:bodyPr wrap="square">
            <a:spAutoFit/>
          </a:bodyPr>
          <a:lstStyle/>
          <a:p>
            <a:r>
              <a:rPr lang="en-US" altLang="en-US" dirty="0">
                <a:highlight>
                  <a:srgbClr val="FFFF00"/>
                </a:highlight>
                <a:latin typeface="Calibir"/>
              </a:rPr>
              <a:t>39595D4F29DCCDC7</a:t>
            </a:r>
            <a:endParaRPr lang="en-US" dirty="0"/>
          </a:p>
        </p:txBody>
      </p:sp>
    </p:spTree>
    <p:extLst>
      <p:ext uri="{BB962C8B-B14F-4D97-AF65-F5344CB8AC3E}">
        <p14:creationId xmlns:p14="http://schemas.microsoft.com/office/powerpoint/2010/main" val="3280310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69C3CE2-FD55-6078-39FB-4433E6B29C0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FEAF0C6-D0F9-2B11-2668-CAC54870AAC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76347E6-6CF3-0559-D805-EC44AB7EAB79}"/>
              </a:ext>
            </a:extLst>
          </p:cNvPr>
          <p:cNvSpPr>
            <a:spLocks noGrp="1"/>
          </p:cNvSpPr>
          <p:nvPr>
            <p:ph type="sldNum" sz="quarter" idx="4"/>
          </p:nvPr>
        </p:nvSpPr>
        <p:spPr/>
        <p:txBody>
          <a:bodyPr/>
          <a:lstStyle/>
          <a:p>
            <a:fld id="{16A89BA3-132D-40E1-AAB4-CDCD0A14C216}" type="slidenum">
              <a:rPr lang="en-AU" smtClean="0"/>
              <a:pPr/>
              <a:t>6</a:t>
            </a:fld>
            <a:r>
              <a:rPr lang="en-AU"/>
              <a:t>  |</a:t>
            </a:r>
            <a:endParaRPr lang="en-AU" dirty="0"/>
          </a:p>
        </p:txBody>
      </p:sp>
      <p:sp>
        <p:nvSpPr>
          <p:cNvPr id="9" name="Text Placeholder 3">
            <a:extLst>
              <a:ext uri="{FF2B5EF4-FFF2-40B4-BE49-F238E27FC236}">
                <a16:creationId xmlns:a16="http://schemas.microsoft.com/office/drawing/2014/main" id="{6741884A-C141-B969-E7BE-7D8457B06652}"/>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820AC34D-92E1-7C57-0405-6936D37FF8CD}"/>
              </a:ext>
            </a:extLst>
          </p:cNvPr>
          <p:cNvPicPr>
            <a:picLocks noChangeAspect="1"/>
          </p:cNvPicPr>
          <p:nvPr/>
        </p:nvPicPr>
        <p:blipFill>
          <a:blip r:embed="rId3"/>
          <a:srcRect t="8757" b="36762"/>
          <a:stretch>
            <a:fillRect/>
          </a:stretch>
        </p:blipFill>
        <p:spPr>
          <a:xfrm>
            <a:off x="0" y="2027903"/>
            <a:ext cx="9144000" cy="2802194"/>
          </a:xfrm>
          <a:prstGeom prst="rect">
            <a:avLst/>
          </a:prstGeom>
        </p:spPr>
      </p:pic>
      <p:sp>
        <p:nvSpPr>
          <p:cNvPr id="5" name="TextBox 4">
            <a:extLst>
              <a:ext uri="{FF2B5EF4-FFF2-40B4-BE49-F238E27FC236}">
                <a16:creationId xmlns:a16="http://schemas.microsoft.com/office/drawing/2014/main" id="{EE269BEB-851D-7825-F16C-EC7F88688E9F}"/>
              </a:ext>
            </a:extLst>
          </p:cNvPr>
          <p:cNvSpPr txBox="1"/>
          <p:nvPr/>
        </p:nvSpPr>
        <p:spPr>
          <a:xfrm>
            <a:off x="832757" y="4012125"/>
            <a:ext cx="2015358" cy="338554"/>
          </a:xfrm>
          <a:prstGeom prst="rect">
            <a:avLst/>
          </a:prstGeom>
          <a:solidFill>
            <a:schemeClr val="bg1"/>
          </a:solidFill>
        </p:spPr>
        <p:txBody>
          <a:bodyPr wrap="square">
            <a:spAutoFit/>
          </a:bodyPr>
          <a:lstStyle/>
          <a:p>
            <a:r>
              <a:rPr lang="en-US" altLang="en-US" sz="1600" dirty="0">
                <a:latin typeface="Calibir"/>
              </a:rPr>
              <a:t>39595D4F29DCCDC7</a:t>
            </a:r>
            <a:endParaRPr lang="en-US" sz="1600" dirty="0"/>
          </a:p>
        </p:txBody>
      </p:sp>
      <p:sp>
        <p:nvSpPr>
          <p:cNvPr id="7" name="Rectangle 6">
            <a:extLst>
              <a:ext uri="{FF2B5EF4-FFF2-40B4-BE49-F238E27FC236}">
                <a16:creationId xmlns:a16="http://schemas.microsoft.com/office/drawing/2014/main" id="{2F5391D9-F837-7A87-BCCF-88620EEF9D3E}"/>
              </a:ext>
            </a:extLst>
          </p:cNvPr>
          <p:cNvSpPr/>
          <p:nvPr/>
        </p:nvSpPr>
        <p:spPr>
          <a:xfrm>
            <a:off x="890953" y="4091353"/>
            <a:ext cx="2684585" cy="199292"/>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0677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33DD0B0-9236-7D8C-881C-7EF4975D141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4B3EE9F-6340-E43A-8EDB-66DBF3FD30C8}"/>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B05AC9B-1255-D14D-7887-3F68C1ED2DC2}"/>
              </a:ext>
            </a:extLst>
          </p:cNvPr>
          <p:cNvSpPr>
            <a:spLocks noGrp="1"/>
          </p:cNvSpPr>
          <p:nvPr>
            <p:ph type="sldNum" sz="quarter" idx="4"/>
          </p:nvPr>
        </p:nvSpPr>
        <p:spPr/>
        <p:txBody>
          <a:bodyPr/>
          <a:lstStyle/>
          <a:p>
            <a:fld id="{16A89BA3-132D-40E1-AAB4-CDCD0A14C216}" type="slidenum">
              <a:rPr lang="en-AU" smtClean="0"/>
              <a:pPr/>
              <a:t>7</a:t>
            </a:fld>
            <a:r>
              <a:rPr lang="en-AU"/>
              <a:t>  |</a:t>
            </a:r>
            <a:endParaRPr lang="en-AU" dirty="0"/>
          </a:p>
        </p:txBody>
      </p:sp>
      <p:sp>
        <p:nvSpPr>
          <p:cNvPr id="7" name="TextBox 6">
            <a:extLst>
              <a:ext uri="{FF2B5EF4-FFF2-40B4-BE49-F238E27FC236}">
                <a16:creationId xmlns:a16="http://schemas.microsoft.com/office/drawing/2014/main" id="{4D49C6E1-3B1B-DB4D-8FE2-96CA4599E97C}"/>
              </a:ext>
            </a:extLst>
          </p:cNvPr>
          <p:cNvSpPr txBox="1"/>
          <p:nvPr/>
        </p:nvSpPr>
        <p:spPr>
          <a:xfrm>
            <a:off x="0" y="604807"/>
            <a:ext cx="9144000" cy="3031086"/>
          </a:xfrm>
          <a:prstGeom prst="rect">
            <a:avLst/>
          </a:prstGeom>
          <a:solidFill>
            <a:schemeClr val="bg1"/>
          </a:solid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600" dirty="0">
                <a:latin typeface="Calibir"/>
              </a:rPr>
              <a:t>Launch the lab “Explore Azure SQL Database”</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600" dirty="0">
                <a:latin typeface="Calibir"/>
              </a:rPr>
              <a:t>Use the lab’s Azure username/password to sign in to the Azure Portal.</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600" dirty="0">
                <a:latin typeface="Calibir"/>
              </a:rPr>
              <a:t>Click Start → Open Azure Portal and sign in with those credentials.</a:t>
            </a:r>
          </a:p>
        </p:txBody>
      </p:sp>
      <p:sp>
        <p:nvSpPr>
          <p:cNvPr id="9" name="Text Placeholder 3">
            <a:extLst>
              <a:ext uri="{FF2B5EF4-FFF2-40B4-BE49-F238E27FC236}">
                <a16:creationId xmlns:a16="http://schemas.microsoft.com/office/drawing/2014/main" id="{1A5783F7-5B18-169D-E734-3586505EB90D}"/>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191F5474-82D5-619E-F2F0-EA8C3A74D60A}"/>
              </a:ext>
            </a:extLst>
          </p:cNvPr>
          <p:cNvPicPr>
            <a:picLocks noChangeAspect="1"/>
          </p:cNvPicPr>
          <p:nvPr/>
        </p:nvPicPr>
        <p:blipFill>
          <a:blip r:embed="rId3"/>
          <a:srcRect t="10435" b="23441"/>
          <a:stretch>
            <a:fillRect/>
          </a:stretch>
        </p:blipFill>
        <p:spPr>
          <a:xfrm>
            <a:off x="373566" y="3642635"/>
            <a:ext cx="8396868" cy="3123225"/>
          </a:xfrm>
          <a:prstGeom prst="rect">
            <a:avLst/>
          </a:prstGeom>
        </p:spPr>
      </p:pic>
    </p:spTree>
    <p:extLst>
      <p:ext uri="{BB962C8B-B14F-4D97-AF65-F5344CB8AC3E}">
        <p14:creationId xmlns:p14="http://schemas.microsoft.com/office/powerpoint/2010/main" val="154110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19A4016-F389-0AC1-C93F-1CFA9BFFDA0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0865FC7-D7DA-C93D-8110-D6CB1D9EE35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922EB874-E7D3-CA92-B8DC-C9E6EDFE2028}"/>
              </a:ext>
            </a:extLst>
          </p:cNvPr>
          <p:cNvSpPr>
            <a:spLocks noGrp="1"/>
          </p:cNvSpPr>
          <p:nvPr>
            <p:ph type="sldNum" sz="quarter" idx="4"/>
          </p:nvPr>
        </p:nvSpPr>
        <p:spPr/>
        <p:txBody>
          <a:bodyPr/>
          <a:lstStyle/>
          <a:p>
            <a:fld id="{16A89BA3-132D-40E1-AAB4-CDCD0A14C216}" type="slidenum">
              <a:rPr lang="en-AU" smtClean="0"/>
              <a:pPr/>
              <a:t>8</a:t>
            </a:fld>
            <a:r>
              <a:rPr lang="en-AU"/>
              <a:t>  |</a:t>
            </a:r>
            <a:endParaRPr lang="en-AU" dirty="0"/>
          </a:p>
        </p:txBody>
      </p:sp>
      <p:sp>
        <p:nvSpPr>
          <p:cNvPr id="9" name="Text Placeholder 3">
            <a:extLst>
              <a:ext uri="{FF2B5EF4-FFF2-40B4-BE49-F238E27FC236}">
                <a16:creationId xmlns:a16="http://schemas.microsoft.com/office/drawing/2014/main" id="{B8DCD27D-58E1-1768-EC33-05A37BC6EECD}"/>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B9342BA1-D74B-6403-3D63-F5FCAF821641}"/>
              </a:ext>
            </a:extLst>
          </p:cNvPr>
          <p:cNvPicPr>
            <a:picLocks noChangeAspect="1"/>
          </p:cNvPicPr>
          <p:nvPr/>
        </p:nvPicPr>
        <p:blipFill>
          <a:blip r:embed="rId3"/>
          <a:srcRect b="6532"/>
          <a:stretch>
            <a:fillRect/>
          </a:stretch>
        </p:blipFill>
        <p:spPr>
          <a:xfrm>
            <a:off x="0" y="1103471"/>
            <a:ext cx="9144000" cy="4807570"/>
          </a:xfrm>
          <a:prstGeom prst="rect">
            <a:avLst/>
          </a:prstGeom>
        </p:spPr>
      </p:pic>
    </p:spTree>
    <p:extLst>
      <p:ext uri="{BB962C8B-B14F-4D97-AF65-F5344CB8AC3E}">
        <p14:creationId xmlns:p14="http://schemas.microsoft.com/office/powerpoint/2010/main" val="3128756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D25DB20-8AF7-B4C3-F083-02B9FE2454C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8098770-99BC-D3EF-085F-40AE63384CD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FE927FA-3891-9F4E-E079-9AA591B3ED77}"/>
              </a:ext>
            </a:extLst>
          </p:cNvPr>
          <p:cNvSpPr>
            <a:spLocks noGrp="1"/>
          </p:cNvSpPr>
          <p:nvPr>
            <p:ph type="sldNum" sz="quarter" idx="4"/>
          </p:nvPr>
        </p:nvSpPr>
        <p:spPr/>
        <p:txBody>
          <a:bodyPr/>
          <a:lstStyle/>
          <a:p>
            <a:fld id="{16A89BA3-132D-40E1-AAB4-CDCD0A14C216}" type="slidenum">
              <a:rPr lang="en-AU" smtClean="0"/>
              <a:pPr/>
              <a:t>9</a:t>
            </a:fld>
            <a:r>
              <a:rPr lang="en-AU"/>
              <a:t>  |</a:t>
            </a:r>
            <a:endParaRPr lang="en-AU" dirty="0"/>
          </a:p>
        </p:txBody>
      </p:sp>
      <p:sp>
        <p:nvSpPr>
          <p:cNvPr id="9" name="Text Placeholder 3">
            <a:extLst>
              <a:ext uri="{FF2B5EF4-FFF2-40B4-BE49-F238E27FC236}">
                <a16:creationId xmlns:a16="http://schemas.microsoft.com/office/drawing/2014/main" id="{0A4F4DB8-90A7-C6A0-A9FB-3AF931558672}"/>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B3B8D99-897F-B437-168C-170B4DD48467}"/>
              </a:ext>
            </a:extLst>
          </p:cNvPr>
          <p:cNvSpPr txBox="1"/>
          <p:nvPr/>
        </p:nvSpPr>
        <p:spPr>
          <a:xfrm>
            <a:off x="0" y="2335281"/>
            <a:ext cx="9065942" cy="1964512"/>
          </a:xfrm>
          <a:prstGeom prst="rect">
            <a:avLst/>
          </a:prstGeom>
          <a:noFill/>
        </p:spPr>
        <p:txBody>
          <a:bodyPr wrap="square" rtlCol="0">
            <a:spAutoFit/>
          </a:bodyPr>
          <a:lstStyle/>
          <a:p>
            <a:pPr>
              <a:lnSpc>
                <a:spcPct val="150000"/>
              </a:lnSpc>
            </a:pPr>
            <a:r>
              <a:rPr lang="en-US" sz="2800" dirty="0">
                <a:latin typeface="Calibir"/>
              </a:rPr>
              <a:t>Follow the on-screen instructions in the right-hand side window of the virtual lab to log in and complete the tasks as instructed</a:t>
            </a:r>
            <a:endParaRPr lang="en-US" sz="2800" dirty="0">
              <a:solidFill>
                <a:srgbClr val="3D3935"/>
              </a:solidFill>
              <a:latin typeface="Calibir"/>
            </a:endParaRPr>
          </a:p>
        </p:txBody>
      </p:sp>
    </p:spTree>
    <p:extLst>
      <p:ext uri="{BB962C8B-B14F-4D97-AF65-F5344CB8AC3E}">
        <p14:creationId xmlns:p14="http://schemas.microsoft.com/office/powerpoint/2010/main" val="2800760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2B96316-8C4F-598F-852C-7A157BAE0BE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F20DA72-A2D5-2E40-EFEA-29E79E4F43E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1141BD9D-0FC1-3924-8F2E-6E3731CA2F31}"/>
              </a:ext>
            </a:extLst>
          </p:cNvPr>
          <p:cNvSpPr>
            <a:spLocks noGrp="1"/>
          </p:cNvSpPr>
          <p:nvPr>
            <p:ph type="sldNum" sz="quarter" idx="4"/>
          </p:nvPr>
        </p:nvSpPr>
        <p:spPr/>
        <p:txBody>
          <a:bodyPr/>
          <a:lstStyle/>
          <a:p>
            <a:fld id="{16A89BA3-132D-40E1-AAB4-CDCD0A14C216}" type="slidenum">
              <a:rPr lang="en-AU" smtClean="0"/>
              <a:pPr/>
              <a:t>10</a:t>
            </a:fld>
            <a:r>
              <a:rPr lang="en-AU"/>
              <a:t>  |</a:t>
            </a:r>
            <a:endParaRPr lang="en-AU" dirty="0"/>
          </a:p>
        </p:txBody>
      </p:sp>
      <p:sp>
        <p:nvSpPr>
          <p:cNvPr id="9" name="Text Placeholder 3">
            <a:extLst>
              <a:ext uri="{FF2B5EF4-FFF2-40B4-BE49-F238E27FC236}">
                <a16:creationId xmlns:a16="http://schemas.microsoft.com/office/drawing/2014/main" id="{EDC2C559-3DA7-5618-8352-02074D84A8DC}"/>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7E15CBD-F861-A6D1-1C6D-FB8E7B558BAF}"/>
              </a:ext>
            </a:extLst>
          </p:cNvPr>
          <p:cNvSpPr txBox="1"/>
          <p:nvPr/>
        </p:nvSpPr>
        <p:spPr>
          <a:xfrm>
            <a:off x="78058" y="624468"/>
            <a:ext cx="5943601" cy="523220"/>
          </a:xfrm>
          <a:prstGeom prst="rect">
            <a:avLst/>
          </a:prstGeom>
          <a:noFill/>
        </p:spPr>
        <p:txBody>
          <a:bodyPr wrap="square" rtlCol="0">
            <a:spAutoFit/>
          </a:bodyPr>
          <a:lstStyle/>
          <a:p>
            <a:r>
              <a:rPr lang="en-US" sz="2800" dirty="0">
                <a:solidFill>
                  <a:srgbClr val="3D3935"/>
                </a:solidFill>
                <a:latin typeface="Calibir"/>
              </a:rPr>
              <a:t>Click on Password and Press Enter</a:t>
            </a:r>
          </a:p>
        </p:txBody>
      </p:sp>
      <p:pic>
        <p:nvPicPr>
          <p:cNvPr id="6" name="Picture 5">
            <a:extLst>
              <a:ext uri="{FF2B5EF4-FFF2-40B4-BE49-F238E27FC236}">
                <a16:creationId xmlns:a16="http://schemas.microsoft.com/office/drawing/2014/main" id="{15BE13EC-42FF-CB62-0893-4280D984A6CD}"/>
              </a:ext>
            </a:extLst>
          </p:cNvPr>
          <p:cNvPicPr>
            <a:picLocks noChangeAspect="1"/>
          </p:cNvPicPr>
          <p:nvPr/>
        </p:nvPicPr>
        <p:blipFill>
          <a:blip r:embed="rId3"/>
          <a:srcRect b="19973"/>
          <a:stretch>
            <a:fillRect/>
          </a:stretch>
        </p:blipFill>
        <p:spPr>
          <a:xfrm>
            <a:off x="0" y="1049943"/>
            <a:ext cx="8538319" cy="3843545"/>
          </a:xfrm>
          <a:prstGeom prst="rect">
            <a:avLst/>
          </a:prstGeom>
        </p:spPr>
      </p:pic>
      <p:sp>
        <p:nvSpPr>
          <p:cNvPr id="2" name="TextBox 1">
            <a:extLst>
              <a:ext uri="{FF2B5EF4-FFF2-40B4-BE49-F238E27FC236}">
                <a16:creationId xmlns:a16="http://schemas.microsoft.com/office/drawing/2014/main" id="{F37EA0FB-7DE1-7244-59D1-27E92B97AA14}"/>
              </a:ext>
            </a:extLst>
          </p:cNvPr>
          <p:cNvSpPr txBox="1"/>
          <p:nvPr/>
        </p:nvSpPr>
        <p:spPr>
          <a:xfrm>
            <a:off x="0" y="4893488"/>
            <a:ext cx="9144000" cy="1964512"/>
          </a:xfrm>
          <a:prstGeom prst="rect">
            <a:avLst/>
          </a:prstGeom>
          <a:solidFill>
            <a:schemeClr val="accent1">
              <a:lumMod val="20000"/>
              <a:lumOff val="80000"/>
            </a:schemeClr>
          </a:solidFill>
        </p:spPr>
        <p:txBody>
          <a:bodyPr wrap="square" rtlCol="0">
            <a:spAutoFit/>
          </a:bodyPr>
          <a:lstStyle/>
          <a:p>
            <a:pPr>
              <a:lnSpc>
                <a:spcPct val="150000"/>
              </a:lnSpc>
            </a:pPr>
            <a:r>
              <a:rPr lang="en-US" sz="2800" dirty="0">
                <a:latin typeface="Calibir"/>
              </a:rPr>
              <a:t>Important: </a:t>
            </a:r>
            <a:r>
              <a:rPr lang="en-US" sz="2800" dirty="0">
                <a:highlight>
                  <a:srgbClr val="FFFF00"/>
                </a:highlight>
                <a:latin typeface="Calibir"/>
              </a:rPr>
              <a:t>Do not open Azure Portal on your browser, instead run the virtual machine and then open the Azure Portal on the virtual machine’s browser</a:t>
            </a:r>
          </a:p>
        </p:txBody>
      </p:sp>
    </p:spTree>
    <p:extLst>
      <p:ext uri="{BB962C8B-B14F-4D97-AF65-F5344CB8AC3E}">
        <p14:creationId xmlns:p14="http://schemas.microsoft.com/office/powerpoint/2010/main" val="2460749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F836E082-4C8F-69EB-9C80-26B53B15CF7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9B6B9F7-963D-952D-F2DF-A1A8C59D46C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244951E-36A8-263D-DC7D-89A265A9CD63}"/>
              </a:ext>
            </a:extLst>
          </p:cNvPr>
          <p:cNvSpPr>
            <a:spLocks noGrp="1"/>
          </p:cNvSpPr>
          <p:nvPr>
            <p:ph type="sldNum" sz="quarter" idx="4"/>
          </p:nvPr>
        </p:nvSpPr>
        <p:spPr/>
        <p:txBody>
          <a:bodyPr/>
          <a:lstStyle/>
          <a:p>
            <a:fld id="{16A89BA3-132D-40E1-AAB4-CDCD0A14C216}" type="slidenum">
              <a:rPr lang="en-AU" smtClean="0"/>
              <a:pPr/>
              <a:t>11</a:t>
            </a:fld>
            <a:r>
              <a:rPr lang="en-AU"/>
              <a:t>  |</a:t>
            </a:r>
            <a:endParaRPr lang="en-AU" dirty="0"/>
          </a:p>
        </p:txBody>
      </p:sp>
      <p:sp>
        <p:nvSpPr>
          <p:cNvPr id="9" name="Text Placeholder 3">
            <a:extLst>
              <a:ext uri="{FF2B5EF4-FFF2-40B4-BE49-F238E27FC236}">
                <a16:creationId xmlns:a16="http://schemas.microsoft.com/office/drawing/2014/main" id="{75A0D7E8-4A90-07D4-D894-F22DAABAD3A0}"/>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4208487-9C7A-68DD-638B-AA238E0D711C}"/>
              </a:ext>
            </a:extLst>
          </p:cNvPr>
          <p:cNvSpPr txBox="1"/>
          <p:nvPr/>
        </p:nvSpPr>
        <p:spPr>
          <a:xfrm>
            <a:off x="78058" y="624468"/>
            <a:ext cx="5943601" cy="523220"/>
          </a:xfrm>
          <a:prstGeom prst="rect">
            <a:avLst/>
          </a:prstGeom>
          <a:noFill/>
        </p:spPr>
        <p:txBody>
          <a:bodyPr wrap="square" rtlCol="0">
            <a:spAutoFit/>
          </a:bodyPr>
          <a:lstStyle/>
          <a:p>
            <a:r>
              <a:rPr lang="en-US" sz="2800" dirty="0">
                <a:solidFill>
                  <a:srgbClr val="3D3935"/>
                </a:solidFill>
                <a:latin typeface="Calibir"/>
              </a:rPr>
              <a:t>Click Start and Go to Edge Browser</a:t>
            </a:r>
          </a:p>
        </p:txBody>
      </p:sp>
      <p:pic>
        <p:nvPicPr>
          <p:cNvPr id="6" name="Picture 5">
            <a:extLst>
              <a:ext uri="{FF2B5EF4-FFF2-40B4-BE49-F238E27FC236}">
                <a16:creationId xmlns:a16="http://schemas.microsoft.com/office/drawing/2014/main" id="{31C4F3DE-A2DA-0A9F-21F6-053F60C8CF77}"/>
              </a:ext>
            </a:extLst>
          </p:cNvPr>
          <p:cNvPicPr>
            <a:picLocks noChangeAspect="1"/>
          </p:cNvPicPr>
          <p:nvPr/>
        </p:nvPicPr>
        <p:blipFill>
          <a:blip r:embed="rId3"/>
          <a:srcRect b="18096"/>
          <a:stretch>
            <a:fillRect/>
          </a:stretch>
        </p:blipFill>
        <p:spPr>
          <a:xfrm>
            <a:off x="1218728" y="1257149"/>
            <a:ext cx="6706543" cy="3648582"/>
          </a:xfrm>
          <a:prstGeom prst="rect">
            <a:avLst/>
          </a:prstGeom>
        </p:spPr>
      </p:pic>
      <p:sp>
        <p:nvSpPr>
          <p:cNvPr id="2" name="TextBox 1">
            <a:extLst>
              <a:ext uri="{FF2B5EF4-FFF2-40B4-BE49-F238E27FC236}">
                <a16:creationId xmlns:a16="http://schemas.microsoft.com/office/drawing/2014/main" id="{E7221B65-C474-26DC-C0A6-3EDD4500B034}"/>
              </a:ext>
            </a:extLst>
          </p:cNvPr>
          <p:cNvSpPr txBox="1"/>
          <p:nvPr/>
        </p:nvSpPr>
        <p:spPr>
          <a:xfrm>
            <a:off x="0" y="4893488"/>
            <a:ext cx="9144000" cy="1964512"/>
          </a:xfrm>
          <a:prstGeom prst="rect">
            <a:avLst/>
          </a:prstGeom>
          <a:solidFill>
            <a:schemeClr val="accent1">
              <a:lumMod val="20000"/>
              <a:lumOff val="80000"/>
            </a:schemeClr>
          </a:solidFill>
        </p:spPr>
        <p:txBody>
          <a:bodyPr wrap="square" rtlCol="0">
            <a:spAutoFit/>
          </a:bodyPr>
          <a:lstStyle/>
          <a:p>
            <a:pPr>
              <a:lnSpc>
                <a:spcPct val="150000"/>
              </a:lnSpc>
            </a:pPr>
            <a:r>
              <a:rPr lang="en-US" sz="2800" dirty="0">
                <a:latin typeface="Calibir"/>
              </a:rPr>
              <a:t>Important: </a:t>
            </a:r>
            <a:r>
              <a:rPr lang="en-US" sz="2800" dirty="0">
                <a:highlight>
                  <a:srgbClr val="FFFF00"/>
                </a:highlight>
                <a:latin typeface="Calibir"/>
              </a:rPr>
              <a:t>Do not open Azure Portal on your browser, instead run the virtual machine and then open the Azure Portal on the virtual machine’s browser</a:t>
            </a:r>
          </a:p>
        </p:txBody>
      </p:sp>
    </p:spTree>
    <p:extLst>
      <p:ext uri="{BB962C8B-B14F-4D97-AF65-F5344CB8AC3E}">
        <p14:creationId xmlns:p14="http://schemas.microsoft.com/office/powerpoint/2010/main" val="1755510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4E27CA6-D888-DFA4-817B-6D136256CD2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7B13746-0E38-193B-802D-13BBA1BD07D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94CF69B-DF97-1776-701A-0A53092BDDA8}"/>
              </a:ext>
            </a:extLst>
          </p:cNvPr>
          <p:cNvSpPr>
            <a:spLocks noGrp="1"/>
          </p:cNvSpPr>
          <p:nvPr>
            <p:ph type="sldNum" sz="quarter" idx="4"/>
          </p:nvPr>
        </p:nvSpPr>
        <p:spPr/>
        <p:txBody>
          <a:bodyPr/>
          <a:lstStyle/>
          <a:p>
            <a:fld id="{16A89BA3-132D-40E1-AAB4-CDCD0A14C216}" type="slidenum">
              <a:rPr lang="en-AU" smtClean="0"/>
              <a:pPr/>
              <a:t>12</a:t>
            </a:fld>
            <a:r>
              <a:rPr lang="en-AU"/>
              <a:t>  |</a:t>
            </a:r>
            <a:endParaRPr lang="en-AU" dirty="0"/>
          </a:p>
        </p:txBody>
      </p:sp>
      <p:sp>
        <p:nvSpPr>
          <p:cNvPr id="9" name="Text Placeholder 3">
            <a:extLst>
              <a:ext uri="{FF2B5EF4-FFF2-40B4-BE49-F238E27FC236}">
                <a16:creationId xmlns:a16="http://schemas.microsoft.com/office/drawing/2014/main" id="{A9391A80-ED50-1E9E-0C83-ECA02AB56C15}"/>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6130BCA-22A3-4671-D632-F86BDD78D123}"/>
              </a:ext>
            </a:extLst>
          </p:cNvPr>
          <p:cNvSpPr txBox="1"/>
          <p:nvPr/>
        </p:nvSpPr>
        <p:spPr>
          <a:xfrm>
            <a:off x="78058" y="624468"/>
            <a:ext cx="7382108" cy="954107"/>
          </a:xfrm>
          <a:prstGeom prst="rect">
            <a:avLst/>
          </a:prstGeom>
          <a:noFill/>
        </p:spPr>
        <p:txBody>
          <a:bodyPr wrap="square" rtlCol="0">
            <a:spAutoFit/>
          </a:bodyPr>
          <a:lstStyle/>
          <a:p>
            <a:r>
              <a:rPr lang="en-US" sz="2800" dirty="0">
                <a:solidFill>
                  <a:srgbClr val="3D3935"/>
                </a:solidFill>
                <a:latin typeface="Calibir"/>
              </a:rPr>
              <a:t>Click on Website (Portal); it is on right sidebar</a:t>
            </a:r>
          </a:p>
          <a:p>
            <a:r>
              <a:rPr lang="en-US" sz="2800" dirty="0">
                <a:solidFill>
                  <a:srgbClr val="3D3935"/>
                </a:solidFill>
                <a:latin typeface="Calibir"/>
              </a:rPr>
              <a:t>You will see this</a:t>
            </a:r>
          </a:p>
        </p:txBody>
      </p:sp>
      <p:pic>
        <p:nvPicPr>
          <p:cNvPr id="5" name="Picture 4">
            <a:extLst>
              <a:ext uri="{FF2B5EF4-FFF2-40B4-BE49-F238E27FC236}">
                <a16:creationId xmlns:a16="http://schemas.microsoft.com/office/drawing/2014/main" id="{7B95A476-4D42-421E-2389-F71006686108}"/>
              </a:ext>
            </a:extLst>
          </p:cNvPr>
          <p:cNvPicPr>
            <a:picLocks noChangeAspect="1"/>
          </p:cNvPicPr>
          <p:nvPr/>
        </p:nvPicPr>
        <p:blipFill>
          <a:blip r:embed="rId3"/>
          <a:srcRect b="22186"/>
          <a:stretch>
            <a:fillRect/>
          </a:stretch>
        </p:blipFill>
        <p:spPr>
          <a:xfrm>
            <a:off x="1490472" y="1578575"/>
            <a:ext cx="6163056" cy="3185449"/>
          </a:xfrm>
          <a:prstGeom prst="rect">
            <a:avLst/>
          </a:prstGeom>
        </p:spPr>
      </p:pic>
      <p:sp>
        <p:nvSpPr>
          <p:cNvPr id="2" name="TextBox 1">
            <a:extLst>
              <a:ext uri="{FF2B5EF4-FFF2-40B4-BE49-F238E27FC236}">
                <a16:creationId xmlns:a16="http://schemas.microsoft.com/office/drawing/2014/main" id="{84C591EB-C3AD-F0E4-EDF2-A90D6345A637}"/>
              </a:ext>
            </a:extLst>
          </p:cNvPr>
          <p:cNvSpPr txBox="1"/>
          <p:nvPr/>
        </p:nvSpPr>
        <p:spPr>
          <a:xfrm>
            <a:off x="0" y="4893488"/>
            <a:ext cx="9144000" cy="1964512"/>
          </a:xfrm>
          <a:prstGeom prst="rect">
            <a:avLst/>
          </a:prstGeom>
          <a:solidFill>
            <a:schemeClr val="accent1">
              <a:lumMod val="20000"/>
              <a:lumOff val="80000"/>
            </a:schemeClr>
          </a:solidFill>
        </p:spPr>
        <p:txBody>
          <a:bodyPr wrap="square" rtlCol="0">
            <a:spAutoFit/>
          </a:bodyPr>
          <a:lstStyle/>
          <a:p>
            <a:pPr>
              <a:lnSpc>
                <a:spcPct val="150000"/>
              </a:lnSpc>
            </a:pPr>
            <a:r>
              <a:rPr lang="en-US" sz="2800" dirty="0">
                <a:latin typeface="Calibir"/>
              </a:rPr>
              <a:t>Important: </a:t>
            </a:r>
            <a:r>
              <a:rPr lang="en-US" sz="2800" dirty="0">
                <a:highlight>
                  <a:srgbClr val="FFFF00"/>
                </a:highlight>
                <a:latin typeface="Calibir"/>
              </a:rPr>
              <a:t>Do not open Azure Portal on your browser, instead run the virtual machine and then open the Azure Portal on the virtual machine’s browser</a:t>
            </a:r>
          </a:p>
        </p:txBody>
      </p:sp>
    </p:spTree>
    <p:extLst>
      <p:ext uri="{BB962C8B-B14F-4D97-AF65-F5344CB8AC3E}">
        <p14:creationId xmlns:p14="http://schemas.microsoft.com/office/powerpoint/2010/main" val="1781578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19E515F-7685-05FA-317D-0E5FE84ECBF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96BCEAE-1473-8D71-514B-9C36C3F20E1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78B070D-5D22-6990-628E-D51154956A1B}"/>
              </a:ext>
            </a:extLst>
          </p:cNvPr>
          <p:cNvSpPr>
            <a:spLocks noGrp="1"/>
          </p:cNvSpPr>
          <p:nvPr>
            <p:ph type="sldNum" sz="quarter" idx="4"/>
          </p:nvPr>
        </p:nvSpPr>
        <p:spPr/>
        <p:txBody>
          <a:bodyPr/>
          <a:lstStyle/>
          <a:p>
            <a:fld id="{16A89BA3-132D-40E1-AAB4-CDCD0A14C216}" type="slidenum">
              <a:rPr lang="en-AU" smtClean="0"/>
              <a:pPr/>
              <a:t>13</a:t>
            </a:fld>
            <a:r>
              <a:rPr lang="en-AU"/>
              <a:t>  |</a:t>
            </a:r>
            <a:endParaRPr lang="en-AU" dirty="0"/>
          </a:p>
        </p:txBody>
      </p:sp>
      <p:sp>
        <p:nvSpPr>
          <p:cNvPr id="9" name="Text Placeholder 3">
            <a:extLst>
              <a:ext uri="{FF2B5EF4-FFF2-40B4-BE49-F238E27FC236}">
                <a16:creationId xmlns:a16="http://schemas.microsoft.com/office/drawing/2014/main" id="{1781D2F1-8AD7-34DB-E7C3-CF9BE0486380}"/>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6BF7B43-C31B-00DF-364E-2B1C0546B39B}"/>
              </a:ext>
            </a:extLst>
          </p:cNvPr>
          <p:cNvSpPr txBox="1"/>
          <p:nvPr/>
        </p:nvSpPr>
        <p:spPr>
          <a:xfrm>
            <a:off x="78058" y="624468"/>
            <a:ext cx="7382108" cy="523220"/>
          </a:xfrm>
          <a:prstGeom prst="rect">
            <a:avLst/>
          </a:prstGeom>
          <a:noFill/>
        </p:spPr>
        <p:txBody>
          <a:bodyPr wrap="square" rtlCol="0">
            <a:spAutoFit/>
          </a:bodyPr>
          <a:lstStyle/>
          <a:p>
            <a:r>
              <a:rPr lang="en-US" sz="2800" dirty="0">
                <a:solidFill>
                  <a:srgbClr val="3D3935"/>
                </a:solidFill>
                <a:latin typeface="Calibir"/>
              </a:rPr>
              <a:t>Press Enter; you will see this page</a:t>
            </a:r>
          </a:p>
        </p:txBody>
      </p:sp>
      <p:pic>
        <p:nvPicPr>
          <p:cNvPr id="6" name="Picture 5">
            <a:extLst>
              <a:ext uri="{FF2B5EF4-FFF2-40B4-BE49-F238E27FC236}">
                <a16:creationId xmlns:a16="http://schemas.microsoft.com/office/drawing/2014/main" id="{67BC59C9-7625-3F1B-C564-EDA589CE021D}"/>
              </a:ext>
            </a:extLst>
          </p:cNvPr>
          <p:cNvPicPr>
            <a:picLocks noChangeAspect="1"/>
          </p:cNvPicPr>
          <p:nvPr/>
        </p:nvPicPr>
        <p:blipFill>
          <a:blip r:embed="rId3"/>
          <a:srcRect r="35488" b="16908"/>
          <a:stretch>
            <a:fillRect/>
          </a:stretch>
        </p:blipFill>
        <p:spPr>
          <a:xfrm>
            <a:off x="1962684" y="1147688"/>
            <a:ext cx="5218631" cy="3780928"/>
          </a:xfrm>
          <a:prstGeom prst="rect">
            <a:avLst/>
          </a:prstGeom>
        </p:spPr>
      </p:pic>
      <p:sp>
        <p:nvSpPr>
          <p:cNvPr id="2" name="TextBox 1">
            <a:extLst>
              <a:ext uri="{FF2B5EF4-FFF2-40B4-BE49-F238E27FC236}">
                <a16:creationId xmlns:a16="http://schemas.microsoft.com/office/drawing/2014/main" id="{2AB3026F-DDDA-4437-A3EC-B333AEB9C5F3}"/>
              </a:ext>
            </a:extLst>
          </p:cNvPr>
          <p:cNvSpPr txBox="1"/>
          <p:nvPr/>
        </p:nvSpPr>
        <p:spPr>
          <a:xfrm>
            <a:off x="0" y="4893488"/>
            <a:ext cx="9144000" cy="1964512"/>
          </a:xfrm>
          <a:prstGeom prst="rect">
            <a:avLst/>
          </a:prstGeom>
          <a:solidFill>
            <a:schemeClr val="accent1">
              <a:lumMod val="20000"/>
              <a:lumOff val="80000"/>
            </a:schemeClr>
          </a:solidFill>
        </p:spPr>
        <p:txBody>
          <a:bodyPr wrap="square" rtlCol="0">
            <a:spAutoFit/>
          </a:bodyPr>
          <a:lstStyle/>
          <a:p>
            <a:pPr>
              <a:lnSpc>
                <a:spcPct val="150000"/>
              </a:lnSpc>
            </a:pPr>
            <a:r>
              <a:rPr lang="en-US" sz="2800" dirty="0">
                <a:latin typeface="Calibir"/>
              </a:rPr>
              <a:t>Important: </a:t>
            </a:r>
            <a:r>
              <a:rPr lang="en-US" sz="2800" dirty="0">
                <a:highlight>
                  <a:srgbClr val="FFFF00"/>
                </a:highlight>
                <a:latin typeface="Calibir"/>
              </a:rPr>
              <a:t>Do not open Azure Portal on your browser, instead run the virtual machine and then open the Azure Portal on the virtual machine’s browser</a:t>
            </a:r>
          </a:p>
        </p:txBody>
      </p:sp>
    </p:spTree>
    <p:extLst>
      <p:ext uri="{BB962C8B-B14F-4D97-AF65-F5344CB8AC3E}">
        <p14:creationId xmlns:p14="http://schemas.microsoft.com/office/powerpoint/2010/main" val="3584464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BA47582-7FAD-37DF-10D1-C7506ECC5E9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1517C3-AB47-0473-5D40-7433B0AC8DA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6BCD71B-B1C8-8FB3-ECC0-7E3BDADBCE3B}"/>
              </a:ext>
            </a:extLst>
          </p:cNvPr>
          <p:cNvSpPr>
            <a:spLocks noGrp="1"/>
          </p:cNvSpPr>
          <p:nvPr>
            <p:ph type="sldNum" sz="quarter" idx="4"/>
          </p:nvPr>
        </p:nvSpPr>
        <p:spPr/>
        <p:txBody>
          <a:bodyPr/>
          <a:lstStyle/>
          <a:p>
            <a:fld id="{16A89BA3-132D-40E1-AAB4-CDCD0A14C216}" type="slidenum">
              <a:rPr lang="en-AU" smtClean="0"/>
              <a:pPr/>
              <a:t>14</a:t>
            </a:fld>
            <a:r>
              <a:rPr lang="en-AU"/>
              <a:t>  |</a:t>
            </a:r>
            <a:endParaRPr lang="en-AU" dirty="0"/>
          </a:p>
        </p:txBody>
      </p:sp>
      <p:sp>
        <p:nvSpPr>
          <p:cNvPr id="9" name="Text Placeholder 3">
            <a:extLst>
              <a:ext uri="{FF2B5EF4-FFF2-40B4-BE49-F238E27FC236}">
                <a16:creationId xmlns:a16="http://schemas.microsoft.com/office/drawing/2014/main" id="{33A9A58B-D415-8850-994B-D60499397EDB}"/>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7E3DE61F-959E-4F7F-269A-20059D3ACB2C}"/>
              </a:ext>
            </a:extLst>
          </p:cNvPr>
          <p:cNvSpPr txBox="1"/>
          <p:nvPr/>
        </p:nvSpPr>
        <p:spPr>
          <a:xfrm>
            <a:off x="78058" y="624468"/>
            <a:ext cx="7382108" cy="523220"/>
          </a:xfrm>
          <a:prstGeom prst="rect">
            <a:avLst/>
          </a:prstGeom>
          <a:noFill/>
        </p:spPr>
        <p:txBody>
          <a:bodyPr wrap="square" rtlCol="0">
            <a:spAutoFit/>
          </a:bodyPr>
          <a:lstStyle/>
          <a:p>
            <a:r>
              <a:rPr lang="en-US" sz="2800" dirty="0">
                <a:solidFill>
                  <a:srgbClr val="3D3935"/>
                </a:solidFill>
                <a:latin typeface="Calibir"/>
              </a:rPr>
              <a:t>Click on User and Pass (on right sidebar) to log in</a:t>
            </a:r>
          </a:p>
        </p:txBody>
      </p:sp>
      <p:pic>
        <p:nvPicPr>
          <p:cNvPr id="6" name="Picture 5">
            <a:extLst>
              <a:ext uri="{FF2B5EF4-FFF2-40B4-BE49-F238E27FC236}">
                <a16:creationId xmlns:a16="http://schemas.microsoft.com/office/drawing/2014/main" id="{E740A1CE-F0C5-3F6D-3102-363ADB1B754F}"/>
              </a:ext>
            </a:extLst>
          </p:cNvPr>
          <p:cNvPicPr>
            <a:picLocks noChangeAspect="1"/>
          </p:cNvPicPr>
          <p:nvPr/>
        </p:nvPicPr>
        <p:blipFill>
          <a:blip r:embed="rId3"/>
          <a:srcRect b="21273"/>
          <a:stretch>
            <a:fillRect/>
          </a:stretch>
        </p:blipFill>
        <p:spPr>
          <a:xfrm>
            <a:off x="356616" y="1160045"/>
            <a:ext cx="8430768" cy="3733443"/>
          </a:xfrm>
          <a:prstGeom prst="rect">
            <a:avLst/>
          </a:prstGeom>
        </p:spPr>
      </p:pic>
      <p:sp>
        <p:nvSpPr>
          <p:cNvPr id="2" name="TextBox 1">
            <a:extLst>
              <a:ext uri="{FF2B5EF4-FFF2-40B4-BE49-F238E27FC236}">
                <a16:creationId xmlns:a16="http://schemas.microsoft.com/office/drawing/2014/main" id="{8B8ED802-E0D6-D9F1-CF4F-23FDF40EEE87}"/>
              </a:ext>
            </a:extLst>
          </p:cNvPr>
          <p:cNvSpPr txBox="1"/>
          <p:nvPr/>
        </p:nvSpPr>
        <p:spPr>
          <a:xfrm>
            <a:off x="0" y="4893488"/>
            <a:ext cx="9144000" cy="1964512"/>
          </a:xfrm>
          <a:prstGeom prst="rect">
            <a:avLst/>
          </a:prstGeom>
          <a:solidFill>
            <a:schemeClr val="accent1">
              <a:lumMod val="20000"/>
              <a:lumOff val="80000"/>
            </a:schemeClr>
          </a:solidFill>
        </p:spPr>
        <p:txBody>
          <a:bodyPr wrap="square" rtlCol="0">
            <a:spAutoFit/>
          </a:bodyPr>
          <a:lstStyle/>
          <a:p>
            <a:pPr>
              <a:lnSpc>
                <a:spcPct val="150000"/>
              </a:lnSpc>
            </a:pPr>
            <a:r>
              <a:rPr lang="en-US" sz="2800" dirty="0">
                <a:latin typeface="Calibir"/>
              </a:rPr>
              <a:t>Important: </a:t>
            </a:r>
            <a:r>
              <a:rPr lang="en-US" sz="2800" dirty="0">
                <a:highlight>
                  <a:srgbClr val="FFFF00"/>
                </a:highlight>
                <a:latin typeface="Calibir"/>
              </a:rPr>
              <a:t>Do not open Azure Portal on your browser, instead run the virtual machine and then open the Azure Portal on the virtual machine’s browser</a:t>
            </a:r>
          </a:p>
        </p:txBody>
      </p:sp>
    </p:spTree>
    <p:extLst>
      <p:ext uri="{BB962C8B-B14F-4D97-AF65-F5344CB8AC3E}">
        <p14:creationId xmlns:p14="http://schemas.microsoft.com/office/powerpoint/2010/main" val="3694727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D77BF24-A23C-A34E-AE9F-938CCA80DBE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8DB070A-9EC1-DAE8-8FE5-EA8E6D05667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7460332-0055-D39C-0EF5-8C4A4F86FC30}"/>
              </a:ext>
            </a:extLst>
          </p:cNvPr>
          <p:cNvSpPr>
            <a:spLocks noGrp="1"/>
          </p:cNvSpPr>
          <p:nvPr>
            <p:ph type="sldNum" sz="quarter" idx="4"/>
          </p:nvPr>
        </p:nvSpPr>
        <p:spPr/>
        <p:txBody>
          <a:bodyPr/>
          <a:lstStyle/>
          <a:p>
            <a:fld id="{16A89BA3-132D-40E1-AAB4-CDCD0A14C216}" type="slidenum">
              <a:rPr lang="en-AU" smtClean="0"/>
              <a:pPr/>
              <a:t>15</a:t>
            </a:fld>
            <a:r>
              <a:rPr lang="en-AU"/>
              <a:t>  |</a:t>
            </a:r>
            <a:endParaRPr lang="en-AU" dirty="0"/>
          </a:p>
        </p:txBody>
      </p:sp>
      <p:sp>
        <p:nvSpPr>
          <p:cNvPr id="9" name="Text Placeholder 3">
            <a:extLst>
              <a:ext uri="{FF2B5EF4-FFF2-40B4-BE49-F238E27FC236}">
                <a16:creationId xmlns:a16="http://schemas.microsoft.com/office/drawing/2014/main" id="{068D806B-E189-5694-21FC-FB46B77A1279}"/>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BF62C75-865B-4D20-7B3C-A0BA37F618C5}"/>
              </a:ext>
            </a:extLst>
          </p:cNvPr>
          <p:cNvSpPr txBox="1"/>
          <p:nvPr/>
        </p:nvSpPr>
        <p:spPr>
          <a:xfrm>
            <a:off x="78058" y="624468"/>
            <a:ext cx="7382108" cy="523220"/>
          </a:xfrm>
          <a:prstGeom prst="rect">
            <a:avLst/>
          </a:prstGeom>
          <a:noFill/>
        </p:spPr>
        <p:txBody>
          <a:bodyPr wrap="square" rtlCol="0">
            <a:spAutoFit/>
          </a:bodyPr>
          <a:lstStyle/>
          <a:p>
            <a:r>
              <a:rPr lang="en-US" sz="2800" dirty="0">
                <a:solidFill>
                  <a:srgbClr val="3D3935"/>
                </a:solidFill>
                <a:latin typeface="Calibir"/>
              </a:rPr>
              <a:t>Click Yes then you see this</a:t>
            </a:r>
          </a:p>
        </p:txBody>
      </p:sp>
      <p:pic>
        <p:nvPicPr>
          <p:cNvPr id="6" name="Picture 5">
            <a:extLst>
              <a:ext uri="{FF2B5EF4-FFF2-40B4-BE49-F238E27FC236}">
                <a16:creationId xmlns:a16="http://schemas.microsoft.com/office/drawing/2014/main" id="{B0C495BF-7774-EB47-3097-27F589BBB73F}"/>
              </a:ext>
            </a:extLst>
          </p:cNvPr>
          <p:cNvPicPr>
            <a:picLocks noChangeAspect="1"/>
          </p:cNvPicPr>
          <p:nvPr/>
        </p:nvPicPr>
        <p:blipFill>
          <a:blip r:embed="rId3"/>
          <a:srcRect b="11603"/>
          <a:stretch>
            <a:fillRect/>
          </a:stretch>
        </p:blipFill>
        <p:spPr>
          <a:xfrm>
            <a:off x="1745069" y="1147688"/>
            <a:ext cx="5653862" cy="3319758"/>
          </a:xfrm>
          <a:prstGeom prst="rect">
            <a:avLst/>
          </a:prstGeom>
        </p:spPr>
      </p:pic>
      <p:sp>
        <p:nvSpPr>
          <p:cNvPr id="2" name="TextBox 1">
            <a:extLst>
              <a:ext uri="{FF2B5EF4-FFF2-40B4-BE49-F238E27FC236}">
                <a16:creationId xmlns:a16="http://schemas.microsoft.com/office/drawing/2014/main" id="{8207CFF3-9133-EABC-F12A-3C69C5D2C027}"/>
              </a:ext>
            </a:extLst>
          </p:cNvPr>
          <p:cNvSpPr txBox="1"/>
          <p:nvPr/>
        </p:nvSpPr>
        <p:spPr>
          <a:xfrm>
            <a:off x="0" y="4893488"/>
            <a:ext cx="9144000" cy="1964512"/>
          </a:xfrm>
          <a:prstGeom prst="rect">
            <a:avLst/>
          </a:prstGeom>
          <a:solidFill>
            <a:schemeClr val="accent1">
              <a:lumMod val="20000"/>
              <a:lumOff val="80000"/>
            </a:schemeClr>
          </a:solidFill>
        </p:spPr>
        <p:txBody>
          <a:bodyPr wrap="square" rtlCol="0">
            <a:spAutoFit/>
          </a:bodyPr>
          <a:lstStyle/>
          <a:p>
            <a:pPr>
              <a:lnSpc>
                <a:spcPct val="150000"/>
              </a:lnSpc>
            </a:pPr>
            <a:r>
              <a:rPr lang="en-US" sz="2800" dirty="0">
                <a:latin typeface="Calibir"/>
              </a:rPr>
              <a:t>Important: </a:t>
            </a:r>
            <a:r>
              <a:rPr lang="en-US" sz="2800" dirty="0">
                <a:highlight>
                  <a:srgbClr val="FFFF00"/>
                </a:highlight>
                <a:latin typeface="Calibir"/>
              </a:rPr>
              <a:t>Do not open Azure Portal on your browser, instead run the virtual machine and then open the Azure Portal on the virtual machine’s browser</a:t>
            </a:r>
          </a:p>
        </p:txBody>
      </p:sp>
    </p:spTree>
    <p:extLst>
      <p:ext uri="{BB962C8B-B14F-4D97-AF65-F5344CB8AC3E}">
        <p14:creationId xmlns:p14="http://schemas.microsoft.com/office/powerpoint/2010/main" val="1278084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B15CADF-BECF-BE6A-C7A2-21AAC744D2B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408524-C301-935F-1C34-A092EDAB8AB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C8BA539-F5C0-CDB9-2DF3-7EDED475AE8B}"/>
              </a:ext>
            </a:extLst>
          </p:cNvPr>
          <p:cNvSpPr>
            <a:spLocks noGrp="1"/>
          </p:cNvSpPr>
          <p:nvPr>
            <p:ph type="sldNum" sz="quarter" idx="4"/>
          </p:nvPr>
        </p:nvSpPr>
        <p:spPr/>
        <p:txBody>
          <a:bodyPr/>
          <a:lstStyle/>
          <a:p>
            <a:fld id="{16A89BA3-132D-40E1-AAB4-CDCD0A14C216}" type="slidenum">
              <a:rPr lang="en-AU" smtClean="0"/>
              <a:pPr/>
              <a:t>16</a:t>
            </a:fld>
            <a:r>
              <a:rPr lang="en-AU"/>
              <a:t>  |</a:t>
            </a:r>
            <a:endParaRPr lang="en-AU" dirty="0"/>
          </a:p>
        </p:txBody>
      </p:sp>
      <p:sp>
        <p:nvSpPr>
          <p:cNvPr id="9" name="Text Placeholder 3">
            <a:extLst>
              <a:ext uri="{FF2B5EF4-FFF2-40B4-BE49-F238E27FC236}">
                <a16:creationId xmlns:a16="http://schemas.microsoft.com/office/drawing/2014/main" id="{05CC1B63-493C-0469-B655-A5D4CB99F14B}"/>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FC00ABA-C8D7-3899-6A94-4D960F923C88}"/>
              </a:ext>
            </a:extLst>
          </p:cNvPr>
          <p:cNvSpPr txBox="1"/>
          <p:nvPr/>
        </p:nvSpPr>
        <p:spPr>
          <a:xfrm>
            <a:off x="78058" y="624468"/>
            <a:ext cx="7382108" cy="523220"/>
          </a:xfrm>
          <a:prstGeom prst="rect">
            <a:avLst/>
          </a:prstGeom>
          <a:noFill/>
        </p:spPr>
        <p:txBody>
          <a:bodyPr wrap="square" rtlCol="0">
            <a:spAutoFit/>
          </a:bodyPr>
          <a:lstStyle/>
          <a:p>
            <a:r>
              <a:rPr lang="en-US" sz="2800" dirty="0">
                <a:solidFill>
                  <a:srgbClr val="3D3935"/>
                </a:solidFill>
                <a:latin typeface="Calibir"/>
              </a:rPr>
              <a:t>Select Maybe later</a:t>
            </a:r>
          </a:p>
        </p:txBody>
      </p:sp>
      <p:pic>
        <p:nvPicPr>
          <p:cNvPr id="5" name="Picture 4">
            <a:extLst>
              <a:ext uri="{FF2B5EF4-FFF2-40B4-BE49-F238E27FC236}">
                <a16:creationId xmlns:a16="http://schemas.microsoft.com/office/drawing/2014/main" id="{A332A96C-9CF5-0B3C-ABBE-6599AE070066}"/>
              </a:ext>
            </a:extLst>
          </p:cNvPr>
          <p:cNvPicPr>
            <a:picLocks noChangeAspect="1"/>
          </p:cNvPicPr>
          <p:nvPr/>
        </p:nvPicPr>
        <p:blipFill>
          <a:blip r:embed="rId3"/>
          <a:srcRect b="15463"/>
          <a:stretch>
            <a:fillRect/>
          </a:stretch>
        </p:blipFill>
        <p:spPr>
          <a:xfrm>
            <a:off x="694034" y="1147688"/>
            <a:ext cx="7755932" cy="3753780"/>
          </a:xfrm>
          <a:prstGeom prst="rect">
            <a:avLst/>
          </a:prstGeom>
        </p:spPr>
      </p:pic>
      <p:sp>
        <p:nvSpPr>
          <p:cNvPr id="2" name="TextBox 1">
            <a:extLst>
              <a:ext uri="{FF2B5EF4-FFF2-40B4-BE49-F238E27FC236}">
                <a16:creationId xmlns:a16="http://schemas.microsoft.com/office/drawing/2014/main" id="{05F4A7A9-2F93-DB9C-E97D-4C5574737081}"/>
              </a:ext>
            </a:extLst>
          </p:cNvPr>
          <p:cNvSpPr txBox="1"/>
          <p:nvPr/>
        </p:nvSpPr>
        <p:spPr>
          <a:xfrm>
            <a:off x="0" y="4893488"/>
            <a:ext cx="9144000" cy="1964512"/>
          </a:xfrm>
          <a:prstGeom prst="rect">
            <a:avLst/>
          </a:prstGeom>
          <a:solidFill>
            <a:schemeClr val="accent1">
              <a:lumMod val="20000"/>
              <a:lumOff val="80000"/>
            </a:schemeClr>
          </a:solidFill>
        </p:spPr>
        <p:txBody>
          <a:bodyPr wrap="square" rtlCol="0">
            <a:spAutoFit/>
          </a:bodyPr>
          <a:lstStyle/>
          <a:p>
            <a:pPr>
              <a:lnSpc>
                <a:spcPct val="150000"/>
              </a:lnSpc>
            </a:pPr>
            <a:r>
              <a:rPr lang="en-US" sz="2800" dirty="0">
                <a:latin typeface="Calibir"/>
              </a:rPr>
              <a:t>Important: </a:t>
            </a:r>
            <a:r>
              <a:rPr lang="en-US" sz="2800" dirty="0">
                <a:highlight>
                  <a:srgbClr val="FFFF00"/>
                </a:highlight>
                <a:latin typeface="Calibir"/>
              </a:rPr>
              <a:t>Do not open Azure Portal on your browser, instead run the virtual machine and then open the Azure Portal on the virtual machine’s browser</a:t>
            </a:r>
          </a:p>
        </p:txBody>
      </p:sp>
    </p:spTree>
    <p:extLst>
      <p:ext uri="{BB962C8B-B14F-4D97-AF65-F5344CB8AC3E}">
        <p14:creationId xmlns:p14="http://schemas.microsoft.com/office/powerpoint/2010/main" val="476642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5D34D56-8A4B-84B4-8D3D-09FC9940C60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3ED2A1E-C6A2-4E3F-44A9-67108CF004A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47F6595-35E6-60B6-55BC-1AE3AF8026DA}"/>
              </a:ext>
            </a:extLst>
          </p:cNvPr>
          <p:cNvSpPr>
            <a:spLocks noGrp="1"/>
          </p:cNvSpPr>
          <p:nvPr>
            <p:ph type="sldNum" sz="quarter" idx="4"/>
          </p:nvPr>
        </p:nvSpPr>
        <p:spPr/>
        <p:txBody>
          <a:bodyPr/>
          <a:lstStyle/>
          <a:p>
            <a:fld id="{16A89BA3-132D-40E1-AAB4-CDCD0A14C216}" type="slidenum">
              <a:rPr lang="en-AU" smtClean="0"/>
              <a:pPr/>
              <a:t>17</a:t>
            </a:fld>
            <a:r>
              <a:rPr lang="en-AU"/>
              <a:t>  |</a:t>
            </a:r>
            <a:endParaRPr lang="en-AU" dirty="0"/>
          </a:p>
        </p:txBody>
      </p:sp>
      <p:sp>
        <p:nvSpPr>
          <p:cNvPr id="9" name="Text Placeholder 3">
            <a:extLst>
              <a:ext uri="{FF2B5EF4-FFF2-40B4-BE49-F238E27FC236}">
                <a16:creationId xmlns:a16="http://schemas.microsoft.com/office/drawing/2014/main" id="{EC10B6AF-02B4-5D19-5460-4D73F6B82349}"/>
              </a:ext>
            </a:extLst>
          </p:cNvPr>
          <p:cNvSpPr>
            <a:spLocks noGrp="1"/>
          </p:cNvSpPr>
          <p:nvPr>
            <p:ph type="body" sz="quarter" idx="16"/>
          </p:nvPr>
        </p:nvSpPr>
        <p:spPr>
          <a:xfrm>
            <a:off x="0" y="-1"/>
            <a:ext cx="7849590" cy="515008"/>
          </a:xfrm>
        </p:spPr>
        <p:txBody>
          <a:bodyPr>
            <a:noAutofit/>
          </a:bodyPr>
          <a:lstStyle/>
          <a:p>
            <a:r>
              <a:rPr lang="en-US" sz="3200" dirty="0"/>
              <a:t>Week </a:t>
            </a:r>
            <a:r>
              <a:rPr lang="fa-IR" sz="3200" dirty="0"/>
              <a:t>9</a:t>
            </a:r>
            <a:r>
              <a:rPr lang="en-US" sz="3200" dirty="0"/>
              <a:t>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02F1E85D-1494-F72E-63AC-DC13D118AC93}"/>
              </a:ext>
            </a:extLst>
          </p:cNvPr>
          <p:cNvSpPr txBox="1"/>
          <p:nvPr/>
        </p:nvSpPr>
        <p:spPr>
          <a:xfrm>
            <a:off x="78058" y="624468"/>
            <a:ext cx="7382108" cy="523220"/>
          </a:xfrm>
          <a:prstGeom prst="rect">
            <a:avLst/>
          </a:prstGeom>
          <a:noFill/>
        </p:spPr>
        <p:txBody>
          <a:bodyPr wrap="square" rtlCol="0">
            <a:spAutoFit/>
          </a:bodyPr>
          <a:lstStyle/>
          <a:p>
            <a:r>
              <a:rPr lang="en-US" sz="2800" dirty="0">
                <a:solidFill>
                  <a:srgbClr val="3D3935"/>
                </a:solidFill>
                <a:latin typeface="Calibir"/>
              </a:rPr>
              <a:t>Click Create a Resource</a:t>
            </a:r>
          </a:p>
        </p:txBody>
      </p:sp>
      <p:pic>
        <p:nvPicPr>
          <p:cNvPr id="6" name="Picture 5">
            <a:extLst>
              <a:ext uri="{FF2B5EF4-FFF2-40B4-BE49-F238E27FC236}">
                <a16:creationId xmlns:a16="http://schemas.microsoft.com/office/drawing/2014/main" id="{8FE3AE9A-351A-45A1-6BAF-B4A175B08D79}"/>
              </a:ext>
            </a:extLst>
          </p:cNvPr>
          <p:cNvPicPr>
            <a:picLocks noChangeAspect="1"/>
          </p:cNvPicPr>
          <p:nvPr/>
        </p:nvPicPr>
        <p:blipFill>
          <a:blip r:embed="rId3"/>
          <a:srcRect b="13186"/>
          <a:stretch>
            <a:fillRect/>
          </a:stretch>
        </p:blipFill>
        <p:spPr>
          <a:xfrm>
            <a:off x="1408176" y="1147688"/>
            <a:ext cx="6327648" cy="3648826"/>
          </a:xfrm>
          <a:prstGeom prst="rect">
            <a:avLst/>
          </a:prstGeom>
        </p:spPr>
      </p:pic>
      <p:sp>
        <p:nvSpPr>
          <p:cNvPr id="2" name="TextBox 1">
            <a:extLst>
              <a:ext uri="{FF2B5EF4-FFF2-40B4-BE49-F238E27FC236}">
                <a16:creationId xmlns:a16="http://schemas.microsoft.com/office/drawing/2014/main" id="{2C0E6EE5-D7F3-1C5D-5523-4AF632DEA118}"/>
              </a:ext>
            </a:extLst>
          </p:cNvPr>
          <p:cNvSpPr txBox="1"/>
          <p:nvPr/>
        </p:nvSpPr>
        <p:spPr>
          <a:xfrm>
            <a:off x="0" y="4893488"/>
            <a:ext cx="9144000" cy="1964512"/>
          </a:xfrm>
          <a:prstGeom prst="rect">
            <a:avLst/>
          </a:prstGeom>
          <a:solidFill>
            <a:schemeClr val="accent1">
              <a:lumMod val="20000"/>
              <a:lumOff val="80000"/>
            </a:schemeClr>
          </a:solidFill>
        </p:spPr>
        <p:txBody>
          <a:bodyPr wrap="square" rtlCol="0">
            <a:spAutoFit/>
          </a:bodyPr>
          <a:lstStyle/>
          <a:p>
            <a:pPr>
              <a:lnSpc>
                <a:spcPct val="150000"/>
              </a:lnSpc>
            </a:pPr>
            <a:r>
              <a:rPr lang="en-US" sz="2800" dirty="0">
                <a:latin typeface="Calibir"/>
              </a:rPr>
              <a:t>Important: </a:t>
            </a:r>
            <a:r>
              <a:rPr lang="en-US" sz="2800" dirty="0">
                <a:highlight>
                  <a:srgbClr val="FFFF00"/>
                </a:highlight>
                <a:latin typeface="Calibir"/>
              </a:rPr>
              <a:t>Do not open Azure Portal on your browser, instead run the virtual machine and then open the Azure Portal on the virtual machine’s browser</a:t>
            </a:r>
          </a:p>
        </p:txBody>
      </p:sp>
    </p:spTree>
    <p:extLst>
      <p:ext uri="{BB962C8B-B14F-4D97-AF65-F5344CB8AC3E}">
        <p14:creationId xmlns:p14="http://schemas.microsoft.com/office/powerpoint/2010/main" val="4142127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E14DC2A-D720-EB6F-0258-7C8667C4836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E4B7F9E-27C9-76BA-F750-1042C5E4B5B6}"/>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D3935"/>
                </a:solidFill>
                <a:effectLst/>
                <a:uLnTx/>
                <a:uFillTx/>
                <a:latin typeface="Arial" panose="020B0604020202020204" pitchFamily="34" charset="0"/>
                <a:ea typeface="+mn-ea"/>
                <a:cs typeface="Arial" panose="020B0604020202020204" pitchFamily="34" charset="0"/>
              </a:rPr>
              <a:t>Faculty of Business and Law | Peter Faber Business School</a:t>
            </a:r>
            <a:endParaRPr kumimoji="0" lang="en-US" sz="1000" b="0" i="0" u="none" strike="noStrike" kern="1200" cap="none" spc="0" normalizeH="0" baseline="0" noProof="0" dirty="0">
              <a:ln>
                <a:noFill/>
              </a:ln>
              <a:solidFill>
                <a:srgbClr val="3D3935"/>
              </a:solidFill>
              <a:effectLst/>
              <a:uLnTx/>
              <a:uFillTx/>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C5FADD49-F531-AAB5-38B4-661548A2204C}"/>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6A89BA3-132D-40E1-AAB4-CDCD0A14C216}" type="slidenum">
              <a:rPr kumimoji="0" lang="en-AU" sz="1000" b="0" i="0" u="none" strike="noStrike" kern="1200" cap="none" spc="0" normalizeH="0" baseline="0" noProof="0" smtClean="0">
                <a:ln>
                  <a:noFill/>
                </a:ln>
                <a:solidFill>
                  <a:srgbClr val="3D3935"/>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18</a:t>
            </a:fld>
            <a:r>
              <a:rPr kumimoji="0" lang="en-AU" sz="1000" b="0" i="0" u="none" strike="noStrike" kern="1200" cap="none" spc="0" normalizeH="0" baseline="0" noProof="0">
                <a:ln>
                  <a:noFill/>
                </a:ln>
                <a:solidFill>
                  <a:srgbClr val="3D3935"/>
                </a:solidFill>
                <a:effectLst/>
                <a:uLnTx/>
                <a:uFillTx/>
                <a:latin typeface="Arial" panose="020B0604020202020204" pitchFamily="34" charset="0"/>
                <a:ea typeface="+mn-ea"/>
                <a:cs typeface="Arial" panose="020B0604020202020204" pitchFamily="34" charset="0"/>
              </a:rPr>
              <a:t>  |</a:t>
            </a:r>
            <a:endParaRPr kumimoji="0" lang="en-AU" sz="1000" b="0" i="0" u="none" strike="noStrike" kern="1200" cap="none" spc="0" normalizeH="0" baseline="0" noProof="0" dirty="0">
              <a:ln>
                <a:noFill/>
              </a:ln>
              <a:solidFill>
                <a:srgbClr val="3D3935"/>
              </a:solidFill>
              <a:effectLst/>
              <a:uLnTx/>
              <a:uFillTx/>
              <a:latin typeface="Arial" panose="020B0604020202020204" pitchFamily="34" charset="0"/>
              <a:ea typeface="+mn-ea"/>
              <a:cs typeface="Arial" panose="020B0604020202020204" pitchFamily="34" charset="0"/>
            </a:endParaRPr>
          </a:p>
        </p:txBody>
      </p:sp>
      <p:sp>
        <p:nvSpPr>
          <p:cNvPr id="9" name="Text Placeholder 3">
            <a:extLst>
              <a:ext uri="{FF2B5EF4-FFF2-40B4-BE49-F238E27FC236}">
                <a16:creationId xmlns:a16="http://schemas.microsoft.com/office/drawing/2014/main" id="{55A2037A-3E32-16BA-B638-E0DB883B0EDC}"/>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0DBCD708-5704-FFAD-D8DC-5186934246B5}"/>
              </a:ext>
            </a:extLst>
          </p:cNvPr>
          <p:cNvSpPr txBox="1"/>
          <p:nvPr/>
        </p:nvSpPr>
        <p:spPr>
          <a:xfrm>
            <a:off x="78058" y="624468"/>
            <a:ext cx="738210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D3935"/>
                </a:solidFill>
                <a:effectLst/>
                <a:uLnTx/>
                <a:uFillTx/>
                <a:latin typeface="Calibir"/>
                <a:ea typeface="+mn-ea"/>
                <a:cs typeface="+mn-cs"/>
              </a:rPr>
              <a:t>Search for Azure SQL</a:t>
            </a:r>
          </a:p>
        </p:txBody>
      </p:sp>
      <p:pic>
        <p:nvPicPr>
          <p:cNvPr id="6" name="Picture 5">
            <a:extLst>
              <a:ext uri="{FF2B5EF4-FFF2-40B4-BE49-F238E27FC236}">
                <a16:creationId xmlns:a16="http://schemas.microsoft.com/office/drawing/2014/main" id="{AC036477-74A2-E06D-E858-E6185E93065F}"/>
              </a:ext>
            </a:extLst>
          </p:cNvPr>
          <p:cNvPicPr>
            <a:picLocks noChangeAspect="1"/>
          </p:cNvPicPr>
          <p:nvPr/>
        </p:nvPicPr>
        <p:blipFill>
          <a:blip r:embed="rId3"/>
          <a:srcRect b="13554"/>
          <a:stretch>
            <a:fillRect/>
          </a:stretch>
        </p:blipFill>
        <p:spPr>
          <a:xfrm>
            <a:off x="2002536" y="1215865"/>
            <a:ext cx="5138928" cy="3609446"/>
          </a:xfrm>
          <a:prstGeom prst="rect">
            <a:avLst/>
          </a:prstGeom>
        </p:spPr>
      </p:pic>
      <p:sp>
        <p:nvSpPr>
          <p:cNvPr id="2" name="TextBox 1">
            <a:extLst>
              <a:ext uri="{FF2B5EF4-FFF2-40B4-BE49-F238E27FC236}">
                <a16:creationId xmlns:a16="http://schemas.microsoft.com/office/drawing/2014/main" id="{949D4362-21A4-481A-975B-956B5D5EF899}"/>
              </a:ext>
            </a:extLst>
          </p:cNvPr>
          <p:cNvSpPr txBox="1"/>
          <p:nvPr/>
        </p:nvSpPr>
        <p:spPr>
          <a:xfrm>
            <a:off x="0" y="4893488"/>
            <a:ext cx="9144000" cy="1964512"/>
          </a:xfrm>
          <a:prstGeom prst="rect">
            <a:avLst/>
          </a:prstGeom>
          <a:solidFill>
            <a:schemeClr val="accent1">
              <a:lumMod val="20000"/>
              <a:lumOff val="80000"/>
            </a:schemeClr>
          </a:solidFill>
        </p:spPr>
        <p:txBody>
          <a:bodyPr wrap="square" rtlCol="0">
            <a:spAutoFit/>
          </a:bodyPr>
          <a:lstStyle/>
          <a:p>
            <a:pPr>
              <a:lnSpc>
                <a:spcPct val="150000"/>
              </a:lnSpc>
            </a:pPr>
            <a:r>
              <a:rPr lang="en-US" sz="2800" dirty="0">
                <a:latin typeface="Calibir"/>
              </a:rPr>
              <a:t>Important: </a:t>
            </a:r>
            <a:r>
              <a:rPr lang="en-US" sz="2800" dirty="0">
                <a:highlight>
                  <a:srgbClr val="FFFF00"/>
                </a:highlight>
                <a:latin typeface="Calibir"/>
              </a:rPr>
              <a:t>Do not open Azure Portal on your browser, instead run the virtual machine and then open the Azure Portal on the virtual machine’s browser</a:t>
            </a:r>
          </a:p>
        </p:txBody>
      </p:sp>
    </p:spTree>
    <p:extLst>
      <p:ext uri="{BB962C8B-B14F-4D97-AF65-F5344CB8AC3E}">
        <p14:creationId xmlns:p14="http://schemas.microsoft.com/office/powerpoint/2010/main" val="3479951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25294C7A-BDAC-775F-D500-DCAFD712A95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ABEFF21-C495-9567-703D-BCA4CA18395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D3935"/>
                </a:solidFill>
                <a:effectLst/>
                <a:uLnTx/>
                <a:uFillTx/>
                <a:latin typeface="Arial" panose="020B0604020202020204" pitchFamily="34" charset="0"/>
                <a:ea typeface="+mn-ea"/>
                <a:cs typeface="Arial" panose="020B0604020202020204" pitchFamily="34" charset="0"/>
              </a:rPr>
              <a:t>Faculty of Business and Law | Peter Faber Business School</a:t>
            </a:r>
            <a:endParaRPr kumimoji="0" lang="en-US" sz="1000" b="0" i="0" u="none" strike="noStrike" kern="1200" cap="none" spc="0" normalizeH="0" baseline="0" noProof="0" dirty="0">
              <a:ln>
                <a:noFill/>
              </a:ln>
              <a:solidFill>
                <a:srgbClr val="3D3935"/>
              </a:solidFill>
              <a:effectLst/>
              <a:uLnTx/>
              <a:uFillTx/>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91D15576-5A0D-5BC3-9011-7A5943E95846}"/>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6A89BA3-132D-40E1-AAB4-CDCD0A14C216}" type="slidenum">
              <a:rPr kumimoji="0" lang="en-AU" sz="1000" b="0" i="0" u="none" strike="noStrike" kern="1200" cap="none" spc="0" normalizeH="0" baseline="0" noProof="0" smtClean="0">
                <a:ln>
                  <a:noFill/>
                </a:ln>
                <a:solidFill>
                  <a:srgbClr val="3D3935"/>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19</a:t>
            </a:fld>
            <a:r>
              <a:rPr kumimoji="0" lang="en-AU" sz="1000" b="0" i="0" u="none" strike="noStrike" kern="1200" cap="none" spc="0" normalizeH="0" baseline="0" noProof="0">
                <a:ln>
                  <a:noFill/>
                </a:ln>
                <a:solidFill>
                  <a:srgbClr val="3D3935"/>
                </a:solidFill>
                <a:effectLst/>
                <a:uLnTx/>
                <a:uFillTx/>
                <a:latin typeface="Arial" panose="020B0604020202020204" pitchFamily="34" charset="0"/>
                <a:ea typeface="+mn-ea"/>
                <a:cs typeface="Arial" panose="020B0604020202020204" pitchFamily="34" charset="0"/>
              </a:rPr>
              <a:t>  |</a:t>
            </a:r>
            <a:endParaRPr kumimoji="0" lang="en-AU" sz="1000" b="0" i="0" u="none" strike="noStrike" kern="1200" cap="none" spc="0" normalizeH="0" baseline="0" noProof="0" dirty="0">
              <a:ln>
                <a:noFill/>
              </a:ln>
              <a:solidFill>
                <a:srgbClr val="3D3935"/>
              </a:solidFill>
              <a:effectLst/>
              <a:uLnTx/>
              <a:uFillTx/>
              <a:latin typeface="Arial" panose="020B0604020202020204" pitchFamily="34" charset="0"/>
              <a:ea typeface="+mn-ea"/>
              <a:cs typeface="Arial" panose="020B0604020202020204" pitchFamily="34" charset="0"/>
            </a:endParaRPr>
          </a:p>
        </p:txBody>
      </p:sp>
      <p:sp>
        <p:nvSpPr>
          <p:cNvPr id="9" name="Text Placeholder 3">
            <a:extLst>
              <a:ext uri="{FF2B5EF4-FFF2-40B4-BE49-F238E27FC236}">
                <a16:creationId xmlns:a16="http://schemas.microsoft.com/office/drawing/2014/main" id="{0D4C09F9-7531-1A65-03B0-D49204728AAD}"/>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FF84EB7-4795-A478-C1E8-8EC794893905}"/>
              </a:ext>
            </a:extLst>
          </p:cNvPr>
          <p:cNvSpPr txBox="1"/>
          <p:nvPr/>
        </p:nvSpPr>
        <p:spPr>
          <a:xfrm>
            <a:off x="78058" y="624468"/>
            <a:ext cx="738210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D3935"/>
                </a:solidFill>
                <a:effectLst/>
                <a:uLnTx/>
                <a:uFillTx/>
                <a:latin typeface="Calibir"/>
                <a:ea typeface="+mn-ea"/>
                <a:cs typeface="+mn-cs"/>
              </a:rPr>
              <a:t>Click Azure SQL</a:t>
            </a:r>
          </a:p>
        </p:txBody>
      </p:sp>
      <p:pic>
        <p:nvPicPr>
          <p:cNvPr id="6" name="Picture 5">
            <a:extLst>
              <a:ext uri="{FF2B5EF4-FFF2-40B4-BE49-F238E27FC236}">
                <a16:creationId xmlns:a16="http://schemas.microsoft.com/office/drawing/2014/main" id="{CA074CD9-5C5F-005B-8BFA-3CF7BDCA0364}"/>
              </a:ext>
            </a:extLst>
          </p:cNvPr>
          <p:cNvPicPr>
            <a:picLocks noChangeAspect="1"/>
          </p:cNvPicPr>
          <p:nvPr/>
        </p:nvPicPr>
        <p:blipFill>
          <a:blip r:embed="rId3"/>
          <a:srcRect b="14064"/>
          <a:stretch>
            <a:fillRect/>
          </a:stretch>
        </p:blipFill>
        <p:spPr>
          <a:xfrm>
            <a:off x="832757" y="1369759"/>
            <a:ext cx="7739314" cy="4417724"/>
          </a:xfrm>
          <a:prstGeom prst="rect">
            <a:avLst/>
          </a:prstGeom>
        </p:spPr>
      </p:pic>
      <p:sp>
        <p:nvSpPr>
          <p:cNvPr id="8" name="Rectangle: Rounded Corners 7">
            <a:extLst>
              <a:ext uri="{FF2B5EF4-FFF2-40B4-BE49-F238E27FC236}">
                <a16:creationId xmlns:a16="http://schemas.microsoft.com/office/drawing/2014/main" id="{0A24E530-F1E9-0297-82C3-DD1C0A1C8846}"/>
              </a:ext>
            </a:extLst>
          </p:cNvPr>
          <p:cNvSpPr/>
          <p:nvPr/>
        </p:nvSpPr>
        <p:spPr>
          <a:xfrm>
            <a:off x="2486722" y="3077737"/>
            <a:ext cx="1583473" cy="1996068"/>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399936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15422F7-60A1-6F21-3686-0E34EC760A0C}"/>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E015B8FB-EFC1-C9EA-DA21-668551E058C0}"/>
              </a:ext>
            </a:extLst>
          </p:cNvPr>
          <p:cNvPicPr>
            <a:picLocks noChangeAspect="1"/>
          </p:cNvPicPr>
          <p:nvPr/>
        </p:nvPicPr>
        <p:blipFill>
          <a:blip r:embed="rId3"/>
          <a:srcRect b="12779"/>
          <a:stretch>
            <a:fillRect/>
          </a:stretch>
        </p:blipFill>
        <p:spPr>
          <a:xfrm>
            <a:off x="1189703" y="1257149"/>
            <a:ext cx="6764594" cy="4793860"/>
          </a:xfrm>
          <a:prstGeom prst="rect">
            <a:avLst/>
          </a:prstGeom>
        </p:spPr>
      </p:pic>
      <p:sp>
        <p:nvSpPr>
          <p:cNvPr id="3" name="Footer Placeholder 2">
            <a:extLst>
              <a:ext uri="{FF2B5EF4-FFF2-40B4-BE49-F238E27FC236}">
                <a16:creationId xmlns:a16="http://schemas.microsoft.com/office/drawing/2014/main" id="{D72BDE9B-4E46-E970-0289-FED272A78C36}"/>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D3935"/>
                </a:solidFill>
                <a:effectLst/>
                <a:uLnTx/>
                <a:uFillTx/>
                <a:latin typeface="Arial" panose="020B0604020202020204" pitchFamily="34" charset="0"/>
                <a:ea typeface="+mn-ea"/>
                <a:cs typeface="Arial" panose="020B0604020202020204" pitchFamily="34" charset="0"/>
              </a:rPr>
              <a:t>Faculty of Business and Law | Peter Faber Business School</a:t>
            </a:r>
            <a:endParaRPr kumimoji="0" lang="en-US" sz="1000" b="0" i="0" u="none" strike="noStrike" kern="1200" cap="none" spc="0" normalizeH="0" baseline="0" noProof="0" dirty="0">
              <a:ln>
                <a:noFill/>
              </a:ln>
              <a:solidFill>
                <a:srgbClr val="3D3935"/>
              </a:solidFill>
              <a:effectLst/>
              <a:uLnTx/>
              <a:uFillTx/>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50051C81-04ED-27C6-4FDD-EFCD8E583972}"/>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6A89BA3-132D-40E1-AAB4-CDCD0A14C216}" type="slidenum">
              <a:rPr kumimoji="0" lang="en-AU" sz="1000" b="0" i="0" u="none" strike="noStrike" kern="1200" cap="none" spc="0" normalizeH="0" baseline="0" noProof="0" smtClean="0">
                <a:ln>
                  <a:noFill/>
                </a:ln>
                <a:solidFill>
                  <a:srgbClr val="3D3935"/>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20</a:t>
            </a:fld>
            <a:r>
              <a:rPr kumimoji="0" lang="en-AU" sz="1000" b="0" i="0" u="none" strike="noStrike" kern="1200" cap="none" spc="0" normalizeH="0" baseline="0" noProof="0">
                <a:ln>
                  <a:noFill/>
                </a:ln>
                <a:solidFill>
                  <a:srgbClr val="3D3935"/>
                </a:solidFill>
                <a:effectLst/>
                <a:uLnTx/>
                <a:uFillTx/>
                <a:latin typeface="Arial" panose="020B0604020202020204" pitchFamily="34" charset="0"/>
                <a:ea typeface="+mn-ea"/>
                <a:cs typeface="Arial" panose="020B0604020202020204" pitchFamily="34" charset="0"/>
              </a:rPr>
              <a:t>  |</a:t>
            </a:r>
            <a:endParaRPr kumimoji="0" lang="en-AU" sz="1000" b="0" i="0" u="none" strike="noStrike" kern="1200" cap="none" spc="0" normalizeH="0" baseline="0" noProof="0" dirty="0">
              <a:ln>
                <a:noFill/>
              </a:ln>
              <a:solidFill>
                <a:srgbClr val="3D3935"/>
              </a:solidFill>
              <a:effectLst/>
              <a:uLnTx/>
              <a:uFillTx/>
              <a:latin typeface="Arial" panose="020B0604020202020204" pitchFamily="34" charset="0"/>
              <a:ea typeface="+mn-ea"/>
              <a:cs typeface="Arial" panose="020B0604020202020204" pitchFamily="34" charset="0"/>
            </a:endParaRPr>
          </a:p>
        </p:txBody>
      </p:sp>
      <p:sp>
        <p:nvSpPr>
          <p:cNvPr id="9" name="Text Placeholder 3">
            <a:extLst>
              <a:ext uri="{FF2B5EF4-FFF2-40B4-BE49-F238E27FC236}">
                <a16:creationId xmlns:a16="http://schemas.microsoft.com/office/drawing/2014/main" id="{A9E3914B-25DC-694D-2896-A62A030DA622}"/>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031728D6-06D2-DCAF-194A-FA200ED899AE}"/>
              </a:ext>
            </a:extLst>
          </p:cNvPr>
          <p:cNvSpPr txBox="1"/>
          <p:nvPr/>
        </p:nvSpPr>
        <p:spPr>
          <a:xfrm>
            <a:off x="78058" y="624468"/>
            <a:ext cx="738210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D3935"/>
                </a:solidFill>
                <a:effectLst/>
                <a:uLnTx/>
                <a:uFillTx/>
                <a:latin typeface="Calibir"/>
                <a:ea typeface="+mn-ea"/>
                <a:cs typeface="+mn-cs"/>
              </a:rPr>
              <a:t>Click Create</a:t>
            </a:r>
          </a:p>
        </p:txBody>
      </p:sp>
      <p:sp>
        <p:nvSpPr>
          <p:cNvPr id="8" name="Rectangle: Rounded Corners 7">
            <a:extLst>
              <a:ext uri="{FF2B5EF4-FFF2-40B4-BE49-F238E27FC236}">
                <a16:creationId xmlns:a16="http://schemas.microsoft.com/office/drawing/2014/main" id="{9AC15E9E-178F-A228-240C-DD202F89B8F8}"/>
              </a:ext>
            </a:extLst>
          </p:cNvPr>
          <p:cNvSpPr/>
          <p:nvPr/>
        </p:nvSpPr>
        <p:spPr>
          <a:xfrm>
            <a:off x="2480772" y="4975123"/>
            <a:ext cx="1117834" cy="402044"/>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397045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AA76EE9-5AEF-60A9-8F1A-64AFE363314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75FF0BF-F053-AC94-EAC9-467316438753}"/>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D3935"/>
                </a:solidFill>
                <a:effectLst/>
                <a:uLnTx/>
                <a:uFillTx/>
                <a:latin typeface="Arial" panose="020B0604020202020204" pitchFamily="34" charset="0"/>
                <a:ea typeface="+mn-ea"/>
                <a:cs typeface="Arial" panose="020B0604020202020204" pitchFamily="34" charset="0"/>
              </a:rPr>
              <a:t>Faculty of Business and Law | Peter Faber Business School</a:t>
            </a:r>
            <a:endParaRPr kumimoji="0" lang="en-US" sz="1000" b="0" i="0" u="none" strike="noStrike" kern="1200" cap="none" spc="0" normalizeH="0" baseline="0" noProof="0" dirty="0">
              <a:ln>
                <a:noFill/>
              </a:ln>
              <a:solidFill>
                <a:srgbClr val="3D3935"/>
              </a:solidFill>
              <a:effectLst/>
              <a:uLnTx/>
              <a:uFillTx/>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8C45AEEA-D949-8276-EE76-F1862D0A01A7}"/>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6A89BA3-132D-40E1-AAB4-CDCD0A14C216}" type="slidenum">
              <a:rPr kumimoji="0" lang="en-AU" sz="1000" b="0" i="0" u="none" strike="noStrike" kern="1200" cap="none" spc="0" normalizeH="0" baseline="0" noProof="0" smtClean="0">
                <a:ln>
                  <a:noFill/>
                </a:ln>
                <a:solidFill>
                  <a:srgbClr val="3D3935"/>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21</a:t>
            </a:fld>
            <a:r>
              <a:rPr kumimoji="0" lang="en-AU" sz="1000" b="0" i="0" u="none" strike="noStrike" kern="1200" cap="none" spc="0" normalizeH="0" baseline="0" noProof="0">
                <a:ln>
                  <a:noFill/>
                </a:ln>
                <a:solidFill>
                  <a:srgbClr val="3D3935"/>
                </a:solidFill>
                <a:effectLst/>
                <a:uLnTx/>
                <a:uFillTx/>
                <a:latin typeface="Arial" panose="020B0604020202020204" pitchFamily="34" charset="0"/>
                <a:ea typeface="+mn-ea"/>
                <a:cs typeface="Arial" panose="020B0604020202020204" pitchFamily="34" charset="0"/>
              </a:rPr>
              <a:t>  |</a:t>
            </a:r>
            <a:endParaRPr kumimoji="0" lang="en-AU" sz="1000" b="0" i="0" u="none" strike="noStrike" kern="1200" cap="none" spc="0" normalizeH="0" baseline="0" noProof="0" dirty="0">
              <a:ln>
                <a:noFill/>
              </a:ln>
              <a:solidFill>
                <a:srgbClr val="3D3935"/>
              </a:solidFill>
              <a:effectLst/>
              <a:uLnTx/>
              <a:uFillTx/>
              <a:latin typeface="Arial" panose="020B0604020202020204" pitchFamily="34" charset="0"/>
              <a:ea typeface="+mn-ea"/>
              <a:cs typeface="Arial" panose="020B0604020202020204" pitchFamily="34" charset="0"/>
            </a:endParaRPr>
          </a:p>
        </p:txBody>
      </p:sp>
      <p:sp>
        <p:nvSpPr>
          <p:cNvPr id="9" name="Text Placeholder 3">
            <a:extLst>
              <a:ext uri="{FF2B5EF4-FFF2-40B4-BE49-F238E27FC236}">
                <a16:creationId xmlns:a16="http://schemas.microsoft.com/office/drawing/2014/main" id="{6FB1A77F-8DAA-4C4B-5CE6-1AB88C12C05A}"/>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CA0BBDA2-0FC2-150D-AB97-A24A979A1962}"/>
              </a:ext>
            </a:extLst>
          </p:cNvPr>
          <p:cNvSpPr txBox="1"/>
          <p:nvPr/>
        </p:nvSpPr>
        <p:spPr>
          <a:xfrm>
            <a:off x="78058" y="624468"/>
            <a:ext cx="738210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D3935"/>
                </a:solidFill>
                <a:effectLst/>
                <a:uLnTx/>
                <a:uFillTx/>
                <a:latin typeface="Calibir"/>
                <a:ea typeface="+mn-ea"/>
                <a:cs typeface="+mn-cs"/>
              </a:rPr>
              <a:t>Ensure it is single database</a:t>
            </a:r>
          </a:p>
        </p:txBody>
      </p:sp>
      <p:pic>
        <p:nvPicPr>
          <p:cNvPr id="5" name="Picture 4">
            <a:extLst>
              <a:ext uri="{FF2B5EF4-FFF2-40B4-BE49-F238E27FC236}">
                <a16:creationId xmlns:a16="http://schemas.microsoft.com/office/drawing/2014/main" id="{CC20B5E9-036C-91B9-CC34-F391CC072727}"/>
              </a:ext>
            </a:extLst>
          </p:cNvPr>
          <p:cNvPicPr>
            <a:picLocks noChangeAspect="1"/>
          </p:cNvPicPr>
          <p:nvPr/>
        </p:nvPicPr>
        <p:blipFill>
          <a:blip r:embed="rId3"/>
          <a:srcRect b="13149"/>
          <a:stretch>
            <a:fillRect/>
          </a:stretch>
        </p:blipFill>
        <p:spPr>
          <a:xfrm>
            <a:off x="1140542" y="1279576"/>
            <a:ext cx="7020232" cy="4953956"/>
          </a:xfrm>
          <a:prstGeom prst="rect">
            <a:avLst/>
          </a:prstGeom>
        </p:spPr>
      </p:pic>
    </p:spTree>
    <p:extLst>
      <p:ext uri="{BB962C8B-B14F-4D97-AF65-F5344CB8AC3E}">
        <p14:creationId xmlns:p14="http://schemas.microsoft.com/office/powerpoint/2010/main" val="441891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72078B2-6243-7D2B-39EA-4C5EAB1F890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0204B67-0ABC-565A-69BA-3DB1C11F525F}"/>
              </a:ext>
            </a:extLst>
          </p:cNvPr>
          <p:cNvPicPr>
            <a:picLocks noChangeAspect="1"/>
          </p:cNvPicPr>
          <p:nvPr/>
        </p:nvPicPr>
        <p:blipFill>
          <a:blip r:embed="rId3"/>
          <a:srcRect b="12958"/>
          <a:stretch>
            <a:fillRect/>
          </a:stretch>
        </p:blipFill>
        <p:spPr>
          <a:xfrm>
            <a:off x="498929" y="1071595"/>
            <a:ext cx="8118088" cy="4693585"/>
          </a:xfrm>
          <a:prstGeom prst="rect">
            <a:avLst/>
          </a:prstGeom>
        </p:spPr>
      </p:pic>
      <p:sp>
        <p:nvSpPr>
          <p:cNvPr id="3" name="Footer Placeholder 2">
            <a:extLst>
              <a:ext uri="{FF2B5EF4-FFF2-40B4-BE49-F238E27FC236}">
                <a16:creationId xmlns:a16="http://schemas.microsoft.com/office/drawing/2014/main" id="{D7400E46-8D1A-7083-F0DB-A869592A020A}"/>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D3935"/>
                </a:solidFill>
                <a:effectLst/>
                <a:uLnTx/>
                <a:uFillTx/>
                <a:latin typeface="Arial" panose="020B0604020202020204" pitchFamily="34" charset="0"/>
                <a:ea typeface="+mn-ea"/>
                <a:cs typeface="Arial" panose="020B0604020202020204" pitchFamily="34" charset="0"/>
              </a:rPr>
              <a:t>Faculty of Business and Law | Peter Faber Business School</a:t>
            </a:r>
            <a:endParaRPr kumimoji="0" lang="en-US" sz="1000" b="0" i="0" u="none" strike="noStrike" kern="1200" cap="none" spc="0" normalizeH="0" baseline="0" noProof="0" dirty="0">
              <a:ln>
                <a:noFill/>
              </a:ln>
              <a:solidFill>
                <a:srgbClr val="3D3935"/>
              </a:solidFill>
              <a:effectLst/>
              <a:uLnTx/>
              <a:uFillTx/>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0028B0EA-D4B7-545A-F5B4-399D3026DCC0}"/>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6A89BA3-132D-40E1-AAB4-CDCD0A14C216}" type="slidenum">
              <a:rPr kumimoji="0" lang="en-AU" sz="1000" b="0" i="0" u="none" strike="noStrike" kern="1200" cap="none" spc="0" normalizeH="0" baseline="0" noProof="0" smtClean="0">
                <a:ln>
                  <a:noFill/>
                </a:ln>
                <a:solidFill>
                  <a:srgbClr val="3D3935"/>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22</a:t>
            </a:fld>
            <a:r>
              <a:rPr kumimoji="0" lang="en-AU" sz="1000" b="0" i="0" u="none" strike="noStrike" kern="1200" cap="none" spc="0" normalizeH="0" baseline="0" noProof="0">
                <a:ln>
                  <a:noFill/>
                </a:ln>
                <a:solidFill>
                  <a:srgbClr val="3D3935"/>
                </a:solidFill>
                <a:effectLst/>
                <a:uLnTx/>
                <a:uFillTx/>
                <a:latin typeface="Arial" panose="020B0604020202020204" pitchFamily="34" charset="0"/>
                <a:ea typeface="+mn-ea"/>
                <a:cs typeface="Arial" panose="020B0604020202020204" pitchFamily="34" charset="0"/>
              </a:rPr>
              <a:t>  |</a:t>
            </a:r>
            <a:endParaRPr kumimoji="0" lang="en-AU" sz="1000" b="0" i="0" u="none" strike="noStrike" kern="1200" cap="none" spc="0" normalizeH="0" baseline="0" noProof="0" dirty="0">
              <a:ln>
                <a:noFill/>
              </a:ln>
              <a:solidFill>
                <a:srgbClr val="3D3935"/>
              </a:solidFill>
              <a:effectLst/>
              <a:uLnTx/>
              <a:uFillTx/>
              <a:latin typeface="Arial" panose="020B0604020202020204" pitchFamily="34" charset="0"/>
              <a:ea typeface="+mn-ea"/>
              <a:cs typeface="Arial" panose="020B0604020202020204" pitchFamily="34" charset="0"/>
            </a:endParaRPr>
          </a:p>
        </p:txBody>
      </p:sp>
      <p:sp>
        <p:nvSpPr>
          <p:cNvPr id="9" name="Text Placeholder 3">
            <a:extLst>
              <a:ext uri="{FF2B5EF4-FFF2-40B4-BE49-F238E27FC236}">
                <a16:creationId xmlns:a16="http://schemas.microsoft.com/office/drawing/2014/main" id="{45081B22-B391-EF41-814B-A7E71DEA48B0}"/>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186C93C-35E5-5012-CDEF-EB75D98887A2}"/>
              </a:ext>
            </a:extLst>
          </p:cNvPr>
          <p:cNvSpPr txBox="1"/>
          <p:nvPr/>
        </p:nvSpPr>
        <p:spPr>
          <a:xfrm>
            <a:off x="78058" y="624468"/>
            <a:ext cx="738210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D3935"/>
                </a:solidFill>
                <a:effectLst/>
                <a:uLnTx/>
                <a:uFillTx/>
                <a:latin typeface="Calibir"/>
                <a:ea typeface="+mn-ea"/>
                <a:cs typeface="+mn-cs"/>
              </a:rPr>
              <a:t>Click Create SQL Database</a:t>
            </a:r>
          </a:p>
        </p:txBody>
      </p:sp>
      <p:sp>
        <p:nvSpPr>
          <p:cNvPr id="8" name="Rectangle: Rounded Corners 7">
            <a:extLst>
              <a:ext uri="{FF2B5EF4-FFF2-40B4-BE49-F238E27FC236}">
                <a16:creationId xmlns:a16="http://schemas.microsoft.com/office/drawing/2014/main" id="{CB50ECE2-AB7B-88E4-39F7-68F8D36B278D}"/>
              </a:ext>
            </a:extLst>
          </p:cNvPr>
          <p:cNvSpPr/>
          <p:nvPr/>
        </p:nvSpPr>
        <p:spPr>
          <a:xfrm>
            <a:off x="3924795" y="4995746"/>
            <a:ext cx="1427790" cy="334537"/>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230022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90BF40D-8440-359D-3EBF-1E2F69173D0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C4B0FA-3602-80D9-175F-0889A5262BDD}"/>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D3935"/>
                </a:solidFill>
                <a:effectLst/>
                <a:uLnTx/>
                <a:uFillTx/>
                <a:latin typeface="Arial" panose="020B0604020202020204" pitchFamily="34" charset="0"/>
                <a:ea typeface="+mn-ea"/>
                <a:cs typeface="Arial" panose="020B0604020202020204" pitchFamily="34" charset="0"/>
              </a:rPr>
              <a:t>Faculty of Business and Law | Peter Faber Business School</a:t>
            </a:r>
            <a:endParaRPr kumimoji="0" lang="en-US" sz="1000" b="0" i="0" u="none" strike="noStrike" kern="1200" cap="none" spc="0" normalizeH="0" baseline="0" noProof="0" dirty="0">
              <a:ln>
                <a:noFill/>
              </a:ln>
              <a:solidFill>
                <a:srgbClr val="3D3935"/>
              </a:solidFill>
              <a:effectLst/>
              <a:uLnTx/>
              <a:uFillTx/>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423969E8-2BB8-7765-E76F-32ED8ADF4E4C}"/>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6A89BA3-132D-40E1-AAB4-CDCD0A14C216}" type="slidenum">
              <a:rPr kumimoji="0" lang="en-AU" sz="1000" b="0" i="0" u="none" strike="noStrike" kern="1200" cap="none" spc="0" normalizeH="0" baseline="0" noProof="0" smtClean="0">
                <a:ln>
                  <a:noFill/>
                </a:ln>
                <a:solidFill>
                  <a:srgbClr val="3D3935"/>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23</a:t>
            </a:fld>
            <a:r>
              <a:rPr kumimoji="0" lang="en-AU" sz="1000" b="0" i="0" u="none" strike="noStrike" kern="1200" cap="none" spc="0" normalizeH="0" baseline="0" noProof="0">
                <a:ln>
                  <a:noFill/>
                </a:ln>
                <a:solidFill>
                  <a:srgbClr val="3D3935"/>
                </a:solidFill>
                <a:effectLst/>
                <a:uLnTx/>
                <a:uFillTx/>
                <a:latin typeface="Arial" panose="020B0604020202020204" pitchFamily="34" charset="0"/>
                <a:ea typeface="+mn-ea"/>
                <a:cs typeface="Arial" panose="020B0604020202020204" pitchFamily="34" charset="0"/>
              </a:rPr>
              <a:t>  |</a:t>
            </a:r>
            <a:endParaRPr kumimoji="0" lang="en-AU" sz="1000" b="0" i="0" u="none" strike="noStrike" kern="1200" cap="none" spc="0" normalizeH="0" baseline="0" noProof="0" dirty="0">
              <a:ln>
                <a:noFill/>
              </a:ln>
              <a:solidFill>
                <a:srgbClr val="3D3935"/>
              </a:solidFill>
              <a:effectLst/>
              <a:uLnTx/>
              <a:uFillTx/>
              <a:latin typeface="Arial" panose="020B0604020202020204" pitchFamily="34" charset="0"/>
              <a:ea typeface="+mn-ea"/>
              <a:cs typeface="Arial" panose="020B0604020202020204" pitchFamily="34" charset="0"/>
            </a:endParaRPr>
          </a:p>
        </p:txBody>
      </p:sp>
      <p:sp>
        <p:nvSpPr>
          <p:cNvPr id="9" name="Text Placeholder 3">
            <a:extLst>
              <a:ext uri="{FF2B5EF4-FFF2-40B4-BE49-F238E27FC236}">
                <a16:creationId xmlns:a16="http://schemas.microsoft.com/office/drawing/2014/main" id="{81007538-C7CB-B983-2044-028CA70FF154}"/>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07E47D17-5771-6381-FA64-B979E4D79815}"/>
              </a:ext>
            </a:extLst>
          </p:cNvPr>
          <p:cNvSpPr txBox="1"/>
          <p:nvPr/>
        </p:nvSpPr>
        <p:spPr>
          <a:xfrm>
            <a:off x="78058" y="624468"/>
            <a:ext cx="738210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D3935"/>
                </a:solidFill>
                <a:effectLst/>
                <a:uLnTx/>
                <a:uFillTx/>
                <a:latin typeface="Calibir"/>
                <a:ea typeface="+mn-ea"/>
                <a:cs typeface="+mn-cs"/>
              </a:rPr>
              <a:t>Resource – Type: RG1</a:t>
            </a:r>
          </a:p>
        </p:txBody>
      </p:sp>
      <p:pic>
        <p:nvPicPr>
          <p:cNvPr id="6" name="Picture 5">
            <a:extLst>
              <a:ext uri="{FF2B5EF4-FFF2-40B4-BE49-F238E27FC236}">
                <a16:creationId xmlns:a16="http://schemas.microsoft.com/office/drawing/2014/main" id="{73C7EA96-40AD-CC06-21FD-C263C3C8BF03}"/>
              </a:ext>
            </a:extLst>
          </p:cNvPr>
          <p:cNvPicPr>
            <a:picLocks noChangeAspect="1"/>
          </p:cNvPicPr>
          <p:nvPr/>
        </p:nvPicPr>
        <p:blipFill>
          <a:blip r:embed="rId3"/>
          <a:srcRect t="-1" b="15461"/>
          <a:stretch>
            <a:fillRect/>
          </a:stretch>
        </p:blipFill>
        <p:spPr>
          <a:xfrm>
            <a:off x="0" y="1372259"/>
            <a:ext cx="9144000" cy="4348318"/>
          </a:xfrm>
          <a:prstGeom prst="rect">
            <a:avLst/>
          </a:prstGeom>
        </p:spPr>
      </p:pic>
    </p:spTree>
    <p:extLst>
      <p:ext uri="{BB962C8B-B14F-4D97-AF65-F5344CB8AC3E}">
        <p14:creationId xmlns:p14="http://schemas.microsoft.com/office/powerpoint/2010/main" val="2765332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AF40D8A-EB4D-F6A8-E9D5-AD6F773B47F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3194503-A858-0D9B-CBD6-13DDB58D928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EF9E13DC-BC48-43BF-604A-B6DBF19DFA26}"/>
              </a:ext>
            </a:extLst>
          </p:cNvPr>
          <p:cNvSpPr>
            <a:spLocks noGrp="1"/>
          </p:cNvSpPr>
          <p:nvPr>
            <p:ph type="sldNum" sz="quarter" idx="4"/>
          </p:nvPr>
        </p:nvSpPr>
        <p:spPr/>
        <p:txBody>
          <a:bodyPr/>
          <a:lstStyle/>
          <a:p>
            <a:fld id="{16A89BA3-132D-40E1-AAB4-CDCD0A14C216}" type="slidenum">
              <a:rPr lang="en-AU" smtClean="0"/>
              <a:pPr/>
              <a:t>24</a:t>
            </a:fld>
            <a:r>
              <a:rPr lang="en-AU"/>
              <a:t>  |</a:t>
            </a:r>
            <a:endParaRPr lang="en-AU" dirty="0"/>
          </a:p>
        </p:txBody>
      </p:sp>
      <p:sp>
        <p:nvSpPr>
          <p:cNvPr id="9" name="Text Placeholder 3">
            <a:extLst>
              <a:ext uri="{FF2B5EF4-FFF2-40B4-BE49-F238E27FC236}">
                <a16:creationId xmlns:a16="http://schemas.microsoft.com/office/drawing/2014/main" id="{9C4A7368-0374-E551-66EE-DCF6D933C7C2}"/>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8DD0C5A-FF7B-7708-0465-08F90829AC05}"/>
              </a:ext>
            </a:extLst>
          </p:cNvPr>
          <p:cNvSpPr txBox="1"/>
          <p:nvPr/>
        </p:nvSpPr>
        <p:spPr>
          <a:xfrm>
            <a:off x="78058" y="624468"/>
            <a:ext cx="7382108" cy="523220"/>
          </a:xfrm>
          <a:prstGeom prst="rect">
            <a:avLst/>
          </a:prstGeom>
          <a:noFill/>
        </p:spPr>
        <p:txBody>
          <a:bodyPr wrap="square" rtlCol="0">
            <a:spAutoFit/>
          </a:bodyPr>
          <a:lstStyle/>
          <a:p>
            <a:r>
              <a:rPr lang="en-US" sz="2800" dirty="0">
                <a:solidFill>
                  <a:srgbClr val="3D3935"/>
                </a:solidFill>
                <a:latin typeface="Calibir"/>
              </a:rPr>
              <a:t>Database name</a:t>
            </a:r>
          </a:p>
        </p:txBody>
      </p:sp>
      <p:pic>
        <p:nvPicPr>
          <p:cNvPr id="6" name="Picture 5">
            <a:extLst>
              <a:ext uri="{FF2B5EF4-FFF2-40B4-BE49-F238E27FC236}">
                <a16:creationId xmlns:a16="http://schemas.microsoft.com/office/drawing/2014/main" id="{A20FE58E-9BCC-6239-A443-4A94A519509C}"/>
              </a:ext>
            </a:extLst>
          </p:cNvPr>
          <p:cNvPicPr>
            <a:picLocks noChangeAspect="1"/>
          </p:cNvPicPr>
          <p:nvPr/>
        </p:nvPicPr>
        <p:blipFill>
          <a:blip r:embed="rId3"/>
          <a:srcRect b="19756"/>
          <a:stretch>
            <a:fillRect/>
          </a:stretch>
        </p:blipFill>
        <p:spPr>
          <a:xfrm>
            <a:off x="78058" y="1147688"/>
            <a:ext cx="8720254" cy="4006188"/>
          </a:xfrm>
          <a:prstGeom prst="rect">
            <a:avLst/>
          </a:prstGeom>
        </p:spPr>
      </p:pic>
      <p:sp>
        <p:nvSpPr>
          <p:cNvPr id="10" name="TextBox 9">
            <a:extLst>
              <a:ext uri="{FF2B5EF4-FFF2-40B4-BE49-F238E27FC236}">
                <a16:creationId xmlns:a16="http://schemas.microsoft.com/office/drawing/2014/main" id="{6BA9ECA7-C8B4-8E83-4567-5E9C27EBFE95}"/>
              </a:ext>
            </a:extLst>
          </p:cNvPr>
          <p:cNvSpPr txBox="1"/>
          <p:nvPr/>
        </p:nvSpPr>
        <p:spPr>
          <a:xfrm>
            <a:off x="0" y="5192290"/>
            <a:ext cx="9144000" cy="1318181"/>
          </a:xfrm>
          <a:prstGeom prst="rect">
            <a:avLst/>
          </a:prstGeom>
          <a:noFill/>
        </p:spPr>
        <p:txBody>
          <a:bodyPr wrap="square">
            <a:spAutoFit/>
          </a:bodyPr>
          <a:lstStyle/>
          <a:p>
            <a:pPr>
              <a:lnSpc>
                <a:spcPct val="150000"/>
              </a:lnSpc>
            </a:pPr>
            <a:r>
              <a:rPr lang="en-US" sz="2800" dirty="0">
                <a:highlight>
                  <a:srgbClr val="FFFF00"/>
                </a:highlight>
                <a:latin typeface="Calibir"/>
              </a:rPr>
              <a:t>Use your Student </a:t>
            </a:r>
            <a:r>
              <a:rPr lang="en-US" sz="2800" dirty="0" err="1">
                <a:highlight>
                  <a:srgbClr val="FFFF00"/>
                </a:highlight>
                <a:latin typeface="Calibir"/>
              </a:rPr>
              <a:t>ID+name</a:t>
            </a:r>
            <a:r>
              <a:rPr lang="en-US" sz="2800" dirty="0">
                <a:highlight>
                  <a:srgbClr val="FFFF00"/>
                </a:highlight>
                <a:latin typeface="Calibir"/>
              </a:rPr>
              <a:t> as the "database name". </a:t>
            </a:r>
            <a:r>
              <a:rPr lang="en-US" sz="2800" dirty="0">
                <a:latin typeface="Calibir"/>
              </a:rPr>
              <a:t>(I chose the default one)</a:t>
            </a:r>
            <a:endParaRPr lang="en-US" sz="2800" dirty="0">
              <a:solidFill>
                <a:srgbClr val="3D3935"/>
              </a:solidFill>
              <a:latin typeface="Calibir"/>
            </a:endParaRPr>
          </a:p>
        </p:txBody>
      </p:sp>
    </p:spTree>
    <p:extLst>
      <p:ext uri="{BB962C8B-B14F-4D97-AF65-F5344CB8AC3E}">
        <p14:creationId xmlns:p14="http://schemas.microsoft.com/office/powerpoint/2010/main" val="3828123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77C26D55-624C-77BD-82E6-E67A8D2502D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094E78-2F2D-BE15-C6C9-A55D70D5E44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9F81859D-A628-0D16-CDCE-665352400BE9}"/>
              </a:ext>
            </a:extLst>
          </p:cNvPr>
          <p:cNvSpPr>
            <a:spLocks noGrp="1"/>
          </p:cNvSpPr>
          <p:nvPr>
            <p:ph type="sldNum" sz="quarter" idx="4"/>
          </p:nvPr>
        </p:nvSpPr>
        <p:spPr/>
        <p:txBody>
          <a:bodyPr/>
          <a:lstStyle/>
          <a:p>
            <a:fld id="{16A89BA3-132D-40E1-AAB4-CDCD0A14C216}" type="slidenum">
              <a:rPr lang="en-AU" smtClean="0"/>
              <a:pPr/>
              <a:t>25</a:t>
            </a:fld>
            <a:r>
              <a:rPr lang="en-AU"/>
              <a:t>  |</a:t>
            </a:r>
            <a:endParaRPr lang="en-AU" dirty="0"/>
          </a:p>
        </p:txBody>
      </p:sp>
      <p:sp>
        <p:nvSpPr>
          <p:cNvPr id="9" name="Text Placeholder 3">
            <a:extLst>
              <a:ext uri="{FF2B5EF4-FFF2-40B4-BE49-F238E27FC236}">
                <a16:creationId xmlns:a16="http://schemas.microsoft.com/office/drawing/2014/main" id="{362EA97A-896D-8A5D-5978-770A4B5FBE47}"/>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3E5325C-3E2E-19F4-45E3-B9A6D26796D8}"/>
              </a:ext>
            </a:extLst>
          </p:cNvPr>
          <p:cNvSpPr txBox="1"/>
          <p:nvPr/>
        </p:nvSpPr>
        <p:spPr>
          <a:xfrm>
            <a:off x="78058" y="624468"/>
            <a:ext cx="7382108" cy="523220"/>
          </a:xfrm>
          <a:prstGeom prst="rect">
            <a:avLst/>
          </a:prstGeom>
          <a:noFill/>
        </p:spPr>
        <p:txBody>
          <a:bodyPr wrap="square" rtlCol="0">
            <a:spAutoFit/>
          </a:bodyPr>
          <a:lstStyle/>
          <a:p>
            <a:r>
              <a:rPr lang="en-US" sz="2800" dirty="0">
                <a:solidFill>
                  <a:srgbClr val="3D3935"/>
                </a:solidFill>
                <a:latin typeface="Calibir"/>
              </a:rPr>
              <a:t>Create a New Server</a:t>
            </a:r>
          </a:p>
        </p:txBody>
      </p:sp>
      <p:pic>
        <p:nvPicPr>
          <p:cNvPr id="6" name="Picture 5">
            <a:extLst>
              <a:ext uri="{FF2B5EF4-FFF2-40B4-BE49-F238E27FC236}">
                <a16:creationId xmlns:a16="http://schemas.microsoft.com/office/drawing/2014/main" id="{FA364513-6AF6-CB56-6B2C-99C78A5F173C}"/>
              </a:ext>
            </a:extLst>
          </p:cNvPr>
          <p:cNvPicPr>
            <a:picLocks noChangeAspect="1"/>
          </p:cNvPicPr>
          <p:nvPr/>
        </p:nvPicPr>
        <p:blipFill>
          <a:blip r:embed="rId3"/>
          <a:srcRect b="16634"/>
          <a:stretch>
            <a:fillRect/>
          </a:stretch>
        </p:blipFill>
        <p:spPr>
          <a:xfrm>
            <a:off x="178420" y="1332008"/>
            <a:ext cx="8787160" cy="4193984"/>
          </a:xfrm>
          <a:prstGeom prst="rect">
            <a:avLst/>
          </a:prstGeom>
        </p:spPr>
      </p:pic>
    </p:spTree>
    <p:extLst>
      <p:ext uri="{BB962C8B-B14F-4D97-AF65-F5344CB8AC3E}">
        <p14:creationId xmlns:p14="http://schemas.microsoft.com/office/powerpoint/2010/main" val="33550987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75465E3-AF8B-74BF-5306-9E3E400D845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A874FAD-05FC-613D-8E7A-5E76ED6717D6}"/>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F3675AE-4126-62EF-05EB-1767F4F12177}"/>
              </a:ext>
            </a:extLst>
          </p:cNvPr>
          <p:cNvSpPr>
            <a:spLocks noGrp="1"/>
          </p:cNvSpPr>
          <p:nvPr>
            <p:ph type="sldNum" sz="quarter" idx="4"/>
          </p:nvPr>
        </p:nvSpPr>
        <p:spPr/>
        <p:txBody>
          <a:bodyPr/>
          <a:lstStyle/>
          <a:p>
            <a:fld id="{16A89BA3-132D-40E1-AAB4-CDCD0A14C216}" type="slidenum">
              <a:rPr lang="en-AU" smtClean="0"/>
              <a:pPr/>
              <a:t>26</a:t>
            </a:fld>
            <a:r>
              <a:rPr lang="en-AU"/>
              <a:t>  |</a:t>
            </a:r>
            <a:endParaRPr lang="en-AU" dirty="0"/>
          </a:p>
        </p:txBody>
      </p:sp>
      <p:sp>
        <p:nvSpPr>
          <p:cNvPr id="9" name="Text Placeholder 3">
            <a:extLst>
              <a:ext uri="{FF2B5EF4-FFF2-40B4-BE49-F238E27FC236}">
                <a16:creationId xmlns:a16="http://schemas.microsoft.com/office/drawing/2014/main" id="{5A926522-521C-86FD-525B-58C503E842C5}"/>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64E91D0-3EB3-1C49-241D-FEA410C0882C}"/>
              </a:ext>
            </a:extLst>
          </p:cNvPr>
          <p:cNvSpPr txBox="1"/>
          <p:nvPr/>
        </p:nvSpPr>
        <p:spPr>
          <a:xfrm>
            <a:off x="78058" y="624468"/>
            <a:ext cx="7382108" cy="523220"/>
          </a:xfrm>
          <a:prstGeom prst="rect">
            <a:avLst/>
          </a:prstGeom>
          <a:noFill/>
        </p:spPr>
        <p:txBody>
          <a:bodyPr wrap="square" rtlCol="0">
            <a:spAutoFit/>
          </a:bodyPr>
          <a:lstStyle/>
          <a:p>
            <a:r>
              <a:rPr lang="en-US" sz="2800" dirty="0">
                <a:solidFill>
                  <a:srgbClr val="3D3935"/>
                </a:solidFill>
                <a:latin typeface="Calibir"/>
              </a:rPr>
              <a:t>Sever Name</a:t>
            </a:r>
          </a:p>
        </p:txBody>
      </p:sp>
      <p:pic>
        <p:nvPicPr>
          <p:cNvPr id="5" name="Picture 4">
            <a:extLst>
              <a:ext uri="{FF2B5EF4-FFF2-40B4-BE49-F238E27FC236}">
                <a16:creationId xmlns:a16="http://schemas.microsoft.com/office/drawing/2014/main" id="{D48145F6-A8EF-05D2-6EC8-D34D20F27126}"/>
              </a:ext>
            </a:extLst>
          </p:cNvPr>
          <p:cNvPicPr>
            <a:picLocks noChangeAspect="1"/>
          </p:cNvPicPr>
          <p:nvPr/>
        </p:nvPicPr>
        <p:blipFill>
          <a:blip r:embed="rId3"/>
          <a:srcRect b="40489"/>
          <a:stretch>
            <a:fillRect/>
          </a:stretch>
        </p:blipFill>
        <p:spPr>
          <a:xfrm>
            <a:off x="133815" y="1390046"/>
            <a:ext cx="8876370" cy="3024299"/>
          </a:xfrm>
          <a:prstGeom prst="rect">
            <a:avLst/>
          </a:prstGeom>
        </p:spPr>
      </p:pic>
    </p:spTree>
    <p:extLst>
      <p:ext uri="{BB962C8B-B14F-4D97-AF65-F5344CB8AC3E}">
        <p14:creationId xmlns:p14="http://schemas.microsoft.com/office/powerpoint/2010/main" val="25867207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DFF89D4-C3AC-F854-4F6C-E310C0A4E5C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A62E4F4-577D-E50C-D08F-D171F813FCF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354914E-37D2-95EB-9CDA-D4EC331BA1D1}"/>
              </a:ext>
            </a:extLst>
          </p:cNvPr>
          <p:cNvSpPr>
            <a:spLocks noGrp="1"/>
          </p:cNvSpPr>
          <p:nvPr>
            <p:ph type="sldNum" sz="quarter" idx="4"/>
          </p:nvPr>
        </p:nvSpPr>
        <p:spPr/>
        <p:txBody>
          <a:bodyPr/>
          <a:lstStyle/>
          <a:p>
            <a:fld id="{16A89BA3-132D-40E1-AAB4-CDCD0A14C216}" type="slidenum">
              <a:rPr lang="en-AU" smtClean="0"/>
              <a:pPr/>
              <a:t>27</a:t>
            </a:fld>
            <a:r>
              <a:rPr lang="en-AU"/>
              <a:t>  |</a:t>
            </a:r>
            <a:endParaRPr lang="en-AU" dirty="0"/>
          </a:p>
        </p:txBody>
      </p:sp>
      <p:sp>
        <p:nvSpPr>
          <p:cNvPr id="9" name="Text Placeholder 3">
            <a:extLst>
              <a:ext uri="{FF2B5EF4-FFF2-40B4-BE49-F238E27FC236}">
                <a16:creationId xmlns:a16="http://schemas.microsoft.com/office/drawing/2014/main" id="{B7BCDE73-D292-2FAD-6CD8-896573AA180A}"/>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A10183A-962A-D8EE-7B8F-4F4831A6EF85}"/>
              </a:ext>
            </a:extLst>
          </p:cNvPr>
          <p:cNvSpPr txBox="1"/>
          <p:nvPr/>
        </p:nvSpPr>
        <p:spPr>
          <a:xfrm>
            <a:off x="78058" y="624468"/>
            <a:ext cx="7382108" cy="523220"/>
          </a:xfrm>
          <a:prstGeom prst="rect">
            <a:avLst/>
          </a:prstGeom>
          <a:noFill/>
        </p:spPr>
        <p:txBody>
          <a:bodyPr wrap="square" rtlCol="0">
            <a:spAutoFit/>
          </a:bodyPr>
          <a:lstStyle/>
          <a:p>
            <a:r>
              <a:rPr lang="en-US" sz="2800" dirty="0">
                <a:solidFill>
                  <a:srgbClr val="3D3935"/>
                </a:solidFill>
                <a:latin typeface="Calibir"/>
              </a:rPr>
              <a:t>West US</a:t>
            </a:r>
          </a:p>
        </p:txBody>
      </p:sp>
      <p:pic>
        <p:nvPicPr>
          <p:cNvPr id="6" name="Picture 5">
            <a:extLst>
              <a:ext uri="{FF2B5EF4-FFF2-40B4-BE49-F238E27FC236}">
                <a16:creationId xmlns:a16="http://schemas.microsoft.com/office/drawing/2014/main" id="{2F519C70-89C4-D403-491D-90F05A580905}"/>
              </a:ext>
            </a:extLst>
          </p:cNvPr>
          <p:cNvPicPr>
            <a:picLocks noChangeAspect="1"/>
          </p:cNvPicPr>
          <p:nvPr/>
        </p:nvPicPr>
        <p:blipFill>
          <a:blip r:embed="rId3"/>
          <a:srcRect b="28645"/>
          <a:stretch>
            <a:fillRect/>
          </a:stretch>
        </p:blipFill>
        <p:spPr>
          <a:xfrm>
            <a:off x="0" y="1593927"/>
            <a:ext cx="9144000" cy="3670145"/>
          </a:xfrm>
          <a:prstGeom prst="rect">
            <a:avLst/>
          </a:prstGeom>
        </p:spPr>
      </p:pic>
    </p:spTree>
    <p:extLst>
      <p:ext uri="{BB962C8B-B14F-4D97-AF65-F5344CB8AC3E}">
        <p14:creationId xmlns:p14="http://schemas.microsoft.com/office/powerpoint/2010/main" val="3747315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93319ED-DD42-930E-019D-17928322D81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B73CF1-1FBA-9BF3-A3D3-2583F1B2EDC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38184B8-94A6-A580-C0DA-5AF14D696416}"/>
              </a:ext>
            </a:extLst>
          </p:cNvPr>
          <p:cNvSpPr>
            <a:spLocks noGrp="1"/>
          </p:cNvSpPr>
          <p:nvPr>
            <p:ph type="sldNum" sz="quarter" idx="4"/>
          </p:nvPr>
        </p:nvSpPr>
        <p:spPr/>
        <p:txBody>
          <a:bodyPr/>
          <a:lstStyle/>
          <a:p>
            <a:fld id="{16A89BA3-132D-40E1-AAB4-CDCD0A14C216}" type="slidenum">
              <a:rPr lang="en-AU" smtClean="0"/>
              <a:pPr/>
              <a:t>28</a:t>
            </a:fld>
            <a:r>
              <a:rPr lang="en-AU"/>
              <a:t>  |</a:t>
            </a:r>
            <a:endParaRPr lang="en-AU" dirty="0"/>
          </a:p>
        </p:txBody>
      </p:sp>
      <p:sp>
        <p:nvSpPr>
          <p:cNvPr id="9" name="Text Placeholder 3">
            <a:extLst>
              <a:ext uri="{FF2B5EF4-FFF2-40B4-BE49-F238E27FC236}">
                <a16:creationId xmlns:a16="http://schemas.microsoft.com/office/drawing/2014/main" id="{5AEDD36F-0207-B37B-5A1D-31B632B29A02}"/>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CCC47A6C-F0E5-FD2F-039C-B526F9310846}"/>
              </a:ext>
            </a:extLst>
          </p:cNvPr>
          <p:cNvSpPr txBox="1"/>
          <p:nvPr/>
        </p:nvSpPr>
        <p:spPr>
          <a:xfrm>
            <a:off x="78058" y="624468"/>
            <a:ext cx="7382108" cy="523220"/>
          </a:xfrm>
          <a:prstGeom prst="rect">
            <a:avLst/>
          </a:prstGeom>
          <a:noFill/>
        </p:spPr>
        <p:txBody>
          <a:bodyPr wrap="square" rtlCol="0">
            <a:spAutoFit/>
          </a:bodyPr>
          <a:lstStyle/>
          <a:p>
            <a:r>
              <a:rPr lang="en-US" sz="2800" dirty="0">
                <a:solidFill>
                  <a:srgbClr val="3D3935"/>
                </a:solidFill>
                <a:latin typeface="Calibir"/>
              </a:rPr>
              <a:t>SQL Authentication</a:t>
            </a:r>
          </a:p>
        </p:txBody>
      </p:sp>
      <p:pic>
        <p:nvPicPr>
          <p:cNvPr id="6" name="Picture 5">
            <a:extLst>
              <a:ext uri="{FF2B5EF4-FFF2-40B4-BE49-F238E27FC236}">
                <a16:creationId xmlns:a16="http://schemas.microsoft.com/office/drawing/2014/main" id="{406C5B26-D907-5348-E590-A46C47A7B7D9}"/>
              </a:ext>
            </a:extLst>
          </p:cNvPr>
          <p:cNvPicPr>
            <a:picLocks noChangeAspect="1"/>
          </p:cNvPicPr>
          <p:nvPr/>
        </p:nvPicPr>
        <p:blipFill>
          <a:blip r:embed="rId3"/>
          <a:srcRect b="30020"/>
          <a:stretch>
            <a:fillRect/>
          </a:stretch>
        </p:blipFill>
        <p:spPr>
          <a:xfrm>
            <a:off x="0" y="1715894"/>
            <a:ext cx="9144000" cy="3599398"/>
          </a:xfrm>
          <a:prstGeom prst="rect">
            <a:avLst/>
          </a:prstGeom>
        </p:spPr>
      </p:pic>
    </p:spTree>
    <p:extLst>
      <p:ext uri="{BB962C8B-B14F-4D97-AF65-F5344CB8AC3E}">
        <p14:creationId xmlns:p14="http://schemas.microsoft.com/office/powerpoint/2010/main" val="25912941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386A51B-A93A-429D-B27B-7B23CD03854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BA2E073-BB1C-F6B7-FF90-557B8C1BF2C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740DA79-7F84-C405-8FBD-475E0A3C61CB}"/>
              </a:ext>
            </a:extLst>
          </p:cNvPr>
          <p:cNvSpPr>
            <a:spLocks noGrp="1"/>
          </p:cNvSpPr>
          <p:nvPr>
            <p:ph type="sldNum" sz="quarter" idx="4"/>
          </p:nvPr>
        </p:nvSpPr>
        <p:spPr/>
        <p:txBody>
          <a:bodyPr/>
          <a:lstStyle/>
          <a:p>
            <a:fld id="{16A89BA3-132D-40E1-AAB4-CDCD0A14C216}" type="slidenum">
              <a:rPr lang="en-AU" smtClean="0"/>
              <a:pPr/>
              <a:t>29</a:t>
            </a:fld>
            <a:r>
              <a:rPr lang="en-AU"/>
              <a:t>  |</a:t>
            </a:r>
            <a:endParaRPr lang="en-AU" dirty="0"/>
          </a:p>
        </p:txBody>
      </p:sp>
      <p:sp>
        <p:nvSpPr>
          <p:cNvPr id="9" name="Text Placeholder 3">
            <a:extLst>
              <a:ext uri="{FF2B5EF4-FFF2-40B4-BE49-F238E27FC236}">
                <a16:creationId xmlns:a16="http://schemas.microsoft.com/office/drawing/2014/main" id="{53A983CA-792D-9BB8-9F1D-08733C9F6B20}"/>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0339C748-6DF2-EDF7-49DE-C4B6D12BC04B}"/>
              </a:ext>
            </a:extLst>
          </p:cNvPr>
          <p:cNvSpPr txBox="1"/>
          <p:nvPr/>
        </p:nvSpPr>
        <p:spPr>
          <a:xfrm>
            <a:off x="78058" y="624468"/>
            <a:ext cx="9065942" cy="1318181"/>
          </a:xfrm>
          <a:prstGeom prst="rect">
            <a:avLst/>
          </a:prstGeom>
          <a:noFill/>
        </p:spPr>
        <p:txBody>
          <a:bodyPr wrap="square" rtlCol="0">
            <a:spAutoFit/>
          </a:bodyPr>
          <a:lstStyle/>
          <a:p>
            <a:pPr>
              <a:lnSpc>
                <a:spcPct val="150000"/>
              </a:lnSpc>
            </a:pPr>
            <a:r>
              <a:rPr lang="en-US" sz="2800" dirty="0">
                <a:solidFill>
                  <a:srgbClr val="3D3935"/>
                </a:solidFill>
                <a:latin typeface="Calibir"/>
              </a:rPr>
              <a:t>Enter Your name as Server name and set a password (You will need it later) e.g., I typed </a:t>
            </a:r>
            <a:r>
              <a:rPr lang="en-US" sz="2800" dirty="0" err="1">
                <a:solidFill>
                  <a:srgbClr val="3D3935"/>
                </a:solidFill>
                <a:highlight>
                  <a:srgbClr val="FFFF00"/>
                </a:highlight>
                <a:latin typeface="Calibir"/>
              </a:rPr>
              <a:t>Farshid.Keivanian</a:t>
            </a:r>
            <a:endParaRPr lang="en-US" sz="2800" dirty="0">
              <a:solidFill>
                <a:srgbClr val="3D3935"/>
              </a:solidFill>
              <a:highlight>
                <a:srgbClr val="FFFF00"/>
              </a:highlight>
              <a:latin typeface="Calibir"/>
            </a:endParaRPr>
          </a:p>
        </p:txBody>
      </p:sp>
      <p:pic>
        <p:nvPicPr>
          <p:cNvPr id="6" name="Picture 5">
            <a:extLst>
              <a:ext uri="{FF2B5EF4-FFF2-40B4-BE49-F238E27FC236}">
                <a16:creationId xmlns:a16="http://schemas.microsoft.com/office/drawing/2014/main" id="{489532B2-96A4-B4A5-9109-A651718D853A}"/>
              </a:ext>
            </a:extLst>
          </p:cNvPr>
          <p:cNvPicPr>
            <a:picLocks noChangeAspect="1"/>
          </p:cNvPicPr>
          <p:nvPr/>
        </p:nvPicPr>
        <p:blipFill>
          <a:blip r:embed="rId3"/>
          <a:srcRect b="14742"/>
          <a:stretch>
            <a:fillRect/>
          </a:stretch>
        </p:blipFill>
        <p:spPr>
          <a:xfrm>
            <a:off x="576987" y="2580635"/>
            <a:ext cx="8068084" cy="3938180"/>
          </a:xfrm>
          <a:prstGeom prst="rect">
            <a:avLst/>
          </a:prstGeom>
        </p:spPr>
      </p:pic>
    </p:spTree>
    <p:extLst>
      <p:ext uri="{BB962C8B-B14F-4D97-AF65-F5344CB8AC3E}">
        <p14:creationId xmlns:p14="http://schemas.microsoft.com/office/powerpoint/2010/main" val="22391689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B22E849-7E55-7E79-E306-0C4D436F820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3EBF0D2-01E6-752D-8A2B-5E94E7628FE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EA7091A-1E78-9ADF-D340-60AC52D3698B}"/>
              </a:ext>
            </a:extLst>
          </p:cNvPr>
          <p:cNvSpPr>
            <a:spLocks noGrp="1"/>
          </p:cNvSpPr>
          <p:nvPr>
            <p:ph type="sldNum" sz="quarter" idx="4"/>
          </p:nvPr>
        </p:nvSpPr>
        <p:spPr/>
        <p:txBody>
          <a:bodyPr/>
          <a:lstStyle/>
          <a:p>
            <a:fld id="{16A89BA3-132D-40E1-AAB4-CDCD0A14C216}" type="slidenum">
              <a:rPr lang="en-AU" smtClean="0"/>
              <a:pPr/>
              <a:t>30</a:t>
            </a:fld>
            <a:r>
              <a:rPr lang="en-AU"/>
              <a:t>  |</a:t>
            </a:r>
            <a:endParaRPr lang="en-AU" dirty="0"/>
          </a:p>
        </p:txBody>
      </p:sp>
      <p:sp>
        <p:nvSpPr>
          <p:cNvPr id="9" name="Text Placeholder 3">
            <a:extLst>
              <a:ext uri="{FF2B5EF4-FFF2-40B4-BE49-F238E27FC236}">
                <a16:creationId xmlns:a16="http://schemas.microsoft.com/office/drawing/2014/main" id="{170DCAD3-B968-31B8-339B-70BD6182C510}"/>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2209F35-2E51-572B-689D-049FCECD73A9}"/>
              </a:ext>
            </a:extLst>
          </p:cNvPr>
          <p:cNvSpPr txBox="1"/>
          <p:nvPr/>
        </p:nvSpPr>
        <p:spPr>
          <a:xfrm>
            <a:off x="78058" y="624468"/>
            <a:ext cx="9065942" cy="671851"/>
          </a:xfrm>
          <a:prstGeom prst="rect">
            <a:avLst/>
          </a:prstGeom>
          <a:noFill/>
        </p:spPr>
        <p:txBody>
          <a:bodyPr wrap="square" rtlCol="0">
            <a:spAutoFit/>
          </a:bodyPr>
          <a:lstStyle/>
          <a:p>
            <a:pPr>
              <a:lnSpc>
                <a:spcPct val="150000"/>
              </a:lnSpc>
            </a:pPr>
            <a:r>
              <a:rPr lang="en-US" sz="2800" dirty="0">
                <a:solidFill>
                  <a:srgbClr val="3D3935"/>
                </a:solidFill>
                <a:latin typeface="Calibir"/>
              </a:rPr>
              <a:t>Click OK</a:t>
            </a:r>
          </a:p>
        </p:txBody>
      </p:sp>
      <p:pic>
        <p:nvPicPr>
          <p:cNvPr id="5" name="Picture 4">
            <a:extLst>
              <a:ext uri="{FF2B5EF4-FFF2-40B4-BE49-F238E27FC236}">
                <a16:creationId xmlns:a16="http://schemas.microsoft.com/office/drawing/2014/main" id="{16744494-A200-6C60-7A3C-3EA67E9AF401}"/>
              </a:ext>
            </a:extLst>
          </p:cNvPr>
          <p:cNvPicPr>
            <a:picLocks noChangeAspect="1"/>
          </p:cNvPicPr>
          <p:nvPr/>
        </p:nvPicPr>
        <p:blipFill>
          <a:blip r:embed="rId3"/>
          <a:srcRect b="15854"/>
          <a:stretch>
            <a:fillRect/>
          </a:stretch>
        </p:blipFill>
        <p:spPr>
          <a:xfrm>
            <a:off x="267629" y="1581863"/>
            <a:ext cx="8608742" cy="4147296"/>
          </a:xfrm>
          <a:prstGeom prst="rect">
            <a:avLst/>
          </a:prstGeom>
        </p:spPr>
      </p:pic>
    </p:spTree>
    <p:extLst>
      <p:ext uri="{BB962C8B-B14F-4D97-AF65-F5344CB8AC3E}">
        <p14:creationId xmlns:p14="http://schemas.microsoft.com/office/powerpoint/2010/main" val="1492539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59D06F5-69DE-01A1-4828-12F5993FB9C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6F7FB4-D274-D7A2-5A3B-60F9A022A39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9CD21CB7-D633-B8F7-02DE-690C14AE2205}"/>
              </a:ext>
            </a:extLst>
          </p:cNvPr>
          <p:cNvSpPr>
            <a:spLocks noGrp="1"/>
          </p:cNvSpPr>
          <p:nvPr>
            <p:ph type="sldNum" sz="quarter" idx="4"/>
          </p:nvPr>
        </p:nvSpPr>
        <p:spPr/>
        <p:txBody>
          <a:bodyPr/>
          <a:lstStyle/>
          <a:p>
            <a:fld id="{16A89BA3-132D-40E1-AAB4-CDCD0A14C216}" type="slidenum">
              <a:rPr lang="en-AU" smtClean="0"/>
              <a:pPr/>
              <a:t>31</a:t>
            </a:fld>
            <a:r>
              <a:rPr lang="en-AU"/>
              <a:t>  |</a:t>
            </a:r>
            <a:endParaRPr lang="en-AU" dirty="0"/>
          </a:p>
        </p:txBody>
      </p:sp>
      <p:sp>
        <p:nvSpPr>
          <p:cNvPr id="9" name="Text Placeholder 3">
            <a:extLst>
              <a:ext uri="{FF2B5EF4-FFF2-40B4-BE49-F238E27FC236}">
                <a16:creationId xmlns:a16="http://schemas.microsoft.com/office/drawing/2014/main" id="{FE67DFB3-5103-EFE0-8A69-933C371F66D6}"/>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E0604BA-C16E-9601-40D8-2ED7C718585F}"/>
              </a:ext>
            </a:extLst>
          </p:cNvPr>
          <p:cNvSpPr txBox="1"/>
          <p:nvPr/>
        </p:nvSpPr>
        <p:spPr>
          <a:xfrm>
            <a:off x="78058" y="624468"/>
            <a:ext cx="7382108" cy="671851"/>
          </a:xfrm>
          <a:prstGeom prst="rect">
            <a:avLst/>
          </a:prstGeom>
          <a:noFill/>
        </p:spPr>
        <p:txBody>
          <a:bodyPr wrap="square" rtlCol="0">
            <a:spAutoFit/>
          </a:bodyPr>
          <a:lstStyle/>
          <a:p>
            <a:pPr>
              <a:lnSpc>
                <a:spcPct val="150000"/>
              </a:lnSpc>
            </a:pPr>
            <a:r>
              <a:rPr lang="en-US" sz="2800" dirty="0">
                <a:solidFill>
                  <a:srgbClr val="3D3935"/>
                </a:solidFill>
                <a:latin typeface="Calibir"/>
              </a:rPr>
              <a:t>Please follow the instructions on the right sidebar</a:t>
            </a:r>
          </a:p>
        </p:txBody>
      </p:sp>
      <p:pic>
        <p:nvPicPr>
          <p:cNvPr id="6" name="Picture 5">
            <a:extLst>
              <a:ext uri="{FF2B5EF4-FFF2-40B4-BE49-F238E27FC236}">
                <a16:creationId xmlns:a16="http://schemas.microsoft.com/office/drawing/2014/main" id="{E657D95C-577A-366D-368E-66D8CFE59E88}"/>
              </a:ext>
            </a:extLst>
          </p:cNvPr>
          <p:cNvPicPr>
            <a:picLocks noChangeAspect="1"/>
          </p:cNvPicPr>
          <p:nvPr/>
        </p:nvPicPr>
        <p:blipFill>
          <a:blip r:embed="rId3"/>
          <a:srcRect b="17073"/>
          <a:stretch>
            <a:fillRect/>
          </a:stretch>
        </p:blipFill>
        <p:spPr>
          <a:xfrm>
            <a:off x="0" y="1405780"/>
            <a:ext cx="9144000" cy="4265356"/>
          </a:xfrm>
          <a:prstGeom prst="rect">
            <a:avLst/>
          </a:prstGeom>
        </p:spPr>
      </p:pic>
    </p:spTree>
    <p:extLst>
      <p:ext uri="{BB962C8B-B14F-4D97-AF65-F5344CB8AC3E}">
        <p14:creationId xmlns:p14="http://schemas.microsoft.com/office/powerpoint/2010/main" val="8319917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2C554CF8-0A2B-FAB3-44BB-778658B2408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41515EA-9B27-8921-F959-9086AD7A50E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E882E113-BEC5-B4D3-67F6-81CA2E4D94DB}"/>
              </a:ext>
            </a:extLst>
          </p:cNvPr>
          <p:cNvSpPr>
            <a:spLocks noGrp="1"/>
          </p:cNvSpPr>
          <p:nvPr>
            <p:ph type="sldNum" sz="quarter" idx="4"/>
          </p:nvPr>
        </p:nvSpPr>
        <p:spPr/>
        <p:txBody>
          <a:bodyPr/>
          <a:lstStyle/>
          <a:p>
            <a:fld id="{16A89BA3-132D-40E1-AAB4-CDCD0A14C216}" type="slidenum">
              <a:rPr lang="en-AU" smtClean="0"/>
              <a:pPr/>
              <a:t>32</a:t>
            </a:fld>
            <a:r>
              <a:rPr lang="en-AU"/>
              <a:t>  |</a:t>
            </a:r>
            <a:endParaRPr lang="en-AU" dirty="0"/>
          </a:p>
        </p:txBody>
      </p:sp>
      <p:sp>
        <p:nvSpPr>
          <p:cNvPr id="9" name="Text Placeholder 3">
            <a:extLst>
              <a:ext uri="{FF2B5EF4-FFF2-40B4-BE49-F238E27FC236}">
                <a16:creationId xmlns:a16="http://schemas.microsoft.com/office/drawing/2014/main" id="{FB03E4AF-FDB1-4237-A6D6-70D5529B0388}"/>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BB5ADDD-5E35-3B21-487E-1CE06719C125}"/>
              </a:ext>
            </a:extLst>
          </p:cNvPr>
          <p:cNvSpPr txBox="1"/>
          <p:nvPr/>
        </p:nvSpPr>
        <p:spPr>
          <a:xfrm>
            <a:off x="78058" y="624468"/>
            <a:ext cx="7382108" cy="671851"/>
          </a:xfrm>
          <a:prstGeom prst="rect">
            <a:avLst/>
          </a:prstGeom>
          <a:noFill/>
        </p:spPr>
        <p:txBody>
          <a:bodyPr wrap="square" rtlCol="0">
            <a:spAutoFit/>
          </a:bodyPr>
          <a:lstStyle/>
          <a:p>
            <a:pPr>
              <a:lnSpc>
                <a:spcPct val="150000"/>
              </a:lnSpc>
            </a:pPr>
            <a:r>
              <a:rPr lang="en-US" sz="2800" dirty="0">
                <a:solidFill>
                  <a:srgbClr val="3D3935"/>
                </a:solidFill>
                <a:latin typeface="Calibir"/>
              </a:rPr>
              <a:t>Choose Locally-redundant backup storage</a:t>
            </a:r>
          </a:p>
        </p:txBody>
      </p:sp>
      <p:pic>
        <p:nvPicPr>
          <p:cNvPr id="5" name="Picture 4">
            <a:extLst>
              <a:ext uri="{FF2B5EF4-FFF2-40B4-BE49-F238E27FC236}">
                <a16:creationId xmlns:a16="http://schemas.microsoft.com/office/drawing/2014/main" id="{1D0EA733-1B35-8AD6-64D0-0C9F4FBD7045}"/>
              </a:ext>
            </a:extLst>
          </p:cNvPr>
          <p:cNvPicPr>
            <a:picLocks noChangeAspect="1"/>
          </p:cNvPicPr>
          <p:nvPr/>
        </p:nvPicPr>
        <p:blipFill>
          <a:blip r:embed="rId3"/>
          <a:srcRect b="16690"/>
          <a:stretch>
            <a:fillRect/>
          </a:stretch>
        </p:blipFill>
        <p:spPr>
          <a:xfrm>
            <a:off x="0" y="1372258"/>
            <a:ext cx="9144000" cy="4285021"/>
          </a:xfrm>
          <a:prstGeom prst="rect">
            <a:avLst/>
          </a:prstGeom>
        </p:spPr>
      </p:pic>
    </p:spTree>
    <p:extLst>
      <p:ext uri="{BB962C8B-B14F-4D97-AF65-F5344CB8AC3E}">
        <p14:creationId xmlns:p14="http://schemas.microsoft.com/office/powerpoint/2010/main" val="17040061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52E499A-5582-3563-5AED-E3ABE9C5394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FD3F9A8-C65C-6968-E25E-AD13B29BAB0E}"/>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633F070-E832-8DAE-2D4B-1CA4065E1466}"/>
              </a:ext>
            </a:extLst>
          </p:cNvPr>
          <p:cNvSpPr>
            <a:spLocks noGrp="1"/>
          </p:cNvSpPr>
          <p:nvPr>
            <p:ph type="sldNum" sz="quarter" idx="4"/>
          </p:nvPr>
        </p:nvSpPr>
        <p:spPr/>
        <p:txBody>
          <a:bodyPr/>
          <a:lstStyle/>
          <a:p>
            <a:fld id="{16A89BA3-132D-40E1-AAB4-CDCD0A14C216}" type="slidenum">
              <a:rPr lang="en-AU" smtClean="0"/>
              <a:pPr/>
              <a:t>33</a:t>
            </a:fld>
            <a:r>
              <a:rPr lang="en-AU"/>
              <a:t>  |</a:t>
            </a:r>
            <a:endParaRPr lang="en-AU" dirty="0"/>
          </a:p>
        </p:txBody>
      </p:sp>
      <p:sp>
        <p:nvSpPr>
          <p:cNvPr id="9" name="Text Placeholder 3">
            <a:extLst>
              <a:ext uri="{FF2B5EF4-FFF2-40B4-BE49-F238E27FC236}">
                <a16:creationId xmlns:a16="http://schemas.microsoft.com/office/drawing/2014/main" id="{224D3DC4-1B6A-C189-2F51-18FDBA28CDF5}"/>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C055FC1-E66D-0705-5D4F-E79C8EDC5571}"/>
              </a:ext>
            </a:extLst>
          </p:cNvPr>
          <p:cNvSpPr txBox="1"/>
          <p:nvPr/>
        </p:nvSpPr>
        <p:spPr>
          <a:xfrm>
            <a:off x="78058" y="624468"/>
            <a:ext cx="7382108" cy="671851"/>
          </a:xfrm>
          <a:prstGeom prst="rect">
            <a:avLst/>
          </a:prstGeom>
          <a:noFill/>
        </p:spPr>
        <p:txBody>
          <a:bodyPr wrap="square" rtlCol="0">
            <a:spAutoFit/>
          </a:bodyPr>
          <a:lstStyle/>
          <a:p>
            <a:pPr>
              <a:lnSpc>
                <a:spcPct val="150000"/>
              </a:lnSpc>
            </a:pPr>
            <a:r>
              <a:rPr lang="en-US" sz="2800" dirty="0">
                <a:solidFill>
                  <a:srgbClr val="3D3935"/>
                </a:solidFill>
                <a:latin typeface="Calibir"/>
              </a:rPr>
              <a:t>Click Next: Networking</a:t>
            </a:r>
          </a:p>
        </p:txBody>
      </p:sp>
      <p:pic>
        <p:nvPicPr>
          <p:cNvPr id="6" name="Picture 5">
            <a:extLst>
              <a:ext uri="{FF2B5EF4-FFF2-40B4-BE49-F238E27FC236}">
                <a16:creationId xmlns:a16="http://schemas.microsoft.com/office/drawing/2014/main" id="{3A36CD92-0BE1-3224-8D88-DE3B3204353B}"/>
              </a:ext>
            </a:extLst>
          </p:cNvPr>
          <p:cNvPicPr>
            <a:picLocks noChangeAspect="1"/>
          </p:cNvPicPr>
          <p:nvPr/>
        </p:nvPicPr>
        <p:blipFill>
          <a:blip r:embed="rId3"/>
          <a:srcRect b="14397"/>
          <a:stretch>
            <a:fillRect/>
          </a:stretch>
        </p:blipFill>
        <p:spPr>
          <a:xfrm>
            <a:off x="0" y="1529101"/>
            <a:ext cx="9144000" cy="4403008"/>
          </a:xfrm>
          <a:prstGeom prst="rect">
            <a:avLst/>
          </a:prstGeom>
        </p:spPr>
      </p:pic>
    </p:spTree>
    <p:extLst>
      <p:ext uri="{BB962C8B-B14F-4D97-AF65-F5344CB8AC3E}">
        <p14:creationId xmlns:p14="http://schemas.microsoft.com/office/powerpoint/2010/main" val="17399284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5287FDA-DE27-AA2D-7441-E29C7300E39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92A6DAD-1D90-2B67-719A-95356D8852DF}"/>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98E64CCC-AB00-D59A-8153-15ACE2AE76C0}"/>
              </a:ext>
            </a:extLst>
          </p:cNvPr>
          <p:cNvSpPr>
            <a:spLocks noGrp="1"/>
          </p:cNvSpPr>
          <p:nvPr>
            <p:ph type="sldNum" sz="quarter" idx="4"/>
          </p:nvPr>
        </p:nvSpPr>
        <p:spPr/>
        <p:txBody>
          <a:bodyPr/>
          <a:lstStyle/>
          <a:p>
            <a:fld id="{16A89BA3-132D-40E1-AAB4-CDCD0A14C216}" type="slidenum">
              <a:rPr lang="en-AU" smtClean="0"/>
              <a:pPr/>
              <a:t>34</a:t>
            </a:fld>
            <a:r>
              <a:rPr lang="en-AU"/>
              <a:t>  |</a:t>
            </a:r>
            <a:endParaRPr lang="en-AU" dirty="0"/>
          </a:p>
        </p:txBody>
      </p:sp>
      <p:sp>
        <p:nvSpPr>
          <p:cNvPr id="9" name="Text Placeholder 3">
            <a:extLst>
              <a:ext uri="{FF2B5EF4-FFF2-40B4-BE49-F238E27FC236}">
                <a16:creationId xmlns:a16="http://schemas.microsoft.com/office/drawing/2014/main" id="{197E5171-20F6-1913-9844-EC0CFA869F79}"/>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3517162-778F-D252-D7B7-10FCB72263AD}"/>
              </a:ext>
            </a:extLst>
          </p:cNvPr>
          <p:cNvSpPr txBox="1"/>
          <p:nvPr/>
        </p:nvSpPr>
        <p:spPr>
          <a:xfrm>
            <a:off x="78058" y="624468"/>
            <a:ext cx="7382108" cy="2520883"/>
          </a:xfrm>
          <a:prstGeom prst="rect">
            <a:avLst/>
          </a:prstGeom>
          <a:noFill/>
        </p:spPr>
        <p:txBody>
          <a:bodyPr wrap="square" rtlCol="0">
            <a:spAutoFit/>
          </a:bodyPr>
          <a:lstStyle/>
          <a:p>
            <a:pPr>
              <a:lnSpc>
                <a:spcPct val="150000"/>
              </a:lnSpc>
            </a:pPr>
            <a:r>
              <a:rPr lang="en-US" sz="2700" dirty="0">
                <a:solidFill>
                  <a:srgbClr val="3D3935"/>
                </a:solidFill>
                <a:latin typeface="Calibir"/>
              </a:rPr>
              <a:t>Select Public endpoint, and Yes for both firewall options </a:t>
            </a:r>
            <a:r>
              <a:rPr lang="en-US" sz="2700" dirty="0">
                <a:latin typeface="Calibir"/>
              </a:rPr>
              <a:t> to allow access to your database server from Azure services and your current client IP address.</a:t>
            </a:r>
            <a:endParaRPr lang="en-US" sz="2700" dirty="0">
              <a:solidFill>
                <a:srgbClr val="3D3935"/>
              </a:solidFill>
              <a:latin typeface="Calibir"/>
            </a:endParaRPr>
          </a:p>
        </p:txBody>
      </p:sp>
      <p:pic>
        <p:nvPicPr>
          <p:cNvPr id="5" name="Picture 4">
            <a:extLst>
              <a:ext uri="{FF2B5EF4-FFF2-40B4-BE49-F238E27FC236}">
                <a16:creationId xmlns:a16="http://schemas.microsoft.com/office/drawing/2014/main" id="{B20EB7B0-2C6E-295F-5CEA-AA5809AF799E}"/>
              </a:ext>
            </a:extLst>
          </p:cNvPr>
          <p:cNvPicPr>
            <a:picLocks noChangeAspect="1"/>
          </p:cNvPicPr>
          <p:nvPr/>
        </p:nvPicPr>
        <p:blipFill>
          <a:blip r:embed="rId3"/>
          <a:srcRect b="13321"/>
          <a:stretch>
            <a:fillRect/>
          </a:stretch>
        </p:blipFill>
        <p:spPr>
          <a:xfrm>
            <a:off x="1636769" y="2491338"/>
            <a:ext cx="5870462" cy="4134360"/>
          </a:xfrm>
          <a:prstGeom prst="rect">
            <a:avLst/>
          </a:prstGeom>
        </p:spPr>
      </p:pic>
    </p:spTree>
    <p:extLst>
      <p:ext uri="{BB962C8B-B14F-4D97-AF65-F5344CB8AC3E}">
        <p14:creationId xmlns:p14="http://schemas.microsoft.com/office/powerpoint/2010/main" val="840872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4FFB6FD-9B25-0535-A96A-5A695030E9E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8C4A0F3-55E4-A248-D986-FCA32E35597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FEBB7C5-2167-182B-59FA-15538C4188D6}"/>
              </a:ext>
            </a:extLst>
          </p:cNvPr>
          <p:cNvSpPr>
            <a:spLocks noGrp="1"/>
          </p:cNvSpPr>
          <p:nvPr>
            <p:ph type="sldNum" sz="quarter" idx="4"/>
          </p:nvPr>
        </p:nvSpPr>
        <p:spPr/>
        <p:txBody>
          <a:bodyPr/>
          <a:lstStyle/>
          <a:p>
            <a:fld id="{16A89BA3-132D-40E1-AAB4-CDCD0A14C216}" type="slidenum">
              <a:rPr lang="en-AU" smtClean="0"/>
              <a:pPr/>
              <a:t>35</a:t>
            </a:fld>
            <a:r>
              <a:rPr lang="en-AU"/>
              <a:t>  |</a:t>
            </a:r>
            <a:endParaRPr lang="en-AU" dirty="0"/>
          </a:p>
        </p:txBody>
      </p:sp>
      <p:sp>
        <p:nvSpPr>
          <p:cNvPr id="9" name="Text Placeholder 3">
            <a:extLst>
              <a:ext uri="{FF2B5EF4-FFF2-40B4-BE49-F238E27FC236}">
                <a16:creationId xmlns:a16="http://schemas.microsoft.com/office/drawing/2014/main" id="{E5D82770-DA74-4CAB-6C43-4BD16DD325E9}"/>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9AB1592-14A0-5BF4-F510-95DCE8EDC9EC}"/>
              </a:ext>
            </a:extLst>
          </p:cNvPr>
          <p:cNvSpPr txBox="1"/>
          <p:nvPr/>
        </p:nvSpPr>
        <p:spPr>
          <a:xfrm>
            <a:off x="78058" y="624468"/>
            <a:ext cx="7382108" cy="651140"/>
          </a:xfrm>
          <a:prstGeom prst="rect">
            <a:avLst/>
          </a:prstGeom>
          <a:noFill/>
        </p:spPr>
        <p:txBody>
          <a:bodyPr wrap="square" rtlCol="0">
            <a:spAutoFit/>
          </a:bodyPr>
          <a:lstStyle/>
          <a:p>
            <a:pPr>
              <a:lnSpc>
                <a:spcPct val="150000"/>
              </a:lnSpc>
            </a:pPr>
            <a:r>
              <a:rPr lang="en-US" sz="2700" dirty="0">
                <a:solidFill>
                  <a:srgbClr val="3D3935"/>
                </a:solidFill>
                <a:latin typeface="Calibir"/>
              </a:rPr>
              <a:t>Click on Next: Security &gt;</a:t>
            </a:r>
          </a:p>
        </p:txBody>
      </p:sp>
      <p:pic>
        <p:nvPicPr>
          <p:cNvPr id="6" name="Picture 5">
            <a:extLst>
              <a:ext uri="{FF2B5EF4-FFF2-40B4-BE49-F238E27FC236}">
                <a16:creationId xmlns:a16="http://schemas.microsoft.com/office/drawing/2014/main" id="{440CDAA4-08B2-7679-526E-DFB85EA267A0}"/>
              </a:ext>
            </a:extLst>
          </p:cNvPr>
          <p:cNvPicPr>
            <a:picLocks noChangeAspect="1"/>
          </p:cNvPicPr>
          <p:nvPr/>
        </p:nvPicPr>
        <p:blipFill>
          <a:blip r:embed="rId3"/>
          <a:srcRect b="14904"/>
          <a:stretch>
            <a:fillRect/>
          </a:stretch>
        </p:blipFill>
        <p:spPr>
          <a:xfrm>
            <a:off x="0" y="1704588"/>
            <a:ext cx="9144000" cy="4376902"/>
          </a:xfrm>
          <a:prstGeom prst="rect">
            <a:avLst/>
          </a:prstGeom>
        </p:spPr>
      </p:pic>
    </p:spTree>
    <p:extLst>
      <p:ext uri="{BB962C8B-B14F-4D97-AF65-F5344CB8AC3E}">
        <p14:creationId xmlns:p14="http://schemas.microsoft.com/office/powerpoint/2010/main" val="15146607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F76CE6F7-9359-9FEA-CE35-168067FF075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79691BC-5E9A-1578-1A7C-77F70F7F3476}"/>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EC8B9527-6052-3713-A709-599C48C471D7}"/>
              </a:ext>
            </a:extLst>
          </p:cNvPr>
          <p:cNvSpPr>
            <a:spLocks noGrp="1"/>
          </p:cNvSpPr>
          <p:nvPr>
            <p:ph type="sldNum" sz="quarter" idx="4"/>
          </p:nvPr>
        </p:nvSpPr>
        <p:spPr/>
        <p:txBody>
          <a:bodyPr/>
          <a:lstStyle/>
          <a:p>
            <a:fld id="{16A89BA3-132D-40E1-AAB4-CDCD0A14C216}" type="slidenum">
              <a:rPr lang="en-AU" smtClean="0"/>
              <a:pPr/>
              <a:t>36</a:t>
            </a:fld>
            <a:r>
              <a:rPr lang="en-AU"/>
              <a:t>  |</a:t>
            </a:r>
            <a:endParaRPr lang="en-AU" dirty="0"/>
          </a:p>
        </p:txBody>
      </p:sp>
      <p:sp>
        <p:nvSpPr>
          <p:cNvPr id="9" name="Text Placeholder 3">
            <a:extLst>
              <a:ext uri="{FF2B5EF4-FFF2-40B4-BE49-F238E27FC236}">
                <a16:creationId xmlns:a16="http://schemas.microsoft.com/office/drawing/2014/main" id="{719190AA-13CF-E2A0-2C51-907A85D9CCC9}"/>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F7F0BB1-A402-8C5A-5261-7659C1986215}"/>
              </a:ext>
            </a:extLst>
          </p:cNvPr>
          <p:cNvSpPr txBox="1"/>
          <p:nvPr/>
        </p:nvSpPr>
        <p:spPr>
          <a:xfrm>
            <a:off x="78058" y="624468"/>
            <a:ext cx="7382108" cy="651140"/>
          </a:xfrm>
          <a:prstGeom prst="rect">
            <a:avLst/>
          </a:prstGeom>
          <a:noFill/>
        </p:spPr>
        <p:txBody>
          <a:bodyPr wrap="square" rtlCol="0">
            <a:spAutoFit/>
          </a:bodyPr>
          <a:lstStyle/>
          <a:p>
            <a:pPr>
              <a:lnSpc>
                <a:spcPct val="150000"/>
              </a:lnSpc>
            </a:pPr>
            <a:r>
              <a:rPr lang="en-US" sz="2700" dirty="0">
                <a:solidFill>
                  <a:srgbClr val="3D3935"/>
                </a:solidFill>
                <a:latin typeface="Calibir"/>
              </a:rPr>
              <a:t>Microsoft Defender: Not Now</a:t>
            </a:r>
          </a:p>
        </p:txBody>
      </p:sp>
      <p:pic>
        <p:nvPicPr>
          <p:cNvPr id="5" name="Picture 4">
            <a:extLst>
              <a:ext uri="{FF2B5EF4-FFF2-40B4-BE49-F238E27FC236}">
                <a16:creationId xmlns:a16="http://schemas.microsoft.com/office/drawing/2014/main" id="{C74E2944-BFC9-328D-6968-9C406043BF9C}"/>
              </a:ext>
            </a:extLst>
          </p:cNvPr>
          <p:cNvPicPr>
            <a:picLocks noChangeAspect="1"/>
          </p:cNvPicPr>
          <p:nvPr/>
        </p:nvPicPr>
        <p:blipFill>
          <a:blip r:embed="rId3"/>
          <a:srcRect b="15517"/>
          <a:stretch>
            <a:fillRect/>
          </a:stretch>
        </p:blipFill>
        <p:spPr>
          <a:xfrm>
            <a:off x="0" y="1720354"/>
            <a:ext cx="9144000" cy="4345371"/>
          </a:xfrm>
          <a:prstGeom prst="rect">
            <a:avLst/>
          </a:prstGeom>
        </p:spPr>
      </p:pic>
    </p:spTree>
    <p:extLst>
      <p:ext uri="{BB962C8B-B14F-4D97-AF65-F5344CB8AC3E}">
        <p14:creationId xmlns:p14="http://schemas.microsoft.com/office/powerpoint/2010/main" val="28540550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18BDBA0-546E-C57C-87EF-140B3627493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207C5E9-BD64-58EE-082D-7E12B4D66B9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0AA7944-25C5-EFF5-DECC-4ECBB1F6DAF8}"/>
              </a:ext>
            </a:extLst>
          </p:cNvPr>
          <p:cNvSpPr>
            <a:spLocks noGrp="1"/>
          </p:cNvSpPr>
          <p:nvPr>
            <p:ph type="sldNum" sz="quarter" idx="4"/>
          </p:nvPr>
        </p:nvSpPr>
        <p:spPr/>
        <p:txBody>
          <a:bodyPr/>
          <a:lstStyle/>
          <a:p>
            <a:fld id="{16A89BA3-132D-40E1-AAB4-CDCD0A14C216}" type="slidenum">
              <a:rPr lang="en-AU" smtClean="0"/>
              <a:pPr/>
              <a:t>37</a:t>
            </a:fld>
            <a:r>
              <a:rPr lang="en-AU"/>
              <a:t>  |</a:t>
            </a:r>
            <a:endParaRPr lang="en-AU" dirty="0"/>
          </a:p>
        </p:txBody>
      </p:sp>
      <p:sp>
        <p:nvSpPr>
          <p:cNvPr id="9" name="Text Placeholder 3">
            <a:extLst>
              <a:ext uri="{FF2B5EF4-FFF2-40B4-BE49-F238E27FC236}">
                <a16:creationId xmlns:a16="http://schemas.microsoft.com/office/drawing/2014/main" id="{A62C653D-485C-4FD5-16A3-868126989920}"/>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FC04250-2C4B-324A-0F04-FD56E61538AF}"/>
              </a:ext>
            </a:extLst>
          </p:cNvPr>
          <p:cNvSpPr txBox="1"/>
          <p:nvPr/>
        </p:nvSpPr>
        <p:spPr>
          <a:xfrm>
            <a:off x="78058" y="624468"/>
            <a:ext cx="7382108" cy="651140"/>
          </a:xfrm>
          <a:prstGeom prst="rect">
            <a:avLst/>
          </a:prstGeom>
          <a:noFill/>
        </p:spPr>
        <p:txBody>
          <a:bodyPr wrap="square" rtlCol="0">
            <a:spAutoFit/>
          </a:bodyPr>
          <a:lstStyle/>
          <a:p>
            <a:pPr>
              <a:lnSpc>
                <a:spcPct val="150000"/>
              </a:lnSpc>
            </a:pPr>
            <a:r>
              <a:rPr lang="en-US" sz="2700" dirty="0">
                <a:solidFill>
                  <a:srgbClr val="3D3935"/>
                </a:solidFill>
                <a:latin typeface="Calibir"/>
              </a:rPr>
              <a:t>Next: Additional Settings</a:t>
            </a:r>
          </a:p>
        </p:txBody>
      </p:sp>
      <p:pic>
        <p:nvPicPr>
          <p:cNvPr id="6" name="Picture 5">
            <a:extLst>
              <a:ext uri="{FF2B5EF4-FFF2-40B4-BE49-F238E27FC236}">
                <a16:creationId xmlns:a16="http://schemas.microsoft.com/office/drawing/2014/main" id="{85A616F8-DFBE-DFCE-9BA5-C5DA494BB1BC}"/>
              </a:ext>
            </a:extLst>
          </p:cNvPr>
          <p:cNvPicPr>
            <a:picLocks noChangeAspect="1"/>
          </p:cNvPicPr>
          <p:nvPr/>
        </p:nvPicPr>
        <p:blipFill>
          <a:blip r:embed="rId3"/>
          <a:srcRect b="14291"/>
          <a:stretch>
            <a:fillRect/>
          </a:stretch>
        </p:blipFill>
        <p:spPr>
          <a:xfrm>
            <a:off x="0" y="1592974"/>
            <a:ext cx="9144000" cy="4408433"/>
          </a:xfrm>
          <a:prstGeom prst="rect">
            <a:avLst/>
          </a:prstGeom>
        </p:spPr>
      </p:pic>
    </p:spTree>
    <p:extLst>
      <p:ext uri="{BB962C8B-B14F-4D97-AF65-F5344CB8AC3E}">
        <p14:creationId xmlns:p14="http://schemas.microsoft.com/office/powerpoint/2010/main" val="5231915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B57EE61-4CF0-E8B6-ECC0-EDE3B8B6CB4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15B2468-6098-BE68-BA64-5F4E0012F9E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BFD57F6-2091-3FB0-DCA2-032045CCE185}"/>
              </a:ext>
            </a:extLst>
          </p:cNvPr>
          <p:cNvSpPr>
            <a:spLocks noGrp="1"/>
          </p:cNvSpPr>
          <p:nvPr>
            <p:ph type="sldNum" sz="quarter" idx="4"/>
          </p:nvPr>
        </p:nvSpPr>
        <p:spPr/>
        <p:txBody>
          <a:bodyPr/>
          <a:lstStyle/>
          <a:p>
            <a:fld id="{16A89BA3-132D-40E1-AAB4-CDCD0A14C216}" type="slidenum">
              <a:rPr lang="en-AU" smtClean="0"/>
              <a:pPr/>
              <a:t>38</a:t>
            </a:fld>
            <a:r>
              <a:rPr lang="en-AU"/>
              <a:t>  |</a:t>
            </a:r>
            <a:endParaRPr lang="en-AU" dirty="0"/>
          </a:p>
        </p:txBody>
      </p:sp>
      <p:sp>
        <p:nvSpPr>
          <p:cNvPr id="9" name="Text Placeholder 3">
            <a:extLst>
              <a:ext uri="{FF2B5EF4-FFF2-40B4-BE49-F238E27FC236}">
                <a16:creationId xmlns:a16="http://schemas.microsoft.com/office/drawing/2014/main" id="{47848A9B-5199-89A0-7DF8-7A11666CD9A4}"/>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72B34821-BFDE-C467-2061-5FD45C3AE75B}"/>
              </a:ext>
            </a:extLst>
          </p:cNvPr>
          <p:cNvSpPr txBox="1"/>
          <p:nvPr/>
        </p:nvSpPr>
        <p:spPr>
          <a:xfrm>
            <a:off x="78058" y="624468"/>
            <a:ext cx="7382108" cy="651140"/>
          </a:xfrm>
          <a:prstGeom prst="rect">
            <a:avLst/>
          </a:prstGeom>
          <a:noFill/>
        </p:spPr>
        <p:txBody>
          <a:bodyPr wrap="square" rtlCol="0">
            <a:spAutoFit/>
          </a:bodyPr>
          <a:lstStyle/>
          <a:p>
            <a:pPr>
              <a:lnSpc>
                <a:spcPct val="150000"/>
              </a:lnSpc>
            </a:pPr>
            <a:r>
              <a:rPr lang="en-US" sz="2700" dirty="0">
                <a:solidFill>
                  <a:srgbClr val="3D3935"/>
                </a:solidFill>
                <a:latin typeface="Calibir"/>
              </a:rPr>
              <a:t>Choose Sample</a:t>
            </a:r>
          </a:p>
        </p:txBody>
      </p:sp>
      <p:pic>
        <p:nvPicPr>
          <p:cNvPr id="5" name="Picture 4">
            <a:extLst>
              <a:ext uri="{FF2B5EF4-FFF2-40B4-BE49-F238E27FC236}">
                <a16:creationId xmlns:a16="http://schemas.microsoft.com/office/drawing/2014/main" id="{7762C175-4193-8F69-81E8-672774006516}"/>
              </a:ext>
            </a:extLst>
          </p:cNvPr>
          <p:cNvPicPr>
            <a:picLocks noChangeAspect="1"/>
          </p:cNvPicPr>
          <p:nvPr/>
        </p:nvPicPr>
        <p:blipFill>
          <a:blip r:embed="rId3"/>
          <a:srcRect b="15214"/>
          <a:stretch>
            <a:fillRect/>
          </a:stretch>
        </p:blipFill>
        <p:spPr>
          <a:xfrm>
            <a:off x="4876800" y="1866243"/>
            <a:ext cx="4267200" cy="2939612"/>
          </a:xfrm>
          <a:prstGeom prst="rect">
            <a:avLst/>
          </a:prstGeom>
          <a:ln>
            <a:solidFill>
              <a:schemeClr val="accent1"/>
            </a:solidFill>
          </a:ln>
        </p:spPr>
      </p:pic>
      <p:pic>
        <p:nvPicPr>
          <p:cNvPr id="10" name="Picture 9">
            <a:extLst>
              <a:ext uri="{FF2B5EF4-FFF2-40B4-BE49-F238E27FC236}">
                <a16:creationId xmlns:a16="http://schemas.microsoft.com/office/drawing/2014/main" id="{B867BC24-82B0-1F86-49BE-B16365DF509C}"/>
              </a:ext>
            </a:extLst>
          </p:cNvPr>
          <p:cNvPicPr>
            <a:picLocks noChangeAspect="1"/>
          </p:cNvPicPr>
          <p:nvPr/>
        </p:nvPicPr>
        <p:blipFill>
          <a:blip r:embed="rId4"/>
          <a:srcRect r="50000" b="17765"/>
          <a:stretch>
            <a:fillRect/>
          </a:stretch>
        </p:blipFill>
        <p:spPr>
          <a:xfrm>
            <a:off x="0" y="1866243"/>
            <a:ext cx="4572000" cy="4229757"/>
          </a:xfrm>
          <a:prstGeom prst="rect">
            <a:avLst/>
          </a:prstGeom>
          <a:ln>
            <a:solidFill>
              <a:schemeClr val="accent1"/>
            </a:solidFill>
          </a:ln>
        </p:spPr>
      </p:pic>
      <p:cxnSp>
        <p:nvCxnSpPr>
          <p:cNvPr id="12" name="Connector: Elbow 11">
            <a:extLst>
              <a:ext uri="{FF2B5EF4-FFF2-40B4-BE49-F238E27FC236}">
                <a16:creationId xmlns:a16="http://schemas.microsoft.com/office/drawing/2014/main" id="{8BF81E93-1D38-02E0-2909-ACAD9D1AE0B3}"/>
              </a:ext>
            </a:extLst>
          </p:cNvPr>
          <p:cNvCxnSpPr>
            <a:cxnSpLocks/>
            <a:endCxn id="5" idx="2"/>
          </p:cNvCxnSpPr>
          <p:nvPr/>
        </p:nvCxnSpPr>
        <p:spPr>
          <a:xfrm flipV="1">
            <a:off x="4572000" y="4805855"/>
            <a:ext cx="2438400" cy="590635"/>
          </a:xfrm>
          <a:prstGeom prst="bentConnector2">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9400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33F6140-70FF-DE9E-AEB9-9A6C101FAE8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1F22260-7DEA-E3B0-F593-D44F2987856F}"/>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9DA78C4B-E1B4-2477-78A8-F978B0814645}"/>
              </a:ext>
            </a:extLst>
          </p:cNvPr>
          <p:cNvSpPr>
            <a:spLocks noGrp="1"/>
          </p:cNvSpPr>
          <p:nvPr>
            <p:ph type="sldNum" sz="quarter" idx="4"/>
          </p:nvPr>
        </p:nvSpPr>
        <p:spPr/>
        <p:txBody>
          <a:bodyPr/>
          <a:lstStyle/>
          <a:p>
            <a:fld id="{16A89BA3-132D-40E1-AAB4-CDCD0A14C216}" type="slidenum">
              <a:rPr lang="en-AU" smtClean="0"/>
              <a:pPr/>
              <a:t>39</a:t>
            </a:fld>
            <a:r>
              <a:rPr lang="en-AU"/>
              <a:t>  |</a:t>
            </a:r>
            <a:endParaRPr lang="en-AU" dirty="0"/>
          </a:p>
        </p:txBody>
      </p:sp>
      <p:sp>
        <p:nvSpPr>
          <p:cNvPr id="9" name="Text Placeholder 3">
            <a:extLst>
              <a:ext uri="{FF2B5EF4-FFF2-40B4-BE49-F238E27FC236}">
                <a16:creationId xmlns:a16="http://schemas.microsoft.com/office/drawing/2014/main" id="{4A0CE13B-86E9-E076-E8A9-20480275E6C1}"/>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D41D72C-168B-FC6F-FEAB-2AF0A530BA8E}"/>
              </a:ext>
            </a:extLst>
          </p:cNvPr>
          <p:cNvSpPr txBox="1"/>
          <p:nvPr/>
        </p:nvSpPr>
        <p:spPr>
          <a:xfrm>
            <a:off x="78058" y="624468"/>
            <a:ext cx="7382108" cy="651140"/>
          </a:xfrm>
          <a:prstGeom prst="rect">
            <a:avLst/>
          </a:prstGeom>
          <a:noFill/>
        </p:spPr>
        <p:txBody>
          <a:bodyPr wrap="square" rtlCol="0">
            <a:spAutoFit/>
          </a:bodyPr>
          <a:lstStyle/>
          <a:p>
            <a:pPr>
              <a:lnSpc>
                <a:spcPct val="150000"/>
              </a:lnSpc>
            </a:pPr>
            <a:r>
              <a:rPr lang="en-US" sz="2700" dirty="0">
                <a:solidFill>
                  <a:srgbClr val="3D3935"/>
                </a:solidFill>
                <a:latin typeface="Calibir"/>
              </a:rPr>
              <a:t>Review and Create</a:t>
            </a:r>
          </a:p>
        </p:txBody>
      </p:sp>
      <p:pic>
        <p:nvPicPr>
          <p:cNvPr id="6" name="Picture 5">
            <a:extLst>
              <a:ext uri="{FF2B5EF4-FFF2-40B4-BE49-F238E27FC236}">
                <a16:creationId xmlns:a16="http://schemas.microsoft.com/office/drawing/2014/main" id="{6CD040EB-53E9-DC0D-D4E3-6265A228B29A}"/>
              </a:ext>
            </a:extLst>
          </p:cNvPr>
          <p:cNvPicPr>
            <a:picLocks noChangeAspect="1"/>
          </p:cNvPicPr>
          <p:nvPr/>
        </p:nvPicPr>
        <p:blipFill>
          <a:blip r:embed="rId3"/>
          <a:srcRect b="10970"/>
          <a:stretch>
            <a:fillRect/>
          </a:stretch>
        </p:blipFill>
        <p:spPr>
          <a:xfrm>
            <a:off x="1061545" y="1275608"/>
            <a:ext cx="7020910" cy="5078706"/>
          </a:xfrm>
          <a:prstGeom prst="rect">
            <a:avLst/>
          </a:prstGeom>
        </p:spPr>
      </p:pic>
      <p:sp>
        <p:nvSpPr>
          <p:cNvPr id="8" name="Rectangle: Rounded Corners 7">
            <a:extLst>
              <a:ext uri="{FF2B5EF4-FFF2-40B4-BE49-F238E27FC236}">
                <a16:creationId xmlns:a16="http://schemas.microsoft.com/office/drawing/2014/main" id="{D2774926-2BBE-7C57-DD8E-DDC5AD466A16}"/>
              </a:ext>
            </a:extLst>
          </p:cNvPr>
          <p:cNvSpPr/>
          <p:nvPr/>
        </p:nvSpPr>
        <p:spPr>
          <a:xfrm>
            <a:off x="1387366" y="5570483"/>
            <a:ext cx="1240220" cy="462455"/>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7592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CD9A05A-C847-0561-7DF9-7A0E9906CE0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5CE848-B4FF-152A-C85B-43241B94F94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0C863E3-1BE2-7CE9-817F-B85FEEA3618F}"/>
              </a:ext>
            </a:extLst>
          </p:cNvPr>
          <p:cNvSpPr>
            <a:spLocks noGrp="1"/>
          </p:cNvSpPr>
          <p:nvPr>
            <p:ph type="sldNum" sz="quarter" idx="4"/>
          </p:nvPr>
        </p:nvSpPr>
        <p:spPr/>
        <p:txBody>
          <a:bodyPr/>
          <a:lstStyle/>
          <a:p>
            <a:fld id="{16A89BA3-132D-40E1-AAB4-CDCD0A14C216}" type="slidenum">
              <a:rPr lang="en-AU" smtClean="0"/>
              <a:pPr/>
              <a:t>40</a:t>
            </a:fld>
            <a:r>
              <a:rPr lang="en-AU"/>
              <a:t>  |</a:t>
            </a:r>
            <a:endParaRPr lang="en-AU" dirty="0"/>
          </a:p>
        </p:txBody>
      </p:sp>
      <p:sp>
        <p:nvSpPr>
          <p:cNvPr id="9" name="Text Placeholder 3">
            <a:extLst>
              <a:ext uri="{FF2B5EF4-FFF2-40B4-BE49-F238E27FC236}">
                <a16:creationId xmlns:a16="http://schemas.microsoft.com/office/drawing/2014/main" id="{A4A183FA-271F-3E1A-3F54-AA49082E61BA}"/>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42ED8EE-1339-3836-0362-B9EF072AEE94}"/>
              </a:ext>
            </a:extLst>
          </p:cNvPr>
          <p:cNvSpPr txBox="1"/>
          <p:nvPr/>
        </p:nvSpPr>
        <p:spPr>
          <a:xfrm>
            <a:off x="78058" y="624468"/>
            <a:ext cx="7382108" cy="651140"/>
          </a:xfrm>
          <a:prstGeom prst="rect">
            <a:avLst/>
          </a:prstGeom>
          <a:noFill/>
        </p:spPr>
        <p:txBody>
          <a:bodyPr wrap="square" rtlCol="0">
            <a:spAutoFit/>
          </a:bodyPr>
          <a:lstStyle/>
          <a:p>
            <a:pPr>
              <a:lnSpc>
                <a:spcPct val="150000"/>
              </a:lnSpc>
            </a:pPr>
            <a:r>
              <a:rPr lang="en-US" sz="2700" dirty="0">
                <a:solidFill>
                  <a:srgbClr val="3D3935"/>
                </a:solidFill>
                <a:latin typeface="Calibir"/>
              </a:rPr>
              <a:t>Create</a:t>
            </a:r>
          </a:p>
        </p:txBody>
      </p:sp>
      <p:pic>
        <p:nvPicPr>
          <p:cNvPr id="5" name="Picture 4">
            <a:extLst>
              <a:ext uri="{FF2B5EF4-FFF2-40B4-BE49-F238E27FC236}">
                <a16:creationId xmlns:a16="http://schemas.microsoft.com/office/drawing/2014/main" id="{BFB69F8E-FFD4-651E-61A2-BECB9C76F681}"/>
              </a:ext>
            </a:extLst>
          </p:cNvPr>
          <p:cNvPicPr>
            <a:picLocks noChangeAspect="1"/>
          </p:cNvPicPr>
          <p:nvPr/>
        </p:nvPicPr>
        <p:blipFill>
          <a:blip r:embed="rId3"/>
          <a:srcRect b="14351"/>
          <a:stretch>
            <a:fillRect/>
          </a:stretch>
        </p:blipFill>
        <p:spPr>
          <a:xfrm>
            <a:off x="947057" y="1275608"/>
            <a:ext cx="7168056" cy="4988202"/>
          </a:xfrm>
          <a:prstGeom prst="rect">
            <a:avLst/>
          </a:prstGeom>
        </p:spPr>
      </p:pic>
      <p:sp>
        <p:nvSpPr>
          <p:cNvPr id="10" name="Rectangle: Rounded Corners 9">
            <a:extLst>
              <a:ext uri="{FF2B5EF4-FFF2-40B4-BE49-F238E27FC236}">
                <a16:creationId xmlns:a16="http://schemas.microsoft.com/office/drawing/2014/main" id="{D00EA96E-6C90-4E0F-BEF8-E9532B4F487A}"/>
              </a:ext>
            </a:extLst>
          </p:cNvPr>
          <p:cNvSpPr/>
          <p:nvPr/>
        </p:nvSpPr>
        <p:spPr>
          <a:xfrm>
            <a:off x="1282262" y="5749870"/>
            <a:ext cx="777766" cy="283068"/>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84355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CD1F130-E6FD-4B79-283D-20FB052A60C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9F4B261-D65F-6ED0-0064-AB9B70AEE4F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8417C43-76EF-A981-E23D-D44F6C263BF9}"/>
              </a:ext>
            </a:extLst>
          </p:cNvPr>
          <p:cNvSpPr>
            <a:spLocks noGrp="1"/>
          </p:cNvSpPr>
          <p:nvPr>
            <p:ph type="sldNum" sz="quarter" idx="4"/>
          </p:nvPr>
        </p:nvSpPr>
        <p:spPr/>
        <p:txBody>
          <a:bodyPr/>
          <a:lstStyle/>
          <a:p>
            <a:fld id="{16A89BA3-132D-40E1-AAB4-CDCD0A14C216}" type="slidenum">
              <a:rPr lang="en-AU" smtClean="0"/>
              <a:pPr/>
              <a:t>41</a:t>
            </a:fld>
            <a:r>
              <a:rPr lang="en-AU"/>
              <a:t>  |</a:t>
            </a:r>
            <a:endParaRPr lang="en-AU" dirty="0"/>
          </a:p>
        </p:txBody>
      </p:sp>
      <p:sp>
        <p:nvSpPr>
          <p:cNvPr id="9" name="Text Placeholder 3">
            <a:extLst>
              <a:ext uri="{FF2B5EF4-FFF2-40B4-BE49-F238E27FC236}">
                <a16:creationId xmlns:a16="http://schemas.microsoft.com/office/drawing/2014/main" id="{57C7821A-44A3-F303-3F63-C461A698D46F}"/>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785E812-2540-2927-9F62-471FEF3A9B00}"/>
              </a:ext>
            </a:extLst>
          </p:cNvPr>
          <p:cNvSpPr txBox="1"/>
          <p:nvPr/>
        </p:nvSpPr>
        <p:spPr>
          <a:xfrm>
            <a:off x="78058" y="624468"/>
            <a:ext cx="7382108" cy="651140"/>
          </a:xfrm>
          <a:prstGeom prst="rect">
            <a:avLst/>
          </a:prstGeom>
          <a:noFill/>
        </p:spPr>
        <p:txBody>
          <a:bodyPr wrap="square" rtlCol="0">
            <a:spAutoFit/>
          </a:bodyPr>
          <a:lstStyle/>
          <a:p>
            <a:pPr>
              <a:lnSpc>
                <a:spcPct val="150000"/>
              </a:lnSpc>
            </a:pPr>
            <a:r>
              <a:rPr lang="en-US" sz="2700" dirty="0">
                <a:solidFill>
                  <a:srgbClr val="3D3935"/>
                </a:solidFill>
                <a:latin typeface="Calibir"/>
              </a:rPr>
              <a:t>Wait for deployment to complete</a:t>
            </a:r>
          </a:p>
        </p:txBody>
      </p:sp>
      <p:pic>
        <p:nvPicPr>
          <p:cNvPr id="5" name="Picture 4">
            <a:extLst>
              <a:ext uri="{FF2B5EF4-FFF2-40B4-BE49-F238E27FC236}">
                <a16:creationId xmlns:a16="http://schemas.microsoft.com/office/drawing/2014/main" id="{3FA1C164-31A1-FB7E-8B94-08B8232581FA}"/>
              </a:ext>
            </a:extLst>
          </p:cNvPr>
          <p:cNvPicPr>
            <a:picLocks noChangeAspect="1"/>
          </p:cNvPicPr>
          <p:nvPr/>
        </p:nvPicPr>
        <p:blipFill>
          <a:blip r:embed="rId3"/>
          <a:srcRect b="29729"/>
          <a:stretch>
            <a:fillRect/>
          </a:stretch>
        </p:blipFill>
        <p:spPr>
          <a:xfrm>
            <a:off x="0" y="1621805"/>
            <a:ext cx="9144000" cy="3614389"/>
          </a:xfrm>
          <a:prstGeom prst="rect">
            <a:avLst/>
          </a:prstGeom>
        </p:spPr>
      </p:pic>
    </p:spTree>
    <p:extLst>
      <p:ext uri="{BB962C8B-B14F-4D97-AF65-F5344CB8AC3E}">
        <p14:creationId xmlns:p14="http://schemas.microsoft.com/office/powerpoint/2010/main" val="7915947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BB9FD30-2A50-224D-8A4C-5CB8E883D92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86C23CF-8F2C-7A2C-CA31-2E56B80A903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B0EA2D3-71EB-9DD1-CF04-21B03C05F180}"/>
              </a:ext>
            </a:extLst>
          </p:cNvPr>
          <p:cNvSpPr>
            <a:spLocks noGrp="1"/>
          </p:cNvSpPr>
          <p:nvPr>
            <p:ph type="sldNum" sz="quarter" idx="4"/>
          </p:nvPr>
        </p:nvSpPr>
        <p:spPr/>
        <p:txBody>
          <a:bodyPr/>
          <a:lstStyle/>
          <a:p>
            <a:fld id="{16A89BA3-132D-40E1-AAB4-CDCD0A14C216}" type="slidenum">
              <a:rPr lang="en-AU" smtClean="0"/>
              <a:pPr/>
              <a:t>42</a:t>
            </a:fld>
            <a:r>
              <a:rPr lang="en-AU"/>
              <a:t>  |</a:t>
            </a:r>
            <a:endParaRPr lang="en-AU" dirty="0"/>
          </a:p>
        </p:txBody>
      </p:sp>
      <p:sp>
        <p:nvSpPr>
          <p:cNvPr id="9" name="Text Placeholder 3">
            <a:extLst>
              <a:ext uri="{FF2B5EF4-FFF2-40B4-BE49-F238E27FC236}">
                <a16:creationId xmlns:a16="http://schemas.microsoft.com/office/drawing/2014/main" id="{66CDB6B5-2E20-225D-376D-E0F815617EC1}"/>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FB2763C-DB7C-0A48-1AB5-7F6A988D3C7F}"/>
              </a:ext>
            </a:extLst>
          </p:cNvPr>
          <p:cNvSpPr txBox="1"/>
          <p:nvPr/>
        </p:nvSpPr>
        <p:spPr>
          <a:xfrm>
            <a:off x="78058" y="624468"/>
            <a:ext cx="7382108" cy="651140"/>
          </a:xfrm>
          <a:prstGeom prst="rect">
            <a:avLst/>
          </a:prstGeom>
          <a:noFill/>
        </p:spPr>
        <p:txBody>
          <a:bodyPr wrap="square" rtlCol="0">
            <a:spAutoFit/>
          </a:bodyPr>
          <a:lstStyle/>
          <a:p>
            <a:pPr>
              <a:lnSpc>
                <a:spcPct val="150000"/>
              </a:lnSpc>
            </a:pPr>
            <a:r>
              <a:rPr lang="en-US" sz="2700" dirty="0">
                <a:solidFill>
                  <a:srgbClr val="3D3935"/>
                </a:solidFill>
                <a:latin typeface="Calibir"/>
              </a:rPr>
              <a:t>Deployment is complete</a:t>
            </a:r>
          </a:p>
        </p:txBody>
      </p:sp>
      <p:pic>
        <p:nvPicPr>
          <p:cNvPr id="6" name="Picture 5">
            <a:extLst>
              <a:ext uri="{FF2B5EF4-FFF2-40B4-BE49-F238E27FC236}">
                <a16:creationId xmlns:a16="http://schemas.microsoft.com/office/drawing/2014/main" id="{FB7F8674-C0AC-A9B7-EE12-0D36DDABC9B6}"/>
              </a:ext>
            </a:extLst>
          </p:cNvPr>
          <p:cNvPicPr>
            <a:picLocks noChangeAspect="1"/>
          </p:cNvPicPr>
          <p:nvPr/>
        </p:nvPicPr>
        <p:blipFill>
          <a:blip r:embed="rId3"/>
          <a:srcRect b="16653"/>
          <a:stretch>
            <a:fillRect/>
          </a:stretch>
        </p:blipFill>
        <p:spPr>
          <a:xfrm>
            <a:off x="893379" y="1385069"/>
            <a:ext cx="7357242" cy="4982277"/>
          </a:xfrm>
          <a:prstGeom prst="rect">
            <a:avLst/>
          </a:prstGeom>
        </p:spPr>
      </p:pic>
    </p:spTree>
    <p:extLst>
      <p:ext uri="{BB962C8B-B14F-4D97-AF65-F5344CB8AC3E}">
        <p14:creationId xmlns:p14="http://schemas.microsoft.com/office/powerpoint/2010/main" val="12906543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4652247-119D-6E99-B5ED-35147312AFB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AC36FCC-D15C-684A-6799-ED7ECB930E39}"/>
              </a:ext>
            </a:extLst>
          </p:cNvPr>
          <p:cNvPicPr>
            <a:picLocks noChangeAspect="1"/>
          </p:cNvPicPr>
          <p:nvPr/>
        </p:nvPicPr>
        <p:blipFill>
          <a:blip r:embed="rId3"/>
          <a:srcRect b="14683"/>
          <a:stretch>
            <a:fillRect/>
          </a:stretch>
        </p:blipFill>
        <p:spPr>
          <a:xfrm>
            <a:off x="312234" y="1348289"/>
            <a:ext cx="8519532" cy="4161422"/>
          </a:xfrm>
          <a:prstGeom prst="rect">
            <a:avLst/>
          </a:prstGeom>
        </p:spPr>
      </p:pic>
      <p:sp>
        <p:nvSpPr>
          <p:cNvPr id="3" name="Footer Placeholder 2">
            <a:extLst>
              <a:ext uri="{FF2B5EF4-FFF2-40B4-BE49-F238E27FC236}">
                <a16:creationId xmlns:a16="http://schemas.microsoft.com/office/drawing/2014/main" id="{13498AF8-2954-6A6E-16BA-0D58B34497FF}"/>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172BABE-F2A8-031C-AFA7-63E0C8A175B9}"/>
              </a:ext>
            </a:extLst>
          </p:cNvPr>
          <p:cNvSpPr>
            <a:spLocks noGrp="1"/>
          </p:cNvSpPr>
          <p:nvPr>
            <p:ph type="sldNum" sz="quarter" idx="4"/>
          </p:nvPr>
        </p:nvSpPr>
        <p:spPr/>
        <p:txBody>
          <a:bodyPr/>
          <a:lstStyle/>
          <a:p>
            <a:fld id="{16A89BA3-132D-40E1-AAB4-CDCD0A14C216}" type="slidenum">
              <a:rPr lang="en-AU" smtClean="0"/>
              <a:pPr/>
              <a:t>43</a:t>
            </a:fld>
            <a:r>
              <a:rPr lang="en-AU"/>
              <a:t>  |</a:t>
            </a:r>
            <a:endParaRPr lang="en-AU" dirty="0"/>
          </a:p>
        </p:txBody>
      </p:sp>
      <p:sp>
        <p:nvSpPr>
          <p:cNvPr id="9" name="Text Placeholder 3">
            <a:extLst>
              <a:ext uri="{FF2B5EF4-FFF2-40B4-BE49-F238E27FC236}">
                <a16:creationId xmlns:a16="http://schemas.microsoft.com/office/drawing/2014/main" id="{1EC97DC3-4FE4-7F10-B845-D32A0CD5EBE7}"/>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DBFBF39-0D98-51F5-9BCF-C2CD1D81212E}"/>
              </a:ext>
            </a:extLst>
          </p:cNvPr>
          <p:cNvSpPr txBox="1"/>
          <p:nvPr/>
        </p:nvSpPr>
        <p:spPr>
          <a:xfrm>
            <a:off x="78058" y="624468"/>
            <a:ext cx="7382108" cy="651140"/>
          </a:xfrm>
          <a:prstGeom prst="rect">
            <a:avLst/>
          </a:prstGeom>
          <a:noFill/>
        </p:spPr>
        <p:txBody>
          <a:bodyPr wrap="square" rtlCol="0">
            <a:spAutoFit/>
          </a:bodyPr>
          <a:lstStyle/>
          <a:p>
            <a:pPr>
              <a:lnSpc>
                <a:spcPct val="150000"/>
              </a:lnSpc>
            </a:pPr>
            <a:r>
              <a:rPr lang="en-US" sz="2700" dirty="0">
                <a:solidFill>
                  <a:srgbClr val="3D3935"/>
                </a:solidFill>
                <a:latin typeface="Calibir"/>
              </a:rPr>
              <a:t>Go to the Resource that was deployed</a:t>
            </a:r>
          </a:p>
        </p:txBody>
      </p:sp>
      <p:sp>
        <p:nvSpPr>
          <p:cNvPr id="8" name="Rectangle: Rounded Corners 7">
            <a:extLst>
              <a:ext uri="{FF2B5EF4-FFF2-40B4-BE49-F238E27FC236}">
                <a16:creationId xmlns:a16="http://schemas.microsoft.com/office/drawing/2014/main" id="{7F34F325-D081-776F-5E60-5CC144C0E45B}"/>
              </a:ext>
            </a:extLst>
          </p:cNvPr>
          <p:cNvSpPr/>
          <p:nvPr/>
        </p:nvSpPr>
        <p:spPr>
          <a:xfrm>
            <a:off x="4441022" y="4393581"/>
            <a:ext cx="1558334" cy="430738"/>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26732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F6D1820-4D44-6490-666B-343F748DE4D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B4B0FE7-0E81-BE55-B427-A52F41F61C84}"/>
              </a:ext>
            </a:extLst>
          </p:cNvPr>
          <p:cNvPicPr>
            <a:picLocks noChangeAspect="1"/>
          </p:cNvPicPr>
          <p:nvPr/>
        </p:nvPicPr>
        <p:blipFill>
          <a:blip r:embed="rId3"/>
          <a:srcRect b="16721"/>
          <a:stretch>
            <a:fillRect/>
          </a:stretch>
        </p:blipFill>
        <p:spPr>
          <a:xfrm>
            <a:off x="0" y="1466408"/>
            <a:ext cx="9144000" cy="4283462"/>
          </a:xfrm>
          <a:prstGeom prst="rect">
            <a:avLst/>
          </a:prstGeom>
        </p:spPr>
      </p:pic>
      <p:sp>
        <p:nvSpPr>
          <p:cNvPr id="3" name="Footer Placeholder 2">
            <a:extLst>
              <a:ext uri="{FF2B5EF4-FFF2-40B4-BE49-F238E27FC236}">
                <a16:creationId xmlns:a16="http://schemas.microsoft.com/office/drawing/2014/main" id="{BE54CC61-3D84-960C-212B-F8E57BD29A7F}"/>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E99AA24E-F97F-19C4-A3B5-A73E74A6C77E}"/>
              </a:ext>
            </a:extLst>
          </p:cNvPr>
          <p:cNvSpPr>
            <a:spLocks noGrp="1"/>
          </p:cNvSpPr>
          <p:nvPr>
            <p:ph type="sldNum" sz="quarter" idx="4"/>
          </p:nvPr>
        </p:nvSpPr>
        <p:spPr/>
        <p:txBody>
          <a:bodyPr/>
          <a:lstStyle/>
          <a:p>
            <a:fld id="{16A89BA3-132D-40E1-AAB4-CDCD0A14C216}" type="slidenum">
              <a:rPr lang="en-AU" smtClean="0"/>
              <a:pPr/>
              <a:t>44</a:t>
            </a:fld>
            <a:r>
              <a:rPr lang="en-AU"/>
              <a:t>  |</a:t>
            </a:r>
            <a:endParaRPr lang="en-AU" dirty="0"/>
          </a:p>
        </p:txBody>
      </p:sp>
      <p:sp>
        <p:nvSpPr>
          <p:cNvPr id="9" name="Text Placeholder 3">
            <a:extLst>
              <a:ext uri="{FF2B5EF4-FFF2-40B4-BE49-F238E27FC236}">
                <a16:creationId xmlns:a16="http://schemas.microsoft.com/office/drawing/2014/main" id="{F826606E-22EC-0C10-42DF-4E980449E23D}"/>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01F6309-C36E-65A7-F2D5-D285A2AA3E0C}"/>
              </a:ext>
            </a:extLst>
          </p:cNvPr>
          <p:cNvSpPr txBox="1"/>
          <p:nvPr/>
        </p:nvSpPr>
        <p:spPr>
          <a:xfrm>
            <a:off x="78058" y="624468"/>
            <a:ext cx="7382108" cy="651140"/>
          </a:xfrm>
          <a:prstGeom prst="rect">
            <a:avLst/>
          </a:prstGeom>
          <a:noFill/>
        </p:spPr>
        <p:txBody>
          <a:bodyPr wrap="square" rtlCol="0">
            <a:spAutoFit/>
          </a:bodyPr>
          <a:lstStyle/>
          <a:p>
            <a:pPr>
              <a:lnSpc>
                <a:spcPct val="150000"/>
              </a:lnSpc>
            </a:pPr>
            <a:r>
              <a:rPr lang="en-US" sz="2700" dirty="0">
                <a:solidFill>
                  <a:srgbClr val="3D3935"/>
                </a:solidFill>
                <a:latin typeface="Calibir"/>
              </a:rPr>
              <a:t>Click on Query Editor</a:t>
            </a:r>
          </a:p>
        </p:txBody>
      </p:sp>
      <p:sp>
        <p:nvSpPr>
          <p:cNvPr id="8" name="Rectangle: Rounded Corners 7">
            <a:extLst>
              <a:ext uri="{FF2B5EF4-FFF2-40B4-BE49-F238E27FC236}">
                <a16:creationId xmlns:a16="http://schemas.microsoft.com/office/drawing/2014/main" id="{4F4F520E-3A1E-BC6F-7A1F-58915852B578}"/>
              </a:ext>
            </a:extLst>
          </p:cNvPr>
          <p:cNvSpPr/>
          <p:nvPr/>
        </p:nvSpPr>
        <p:spPr>
          <a:xfrm>
            <a:off x="78058" y="3451303"/>
            <a:ext cx="1505415" cy="206297"/>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76901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7AE4A7E-0A44-DA3E-426E-F3CBEA852CE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1A7AAF-9D0C-421F-52D8-B195590BA48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853A53D-FC35-FBA5-05B6-4658A57FDE46}"/>
              </a:ext>
            </a:extLst>
          </p:cNvPr>
          <p:cNvSpPr>
            <a:spLocks noGrp="1"/>
          </p:cNvSpPr>
          <p:nvPr>
            <p:ph type="sldNum" sz="quarter" idx="4"/>
          </p:nvPr>
        </p:nvSpPr>
        <p:spPr/>
        <p:txBody>
          <a:bodyPr/>
          <a:lstStyle/>
          <a:p>
            <a:fld id="{16A89BA3-132D-40E1-AAB4-CDCD0A14C216}" type="slidenum">
              <a:rPr lang="en-AU" smtClean="0"/>
              <a:pPr/>
              <a:t>45</a:t>
            </a:fld>
            <a:r>
              <a:rPr lang="en-AU"/>
              <a:t>  |</a:t>
            </a:r>
            <a:endParaRPr lang="en-AU" dirty="0"/>
          </a:p>
        </p:txBody>
      </p:sp>
      <p:sp>
        <p:nvSpPr>
          <p:cNvPr id="9" name="Text Placeholder 3">
            <a:extLst>
              <a:ext uri="{FF2B5EF4-FFF2-40B4-BE49-F238E27FC236}">
                <a16:creationId xmlns:a16="http://schemas.microsoft.com/office/drawing/2014/main" id="{181A2082-5EA9-9BB4-0AAC-9F02E2C15B73}"/>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7624DF3F-10AE-E397-9858-312247B5CB87}"/>
              </a:ext>
            </a:extLst>
          </p:cNvPr>
          <p:cNvSpPr txBox="1"/>
          <p:nvPr/>
        </p:nvSpPr>
        <p:spPr>
          <a:xfrm>
            <a:off x="78058" y="624468"/>
            <a:ext cx="7382108" cy="651140"/>
          </a:xfrm>
          <a:prstGeom prst="rect">
            <a:avLst/>
          </a:prstGeom>
          <a:noFill/>
        </p:spPr>
        <p:txBody>
          <a:bodyPr wrap="square" rtlCol="0">
            <a:spAutoFit/>
          </a:bodyPr>
          <a:lstStyle/>
          <a:p>
            <a:pPr>
              <a:lnSpc>
                <a:spcPct val="150000"/>
              </a:lnSpc>
            </a:pPr>
            <a:r>
              <a:rPr lang="en-US" sz="2700" dirty="0">
                <a:solidFill>
                  <a:srgbClr val="3D3935"/>
                </a:solidFill>
                <a:latin typeface="Calibir"/>
              </a:rPr>
              <a:t>Sign-in using administration log in</a:t>
            </a:r>
          </a:p>
        </p:txBody>
      </p:sp>
      <p:pic>
        <p:nvPicPr>
          <p:cNvPr id="5" name="Picture 4">
            <a:extLst>
              <a:ext uri="{FF2B5EF4-FFF2-40B4-BE49-F238E27FC236}">
                <a16:creationId xmlns:a16="http://schemas.microsoft.com/office/drawing/2014/main" id="{1004E792-2E44-C7BF-DD2F-2B452196CA15}"/>
              </a:ext>
            </a:extLst>
          </p:cNvPr>
          <p:cNvPicPr>
            <a:picLocks noChangeAspect="1"/>
          </p:cNvPicPr>
          <p:nvPr/>
        </p:nvPicPr>
        <p:blipFill>
          <a:blip r:embed="rId3"/>
          <a:srcRect b="16318"/>
          <a:stretch>
            <a:fillRect/>
          </a:stretch>
        </p:blipFill>
        <p:spPr>
          <a:xfrm>
            <a:off x="894138" y="1385069"/>
            <a:ext cx="7538224" cy="5125402"/>
          </a:xfrm>
          <a:prstGeom prst="rect">
            <a:avLst/>
          </a:prstGeom>
        </p:spPr>
      </p:pic>
    </p:spTree>
    <p:extLst>
      <p:ext uri="{BB962C8B-B14F-4D97-AF65-F5344CB8AC3E}">
        <p14:creationId xmlns:p14="http://schemas.microsoft.com/office/powerpoint/2010/main" val="37925560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6758E25-381C-69C5-333F-9A77CA7EAA6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767D885-013F-FD45-272D-8AD04ABB420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74BDCD8-08D4-6698-BCEC-159F3BCED2AA}"/>
              </a:ext>
            </a:extLst>
          </p:cNvPr>
          <p:cNvSpPr>
            <a:spLocks noGrp="1"/>
          </p:cNvSpPr>
          <p:nvPr>
            <p:ph type="sldNum" sz="quarter" idx="4"/>
          </p:nvPr>
        </p:nvSpPr>
        <p:spPr/>
        <p:txBody>
          <a:bodyPr/>
          <a:lstStyle/>
          <a:p>
            <a:fld id="{16A89BA3-132D-40E1-AAB4-CDCD0A14C216}" type="slidenum">
              <a:rPr lang="en-AU" smtClean="0"/>
              <a:pPr/>
              <a:t>46</a:t>
            </a:fld>
            <a:r>
              <a:rPr lang="en-AU"/>
              <a:t>  |</a:t>
            </a:r>
            <a:endParaRPr lang="en-AU" dirty="0"/>
          </a:p>
        </p:txBody>
      </p:sp>
      <p:sp>
        <p:nvSpPr>
          <p:cNvPr id="9" name="Text Placeholder 3">
            <a:extLst>
              <a:ext uri="{FF2B5EF4-FFF2-40B4-BE49-F238E27FC236}">
                <a16:creationId xmlns:a16="http://schemas.microsoft.com/office/drawing/2014/main" id="{43CD912F-E9ED-DC6A-C9E4-57AE468C10D6}"/>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40A1F84-8B02-8679-50D0-A114E248FEF2}"/>
              </a:ext>
            </a:extLst>
          </p:cNvPr>
          <p:cNvSpPr txBox="1"/>
          <p:nvPr/>
        </p:nvSpPr>
        <p:spPr>
          <a:xfrm>
            <a:off x="78058" y="624468"/>
            <a:ext cx="7382108" cy="651140"/>
          </a:xfrm>
          <a:prstGeom prst="rect">
            <a:avLst/>
          </a:prstGeom>
          <a:noFill/>
        </p:spPr>
        <p:txBody>
          <a:bodyPr wrap="square" rtlCol="0">
            <a:spAutoFit/>
          </a:bodyPr>
          <a:lstStyle/>
          <a:p>
            <a:pPr>
              <a:lnSpc>
                <a:spcPct val="150000"/>
              </a:lnSpc>
            </a:pPr>
            <a:r>
              <a:rPr lang="en-US" sz="2700" dirty="0">
                <a:solidFill>
                  <a:srgbClr val="3D3935"/>
                </a:solidFill>
                <a:latin typeface="Calibir"/>
              </a:rPr>
              <a:t>Here is Query Editor</a:t>
            </a:r>
          </a:p>
        </p:txBody>
      </p:sp>
      <p:pic>
        <p:nvPicPr>
          <p:cNvPr id="6" name="Picture 5">
            <a:extLst>
              <a:ext uri="{FF2B5EF4-FFF2-40B4-BE49-F238E27FC236}">
                <a16:creationId xmlns:a16="http://schemas.microsoft.com/office/drawing/2014/main" id="{A3CE7B9D-F530-12F1-48E7-424096409C74}"/>
              </a:ext>
            </a:extLst>
          </p:cNvPr>
          <p:cNvPicPr>
            <a:picLocks noChangeAspect="1"/>
          </p:cNvPicPr>
          <p:nvPr/>
        </p:nvPicPr>
        <p:blipFill>
          <a:blip r:embed="rId3"/>
          <a:srcRect b="14664"/>
          <a:stretch>
            <a:fillRect/>
          </a:stretch>
        </p:blipFill>
        <p:spPr>
          <a:xfrm>
            <a:off x="1106129" y="1489974"/>
            <a:ext cx="6931742" cy="4806130"/>
          </a:xfrm>
          <a:prstGeom prst="rect">
            <a:avLst/>
          </a:prstGeom>
        </p:spPr>
      </p:pic>
    </p:spTree>
    <p:extLst>
      <p:ext uri="{BB962C8B-B14F-4D97-AF65-F5344CB8AC3E}">
        <p14:creationId xmlns:p14="http://schemas.microsoft.com/office/powerpoint/2010/main" val="10581976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828776C-844A-7CC2-3FD0-0A38C8DF30A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8B9BDD7-1235-977C-066B-9476BBA5472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13F9D02-7F5A-DB34-8367-05A4B9BF20B8}"/>
              </a:ext>
            </a:extLst>
          </p:cNvPr>
          <p:cNvSpPr>
            <a:spLocks noGrp="1"/>
          </p:cNvSpPr>
          <p:nvPr>
            <p:ph type="sldNum" sz="quarter" idx="4"/>
          </p:nvPr>
        </p:nvSpPr>
        <p:spPr/>
        <p:txBody>
          <a:bodyPr/>
          <a:lstStyle/>
          <a:p>
            <a:fld id="{16A89BA3-132D-40E1-AAB4-CDCD0A14C216}" type="slidenum">
              <a:rPr lang="en-AU" smtClean="0"/>
              <a:pPr/>
              <a:t>47</a:t>
            </a:fld>
            <a:r>
              <a:rPr lang="en-AU"/>
              <a:t>  |</a:t>
            </a:r>
            <a:endParaRPr lang="en-AU" dirty="0"/>
          </a:p>
        </p:txBody>
      </p:sp>
      <p:sp>
        <p:nvSpPr>
          <p:cNvPr id="9" name="Text Placeholder 3">
            <a:extLst>
              <a:ext uri="{FF2B5EF4-FFF2-40B4-BE49-F238E27FC236}">
                <a16:creationId xmlns:a16="http://schemas.microsoft.com/office/drawing/2014/main" id="{5637D0D0-04C2-3E03-E707-2D312A6729F1}"/>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B3BBC52-7E23-5A88-A6DE-B9FA0961F8BD}"/>
              </a:ext>
            </a:extLst>
          </p:cNvPr>
          <p:cNvSpPr txBox="1"/>
          <p:nvPr/>
        </p:nvSpPr>
        <p:spPr>
          <a:xfrm>
            <a:off x="78058" y="624468"/>
            <a:ext cx="7382108" cy="651140"/>
          </a:xfrm>
          <a:prstGeom prst="rect">
            <a:avLst/>
          </a:prstGeom>
          <a:noFill/>
        </p:spPr>
        <p:txBody>
          <a:bodyPr wrap="square" rtlCol="0">
            <a:spAutoFit/>
          </a:bodyPr>
          <a:lstStyle/>
          <a:p>
            <a:pPr>
              <a:lnSpc>
                <a:spcPct val="150000"/>
              </a:lnSpc>
            </a:pPr>
            <a:r>
              <a:rPr lang="en-US" sz="2700" dirty="0">
                <a:solidFill>
                  <a:srgbClr val="3D3935"/>
                </a:solidFill>
                <a:latin typeface="Calibir"/>
              </a:rPr>
              <a:t>Expand Tables to see</a:t>
            </a:r>
          </a:p>
        </p:txBody>
      </p:sp>
      <p:pic>
        <p:nvPicPr>
          <p:cNvPr id="5" name="Picture 4">
            <a:extLst>
              <a:ext uri="{FF2B5EF4-FFF2-40B4-BE49-F238E27FC236}">
                <a16:creationId xmlns:a16="http://schemas.microsoft.com/office/drawing/2014/main" id="{EE580B09-7CAF-77F1-0B97-0D38886CBB2A}"/>
              </a:ext>
            </a:extLst>
          </p:cNvPr>
          <p:cNvPicPr>
            <a:picLocks noChangeAspect="1"/>
          </p:cNvPicPr>
          <p:nvPr/>
        </p:nvPicPr>
        <p:blipFill>
          <a:blip r:embed="rId3"/>
          <a:srcRect b="15562"/>
          <a:stretch>
            <a:fillRect/>
          </a:stretch>
        </p:blipFill>
        <p:spPr>
          <a:xfrm>
            <a:off x="958645" y="1385069"/>
            <a:ext cx="7226710" cy="4957924"/>
          </a:xfrm>
          <a:prstGeom prst="rect">
            <a:avLst/>
          </a:prstGeom>
        </p:spPr>
      </p:pic>
    </p:spTree>
    <p:extLst>
      <p:ext uri="{BB962C8B-B14F-4D97-AF65-F5344CB8AC3E}">
        <p14:creationId xmlns:p14="http://schemas.microsoft.com/office/powerpoint/2010/main" val="39811965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F4B4C1EC-166A-97C4-8B0E-859436103B9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8F100EB-DB4F-461F-DEDD-DB81F9BB9FD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6ABBCD3-ECC7-C944-2941-CAD2983808E1}"/>
              </a:ext>
            </a:extLst>
          </p:cNvPr>
          <p:cNvSpPr>
            <a:spLocks noGrp="1"/>
          </p:cNvSpPr>
          <p:nvPr>
            <p:ph type="sldNum" sz="quarter" idx="4"/>
          </p:nvPr>
        </p:nvSpPr>
        <p:spPr/>
        <p:txBody>
          <a:bodyPr/>
          <a:lstStyle/>
          <a:p>
            <a:fld id="{16A89BA3-132D-40E1-AAB4-CDCD0A14C216}" type="slidenum">
              <a:rPr lang="en-AU" smtClean="0"/>
              <a:pPr/>
              <a:t>48</a:t>
            </a:fld>
            <a:r>
              <a:rPr lang="en-AU"/>
              <a:t>  |</a:t>
            </a:r>
            <a:endParaRPr lang="en-AU" dirty="0"/>
          </a:p>
        </p:txBody>
      </p:sp>
      <p:sp>
        <p:nvSpPr>
          <p:cNvPr id="9" name="Text Placeholder 3">
            <a:extLst>
              <a:ext uri="{FF2B5EF4-FFF2-40B4-BE49-F238E27FC236}">
                <a16:creationId xmlns:a16="http://schemas.microsoft.com/office/drawing/2014/main" id="{61DA1341-64D2-C2F8-B833-00B830B0164C}"/>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D0A4A88-6837-58A8-6C63-18F9DB0D1EAE}"/>
              </a:ext>
            </a:extLst>
          </p:cNvPr>
          <p:cNvSpPr txBox="1"/>
          <p:nvPr/>
        </p:nvSpPr>
        <p:spPr>
          <a:xfrm>
            <a:off x="78058" y="624468"/>
            <a:ext cx="9065942" cy="4549835"/>
          </a:xfrm>
          <a:prstGeom prst="rect">
            <a:avLst/>
          </a:prstGeom>
          <a:noFill/>
        </p:spPr>
        <p:txBody>
          <a:bodyPr wrap="square" rtlCol="0">
            <a:spAutoFit/>
          </a:bodyPr>
          <a:lstStyle/>
          <a:p>
            <a:pPr>
              <a:lnSpc>
                <a:spcPct val="150000"/>
              </a:lnSpc>
            </a:pPr>
            <a:r>
              <a:rPr lang="en-US" sz="2800" dirty="0">
                <a:latin typeface="Calibir"/>
              </a:rPr>
              <a:t>Scroll or refresh to view all </a:t>
            </a:r>
            <a:r>
              <a:rPr lang="en-US" sz="2800" dirty="0" err="1">
                <a:latin typeface="Calibir"/>
              </a:rPr>
              <a:t>SalesLT</a:t>
            </a:r>
            <a:r>
              <a:rPr lang="en-US" sz="2800" dirty="0">
                <a:latin typeface="Calibir"/>
              </a:rPr>
              <a:t> tables.</a:t>
            </a:r>
            <a:br>
              <a:rPr lang="en-US" sz="2800" dirty="0">
                <a:latin typeface="Calibir"/>
              </a:rPr>
            </a:br>
            <a:r>
              <a:rPr lang="en-US" sz="2800" dirty="0">
                <a:latin typeface="Calibir"/>
              </a:rPr>
              <a:t>The tutorial Week 9 queries will use</a:t>
            </a:r>
          </a:p>
          <a:p>
            <a:pPr marL="714375" indent="-457200">
              <a:lnSpc>
                <a:spcPct val="150000"/>
              </a:lnSpc>
              <a:buFont typeface="Arial" panose="020B0604020202020204" pitchFamily="34" charset="0"/>
              <a:buChar char="•"/>
            </a:pPr>
            <a:r>
              <a:rPr lang="en-US" sz="2800" dirty="0" err="1">
                <a:latin typeface="Calibir"/>
              </a:rPr>
              <a:t>SalesLT.Customer</a:t>
            </a:r>
            <a:r>
              <a:rPr lang="en-US" sz="2800" dirty="0">
                <a:latin typeface="Calibir"/>
              </a:rPr>
              <a:t>,</a:t>
            </a:r>
          </a:p>
          <a:p>
            <a:pPr marL="714375" indent="-457200">
              <a:lnSpc>
                <a:spcPct val="150000"/>
              </a:lnSpc>
              <a:buFont typeface="Arial" panose="020B0604020202020204" pitchFamily="34" charset="0"/>
              <a:buChar char="•"/>
            </a:pPr>
            <a:r>
              <a:rPr lang="en-US" sz="2800" dirty="0" err="1">
                <a:latin typeface="Calibir"/>
              </a:rPr>
              <a:t>SalesLT.Product</a:t>
            </a:r>
            <a:r>
              <a:rPr lang="en-US" sz="2800" dirty="0">
                <a:latin typeface="Calibir"/>
              </a:rPr>
              <a:t>,</a:t>
            </a:r>
          </a:p>
          <a:p>
            <a:pPr marL="714375" indent="-457200">
              <a:lnSpc>
                <a:spcPct val="150000"/>
              </a:lnSpc>
              <a:buFont typeface="Arial" panose="020B0604020202020204" pitchFamily="34" charset="0"/>
              <a:buChar char="•"/>
            </a:pPr>
            <a:r>
              <a:rPr lang="en-US" sz="2800" dirty="0" err="1">
                <a:latin typeface="Calibir"/>
              </a:rPr>
              <a:t>SalesLT.ProductCategory</a:t>
            </a:r>
            <a:r>
              <a:rPr lang="en-US" sz="2800" dirty="0">
                <a:latin typeface="Calibir"/>
              </a:rPr>
              <a:t>,</a:t>
            </a:r>
          </a:p>
          <a:p>
            <a:pPr marL="714375" indent="-457200">
              <a:lnSpc>
                <a:spcPct val="150000"/>
              </a:lnSpc>
              <a:buFont typeface="Arial" panose="020B0604020202020204" pitchFamily="34" charset="0"/>
              <a:buChar char="•"/>
            </a:pPr>
            <a:r>
              <a:rPr lang="en-US" sz="2800" dirty="0" err="1">
                <a:latin typeface="Calibir"/>
              </a:rPr>
              <a:t>SalesLT.SalesOrderHeader</a:t>
            </a:r>
            <a:r>
              <a:rPr lang="en-US" sz="2800" dirty="0">
                <a:latin typeface="Calibir"/>
              </a:rPr>
              <a:t>,</a:t>
            </a:r>
          </a:p>
          <a:p>
            <a:pPr marL="714375" indent="-457200">
              <a:lnSpc>
                <a:spcPct val="150000"/>
              </a:lnSpc>
              <a:buFont typeface="Arial" panose="020B0604020202020204" pitchFamily="34" charset="0"/>
              <a:buChar char="•"/>
            </a:pPr>
            <a:r>
              <a:rPr lang="en-US" sz="2800" dirty="0">
                <a:latin typeface="Calibir"/>
              </a:rPr>
              <a:t>and </a:t>
            </a:r>
            <a:r>
              <a:rPr lang="en-US" sz="2800" dirty="0" err="1">
                <a:latin typeface="Calibir"/>
              </a:rPr>
              <a:t>SalesLT.SalesOrderDetail</a:t>
            </a:r>
            <a:r>
              <a:rPr lang="en-US" sz="2800" dirty="0">
                <a:latin typeface="Calibir"/>
              </a:rPr>
              <a:t> primarily.</a:t>
            </a:r>
            <a:endParaRPr lang="en-US" sz="2800" dirty="0">
              <a:solidFill>
                <a:srgbClr val="3D3935"/>
              </a:solidFill>
              <a:latin typeface="Calibir"/>
            </a:endParaRPr>
          </a:p>
        </p:txBody>
      </p:sp>
    </p:spTree>
    <p:extLst>
      <p:ext uri="{BB962C8B-B14F-4D97-AF65-F5344CB8AC3E}">
        <p14:creationId xmlns:p14="http://schemas.microsoft.com/office/powerpoint/2010/main" val="16296042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C7CFABE-E862-2950-B776-1A01F366289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0A2986B-7ADA-EA8F-0FE2-B8EF134D9EB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BACBE47-D178-7804-F0F4-3166C506351E}"/>
              </a:ext>
            </a:extLst>
          </p:cNvPr>
          <p:cNvSpPr>
            <a:spLocks noGrp="1"/>
          </p:cNvSpPr>
          <p:nvPr>
            <p:ph type="sldNum" sz="quarter" idx="4"/>
          </p:nvPr>
        </p:nvSpPr>
        <p:spPr/>
        <p:txBody>
          <a:bodyPr/>
          <a:lstStyle/>
          <a:p>
            <a:fld id="{16A89BA3-132D-40E1-AAB4-CDCD0A14C216}" type="slidenum">
              <a:rPr lang="en-AU" smtClean="0"/>
              <a:pPr/>
              <a:t>49</a:t>
            </a:fld>
            <a:r>
              <a:rPr lang="en-AU"/>
              <a:t>  |</a:t>
            </a:r>
            <a:endParaRPr lang="en-AU" dirty="0"/>
          </a:p>
        </p:txBody>
      </p:sp>
      <p:sp>
        <p:nvSpPr>
          <p:cNvPr id="9" name="Text Placeholder 3">
            <a:extLst>
              <a:ext uri="{FF2B5EF4-FFF2-40B4-BE49-F238E27FC236}">
                <a16:creationId xmlns:a16="http://schemas.microsoft.com/office/drawing/2014/main" id="{9CE2CC20-22C2-6F8D-5AC3-76222A9BDA78}"/>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02C3137-1E89-8500-AF30-FF8F3A03272E}"/>
              </a:ext>
            </a:extLst>
          </p:cNvPr>
          <p:cNvSpPr txBox="1"/>
          <p:nvPr/>
        </p:nvSpPr>
        <p:spPr>
          <a:xfrm>
            <a:off x="78058" y="624468"/>
            <a:ext cx="7382108" cy="651140"/>
          </a:xfrm>
          <a:prstGeom prst="rect">
            <a:avLst/>
          </a:prstGeom>
          <a:noFill/>
        </p:spPr>
        <p:txBody>
          <a:bodyPr wrap="square" rtlCol="0">
            <a:spAutoFit/>
          </a:bodyPr>
          <a:lstStyle/>
          <a:p>
            <a:pPr>
              <a:lnSpc>
                <a:spcPct val="150000"/>
              </a:lnSpc>
            </a:pPr>
            <a:r>
              <a:rPr lang="en-US" sz="2700" dirty="0">
                <a:solidFill>
                  <a:srgbClr val="3D3935"/>
                </a:solidFill>
                <a:latin typeface="Calibir"/>
              </a:rPr>
              <a:t>Click on &lt;&lt;</a:t>
            </a:r>
          </a:p>
        </p:txBody>
      </p:sp>
      <p:pic>
        <p:nvPicPr>
          <p:cNvPr id="6" name="Picture 5">
            <a:extLst>
              <a:ext uri="{FF2B5EF4-FFF2-40B4-BE49-F238E27FC236}">
                <a16:creationId xmlns:a16="http://schemas.microsoft.com/office/drawing/2014/main" id="{14ED35F4-8CC6-D334-848B-15EA0413664C}"/>
              </a:ext>
            </a:extLst>
          </p:cNvPr>
          <p:cNvPicPr>
            <a:picLocks noChangeAspect="1"/>
          </p:cNvPicPr>
          <p:nvPr/>
        </p:nvPicPr>
        <p:blipFill>
          <a:blip r:embed="rId3"/>
          <a:srcRect b="14868"/>
          <a:stretch>
            <a:fillRect/>
          </a:stretch>
        </p:blipFill>
        <p:spPr>
          <a:xfrm>
            <a:off x="988142" y="1275608"/>
            <a:ext cx="7167716" cy="4957924"/>
          </a:xfrm>
          <a:prstGeom prst="rect">
            <a:avLst/>
          </a:prstGeom>
        </p:spPr>
      </p:pic>
      <p:sp>
        <p:nvSpPr>
          <p:cNvPr id="8" name="Rectangle: Rounded Corners 7">
            <a:extLst>
              <a:ext uri="{FF2B5EF4-FFF2-40B4-BE49-F238E27FC236}">
                <a16:creationId xmlns:a16="http://schemas.microsoft.com/office/drawing/2014/main" id="{8E19518A-8F64-8638-B2E8-309457AB9CF8}"/>
              </a:ext>
            </a:extLst>
          </p:cNvPr>
          <p:cNvSpPr/>
          <p:nvPr/>
        </p:nvSpPr>
        <p:spPr>
          <a:xfrm>
            <a:off x="6828503" y="3642852"/>
            <a:ext cx="631663" cy="412954"/>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66091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77DA762-8F39-5BA8-3831-1099BD354EB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A55E4F7-B995-29AF-7DC7-783134935D1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FDB7B19-2554-E9F5-44E7-B4EDA337F421}"/>
              </a:ext>
            </a:extLst>
          </p:cNvPr>
          <p:cNvSpPr>
            <a:spLocks noGrp="1"/>
          </p:cNvSpPr>
          <p:nvPr>
            <p:ph type="sldNum" sz="quarter" idx="4"/>
          </p:nvPr>
        </p:nvSpPr>
        <p:spPr/>
        <p:txBody>
          <a:bodyPr/>
          <a:lstStyle/>
          <a:p>
            <a:fld id="{16A89BA3-132D-40E1-AAB4-CDCD0A14C216}" type="slidenum">
              <a:rPr lang="en-AU" smtClean="0"/>
              <a:pPr/>
              <a:t>50</a:t>
            </a:fld>
            <a:r>
              <a:rPr lang="en-AU"/>
              <a:t>  |</a:t>
            </a:r>
            <a:endParaRPr lang="en-AU" dirty="0"/>
          </a:p>
        </p:txBody>
      </p:sp>
      <p:sp>
        <p:nvSpPr>
          <p:cNvPr id="9" name="Text Placeholder 3">
            <a:extLst>
              <a:ext uri="{FF2B5EF4-FFF2-40B4-BE49-F238E27FC236}">
                <a16:creationId xmlns:a16="http://schemas.microsoft.com/office/drawing/2014/main" id="{97464E70-19F6-7AA2-D657-45A6506DFEB7}"/>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A52F737-9D97-883A-DB1E-22FBA671230C}"/>
              </a:ext>
            </a:extLst>
          </p:cNvPr>
          <p:cNvSpPr txBox="1"/>
          <p:nvPr/>
        </p:nvSpPr>
        <p:spPr>
          <a:xfrm>
            <a:off x="78058" y="624468"/>
            <a:ext cx="9065942" cy="3257174"/>
          </a:xfrm>
          <a:prstGeom prst="rect">
            <a:avLst/>
          </a:prstGeom>
          <a:noFill/>
        </p:spPr>
        <p:txBody>
          <a:bodyPr wrap="square" rtlCol="0">
            <a:spAutoFit/>
          </a:bodyPr>
          <a:lstStyle/>
          <a:p>
            <a:pPr>
              <a:lnSpc>
                <a:spcPct val="150000"/>
              </a:lnSpc>
            </a:pPr>
            <a:r>
              <a:rPr lang="en-US" sz="2800" b="1" dirty="0">
                <a:latin typeface="Calibir"/>
              </a:rPr>
              <a:t>Screenshot Checklist</a:t>
            </a:r>
          </a:p>
          <a:p>
            <a:pPr>
              <a:lnSpc>
                <a:spcPct val="150000"/>
              </a:lnSpc>
            </a:pPr>
            <a:r>
              <a:rPr lang="en-US" sz="2800" dirty="0">
                <a:latin typeface="Calibir"/>
              </a:rPr>
              <a:t>For each query you run, take a screenshot showing:</a:t>
            </a:r>
          </a:p>
          <a:p>
            <a:pPr marL="914400" lvl="1" indent="-457200">
              <a:lnSpc>
                <a:spcPct val="150000"/>
              </a:lnSpc>
              <a:buFont typeface="Arial" panose="020B0604020202020204" pitchFamily="34" charset="0"/>
              <a:buChar char="•"/>
            </a:pPr>
            <a:r>
              <a:rPr lang="en-US" sz="2800" dirty="0">
                <a:latin typeface="Calibir"/>
              </a:rPr>
              <a:t>The SQL code in the editor</a:t>
            </a:r>
          </a:p>
          <a:p>
            <a:pPr marL="914400" lvl="1" indent="-457200">
              <a:lnSpc>
                <a:spcPct val="150000"/>
              </a:lnSpc>
              <a:buFont typeface="Arial" panose="020B0604020202020204" pitchFamily="34" charset="0"/>
              <a:buChar char="•"/>
            </a:pPr>
            <a:r>
              <a:rPr lang="en-US" sz="2800" dirty="0">
                <a:latin typeface="Calibir"/>
              </a:rPr>
              <a:t>The results table/output</a:t>
            </a:r>
          </a:p>
          <a:p>
            <a:pPr marL="914400" lvl="1" indent="-457200">
              <a:lnSpc>
                <a:spcPct val="150000"/>
              </a:lnSpc>
              <a:buFont typeface="Arial" panose="020B0604020202020204" pitchFamily="34" charset="0"/>
              <a:buChar char="•"/>
            </a:pPr>
            <a:r>
              <a:rPr lang="en-US" sz="2800" dirty="0">
                <a:latin typeface="Calibir"/>
              </a:rPr>
              <a:t>(Optional) database name at the top</a:t>
            </a:r>
          </a:p>
        </p:txBody>
      </p:sp>
      <p:pic>
        <p:nvPicPr>
          <p:cNvPr id="5" name="Picture 4">
            <a:extLst>
              <a:ext uri="{FF2B5EF4-FFF2-40B4-BE49-F238E27FC236}">
                <a16:creationId xmlns:a16="http://schemas.microsoft.com/office/drawing/2014/main" id="{42FC58EA-0B6D-FBC7-5E6D-1001FF2A2CE5}"/>
              </a:ext>
            </a:extLst>
          </p:cNvPr>
          <p:cNvPicPr>
            <a:picLocks noChangeAspect="1"/>
          </p:cNvPicPr>
          <p:nvPr/>
        </p:nvPicPr>
        <p:blipFill>
          <a:blip r:embed="rId3"/>
          <a:srcRect b="30072"/>
          <a:stretch>
            <a:fillRect/>
          </a:stretch>
        </p:blipFill>
        <p:spPr>
          <a:xfrm>
            <a:off x="893267" y="3881642"/>
            <a:ext cx="7435523" cy="2924739"/>
          </a:xfrm>
          <a:prstGeom prst="rect">
            <a:avLst/>
          </a:prstGeom>
        </p:spPr>
      </p:pic>
    </p:spTree>
    <p:extLst>
      <p:ext uri="{BB962C8B-B14F-4D97-AF65-F5344CB8AC3E}">
        <p14:creationId xmlns:p14="http://schemas.microsoft.com/office/powerpoint/2010/main" val="18658222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F18EFEB8-B433-95DF-2F9A-85AF62054E8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F3F9D60-FC8F-BDC1-2FEA-5B721A3569C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4A873C8-BECD-3587-1B8D-94A836F8747F}"/>
              </a:ext>
            </a:extLst>
          </p:cNvPr>
          <p:cNvSpPr>
            <a:spLocks noGrp="1"/>
          </p:cNvSpPr>
          <p:nvPr>
            <p:ph type="sldNum" sz="quarter" idx="4"/>
          </p:nvPr>
        </p:nvSpPr>
        <p:spPr/>
        <p:txBody>
          <a:bodyPr/>
          <a:lstStyle/>
          <a:p>
            <a:fld id="{16A89BA3-132D-40E1-AAB4-CDCD0A14C216}" type="slidenum">
              <a:rPr lang="en-AU" smtClean="0"/>
              <a:pPr/>
              <a:t>51</a:t>
            </a:fld>
            <a:r>
              <a:rPr lang="en-AU"/>
              <a:t>  |</a:t>
            </a:r>
            <a:endParaRPr lang="en-AU" dirty="0"/>
          </a:p>
        </p:txBody>
      </p:sp>
      <p:sp>
        <p:nvSpPr>
          <p:cNvPr id="9" name="Text Placeholder 3">
            <a:extLst>
              <a:ext uri="{FF2B5EF4-FFF2-40B4-BE49-F238E27FC236}">
                <a16:creationId xmlns:a16="http://schemas.microsoft.com/office/drawing/2014/main" id="{D6DF24EE-E9ED-CFC0-5FAD-20072C348D40}"/>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A31A96E-3A42-A8AD-24D0-D9716777357E}"/>
              </a:ext>
            </a:extLst>
          </p:cNvPr>
          <p:cNvSpPr txBox="1"/>
          <p:nvPr/>
        </p:nvSpPr>
        <p:spPr>
          <a:xfrm>
            <a:off x="78058" y="624468"/>
            <a:ext cx="9065942" cy="3903504"/>
          </a:xfrm>
          <a:prstGeom prst="rect">
            <a:avLst/>
          </a:prstGeom>
          <a:noFill/>
        </p:spPr>
        <p:txBody>
          <a:bodyPr wrap="square" rtlCol="0">
            <a:spAutoFit/>
          </a:bodyPr>
          <a:lstStyle/>
          <a:p>
            <a:pPr>
              <a:lnSpc>
                <a:spcPct val="150000"/>
              </a:lnSpc>
            </a:pPr>
            <a:r>
              <a:rPr lang="en-US" sz="2800" b="1" dirty="0">
                <a:latin typeface="Calibir"/>
              </a:rPr>
              <a:t>WHAT TO TAKE SCREENSHOTS OF</a:t>
            </a:r>
          </a:p>
          <a:p>
            <a:pPr>
              <a:lnSpc>
                <a:spcPct val="150000"/>
              </a:lnSpc>
            </a:pPr>
            <a:r>
              <a:rPr lang="en-US" sz="2800" dirty="0">
                <a:latin typeface="Calibir"/>
              </a:rPr>
              <a:t>For each query:</a:t>
            </a:r>
          </a:p>
          <a:p>
            <a:pPr marL="971550" lvl="1" indent="-514350">
              <a:lnSpc>
                <a:spcPct val="150000"/>
              </a:lnSpc>
              <a:buFont typeface="+mj-lt"/>
              <a:buAutoNum type="arabicPeriod"/>
            </a:pPr>
            <a:r>
              <a:rPr lang="en-US" sz="2800" dirty="0">
                <a:latin typeface="Calibir"/>
              </a:rPr>
              <a:t>The SQL command written in the editor</a:t>
            </a:r>
          </a:p>
          <a:p>
            <a:pPr marL="971550" lvl="1" indent="-514350">
              <a:lnSpc>
                <a:spcPct val="150000"/>
              </a:lnSpc>
              <a:buFont typeface="+mj-lt"/>
              <a:buAutoNum type="arabicPeriod"/>
            </a:pPr>
            <a:r>
              <a:rPr lang="en-US" sz="2800" dirty="0">
                <a:latin typeface="Calibir"/>
              </a:rPr>
              <a:t>The result table/output below the editor</a:t>
            </a:r>
          </a:p>
          <a:p>
            <a:pPr>
              <a:lnSpc>
                <a:spcPct val="150000"/>
              </a:lnSpc>
            </a:pPr>
            <a:r>
              <a:rPr lang="en-US" sz="2800" dirty="0">
                <a:latin typeface="Calibir"/>
              </a:rPr>
              <a:t>Tip: Zoom out slightly (Ctrl + –) to fit both code and results in one screenshot.</a:t>
            </a:r>
          </a:p>
        </p:txBody>
      </p:sp>
    </p:spTree>
    <p:extLst>
      <p:ext uri="{BB962C8B-B14F-4D97-AF65-F5344CB8AC3E}">
        <p14:creationId xmlns:p14="http://schemas.microsoft.com/office/powerpoint/2010/main" val="23306112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60E16E4-A41A-8B83-DFB7-9B657FAC50B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EB79672-EA92-9779-E98E-01FF72C625C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9326FD0-957F-975F-F32F-B0E9362A6CB0}"/>
              </a:ext>
            </a:extLst>
          </p:cNvPr>
          <p:cNvSpPr>
            <a:spLocks noGrp="1"/>
          </p:cNvSpPr>
          <p:nvPr>
            <p:ph type="sldNum" sz="quarter" idx="4"/>
          </p:nvPr>
        </p:nvSpPr>
        <p:spPr/>
        <p:txBody>
          <a:bodyPr/>
          <a:lstStyle/>
          <a:p>
            <a:fld id="{16A89BA3-132D-40E1-AAB4-CDCD0A14C216}" type="slidenum">
              <a:rPr lang="en-AU" smtClean="0"/>
              <a:pPr/>
              <a:t>52</a:t>
            </a:fld>
            <a:r>
              <a:rPr lang="en-AU"/>
              <a:t>  |</a:t>
            </a:r>
            <a:endParaRPr lang="en-AU" dirty="0"/>
          </a:p>
        </p:txBody>
      </p:sp>
      <p:sp>
        <p:nvSpPr>
          <p:cNvPr id="9" name="Text Placeholder 3">
            <a:extLst>
              <a:ext uri="{FF2B5EF4-FFF2-40B4-BE49-F238E27FC236}">
                <a16:creationId xmlns:a16="http://schemas.microsoft.com/office/drawing/2014/main" id="{A96E8B7B-1343-A144-0ABC-731515F166B9}"/>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063B57E-DBD4-21B5-D2E8-F7E278AED500}"/>
              </a:ext>
            </a:extLst>
          </p:cNvPr>
          <p:cNvSpPr txBox="1"/>
          <p:nvPr/>
        </p:nvSpPr>
        <p:spPr>
          <a:xfrm>
            <a:off x="78058" y="624468"/>
            <a:ext cx="9065942" cy="3903504"/>
          </a:xfrm>
          <a:prstGeom prst="rect">
            <a:avLst/>
          </a:prstGeom>
          <a:noFill/>
        </p:spPr>
        <p:txBody>
          <a:bodyPr wrap="square" rtlCol="0">
            <a:spAutoFit/>
          </a:bodyPr>
          <a:lstStyle/>
          <a:p>
            <a:pPr>
              <a:lnSpc>
                <a:spcPct val="150000"/>
              </a:lnSpc>
            </a:pPr>
            <a:r>
              <a:rPr lang="en-US" sz="2800" b="1" dirty="0">
                <a:latin typeface="Calibir"/>
              </a:rPr>
              <a:t>WHAT TO SUBMIT</a:t>
            </a:r>
          </a:p>
          <a:p>
            <a:pPr marL="971550" lvl="1" indent="-514350">
              <a:lnSpc>
                <a:spcPct val="150000"/>
              </a:lnSpc>
              <a:buFont typeface="+mj-lt"/>
              <a:buAutoNum type="arabicPeriod"/>
            </a:pPr>
            <a:r>
              <a:rPr lang="en-US" sz="2800" dirty="0">
                <a:latin typeface="Calibir"/>
              </a:rPr>
              <a:t>Paste all 15 screenshots (or at least 6 completed ones) into one Word or PDF file.</a:t>
            </a:r>
          </a:p>
          <a:p>
            <a:pPr marL="971550" lvl="1" indent="-514350">
              <a:lnSpc>
                <a:spcPct val="150000"/>
              </a:lnSpc>
              <a:buFont typeface="+mj-lt"/>
              <a:buAutoNum type="arabicPeriod"/>
            </a:pPr>
            <a:r>
              <a:rPr lang="en-US" sz="2800" dirty="0">
                <a:latin typeface="Calibir"/>
              </a:rPr>
              <a:t>Label each query clearly (e.g., </a:t>
            </a:r>
            <a:r>
              <a:rPr lang="en-US" sz="2800" i="1" dirty="0">
                <a:latin typeface="Calibir"/>
              </a:rPr>
              <a:t>Q1: Count Customers</a:t>
            </a:r>
            <a:r>
              <a:rPr lang="en-US" sz="2800" dirty="0">
                <a:latin typeface="Calibir"/>
              </a:rPr>
              <a:t>).</a:t>
            </a:r>
          </a:p>
          <a:p>
            <a:pPr marL="971550" lvl="1" indent="-514350">
              <a:lnSpc>
                <a:spcPct val="150000"/>
              </a:lnSpc>
              <a:buFont typeface="+mj-lt"/>
              <a:buAutoNum type="arabicPeriod"/>
            </a:pPr>
            <a:r>
              <a:rPr lang="en-US" sz="2800" dirty="0">
                <a:latin typeface="Calibir"/>
              </a:rPr>
              <a:t>Submit via “Week 9: Tutorial Activities” link on Moodle.</a:t>
            </a:r>
          </a:p>
        </p:txBody>
      </p:sp>
    </p:spTree>
    <p:extLst>
      <p:ext uri="{BB962C8B-B14F-4D97-AF65-F5344CB8AC3E}">
        <p14:creationId xmlns:p14="http://schemas.microsoft.com/office/powerpoint/2010/main" val="36381030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87E247C-9B9B-F0B6-9FE9-34CA4271966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95F7907-2ABE-3162-540C-E8891DB0081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42634D7-9548-140F-7F48-39B4D8C3AFCE}"/>
              </a:ext>
            </a:extLst>
          </p:cNvPr>
          <p:cNvSpPr>
            <a:spLocks noGrp="1"/>
          </p:cNvSpPr>
          <p:nvPr>
            <p:ph type="sldNum" sz="quarter" idx="4"/>
          </p:nvPr>
        </p:nvSpPr>
        <p:spPr/>
        <p:txBody>
          <a:bodyPr/>
          <a:lstStyle/>
          <a:p>
            <a:fld id="{16A89BA3-132D-40E1-AAB4-CDCD0A14C216}" type="slidenum">
              <a:rPr lang="en-AU" smtClean="0"/>
              <a:pPr/>
              <a:t>53</a:t>
            </a:fld>
            <a:r>
              <a:rPr lang="en-AU"/>
              <a:t>  |</a:t>
            </a:r>
            <a:endParaRPr lang="en-AU" dirty="0"/>
          </a:p>
        </p:txBody>
      </p:sp>
      <p:sp>
        <p:nvSpPr>
          <p:cNvPr id="9" name="Text Placeholder 3">
            <a:extLst>
              <a:ext uri="{FF2B5EF4-FFF2-40B4-BE49-F238E27FC236}">
                <a16:creationId xmlns:a16="http://schemas.microsoft.com/office/drawing/2014/main" id="{88F3B4DD-766A-4CFF-A657-09CE5A0A7895}"/>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2DB6C46-B6F4-4DE3-88C0-1F6750DA5D65}"/>
              </a:ext>
            </a:extLst>
          </p:cNvPr>
          <p:cNvSpPr txBox="1"/>
          <p:nvPr/>
        </p:nvSpPr>
        <p:spPr>
          <a:xfrm>
            <a:off x="78058" y="624468"/>
            <a:ext cx="9065942" cy="3257174"/>
          </a:xfrm>
          <a:prstGeom prst="rect">
            <a:avLst/>
          </a:prstGeom>
          <a:noFill/>
        </p:spPr>
        <p:txBody>
          <a:bodyPr wrap="square" rtlCol="0">
            <a:spAutoFit/>
          </a:bodyPr>
          <a:lstStyle/>
          <a:p>
            <a:pPr>
              <a:lnSpc>
                <a:spcPct val="150000"/>
              </a:lnSpc>
            </a:pPr>
            <a:r>
              <a:rPr lang="en-US" sz="2800" b="1" dirty="0">
                <a:latin typeface="Calibir"/>
              </a:rPr>
              <a:t>WHAT TO AVOID</a:t>
            </a:r>
          </a:p>
          <a:p>
            <a:pPr lvl="1">
              <a:lnSpc>
                <a:spcPct val="150000"/>
              </a:lnSpc>
            </a:pPr>
            <a:r>
              <a:rPr lang="en-US" sz="2800" dirty="0">
                <a:highlight>
                  <a:srgbClr val="F2120C"/>
                </a:highlight>
                <a:latin typeface="Calibir"/>
              </a:rPr>
              <a:t>X</a:t>
            </a:r>
            <a:r>
              <a:rPr lang="en-US" sz="2800" dirty="0">
                <a:latin typeface="Calibir"/>
              </a:rPr>
              <a:t> Don’t create a new Azure account (reuse Week 8 login).</a:t>
            </a:r>
            <a:br>
              <a:rPr lang="en-US" sz="2800" dirty="0">
                <a:latin typeface="Calibir"/>
              </a:rPr>
            </a:br>
            <a:r>
              <a:rPr lang="en-US" sz="2800" dirty="0">
                <a:highlight>
                  <a:srgbClr val="F2120C"/>
                </a:highlight>
                <a:latin typeface="Calibir"/>
              </a:rPr>
              <a:t>X</a:t>
            </a:r>
            <a:r>
              <a:rPr lang="en-US" sz="2800" dirty="0">
                <a:latin typeface="Calibir"/>
              </a:rPr>
              <a:t> Don’t skip showing both query &amp; results in screenshots.</a:t>
            </a:r>
            <a:br>
              <a:rPr lang="en-US" sz="2800" dirty="0">
                <a:latin typeface="Calibir"/>
              </a:rPr>
            </a:br>
            <a:r>
              <a:rPr lang="en-US" sz="2800" dirty="0">
                <a:highlight>
                  <a:srgbClr val="F2120C"/>
                </a:highlight>
                <a:latin typeface="Calibir"/>
              </a:rPr>
              <a:t>X</a:t>
            </a:r>
            <a:r>
              <a:rPr lang="en-US" sz="2800" dirty="0">
                <a:latin typeface="Calibir"/>
              </a:rPr>
              <a:t> Don’t close the lab before saving screenshots — once it ends, data is lost.</a:t>
            </a:r>
          </a:p>
        </p:txBody>
      </p:sp>
    </p:spTree>
    <p:extLst>
      <p:ext uri="{BB962C8B-B14F-4D97-AF65-F5344CB8AC3E}">
        <p14:creationId xmlns:p14="http://schemas.microsoft.com/office/powerpoint/2010/main" val="38602924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AA67980-D1E8-983C-73A1-B98A8BC7A21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B736914-2232-E575-C77C-5ACF6FA7A626}"/>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1362CA8-2C93-9AE4-CF8C-EB28D3CCDE78}"/>
              </a:ext>
            </a:extLst>
          </p:cNvPr>
          <p:cNvSpPr>
            <a:spLocks noGrp="1"/>
          </p:cNvSpPr>
          <p:nvPr>
            <p:ph type="sldNum" sz="quarter" idx="4"/>
          </p:nvPr>
        </p:nvSpPr>
        <p:spPr/>
        <p:txBody>
          <a:bodyPr/>
          <a:lstStyle/>
          <a:p>
            <a:fld id="{16A89BA3-132D-40E1-AAB4-CDCD0A14C216}" type="slidenum">
              <a:rPr lang="en-AU" smtClean="0"/>
              <a:pPr/>
              <a:t>54</a:t>
            </a:fld>
            <a:r>
              <a:rPr lang="en-AU"/>
              <a:t>  |</a:t>
            </a:r>
            <a:endParaRPr lang="en-AU" dirty="0"/>
          </a:p>
        </p:txBody>
      </p:sp>
      <p:sp>
        <p:nvSpPr>
          <p:cNvPr id="9" name="Text Placeholder 3">
            <a:extLst>
              <a:ext uri="{FF2B5EF4-FFF2-40B4-BE49-F238E27FC236}">
                <a16:creationId xmlns:a16="http://schemas.microsoft.com/office/drawing/2014/main" id="{E8C072C1-F758-74C5-CC60-671E9081E2D0}"/>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E36012C-6218-E49A-D557-F80450415472}"/>
              </a:ext>
            </a:extLst>
          </p:cNvPr>
          <p:cNvSpPr txBox="1"/>
          <p:nvPr/>
        </p:nvSpPr>
        <p:spPr>
          <a:xfrm>
            <a:off x="78058" y="624468"/>
            <a:ext cx="9065942" cy="3257174"/>
          </a:xfrm>
          <a:prstGeom prst="rect">
            <a:avLst/>
          </a:prstGeom>
          <a:noFill/>
        </p:spPr>
        <p:txBody>
          <a:bodyPr wrap="square" rtlCol="0">
            <a:spAutoFit/>
          </a:bodyPr>
          <a:lstStyle/>
          <a:p>
            <a:pPr>
              <a:lnSpc>
                <a:spcPct val="150000"/>
              </a:lnSpc>
            </a:pPr>
            <a:r>
              <a:rPr lang="en-US" sz="2800" dirty="0">
                <a:latin typeface="Calibir"/>
              </a:rPr>
              <a:t>In the Query Editor, run each of the following SQL commands one by one.</a:t>
            </a:r>
            <a:br>
              <a:rPr lang="en-US" sz="2800" dirty="0">
                <a:latin typeface="Calibir"/>
              </a:rPr>
            </a:br>
            <a:r>
              <a:rPr lang="en-US" sz="2800" dirty="0">
                <a:latin typeface="Calibir"/>
              </a:rPr>
              <a:t>After each, take a screenshot showing:</a:t>
            </a:r>
          </a:p>
          <a:p>
            <a:pPr marL="914400" lvl="1" indent="-457200">
              <a:lnSpc>
                <a:spcPct val="150000"/>
              </a:lnSpc>
              <a:buFont typeface="Arial" panose="020B0604020202020204" pitchFamily="34" charset="0"/>
              <a:buChar char="•"/>
            </a:pPr>
            <a:r>
              <a:rPr lang="en-US" sz="2800" dirty="0">
                <a:latin typeface="Calibir"/>
              </a:rPr>
              <a:t>The SQL code you typed</a:t>
            </a:r>
          </a:p>
          <a:p>
            <a:pPr marL="914400" lvl="1" indent="-457200">
              <a:lnSpc>
                <a:spcPct val="150000"/>
              </a:lnSpc>
              <a:buFont typeface="Arial" panose="020B0604020202020204" pitchFamily="34" charset="0"/>
              <a:buChar char="•"/>
            </a:pPr>
            <a:r>
              <a:rPr lang="en-US" sz="2800" dirty="0">
                <a:latin typeface="Calibir"/>
              </a:rPr>
              <a:t>The output/result table</a:t>
            </a:r>
          </a:p>
        </p:txBody>
      </p:sp>
    </p:spTree>
    <p:extLst>
      <p:ext uri="{BB962C8B-B14F-4D97-AF65-F5344CB8AC3E}">
        <p14:creationId xmlns:p14="http://schemas.microsoft.com/office/powerpoint/2010/main" val="10306895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BA440B0-089D-2586-97EC-928B702C564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CF01001-81DE-46AA-A023-376C2927F91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BFB6213-5B7E-5C03-5128-759D9840D890}"/>
              </a:ext>
            </a:extLst>
          </p:cNvPr>
          <p:cNvSpPr>
            <a:spLocks noGrp="1"/>
          </p:cNvSpPr>
          <p:nvPr>
            <p:ph type="sldNum" sz="quarter" idx="4"/>
          </p:nvPr>
        </p:nvSpPr>
        <p:spPr/>
        <p:txBody>
          <a:bodyPr/>
          <a:lstStyle/>
          <a:p>
            <a:fld id="{16A89BA3-132D-40E1-AAB4-CDCD0A14C216}" type="slidenum">
              <a:rPr lang="en-AU" smtClean="0"/>
              <a:pPr/>
              <a:t>55</a:t>
            </a:fld>
            <a:r>
              <a:rPr lang="en-AU"/>
              <a:t>  |</a:t>
            </a:r>
            <a:endParaRPr lang="en-AU" dirty="0"/>
          </a:p>
        </p:txBody>
      </p:sp>
      <p:sp>
        <p:nvSpPr>
          <p:cNvPr id="9" name="Text Placeholder 3">
            <a:extLst>
              <a:ext uri="{FF2B5EF4-FFF2-40B4-BE49-F238E27FC236}">
                <a16:creationId xmlns:a16="http://schemas.microsoft.com/office/drawing/2014/main" id="{AF51542A-A746-CDD3-C4CE-D7F67B3B474A}"/>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A33B10B-6DA8-652B-F364-9C36A0CB5548}"/>
              </a:ext>
            </a:extLst>
          </p:cNvPr>
          <p:cNvSpPr txBox="1"/>
          <p:nvPr/>
        </p:nvSpPr>
        <p:spPr>
          <a:xfrm>
            <a:off x="78058" y="624468"/>
            <a:ext cx="9065942" cy="668966"/>
          </a:xfrm>
          <a:prstGeom prst="rect">
            <a:avLst/>
          </a:prstGeom>
          <a:noFill/>
        </p:spPr>
        <p:txBody>
          <a:bodyPr wrap="square" rtlCol="0">
            <a:spAutoFit/>
          </a:bodyPr>
          <a:lstStyle/>
          <a:p>
            <a:pPr>
              <a:lnSpc>
                <a:spcPct val="150000"/>
              </a:lnSpc>
            </a:pPr>
            <a:r>
              <a:rPr lang="en-US" sz="2800" dirty="0">
                <a:latin typeface="Calibir"/>
              </a:rPr>
              <a:t>1. Total number of customers</a:t>
            </a:r>
          </a:p>
        </p:txBody>
      </p:sp>
      <p:sp>
        <p:nvSpPr>
          <p:cNvPr id="5" name="TextBox 4">
            <a:extLst>
              <a:ext uri="{FF2B5EF4-FFF2-40B4-BE49-F238E27FC236}">
                <a16:creationId xmlns:a16="http://schemas.microsoft.com/office/drawing/2014/main" id="{DE15CEA7-158A-43A3-B785-84BA82444122}"/>
              </a:ext>
            </a:extLst>
          </p:cNvPr>
          <p:cNvSpPr txBox="1"/>
          <p:nvPr/>
        </p:nvSpPr>
        <p:spPr>
          <a:xfrm>
            <a:off x="0" y="2321320"/>
            <a:ext cx="9144000" cy="954107"/>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COUNT(*)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TotalCustomers</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SalesLT.Customer</a:t>
            </a:r>
            <a:r>
              <a:rPr lang="en-US" sz="2800" b="0" dirty="0">
                <a:solidFill>
                  <a:srgbClr val="CCCCCC"/>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AEC04431-1103-D23F-06F3-992AF76465B6}"/>
              </a:ext>
            </a:extLst>
          </p:cNvPr>
          <p:cNvSpPr txBox="1"/>
          <p:nvPr/>
        </p:nvSpPr>
        <p:spPr>
          <a:xfrm>
            <a:off x="39029" y="3275427"/>
            <a:ext cx="9065942" cy="1961755"/>
          </a:xfrm>
          <a:prstGeom prst="rect">
            <a:avLst/>
          </a:prstGeom>
          <a:noFill/>
        </p:spPr>
        <p:txBody>
          <a:bodyPr wrap="square">
            <a:spAutoFit/>
          </a:bodyPr>
          <a:lstStyle/>
          <a:p>
            <a:pPr>
              <a:lnSpc>
                <a:spcPct val="150000"/>
              </a:lnSpc>
            </a:pPr>
            <a:r>
              <a:rPr lang="en-US" sz="2800" dirty="0">
                <a:latin typeface="Calibir"/>
              </a:rPr>
              <a:t>This SQL command counts how many customers are in the Customer table and shows the total number as </a:t>
            </a:r>
            <a:r>
              <a:rPr lang="en-US" sz="2800" dirty="0" err="1">
                <a:latin typeface="Calibir"/>
              </a:rPr>
              <a:t>TotalCustomers</a:t>
            </a:r>
            <a:r>
              <a:rPr lang="en-US" sz="2800" dirty="0">
                <a:latin typeface="Calibir"/>
              </a:rPr>
              <a:t>.</a:t>
            </a:r>
          </a:p>
        </p:txBody>
      </p:sp>
      <p:sp>
        <p:nvSpPr>
          <p:cNvPr id="11" name="TextBox 10">
            <a:extLst>
              <a:ext uri="{FF2B5EF4-FFF2-40B4-BE49-F238E27FC236}">
                <a16:creationId xmlns:a16="http://schemas.microsoft.com/office/drawing/2014/main" id="{01A1D911-2872-D404-571F-B50C3C8D80B6}"/>
              </a:ext>
            </a:extLst>
          </p:cNvPr>
          <p:cNvSpPr txBox="1"/>
          <p:nvPr/>
        </p:nvSpPr>
        <p:spPr>
          <a:xfrm>
            <a:off x="0" y="1727803"/>
            <a:ext cx="8849710" cy="523220"/>
          </a:xfrm>
          <a:prstGeom prst="rect">
            <a:avLst/>
          </a:prstGeom>
          <a:noFill/>
        </p:spPr>
        <p:txBody>
          <a:bodyPr wrap="square">
            <a:spAutoFit/>
          </a:bodyPr>
          <a:lstStyle/>
          <a:p>
            <a:r>
              <a:rPr lang="en-US" sz="2800" dirty="0">
                <a:solidFill>
                  <a:srgbClr val="3D3935"/>
                </a:solidFill>
                <a:latin typeface="Calibir"/>
              </a:rPr>
              <a:t>Take a screenshot) Shift + Enter (Or click </a:t>
            </a:r>
            <a:r>
              <a:rPr lang="en-US" sz="2800" dirty="0">
                <a:solidFill>
                  <a:srgbClr val="3D3935"/>
                </a:solidFill>
                <a:highlight>
                  <a:srgbClr val="FFFF00"/>
                </a:highlight>
                <a:latin typeface="Calibir"/>
              </a:rPr>
              <a:t>Run</a:t>
            </a:r>
            <a:r>
              <a:rPr lang="en-US" sz="2800" dirty="0">
                <a:solidFill>
                  <a:srgbClr val="3D3935"/>
                </a:solidFill>
                <a:latin typeface="Calibir"/>
              </a:rPr>
              <a:t>)</a:t>
            </a:r>
            <a:endParaRPr lang="en-US" sz="2800" dirty="0"/>
          </a:p>
        </p:txBody>
      </p:sp>
    </p:spTree>
    <p:extLst>
      <p:ext uri="{BB962C8B-B14F-4D97-AF65-F5344CB8AC3E}">
        <p14:creationId xmlns:p14="http://schemas.microsoft.com/office/powerpoint/2010/main" val="29760505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D00386A-9F14-0A20-EFDB-8749B8448A1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F1B0219-64F5-5A19-DC32-F070558FA5C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7998C3A-98BC-2909-6093-EE96B9A9C580}"/>
              </a:ext>
            </a:extLst>
          </p:cNvPr>
          <p:cNvSpPr>
            <a:spLocks noGrp="1"/>
          </p:cNvSpPr>
          <p:nvPr>
            <p:ph type="sldNum" sz="quarter" idx="4"/>
          </p:nvPr>
        </p:nvSpPr>
        <p:spPr/>
        <p:txBody>
          <a:bodyPr/>
          <a:lstStyle/>
          <a:p>
            <a:fld id="{16A89BA3-132D-40E1-AAB4-CDCD0A14C216}" type="slidenum">
              <a:rPr lang="en-AU" smtClean="0"/>
              <a:pPr/>
              <a:t>56</a:t>
            </a:fld>
            <a:r>
              <a:rPr lang="en-AU"/>
              <a:t>  |</a:t>
            </a:r>
            <a:endParaRPr lang="en-AU" dirty="0"/>
          </a:p>
        </p:txBody>
      </p:sp>
      <p:sp>
        <p:nvSpPr>
          <p:cNvPr id="9" name="Text Placeholder 3">
            <a:extLst>
              <a:ext uri="{FF2B5EF4-FFF2-40B4-BE49-F238E27FC236}">
                <a16:creationId xmlns:a16="http://schemas.microsoft.com/office/drawing/2014/main" id="{F4AE3E96-7E43-1A4D-3AFB-C546E10C1440}"/>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AB76379-B53A-2BFF-6787-C3D1EE87EF47}"/>
              </a:ext>
            </a:extLst>
          </p:cNvPr>
          <p:cNvSpPr txBox="1"/>
          <p:nvPr/>
        </p:nvSpPr>
        <p:spPr>
          <a:xfrm>
            <a:off x="78058" y="624468"/>
            <a:ext cx="9065942" cy="668966"/>
          </a:xfrm>
          <a:prstGeom prst="rect">
            <a:avLst/>
          </a:prstGeom>
          <a:noFill/>
        </p:spPr>
        <p:txBody>
          <a:bodyPr wrap="square" rtlCol="0">
            <a:spAutoFit/>
          </a:bodyPr>
          <a:lstStyle/>
          <a:p>
            <a:pPr>
              <a:lnSpc>
                <a:spcPct val="150000"/>
              </a:lnSpc>
            </a:pPr>
            <a:r>
              <a:rPr lang="en-US" sz="2800" dirty="0">
                <a:latin typeface="Calibir"/>
              </a:rPr>
              <a:t>1. Total number of customers</a:t>
            </a:r>
          </a:p>
        </p:txBody>
      </p:sp>
      <p:sp>
        <p:nvSpPr>
          <p:cNvPr id="5" name="TextBox 4">
            <a:extLst>
              <a:ext uri="{FF2B5EF4-FFF2-40B4-BE49-F238E27FC236}">
                <a16:creationId xmlns:a16="http://schemas.microsoft.com/office/drawing/2014/main" id="{2697B0DA-04EA-D064-4549-6D5FDBF0D679}"/>
              </a:ext>
            </a:extLst>
          </p:cNvPr>
          <p:cNvSpPr txBox="1"/>
          <p:nvPr/>
        </p:nvSpPr>
        <p:spPr>
          <a:xfrm>
            <a:off x="0" y="2321320"/>
            <a:ext cx="9144000" cy="954107"/>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COUNT(*)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TotalCustomers</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SalesLT.Customer</a:t>
            </a:r>
            <a:r>
              <a:rPr lang="en-US" sz="2800" b="0" dirty="0">
                <a:solidFill>
                  <a:srgbClr val="CCCCCC"/>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0E2769C9-E1DF-CCCC-5E81-D19671FEC327}"/>
              </a:ext>
            </a:extLst>
          </p:cNvPr>
          <p:cNvSpPr txBox="1"/>
          <p:nvPr/>
        </p:nvSpPr>
        <p:spPr>
          <a:xfrm>
            <a:off x="39029" y="3275427"/>
            <a:ext cx="9065942" cy="3257174"/>
          </a:xfrm>
          <a:prstGeom prst="rect">
            <a:avLst/>
          </a:prstGeom>
          <a:noFill/>
        </p:spPr>
        <p:txBody>
          <a:bodyPr wrap="square">
            <a:spAutoFit/>
          </a:bodyPr>
          <a:lstStyle/>
          <a:p>
            <a:pPr>
              <a:lnSpc>
                <a:spcPct val="150000"/>
              </a:lnSpc>
            </a:pPr>
            <a:r>
              <a:rPr lang="en-US" sz="2800" dirty="0">
                <a:latin typeface="Calibir"/>
              </a:rPr>
              <a:t>This code counts all the rows in the </a:t>
            </a:r>
            <a:r>
              <a:rPr lang="en-US" sz="2800" i="1" dirty="0">
                <a:latin typeface="Calibir"/>
              </a:rPr>
              <a:t>Customer</a:t>
            </a:r>
            <a:r>
              <a:rPr lang="en-US" sz="2800" dirty="0">
                <a:latin typeface="Calibir"/>
              </a:rPr>
              <a:t> table — basically, it tells us how many customers are stored in the database.</a:t>
            </a:r>
            <a:br>
              <a:rPr lang="en-US" sz="2800" dirty="0">
                <a:latin typeface="Calibir"/>
              </a:rPr>
            </a:br>
            <a:r>
              <a:rPr lang="en-US" sz="2800" dirty="0">
                <a:latin typeface="Calibir"/>
              </a:rPr>
              <a:t>Think of it like counting all entries in an Excel sheet column called </a:t>
            </a:r>
            <a:r>
              <a:rPr lang="en-US" sz="2800" i="1" dirty="0">
                <a:latin typeface="Calibir"/>
              </a:rPr>
              <a:t>Customer Name</a:t>
            </a:r>
            <a:r>
              <a:rPr lang="en-US" sz="2800" dirty="0">
                <a:latin typeface="Calibir"/>
              </a:rPr>
              <a:t>.</a:t>
            </a:r>
          </a:p>
        </p:txBody>
      </p:sp>
      <p:sp>
        <p:nvSpPr>
          <p:cNvPr id="11" name="TextBox 10">
            <a:extLst>
              <a:ext uri="{FF2B5EF4-FFF2-40B4-BE49-F238E27FC236}">
                <a16:creationId xmlns:a16="http://schemas.microsoft.com/office/drawing/2014/main" id="{8D2EA483-5F3B-31CA-69C0-F80FA02D426A}"/>
              </a:ext>
            </a:extLst>
          </p:cNvPr>
          <p:cNvSpPr txBox="1"/>
          <p:nvPr/>
        </p:nvSpPr>
        <p:spPr>
          <a:xfrm>
            <a:off x="0" y="1727803"/>
            <a:ext cx="8849710" cy="523220"/>
          </a:xfrm>
          <a:prstGeom prst="rect">
            <a:avLst/>
          </a:prstGeom>
          <a:noFill/>
        </p:spPr>
        <p:txBody>
          <a:bodyPr wrap="square">
            <a:spAutoFit/>
          </a:bodyPr>
          <a:lstStyle/>
          <a:p>
            <a:r>
              <a:rPr lang="en-US" sz="2800" dirty="0">
                <a:solidFill>
                  <a:srgbClr val="3D3935"/>
                </a:solidFill>
                <a:latin typeface="Calibir"/>
              </a:rPr>
              <a:t>Take a screenshot) Shift + Enter (Or click </a:t>
            </a:r>
            <a:r>
              <a:rPr lang="en-US" sz="2800" dirty="0">
                <a:solidFill>
                  <a:srgbClr val="3D3935"/>
                </a:solidFill>
                <a:highlight>
                  <a:srgbClr val="FFFF00"/>
                </a:highlight>
                <a:latin typeface="Calibir"/>
              </a:rPr>
              <a:t>Run</a:t>
            </a:r>
            <a:r>
              <a:rPr lang="en-US" sz="2800" dirty="0">
                <a:solidFill>
                  <a:srgbClr val="3D3935"/>
                </a:solidFill>
                <a:latin typeface="Calibir"/>
              </a:rPr>
              <a:t>)</a:t>
            </a:r>
            <a:endParaRPr lang="en-US" sz="2800" dirty="0"/>
          </a:p>
        </p:txBody>
      </p:sp>
    </p:spTree>
    <p:extLst>
      <p:ext uri="{BB962C8B-B14F-4D97-AF65-F5344CB8AC3E}">
        <p14:creationId xmlns:p14="http://schemas.microsoft.com/office/powerpoint/2010/main" val="5234531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94BA7BF-59C3-3257-2937-9F44E0C44F0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C37E6D-B040-D04E-C2C1-83089B9C51D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4FA0C5D-B85F-80B7-EB51-29AA54DE1DE2}"/>
              </a:ext>
            </a:extLst>
          </p:cNvPr>
          <p:cNvSpPr>
            <a:spLocks noGrp="1"/>
          </p:cNvSpPr>
          <p:nvPr>
            <p:ph type="sldNum" sz="quarter" idx="4"/>
          </p:nvPr>
        </p:nvSpPr>
        <p:spPr/>
        <p:txBody>
          <a:bodyPr/>
          <a:lstStyle/>
          <a:p>
            <a:fld id="{16A89BA3-132D-40E1-AAB4-CDCD0A14C216}" type="slidenum">
              <a:rPr lang="en-AU" smtClean="0"/>
              <a:pPr/>
              <a:t>57</a:t>
            </a:fld>
            <a:r>
              <a:rPr lang="en-AU"/>
              <a:t>  |</a:t>
            </a:r>
            <a:endParaRPr lang="en-AU" dirty="0"/>
          </a:p>
        </p:txBody>
      </p:sp>
      <p:sp>
        <p:nvSpPr>
          <p:cNvPr id="9" name="Text Placeholder 3">
            <a:extLst>
              <a:ext uri="{FF2B5EF4-FFF2-40B4-BE49-F238E27FC236}">
                <a16:creationId xmlns:a16="http://schemas.microsoft.com/office/drawing/2014/main" id="{0E93CF82-3FA8-890B-0408-B5FBDA2C0387}"/>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CF00D29-6AA4-E11B-ED33-AA451C800166}"/>
              </a:ext>
            </a:extLst>
          </p:cNvPr>
          <p:cNvSpPr txBox="1"/>
          <p:nvPr/>
        </p:nvSpPr>
        <p:spPr>
          <a:xfrm>
            <a:off x="78058" y="624468"/>
            <a:ext cx="9065942" cy="668966"/>
          </a:xfrm>
          <a:prstGeom prst="rect">
            <a:avLst/>
          </a:prstGeom>
          <a:noFill/>
        </p:spPr>
        <p:txBody>
          <a:bodyPr wrap="square" rtlCol="0">
            <a:spAutoFit/>
          </a:bodyPr>
          <a:lstStyle/>
          <a:p>
            <a:pPr>
              <a:lnSpc>
                <a:spcPct val="150000"/>
              </a:lnSpc>
            </a:pPr>
            <a:r>
              <a:rPr lang="en-US" sz="2800" dirty="0">
                <a:latin typeface="Calibir"/>
              </a:rPr>
              <a:t>1. Total number of customers</a:t>
            </a:r>
          </a:p>
        </p:txBody>
      </p:sp>
      <p:sp>
        <p:nvSpPr>
          <p:cNvPr id="5" name="TextBox 4">
            <a:extLst>
              <a:ext uri="{FF2B5EF4-FFF2-40B4-BE49-F238E27FC236}">
                <a16:creationId xmlns:a16="http://schemas.microsoft.com/office/drawing/2014/main" id="{333F63C6-79B9-5818-1A30-F90BC2B90E74}"/>
              </a:ext>
            </a:extLst>
          </p:cNvPr>
          <p:cNvSpPr txBox="1"/>
          <p:nvPr/>
        </p:nvSpPr>
        <p:spPr>
          <a:xfrm>
            <a:off x="0" y="2321320"/>
            <a:ext cx="9144000" cy="954107"/>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COUNT(*)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TotalCustomers</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SalesLT.Customer</a:t>
            </a:r>
            <a:r>
              <a:rPr lang="en-US" sz="2800" b="0" dirty="0">
                <a:solidFill>
                  <a:srgbClr val="CCCCCC"/>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117556D6-D090-3413-8563-C7E444B1088F}"/>
              </a:ext>
            </a:extLst>
          </p:cNvPr>
          <p:cNvSpPr txBox="1"/>
          <p:nvPr/>
        </p:nvSpPr>
        <p:spPr>
          <a:xfrm>
            <a:off x="39029" y="3275427"/>
            <a:ext cx="9065942" cy="1315425"/>
          </a:xfrm>
          <a:prstGeom prst="rect">
            <a:avLst/>
          </a:prstGeom>
          <a:noFill/>
        </p:spPr>
        <p:txBody>
          <a:bodyPr wrap="square">
            <a:spAutoFit/>
          </a:bodyPr>
          <a:lstStyle/>
          <a:p>
            <a:pPr>
              <a:lnSpc>
                <a:spcPct val="150000"/>
              </a:lnSpc>
            </a:pPr>
            <a:r>
              <a:rPr lang="en-US" sz="2800" dirty="0">
                <a:latin typeface="Calibir"/>
              </a:rPr>
              <a:t>It’s like counting all rows in an Excel sheet that lists customer names.</a:t>
            </a:r>
          </a:p>
        </p:txBody>
      </p:sp>
      <p:sp>
        <p:nvSpPr>
          <p:cNvPr id="11" name="TextBox 10">
            <a:extLst>
              <a:ext uri="{FF2B5EF4-FFF2-40B4-BE49-F238E27FC236}">
                <a16:creationId xmlns:a16="http://schemas.microsoft.com/office/drawing/2014/main" id="{8CB0F986-18BA-58C8-8766-8B9AD8E9C71C}"/>
              </a:ext>
            </a:extLst>
          </p:cNvPr>
          <p:cNvSpPr txBox="1"/>
          <p:nvPr/>
        </p:nvSpPr>
        <p:spPr>
          <a:xfrm>
            <a:off x="0" y="1727803"/>
            <a:ext cx="8849710" cy="523220"/>
          </a:xfrm>
          <a:prstGeom prst="rect">
            <a:avLst/>
          </a:prstGeom>
          <a:noFill/>
        </p:spPr>
        <p:txBody>
          <a:bodyPr wrap="square">
            <a:spAutoFit/>
          </a:bodyPr>
          <a:lstStyle/>
          <a:p>
            <a:r>
              <a:rPr lang="en-US" sz="2800" dirty="0">
                <a:solidFill>
                  <a:srgbClr val="3D3935"/>
                </a:solidFill>
                <a:latin typeface="Calibir"/>
              </a:rPr>
              <a:t>Take a screenshot) Shift + Enter (Or click </a:t>
            </a:r>
            <a:r>
              <a:rPr lang="en-US" sz="2800" dirty="0">
                <a:solidFill>
                  <a:srgbClr val="3D3935"/>
                </a:solidFill>
                <a:highlight>
                  <a:srgbClr val="FFFF00"/>
                </a:highlight>
                <a:latin typeface="Calibir"/>
              </a:rPr>
              <a:t>Run</a:t>
            </a:r>
            <a:r>
              <a:rPr lang="en-US" sz="2800" dirty="0">
                <a:solidFill>
                  <a:srgbClr val="3D3935"/>
                </a:solidFill>
                <a:latin typeface="Calibir"/>
              </a:rPr>
              <a:t>)</a:t>
            </a:r>
            <a:endParaRPr lang="en-US" sz="2800" dirty="0"/>
          </a:p>
        </p:txBody>
      </p:sp>
    </p:spTree>
    <p:extLst>
      <p:ext uri="{BB962C8B-B14F-4D97-AF65-F5344CB8AC3E}">
        <p14:creationId xmlns:p14="http://schemas.microsoft.com/office/powerpoint/2010/main" val="4392551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D06338C-D4B6-81DD-6F99-5524B18EAA1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AE29694-26DB-1F4C-2BC2-0C2859AB954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F255A40-ED9E-2C3C-4C4D-0CA812D546DB}"/>
              </a:ext>
            </a:extLst>
          </p:cNvPr>
          <p:cNvSpPr>
            <a:spLocks noGrp="1"/>
          </p:cNvSpPr>
          <p:nvPr>
            <p:ph type="sldNum" sz="quarter" idx="4"/>
          </p:nvPr>
        </p:nvSpPr>
        <p:spPr/>
        <p:txBody>
          <a:bodyPr/>
          <a:lstStyle/>
          <a:p>
            <a:fld id="{16A89BA3-132D-40E1-AAB4-CDCD0A14C216}" type="slidenum">
              <a:rPr lang="en-AU" smtClean="0"/>
              <a:pPr/>
              <a:t>58</a:t>
            </a:fld>
            <a:r>
              <a:rPr lang="en-AU"/>
              <a:t>  |</a:t>
            </a:r>
            <a:endParaRPr lang="en-AU" dirty="0"/>
          </a:p>
        </p:txBody>
      </p:sp>
      <p:sp>
        <p:nvSpPr>
          <p:cNvPr id="9" name="Text Placeholder 3">
            <a:extLst>
              <a:ext uri="{FF2B5EF4-FFF2-40B4-BE49-F238E27FC236}">
                <a16:creationId xmlns:a16="http://schemas.microsoft.com/office/drawing/2014/main" id="{C1B0495A-2751-EBAB-8BB7-578614043105}"/>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2E02AA3-2100-31A7-732A-095061C5FBA6}"/>
              </a:ext>
            </a:extLst>
          </p:cNvPr>
          <p:cNvSpPr txBox="1"/>
          <p:nvPr/>
        </p:nvSpPr>
        <p:spPr>
          <a:xfrm>
            <a:off x="78058" y="624468"/>
            <a:ext cx="9065942" cy="668966"/>
          </a:xfrm>
          <a:prstGeom prst="rect">
            <a:avLst/>
          </a:prstGeom>
          <a:noFill/>
        </p:spPr>
        <p:txBody>
          <a:bodyPr wrap="square" rtlCol="0">
            <a:spAutoFit/>
          </a:bodyPr>
          <a:lstStyle/>
          <a:p>
            <a:pPr>
              <a:lnSpc>
                <a:spcPct val="150000"/>
              </a:lnSpc>
            </a:pPr>
            <a:r>
              <a:rPr lang="en-US" sz="2800" dirty="0">
                <a:latin typeface="Calibir"/>
              </a:rPr>
              <a:t>2. Names in uppercase</a:t>
            </a:r>
          </a:p>
        </p:txBody>
      </p:sp>
      <p:sp>
        <p:nvSpPr>
          <p:cNvPr id="11" name="TextBox 10">
            <a:extLst>
              <a:ext uri="{FF2B5EF4-FFF2-40B4-BE49-F238E27FC236}">
                <a16:creationId xmlns:a16="http://schemas.microsoft.com/office/drawing/2014/main" id="{206D47C6-EDE9-1073-1EBA-100D6594F677}"/>
              </a:ext>
            </a:extLst>
          </p:cNvPr>
          <p:cNvSpPr txBox="1"/>
          <p:nvPr/>
        </p:nvSpPr>
        <p:spPr>
          <a:xfrm>
            <a:off x="0" y="1727803"/>
            <a:ext cx="8849710" cy="523220"/>
          </a:xfrm>
          <a:prstGeom prst="rect">
            <a:avLst/>
          </a:prstGeom>
          <a:noFill/>
        </p:spPr>
        <p:txBody>
          <a:bodyPr wrap="square">
            <a:spAutoFit/>
          </a:bodyPr>
          <a:lstStyle/>
          <a:p>
            <a:r>
              <a:rPr lang="en-US" sz="2800" dirty="0">
                <a:solidFill>
                  <a:srgbClr val="3D3935"/>
                </a:solidFill>
                <a:latin typeface="Calibir"/>
              </a:rPr>
              <a:t>Take a screenshot) Shift + Enter (Or click </a:t>
            </a:r>
            <a:r>
              <a:rPr lang="en-US" sz="2800" dirty="0">
                <a:solidFill>
                  <a:srgbClr val="3D3935"/>
                </a:solidFill>
                <a:highlight>
                  <a:srgbClr val="FFFF00"/>
                </a:highlight>
                <a:latin typeface="Calibir"/>
              </a:rPr>
              <a:t>Run</a:t>
            </a:r>
            <a:r>
              <a:rPr lang="en-US" sz="2800" dirty="0">
                <a:solidFill>
                  <a:srgbClr val="3D3935"/>
                </a:solidFill>
                <a:latin typeface="Calibir"/>
              </a:rPr>
              <a:t>)</a:t>
            </a:r>
            <a:endParaRPr lang="en-US" sz="2800" dirty="0"/>
          </a:p>
        </p:txBody>
      </p:sp>
      <p:sp>
        <p:nvSpPr>
          <p:cNvPr id="6" name="TextBox 5">
            <a:extLst>
              <a:ext uri="{FF2B5EF4-FFF2-40B4-BE49-F238E27FC236}">
                <a16:creationId xmlns:a16="http://schemas.microsoft.com/office/drawing/2014/main" id="{ABF18DA9-687F-FED2-A2DA-592ADA9B3744}"/>
              </a:ext>
            </a:extLst>
          </p:cNvPr>
          <p:cNvSpPr txBox="1"/>
          <p:nvPr/>
        </p:nvSpPr>
        <p:spPr>
          <a:xfrm>
            <a:off x="0" y="2771289"/>
            <a:ext cx="9144000" cy="1384995"/>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UPPER(FirstName)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FirstName,</a:t>
            </a:r>
          </a:p>
          <a:p>
            <a:pPr>
              <a:buNone/>
            </a:pPr>
            <a:r>
              <a:rPr lang="en-US" sz="2800" b="0" dirty="0">
                <a:solidFill>
                  <a:srgbClr val="CCCCCC"/>
                </a:solidFill>
                <a:effectLst/>
                <a:latin typeface="Consolas" panose="020B0609020204030204" pitchFamily="49" charset="0"/>
              </a:rPr>
              <a:t>       UPPER(LastName)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LastName</a:t>
            </a: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SalesLT.Customer</a:t>
            </a:r>
            <a:r>
              <a:rPr lang="en-US" sz="2800" b="0" dirty="0">
                <a:solidFill>
                  <a:srgbClr val="CCCCCC"/>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D2B4803F-69D0-FFC6-1555-3AE75C4CFAF9}"/>
              </a:ext>
            </a:extLst>
          </p:cNvPr>
          <p:cNvSpPr txBox="1"/>
          <p:nvPr/>
        </p:nvSpPr>
        <p:spPr>
          <a:xfrm>
            <a:off x="0" y="4131821"/>
            <a:ext cx="8989424" cy="1964512"/>
          </a:xfrm>
          <a:prstGeom prst="rect">
            <a:avLst/>
          </a:prstGeom>
          <a:noFill/>
        </p:spPr>
        <p:txBody>
          <a:bodyPr wrap="square">
            <a:spAutoFit/>
          </a:bodyPr>
          <a:lstStyle/>
          <a:p>
            <a:pPr>
              <a:lnSpc>
                <a:spcPct val="150000"/>
              </a:lnSpc>
              <a:buNone/>
            </a:pPr>
            <a:r>
              <a:rPr lang="en-US" sz="2800" dirty="0">
                <a:latin typeface="Calibir"/>
              </a:rPr>
              <a:t>This code converts all letters to capital letters (for both first and last names).</a:t>
            </a:r>
            <a:br>
              <a:rPr lang="en-US" sz="2800" dirty="0">
                <a:latin typeface="Calibir"/>
              </a:rPr>
            </a:br>
            <a:r>
              <a:rPr lang="en-US" sz="2800" dirty="0">
                <a:latin typeface="Calibir"/>
              </a:rPr>
              <a:t>For example, “John Smith” becomes “JOHN SMITH.”</a:t>
            </a:r>
          </a:p>
        </p:txBody>
      </p:sp>
    </p:spTree>
    <p:extLst>
      <p:ext uri="{BB962C8B-B14F-4D97-AF65-F5344CB8AC3E}">
        <p14:creationId xmlns:p14="http://schemas.microsoft.com/office/powerpoint/2010/main" val="19722472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087B53B-57B7-52E3-14C9-60FF9059E7C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7B2C81C-83F8-21B1-0292-1C0C3793759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8857302-F6C7-8C78-DB53-0494DB3B1D5A}"/>
              </a:ext>
            </a:extLst>
          </p:cNvPr>
          <p:cNvSpPr>
            <a:spLocks noGrp="1"/>
          </p:cNvSpPr>
          <p:nvPr>
            <p:ph type="sldNum" sz="quarter" idx="4"/>
          </p:nvPr>
        </p:nvSpPr>
        <p:spPr/>
        <p:txBody>
          <a:bodyPr/>
          <a:lstStyle/>
          <a:p>
            <a:fld id="{16A89BA3-132D-40E1-AAB4-CDCD0A14C216}" type="slidenum">
              <a:rPr lang="en-AU" smtClean="0"/>
              <a:pPr/>
              <a:t>59</a:t>
            </a:fld>
            <a:r>
              <a:rPr lang="en-AU"/>
              <a:t>  |</a:t>
            </a:r>
            <a:endParaRPr lang="en-AU" dirty="0"/>
          </a:p>
        </p:txBody>
      </p:sp>
      <p:sp>
        <p:nvSpPr>
          <p:cNvPr id="9" name="Text Placeholder 3">
            <a:extLst>
              <a:ext uri="{FF2B5EF4-FFF2-40B4-BE49-F238E27FC236}">
                <a16:creationId xmlns:a16="http://schemas.microsoft.com/office/drawing/2014/main" id="{6054793E-4571-AE20-3526-9BA097E243F9}"/>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C2A1FA15-1FF0-1660-285B-086BD9832E64}"/>
              </a:ext>
            </a:extLst>
          </p:cNvPr>
          <p:cNvSpPr txBox="1"/>
          <p:nvPr/>
        </p:nvSpPr>
        <p:spPr>
          <a:xfrm>
            <a:off x="0" y="737204"/>
            <a:ext cx="9144000" cy="1384995"/>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UPPER(FirstName)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FirstName,</a:t>
            </a:r>
          </a:p>
          <a:p>
            <a:pPr>
              <a:buNone/>
            </a:pPr>
            <a:r>
              <a:rPr lang="en-US" sz="2800" b="0" dirty="0">
                <a:solidFill>
                  <a:srgbClr val="CCCCCC"/>
                </a:solidFill>
                <a:effectLst/>
                <a:latin typeface="Consolas" panose="020B0609020204030204" pitchFamily="49" charset="0"/>
              </a:rPr>
              <a:t>       UPPER(LastName)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LastName</a:t>
            </a: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SalesLT.Customer</a:t>
            </a:r>
            <a:r>
              <a:rPr lang="en-US" sz="2800" b="0" dirty="0">
                <a:solidFill>
                  <a:srgbClr val="CCCCCC"/>
                </a:solidFill>
                <a:effectLst/>
                <a:latin typeface="Consolas" panose="020B0609020204030204" pitchFamily="49" charset="0"/>
              </a:rPr>
              <a:t>;</a:t>
            </a:r>
          </a:p>
        </p:txBody>
      </p:sp>
      <p:graphicFrame>
        <p:nvGraphicFramePr>
          <p:cNvPr id="2" name="Table 1">
            <a:extLst>
              <a:ext uri="{FF2B5EF4-FFF2-40B4-BE49-F238E27FC236}">
                <a16:creationId xmlns:a16="http://schemas.microsoft.com/office/drawing/2014/main" id="{032429CE-54B1-246F-BB45-7FF051C5EF2D}"/>
              </a:ext>
            </a:extLst>
          </p:cNvPr>
          <p:cNvGraphicFramePr>
            <a:graphicFrameLocks noGrp="1"/>
          </p:cNvGraphicFramePr>
          <p:nvPr>
            <p:extLst>
              <p:ext uri="{D42A27DB-BD31-4B8C-83A1-F6EECF244321}">
                <p14:modId xmlns:p14="http://schemas.microsoft.com/office/powerpoint/2010/main" val="2772357381"/>
              </p:ext>
            </p:extLst>
          </p:nvPr>
        </p:nvGraphicFramePr>
        <p:xfrm>
          <a:off x="0" y="2122199"/>
          <a:ext cx="9144000" cy="3653165"/>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1430655367"/>
                    </a:ext>
                  </a:extLst>
                </a:gridCol>
                <a:gridCol w="3048000">
                  <a:extLst>
                    <a:ext uri="{9D8B030D-6E8A-4147-A177-3AD203B41FA5}">
                      <a16:colId xmlns:a16="http://schemas.microsoft.com/office/drawing/2014/main" val="3869906008"/>
                    </a:ext>
                  </a:extLst>
                </a:gridCol>
                <a:gridCol w="3048000">
                  <a:extLst>
                    <a:ext uri="{9D8B030D-6E8A-4147-A177-3AD203B41FA5}">
                      <a16:colId xmlns:a16="http://schemas.microsoft.com/office/drawing/2014/main" val="2170470283"/>
                    </a:ext>
                  </a:extLst>
                </a:gridCol>
              </a:tblGrid>
              <a:tr h="418079">
                <a:tc>
                  <a:txBody>
                    <a:bodyPr/>
                    <a:lstStyle/>
                    <a:p>
                      <a:pPr>
                        <a:buNone/>
                      </a:pPr>
                      <a:r>
                        <a:rPr lang="en-US" sz="2200" b="0">
                          <a:latin typeface="Calibir"/>
                        </a:rPr>
                        <a:t>Part</a:t>
                      </a:r>
                    </a:p>
                  </a:txBody>
                  <a:tcPr marL="72522" marR="72522" marT="36261" marB="36261" anchor="ctr"/>
                </a:tc>
                <a:tc>
                  <a:txBody>
                    <a:bodyPr/>
                    <a:lstStyle/>
                    <a:p>
                      <a:pPr>
                        <a:buNone/>
                      </a:pPr>
                      <a:r>
                        <a:rPr lang="en-US" sz="2200" b="0">
                          <a:latin typeface="Calibir"/>
                        </a:rPr>
                        <a:t>Meaning</a:t>
                      </a:r>
                    </a:p>
                  </a:txBody>
                  <a:tcPr marL="72522" marR="72522" marT="36261" marB="36261" anchor="ctr"/>
                </a:tc>
                <a:tc>
                  <a:txBody>
                    <a:bodyPr/>
                    <a:lstStyle/>
                    <a:p>
                      <a:pPr>
                        <a:buNone/>
                      </a:pPr>
                      <a:r>
                        <a:rPr lang="en-US" sz="2200" b="0">
                          <a:latin typeface="Calibir"/>
                        </a:rPr>
                        <a:t>Example</a:t>
                      </a:r>
                    </a:p>
                  </a:txBody>
                  <a:tcPr marL="72522" marR="72522" marT="36261" marB="36261" anchor="ctr"/>
                </a:tc>
                <a:extLst>
                  <a:ext uri="{0D108BD9-81ED-4DB2-BD59-A6C34878D82A}">
                    <a16:rowId xmlns:a16="http://schemas.microsoft.com/office/drawing/2014/main" val="2231573701"/>
                  </a:ext>
                </a:extLst>
              </a:tr>
              <a:tr h="0">
                <a:tc>
                  <a:txBody>
                    <a:bodyPr/>
                    <a:lstStyle/>
                    <a:p>
                      <a:pPr>
                        <a:buNone/>
                      </a:pPr>
                      <a:r>
                        <a:rPr lang="en-US" sz="2200" b="0" dirty="0">
                          <a:latin typeface="Calibir"/>
                        </a:rPr>
                        <a:t>SELECT</a:t>
                      </a:r>
                    </a:p>
                  </a:txBody>
                  <a:tcPr marL="72522" marR="72522" marT="36261" marB="36261" anchor="ctr"/>
                </a:tc>
                <a:tc>
                  <a:txBody>
                    <a:bodyPr/>
                    <a:lstStyle/>
                    <a:p>
                      <a:pPr>
                        <a:buNone/>
                      </a:pPr>
                      <a:r>
                        <a:rPr lang="en-US" sz="2200" b="0">
                          <a:latin typeface="Calibir"/>
                        </a:rPr>
                        <a:t>Tells the database which columns or data to show.</a:t>
                      </a:r>
                    </a:p>
                  </a:txBody>
                  <a:tcPr marL="72522" marR="72522" marT="36261" marB="36261" anchor="ctr"/>
                </a:tc>
                <a:tc>
                  <a:txBody>
                    <a:bodyPr/>
                    <a:lstStyle/>
                    <a:p>
                      <a:pPr>
                        <a:buNone/>
                      </a:pPr>
                      <a:r>
                        <a:rPr lang="en-US" sz="2200" b="0">
                          <a:latin typeface="Calibir"/>
                        </a:rPr>
                        <a:t>“Show me these fields.”</a:t>
                      </a:r>
                    </a:p>
                  </a:txBody>
                  <a:tcPr marL="72522" marR="72522" marT="36261" marB="36261" anchor="ctr"/>
                </a:tc>
                <a:extLst>
                  <a:ext uri="{0D108BD9-81ED-4DB2-BD59-A6C34878D82A}">
                    <a16:rowId xmlns:a16="http://schemas.microsoft.com/office/drawing/2014/main" val="2643428741"/>
                  </a:ext>
                </a:extLst>
              </a:tr>
              <a:tr h="0">
                <a:tc>
                  <a:txBody>
                    <a:bodyPr/>
                    <a:lstStyle/>
                    <a:p>
                      <a:pPr>
                        <a:buNone/>
                      </a:pPr>
                      <a:r>
                        <a:rPr lang="en-US" sz="2200" b="0" dirty="0">
                          <a:latin typeface="Calibir"/>
                        </a:rPr>
                        <a:t>UPPER(FirstName)</a:t>
                      </a:r>
                    </a:p>
                  </a:txBody>
                  <a:tcPr marL="72522" marR="72522" marT="36261" marB="36261" anchor="ctr"/>
                </a:tc>
                <a:tc>
                  <a:txBody>
                    <a:bodyPr/>
                    <a:lstStyle/>
                    <a:p>
                      <a:pPr>
                        <a:buNone/>
                      </a:pPr>
                      <a:r>
                        <a:rPr lang="en-US" sz="2200" b="0">
                          <a:latin typeface="Calibir"/>
                        </a:rPr>
                        <a:t>Converts all letters in the FirstName column to uppercase (capital letters).</a:t>
                      </a:r>
                    </a:p>
                  </a:txBody>
                  <a:tcPr marL="72522" marR="72522" marT="36261" marB="36261" anchor="ctr"/>
                </a:tc>
                <a:tc>
                  <a:txBody>
                    <a:bodyPr/>
                    <a:lstStyle/>
                    <a:p>
                      <a:pPr>
                        <a:buNone/>
                      </a:pPr>
                      <a:r>
                        <a:rPr lang="en-US" sz="2200" b="0">
                          <a:latin typeface="Calibir"/>
                        </a:rPr>
                        <a:t>“john” → “JOHN”</a:t>
                      </a:r>
                    </a:p>
                  </a:txBody>
                  <a:tcPr marL="72522" marR="72522" marT="36261" marB="36261" anchor="ctr"/>
                </a:tc>
                <a:extLst>
                  <a:ext uri="{0D108BD9-81ED-4DB2-BD59-A6C34878D82A}">
                    <a16:rowId xmlns:a16="http://schemas.microsoft.com/office/drawing/2014/main" val="2400939210"/>
                  </a:ext>
                </a:extLst>
              </a:tr>
              <a:tr h="0">
                <a:tc>
                  <a:txBody>
                    <a:bodyPr/>
                    <a:lstStyle/>
                    <a:p>
                      <a:pPr>
                        <a:buNone/>
                      </a:pPr>
                      <a:r>
                        <a:rPr lang="en-US" sz="2200" b="0">
                          <a:latin typeface="Calibir"/>
                        </a:rPr>
                        <a:t>AS FirstName</a:t>
                      </a:r>
                    </a:p>
                  </a:txBody>
                  <a:tcPr marL="72522" marR="72522" marT="36261" marB="36261" anchor="ctr"/>
                </a:tc>
                <a:tc>
                  <a:txBody>
                    <a:bodyPr/>
                    <a:lstStyle/>
                    <a:p>
                      <a:pPr>
                        <a:buNone/>
                      </a:pPr>
                      <a:r>
                        <a:rPr lang="en-US" sz="2200" b="0">
                          <a:latin typeface="Calibir"/>
                        </a:rPr>
                        <a:t>Gives a display name (alias) to the result column.</a:t>
                      </a:r>
                    </a:p>
                  </a:txBody>
                  <a:tcPr marL="72522" marR="72522" marT="36261" marB="36261" anchor="ctr"/>
                </a:tc>
                <a:tc>
                  <a:txBody>
                    <a:bodyPr/>
                    <a:lstStyle/>
                    <a:p>
                      <a:pPr>
                        <a:buNone/>
                      </a:pPr>
                      <a:r>
                        <a:rPr lang="en-US" sz="2200" b="0" dirty="0">
                          <a:latin typeface="Calibir"/>
                        </a:rPr>
                        <a:t>The result column will still be called FirstName.</a:t>
                      </a:r>
                    </a:p>
                  </a:txBody>
                  <a:tcPr marL="72522" marR="72522" marT="36261" marB="36261" anchor="ctr"/>
                </a:tc>
                <a:extLst>
                  <a:ext uri="{0D108BD9-81ED-4DB2-BD59-A6C34878D82A}">
                    <a16:rowId xmlns:a16="http://schemas.microsoft.com/office/drawing/2014/main" val="2186749596"/>
                  </a:ext>
                </a:extLst>
              </a:tr>
            </a:tbl>
          </a:graphicData>
        </a:graphic>
      </p:graphicFrame>
    </p:spTree>
    <p:extLst>
      <p:ext uri="{BB962C8B-B14F-4D97-AF65-F5344CB8AC3E}">
        <p14:creationId xmlns:p14="http://schemas.microsoft.com/office/powerpoint/2010/main" val="25262810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6BB39CB-BAF8-B0BD-C03E-CC91CD9F189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CB46AAC-5A35-3DE9-6D2B-87C19CC5F4D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5EAFF8A-58B8-0B09-197A-3E7F67A8134C}"/>
              </a:ext>
            </a:extLst>
          </p:cNvPr>
          <p:cNvSpPr>
            <a:spLocks noGrp="1"/>
          </p:cNvSpPr>
          <p:nvPr>
            <p:ph type="sldNum" sz="quarter" idx="4"/>
          </p:nvPr>
        </p:nvSpPr>
        <p:spPr/>
        <p:txBody>
          <a:bodyPr/>
          <a:lstStyle/>
          <a:p>
            <a:fld id="{16A89BA3-132D-40E1-AAB4-CDCD0A14C216}" type="slidenum">
              <a:rPr lang="en-AU" smtClean="0"/>
              <a:pPr/>
              <a:t>60</a:t>
            </a:fld>
            <a:r>
              <a:rPr lang="en-AU"/>
              <a:t>  |</a:t>
            </a:r>
            <a:endParaRPr lang="en-AU" dirty="0"/>
          </a:p>
        </p:txBody>
      </p:sp>
      <p:sp>
        <p:nvSpPr>
          <p:cNvPr id="9" name="Text Placeholder 3">
            <a:extLst>
              <a:ext uri="{FF2B5EF4-FFF2-40B4-BE49-F238E27FC236}">
                <a16:creationId xmlns:a16="http://schemas.microsoft.com/office/drawing/2014/main" id="{40DAC322-CA98-EA65-7498-5A3460C541A9}"/>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7F2C887F-E7FC-C040-881B-3832E3924106}"/>
              </a:ext>
            </a:extLst>
          </p:cNvPr>
          <p:cNvSpPr txBox="1"/>
          <p:nvPr/>
        </p:nvSpPr>
        <p:spPr>
          <a:xfrm>
            <a:off x="0" y="737204"/>
            <a:ext cx="9144000" cy="1384995"/>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UPPER(FirstName)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FirstName,</a:t>
            </a:r>
          </a:p>
          <a:p>
            <a:pPr>
              <a:buNone/>
            </a:pPr>
            <a:r>
              <a:rPr lang="en-US" sz="2800" b="0" dirty="0">
                <a:solidFill>
                  <a:srgbClr val="CCCCCC"/>
                </a:solidFill>
                <a:effectLst/>
                <a:latin typeface="Consolas" panose="020B0609020204030204" pitchFamily="49" charset="0"/>
              </a:rPr>
              <a:t>       UPPER(LastName)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LastName</a:t>
            </a: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SalesLT.Customer</a:t>
            </a:r>
            <a:r>
              <a:rPr lang="en-US" sz="2800" b="0" dirty="0">
                <a:solidFill>
                  <a:srgbClr val="CCCCCC"/>
                </a:solidFill>
                <a:effectLst/>
                <a:latin typeface="Consolas" panose="020B0609020204030204" pitchFamily="49" charset="0"/>
              </a:rPr>
              <a:t>;</a:t>
            </a:r>
          </a:p>
        </p:txBody>
      </p:sp>
      <p:graphicFrame>
        <p:nvGraphicFramePr>
          <p:cNvPr id="2" name="Table 1">
            <a:extLst>
              <a:ext uri="{FF2B5EF4-FFF2-40B4-BE49-F238E27FC236}">
                <a16:creationId xmlns:a16="http://schemas.microsoft.com/office/drawing/2014/main" id="{E41A0982-D3DF-0EBE-7001-0AC9815C237F}"/>
              </a:ext>
            </a:extLst>
          </p:cNvPr>
          <p:cNvGraphicFramePr>
            <a:graphicFrameLocks noGrp="1"/>
          </p:cNvGraphicFramePr>
          <p:nvPr>
            <p:extLst>
              <p:ext uri="{D42A27DB-BD31-4B8C-83A1-F6EECF244321}">
                <p14:modId xmlns:p14="http://schemas.microsoft.com/office/powerpoint/2010/main" val="1726245126"/>
              </p:ext>
            </p:extLst>
          </p:nvPr>
        </p:nvGraphicFramePr>
        <p:xfrm>
          <a:off x="0" y="2122199"/>
          <a:ext cx="9144000" cy="2156724"/>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1430655367"/>
                    </a:ext>
                  </a:extLst>
                </a:gridCol>
                <a:gridCol w="3048000">
                  <a:extLst>
                    <a:ext uri="{9D8B030D-6E8A-4147-A177-3AD203B41FA5}">
                      <a16:colId xmlns:a16="http://schemas.microsoft.com/office/drawing/2014/main" val="3869906008"/>
                    </a:ext>
                  </a:extLst>
                </a:gridCol>
                <a:gridCol w="3048000">
                  <a:extLst>
                    <a:ext uri="{9D8B030D-6E8A-4147-A177-3AD203B41FA5}">
                      <a16:colId xmlns:a16="http://schemas.microsoft.com/office/drawing/2014/main" val="2170470283"/>
                    </a:ext>
                  </a:extLst>
                </a:gridCol>
              </a:tblGrid>
              <a:tr h="418079">
                <a:tc>
                  <a:txBody>
                    <a:bodyPr/>
                    <a:lstStyle/>
                    <a:p>
                      <a:pPr>
                        <a:buNone/>
                      </a:pPr>
                      <a:r>
                        <a:rPr lang="en-US" sz="2200" b="0" dirty="0">
                          <a:latin typeface="Calibir"/>
                        </a:rPr>
                        <a:t>UPPER(LastName)</a:t>
                      </a:r>
                    </a:p>
                  </a:txBody>
                  <a:tcPr marL="72522" marR="72522" marT="36261" marB="36261" anchor="ctr"/>
                </a:tc>
                <a:tc>
                  <a:txBody>
                    <a:bodyPr/>
                    <a:lstStyle/>
                    <a:p>
                      <a:pPr>
                        <a:buNone/>
                      </a:pPr>
                      <a:r>
                        <a:rPr lang="en-US" sz="2200" b="0" dirty="0">
                          <a:latin typeface="Calibir"/>
                        </a:rPr>
                        <a:t>Converts all letters in LastName to uppercase.</a:t>
                      </a:r>
                    </a:p>
                  </a:txBody>
                  <a:tcPr marL="72522" marR="72522" marT="36261" marB="36261" anchor="ctr"/>
                </a:tc>
                <a:tc>
                  <a:txBody>
                    <a:bodyPr/>
                    <a:lstStyle/>
                    <a:p>
                      <a:pPr>
                        <a:buNone/>
                      </a:pPr>
                      <a:r>
                        <a:rPr lang="en-US" sz="2200" b="0">
                          <a:latin typeface="Calibir"/>
                        </a:rPr>
                        <a:t>“smith” → “SMITH”</a:t>
                      </a:r>
                    </a:p>
                  </a:txBody>
                  <a:tcPr marL="72522" marR="72522" marT="36261" marB="36261" anchor="ctr"/>
                </a:tc>
                <a:extLst>
                  <a:ext uri="{0D108BD9-81ED-4DB2-BD59-A6C34878D82A}">
                    <a16:rowId xmlns:a16="http://schemas.microsoft.com/office/drawing/2014/main" val="2231573701"/>
                  </a:ext>
                </a:extLst>
              </a:tr>
              <a:tr h="0">
                <a:tc>
                  <a:txBody>
                    <a:bodyPr/>
                    <a:lstStyle/>
                    <a:p>
                      <a:pPr>
                        <a:buNone/>
                      </a:pPr>
                      <a:r>
                        <a:rPr lang="en-US" sz="2200" b="0">
                          <a:latin typeface="Calibir"/>
                        </a:rPr>
                        <a:t>FROM SalesLT.Customer</a:t>
                      </a:r>
                    </a:p>
                  </a:txBody>
                  <a:tcPr marL="72522" marR="72522" marT="36261" marB="36261" anchor="ctr"/>
                </a:tc>
                <a:tc>
                  <a:txBody>
                    <a:bodyPr/>
                    <a:lstStyle/>
                    <a:p>
                      <a:pPr>
                        <a:buNone/>
                      </a:pPr>
                      <a:r>
                        <a:rPr lang="en-US" sz="2200" b="0" dirty="0">
                          <a:latin typeface="Calibir"/>
                        </a:rPr>
                        <a:t>Says the data comes from the Customer table inside the </a:t>
                      </a:r>
                      <a:r>
                        <a:rPr lang="en-US" sz="2200" b="0" dirty="0" err="1">
                          <a:latin typeface="Calibir"/>
                        </a:rPr>
                        <a:t>SalesLT</a:t>
                      </a:r>
                      <a:r>
                        <a:rPr lang="en-US" sz="2200" b="0" dirty="0">
                          <a:latin typeface="Calibir"/>
                        </a:rPr>
                        <a:t> database.</a:t>
                      </a:r>
                    </a:p>
                  </a:txBody>
                  <a:tcPr marL="72522" marR="72522" marT="36261" marB="36261" anchor="ctr"/>
                </a:tc>
                <a:tc>
                  <a:txBody>
                    <a:bodyPr/>
                    <a:lstStyle/>
                    <a:p>
                      <a:pPr>
                        <a:buNone/>
                      </a:pPr>
                      <a:r>
                        <a:rPr lang="en-US" sz="2200" b="0" dirty="0">
                          <a:latin typeface="Calibir"/>
                        </a:rPr>
                        <a:t>“Look inside the Customer table to find the names.”</a:t>
                      </a:r>
                    </a:p>
                  </a:txBody>
                  <a:tcPr marL="72522" marR="72522" marT="36261" marB="36261" anchor="ctr"/>
                </a:tc>
                <a:extLst>
                  <a:ext uri="{0D108BD9-81ED-4DB2-BD59-A6C34878D82A}">
                    <a16:rowId xmlns:a16="http://schemas.microsoft.com/office/drawing/2014/main" val="2643428741"/>
                  </a:ext>
                </a:extLst>
              </a:tr>
            </a:tbl>
          </a:graphicData>
        </a:graphic>
      </p:graphicFrame>
      <p:sp>
        <p:nvSpPr>
          <p:cNvPr id="10" name="TextBox 9">
            <a:extLst>
              <a:ext uri="{FF2B5EF4-FFF2-40B4-BE49-F238E27FC236}">
                <a16:creationId xmlns:a16="http://schemas.microsoft.com/office/drawing/2014/main" id="{792DD3BE-4689-AFA6-D0E6-D5C04264F4C6}"/>
              </a:ext>
            </a:extLst>
          </p:cNvPr>
          <p:cNvSpPr txBox="1"/>
          <p:nvPr/>
        </p:nvSpPr>
        <p:spPr>
          <a:xfrm>
            <a:off x="0" y="4393338"/>
            <a:ext cx="9026014" cy="1318181"/>
          </a:xfrm>
          <a:prstGeom prst="rect">
            <a:avLst/>
          </a:prstGeom>
          <a:noFill/>
        </p:spPr>
        <p:txBody>
          <a:bodyPr wrap="square">
            <a:spAutoFit/>
          </a:bodyPr>
          <a:lstStyle/>
          <a:p>
            <a:pPr>
              <a:lnSpc>
                <a:spcPct val="150000"/>
              </a:lnSpc>
            </a:pPr>
            <a:r>
              <a:rPr lang="en-US" sz="2800" dirty="0">
                <a:latin typeface="Calibir"/>
              </a:rPr>
              <a:t>This query shows every customer’s first and last name in all capital letters, making names easier to read or standardize.</a:t>
            </a:r>
          </a:p>
        </p:txBody>
      </p:sp>
    </p:spTree>
    <p:extLst>
      <p:ext uri="{BB962C8B-B14F-4D97-AF65-F5344CB8AC3E}">
        <p14:creationId xmlns:p14="http://schemas.microsoft.com/office/powerpoint/2010/main" val="11786715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532EDF4-ADFF-FBDF-AC83-22A08DE9082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FD7AEF-608D-EB6D-4C37-CE5F7496D7B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2B62D86-AFFC-2383-DBF0-A6372A5D9ACA}"/>
              </a:ext>
            </a:extLst>
          </p:cNvPr>
          <p:cNvSpPr>
            <a:spLocks noGrp="1"/>
          </p:cNvSpPr>
          <p:nvPr>
            <p:ph type="sldNum" sz="quarter" idx="4"/>
          </p:nvPr>
        </p:nvSpPr>
        <p:spPr/>
        <p:txBody>
          <a:bodyPr/>
          <a:lstStyle/>
          <a:p>
            <a:fld id="{16A89BA3-132D-40E1-AAB4-CDCD0A14C216}" type="slidenum">
              <a:rPr lang="en-AU" smtClean="0"/>
              <a:pPr/>
              <a:t>61</a:t>
            </a:fld>
            <a:r>
              <a:rPr lang="en-AU"/>
              <a:t>  |</a:t>
            </a:r>
            <a:endParaRPr lang="en-AU" dirty="0"/>
          </a:p>
        </p:txBody>
      </p:sp>
      <p:sp>
        <p:nvSpPr>
          <p:cNvPr id="9" name="Text Placeholder 3">
            <a:extLst>
              <a:ext uri="{FF2B5EF4-FFF2-40B4-BE49-F238E27FC236}">
                <a16:creationId xmlns:a16="http://schemas.microsoft.com/office/drawing/2014/main" id="{D9749CFE-1F08-2389-F361-90BCA195B05B}"/>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37E187F-DCF2-26B2-36A8-51D5B3B3718F}"/>
              </a:ext>
            </a:extLst>
          </p:cNvPr>
          <p:cNvSpPr txBox="1"/>
          <p:nvPr/>
        </p:nvSpPr>
        <p:spPr>
          <a:xfrm>
            <a:off x="78058" y="624468"/>
            <a:ext cx="9065942" cy="668966"/>
          </a:xfrm>
          <a:prstGeom prst="rect">
            <a:avLst/>
          </a:prstGeom>
          <a:noFill/>
        </p:spPr>
        <p:txBody>
          <a:bodyPr wrap="square" rtlCol="0">
            <a:spAutoFit/>
          </a:bodyPr>
          <a:lstStyle/>
          <a:p>
            <a:pPr>
              <a:lnSpc>
                <a:spcPct val="150000"/>
              </a:lnSpc>
            </a:pPr>
            <a:r>
              <a:rPr lang="en-US" sz="2800" dirty="0">
                <a:latin typeface="Calibir"/>
              </a:rPr>
              <a:t>3. Total weight and average price</a:t>
            </a:r>
          </a:p>
        </p:txBody>
      </p:sp>
      <p:sp>
        <p:nvSpPr>
          <p:cNvPr id="11" name="TextBox 10">
            <a:extLst>
              <a:ext uri="{FF2B5EF4-FFF2-40B4-BE49-F238E27FC236}">
                <a16:creationId xmlns:a16="http://schemas.microsoft.com/office/drawing/2014/main" id="{35D06DE4-EBE0-CADF-0739-450EDAC9BD88}"/>
              </a:ext>
            </a:extLst>
          </p:cNvPr>
          <p:cNvSpPr txBox="1"/>
          <p:nvPr/>
        </p:nvSpPr>
        <p:spPr>
          <a:xfrm>
            <a:off x="0" y="1727803"/>
            <a:ext cx="8849710" cy="523220"/>
          </a:xfrm>
          <a:prstGeom prst="rect">
            <a:avLst/>
          </a:prstGeom>
          <a:noFill/>
        </p:spPr>
        <p:txBody>
          <a:bodyPr wrap="square">
            <a:spAutoFit/>
          </a:bodyPr>
          <a:lstStyle/>
          <a:p>
            <a:r>
              <a:rPr lang="en-US" sz="2800" dirty="0">
                <a:solidFill>
                  <a:srgbClr val="3D3935"/>
                </a:solidFill>
                <a:latin typeface="Calibir"/>
              </a:rPr>
              <a:t>Take a screenshot) Shift + Enter (Or click </a:t>
            </a:r>
            <a:r>
              <a:rPr lang="en-US" sz="2800" dirty="0">
                <a:solidFill>
                  <a:srgbClr val="3D3935"/>
                </a:solidFill>
                <a:highlight>
                  <a:srgbClr val="FFFF00"/>
                </a:highlight>
                <a:latin typeface="Calibir"/>
              </a:rPr>
              <a:t>Run</a:t>
            </a:r>
            <a:r>
              <a:rPr lang="en-US" sz="2800" dirty="0">
                <a:solidFill>
                  <a:srgbClr val="3D3935"/>
                </a:solidFill>
                <a:latin typeface="Calibir"/>
              </a:rPr>
              <a:t>)</a:t>
            </a:r>
            <a:endParaRPr lang="en-US" sz="2800" dirty="0"/>
          </a:p>
        </p:txBody>
      </p:sp>
      <p:sp>
        <p:nvSpPr>
          <p:cNvPr id="12" name="TextBox 11">
            <a:extLst>
              <a:ext uri="{FF2B5EF4-FFF2-40B4-BE49-F238E27FC236}">
                <a16:creationId xmlns:a16="http://schemas.microsoft.com/office/drawing/2014/main" id="{E2742ACE-1DAB-843A-BEBF-0E4D596ACBEE}"/>
              </a:ext>
            </a:extLst>
          </p:cNvPr>
          <p:cNvSpPr txBox="1"/>
          <p:nvPr/>
        </p:nvSpPr>
        <p:spPr>
          <a:xfrm>
            <a:off x="0" y="4131821"/>
            <a:ext cx="8989424" cy="2610843"/>
          </a:xfrm>
          <a:prstGeom prst="rect">
            <a:avLst/>
          </a:prstGeom>
          <a:noFill/>
        </p:spPr>
        <p:txBody>
          <a:bodyPr wrap="square">
            <a:spAutoFit/>
          </a:bodyPr>
          <a:lstStyle/>
          <a:p>
            <a:pPr>
              <a:lnSpc>
                <a:spcPct val="150000"/>
              </a:lnSpc>
            </a:pPr>
            <a:r>
              <a:rPr lang="en-US" sz="2800" dirty="0">
                <a:latin typeface="Calibir"/>
              </a:rPr>
              <a:t>This code adds up all product weights and finds the average price of products.</a:t>
            </a:r>
            <a:br>
              <a:rPr lang="en-US" sz="2800" dirty="0">
                <a:latin typeface="Calibir"/>
              </a:rPr>
            </a:br>
            <a:r>
              <a:rPr lang="en-US" sz="2800" dirty="0">
                <a:latin typeface="Calibir"/>
              </a:rPr>
              <a:t>Imagine summing all weights in a column and finding the mean of prices in Excel.</a:t>
            </a:r>
          </a:p>
        </p:txBody>
      </p:sp>
      <p:sp>
        <p:nvSpPr>
          <p:cNvPr id="5" name="TextBox 4">
            <a:extLst>
              <a:ext uri="{FF2B5EF4-FFF2-40B4-BE49-F238E27FC236}">
                <a16:creationId xmlns:a16="http://schemas.microsoft.com/office/drawing/2014/main" id="{0C9B492D-DC57-666F-45CD-C69007850023}"/>
              </a:ext>
            </a:extLst>
          </p:cNvPr>
          <p:cNvSpPr txBox="1"/>
          <p:nvPr/>
        </p:nvSpPr>
        <p:spPr>
          <a:xfrm>
            <a:off x="0" y="2395806"/>
            <a:ext cx="9144000" cy="1384995"/>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SUM(Weight)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TotalWeight</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AVG(</a:t>
            </a:r>
            <a:r>
              <a:rPr lang="en-US" sz="2800" b="0" dirty="0" err="1">
                <a:solidFill>
                  <a:srgbClr val="CCCCCC"/>
                </a:solidFill>
                <a:effectLst/>
                <a:latin typeface="Consolas" panose="020B0609020204030204" pitchFamily="49" charset="0"/>
              </a:rPr>
              <a:t>ListPrice</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AveragePrice</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SalesLT.Product</a:t>
            </a:r>
            <a:r>
              <a:rPr lang="en-US" sz="28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1060247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DE86DF6-6540-A2C5-53FE-3EB88466399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40A8DF6-32E3-6437-0A90-94A9CFFF0F5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B266D684-0F71-B22C-110F-DDDE40BD9E62}"/>
              </a:ext>
            </a:extLst>
          </p:cNvPr>
          <p:cNvSpPr>
            <a:spLocks noGrp="1"/>
          </p:cNvSpPr>
          <p:nvPr>
            <p:ph type="sldNum" sz="quarter" idx="4"/>
          </p:nvPr>
        </p:nvSpPr>
        <p:spPr/>
        <p:txBody>
          <a:bodyPr/>
          <a:lstStyle/>
          <a:p>
            <a:fld id="{16A89BA3-132D-40E1-AAB4-CDCD0A14C216}" type="slidenum">
              <a:rPr lang="en-AU" smtClean="0"/>
              <a:pPr/>
              <a:t>62</a:t>
            </a:fld>
            <a:r>
              <a:rPr lang="en-AU"/>
              <a:t>  |</a:t>
            </a:r>
            <a:endParaRPr lang="en-AU" dirty="0"/>
          </a:p>
        </p:txBody>
      </p:sp>
      <p:sp>
        <p:nvSpPr>
          <p:cNvPr id="5" name="TextBox 4">
            <a:extLst>
              <a:ext uri="{FF2B5EF4-FFF2-40B4-BE49-F238E27FC236}">
                <a16:creationId xmlns:a16="http://schemas.microsoft.com/office/drawing/2014/main" id="{CEAC91CA-EC56-F471-CCE8-029DBAF21A06}"/>
              </a:ext>
            </a:extLst>
          </p:cNvPr>
          <p:cNvSpPr txBox="1"/>
          <p:nvPr/>
        </p:nvSpPr>
        <p:spPr>
          <a:xfrm>
            <a:off x="0" y="0"/>
            <a:ext cx="9144000" cy="1384995"/>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SUM(Weight)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TotalWeight</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AVG(</a:t>
            </a:r>
            <a:r>
              <a:rPr lang="en-US" sz="2800" b="0" dirty="0" err="1">
                <a:solidFill>
                  <a:srgbClr val="CCCCCC"/>
                </a:solidFill>
                <a:effectLst/>
                <a:latin typeface="Consolas" panose="020B0609020204030204" pitchFamily="49" charset="0"/>
              </a:rPr>
              <a:t>ListPrice</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AveragePrice</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SalesLT.Product</a:t>
            </a:r>
            <a:r>
              <a:rPr lang="en-US" sz="28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72A7A4DB-4B87-30F0-8237-F70E030F42AA}"/>
              </a:ext>
            </a:extLst>
          </p:cNvPr>
          <p:cNvGraphicFramePr>
            <a:graphicFrameLocks noGrp="1"/>
          </p:cNvGraphicFramePr>
          <p:nvPr>
            <p:extLst>
              <p:ext uri="{D42A27DB-BD31-4B8C-83A1-F6EECF244321}">
                <p14:modId xmlns:p14="http://schemas.microsoft.com/office/powerpoint/2010/main" val="1558943619"/>
              </p:ext>
            </p:extLst>
          </p:nvPr>
        </p:nvGraphicFramePr>
        <p:xfrm>
          <a:off x="0" y="1384995"/>
          <a:ext cx="9144000" cy="4189036"/>
        </p:xfrm>
        <a:graphic>
          <a:graphicData uri="http://schemas.openxmlformats.org/drawingml/2006/table">
            <a:tbl>
              <a:tblPr>
                <a:tableStyleId>{ED083AE6-46FA-4A59-8FB0-9F97EB10719F}</a:tableStyleId>
              </a:tblPr>
              <a:tblGrid>
                <a:gridCol w="2109019">
                  <a:extLst>
                    <a:ext uri="{9D8B030D-6E8A-4147-A177-3AD203B41FA5}">
                      <a16:colId xmlns:a16="http://schemas.microsoft.com/office/drawing/2014/main" val="709853717"/>
                    </a:ext>
                  </a:extLst>
                </a:gridCol>
                <a:gridCol w="2702557">
                  <a:extLst>
                    <a:ext uri="{9D8B030D-6E8A-4147-A177-3AD203B41FA5}">
                      <a16:colId xmlns:a16="http://schemas.microsoft.com/office/drawing/2014/main" val="96098809"/>
                    </a:ext>
                  </a:extLst>
                </a:gridCol>
                <a:gridCol w="4332424">
                  <a:extLst>
                    <a:ext uri="{9D8B030D-6E8A-4147-A177-3AD203B41FA5}">
                      <a16:colId xmlns:a16="http://schemas.microsoft.com/office/drawing/2014/main" val="2277494985"/>
                    </a:ext>
                  </a:extLst>
                </a:gridCol>
              </a:tblGrid>
              <a:tr h="334718">
                <a:tc>
                  <a:txBody>
                    <a:bodyPr/>
                    <a:lstStyle/>
                    <a:p>
                      <a:pPr>
                        <a:buNone/>
                      </a:pPr>
                      <a:r>
                        <a:rPr lang="en-US" sz="2200" b="0">
                          <a:latin typeface="Calibir"/>
                        </a:rPr>
                        <a:t>Part</a:t>
                      </a:r>
                    </a:p>
                  </a:txBody>
                  <a:tcPr marL="83680" marR="83680" marT="41840" marB="41840" anchor="ctr"/>
                </a:tc>
                <a:tc>
                  <a:txBody>
                    <a:bodyPr/>
                    <a:lstStyle/>
                    <a:p>
                      <a:pPr>
                        <a:buNone/>
                      </a:pPr>
                      <a:r>
                        <a:rPr lang="en-US" sz="2200" b="0">
                          <a:latin typeface="Calibir"/>
                        </a:rPr>
                        <a:t>Meaning</a:t>
                      </a:r>
                    </a:p>
                  </a:txBody>
                  <a:tcPr marL="83680" marR="83680" marT="41840" marB="41840" anchor="ctr"/>
                </a:tc>
                <a:tc>
                  <a:txBody>
                    <a:bodyPr/>
                    <a:lstStyle/>
                    <a:p>
                      <a:pPr>
                        <a:buNone/>
                      </a:pPr>
                      <a:r>
                        <a:rPr lang="en-US" sz="2200" b="0">
                          <a:latin typeface="Calibir"/>
                        </a:rPr>
                        <a:t>Example</a:t>
                      </a:r>
                    </a:p>
                  </a:txBody>
                  <a:tcPr marL="83680" marR="83680" marT="41840" marB="41840" anchor="ctr"/>
                </a:tc>
                <a:extLst>
                  <a:ext uri="{0D108BD9-81ED-4DB2-BD59-A6C34878D82A}">
                    <a16:rowId xmlns:a16="http://schemas.microsoft.com/office/drawing/2014/main" val="2887201187"/>
                  </a:ext>
                </a:extLst>
              </a:tr>
              <a:tr h="0">
                <a:tc>
                  <a:txBody>
                    <a:bodyPr/>
                    <a:lstStyle/>
                    <a:p>
                      <a:pPr>
                        <a:buNone/>
                      </a:pPr>
                      <a:r>
                        <a:rPr lang="en-US" sz="2200" b="0">
                          <a:latin typeface="Calibir"/>
                        </a:rPr>
                        <a:t>SELECT</a:t>
                      </a:r>
                    </a:p>
                  </a:txBody>
                  <a:tcPr marL="83680" marR="83680" marT="41840" marB="41840" anchor="ctr"/>
                </a:tc>
                <a:tc>
                  <a:txBody>
                    <a:bodyPr/>
                    <a:lstStyle/>
                    <a:p>
                      <a:pPr>
                        <a:buNone/>
                      </a:pPr>
                      <a:r>
                        <a:rPr lang="en-US" sz="2200" b="0">
                          <a:latin typeface="Calibir"/>
                        </a:rPr>
                        <a:t>Chooses what to display in the result.</a:t>
                      </a:r>
                    </a:p>
                  </a:txBody>
                  <a:tcPr marL="83680" marR="83680" marT="41840" marB="41840" anchor="ctr"/>
                </a:tc>
                <a:tc>
                  <a:txBody>
                    <a:bodyPr/>
                    <a:lstStyle/>
                    <a:p>
                      <a:pPr>
                        <a:buNone/>
                      </a:pPr>
                      <a:r>
                        <a:rPr lang="en-US" sz="2200" b="0">
                          <a:latin typeface="Calibir"/>
                        </a:rPr>
                        <a:t>“Show me these numbers.”</a:t>
                      </a:r>
                    </a:p>
                  </a:txBody>
                  <a:tcPr marL="83680" marR="83680" marT="41840" marB="41840" anchor="ctr"/>
                </a:tc>
                <a:extLst>
                  <a:ext uri="{0D108BD9-81ED-4DB2-BD59-A6C34878D82A}">
                    <a16:rowId xmlns:a16="http://schemas.microsoft.com/office/drawing/2014/main" val="2541288585"/>
                  </a:ext>
                </a:extLst>
              </a:tr>
              <a:tr h="0">
                <a:tc>
                  <a:txBody>
                    <a:bodyPr/>
                    <a:lstStyle/>
                    <a:p>
                      <a:pPr>
                        <a:buNone/>
                      </a:pPr>
                      <a:r>
                        <a:rPr lang="en-US" sz="2200" b="0">
                          <a:latin typeface="Calibir"/>
                        </a:rPr>
                        <a:t>SUM(Weight)</a:t>
                      </a:r>
                    </a:p>
                  </a:txBody>
                  <a:tcPr marL="83680" marR="83680" marT="41840" marB="41840" anchor="ctr"/>
                </a:tc>
                <a:tc>
                  <a:txBody>
                    <a:bodyPr/>
                    <a:lstStyle/>
                    <a:p>
                      <a:pPr>
                        <a:buNone/>
                      </a:pPr>
                      <a:r>
                        <a:rPr lang="en-US" sz="2200" b="0">
                          <a:latin typeface="Calibir"/>
                        </a:rPr>
                        <a:t>Adds up all the product weights in the Product table.</a:t>
                      </a:r>
                    </a:p>
                  </a:txBody>
                  <a:tcPr marL="83680" marR="83680" marT="41840" marB="41840" anchor="ctr"/>
                </a:tc>
                <a:tc>
                  <a:txBody>
                    <a:bodyPr/>
                    <a:lstStyle/>
                    <a:p>
                      <a:pPr>
                        <a:buNone/>
                      </a:pPr>
                      <a:r>
                        <a:rPr lang="en-US" sz="2200" b="0">
                          <a:latin typeface="Calibir"/>
                        </a:rPr>
                        <a:t>If weights are 10, 20, 30 → total = 60.</a:t>
                      </a:r>
                    </a:p>
                  </a:txBody>
                  <a:tcPr marL="83680" marR="83680" marT="41840" marB="41840" anchor="ctr"/>
                </a:tc>
                <a:extLst>
                  <a:ext uri="{0D108BD9-81ED-4DB2-BD59-A6C34878D82A}">
                    <a16:rowId xmlns:a16="http://schemas.microsoft.com/office/drawing/2014/main" val="411138245"/>
                  </a:ext>
                </a:extLst>
              </a:tr>
              <a:tr h="836796">
                <a:tc>
                  <a:txBody>
                    <a:bodyPr/>
                    <a:lstStyle/>
                    <a:p>
                      <a:pPr>
                        <a:buNone/>
                      </a:pPr>
                      <a:r>
                        <a:rPr lang="en-US" sz="2200" b="0">
                          <a:latin typeface="Calibir"/>
                        </a:rPr>
                        <a:t>AS TotalWeight</a:t>
                      </a:r>
                    </a:p>
                  </a:txBody>
                  <a:tcPr marL="83680" marR="83680" marT="41840" marB="41840" anchor="ctr"/>
                </a:tc>
                <a:tc>
                  <a:txBody>
                    <a:bodyPr/>
                    <a:lstStyle/>
                    <a:p>
                      <a:pPr>
                        <a:buNone/>
                      </a:pPr>
                      <a:r>
                        <a:rPr lang="en-US" sz="2200" b="0">
                          <a:latin typeface="Calibir"/>
                        </a:rPr>
                        <a:t>Gives a name (alias) to the result column.</a:t>
                      </a:r>
                    </a:p>
                  </a:txBody>
                  <a:tcPr marL="83680" marR="83680" marT="41840" marB="41840" anchor="ctr"/>
                </a:tc>
                <a:tc>
                  <a:txBody>
                    <a:bodyPr/>
                    <a:lstStyle/>
                    <a:p>
                      <a:pPr>
                        <a:buNone/>
                      </a:pPr>
                      <a:r>
                        <a:rPr lang="en-US" sz="2200" b="0">
                          <a:latin typeface="Calibir"/>
                        </a:rPr>
                        <a:t>It will appear as TotalWeight in the output.</a:t>
                      </a:r>
                    </a:p>
                  </a:txBody>
                  <a:tcPr marL="83680" marR="83680" marT="41840" marB="41840" anchor="ctr"/>
                </a:tc>
                <a:extLst>
                  <a:ext uri="{0D108BD9-81ED-4DB2-BD59-A6C34878D82A}">
                    <a16:rowId xmlns:a16="http://schemas.microsoft.com/office/drawing/2014/main" val="3155517217"/>
                  </a:ext>
                </a:extLst>
              </a:tr>
              <a:tr h="585757">
                <a:tc>
                  <a:txBody>
                    <a:bodyPr/>
                    <a:lstStyle/>
                    <a:p>
                      <a:pPr>
                        <a:buNone/>
                      </a:pPr>
                      <a:r>
                        <a:rPr lang="en-US" sz="2200" b="0">
                          <a:latin typeface="Calibir"/>
                        </a:rPr>
                        <a:t>AVG(ListPrice)</a:t>
                      </a:r>
                    </a:p>
                  </a:txBody>
                  <a:tcPr marL="83680" marR="83680" marT="41840" marB="41840" anchor="ctr"/>
                </a:tc>
                <a:tc>
                  <a:txBody>
                    <a:bodyPr/>
                    <a:lstStyle/>
                    <a:p>
                      <a:pPr>
                        <a:buNone/>
                      </a:pPr>
                      <a:r>
                        <a:rPr lang="en-US" sz="2200" b="0">
                          <a:latin typeface="Calibir"/>
                        </a:rPr>
                        <a:t>Calculates the average of all product prices.</a:t>
                      </a:r>
                    </a:p>
                  </a:txBody>
                  <a:tcPr marL="83680" marR="83680" marT="41840" marB="41840" anchor="ctr"/>
                </a:tc>
                <a:tc>
                  <a:txBody>
                    <a:bodyPr/>
                    <a:lstStyle/>
                    <a:p>
                      <a:pPr>
                        <a:buNone/>
                      </a:pPr>
                      <a:r>
                        <a:rPr lang="en-US" sz="2200" b="0" dirty="0">
                          <a:latin typeface="Calibir"/>
                        </a:rPr>
                        <a:t>If prices are 100, 200, 300 → average = 200.</a:t>
                      </a:r>
                    </a:p>
                  </a:txBody>
                  <a:tcPr marL="83680" marR="83680" marT="41840" marB="41840" anchor="ctr"/>
                </a:tc>
                <a:extLst>
                  <a:ext uri="{0D108BD9-81ED-4DB2-BD59-A6C34878D82A}">
                    <a16:rowId xmlns:a16="http://schemas.microsoft.com/office/drawing/2014/main" val="2217434101"/>
                  </a:ext>
                </a:extLst>
              </a:tr>
            </a:tbl>
          </a:graphicData>
        </a:graphic>
      </p:graphicFrame>
    </p:spTree>
    <p:extLst>
      <p:ext uri="{BB962C8B-B14F-4D97-AF65-F5344CB8AC3E}">
        <p14:creationId xmlns:p14="http://schemas.microsoft.com/office/powerpoint/2010/main" val="18546022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B07B09A-50D2-B319-0538-35145DE279B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43B7E4C-5F46-763C-B359-461BBE884DB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1EE98CA-2D30-F7DB-E22D-2F786AE287B9}"/>
              </a:ext>
            </a:extLst>
          </p:cNvPr>
          <p:cNvSpPr>
            <a:spLocks noGrp="1"/>
          </p:cNvSpPr>
          <p:nvPr>
            <p:ph type="sldNum" sz="quarter" idx="4"/>
          </p:nvPr>
        </p:nvSpPr>
        <p:spPr/>
        <p:txBody>
          <a:bodyPr/>
          <a:lstStyle/>
          <a:p>
            <a:fld id="{16A89BA3-132D-40E1-AAB4-CDCD0A14C216}" type="slidenum">
              <a:rPr lang="en-AU" smtClean="0"/>
              <a:pPr/>
              <a:t>63</a:t>
            </a:fld>
            <a:r>
              <a:rPr lang="en-AU"/>
              <a:t>  |</a:t>
            </a:r>
            <a:endParaRPr lang="en-AU" dirty="0"/>
          </a:p>
        </p:txBody>
      </p:sp>
      <p:sp>
        <p:nvSpPr>
          <p:cNvPr id="5" name="TextBox 4">
            <a:extLst>
              <a:ext uri="{FF2B5EF4-FFF2-40B4-BE49-F238E27FC236}">
                <a16:creationId xmlns:a16="http://schemas.microsoft.com/office/drawing/2014/main" id="{FC0C7F48-FBA7-CA32-9862-3FC2A4A8F921}"/>
              </a:ext>
            </a:extLst>
          </p:cNvPr>
          <p:cNvSpPr txBox="1"/>
          <p:nvPr/>
        </p:nvSpPr>
        <p:spPr>
          <a:xfrm>
            <a:off x="0" y="0"/>
            <a:ext cx="9144000" cy="1384995"/>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SUM(Weight)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TotalWeight</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AVG(</a:t>
            </a:r>
            <a:r>
              <a:rPr lang="en-US" sz="2800" b="0" dirty="0" err="1">
                <a:solidFill>
                  <a:srgbClr val="CCCCCC"/>
                </a:solidFill>
                <a:effectLst/>
                <a:latin typeface="Consolas" panose="020B0609020204030204" pitchFamily="49" charset="0"/>
              </a:rPr>
              <a:t>ListPrice</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AveragePrice</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SalesLT.Product</a:t>
            </a:r>
            <a:r>
              <a:rPr lang="en-US" sz="28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D40BFAC9-26B6-A305-D219-3FF70C0B04A7}"/>
              </a:ext>
            </a:extLst>
          </p:cNvPr>
          <p:cNvGraphicFramePr>
            <a:graphicFrameLocks noGrp="1"/>
          </p:cNvGraphicFramePr>
          <p:nvPr>
            <p:extLst>
              <p:ext uri="{D42A27DB-BD31-4B8C-83A1-F6EECF244321}">
                <p14:modId xmlns:p14="http://schemas.microsoft.com/office/powerpoint/2010/main" val="272243556"/>
              </p:ext>
            </p:extLst>
          </p:nvPr>
        </p:nvGraphicFramePr>
        <p:xfrm>
          <a:off x="0" y="1384995"/>
          <a:ext cx="9144000" cy="2262720"/>
        </p:xfrm>
        <a:graphic>
          <a:graphicData uri="http://schemas.openxmlformats.org/drawingml/2006/table">
            <a:tbl>
              <a:tblPr>
                <a:tableStyleId>{ED083AE6-46FA-4A59-8FB0-9F97EB10719F}</a:tableStyleId>
              </a:tblPr>
              <a:tblGrid>
                <a:gridCol w="2109019">
                  <a:extLst>
                    <a:ext uri="{9D8B030D-6E8A-4147-A177-3AD203B41FA5}">
                      <a16:colId xmlns:a16="http://schemas.microsoft.com/office/drawing/2014/main" val="709853717"/>
                    </a:ext>
                  </a:extLst>
                </a:gridCol>
                <a:gridCol w="2702557">
                  <a:extLst>
                    <a:ext uri="{9D8B030D-6E8A-4147-A177-3AD203B41FA5}">
                      <a16:colId xmlns:a16="http://schemas.microsoft.com/office/drawing/2014/main" val="96098809"/>
                    </a:ext>
                  </a:extLst>
                </a:gridCol>
                <a:gridCol w="4332424">
                  <a:extLst>
                    <a:ext uri="{9D8B030D-6E8A-4147-A177-3AD203B41FA5}">
                      <a16:colId xmlns:a16="http://schemas.microsoft.com/office/drawing/2014/main" val="2277494985"/>
                    </a:ext>
                  </a:extLst>
                </a:gridCol>
              </a:tblGrid>
              <a:tr h="334718">
                <a:tc>
                  <a:txBody>
                    <a:bodyPr/>
                    <a:lstStyle/>
                    <a:p>
                      <a:pPr>
                        <a:buNone/>
                      </a:pPr>
                      <a:r>
                        <a:rPr lang="en-US" sz="2200" b="0">
                          <a:latin typeface="Calibir"/>
                        </a:rPr>
                        <a:t>Part</a:t>
                      </a:r>
                    </a:p>
                  </a:txBody>
                  <a:tcPr marL="83680" marR="83680" marT="41840" marB="41840" anchor="ctr"/>
                </a:tc>
                <a:tc>
                  <a:txBody>
                    <a:bodyPr/>
                    <a:lstStyle/>
                    <a:p>
                      <a:pPr>
                        <a:buNone/>
                      </a:pPr>
                      <a:r>
                        <a:rPr lang="en-US" sz="2200" b="0">
                          <a:latin typeface="Calibir"/>
                        </a:rPr>
                        <a:t>Meaning</a:t>
                      </a:r>
                    </a:p>
                  </a:txBody>
                  <a:tcPr marL="83680" marR="83680" marT="41840" marB="41840" anchor="ctr"/>
                </a:tc>
                <a:tc>
                  <a:txBody>
                    <a:bodyPr/>
                    <a:lstStyle/>
                    <a:p>
                      <a:pPr>
                        <a:buNone/>
                      </a:pPr>
                      <a:r>
                        <a:rPr lang="en-US" sz="2200" b="0">
                          <a:latin typeface="Calibir"/>
                        </a:rPr>
                        <a:t>Example</a:t>
                      </a:r>
                    </a:p>
                  </a:txBody>
                  <a:tcPr marL="83680" marR="83680" marT="41840" marB="41840" anchor="ctr"/>
                </a:tc>
                <a:extLst>
                  <a:ext uri="{0D108BD9-81ED-4DB2-BD59-A6C34878D82A}">
                    <a16:rowId xmlns:a16="http://schemas.microsoft.com/office/drawing/2014/main" val="2887201187"/>
                  </a:ext>
                </a:extLst>
              </a:tr>
              <a:tr h="0">
                <a:tc>
                  <a:txBody>
                    <a:bodyPr/>
                    <a:lstStyle/>
                    <a:p>
                      <a:pPr>
                        <a:buNone/>
                      </a:pPr>
                      <a:r>
                        <a:rPr lang="en-US" sz="2200" b="0" dirty="0">
                          <a:latin typeface="Calibir"/>
                        </a:rPr>
                        <a:t>AS </a:t>
                      </a:r>
                      <a:r>
                        <a:rPr lang="en-US" sz="2200" b="0" dirty="0" err="1">
                          <a:latin typeface="Calibir"/>
                        </a:rPr>
                        <a:t>AveragePrice</a:t>
                      </a:r>
                      <a:endParaRPr lang="en-US" sz="2200" b="0" dirty="0">
                        <a:latin typeface="Calibir"/>
                      </a:endParaRPr>
                    </a:p>
                  </a:txBody>
                  <a:tcPr marL="83680" marR="83680" marT="41840" marB="41840" anchor="ctr"/>
                </a:tc>
                <a:tc>
                  <a:txBody>
                    <a:bodyPr/>
                    <a:lstStyle/>
                    <a:p>
                      <a:pPr>
                        <a:buNone/>
                      </a:pPr>
                      <a:r>
                        <a:rPr lang="en-US" sz="2200" b="0">
                          <a:latin typeface="Calibir"/>
                        </a:rPr>
                        <a:t>Names that result column AveragePrice.</a:t>
                      </a:r>
                    </a:p>
                  </a:txBody>
                  <a:tcPr marL="83680" marR="83680" marT="41840" marB="41840" anchor="ctr"/>
                </a:tc>
                <a:tc>
                  <a:txBody>
                    <a:bodyPr/>
                    <a:lstStyle/>
                    <a:p>
                      <a:pPr>
                        <a:buNone/>
                      </a:pPr>
                      <a:r>
                        <a:rPr lang="en-US" sz="2200" b="0">
                          <a:latin typeface="Calibir"/>
                        </a:rPr>
                        <a:t>Easier to understand in reports.</a:t>
                      </a:r>
                    </a:p>
                  </a:txBody>
                  <a:tcPr marL="83680" marR="83680" marT="41840" marB="41840" anchor="ctr"/>
                </a:tc>
                <a:extLst>
                  <a:ext uri="{0D108BD9-81ED-4DB2-BD59-A6C34878D82A}">
                    <a16:rowId xmlns:a16="http://schemas.microsoft.com/office/drawing/2014/main" val="2541288585"/>
                  </a:ext>
                </a:extLst>
              </a:tr>
              <a:tr h="0">
                <a:tc>
                  <a:txBody>
                    <a:bodyPr/>
                    <a:lstStyle/>
                    <a:p>
                      <a:pPr>
                        <a:buNone/>
                      </a:pPr>
                      <a:r>
                        <a:rPr lang="en-US" sz="2200" b="0" dirty="0">
                          <a:latin typeface="Calibir"/>
                        </a:rPr>
                        <a:t>FROM </a:t>
                      </a:r>
                      <a:r>
                        <a:rPr lang="en-US" sz="2200" b="0" dirty="0" err="1">
                          <a:latin typeface="Calibir"/>
                        </a:rPr>
                        <a:t>SalesLT.Product</a:t>
                      </a:r>
                      <a:endParaRPr lang="en-US" sz="2200" b="0" dirty="0">
                        <a:latin typeface="Calibir"/>
                      </a:endParaRPr>
                    </a:p>
                  </a:txBody>
                  <a:tcPr marL="83680" marR="83680" marT="41840" marB="41840" anchor="ctr"/>
                </a:tc>
                <a:tc>
                  <a:txBody>
                    <a:bodyPr/>
                    <a:lstStyle/>
                    <a:p>
                      <a:pPr>
                        <a:buNone/>
                      </a:pPr>
                      <a:r>
                        <a:rPr lang="en-US" sz="2200" b="0" dirty="0">
                          <a:latin typeface="Calibir"/>
                        </a:rPr>
                        <a:t>Means “get this data from the Product table.”</a:t>
                      </a:r>
                    </a:p>
                  </a:txBody>
                  <a:tcPr marL="83680" marR="83680" marT="41840" marB="41840" anchor="ctr"/>
                </a:tc>
                <a:tc>
                  <a:txBody>
                    <a:bodyPr/>
                    <a:lstStyle/>
                    <a:p>
                      <a:pPr>
                        <a:buNone/>
                      </a:pPr>
                      <a:r>
                        <a:rPr lang="en-US" sz="2200" b="0" dirty="0">
                          <a:latin typeface="Calibir"/>
                        </a:rPr>
                        <a:t>Looks at all products in the database.</a:t>
                      </a:r>
                    </a:p>
                  </a:txBody>
                  <a:tcPr marL="83680" marR="83680" marT="41840" marB="41840" anchor="ctr"/>
                </a:tc>
                <a:extLst>
                  <a:ext uri="{0D108BD9-81ED-4DB2-BD59-A6C34878D82A}">
                    <a16:rowId xmlns:a16="http://schemas.microsoft.com/office/drawing/2014/main" val="411138245"/>
                  </a:ext>
                </a:extLst>
              </a:tr>
            </a:tbl>
          </a:graphicData>
        </a:graphic>
      </p:graphicFrame>
      <p:sp>
        <p:nvSpPr>
          <p:cNvPr id="6" name="TextBox 5">
            <a:extLst>
              <a:ext uri="{FF2B5EF4-FFF2-40B4-BE49-F238E27FC236}">
                <a16:creationId xmlns:a16="http://schemas.microsoft.com/office/drawing/2014/main" id="{9D230AF1-1523-A6BD-B330-2F33603A82DC}"/>
              </a:ext>
            </a:extLst>
          </p:cNvPr>
          <p:cNvSpPr txBox="1"/>
          <p:nvPr/>
        </p:nvSpPr>
        <p:spPr>
          <a:xfrm>
            <a:off x="0" y="3647715"/>
            <a:ext cx="9011265" cy="1964512"/>
          </a:xfrm>
          <a:prstGeom prst="rect">
            <a:avLst/>
          </a:prstGeom>
          <a:noFill/>
        </p:spPr>
        <p:txBody>
          <a:bodyPr wrap="square">
            <a:spAutoFit/>
          </a:bodyPr>
          <a:lstStyle/>
          <a:p>
            <a:pPr>
              <a:lnSpc>
                <a:spcPct val="150000"/>
              </a:lnSpc>
            </a:pPr>
            <a:r>
              <a:rPr lang="en-US" sz="2800" dirty="0">
                <a:latin typeface="Calibir"/>
              </a:rPr>
              <a:t>This query tells SQL to add up all product weights and find the average product price from the Product table — just like using </a:t>
            </a:r>
            <a:r>
              <a:rPr lang="en-US" sz="2800" i="1" dirty="0">
                <a:latin typeface="Calibir"/>
              </a:rPr>
              <a:t>SUM</a:t>
            </a:r>
            <a:r>
              <a:rPr lang="en-US" sz="2800" dirty="0">
                <a:latin typeface="Calibir"/>
              </a:rPr>
              <a:t> and </a:t>
            </a:r>
            <a:r>
              <a:rPr lang="en-US" sz="2800" i="1" dirty="0">
                <a:latin typeface="Calibir"/>
              </a:rPr>
              <a:t>AVERAGE</a:t>
            </a:r>
            <a:r>
              <a:rPr lang="en-US" sz="2800" dirty="0">
                <a:latin typeface="Calibir"/>
              </a:rPr>
              <a:t> formulas in Excel.</a:t>
            </a:r>
          </a:p>
        </p:txBody>
      </p:sp>
    </p:spTree>
    <p:extLst>
      <p:ext uri="{BB962C8B-B14F-4D97-AF65-F5344CB8AC3E}">
        <p14:creationId xmlns:p14="http://schemas.microsoft.com/office/powerpoint/2010/main" val="36051340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4EF0CBA-F2BB-4EAC-8EBE-97A92CDD772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8053E82-5457-88A8-B722-7148704867F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56853A1-32A9-6208-D83F-341B5383F566}"/>
              </a:ext>
            </a:extLst>
          </p:cNvPr>
          <p:cNvSpPr>
            <a:spLocks noGrp="1"/>
          </p:cNvSpPr>
          <p:nvPr>
            <p:ph type="sldNum" sz="quarter" idx="4"/>
          </p:nvPr>
        </p:nvSpPr>
        <p:spPr/>
        <p:txBody>
          <a:bodyPr/>
          <a:lstStyle/>
          <a:p>
            <a:fld id="{16A89BA3-132D-40E1-AAB4-CDCD0A14C216}" type="slidenum">
              <a:rPr lang="en-AU" smtClean="0"/>
              <a:pPr/>
              <a:t>64</a:t>
            </a:fld>
            <a:r>
              <a:rPr lang="en-AU"/>
              <a:t>  |</a:t>
            </a:r>
            <a:endParaRPr lang="en-AU" dirty="0"/>
          </a:p>
        </p:txBody>
      </p:sp>
      <p:sp>
        <p:nvSpPr>
          <p:cNvPr id="9" name="Text Placeholder 3">
            <a:extLst>
              <a:ext uri="{FF2B5EF4-FFF2-40B4-BE49-F238E27FC236}">
                <a16:creationId xmlns:a16="http://schemas.microsoft.com/office/drawing/2014/main" id="{5D05A32F-6847-0F37-55FA-CAF371F52E17}"/>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96B1261-73A9-78AC-0DE2-792A546C4C79}"/>
              </a:ext>
            </a:extLst>
          </p:cNvPr>
          <p:cNvSpPr txBox="1"/>
          <p:nvPr/>
        </p:nvSpPr>
        <p:spPr>
          <a:xfrm>
            <a:off x="78058" y="624468"/>
            <a:ext cx="9065942" cy="668966"/>
          </a:xfrm>
          <a:prstGeom prst="rect">
            <a:avLst/>
          </a:prstGeom>
          <a:noFill/>
        </p:spPr>
        <p:txBody>
          <a:bodyPr wrap="square" rtlCol="0">
            <a:spAutoFit/>
          </a:bodyPr>
          <a:lstStyle/>
          <a:p>
            <a:pPr>
              <a:lnSpc>
                <a:spcPct val="150000"/>
              </a:lnSpc>
            </a:pPr>
            <a:r>
              <a:rPr lang="en-US" sz="2800" dirty="0">
                <a:latin typeface="Calibir"/>
              </a:rPr>
              <a:t>4. Average price per category</a:t>
            </a:r>
          </a:p>
        </p:txBody>
      </p:sp>
      <p:sp>
        <p:nvSpPr>
          <p:cNvPr id="11" name="TextBox 10">
            <a:extLst>
              <a:ext uri="{FF2B5EF4-FFF2-40B4-BE49-F238E27FC236}">
                <a16:creationId xmlns:a16="http://schemas.microsoft.com/office/drawing/2014/main" id="{2CFC80F4-9307-987D-BC2A-D8DD7B6CF7C4}"/>
              </a:ext>
            </a:extLst>
          </p:cNvPr>
          <p:cNvSpPr txBox="1"/>
          <p:nvPr/>
        </p:nvSpPr>
        <p:spPr>
          <a:xfrm>
            <a:off x="0" y="1293434"/>
            <a:ext cx="8849710" cy="523220"/>
          </a:xfrm>
          <a:prstGeom prst="rect">
            <a:avLst/>
          </a:prstGeom>
          <a:noFill/>
        </p:spPr>
        <p:txBody>
          <a:bodyPr wrap="square">
            <a:spAutoFit/>
          </a:bodyPr>
          <a:lstStyle/>
          <a:p>
            <a:r>
              <a:rPr lang="en-US" sz="2800" dirty="0">
                <a:solidFill>
                  <a:srgbClr val="3D3935"/>
                </a:solidFill>
                <a:latin typeface="Calibir"/>
              </a:rPr>
              <a:t>Take a screenshot) Shift + Enter (Or click </a:t>
            </a:r>
            <a:r>
              <a:rPr lang="en-US" sz="2800" dirty="0">
                <a:solidFill>
                  <a:srgbClr val="3D3935"/>
                </a:solidFill>
                <a:highlight>
                  <a:srgbClr val="FFFF00"/>
                </a:highlight>
                <a:latin typeface="Calibir"/>
              </a:rPr>
              <a:t>Run</a:t>
            </a:r>
            <a:r>
              <a:rPr lang="en-US" sz="2800" dirty="0">
                <a:solidFill>
                  <a:srgbClr val="3D3935"/>
                </a:solidFill>
                <a:latin typeface="Calibir"/>
              </a:rPr>
              <a:t>)</a:t>
            </a:r>
            <a:endParaRPr lang="en-US" sz="2800" dirty="0"/>
          </a:p>
        </p:txBody>
      </p:sp>
      <p:sp>
        <p:nvSpPr>
          <p:cNvPr id="12" name="TextBox 11">
            <a:extLst>
              <a:ext uri="{FF2B5EF4-FFF2-40B4-BE49-F238E27FC236}">
                <a16:creationId xmlns:a16="http://schemas.microsoft.com/office/drawing/2014/main" id="{828A44C6-5A87-607C-D208-3509424B4334}"/>
              </a:ext>
            </a:extLst>
          </p:cNvPr>
          <p:cNvSpPr txBox="1"/>
          <p:nvPr/>
        </p:nvSpPr>
        <p:spPr>
          <a:xfrm>
            <a:off x="0" y="4063423"/>
            <a:ext cx="9144000" cy="2608086"/>
          </a:xfrm>
          <a:prstGeom prst="rect">
            <a:avLst/>
          </a:prstGeom>
          <a:noFill/>
        </p:spPr>
        <p:txBody>
          <a:bodyPr wrap="square">
            <a:spAutoFit/>
          </a:bodyPr>
          <a:lstStyle/>
          <a:p>
            <a:pPr>
              <a:lnSpc>
                <a:spcPct val="150000"/>
              </a:lnSpc>
            </a:pPr>
            <a:r>
              <a:rPr lang="en-US" sz="2800" dirty="0">
                <a:latin typeface="Calibir"/>
              </a:rPr>
              <a:t>Here, data is grouped by category (like “Bikes,” “Helmets,” “T-Shirts”).</a:t>
            </a:r>
            <a:br>
              <a:rPr lang="en-US" sz="2800" dirty="0">
                <a:latin typeface="Calibir"/>
              </a:rPr>
            </a:br>
            <a:r>
              <a:rPr lang="en-US" sz="2800" dirty="0">
                <a:latin typeface="Calibir"/>
              </a:rPr>
              <a:t>It shows one row for each category — the total weight and average price for that category.</a:t>
            </a:r>
          </a:p>
        </p:txBody>
      </p:sp>
      <p:sp>
        <p:nvSpPr>
          <p:cNvPr id="6" name="TextBox 5">
            <a:extLst>
              <a:ext uri="{FF2B5EF4-FFF2-40B4-BE49-F238E27FC236}">
                <a16:creationId xmlns:a16="http://schemas.microsoft.com/office/drawing/2014/main" id="{B4E94C4D-AE16-0D14-37A2-6D0534AAA450}"/>
              </a:ext>
            </a:extLst>
          </p:cNvPr>
          <p:cNvSpPr txBox="1"/>
          <p:nvPr/>
        </p:nvSpPr>
        <p:spPr>
          <a:xfrm>
            <a:off x="0" y="1816654"/>
            <a:ext cx="9144000" cy="2246769"/>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ProductCategoryID</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SUM(Weight)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TotalWeight</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AVG(</a:t>
            </a:r>
            <a:r>
              <a:rPr lang="en-US" sz="2800" b="0" dirty="0" err="1">
                <a:solidFill>
                  <a:srgbClr val="CCCCCC"/>
                </a:solidFill>
                <a:effectLst/>
                <a:latin typeface="Consolas" panose="020B0609020204030204" pitchFamily="49" charset="0"/>
              </a:rPr>
              <a:t>ListPrice</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AveragePrice</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SalesLT.Product</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GROUP BY</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ProductCategoryID</a:t>
            </a:r>
            <a:r>
              <a:rPr lang="en-US" sz="28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2505676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42E092E-F480-65D7-05F5-70E6D87A341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11240A-D579-84C6-C6F5-D2F8CDBB6286}"/>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E6557B4-8DFC-4C48-A69D-2682D760C8B7}"/>
              </a:ext>
            </a:extLst>
          </p:cNvPr>
          <p:cNvSpPr>
            <a:spLocks noGrp="1"/>
          </p:cNvSpPr>
          <p:nvPr>
            <p:ph type="sldNum" sz="quarter" idx="4"/>
          </p:nvPr>
        </p:nvSpPr>
        <p:spPr/>
        <p:txBody>
          <a:bodyPr/>
          <a:lstStyle/>
          <a:p>
            <a:fld id="{16A89BA3-132D-40E1-AAB4-CDCD0A14C216}" type="slidenum">
              <a:rPr lang="en-AU" smtClean="0"/>
              <a:pPr/>
              <a:t>65</a:t>
            </a:fld>
            <a:r>
              <a:rPr lang="en-AU"/>
              <a:t>  |</a:t>
            </a:r>
            <a:endParaRPr lang="en-AU" dirty="0"/>
          </a:p>
        </p:txBody>
      </p:sp>
      <p:sp>
        <p:nvSpPr>
          <p:cNvPr id="6" name="TextBox 5">
            <a:extLst>
              <a:ext uri="{FF2B5EF4-FFF2-40B4-BE49-F238E27FC236}">
                <a16:creationId xmlns:a16="http://schemas.microsoft.com/office/drawing/2014/main" id="{BA2E41D9-9D8C-63DF-31AA-593214B7BB96}"/>
              </a:ext>
            </a:extLst>
          </p:cNvPr>
          <p:cNvSpPr txBox="1"/>
          <p:nvPr/>
        </p:nvSpPr>
        <p:spPr>
          <a:xfrm>
            <a:off x="0" y="0"/>
            <a:ext cx="9144000" cy="2246769"/>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ProductCategoryID</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SUM(Weight)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TotalWeight</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AVG(</a:t>
            </a:r>
            <a:r>
              <a:rPr lang="en-US" sz="2800" b="0" dirty="0" err="1">
                <a:solidFill>
                  <a:srgbClr val="CCCCCC"/>
                </a:solidFill>
                <a:effectLst/>
                <a:latin typeface="Consolas" panose="020B0609020204030204" pitchFamily="49" charset="0"/>
              </a:rPr>
              <a:t>ListPrice</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AveragePrice</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SalesLT.Product</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GROUP BY</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ProductCategoryID</a:t>
            </a:r>
            <a:r>
              <a:rPr lang="en-US" sz="28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73BDA1F7-B332-FC67-49E7-E886C95C2B6A}"/>
              </a:ext>
            </a:extLst>
          </p:cNvPr>
          <p:cNvGraphicFramePr>
            <a:graphicFrameLocks noGrp="1"/>
          </p:cNvGraphicFramePr>
          <p:nvPr>
            <p:extLst>
              <p:ext uri="{D42A27DB-BD31-4B8C-83A1-F6EECF244321}">
                <p14:modId xmlns:p14="http://schemas.microsoft.com/office/powerpoint/2010/main" val="1784131022"/>
              </p:ext>
            </p:extLst>
          </p:nvPr>
        </p:nvGraphicFramePr>
        <p:xfrm>
          <a:off x="0" y="2246769"/>
          <a:ext cx="9144000" cy="4300093"/>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2520510701"/>
                    </a:ext>
                  </a:extLst>
                </a:gridCol>
                <a:gridCol w="3048000">
                  <a:extLst>
                    <a:ext uri="{9D8B030D-6E8A-4147-A177-3AD203B41FA5}">
                      <a16:colId xmlns:a16="http://schemas.microsoft.com/office/drawing/2014/main" val="2231048005"/>
                    </a:ext>
                  </a:extLst>
                </a:gridCol>
                <a:gridCol w="3048000">
                  <a:extLst>
                    <a:ext uri="{9D8B030D-6E8A-4147-A177-3AD203B41FA5}">
                      <a16:colId xmlns:a16="http://schemas.microsoft.com/office/drawing/2014/main" val="930884918"/>
                    </a:ext>
                  </a:extLst>
                </a:gridCol>
              </a:tblGrid>
              <a:tr h="397133">
                <a:tc>
                  <a:txBody>
                    <a:bodyPr/>
                    <a:lstStyle/>
                    <a:p>
                      <a:pPr>
                        <a:buNone/>
                      </a:pPr>
                      <a:r>
                        <a:rPr lang="en-US" sz="2200" b="0">
                          <a:latin typeface="Calibir"/>
                        </a:rPr>
                        <a:t>Part</a:t>
                      </a:r>
                    </a:p>
                  </a:txBody>
                  <a:tcPr marL="53720" marR="53720" marT="26860" marB="26860" anchor="ctr"/>
                </a:tc>
                <a:tc>
                  <a:txBody>
                    <a:bodyPr/>
                    <a:lstStyle/>
                    <a:p>
                      <a:pPr>
                        <a:buNone/>
                      </a:pPr>
                      <a:r>
                        <a:rPr lang="en-US" sz="2200" b="0">
                          <a:latin typeface="Calibir"/>
                        </a:rPr>
                        <a:t>Meaning</a:t>
                      </a:r>
                    </a:p>
                  </a:txBody>
                  <a:tcPr marL="53720" marR="53720" marT="26860" marB="26860" anchor="ctr"/>
                </a:tc>
                <a:tc>
                  <a:txBody>
                    <a:bodyPr/>
                    <a:lstStyle/>
                    <a:p>
                      <a:pPr>
                        <a:buNone/>
                      </a:pPr>
                      <a:r>
                        <a:rPr lang="en-US" sz="2200" b="0">
                          <a:latin typeface="Calibir"/>
                        </a:rPr>
                        <a:t>Example</a:t>
                      </a:r>
                    </a:p>
                  </a:txBody>
                  <a:tcPr marL="53720" marR="53720" marT="26860" marB="26860" anchor="ctr"/>
                </a:tc>
                <a:extLst>
                  <a:ext uri="{0D108BD9-81ED-4DB2-BD59-A6C34878D82A}">
                    <a16:rowId xmlns:a16="http://schemas.microsoft.com/office/drawing/2014/main" val="2528247688"/>
                  </a:ext>
                </a:extLst>
              </a:tr>
              <a:tr h="0">
                <a:tc>
                  <a:txBody>
                    <a:bodyPr/>
                    <a:lstStyle/>
                    <a:p>
                      <a:pPr>
                        <a:buNone/>
                      </a:pPr>
                      <a:r>
                        <a:rPr lang="en-US" sz="2200" b="0">
                          <a:latin typeface="Calibir"/>
                        </a:rPr>
                        <a:t>SELECT</a:t>
                      </a:r>
                    </a:p>
                  </a:txBody>
                  <a:tcPr marL="53720" marR="53720" marT="26860" marB="26860" anchor="ctr"/>
                </a:tc>
                <a:tc>
                  <a:txBody>
                    <a:bodyPr/>
                    <a:lstStyle/>
                    <a:p>
                      <a:pPr>
                        <a:buNone/>
                      </a:pPr>
                      <a:r>
                        <a:rPr lang="en-US" sz="2200" b="0">
                          <a:latin typeface="Calibir"/>
                        </a:rPr>
                        <a:t>Tells SQL what information to show in the results.</a:t>
                      </a:r>
                    </a:p>
                  </a:txBody>
                  <a:tcPr marL="53720" marR="53720" marT="26860" marB="26860" anchor="ctr"/>
                </a:tc>
                <a:tc>
                  <a:txBody>
                    <a:bodyPr/>
                    <a:lstStyle/>
                    <a:p>
                      <a:pPr>
                        <a:buNone/>
                      </a:pPr>
                      <a:r>
                        <a:rPr lang="en-US" sz="2200" b="0">
                          <a:latin typeface="Calibir"/>
                        </a:rPr>
                        <a:t>“Show me category, total weight, and average price.”</a:t>
                      </a:r>
                    </a:p>
                  </a:txBody>
                  <a:tcPr marL="53720" marR="53720" marT="26860" marB="26860" anchor="ctr"/>
                </a:tc>
                <a:extLst>
                  <a:ext uri="{0D108BD9-81ED-4DB2-BD59-A6C34878D82A}">
                    <a16:rowId xmlns:a16="http://schemas.microsoft.com/office/drawing/2014/main" val="1291012564"/>
                  </a:ext>
                </a:extLst>
              </a:tr>
              <a:tr h="0">
                <a:tc>
                  <a:txBody>
                    <a:bodyPr/>
                    <a:lstStyle/>
                    <a:p>
                      <a:pPr>
                        <a:buNone/>
                      </a:pPr>
                      <a:r>
                        <a:rPr lang="en-US" sz="2200" b="0">
                          <a:latin typeface="Calibir"/>
                        </a:rPr>
                        <a:t>ProductCategoryID</a:t>
                      </a:r>
                    </a:p>
                  </a:txBody>
                  <a:tcPr marL="53720" marR="53720" marT="26860" marB="26860" anchor="ctr"/>
                </a:tc>
                <a:tc>
                  <a:txBody>
                    <a:bodyPr/>
                    <a:lstStyle/>
                    <a:p>
                      <a:pPr>
                        <a:buNone/>
                      </a:pPr>
                      <a:r>
                        <a:rPr lang="en-US" sz="2200" b="0">
                          <a:latin typeface="Calibir"/>
                        </a:rPr>
                        <a:t>Refers to each product’s category (like “Bikes,” “Helmets,” etc.).</a:t>
                      </a:r>
                    </a:p>
                  </a:txBody>
                  <a:tcPr marL="53720" marR="53720" marT="26860" marB="26860" anchor="ctr"/>
                </a:tc>
                <a:tc>
                  <a:txBody>
                    <a:bodyPr/>
                    <a:lstStyle/>
                    <a:p>
                      <a:pPr>
                        <a:buNone/>
                      </a:pPr>
                      <a:r>
                        <a:rPr lang="en-US" sz="2200" b="0">
                          <a:latin typeface="Calibir"/>
                        </a:rPr>
                        <a:t>Helps group products together.</a:t>
                      </a:r>
                    </a:p>
                  </a:txBody>
                  <a:tcPr marL="53720" marR="53720" marT="26860" marB="26860" anchor="ctr"/>
                </a:tc>
                <a:extLst>
                  <a:ext uri="{0D108BD9-81ED-4DB2-BD59-A6C34878D82A}">
                    <a16:rowId xmlns:a16="http://schemas.microsoft.com/office/drawing/2014/main" val="3280665981"/>
                  </a:ext>
                </a:extLst>
              </a:tr>
              <a:tr h="0">
                <a:tc>
                  <a:txBody>
                    <a:bodyPr/>
                    <a:lstStyle/>
                    <a:p>
                      <a:pPr>
                        <a:buNone/>
                      </a:pPr>
                      <a:r>
                        <a:rPr lang="en-US" sz="2200" b="0">
                          <a:latin typeface="Calibir"/>
                        </a:rPr>
                        <a:t>SUM(Weight)</a:t>
                      </a:r>
                    </a:p>
                  </a:txBody>
                  <a:tcPr marL="53720" marR="53720" marT="26860" marB="26860" anchor="ctr"/>
                </a:tc>
                <a:tc>
                  <a:txBody>
                    <a:bodyPr/>
                    <a:lstStyle/>
                    <a:p>
                      <a:pPr>
                        <a:buNone/>
                      </a:pPr>
                      <a:r>
                        <a:rPr lang="en-US" sz="2200" b="0">
                          <a:latin typeface="Calibir"/>
                        </a:rPr>
                        <a:t>Adds up all product weights in each category.</a:t>
                      </a:r>
                    </a:p>
                  </a:txBody>
                  <a:tcPr marL="53720" marR="53720" marT="26860" marB="26860" anchor="ctr"/>
                </a:tc>
                <a:tc>
                  <a:txBody>
                    <a:bodyPr/>
                    <a:lstStyle/>
                    <a:p>
                      <a:pPr>
                        <a:buNone/>
                      </a:pPr>
                      <a:r>
                        <a:rPr lang="en-US" sz="2200" b="0">
                          <a:latin typeface="Calibir"/>
                        </a:rPr>
                        <a:t>If a category has weights 2, 3, 5 → total = 10.</a:t>
                      </a:r>
                    </a:p>
                  </a:txBody>
                  <a:tcPr marL="53720" marR="53720" marT="26860" marB="26860" anchor="ctr"/>
                </a:tc>
                <a:extLst>
                  <a:ext uri="{0D108BD9-81ED-4DB2-BD59-A6C34878D82A}">
                    <a16:rowId xmlns:a16="http://schemas.microsoft.com/office/drawing/2014/main" val="1836996293"/>
                  </a:ext>
                </a:extLst>
              </a:tr>
              <a:tr h="0">
                <a:tc>
                  <a:txBody>
                    <a:bodyPr/>
                    <a:lstStyle/>
                    <a:p>
                      <a:pPr>
                        <a:buNone/>
                      </a:pPr>
                      <a:r>
                        <a:rPr lang="en-US" sz="2200" b="0">
                          <a:latin typeface="Calibir"/>
                        </a:rPr>
                        <a:t>AS TotalWeight</a:t>
                      </a:r>
                    </a:p>
                  </a:txBody>
                  <a:tcPr marL="53720" marR="53720" marT="26860" marB="26860" anchor="ctr"/>
                </a:tc>
                <a:tc>
                  <a:txBody>
                    <a:bodyPr/>
                    <a:lstStyle/>
                    <a:p>
                      <a:pPr>
                        <a:buNone/>
                      </a:pPr>
                      <a:r>
                        <a:rPr lang="en-US" sz="2200" b="0">
                          <a:latin typeface="Calibir"/>
                        </a:rPr>
                        <a:t>Names that total as TotalWeight in the output.</a:t>
                      </a:r>
                    </a:p>
                  </a:txBody>
                  <a:tcPr marL="53720" marR="53720" marT="26860" marB="26860" anchor="ctr"/>
                </a:tc>
                <a:tc>
                  <a:txBody>
                    <a:bodyPr/>
                    <a:lstStyle/>
                    <a:p>
                      <a:pPr>
                        <a:buNone/>
                      </a:pPr>
                      <a:r>
                        <a:rPr lang="en-US" sz="2200" b="0" dirty="0">
                          <a:latin typeface="Calibir"/>
                        </a:rPr>
                        <a:t>Easier to read in results.</a:t>
                      </a:r>
                    </a:p>
                  </a:txBody>
                  <a:tcPr marL="53720" marR="53720" marT="26860" marB="26860" anchor="ctr"/>
                </a:tc>
                <a:extLst>
                  <a:ext uri="{0D108BD9-81ED-4DB2-BD59-A6C34878D82A}">
                    <a16:rowId xmlns:a16="http://schemas.microsoft.com/office/drawing/2014/main" val="4212049004"/>
                  </a:ext>
                </a:extLst>
              </a:tr>
            </a:tbl>
          </a:graphicData>
        </a:graphic>
      </p:graphicFrame>
    </p:spTree>
    <p:extLst>
      <p:ext uri="{BB962C8B-B14F-4D97-AF65-F5344CB8AC3E}">
        <p14:creationId xmlns:p14="http://schemas.microsoft.com/office/powerpoint/2010/main" val="557168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FCB6C05-52F1-0689-2C54-B5A12864242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D4F6349-33FE-68E1-788A-792B1A42774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C9CD89B-22F2-492C-FCF9-C52B97AF0E50}"/>
              </a:ext>
            </a:extLst>
          </p:cNvPr>
          <p:cNvSpPr>
            <a:spLocks noGrp="1"/>
          </p:cNvSpPr>
          <p:nvPr>
            <p:ph type="sldNum" sz="quarter" idx="4"/>
          </p:nvPr>
        </p:nvSpPr>
        <p:spPr/>
        <p:txBody>
          <a:bodyPr/>
          <a:lstStyle/>
          <a:p>
            <a:fld id="{16A89BA3-132D-40E1-AAB4-CDCD0A14C216}" type="slidenum">
              <a:rPr lang="en-AU" smtClean="0"/>
              <a:pPr/>
              <a:t>66</a:t>
            </a:fld>
            <a:r>
              <a:rPr lang="en-AU"/>
              <a:t>  |</a:t>
            </a:r>
            <a:endParaRPr lang="en-AU" dirty="0"/>
          </a:p>
        </p:txBody>
      </p:sp>
      <p:sp>
        <p:nvSpPr>
          <p:cNvPr id="6" name="TextBox 5">
            <a:extLst>
              <a:ext uri="{FF2B5EF4-FFF2-40B4-BE49-F238E27FC236}">
                <a16:creationId xmlns:a16="http://schemas.microsoft.com/office/drawing/2014/main" id="{DDFBBA5D-49DD-524E-6F3F-81CED3FAFFBB}"/>
              </a:ext>
            </a:extLst>
          </p:cNvPr>
          <p:cNvSpPr txBox="1"/>
          <p:nvPr/>
        </p:nvSpPr>
        <p:spPr>
          <a:xfrm>
            <a:off x="0" y="0"/>
            <a:ext cx="9144000" cy="2246769"/>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ProductCategoryID</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SUM(Weight)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TotalWeight</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AVG(</a:t>
            </a:r>
            <a:r>
              <a:rPr lang="en-US" sz="2800" b="0" dirty="0" err="1">
                <a:solidFill>
                  <a:srgbClr val="CCCCCC"/>
                </a:solidFill>
                <a:effectLst/>
                <a:latin typeface="Consolas" panose="020B0609020204030204" pitchFamily="49" charset="0"/>
              </a:rPr>
              <a:t>ListPrice</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AveragePrice</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SalesLT.Product</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GROUP BY</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ProductCategoryID</a:t>
            </a:r>
            <a:r>
              <a:rPr lang="en-US" sz="28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D5105673-FAEB-CB32-79FD-5B1232720A49}"/>
              </a:ext>
            </a:extLst>
          </p:cNvPr>
          <p:cNvGraphicFramePr>
            <a:graphicFrameLocks noGrp="1"/>
          </p:cNvGraphicFramePr>
          <p:nvPr>
            <p:extLst>
              <p:ext uri="{D42A27DB-BD31-4B8C-83A1-F6EECF244321}">
                <p14:modId xmlns:p14="http://schemas.microsoft.com/office/powerpoint/2010/main" val="3553902370"/>
              </p:ext>
            </p:extLst>
          </p:nvPr>
        </p:nvGraphicFramePr>
        <p:xfrm>
          <a:off x="0" y="2246769"/>
          <a:ext cx="9144000" cy="3629533"/>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2520510701"/>
                    </a:ext>
                  </a:extLst>
                </a:gridCol>
                <a:gridCol w="3048000">
                  <a:extLst>
                    <a:ext uri="{9D8B030D-6E8A-4147-A177-3AD203B41FA5}">
                      <a16:colId xmlns:a16="http://schemas.microsoft.com/office/drawing/2014/main" val="2231048005"/>
                    </a:ext>
                  </a:extLst>
                </a:gridCol>
                <a:gridCol w="3048000">
                  <a:extLst>
                    <a:ext uri="{9D8B030D-6E8A-4147-A177-3AD203B41FA5}">
                      <a16:colId xmlns:a16="http://schemas.microsoft.com/office/drawing/2014/main" val="930884918"/>
                    </a:ext>
                  </a:extLst>
                </a:gridCol>
              </a:tblGrid>
              <a:tr h="397133">
                <a:tc>
                  <a:txBody>
                    <a:bodyPr/>
                    <a:lstStyle/>
                    <a:p>
                      <a:pPr>
                        <a:buNone/>
                      </a:pPr>
                      <a:r>
                        <a:rPr lang="en-US" sz="2200" b="0">
                          <a:latin typeface="Calibir"/>
                        </a:rPr>
                        <a:t>Part</a:t>
                      </a:r>
                    </a:p>
                  </a:txBody>
                  <a:tcPr marL="53720" marR="53720" marT="26860" marB="26860" anchor="ctr"/>
                </a:tc>
                <a:tc>
                  <a:txBody>
                    <a:bodyPr/>
                    <a:lstStyle/>
                    <a:p>
                      <a:pPr>
                        <a:buNone/>
                      </a:pPr>
                      <a:r>
                        <a:rPr lang="en-US" sz="2200" b="0">
                          <a:latin typeface="Calibir"/>
                        </a:rPr>
                        <a:t>Meaning</a:t>
                      </a:r>
                    </a:p>
                  </a:txBody>
                  <a:tcPr marL="53720" marR="53720" marT="26860" marB="26860" anchor="ctr"/>
                </a:tc>
                <a:tc>
                  <a:txBody>
                    <a:bodyPr/>
                    <a:lstStyle/>
                    <a:p>
                      <a:pPr>
                        <a:buNone/>
                      </a:pPr>
                      <a:r>
                        <a:rPr lang="en-US" sz="2200" b="0">
                          <a:latin typeface="Calibir"/>
                        </a:rPr>
                        <a:t>Example</a:t>
                      </a:r>
                    </a:p>
                  </a:txBody>
                  <a:tcPr marL="53720" marR="53720" marT="26860" marB="26860" anchor="ctr"/>
                </a:tc>
                <a:extLst>
                  <a:ext uri="{0D108BD9-81ED-4DB2-BD59-A6C34878D82A}">
                    <a16:rowId xmlns:a16="http://schemas.microsoft.com/office/drawing/2014/main" val="2528247688"/>
                  </a:ext>
                </a:extLst>
              </a:tr>
              <a:tr h="0">
                <a:tc>
                  <a:txBody>
                    <a:bodyPr/>
                    <a:lstStyle/>
                    <a:p>
                      <a:pPr>
                        <a:buNone/>
                      </a:pPr>
                      <a:r>
                        <a:rPr lang="en-US" sz="2200" b="0" dirty="0">
                          <a:latin typeface="Calibir"/>
                        </a:rPr>
                        <a:t>AVG(</a:t>
                      </a:r>
                      <a:r>
                        <a:rPr lang="en-US" sz="2200" b="0" dirty="0" err="1">
                          <a:latin typeface="Calibir"/>
                        </a:rPr>
                        <a:t>ListPrice</a:t>
                      </a:r>
                      <a:r>
                        <a:rPr lang="en-US" sz="2200" b="0" dirty="0">
                          <a:latin typeface="Calibir"/>
                        </a:rPr>
                        <a:t>)</a:t>
                      </a:r>
                    </a:p>
                  </a:txBody>
                  <a:tcPr marL="53720" marR="53720" marT="26860" marB="26860" anchor="ctr"/>
                </a:tc>
                <a:tc>
                  <a:txBody>
                    <a:bodyPr/>
                    <a:lstStyle/>
                    <a:p>
                      <a:pPr>
                        <a:buNone/>
                      </a:pPr>
                      <a:r>
                        <a:rPr lang="en-US" sz="2200" b="0" dirty="0">
                          <a:latin typeface="Calibir"/>
                        </a:rPr>
                        <a:t>Finds the average (mean) price of all products in each category.</a:t>
                      </a:r>
                    </a:p>
                  </a:txBody>
                  <a:tcPr marL="53720" marR="53720" marT="26860" marB="26860" anchor="ctr"/>
                </a:tc>
                <a:tc>
                  <a:txBody>
                    <a:bodyPr/>
                    <a:lstStyle/>
                    <a:p>
                      <a:pPr>
                        <a:buNone/>
                      </a:pPr>
                      <a:r>
                        <a:rPr lang="en-US" sz="2200" b="0">
                          <a:latin typeface="Calibir"/>
                        </a:rPr>
                        <a:t>Prices 100, 200, 300 → average = 200.</a:t>
                      </a:r>
                    </a:p>
                  </a:txBody>
                  <a:tcPr marL="53720" marR="53720" marT="26860" marB="26860" anchor="ctr"/>
                </a:tc>
                <a:extLst>
                  <a:ext uri="{0D108BD9-81ED-4DB2-BD59-A6C34878D82A}">
                    <a16:rowId xmlns:a16="http://schemas.microsoft.com/office/drawing/2014/main" val="1291012564"/>
                  </a:ext>
                </a:extLst>
              </a:tr>
              <a:tr h="0">
                <a:tc>
                  <a:txBody>
                    <a:bodyPr/>
                    <a:lstStyle/>
                    <a:p>
                      <a:pPr>
                        <a:buNone/>
                      </a:pPr>
                      <a:r>
                        <a:rPr lang="en-US" sz="2200" b="0" dirty="0">
                          <a:latin typeface="Calibir"/>
                        </a:rPr>
                        <a:t>AS </a:t>
                      </a:r>
                      <a:r>
                        <a:rPr lang="en-US" sz="2200" b="0" dirty="0" err="1">
                          <a:latin typeface="Calibir"/>
                        </a:rPr>
                        <a:t>AveragePrice</a:t>
                      </a:r>
                      <a:endParaRPr lang="en-US" sz="2200" b="0" dirty="0">
                        <a:latin typeface="Calibir"/>
                      </a:endParaRPr>
                    </a:p>
                  </a:txBody>
                  <a:tcPr marL="53720" marR="53720" marT="26860" marB="26860" anchor="ctr"/>
                </a:tc>
                <a:tc>
                  <a:txBody>
                    <a:bodyPr/>
                    <a:lstStyle/>
                    <a:p>
                      <a:pPr>
                        <a:buNone/>
                      </a:pPr>
                      <a:r>
                        <a:rPr lang="en-US" sz="2200" b="0">
                          <a:latin typeface="Calibir"/>
                        </a:rPr>
                        <a:t>Gives a label to the result column.</a:t>
                      </a:r>
                    </a:p>
                  </a:txBody>
                  <a:tcPr marL="53720" marR="53720" marT="26860" marB="26860" anchor="ctr"/>
                </a:tc>
                <a:tc>
                  <a:txBody>
                    <a:bodyPr/>
                    <a:lstStyle/>
                    <a:p>
                      <a:pPr>
                        <a:buNone/>
                      </a:pPr>
                      <a:r>
                        <a:rPr lang="en-US" sz="2200" b="0" dirty="0">
                          <a:latin typeface="Calibir"/>
                        </a:rPr>
                        <a:t>Appears as </a:t>
                      </a:r>
                      <a:r>
                        <a:rPr lang="en-US" sz="2200" b="0" dirty="0" err="1">
                          <a:latin typeface="Calibir"/>
                        </a:rPr>
                        <a:t>AveragePrice</a:t>
                      </a:r>
                      <a:r>
                        <a:rPr lang="en-US" sz="2200" b="0" dirty="0">
                          <a:latin typeface="Calibir"/>
                        </a:rPr>
                        <a:t>.</a:t>
                      </a:r>
                    </a:p>
                  </a:txBody>
                  <a:tcPr marL="53720" marR="53720" marT="26860" marB="26860" anchor="ctr"/>
                </a:tc>
                <a:extLst>
                  <a:ext uri="{0D108BD9-81ED-4DB2-BD59-A6C34878D82A}">
                    <a16:rowId xmlns:a16="http://schemas.microsoft.com/office/drawing/2014/main" val="3280665981"/>
                  </a:ext>
                </a:extLst>
              </a:tr>
              <a:tr h="0">
                <a:tc>
                  <a:txBody>
                    <a:bodyPr/>
                    <a:lstStyle/>
                    <a:p>
                      <a:pPr>
                        <a:buNone/>
                      </a:pPr>
                      <a:r>
                        <a:rPr lang="en-US" sz="2200" b="0" dirty="0">
                          <a:latin typeface="Calibir"/>
                        </a:rPr>
                        <a:t>FROM </a:t>
                      </a:r>
                      <a:r>
                        <a:rPr lang="en-US" sz="2200" b="0" dirty="0" err="1">
                          <a:latin typeface="Calibir"/>
                        </a:rPr>
                        <a:t>SalesLT.Product</a:t>
                      </a:r>
                      <a:endParaRPr lang="en-US" sz="2200" b="0" dirty="0">
                        <a:latin typeface="Calibir"/>
                      </a:endParaRPr>
                    </a:p>
                  </a:txBody>
                  <a:tcPr marL="53720" marR="53720" marT="26860" marB="26860" anchor="ctr"/>
                </a:tc>
                <a:tc>
                  <a:txBody>
                    <a:bodyPr/>
                    <a:lstStyle/>
                    <a:p>
                      <a:pPr>
                        <a:buNone/>
                      </a:pPr>
                      <a:r>
                        <a:rPr lang="en-US" sz="2200" b="0">
                          <a:latin typeface="Calibir"/>
                        </a:rPr>
                        <a:t>Uses data from the Product table.</a:t>
                      </a:r>
                    </a:p>
                  </a:txBody>
                  <a:tcPr marL="53720" marR="53720" marT="26860" marB="26860" anchor="ctr"/>
                </a:tc>
                <a:tc>
                  <a:txBody>
                    <a:bodyPr/>
                    <a:lstStyle/>
                    <a:p>
                      <a:pPr>
                        <a:buNone/>
                      </a:pPr>
                      <a:r>
                        <a:rPr lang="en-US" sz="2200" b="0" dirty="0">
                          <a:latin typeface="Calibir"/>
                        </a:rPr>
                        <a:t>That’s where products are stored.</a:t>
                      </a:r>
                    </a:p>
                  </a:txBody>
                  <a:tcPr marL="53720" marR="53720" marT="26860" marB="26860" anchor="ctr"/>
                </a:tc>
                <a:extLst>
                  <a:ext uri="{0D108BD9-81ED-4DB2-BD59-A6C34878D82A}">
                    <a16:rowId xmlns:a16="http://schemas.microsoft.com/office/drawing/2014/main" val="1836996293"/>
                  </a:ext>
                </a:extLst>
              </a:tr>
              <a:tr h="0">
                <a:tc>
                  <a:txBody>
                    <a:bodyPr/>
                    <a:lstStyle/>
                    <a:p>
                      <a:pPr>
                        <a:buNone/>
                      </a:pPr>
                      <a:r>
                        <a:rPr lang="en-US" sz="2200" b="0" dirty="0">
                          <a:latin typeface="Calibir"/>
                        </a:rPr>
                        <a:t>GROUP BY </a:t>
                      </a:r>
                      <a:r>
                        <a:rPr lang="en-US" sz="2200" b="0" dirty="0" err="1">
                          <a:latin typeface="Calibir"/>
                        </a:rPr>
                        <a:t>ProductCategoryID</a:t>
                      </a:r>
                      <a:endParaRPr lang="en-US" sz="2200" b="0" dirty="0">
                        <a:latin typeface="Calibir"/>
                      </a:endParaRPr>
                    </a:p>
                  </a:txBody>
                  <a:tcPr marL="53720" marR="53720" marT="26860" marB="26860" anchor="ctr"/>
                </a:tc>
                <a:tc>
                  <a:txBody>
                    <a:bodyPr/>
                    <a:lstStyle/>
                    <a:p>
                      <a:pPr>
                        <a:buNone/>
                      </a:pPr>
                      <a:r>
                        <a:rPr lang="en-US" sz="2200" b="0" dirty="0">
                          <a:latin typeface="Calibir"/>
                        </a:rPr>
                        <a:t>Groups rows that have the same category ID.</a:t>
                      </a:r>
                    </a:p>
                  </a:txBody>
                  <a:tcPr marL="53720" marR="53720" marT="26860" marB="26860" anchor="ctr"/>
                </a:tc>
                <a:tc>
                  <a:txBody>
                    <a:bodyPr/>
                    <a:lstStyle/>
                    <a:p>
                      <a:pPr>
                        <a:buNone/>
                      </a:pPr>
                      <a:r>
                        <a:rPr lang="en-US" sz="2200" b="0" dirty="0">
                          <a:latin typeface="Calibir"/>
                        </a:rPr>
                        <a:t>So you get one result row per category.</a:t>
                      </a:r>
                    </a:p>
                  </a:txBody>
                  <a:tcPr marL="53720" marR="53720" marT="26860" marB="26860" anchor="ctr"/>
                </a:tc>
                <a:extLst>
                  <a:ext uri="{0D108BD9-81ED-4DB2-BD59-A6C34878D82A}">
                    <a16:rowId xmlns:a16="http://schemas.microsoft.com/office/drawing/2014/main" val="4212049004"/>
                  </a:ext>
                </a:extLst>
              </a:tr>
            </a:tbl>
          </a:graphicData>
        </a:graphic>
      </p:graphicFrame>
    </p:spTree>
    <p:extLst>
      <p:ext uri="{BB962C8B-B14F-4D97-AF65-F5344CB8AC3E}">
        <p14:creationId xmlns:p14="http://schemas.microsoft.com/office/powerpoint/2010/main" val="17197201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2E5D8AE0-6159-69B6-8A72-F485998ACF7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3727FC-CC2C-E999-4374-5249735E1286}"/>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B0A8D95-073A-756E-0C60-F5DEC25A4D2A}"/>
              </a:ext>
            </a:extLst>
          </p:cNvPr>
          <p:cNvSpPr>
            <a:spLocks noGrp="1"/>
          </p:cNvSpPr>
          <p:nvPr>
            <p:ph type="sldNum" sz="quarter" idx="4"/>
          </p:nvPr>
        </p:nvSpPr>
        <p:spPr/>
        <p:txBody>
          <a:bodyPr/>
          <a:lstStyle/>
          <a:p>
            <a:fld id="{16A89BA3-132D-40E1-AAB4-CDCD0A14C216}" type="slidenum">
              <a:rPr lang="en-AU" smtClean="0"/>
              <a:pPr/>
              <a:t>67</a:t>
            </a:fld>
            <a:r>
              <a:rPr lang="en-AU"/>
              <a:t>  |</a:t>
            </a:r>
            <a:endParaRPr lang="en-AU" dirty="0"/>
          </a:p>
        </p:txBody>
      </p:sp>
      <p:sp>
        <p:nvSpPr>
          <p:cNvPr id="6" name="TextBox 5">
            <a:extLst>
              <a:ext uri="{FF2B5EF4-FFF2-40B4-BE49-F238E27FC236}">
                <a16:creationId xmlns:a16="http://schemas.microsoft.com/office/drawing/2014/main" id="{A2869B3E-573C-2B50-8956-FA50C24CC714}"/>
              </a:ext>
            </a:extLst>
          </p:cNvPr>
          <p:cNvSpPr txBox="1"/>
          <p:nvPr/>
        </p:nvSpPr>
        <p:spPr>
          <a:xfrm>
            <a:off x="0" y="0"/>
            <a:ext cx="9144000" cy="2246769"/>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ProductCategoryID</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SUM(Weight)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TotalWeight</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AVG(</a:t>
            </a:r>
            <a:r>
              <a:rPr lang="en-US" sz="2800" b="0" dirty="0" err="1">
                <a:solidFill>
                  <a:srgbClr val="CCCCCC"/>
                </a:solidFill>
                <a:effectLst/>
                <a:latin typeface="Consolas" panose="020B0609020204030204" pitchFamily="49" charset="0"/>
              </a:rPr>
              <a:t>ListPrice</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AveragePrice</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SalesLT.Product</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GROUP BY</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ProductCategoryID</a:t>
            </a:r>
            <a:r>
              <a:rPr lang="en-US" sz="2800" b="0" dirty="0">
                <a:solidFill>
                  <a:srgbClr val="CCCCCC"/>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8B346BEF-DBF7-7AFC-B4CF-9DCB2FA71A24}"/>
              </a:ext>
            </a:extLst>
          </p:cNvPr>
          <p:cNvSpPr txBox="1"/>
          <p:nvPr/>
        </p:nvSpPr>
        <p:spPr>
          <a:xfrm>
            <a:off x="0" y="2389239"/>
            <a:ext cx="9011264" cy="1964512"/>
          </a:xfrm>
          <a:prstGeom prst="rect">
            <a:avLst/>
          </a:prstGeom>
          <a:noFill/>
        </p:spPr>
        <p:txBody>
          <a:bodyPr wrap="square">
            <a:spAutoFit/>
          </a:bodyPr>
          <a:lstStyle/>
          <a:p>
            <a:pPr>
              <a:lnSpc>
                <a:spcPct val="150000"/>
              </a:lnSpc>
            </a:pPr>
            <a:r>
              <a:rPr lang="en-US" sz="2800" dirty="0">
                <a:latin typeface="Calibir"/>
              </a:rPr>
              <a:t>In short, this code groups products by their category, then shows total weight and average price for each group — like summarizing each category in a shopping catalogue.</a:t>
            </a:r>
          </a:p>
        </p:txBody>
      </p:sp>
    </p:spTree>
    <p:extLst>
      <p:ext uri="{BB962C8B-B14F-4D97-AF65-F5344CB8AC3E}">
        <p14:creationId xmlns:p14="http://schemas.microsoft.com/office/powerpoint/2010/main" val="1154872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48AD3AF-12C0-CFF6-3A4F-429597F96C5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B618458-ECD1-178E-A3CA-7A9F354C1DA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95E1F03-561D-9E16-42FC-9F125E61083D}"/>
              </a:ext>
            </a:extLst>
          </p:cNvPr>
          <p:cNvSpPr>
            <a:spLocks noGrp="1"/>
          </p:cNvSpPr>
          <p:nvPr>
            <p:ph type="sldNum" sz="quarter" idx="4"/>
          </p:nvPr>
        </p:nvSpPr>
        <p:spPr/>
        <p:txBody>
          <a:bodyPr/>
          <a:lstStyle/>
          <a:p>
            <a:fld id="{16A89BA3-132D-40E1-AAB4-CDCD0A14C216}" type="slidenum">
              <a:rPr lang="en-AU" smtClean="0"/>
              <a:pPr/>
              <a:t>68</a:t>
            </a:fld>
            <a:r>
              <a:rPr lang="en-AU"/>
              <a:t>  |</a:t>
            </a:r>
            <a:endParaRPr lang="en-AU" dirty="0"/>
          </a:p>
        </p:txBody>
      </p:sp>
      <p:sp>
        <p:nvSpPr>
          <p:cNvPr id="9" name="Text Placeholder 3">
            <a:extLst>
              <a:ext uri="{FF2B5EF4-FFF2-40B4-BE49-F238E27FC236}">
                <a16:creationId xmlns:a16="http://schemas.microsoft.com/office/drawing/2014/main" id="{6094FD57-AB17-D77F-97D9-4F13EB4C10BD}"/>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755E25A2-9DE5-17AE-DA99-ACA328312189}"/>
              </a:ext>
            </a:extLst>
          </p:cNvPr>
          <p:cNvSpPr txBox="1"/>
          <p:nvPr/>
        </p:nvSpPr>
        <p:spPr>
          <a:xfrm>
            <a:off x="78058" y="624468"/>
            <a:ext cx="9065942" cy="668966"/>
          </a:xfrm>
          <a:prstGeom prst="rect">
            <a:avLst/>
          </a:prstGeom>
          <a:noFill/>
        </p:spPr>
        <p:txBody>
          <a:bodyPr wrap="square" rtlCol="0">
            <a:spAutoFit/>
          </a:bodyPr>
          <a:lstStyle/>
          <a:p>
            <a:pPr>
              <a:lnSpc>
                <a:spcPct val="150000"/>
              </a:lnSpc>
            </a:pPr>
            <a:r>
              <a:rPr lang="en-US" sz="2800" dirty="0">
                <a:latin typeface="Calibir"/>
              </a:rPr>
              <a:t>5.  Day of week for orders</a:t>
            </a:r>
          </a:p>
        </p:txBody>
      </p:sp>
      <p:sp>
        <p:nvSpPr>
          <p:cNvPr id="11" name="TextBox 10">
            <a:extLst>
              <a:ext uri="{FF2B5EF4-FFF2-40B4-BE49-F238E27FC236}">
                <a16:creationId xmlns:a16="http://schemas.microsoft.com/office/drawing/2014/main" id="{EB073C66-16AF-4161-2DCC-ED5D15293AEB}"/>
              </a:ext>
            </a:extLst>
          </p:cNvPr>
          <p:cNvSpPr txBox="1"/>
          <p:nvPr/>
        </p:nvSpPr>
        <p:spPr>
          <a:xfrm>
            <a:off x="0" y="1293434"/>
            <a:ext cx="8849710" cy="523220"/>
          </a:xfrm>
          <a:prstGeom prst="rect">
            <a:avLst/>
          </a:prstGeom>
          <a:noFill/>
        </p:spPr>
        <p:txBody>
          <a:bodyPr wrap="square">
            <a:spAutoFit/>
          </a:bodyPr>
          <a:lstStyle/>
          <a:p>
            <a:r>
              <a:rPr lang="en-US" sz="2800" dirty="0">
                <a:solidFill>
                  <a:srgbClr val="3D3935"/>
                </a:solidFill>
                <a:latin typeface="Calibir"/>
              </a:rPr>
              <a:t>Take a screenshot) Shift + Enter (Or click </a:t>
            </a:r>
            <a:r>
              <a:rPr lang="en-US" sz="2800" dirty="0">
                <a:solidFill>
                  <a:srgbClr val="3D3935"/>
                </a:solidFill>
                <a:highlight>
                  <a:srgbClr val="FFFF00"/>
                </a:highlight>
                <a:latin typeface="Calibir"/>
              </a:rPr>
              <a:t>Run</a:t>
            </a:r>
            <a:r>
              <a:rPr lang="en-US" sz="2800" dirty="0">
                <a:solidFill>
                  <a:srgbClr val="3D3935"/>
                </a:solidFill>
                <a:latin typeface="Calibir"/>
              </a:rPr>
              <a:t>)</a:t>
            </a:r>
            <a:endParaRPr lang="en-US" sz="2800" dirty="0"/>
          </a:p>
        </p:txBody>
      </p:sp>
      <p:sp>
        <p:nvSpPr>
          <p:cNvPr id="12" name="TextBox 11">
            <a:extLst>
              <a:ext uri="{FF2B5EF4-FFF2-40B4-BE49-F238E27FC236}">
                <a16:creationId xmlns:a16="http://schemas.microsoft.com/office/drawing/2014/main" id="{AF0C87CD-EDDB-E3AF-2B60-C325280B31E2}"/>
              </a:ext>
            </a:extLst>
          </p:cNvPr>
          <p:cNvSpPr txBox="1"/>
          <p:nvPr/>
        </p:nvSpPr>
        <p:spPr>
          <a:xfrm>
            <a:off x="0" y="3772398"/>
            <a:ext cx="9144000" cy="2610843"/>
          </a:xfrm>
          <a:prstGeom prst="rect">
            <a:avLst/>
          </a:prstGeom>
          <a:noFill/>
        </p:spPr>
        <p:txBody>
          <a:bodyPr wrap="square">
            <a:spAutoFit/>
          </a:bodyPr>
          <a:lstStyle/>
          <a:p>
            <a:pPr>
              <a:lnSpc>
                <a:spcPct val="150000"/>
              </a:lnSpc>
            </a:pPr>
            <a:r>
              <a:rPr lang="en-US" sz="2800" dirty="0">
                <a:latin typeface="Calibir"/>
              </a:rPr>
              <a:t>This code looks at the </a:t>
            </a:r>
            <a:r>
              <a:rPr lang="en-US" sz="2800" i="1" dirty="0" err="1">
                <a:latin typeface="Calibir"/>
              </a:rPr>
              <a:t>OrderDate</a:t>
            </a:r>
            <a:r>
              <a:rPr lang="en-US" sz="2800" dirty="0">
                <a:latin typeface="Calibir"/>
              </a:rPr>
              <a:t> column and shows which day of the week each order happened — e.g., “Monday,” “Tuesday.”</a:t>
            </a:r>
            <a:br>
              <a:rPr lang="en-US" sz="2800" dirty="0">
                <a:latin typeface="Calibir"/>
              </a:rPr>
            </a:br>
            <a:r>
              <a:rPr lang="en-US" sz="2800" dirty="0">
                <a:latin typeface="Calibir"/>
              </a:rPr>
              <a:t>It helps find patterns like “most orders happen on Fridays.”</a:t>
            </a:r>
          </a:p>
        </p:txBody>
      </p:sp>
      <p:sp>
        <p:nvSpPr>
          <p:cNvPr id="5" name="TextBox 4">
            <a:extLst>
              <a:ext uri="{FF2B5EF4-FFF2-40B4-BE49-F238E27FC236}">
                <a16:creationId xmlns:a16="http://schemas.microsoft.com/office/drawing/2014/main" id="{8BA0C5C3-9F90-F198-0203-98580B7E2EC0}"/>
              </a:ext>
            </a:extLst>
          </p:cNvPr>
          <p:cNvSpPr txBox="1"/>
          <p:nvPr/>
        </p:nvSpPr>
        <p:spPr>
          <a:xfrm>
            <a:off x="0" y="1816654"/>
            <a:ext cx="9144000" cy="1828514"/>
          </a:xfrm>
          <a:prstGeom prst="rect">
            <a:avLst/>
          </a:prstGeom>
          <a:solidFill>
            <a:schemeClr val="accent4">
              <a:lumMod val="90000"/>
              <a:lumOff val="10000"/>
            </a:schemeClr>
          </a:solidFill>
        </p:spPr>
        <p:txBody>
          <a:bodyPr wrap="square">
            <a:spAutoFit/>
          </a:bodyPr>
          <a:lstStyle/>
          <a:p>
            <a:pPr>
              <a:lnSpc>
                <a:spcPct val="150000"/>
              </a:lnSpc>
              <a:buNone/>
            </a:pPr>
            <a:r>
              <a:rPr lang="en-US" sz="2600" b="0" dirty="0">
                <a:solidFill>
                  <a:srgbClr val="569CD6"/>
                </a:solidFill>
                <a:effectLst/>
                <a:latin typeface="Consolas" panose="020B0609020204030204" pitchFamily="49" charset="0"/>
              </a:rPr>
              <a:t>SELECT</a:t>
            </a:r>
            <a:r>
              <a:rPr lang="en-US" sz="2600" b="0" dirty="0">
                <a:solidFill>
                  <a:srgbClr val="CCCCCC"/>
                </a:solidFill>
                <a:effectLst/>
                <a:latin typeface="Consolas" panose="020B0609020204030204" pitchFamily="49" charset="0"/>
              </a:rPr>
              <a:t> </a:t>
            </a:r>
            <a:r>
              <a:rPr lang="en-US" sz="2600" b="0" dirty="0" err="1">
                <a:solidFill>
                  <a:srgbClr val="CCCCCC"/>
                </a:solidFill>
                <a:effectLst/>
                <a:latin typeface="Consolas" panose="020B0609020204030204" pitchFamily="49" charset="0"/>
              </a:rPr>
              <a:t>OrderDate</a:t>
            </a:r>
            <a:r>
              <a:rPr lang="en-US" sz="2600" b="0" dirty="0">
                <a:solidFill>
                  <a:srgbClr val="CCCCCC"/>
                </a:solidFill>
                <a:effectLst/>
                <a:latin typeface="Consolas" panose="020B0609020204030204" pitchFamily="49" charset="0"/>
              </a:rPr>
              <a:t>,</a:t>
            </a:r>
          </a:p>
          <a:p>
            <a:pPr>
              <a:lnSpc>
                <a:spcPct val="150000"/>
              </a:lnSpc>
              <a:buNone/>
            </a:pPr>
            <a:r>
              <a:rPr lang="en-US" sz="2600" b="0" dirty="0">
                <a:solidFill>
                  <a:srgbClr val="CCCCCC"/>
                </a:solidFill>
                <a:effectLst/>
                <a:latin typeface="Consolas" panose="020B0609020204030204" pitchFamily="49" charset="0"/>
              </a:rPr>
              <a:t>       DATENAME(WEEKDAY, </a:t>
            </a:r>
            <a:r>
              <a:rPr lang="en-US" sz="2600" b="0" dirty="0" err="1">
                <a:solidFill>
                  <a:srgbClr val="CCCCCC"/>
                </a:solidFill>
                <a:effectLst/>
                <a:latin typeface="Consolas" panose="020B0609020204030204" pitchFamily="49" charset="0"/>
              </a:rPr>
              <a:t>OrderDate</a:t>
            </a:r>
            <a:r>
              <a:rPr lang="en-US" sz="2600" b="0" dirty="0">
                <a:solidFill>
                  <a:srgbClr val="CCCCCC"/>
                </a:solidFill>
                <a:effectLst/>
                <a:latin typeface="Consolas" panose="020B0609020204030204" pitchFamily="49" charset="0"/>
              </a:rPr>
              <a:t>) </a:t>
            </a:r>
            <a:r>
              <a:rPr lang="en-US" sz="2600" b="0" dirty="0">
                <a:solidFill>
                  <a:srgbClr val="569CD6"/>
                </a:solidFill>
                <a:effectLst/>
                <a:latin typeface="Consolas" panose="020B0609020204030204" pitchFamily="49" charset="0"/>
              </a:rPr>
              <a:t>AS</a:t>
            </a:r>
            <a:r>
              <a:rPr lang="en-US" sz="2600" b="0" dirty="0">
                <a:solidFill>
                  <a:srgbClr val="CCCCCC"/>
                </a:solidFill>
                <a:effectLst/>
                <a:latin typeface="Consolas" panose="020B0609020204030204" pitchFamily="49" charset="0"/>
              </a:rPr>
              <a:t> </a:t>
            </a:r>
            <a:r>
              <a:rPr lang="en-US" sz="2600" b="0" dirty="0" err="1">
                <a:solidFill>
                  <a:srgbClr val="CCCCCC"/>
                </a:solidFill>
                <a:effectLst/>
                <a:latin typeface="Consolas" panose="020B0609020204030204" pitchFamily="49" charset="0"/>
              </a:rPr>
              <a:t>DayOfWeek</a:t>
            </a:r>
            <a:endParaRPr lang="en-US" sz="2600" b="0" dirty="0">
              <a:solidFill>
                <a:srgbClr val="CCCCCC"/>
              </a:solidFill>
              <a:effectLst/>
              <a:latin typeface="Consolas" panose="020B0609020204030204" pitchFamily="49" charset="0"/>
            </a:endParaRPr>
          </a:p>
          <a:p>
            <a:pPr>
              <a:lnSpc>
                <a:spcPct val="150000"/>
              </a:lnSpc>
              <a:buNone/>
            </a:pPr>
            <a:r>
              <a:rPr lang="en-US" sz="2600" b="0" dirty="0">
                <a:solidFill>
                  <a:srgbClr val="569CD6"/>
                </a:solidFill>
                <a:effectLst/>
                <a:latin typeface="Consolas" panose="020B0609020204030204" pitchFamily="49" charset="0"/>
              </a:rPr>
              <a:t>FROM</a:t>
            </a:r>
            <a:r>
              <a:rPr lang="en-US" sz="2600" b="0" dirty="0">
                <a:solidFill>
                  <a:srgbClr val="CCCCCC"/>
                </a:solidFill>
                <a:effectLst/>
                <a:latin typeface="Consolas" panose="020B0609020204030204" pitchFamily="49" charset="0"/>
              </a:rPr>
              <a:t> </a:t>
            </a:r>
            <a:r>
              <a:rPr lang="en-US" sz="2600" b="0" dirty="0" err="1">
                <a:solidFill>
                  <a:srgbClr val="CCCCCC"/>
                </a:solidFill>
                <a:effectLst/>
                <a:latin typeface="Consolas" panose="020B0609020204030204" pitchFamily="49" charset="0"/>
              </a:rPr>
              <a:t>SalesLT.SalesOrderHeader</a:t>
            </a:r>
            <a:r>
              <a:rPr lang="en-US" sz="26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5383425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5D31714-C7F9-124C-F36E-0C3B71BE7C8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25A96BC-00B6-470D-57C3-0ED1503E3BC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E3DA029A-59F4-90C5-4DBC-6D275E7B5946}"/>
              </a:ext>
            </a:extLst>
          </p:cNvPr>
          <p:cNvSpPr>
            <a:spLocks noGrp="1"/>
          </p:cNvSpPr>
          <p:nvPr>
            <p:ph type="sldNum" sz="quarter" idx="4"/>
          </p:nvPr>
        </p:nvSpPr>
        <p:spPr/>
        <p:txBody>
          <a:bodyPr/>
          <a:lstStyle/>
          <a:p>
            <a:fld id="{16A89BA3-132D-40E1-AAB4-CDCD0A14C216}" type="slidenum">
              <a:rPr lang="en-AU" smtClean="0"/>
              <a:pPr/>
              <a:t>69</a:t>
            </a:fld>
            <a:r>
              <a:rPr lang="en-AU"/>
              <a:t>  |</a:t>
            </a:r>
            <a:endParaRPr lang="en-AU" dirty="0"/>
          </a:p>
        </p:txBody>
      </p:sp>
      <p:sp>
        <p:nvSpPr>
          <p:cNvPr id="5" name="TextBox 4">
            <a:extLst>
              <a:ext uri="{FF2B5EF4-FFF2-40B4-BE49-F238E27FC236}">
                <a16:creationId xmlns:a16="http://schemas.microsoft.com/office/drawing/2014/main" id="{706231F6-1550-E9F5-984F-D21B3A5DC892}"/>
              </a:ext>
            </a:extLst>
          </p:cNvPr>
          <p:cNvSpPr txBox="1"/>
          <p:nvPr/>
        </p:nvSpPr>
        <p:spPr>
          <a:xfrm>
            <a:off x="0" y="0"/>
            <a:ext cx="9144000" cy="1828514"/>
          </a:xfrm>
          <a:prstGeom prst="rect">
            <a:avLst/>
          </a:prstGeom>
          <a:solidFill>
            <a:schemeClr val="accent4">
              <a:lumMod val="90000"/>
              <a:lumOff val="10000"/>
            </a:schemeClr>
          </a:solidFill>
        </p:spPr>
        <p:txBody>
          <a:bodyPr wrap="square">
            <a:spAutoFit/>
          </a:bodyPr>
          <a:lstStyle/>
          <a:p>
            <a:pPr>
              <a:lnSpc>
                <a:spcPct val="150000"/>
              </a:lnSpc>
              <a:buNone/>
            </a:pPr>
            <a:r>
              <a:rPr lang="en-US" sz="2600" b="0" dirty="0">
                <a:solidFill>
                  <a:srgbClr val="569CD6"/>
                </a:solidFill>
                <a:effectLst/>
                <a:latin typeface="Consolas" panose="020B0609020204030204" pitchFamily="49" charset="0"/>
              </a:rPr>
              <a:t>SELECT</a:t>
            </a:r>
            <a:r>
              <a:rPr lang="en-US" sz="2600" b="0" dirty="0">
                <a:solidFill>
                  <a:srgbClr val="CCCCCC"/>
                </a:solidFill>
                <a:effectLst/>
                <a:latin typeface="Consolas" panose="020B0609020204030204" pitchFamily="49" charset="0"/>
              </a:rPr>
              <a:t> </a:t>
            </a:r>
            <a:r>
              <a:rPr lang="en-US" sz="2600" b="0" dirty="0" err="1">
                <a:solidFill>
                  <a:srgbClr val="CCCCCC"/>
                </a:solidFill>
                <a:effectLst/>
                <a:latin typeface="Consolas" panose="020B0609020204030204" pitchFamily="49" charset="0"/>
              </a:rPr>
              <a:t>OrderDate</a:t>
            </a:r>
            <a:r>
              <a:rPr lang="en-US" sz="2600" b="0" dirty="0">
                <a:solidFill>
                  <a:srgbClr val="CCCCCC"/>
                </a:solidFill>
                <a:effectLst/>
                <a:latin typeface="Consolas" panose="020B0609020204030204" pitchFamily="49" charset="0"/>
              </a:rPr>
              <a:t>,</a:t>
            </a:r>
          </a:p>
          <a:p>
            <a:pPr>
              <a:lnSpc>
                <a:spcPct val="150000"/>
              </a:lnSpc>
              <a:buNone/>
            </a:pPr>
            <a:r>
              <a:rPr lang="en-US" sz="2600" b="0" dirty="0">
                <a:solidFill>
                  <a:srgbClr val="CCCCCC"/>
                </a:solidFill>
                <a:effectLst/>
                <a:latin typeface="Consolas" panose="020B0609020204030204" pitchFamily="49" charset="0"/>
              </a:rPr>
              <a:t>       DATENAME(WEEKDAY, </a:t>
            </a:r>
            <a:r>
              <a:rPr lang="en-US" sz="2600" b="0" dirty="0" err="1">
                <a:solidFill>
                  <a:srgbClr val="CCCCCC"/>
                </a:solidFill>
                <a:effectLst/>
                <a:latin typeface="Consolas" panose="020B0609020204030204" pitchFamily="49" charset="0"/>
              </a:rPr>
              <a:t>OrderDate</a:t>
            </a:r>
            <a:r>
              <a:rPr lang="en-US" sz="2600" b="0" dirty="0">
                <a:solidFill>
                  <a:srgbClr val="CCCCCC"/>
                </a:solidFill>
                <a:effectLst/>
                <a:latin typeface="Consolas" panose="020B0609020204030204" pitchFamily="49" charset="0"/>
              </a:rPr>
              <a:t>) </a:t>
            </a:r>
            <a:r>
              <a:rPr lang="en-US" sz="2600" b="0" dirty="0">
                <a:solidFill>
                  <a:srgbClr val="569CD6"/>
                </a:solidFill>
                <a:effectLst/>
                <a:latin typeface="Consolas" panose="020B0609020204030204" pitchFamily="49" charset="0"/>
              </a:rPr>
              <a:t>AS</a:t>
            </a:r>
            <a:r>
              <a:rPr lang="en-US" sz="2600" b="0" dirty="0">
                <a:solidFill>
                  <a:srgbClr val="CCCCCC"/>
                </a:solidFill>
                <a:effectLst/>
                <a:latin typeface="Consolas" panose="020B0609020204030204" pitchFamily="49" charset="0"/>
              </a:rPr>
              <a:t> </a:t>
            </a:r>
            <a:r>
              <a:rPr lang="en-US" sz="2600" b="0" dirty="0" err="1">
                <a:solidFill>
                  <a:srgbClr val="CCCCCC"/>
                </a:solidFill>
                <a:effectLst/>
                <a:latin typeface="Consolas" panose="020B0609020204030204" pitchFamily="49" charset="0"/>
              </a:rPr>
              <a:t>DayOfWeek</a:t>
            </a:r>
            <a:endParaRPr lang="en-US" sz="2600" b="0" dirty="0">
              <a:solidFill>
                <a:srgbClr val="CCCCCC"/>
              </a:solidFill>
              <a:effectLst/>
              <a:latin typeface="Consolas" panose="020B0609020204030204" pitchFamily="49" charset="0"/>
            </a:endParaRPr>
          </a:p>
          <a:p>
            <a:pPr>
              <a:lnSpc>
                <a:spcPct val="150000"/>
              </a:lnSpc>
              <a:buNone/>
            </a:pPr>
            <a:r>
              <a:rPr lang="en-US" sz="2600" b="0" dirty="0">
                <a:solidFill>
                  <a:srgbClr val="569CD6"/>
                </a:solidFill>
                <a:effectLst/>
                <a:latin typeface="Consolas" panose="020B0609020204030204" pitchFamily="49" charset="0"/>
              </a:rPr>
              <a:t>FROM</a:t>
            </a:r>
            <a:r>
              <a:rPr lang="en-US" sz="2600" b="0" dirty="0">
                <a:solidFill>
                  <a:srgbClr val="CCCCCC"/>
                </a:solidFill>
                <a:effectLst/>
                <a:latin typeface="Consolas" panose="020B0609020204030204" pitchFamily="49" charset="0"/>
              </a:rPr>
              <a:t> </a:t>
            </a:r>
            <a:r>
              <a:rPr lang="en-US" sz="2600" b="0" dirty="0" err="1">
                <a:solidFill>
                  <a:srgbClr val="CCCCCC"/>
                </a:solidFill>
                <a:effectLst/>
                <a:latin typeface="Consolas" panose="020B0609020204030204" pitchFamily="49" charset="0"/>
              </a:rPr>
              <a:t>SalesLT.SalesOrderHeader</a:t>
            </a:r>
            <a:r>
              <a:rPr lang="en-US" sz="2600" b="0" dirty="0">
                <a:solidFill>
                  <a:srgbClr val="CCCCCC"/>
                </a:solidFill>
                <a:effectLst/>
                <a:latin typeface="Consolas" panose="020B0609020204030204" pitchFamily="49" charset="0"/>
              </a:rPr>
              <a:t>;</a:t>
            </a:r>
          </a:p>
        </p:txBody>
      </p:sp>
      <p:graphicFrame>
        <p:nvGraphicFramePr>
          <p:cNvPr id="13" name="Table 12">
            <a:extLst>
              <a:ext uri="{FF2B5EF4-FFF2-40B4-BE49-F238E27FC236}">
                <a16:creationId xmlns:a16="http://schemas.microsoft.com/office/drawing/2014/main" id="{0BB19455-B74D-4DF4-2A1C-E49E574F910A}"/>
              </a:ext>
            </a:extLst>
          </p:cNvPr>
          <p:cNvGraphicFramePr>
            <a:graphicFrameLocks noGrp="1"/>
          </p:cNvGraphicFramePr>
          <p:nvPr>
            <p:extLst>
              <p:ext uri="{D42A27DB-BD31-4B8C-83A1-F6EECF244321}">
                <p14:modId xmlns:p14="http://schemas.microsoft.com/office/powerpoint/2010/main" val="3968198788"/>
              </p:ext>
            </p:extLst>
          </p:nvPr>
        </p:nvGraphicFramePr>
        <p:xfrm>
          <a:off x="-14748" y="1828514"/>
          <a:ext cx="9158748" cy="4896783"/>
        </p:xfrm>
        <a:graphic>
          <a:graphicData uri="http://schemas.openxmlformats.org/drawingml/2006/table">
            <a:tbl>
              <a:tblPr>
                <a:tableStyleId>{ED083AE6-46FA-4A59-8FB0-9F97EB10719F}</a:tableStyleId>
              </a:tblPr>
              <a:tblGrid>
                <a:gridCol w="2287187">
                  <a:extLst>
                    <a:ext uri="{9D8B030D-6E8A-4147-A177-3AD203B41FA5}">
                      <a16:colId xmlns:a16="http://schemas.microsoft.com/office/drawing/2014/main" val="1127292375"/>
                    </a:ext>
                  </a:extLst>
                </a:gridCol>
                <a:gridCol w="3848142">
                  <a:extLst>
                    <a:ext uri="{9D8B030D-6E8A-4147-A177-3AD203B41FA5}">
                      <a16:colId xmlns:a16="http://schemas.microsoft.com/office/drawing/2014/main" val="2847123258"/>
                    </a:ext>
                  </a:extLst>
                </a:gridCol>
                <a:gridCol w="3023419">
                  <a:extLst>
                    <a:ext uri="{9D8B030D-6E8A-4147-A177-3AD203B41FA5}">
                      <a16:colId xmlns:a16="http://schemas.microsoft.com/office/drawing/2014/main" val="412190473"/>
                    </a:ext>
                  </a:extLst>
                </a:gridCol>
              </a:tblGrid>
              <a:tr h="322321">
                <a:tc>
                  <a:txBody>
                    <a:bodyPr/>
                    <a:lstStyle/>
                    <a:p>
                      <a:pPr>
                        <a:buNone/>
                      </a:pPr>
                      <a:r>
                        <a:rPr lang="en-US" sz="2200" b="0" dirty="0">
                          <a:latin typeface="Calibir"/>
                        </a:rPr>
                        <a:t>Part</a:t>
                      </a:r>
                    </a:p>
                  </a:txBody>
                  <a:tcPr marL="80580" marR="80580" marT="40290" marB="40290" anchor="ctr">
                    <a:solidFill>
                      <a:schemeClr val="accent4">
                        <a:lumMod val="10000"/>
                        <a:lumOff val="90000"/>
                      </a:schemeClr>
                    </a:solidFill>
                  </a:tcPr>
                </a:tc>
                <a:tc>
                  <a:txBody>
                    <a:bodyPr/>
                    <a:lstStyle/>
                    <a:p>
                      <a:pPr>
                        <a:buNone/>
                      </a:pPr>
                      <a:r>
                        <a:rPr lang="en-US" sz="2200" b="0" dirty="0">
                          <a:latin typeface="Calibir"/>
                        </a:rPr>
                        <a:t>Meaning</a:t>
                      </a:r>
                    </a:p>
                  </a:txBody>
                  <a:tcPr marL="80580" marR="80580" marT="40290" marB="40290" anchor="ctr">
                    <a:solidFill>
                      <a:schemeClr val="accent4">
                        <a:lumMod val="10000"/>
                        <a:lumOff val="90000"/>
                      </a:schemeClr>
                    </a:solidFill>
                  </a:tcPr>
                </a:tc>
                <a:tc>
                  <a:txBody>
                    <a:bodyPr/>
                    <a:lstStyle/>
                    <a:p>
                      <a:pPr>
                        <a:buNone/>
                      </a:pPr>
                      <a:r>
                        <a:rPr lang="en-US" sz="2200" b="0" dirty="0">
                          <a:latin typeface="Calibir"/>
                        </a:rPr>
                        <a:t>Example</a:t>
                      </a:r>
                    </a:p>
                  </a:txBody>
                  <a:tcPr marL="80580" marR="80580" marT="40290" marB="40290" anchor="ctr">
                    <a:solidFill>
                      <a:schemeClr val="accent4">
                        <a:lumMod val="10000"/>
                        <a:lumOff val="90000"/>
                      </a:schemeClr>
                    </a:solidFill>
                  </a:tcPr>
                </a:tc>
                <a:extLst>
                  <a:ext uri="{0D108BD9-81ED-4DB2-BD59-A6C34878D82A}">
                    <a16:rowId xmlns:a16="http://schemas.microsoft.com/office/drawing/2014/main" val="2827292237"/>
                  </a:ext>
                </a:extLst>
              </a:tr>
              <a:tr h="805803">
                <a:tc>
                  <a:txBody>
                    <a:bodyPr/>
                    <a:lstStyle/>
                    <a:p>
                      <a:pPr>
                        <a:buNone/>
                      </a:pPr>
                      <a:r>
                        <a:rPr lang="en-US" sz="2200" b="0" dirty="0">
                          <a:latin typeface="Calibir"/>
                        </a:rPr>
                        <a:t>SELECT</a:t>
                      </a:r>
                    </a:p>
                  </a:txBody>
                  <a:tcPr marL="80580" marR="80580" marT="40290" marB="40290" anchor="ctr">
                    <a:solidFill>
                      <a:schemeClr val="bg1"/>
                    </a:solidFill>
                  </a:tcPr>
                </a:tc>
                <a:tc>
                  <a:txBody>
                    <a:bodyPr/>
                    <a:lstStyle/>
                    <a:p>
                      <a:pPr>
                        <a:buNone/>
                      </a:pPr>
                      <a:r>
                        <a:rPr lang="en-US" sz="2200" b="0">
                          <a:latin typeface="Calibir"/>
                        </a:rPr>
                        <a:t>Tells SQL what data to display.</a:t>
                      </a:r>
                    </a:p>
                  </a:txBody>
                  <a:tcPr marL="80580" marR="80580" marT="40290" marB="40290" anchor="ctr">
                    <a:solidFill>
                      <a:schemeClr val="bg1"/>
                    </a:solidFill>
                  </a:tcPr>
                </a:tc>
                <a:tc>
                  <a:txBody>
                    <a:bodyPr/>
                    <a:lstStyle/>
                    <a:p>
                      <a:pPr>
                        <a:buNone/>
                      </a:pPr>
                      <a:r>
                        <a:rPr lang="en-US" sz="2200" b="0">
                          <a:latin typeface="Calibir"/>
                        </a:rPr>
                        <a:t>“Show me the order date and the day name.”</a:t>
                      </a:r>
                    </a:p>
                  </a:txBody>
                  <a:tcPr marL="80580" marR="80580" marT="40290" marB="40290" anchor="ctr">
                    <a:solidFill>
                      <a:schemeClr val="bg1"/>
                    </a:solidFill>
                  </a:tcPr>
                </a:tc>
                <a:extLst>
                  <a:ext uri="{0D108BD9-81ED-4DB2-BD59-A6C34878D82A}">
                    <a16:rowId xmlns:a16="http://schemas.microsoft.com/office/drawing/2014/main" val="3534545901"/>
                  </a:ext>
                </a:extLst>
              </a:tr>
              <a:tr h="564062">
                <a:tc>
                  <a:txBody>
                    <a:bodyPr/>
                    <a:lstStyle/>
                    <a:p>
                      <a:pPr>
                        <a:buNone/>
                      </a:pPr>
                      <a:r>
                        <a:rPr lang="en-US" sz="2200" b="0">
                          <a:latin typeface="Calibir"/>
                        </a:rPr>
                        <a:t>OrderDate</a:t>
                      </a:r>
                    </a:p>
                  </a:txBody>
                  <a:tcPr marL="80580" marR="80580" marT="40290" marB="40290" anchor="ctr">
                    <a:solidFill>
                      <a:schemeClr val="bg1"/>
                    </a:solidFill>
                  </a:tcPr>
                </a:tc>
                <a:tc>
                  <a:txBody>
                    <a:bodyPr/>
                    <a:lstStyle/>
                    <a:p>
                      <a:pPr>
                        <a:buNone/>
                      </a:pPr>
                      <a:r>
                        <a:rPr lang="en-US" sz="2200" b="0">
                          <a:latin typeface="Calibir"/>
                        </a:rPr>
                        <a:t>Refers to the date when each order was made.</a:t>
                      </a:r>
                    </a:p>
                  </a:txBody>
                  <a:tcPr marL="80580" marR="80580" marT="40290" marB="40290" anchor="ctr">
                    <a:solidFill>
                      <a:schemeClr val="bg1"/>
                    </a:solidFill>
                  </a:tcPr>
                </a:tc>
                <a:tc>
                  <a:txBody>
                    <a:bodyPr/>
                    <a:lstStyle/>
                    <a:p>
                      <a:pPr>
                        <a:buNone/>
                      </a:pPr>
                      <a:r>
                        <a:rPr lang="en-US" sz="2200" b="0">
                          <a:latin typeface="Calibir"/>
                        </a:rPr>
                        <a:t>e.g., 2025-03-12</a:t>
                      </a:r>
                    </a:p>
                  </a:txBody>
                  <a:tcPr marL="80580" marR="80580" marT="40290" marB="40290" anchor="ctr">
                    <a:solidFill>
                      <a:schemeClr val="bg1"/>
                    </a:solidFill>
                  </a:tcPr>
                </a:tc>
                <a:extLst>
                  <a:ext uri="{0D108BD9-81ED-4DB2-BD59-A6C34878D82A}">
                    <a16:rowId xmlns:a16="http://schemas.microsoft.com/office/drawing/2014/main" val="43914281"/>
                  </a:ext>
                </a:extLst>
              </a:tr>
              <a:tr h="1047544">
                <a:tc>
                  <a:txBody>
                    <a:bodyPr/>
                    <a:lstStyle/>
                    <a:p>
                      <a:pPr>
                        <a:buNone/>
                      </a:pPr>
                      <a:r>
                        <a:rPr lang="en-US" sz="2200" b="0">
                          <a:latin typeface="Calibir"/>
                        </a:rPr>
                        <a:t>DATENAME(WEEKDAY, OrderDate)</a:t>
                      </a:r>
                    </a:p>
                  </a:txBody>
                  <a:tcPr marL="80580" marR="80580" marT="40290" marB="40290" anchor="ctr">
                    <a:solidFill>
                      <a:schemeClr val="bg1"/>
                    </a:solidFill>
                  </a:tcPr>
                </a:tc>
                <a:tc>
                  <a:txBody>
                    <a:bodyPr/>
                    <a:lstStyle/>
                    <a:p>
                      <a:pPr>
                        <a:buNone/>
                      </a:pPr>
                      <a:r>
                        <a:rPr lang="en-US" sz="2200" b="0">
                          <a:latin typeface="Calibir"/>
                        </a:rPr>
                        <a:t>Finds the name of the day (like Monday, Tuesday) from that date.</a:t>
                      </a:r>
                    </a:p>
                  </a:txBody>
                  <a:tcPr marL="80580" marR="80580" marT="40290" marB="40290" anchor="ctr">
                    <a:solidFill>
                      <a:schemeClr val="bg1"/>
                    </a:solidFill>
                  </a:tcPr>
                </a:tc>
                <a:tc>
                  <a:txBody>
                    <a:bodyPr/>
                    <a:lstStyle/>
                    <a:p>
                      <a:pPr>
                        <a:buNone/>
                      </a:pPr>
                      <a:r>
                        <a:rPr lang="en-US" sz="2200" b="0">
                          <a:latin typeface="Calibir"/>
                        </a:rPr>
                        <a:t>e.g., 2025-03-12 → “Wednesday”</a:t>
                      </a:r>
                    </a:p>
                  </a:txBody>
                  <a:tcPr marL="80580" marR="80580" marT="40290" marB="40290" anchor="ctr">
                    <a:solidFill>
                      <a:schemeClr val="bg1"/>
                    </a:solidFill>
                  </a:tcPr>
                </a:tc>
                <a:extLst>
                  <a:ext uri="{0D108BD9-81ED-4DB2-BD59-A6C34878D82A}">
                    <a16:rowId xmlns:a16="http://schemas.microsoft.com/office/drawing/2014/main" val="3540772880"/>
                  </a:ext>
                </a:extLst>
              </a:tr>
              <a:tr h="564062">
                <a:tc>
                  <a:txBody>
                    <a:bodyPr/>
                    <a:lstStyle/>
                    <a:p>
                      <a:pPr>
                        <a:buNone/>
                      </a:pPr>
                      <a:r>
                        <a:rPr lang="en-US" sz="2200" b="0">
                          <a:latin typeface="Calibir"/>
                        </a:rPr>
                        <a:t>AS DayOfWeek</a:t>
                      </a:r>
                    </a:p>
                  </a:txBody>
                  <a:tcPr marL="80580" marR="80580" marT="40290" marB="40290" anchor="ctr">
                    <a:solidFill>
                      <a:schemeClr val="bg1"/>
                    </a:solidFill>
                  </a:tcPr>
                </a:tc>
                <a:tc>
                  <a:txBody>
                    <a:bodyPr/>
                    <a:lstStyle/>
                    <a:p>
                      <a:pPr>
                        <a:buNone/>
                      </a:pPr>
                      <a:r>
                        <a:rPr lang="en-US" sz="2200" b="0">
                          <a:latin typeface="Calibir"/>
                        </a:rPr>
                        <a:t>Gives a friendly name to the new column.</a:t>
                      </a:r>
                    </a:p>
                  </a:txBody>
                  <a:tcPr marL="80580" marR="80580" marT="40290" marB="40290" anchor="ctr">
                    <a:solidFill>
                      <a:schemeClr val="bg1"/>
                    </a:solidFill>
                  </a:tcPr>
                </a:tc>
                <a:tc>
                  <a:txBody>
                    <a:bodyPr/>
                    <a:lstStyle/>
                    <a:p>
                      <a:pPr>
                        <a:buNone/>
                      </a:pPr>
                      <a:r>
                        <a:rPr lang="en-US" sz="2200" b="0">
                          <a:latin typeface="Calibir"/>
                        </a:rPr>
                        <a:t>The result column will be called DayOfWeek.</a:t>
                      </a:r>
                    </a:p>
                  </a:txBody>
                  <a:tcPr marL="80580" marR="80580" marT="40290" marB="40290" anchor="ctr">
                    <a:solidFill>
                      <a:schemeClr val="bg1"/>
                    </a:solidFill>
                  </a:tcPr>
                </a:tc>
                <a:extLst>
                  <a:ext uri="{0D108BD9-81ED-4DB2-BD59-A6C34878D82A}">
                    <a16:rowId xmlns:a16="http://schemas.microsoft.com/office/drawing/2014/main" val="3542752138"/>
                  </a:ext>
                </a:extLst>
              </a:tr>
              <a:tr h="1047544">
                <a:tc>
                  <a:txBody>
                    <a:bodyPr/>
                    <a:lstStyle/>
                    <a:p>
                      <a:pPr>
                        <a:buNone/>
                      </a:pPr>
                      <a:r>
                        <a:rPr lang="en-US" sz="2200" b="0">
                          <a:latin typeface="Calibir"/>
                        </a:rPr>
                        <a:t>FROM SalesLT.SalesOrderHeader</a:t>
                      </a:r>
                    </a:p>
                  </a:txBody>
                  <a:tcPr marL="80580" marR="80580" marT="40290" marB="40290" anchor="ctr">
                    <a:solidFill>
                      <a:schemeClr val="bg1"/>
                    </a:solidFill>
                  </a:tcPr>
                </a:tc>
                <a:tc>
                  <a:txBody>
                    <a:bodyPr/>
                    <a:lstStyle/>
                    <a:p>
                      <a:pPr>
                        <a:buNone/>
                      </a:pPr>
                      <a:r>
                        <a:rPr lang="en-US" sz="2200" b="0">
                          <a:latin typeface="Calibir"/>
                        </a:rPr>
                        <a:t>Gets data from the SalesOrderHeader table (where order info is stored).</a:t>
                      </a:r>
                    </a:p>
                  </a:txBody>
                  <a:tcPr marL="80580" marR="80580" marT="40290" marB="40290" anchor="ctr">
                    <a:solidFill>
                      <a:schemeClr val="bg1"/>
                    </a:solidFill>
                  </a:tcPr>
                </a:tc>
                <a:tc>
                  <a:txBody>
                    <a:bodyPr/>
                    <a:lstStyle/>
                    <a:p>
                      <a:pPr>
                        <a:buNone/>
                      </a:pPr>
                      <a:r>
                        <a:rPr lang="en-US" sz="2200" b="0" dirty="0">
                          <a:latin typeface="Calibir"/>
                        </a:rPr>
                        <a:t>Each row = one order record.</a:t>
                      </a:r>
                    </a:p>
                  </a:txBody>
                  <a:tcPr marL="80580" marR="80580" marT="40290" marB="40290" anchor="ctr">
                    <a:solidFill>
                      <a:schemeClr val="bg1"/>
                    </a:solidFill>
                  </a:tcPr>
                </a:tc>
                <a:extLst>
                  <a:ext uri="{0D108BD9-81ED-4DB2-BD59-A6C34878D82A}">
                    <a16:rowId xmlns:a16="http://schemas.microsoft.com/office/drawing/2014/main" val="473529015"/>
                  </a:ext>
                </a:extLst>
              </a:tr>
            </a:tbl>
          </a:graphicData>
        </a:graphic>
      </p:graphicFrame>
    </p:spTree>
    <p:extLst>
      <p:ext uri="{BB962C8B-B14F-4D97-AF65-F5344CB8AC3E}">
        <p14:creationId xmlns:p14="http://schemas.microsoft.com/office/powerpoint/2010/main" val="4031370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E3B1F81-2D02-3DAD-CBCE-2E1623D1F90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9F3AD5D-DA4F-5F56-B4FF-5F9632144EF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D68A7C5-B09E-0A47-CD4B-2594E53FEA48}"/>
              </a:ext>
            </a:extLst>
          </p:cNvPr>
          <p:cNvSpPr>
            <a:spLocks noGrp="1"/>
          </p:cNvSpPr>
          <p:nvPr>
            <p:ph type="sldNum" sz="quarter" idx="4"/>
          </p:nvPr>
        </p:nvSpPr>
        <p:spPr/>
        <p:txBody>
          <a:bodyPr/>
          <a:lstStyle/>
          <a:p>
            <a:fld id="{16A89BA3-132D-40E1-AAB4-CDCD0A14C216}" type="slidenum">
              <a:rPr lang="en-AU" smtClean="0"/>
              <a:pPr/>
              <a:t>70</a:t>
            </a:fld>
            <a:r>
              <a:rPr lang="en-AU"/>
              <a:t>  |</a:t>
            </a:r>
            <a:endParaRPr lang="en-AU" dirty="0"/>
          </a:p>
        </p:txBody>
      </p:sp>
      <p:sp>
        <p:nvSpPr>
          <p:cNvPr id="5" name="TextBox 4">
            <a:extLst>
              <a:ext uri="{FF2B5EF4-FFF2-40B4-BE49-F238E27FC236}">
                <a16:creationId xmlns:a16="http://schemas.microsoft.com/office/drawing/2014/main" id="{1E405E0E-7726-FF4D-7523-BD5EC17B6C59}"/>
              </a:ext>
            </a:extLst>
          </p:cNvPr>
          <p:cNvSpPr txBox="1"/>
          <p:nvPr/>
        </p:nvSpPr>
        <p:spPr>
          <a:xfrm>
            <a:off x="0" y="0"/>
            <a:ext cx="9144000" cy="1828514"/>
          </a:xfrm>
          <a:prstGeom prst="rect">
            <a:avLst/>
          </a:prstGeom>
          <a:solidFill>
            <a:schemeClr val="accent4">
              <a:lumMod val="90000"/>
              <a:lumOff val="10000"/>
            </a:schemeClr>
          </a:solidFill>
        </p:spPr>
        <p:txBody>
          <a:bodyPr wrap="square">
            <a:spAutoFit/>
          </a:bodyPr>
          <a:lstStyle/>
          <a:p>
            <a:pPr>
              <a:lnSpc>
                <a:spcPct val="150000"/>
              </a:lnSpc>
              <a:buNone/>
            </a:pPr>
            <a:r>
              <a:rPr lang="en-US" sz="2600" b="0" dirty="0">
                <a:solidFill>
                  <a:srgbClr val="569CD6"/>
                </a:solidFill>
                <a:effectLst/>
                <a:latin typeface="Consolas" panose="020B0609020204030204" pitchFamily="49" charset="0"/>
              </a:rPr>
              <a:t>SELECT</a:t>
            </a:r>
            <a:r>
              <a:rPr lang="en-US" sz="2600" b="0" dirty="0">
                <a:solidFill>
                  <a:srgbClr val="CCCCCC"/>
                </a:solidFill>
                <a:effectLst/>
                <a:latin typeface="Consolas" panose="020B0609020204030204" pitchFamily="49" charset="0"/>
              </a:rPr>
              <a:t> </a:t>
            </a:r>
            <a:r>
              <a:rPr lang="en-US" sz="2600" b="0" dirty="0" err="1">
                <a:solidFill>
                  <a:srgbClr val="CCCCCC"/>
                </a:solidFill>
                <a:effectLst/>
                <a:latin typeface="Consolas" panose="020B0609020204030204" pitchFamily="49" charset="0"/>
              </a:rPr>
              <a:t>OrderDate</a:t>
            </a:r>
            <a:r>
              <a:rPr lang="en-US" sz="2600" b="0" dirty="0">
                <a:solidFill>
                  <a:srgbClr val="CCCCCC"/>
                </a:solidFill>
                <a:effectLst/>
                <a:latin typeface="Consolas" panose="020B0609020204030204" pitchFamily="49" charset="0"/>
              </a:rPr>
              <a:t>,</a:t>
            </a:r>
          </a:p>
          <a:p>
            <a:pPr>
              <a:lnSpc>
                <a:spcPct val="150000"/>
              </a:lnSpc>
              <a:buNone/>
            </a:pPr>
            <a:r>
              <a:rPr lang="en-US" sz="2600" b="0" dirty="0">
                <a:solidFill>
                  <a:srgbClr val="CCCCCC"/>
                </a:solidFill>
                <a:effectLst/>
                <a:latin typeface="Consolas" panose="020B0609020204030204" pitchFamily="49" charset="0"/>
              </a:rPr>
              <a:t>       DATENAME(WEEKDAY, </a:t>
            </a:r>
            <a:r>
              <a:rPr lang="en-US" sz="2600" b="0" dirty="0" err="1">
                <a:solidFill>
                  <a:srgbClr val="CCCCCC"/>
                </a:solidFill>
                <a:effectLst/>
                <a:latin typeface="Consolas" panose="020B0609020204030204" pitchFamily="49" charset="0"/>
              </a:rPr>
              <a:t>OrderDate</a:t>
            </a:r>
            <a:r>
              <a:rPr lang="en-US" sz="2600" b="0" dirty="0">
                <a:solidFill>
                  <a:srgbClr val="CCCCCC"/>
                </a:solidFill>
                <a:effectLst/>
                <a:latin typeface="Consolas" panose="020B0609020204030204" pitchFamily="49" charset="0"/>
              </a:rPr>
              <a:t>) </a:t>
            </a:r>
            <a:r>
              <a:rPr lang="en-US" sz="2600" b="0" dirty="0">
                <a:solidFill>
                  <a:srgbClr val="569CD6"/>
                </a:solidFill>
                <a:effectLst/>
                <a:latin typeface="Consolas" panose="020B0609020204030204" pitchFamily="49" charset="0"/>
              </a:rPr>
              <a:t>AS</a:t>
            </a:r>
            <a:r>
              <a:rPr lang="en-US" sz="2600" b="0" dirty="0">
                <a:solidFill>
                  <a:srgbClr val="CCCCCC"/>
                </a:solidFill>
                <a:effectLst/>
                <a:latin typeface="Consolas" panose="020B0609020204030204" pitchFamily="49" charset="0"/>
              </a:rPr>
              <a:t> </a:t>
            </a:r>
            <a:r>
              <a:rPr lang="en-US" sz="2600" b="0" dirty="0" err="1">
                <a:solidFill>
                  <a:srgbClr val="CCCCCC"/>
                </a:solidFill>
                <a:effectLst/>
                <a:latin typeface="Consolas" panose="020B0609020204030204" pitchFamily="49" charset="0"/>
              </a:rPr>
              <a:t>DayOfWeek</a:t>
            </a:r>
            <a:endParaRPr lang="en-US" sz="2600" b="0" dirty="0">
              <a:solidFill>
                <a:srgbClr val="CCCCCC"/>
              </a:solidFill>
              <a:effectLst/>
              <a:latin typeface="Consolas" panose="020B0609020204030204" pitchFamily="49" charset="0"/>
            </a:endParaRPr>
          </a:p>
          <a:p>
            <a:pPr>
              <a:lnSpc>
                <a:spcPct val="150000"/>
              </a:lnSpc>
              <a:buNone/>
            </a:pPr>
            <a:r>
              <a:rPr lang="en-US" sz="2600" b="0" dirty="0">
                <a:solidFill>
                  <a:srgbClr val="569CD6"/>
                </a:solidFill>
                <a:effectLst/>
                <a:latin typeface="Consolas" panose="020B0609020204030204" pitchFamily="49" charset="0"/>
              </a:rPr>
              <a:t>FROM</a:t>
            </a:r>
            <a:r>
              <a:rPr lang="en-US" sz="2600" b="0" dirty="0">
                <a:solidFill>
                  <a:srgbClr val="CCCCCC"/>
                </a:solidFill>
                <a:effectLst/>
                <a:latin typeface="Consolas" panose="020B0609020204030204" pitchFamily="49" charset="0"/>
              </a:rPr>
              <a:t> </a:t>
            </a:r>
            <a:r>
              <a:rPr lang="en-US" sz="2600" b="0" dirty="0" err="1">
                <a:solidFill>
                  <a:srgbClr val="CCCCCC"/>
                </a:solidFill>
                <a:effectLst/>
                <a:latin typeface="Consolas" panose="020B0609020204030204" pitchFamily="49" charset="0"/>
              </a:rPr>
              <a:t>SalesLT.SalesOrderHeader</a:t>
            </a:r>
            <a:r>
              <a:rPr lang="en-US" sz="2600" b="0" dirty="0">
                <a:solidFill>
                  <a:srgbClr val="CCCCCC"/>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7DE2EA50-2B5D-C156-8C90-AF5826C4EA84}"/>
              </a:ext>
            </a:extLst>
          </p:cNvPr>
          <p:cNvSpPr txBox="1"/>
          <p:nvPr/>
        </p:nvSpPr>
        <p:spPr>
          <a:xfrm>
            <a:off x="0" y="2035277"/>
            <a:ext cx="9026012" cy="2610843"/>
          </a:xfrm>
          <a:prstGeom prst="rect">
            <a:avLst/>
          </a:prstGeom>
          <a:noFill/>
        </p:spPr>
        <p:txBody>
          <a:bodyPr wrap="square">
            <a:spAutoFit/>
          </a:bodyPr>
          <a:lstStyle/>
          <a:p>
            <a:pPr>
              <a:lnSpc>
                <a:spcPct val="150000"/>
              </a:lnSpc>
            </a:pPr>
            <a:r>
              <a:rPr lang="en-US" sz="2800" dirty="0">
                <a:latin typeface="Calibir"/>
              </a:rPr>
              <a:t>This query lists every order date and shows which day of the week that order happened.</a:t>
            </a:r>
            <a:br>
              <a:rPr lang="en-US" sz="2800" dirty="0">
                <a:latin typeface="Calibir"/>
              </a:rPr>
            </a:br>
            <a:r>
              <a:rPr lang="en-US" sz="2800" dirty="0">
                <a:latin typeface="Calibir"/>
              </a:rPr>
              <a:t>It’s useful for </a:t>
            </a:r>
            <a:r>
              <a:rPr lang="en-US" sz="2800" dirty="0" err="1">
                <a:latin typeface="Calibir"/>
              </a:rPr>
              <a:t>analysing</a:t>
            </a:r>
            <a:r>
              <a:rPr lang="en-US" sz="2800" dirty="0">
                <a:latin typeface="Calibir"/>
              </a:rPr>
              <a:t> patterns — for example, finding if most sales happen on weekends.</a:t>
            </a:r>
          </a:p>
        </p:txBody>
      </p:sp>
    </p:spTree>
    <p:extLst>
      <p:ext uri="{BB962C8B-B14F-4D97-AF65-F5344CB8AC3E}">
        <p14:creationId xmlns:p14="http://schemas.microsoft.com/office/powerpoint/2010/main" val="11967089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79D86D26-9F92-C7F3-6629-E880D730E22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4F31F87-F92F-7783-6261-AE28DFEB4AF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3BA52E2-D3DB-C6A7-EBDB-78E514CFCF49}"/>
              </a:ext>
            </a:extLst>
          </p:cNvPr>
          <p:cNvSpPr>
            <a:spLocks noGrp="1"/>
          </p:cNvSpPr>
          <p:nvPr>
            <p:ph type="sldNum" sz="quarter" idx="4"/>
          </p:nvPr>
        </p:nvSpPr>
        <p:spPr/>
        <p:txBody>
          <a:bodyPr/>
          <a:lstStyle/>
          <a:p>
            <a:fld id="{16A89BA3-132D-40E1-AAB4-CDCD0A14C216}" type="slidenum">
              <a:rPr lang="en-AU" smtClean="0"/>
              <a:pPr/>
              <a:t>71</a:t>
            </a:fld>
            <a:r>
              <a:rPr lang="en-AU"/>
              <a:t>  |</a:t>
            </a:r>
            <a:endParaRPr lang="en-AU" dirty="0"/>
          </a:p>
        </p:txBody>
      </p:sp>
      <p:sp>
        <p:nvSpPr>
          <p:cNvPr id="9" name="Text Placeholder 3">
            <a:extLst>
              <a:ext uri="{FF2B5EF4-FFF2-40B4-BE49-F238E27FC236}">
                <a16:creationId xmlns:a16="http://schemas.microsoft.com/office/drawing/2014/main" id="{8A476273-E642-1CC3-B28E-19FF22E27478}"/>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74975F2-E958-CC0D-4F36-EA523518F268}"/>
              </a:ext>
            </a:extLst>
          </p:cNvPr>
          <p:cNvSpPr txBox="1"/>
          <p:nvPr/>
        </p:nvSpPr>
        <p:spPr>
          <a:xfrm>
            <a:off x="78058" y="624468"/>
            <a:ext cx="9065942" cy="668966"/>
          </a:xfrm>
          <a:prstGeom prst="rect">
            <a:avLst/>
          </a:prstGeom>
          <a:noFill/>
        </p:spPr>
        <p:txBody>
          <a:bodyPr wrap="square" rtlCol="0">
            <a:spAutoFit/>
          </a:bodyPr>
          <a:lstStyle/>
          <a:p>
            <a:pPr>
              <a:lnSpc>
                <a:spcPct val="150000"/>
              </a:lnSpc>
            </a:pPr>
            <a:r>
              <a:rPr lang="en-US" sz="2800" dirty="0">
                <a:latin typeface="Calibir"/>
              </a:rPr>
              <a:t>6. Orders by each customer</a:t>
            </a:r>
          </a:p>
        </p:txBody>
      </p:sp>
      <p:sp>
        <p:nvSpPr>
          <p:cNvPr id="11" name="TextBox 10">
            <a:extLst>
              <a:ext uri="{FF2B5EF4-FFF2-40B4-BE49-F238E27FC236}">
                <a16:creationId xmlns:a16="http://schemas.microsoft.com/office/drawing/2014/main" id="{29A349DA-2D3B-4B23-3855-0ED0ECEF8E79}"/>
              </a:ext>
            </a:extLst>
          </p:cNvPr>
          <p:cNvSpPr txBox="1"/>
          <p:nvPr/>
        </p:nvSpPr>
        <p:spPr>
          <a:xfrm>
            <a:off x="0" y="1293434"/>
            <a:ext cx="8849710" cy="523220"/>
          </a:xfrm>
          <a:prstGeom prst="rect">
            <a:avLst/>
          </a:prstGeom>
          <a:noFill/>
        </p:spPr>
        <p:txBody>
          <a:bodyPr wrap="square">
            <a:spAutoFit/>
          </a:bodyPr>
          <a:lstStyle/>
          <a:p>
            <a:r>
              <a:rPr lang="en-US" sz="2800" dirty="0">
                <a:solidFill>
                  <a:srgbClr val="3D3935"/>
                </a:solidFill>
                <a:latin typeface="Calibir"/>
              </a:rPr>
              <a:t>Take a screenshot) Shift + Enter (Or click </a:t>
            </a:r>
            <a:r>
              <a:rPr lang="en-US" sz="2800" dirty="0">
                <a:solidFill>
                  <a:srgbClr val="3D3935"/>
                </a:solidFill>
                <a:highlight>
                  <a:srgbClr val="FFFF00"/>
                </a:highlight>
                <a:latin typeface="Calibir"/>
              </a:rPr>
              <a:t>Run</a:t>
            </a:r>
            <a:r>
              <a:rPr lang="en-US" sz="2800" dirty="0">
                <a:solidFill>
                  <a:srgbClr val="3D3935"/>
                </a:solidFill>
                <a:latin typeface="Calibir"/>
              </a:rPr>
              <a:t>)</a:t>
            </a:r>
            <a:endParaRPr lang="en-US" sz="2800" dirty="0"/>
          </a:p>
        </p:txBody>
      </p:sp>
      <p:sp>
        <p:nvSpPr>
          <p:cNvPr id="12" name="TextBox 11">
            <a:extLst>
              <a:ext uri="{FF2B5EF4-FFF2-40B4-BE49-F238E27FC236}">
                <a16:creationId xmlns:a16="http://schemas.microsoft.com/office/drawing/2014/main" id="{66756023-C7BF-C944-81C1-40415BEAE423}"/>
              </a:ext>
            </a:extLst>
          </p:cNvPr>
          <p:cNvSpPr txBox="1"/>
          <p:nvPr/>
        </p:nvSpPr>
        <p:spPr>
          <a:xfrm>
            <a:off x="0" y="3772398"/>
            <a:ext cx="9144000" cy="2610843"/>
          </a:xfrm>
          <a:prstGeom prst="rect">
            <a:avLst/>
          </a:prstGeom>
          <a:noFill/>
        </p:spPr>
        <p:txBody>
          <a:bodyPr wrap="square">
            <a:spAutoFit/>
          </a:bodyPr>
          <a:lstStyle/>
          <a:p>
            <a:pPr>
              <a:lnSpc>
                <a:spcPct val="150000"/>
              </a:lnSpc>
            </a:pPr>
            <a:r>
              <a:rPr lang="en-US" sz="2800" dirty="0">
                <a:latin typeface="Calibir"/>
              </a:rPr>
              <a:t>This query groups all orders by customer ID and counts how many orders each customer placed.</a:t>
            </a:r>
            <a:br>
              <a:rPr lang="en-US" sz="2800" dirty="0">
                <a:latin typeface="Calibir"/>
              </a:rPr>
            </a:br>
            <a:r>
              <a:rPr lang="en-US" sz="2800" dirty="0">
                <a:latin typeface="Calibir"/>
              </a:rPr>
              <a:t>It’s like asking, “How many times did each customer buy something?”</a:t>
            </a:r>
          </a:p>
        </p:txBody>
      </p:sp>
      <p:sp>
        <p:nvSpPr>
          <p:cNvPr id="6" name="TextBox 5">
            <a:extLst>
              <a:ext uri="{FF2B5EF4-FFF2-40B4-BE49-F238E27FC236}">
                <a16:creationId xmlns:a16="http://schemas.microsoft.com/office/drawing/2014/main" id="{51BDB421-6139-2C09-E5DC-29D99BA331CF}"/>
              </a:ext>
            </a:extLst>
          </p:cNvPr>
          <p:cNvSpPr txBox="1"/>
          <p:nvPr/>
        </p:nvSpPr>
        <p:spPr>
          <a:xfrm>
            <a:off x="0" y="1943884"/>
            <a:ext cx="9144000" cy="1631216"/>
          </a:xfrm>
          <a:prstGeom prst="rect">
            <a:avLst/>
          </a:prstGeom>
          <a:solidFill>
            <a:schemeClr val="accent4">
              <a:lumMod val="90000"/>
              <a:lumOff val="10000"/>
            </a:schemeClr>
          </a:solidFill>
        </p:spPr>
        <p:txBody>
          <a:bodyPr wrap="square">
            <a:spAutoFit/>
          </a:bodyPr>
          <a:lstStyle/>
          <a:p>
            <a:pPr>
              <a:buNone/>
            </a:pPr>
            <a:r>
              <a:rPr lang="en-US" sz="2500" b="0" dirty="0">
                <a:solidFill>
                  <a:srgbClr val="569CD6"/>
                </a:solidFill>
                <a:effectLst/>
                <a:latin typeface="Consolas" panose="020B0609020204030204" pitchFamily="49" charset="0"/>
              </a:rPr>
              <a:t>SELECT</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COUNT(</a:t>
            </a:r>
            <a:r>
              <a:rPr lang="en-US" sz="2500" b="0" dirty="0" err="1">
                <a:solidFill>
                  <a:srgbClr val="CCCCCC"/>
                </a:solidFill>
                <a:effectLst/>
                <a:latin typeface="Consolas" panose="020B0609020204030204" pitchFamily="49" charset="0"/>
              </a:rPr>
              <a:t>SalesOrderID</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OrderCount</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FROM</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SalesLT.SalesOrderHeader</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GROUP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9929226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0A98559-DFF1-3E10-C53B-B1E63D716F8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A20E1B9-443B-55FB-B21F-7C6C5419C616}"/>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4D1EC05-7BE4-62A7-8A8E-BC6EB940CFD0}"/>
              </a:ext>
            </a:extLst>
          </p:cNvPr>
          <p:cNvSpPr>
            <a:spLocks noGrp="1"/>
          </p:cNvSpPr>
          <p:nvPr>
            <p:ph type="sldNum" sz="quarter" idx="4"/>
          </p:nvPr>
        </p:nvSpPr>
        <p:spPr/>
        <p:txBody>
          <a:bodyPr/>
          <a:lstStyle/>
          <a:p>
            <a:fld id="{16A89BA3-132D-40E1-AAB4-CDCD0A14C216}" type="slidenum">
              <a:rPr lang="en-AU" smtClean="0"/>
              <a:pPr/>
              <a:t>72</a:t>
            </a:fld>
            <a:r>
              <a:rPr lang="en-AU"/>
              <a:t>  |</a:t>
            </a:r>
            <a:endParaRPr lang="en-AU" dirty="0"/>
          </a:p>
        </p:txBody>
      </p:sp>
      <p:sp>
        <p:nvSpPr>
          <p:cNvPr id="6" name="TextBox 5">
            <a:extLst>
              <a:ext uri="{FF2B5EF4-FFF2-40B4-BE49-F238E27FC236}">
                <a16:creationId xmlns:a16="http://schemas.microsoft.com/office/drawing/2014/main" id="{FF30CE60-CF3D-254C-8EE0-82980448F9B2}"/>
              </a:ext>
            </a:extLst>
          </p:cNvPr>
          <p:cNvSpPr txBox="1"/>
          <p:nvPr/>
        </p:nvSpPr>
        <p:spPr>
          <a:xfrm>
            <a:off x="0" y="0"/>
            <a:ext cx="9144000" cy="1631216"/>
          </a:xfrm>
          <a:prstGeom prst="rect">
            <a:avLst/>
          </a:prstGeom>
          <a:solidFill>
            <a:schemeClr val="accent4">
              <a:lumMod val="90000"/>
              <a:lumOff val="10000"/>
            </a:schemeClr>
          </a:solidFill>
        </p:spPr>
        <p:txBody>
          <a:bodyPr wrap="square">
            <a:spAutoFit/>
          </a:bodyPr>
          <a:lstStyle/>
          <a:p>
            <a:pPr>
              <a:buNone/>
            </a:pPr>
            <a:r>
              <a:rPr lang="en-US" sz="2500" b="0" dirty="0">
                <a:solidFill>
                  <a:srgbClr val="569CD6"/>
                </a:solidFill>
                <a:effectLst/>
                <a:latin typeface="Consolas" panose="020B0609020204030204" pitchFamily="49" charset="0"/>
              </a:rPr>
              <a:t>SELECT</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COUNT(</a:t>
            </a:r>
            <a:r>
              <a:rPr lang="en-US" sz="2500" b="0" dirty="0" err="1">
                <a:solidFill>
                  <a:srgbClr val="CCCCCC"/>
                </a:solidFill>
                <a:effectLst/>
                <a:latin typeface="Consolas" panose="020B0609020204030204" pitchFamily="49" charset="0"/>
              </a:rPr>
              <a:t>SalesOrderID</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OrderCount</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FROM</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SalesLT.SalesOrderHeader</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GROUP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7CC5F4D8-C6D9-C9A3-59CD-861F7934A4F0}"/>
              </a:ext>
            </a:extLst>
          </p:cNvPr>
          <p:cNvGraphicFramePr>
            <a:graphicFrameLocks noGrp="1"/>
          </p:cNvGraphicFramePr>
          <p:nvPr>
            <p:extLst>
              <p:ext uri="{D42A27DB-BD31-4B8C-83A1-F6EECF244321}">
                <p14:modId xmlns:p14="http://schemas.microsoft.com/office/powerpoint/2010/main" val="3368779279"/>
              </p:ext>
            </p:extLst>
          </p:nvPr>
        </p:nvGraphicFramePr>
        <p:xfrm>
          <a:off x="-1" y="1631216"/>
          <a:ext cx="9144000" cy="4019104"/>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1578659526"/>
                    </a:ext>
                  </a:extLst>
                </a:gridCol>
                <a:gridCol w="3048000">
                  <a:extLst>
                    <a:ext uri="{9D8B030D-6E8A-4147-A177-3AD203B41FA5}">
                      <a16:colId xmlns:a16="http://schemas.microsoft.com/office/drawing/2014/main" val="3889003139"/>
                    </a:ext>
                  </a:extLst>
                </a:gridCol>
                <a:gridCol w="3048000">
                  <a:extLst>
                    <a:ext uri="{9D8B030D-6E8A-4147-A177-3AD203B41FA5}">
                      <a16:colId xmlns:a16="http://schemas.microsoft.com/office/drawing/2014/main" val="920442195"/>
                    </a:ext>
                  </a:extLst>
                </a:gridCol>
              </a:tblGrid>
              <a:tr h="437288">
                <a:tc>
                  <a:txBody>
                    <a:bodyPr/>
                    <a:lstStyle/>
                    <a:p>
                      <a:pPr>
                        <a:buNone/>
                      </a:pPr>
                      <a:r>
                        <a:rPr lang="en-US" sz="2200" b="0" dirty="0">
                          <a:latin typeface="Calibir"/>
                        </a:rPr>
                        <a:t>Part</a:t>
                      </a:r>
                    </a:p>
                  </a:txBody>
                  <a:tcPr marL="57254" marR="57254" marT="28627" marB="28627" anchor="ctr"/>
                </a:tc>
                <a:tc>
                  <a:txBody>
                    <a:bodyPr/>
                    <a:lstStyle/>
                    <a:p>
                      <a:pPr>
                        <a:buNone/>
                      </a:pPr>
                      <a:r>
                        <a:rPr lang="en-US" sz="2200" b="0">
                          <a:latin typeface="Calibir"/>
                        </a:rPr>
                        <a:t>Meaning</a:t>
                      </a:r>
                    </a:p>
                  </a:txBody>
                  <a:tcPr marL="57254" marR="57254" marT="28627" marB="28627" anchor="ctr"/>
                </a:tc>
                <a:tc>
                  <a:txBody>
                    <a:bodyPr/>
                    <a:lstStyle/>
                    <a:p>
                      <a:pPr>
                        <a:buNone/>
                      </a:pPr>
                      <a:r>
                        <a:rPr lang="en-US" sz="2200" b="0">
                          <a:latin typeface="Calibir"/>
                        </a:rPr>
                        <a:t>Example</a:t>
                      </a:r>
                    </a:p>
                  </a:txBody>
                  <a:tcPr marL="57254" marR="57254" marT="28627" marB="28627" anchor="ctr"/>
                </a:tc>
                <a:extLst>
                  <a:ext uri="{0D108BD9-81ED-4DB2-BD59-A6C34878D82A}">
                    <a16:rowId xmlns:a16="http://schemas.microsoft.com/office/drawing/2014/main" val="1950963483"/>
                  </a:ext>
                </a:extLst>
              </a:tr>
              <a:tr h="0">
                <a:tc>
                  <a:txBody>
                    <a:bodyPr/>
                    <a:lstStyle/>
                    <a:p>
                      <a:pPr>
                        <a:buNone/>
                      </a:pPr>
                      <a:r>
                        <a:rPr lang="en-US" sz="2200" b="0">
                          <a:latin typeface="Calibir"/>
                        </a:rPr>
                        <a:t>SELECT</a:t>
                      </a:r>
                    </a:p>
                  </a:txBody>
                  <a:tcPr marL="57254" marR="57254" marT="28627" marB="28627" anchor="ctr"/>
                </a:tc>
                <a:tc>
                  <a:txBody>
                    <a:bodyPr/>
                    <a:lstStyle/>
                    <a:p>
                      <a:pPr>
                        <a:buNone/>
                      </a:pPr>
                      <a:r>
                        <a:rPr lang="en-US" sz="2200" b="0" dirty="0">
                          <a:latin typeface="Calibir"/>
                        </a:rPr>
                        <a:t>Chooses what columns or calculations to show in the result.</a:t>
                      </a:r>
                    </a:p>
                  </a:txBody>
                  <a:tcPr marL="57254" marR="57254" marT="28627" marB="28627" anchor="ctr"/>
                </a:tc>
                <a:tc>
                  <a:txBody>
                    <a:bodyPr/>
                    <a:lstStyle/>
                    <a:p>
                      <a:pPr>
                        <a:buNone/>
                      </a:pPr>
                      <a:r>
                        <a:rPr lang="en-US" sz="2200" b="0">
                          <a:latin typeface="Calibir"/>
                        </a:rPr>
                        <a:t>“Show me the customer and how many orders they made.”</a:t>
                      </a:r>
                    </a:p>
                  </a:txBody>
                  <a:tcPr marL="57254" marR="57254" marT="28627" marB="28627" anchor="ctr"/>
                </a:tc>
                <a:extLst>
                  <a:ext uri="{0D108BD9-81ED-4DB2-BD59-A6C34878D82A}">
                    <a16:rowId xmlns:a16="http://schemas.microsoft.com/office/drawing/2014/main" val="2401331309"/>
                  </a:ext>
                </a:extLst>
              </a:tr>
              <a:tr h="0">
                <a:tc>
                  <a:txBody>
                    <a:bodyPr/>
                    <a:lstStyle/>
                    <a:p>
                      <a:pPr>
                        <a:buNone/>
                      </a:pPr>
                      <a:r>
                        <a:rPr lang="en-US" sz="2200" b="0">
                          <a:latin typeface="Calibir"/>
                        </a:rPr>
                        <a:t>CustomerID</a:t>
                      </a:r>
                    </a:p>
                  </a:txBody>
                  <a:tcPr marL="57254" marR="57254" marT="28627" marB="28627" anchor="ctr"/>
                </a:tc>
                <a:tc>
                  <a:txBody>
                    <a:bodyPr/>
                    <a:lstStyle/>
                    <a:p>
                      <a:pPr>
                        <a:buNone/>
                      </a:pPr>
                      <a:r>
                        <a:rPr lang="en-US" sz="2200" b="0" dirty="0">
                          <a:latin typeface="Calibir"/>
                        </a:rPr>
                        <a:t>Identifies each customer (like a unique number for each person).</a:t>
                      </a:r>
                    </a:p>
                  </a:txBody>
                  <a:tcPr marL="57254" marR="57254" marT="28627" marB="28627" anchor="ctr"/>
                </a:tc>
                <a:tc>
                  <a:txBody>
                    <a:bodyPr/>
                    <a:lstStyle/>
                    <a:p>
                      <a:pPr>
                        <a:buNone/>
                      </a:pPr>
                      <a:r>
                        <a:rPr lang="en-US" sz="2200" b="0">
                          <a:latin typeface="Calibir"/>
                        </a:rPr>
                        <a:t>e.g., CustomerID = 101, 102, etc.</a:t>
                      </a:r>
                    </a:p>
                  </a:txBody>
                  <a:tcPr marL="57254" marR="57254" marT="28627" marB="28627" anchor="ctr"/>
                </a:tc>
                <a:extLst>
                  <a:ext uri="{0D108BD9-81ED-4DB2-BD59-A6C34878D82A}">
                    <a16:rowId xmlns:a16="http://schemas.microsoft.com/office/drawing/2014/main" val="3555693708"/>
                  </a:ext>
                </a:extLst>
              </a:tr>
              <a:tr h="0">
                <a:tc>
                  <a:txBody>
                    <a:bodyPr/>
                    <a:lstStyle/>
                    <a:p>
                      <a:pPr>
                        <a:buNone/>
                      </a:pPr>
                      <a:r>
                        <a:rPr lang="en-US" sz="2200" b="0">
                          <a:latin typeface="Calibir"/>
                        </a:rPr>
                        <a:t>COUNT(SalesOrderID)</a:t>
                      </a:r>
                    </a:p>
                  </a:txBody>
                  <a:tcPr marL="57254" marR="57254" marT="28627" marB="28627" anchor="ctr"/>
                </a:tc>
                <a:tc>
                  <a:txBody>
                    <a:bodyPr/>
                    <a:lstStyle/>
                    <a:p>
                      <a:pPr>
                        <a:buNone/>
                      </a:pPr>
                      <a:r>
                        <a:rPr lang="en-US" sz="2200" b="0">
                          <a:latin typeface="Calibir"/>
                        </a:rPr>
                        <a:t>Counts how many orders each customer placed.</a:t>
                      </a:r>
                    </a:p>
                  </a:txBody>
                  <a:tcPr marL="57254" marR="57254" marT="28627" marB="28627" anchor="ctr"/>
                </a:tc>
                <a:tc>
                  <a:txBody>
                    <a:bodyPr/>
                    <a:lstStyle/>
                    <a:p>
                      <a:pPr>
                        <a:buNone/>
                      </a:pPr>
                      <a:r>
                        <a:rPr lang="en-US" sz="2200" b="0">
                          <a:latin typeface="Calibir"/>
                        </a:rPr>
                        <a:t>If a customer has 3 orders, result = 3.</a:t>
                      </a:r>
                    </a:p>
                  </a:txBody>
                  <a:tcPr marL="57254" marR="57254" marT="28627" marB="28627" anchor="ctr"/>
                </a:tc>
                <a:extLst>
                  <a:ext uri="{0D108BD9-81ED-4DB2-BD59-A6C34878D82A}">
                    <a16:rowId xmlns:a16="http://schemas.microsoft.com/office/drawing/2014/main" val="1595212119"/>
                  </a:ext>
                </a:extLst>
              </a:tr>
              <a:tr h="0">
                <a:tc>
                  <a:txBody>
                    <a:bodyPr/>
                    <a:lstStyle/>
                    <a:p>
                      <a:pPr>
                        <a:buNone/>
                      </a:pPr>
                      <a:r>
                        <a:rPr lang="en-US" sz="2200" b="0">
                          <a:latin typeface="Calibir"/>
                        </a:rPr>
                        <a:t>AS OrderCount</a:t>
                      </a:r>
                    </a:p>
                  </a:txBody>
                  <a:tcPr marL="57254" marR="57254" marT="28627" marB="28627" anchor="ctr"/>
                </a:tc>
                <a:tc>
                  <a:txBody>
                    <a:bodyPr/>
                    <a:lstStyle/>
                    <a:p>
                      <a:pPr>
                        <a:buNone/>
                      </a:pPr>
                      <a:r>
                        <a:rPr lang="en-US" sz="2200" b="0">
                          <a:latin typeface="Calibir"/>
                        </a:rPr>
                        <a:t>Gives a friendly name to the count result column.</a:t>
                      </a:r>
                    </a:p>
                  </a:txBody>
                  <a:tcPr marL="57254" marR="57254" marT="28627" marB="28627" anchor="ctr"/>
                </a:tc>
                <a:tc>
                  <a:txBody>
                    <a:bodyPr/>
                    <a:lstStyle/>
                    <a:p>
                      <a:pPr>
                        <a:buNone/>
                      </a:pPr>
                      <a:r>
                        <a:rPr lang="en-US" sz="2200" b="0" dirty="0">
                          <a:latin typeface="Calibir"/>
                        </a:rPr>
                        <a:t>The column will appear as </a:t>
                      </a:r>
                      <a:r>
                        <a:rPr lang="en-US" sz="2200" b="0" dirty="0" err="1">
                          <a:latin typeface="Calibir"/>
                        </a:rPr>
                        <a:t>OrderCount</a:t>
                      </a:r>
                      <a:r>
                        <a:rPr lang="en-US" sz="2200" b="0" dirty="0">
                          <a:latin typeface="Calibir"/>
                        </a:rPr>
                        <a:t>.</a:t>
                      </a:r>
                    </a:p>
                  </a:txBody>
                  <a:tcPr marL="57254" marR="57254" marT="28627" marB="28627" anchor="ctr"/>
                </a:tc>
                <a:extLst>
                  <a:ext uri="{0D108BD9-81ED-4DB2-BD59-A6C34878D82A}">
                    <a16:rowId xmlns:a16="http://schemas.microsoft.com/office/drawing/2014/main" val="3229752293"/>
                  </a:ext>
                </a:extLst>
              </a:tr>
            </a:tbl>
          </a:graphicData>
        </a:graphic>
      </p:graphicFrame>
    </p:spTree>
    <p:extLst>
      <p:ext uri="{BB962C8B-B14F-4D97-AF65-F5344CB8AC3E}">
        <p14:creationId xmlns:p14="http://schemas.microsoft.com/office/powerpoint/2010/main" val="40345023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7EF5212-9F1E-CECB-07CA-225C4ED2CB8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4A3E4E0-6D10-D16F-6FC4-84E0909D45C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B89E5A18-4CB4-FDA7-556C-2BE5DEA99188}"/>
              </a:ext>
            </a:extLst>
          </p:cNvPr>
          <p:cNvSpPr>
            <a:spLocks noGrp="1"/>
          </p:cNvSpPr>
          <p:nvPr>
            <p:ph type="sldNum" sz="quarter" idx="4"/>
          </p:nvPr>
        </p:nvSpPr>
        <p:spPr/>
        <p:txBody>
          <a:bodyPr/>
          <a:lstStyle/>
          <a:p>
            <a:fld id="{16A89BA3-132D-40E1-AAB4-CDCD0A14C216}" type="slidenum">
              <a:rPr lang="en-AU" smtClean="0"/>
              <a:pPr/>
              <a:t>73</a:t>
            </a:fld>
            <a:r>
              <a:rPr lang="en-AU"/>
              <a:t>  |</a:t>
            </a:r>
            <a:endParaRPr lang="en-AU" dirty="0"/>
          </a:p>
        </p:txBody>
      </p:sp>
      <p:sp>
        <p:nvSpPr>
          <p:cNvPr id="6" name="TextBox 5">
            <a:extLst>
              <a:ext uri="{FF2B5EF4-FFF2-40B4-BE49-F238E27FC236}">
                <a16:creationId xmlns:a16="http://schemas.microsoft.com/office/drawing/2014/main" id="{75F3DE34-7D66-D6E8-8523-01DB0CADAF6F}"/>
              </a:ext>
            </a:extLst>
          </p:cNvPr>
          <p:cNvSpPr txBox="1"/>
          <p:nvPr/>
        </p:nvSpPr>
        <p:spPr>
          <a:xfrm>
            <a:off x="0" y="0"/>
            <a:ext cx="9144000" cy="1631216"/>
          </a:xfrm>
          <a:prstGeom prst="rect">
            <a:avLst/>
          </a:prstGeom>
          <a:solidFill>
            <a:schemeClr val="accent4">
              <a:lumMod val="90000"/>
              <a:lumOff val="10000"/>
            </a:schemeClr>
          </a:solidFill>
        </p:spPr>
        <p:txBody>
          <a:bodyPr wrap="square">
            <a:spAutoFit/>
          </a:bodyPr>
          <a:lstStyle/>
          <a:p>
            <a:pPr>
              <a:buNone/>
            </a:pPr>
            <a:r>
              <a:rPr lang="en-US" sz="2500" b="0" dirty="0">
                <a:solidFill>
                  <a:srgbClr val="569CD6"/>
                </a:solidFill>
                <a:effectLst/>
                <a:latin typeface="Consolas" panose="020B0609020204030204" pitchFamily="49" charset="0"/>
              </a:rPr>
              <a:t>SELECT</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COUNT(</a:t>
            </a:r>
            <a:r>
              <a:rPr lang="en-US" sz="2500" b="0" dirty="0" err="1">
                <a:solidFill>
                  <a:srgbClr val="CCCCCC"/>
                </a:solidFill>
                <a:effectLst/>
                <a:latin typeface="Consolas" panose="020B0609020204030204" pitchFamily="49" charset="0"/>
              </a:rPr>
              <a:t>SalesOrderID</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OrderCount</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FROM</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SalesLT.SalesOrderHeader</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GROUP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DBC9E125-7180-52DE-68B3-475E9CCCD523}"/>
              </a:ext>
            </a:extLst>
          </p:cNvPr>
          <p:cNvGraphicFramePr>
            <a:graphicFrameLocks noGrp="1"/>
          </p:cNvGraphicFramePr>
          <p:nvPr>
            <p:extLst>
              <p:ext uri="{D42A27DB-BD31-4B8C-83A1-F6EECF244321}">
                <p14:modId xmlns:p14="http://schemas.microsoft.com/office/powerpoint/2010/main" val="1189844514"/>
              </p:ext>
            </p:extLst>
          </p:nvPr>
        </p:nvGraphicFramePr>
        <p:xfrm>
          <a:off x="-1" y="1631216"/>
          <a:ext cx="9144000" cy="3234036"/>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1578659526"/>
                    </a:ext>
                  </a:extLst>
                </a:gridCol>
                <a:gridCol w="3048000">
                  <a:extLst>
                    <a:ext uri="{9D8B030D-6E8A-4147-A177-3AD203B41FA5}">
                      <a16:colId xmlns:a16="http://schemas.microsoft.com/office/drawing/2014/main" val="3889003139"/>
                    </a:ext>
                  </a:extLst>
                </a:gridCol>
                <a:gridCol w="3048000">
                  <a:extLst>
                    <a:ext uri="{9D8B030D-6E8A-4147-A177-3AD203B41FA5}">
                      <a16:colId xmlns:a16="http://schemas.microsoft.com/office/drawing/2014/main" val="920442195"/>
                    </a:ext>
                  </a:extLst>
                </a:gridCol>
              </a:tblGrid>
              <a:tr h="437288">
                <a:tc>
                  <a:txBody>
                    <a:bodyPr/>
                    <a:lstStyle/>
                    <a:p>
                      <a:pPr>
                        <a:buNone/>
                      </a:pPr>
                      <a:r>
                        <a:rPr lang="en-US" sz="2200" b="0">
                          <a:latin typeface="Calibir"/>
                        </a:rPr>
                        <a:t>Part</a:t>
                      </a:r>
                    </a:p>
                  </a:txBody>
                  <a:tcPr marL="57254" marR="57254" marT="28627" marB="28627" anchor="ctr"/>
                </a:tc>
                <a:tc>
                  <a:txBody>
                    <a:bodyPr/>
                    <a:lstStyle/>
                    <a:p>
                      <a:pPr>
                        <a:buNone/>
                      </a:pPr>
                      <a:r>
                        <a:rPr lang="en-US" sz="2200" b="0">
                          <a:latin typeface="Calibir"/>
                        </a:rPr>
                        <a:t>Meaning</a:t>
                      </a:r>
                    </a:p>
                  </a:txBody>
                  <a:tcPr marL="57254" marR="57254" marT="28627" marB="28627" anchor="ctr"/>
                </a:tc>
                <a:tc>
                  <a:txBody>
                    <a:bodyPr/>
                    <a:lstStyle/>
                    <a:p>
                      <a:pPr>
                        <a:buNone/>
                      </a:pPr>
                      <a:r>
                        <a:rPr lang="en-US" sz="2200" b="0">
                          <a:latin typeface="Calibir"/>
                        </a:rPr>
                        <a:t>Example</a:t>
                      </a:r>
                    </a:p>
                  </a:txBody>
                  <a:tcPr marL="57254" marR="57254" marT="28627" marB="28627" anchor="ctr"/>
                </a:tc>
                <a:extLst>
                  <a:ext uri="{0D108BD9-81ED-4DB2-BD59-A6C34878D82A}">
                    <a16:rowId xmlns:a16="http://schemas.microsoft.com/office/drawing/2014/main" val="1950963483"/>
                  </a:ext>
                </a:extLst>
              </a:tr>
              <a:tr h="0">
                <a:tc>
                  <a:txBody>
                    <a:bodyPr/>
                    <a:lstStyle/>
                    <a:p>
                      <a:pPr>
                        <a:buNone/>
                      </a:pPr>
                      <a:r>
                        <a:rPr lang="en-US" sz="2200" b="0" dirty="0">
                          <a:latin typeface="Calibir"/>
                        </a:rPr>
                        <a:t>FROM </a:t>
                      </a:r>
                      <a:r>
                        <a:rPr lang="en-US" sz="2200" b="0" dirty="0" err="1">
                          <a:latin typeface="Calibir"/>
                        </a:rPr>
                        <a:t>SalesLT.SalesOrderHeader</a:t>
                      </a:r>
                      <a:endParaRPr lang="en-US" sz="2200" b="0" dirty="0">
                        <a:latin typeface="Calibir"/>
                      </a:endParaRPr>
                    </a:p>
                  </a:txBody>
                  <a:tcPr marL="57254" marR="57254" marT="28627" marB="28627" anchor="ctr"/>
                </a:tc>
                <a:tc>
                  <a:txBody>
                    <a:bodyPr/>
                    <a:lstStyle/>
                    <a:p>
                      <a:pPr>
                        <a:buNone/>
                      </a:pPr>
                      <a:r>
                        <a:rPr lang="en-US" sz="2200" b="0" dirty="0">
                          <a:latin typeface="Calibir"/>
                        </a:rPr>
                        <a:t>Means data comes from the </a:t>
                      </a:r>
                      <a:r>
                        <a:rPr lang="en-US" sz="2200" b="0" dirty="0" err="1">
                          <a:latin typeface="Calibir"/>
                        </a:rPr>
                        <a:t>SalesOrderHeader</a:t>
                      </a:r>
                      <a:r>
                        <a:rPr lang="en-US" sz="2200" b="0" dirty="0">
                          <a:latin typeface="Calibir"/>
                        </a:rPr>
                        <a:t> table (which stores order details).</a:t>
                      </a:r>
                    </a:p>
                  </a:txBody>
                  <a:tcPr marL="57254" marR="57254" marT="28627" marB="28627" anchor="ctr"/>
                </a:tc>
                <a:tc>
                  <a:txBody>
                    <a:bodyPr/>
                    <a:lstStyle/>
                    <a:p>
                      <a:pPr>
                        <a:buNone/>
                      </a:pPr>
                      <a:r>
                        <a:rPr lang="en-US" sz="2200" b="0">
                          <a:latin typeface="Calibir"/>
                        </a:rPr>
                        <a:t>This is where all orders are listed.</a:t>
                      </a:r>
                    </a:p>
                  </a:txBody>
                  <a:tcPr marL="57254" marR="57254" marT="28627" marB="28627" anchor="ctr"/>
                </a:tc>
                <a:extLst>
                  <a:ext uri="{0D108BD9-81ED-4DB2-BD59-A6C34878D82A}">
                    <a16:rowId xmlns:a16="http://schemas.microsoft.com/office/drawing/2014/main" val="2401331309"/>
                  </a:ext>
                </a:extLst>
              </a:tr>
              <a:tr h="0">
                <a:tc>
                  <a:txBody>
                    <a:bodyPr/>
                    <a:lstStyle/>
                    <a:p>
                      <a:pPr>
                        <a:buNone/>
                      </a:pPr>
                      <a:r>
                        <a:rPr lang="en-US" sz="2200" b="0">
                          <a:latin typeface="Calibir"/>
                        </a:rPr>
                        <a:t>GROUP BY CustomerID</a:t>
                      </a:r>
                    </a:p>
                  </a:txBody>
                  <a:tcPr marL="57254" marR="57254" marT="28627" marB="28627" anchor="ctr"/>
                </a:tc>
                <a:tc>
                  <a:txBody>
                    <a:bodyPr/>
                    <a:lstStyle/>
                    <a:p>
                      <a:pPr>
                        <a:buNone/>
                      </a:pPr>
                      <a:r>
                        <a:rPr lang="en-US" sz="2200" b="0" dirty="0">
                          <a:latin typeface="Calibir"/>
                        </a:rPr>
                        <a:t>Groups the data by customer so SQL can count orders per customer.</a:t>
                      </a:r>
                    </a:p>
                  </a:txBody>
                  <a:tcPr marL="57254" marR="57254" marT="28627" marB="28627" anchor="ctr"/>
                </a:tc>
                <a:tc>
                  <a:txBody>
                    <a:bodyPr/>
                    <a:lstStyle/>
                    <a:p>
                      <a:pPr>
                        <a:buNone/>
                      </a:pPr>
                      <a:r>
                        <a:rPr lang="en-US" sz="2200" b="0" dirty="0">
                          <a:latin typeface="Calibir"/>
                        </a:rPr>
                        <a:t>One row per customer with their total number of orders.</a:t>
                      </a:r>
                    </a:p>
                  </a:txBody>
                  <a:tcPr marL="57254" marR="57254" marT="28627" marB="28627" anchor="ctr"/>
                </a:tc>
                <a:extLst>
                  <a:ext uri="{0D108BD9-81ED-4DB2-BD59-A6C34878D82A}">
                    <a16:rowId xmlns:a16="http://schemas.microsoft.com/office/drawing/2014/main" val="3555693708"/>
                  </a:ext>
                </a:extLst>
              </a:tr>
            </a:tbl>
          </a:graphicData>
        </a:graphic>
      </p:graphicFrame>
    </p:spTree>
    <p:extLst>
      <p:ext uri="{BB962C8B-B14F-4D97-AF65-F5344CB8AC3E}">
        <p14:creationId xmlns:p14="http://schemas.microsoft.com/office/powerpoint/2010/main" val="27811345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2392BD21-E09E-97F8-9174-6FB029795C8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E0DBDB3-3481-8420-5F3C-853DEE6FF37F}"/>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93E7BFAE-9738-261F-3598-1F3AEF1621EE}"/>
              </a:ext>
            </a:extLst>
          </p:cNvPr>
          <p:cNvSpPr>
            <a:spLocks noGrp="1"/>
          </p:cNvSpPr>
          <p:nvPr>
            <p:ph type="sldNum" sz="quarter" idx="4"/>
          </p:nvPr>
        </p:nvSpPr>
        <p:spPr/>
        <p:txBody>
          <a:bodyPr/>
          <a:lstStyle/>
          <a:p>
            <a:fld id="{16A89BA3-132D-40E1-AAB4-CDCD0A14C216}" type="slidenum">
              <a:rPr lang="en-AU" smtClean="0"/>
              <a:pPr/>
              <a:t>74</a:t>
            </a:fld>
            <a:r>
              <a:rPr lang="en-AU"/>
              <a:t>  |</a:t>
            </a:r>
            <a:endParaRPr lang="en-AU" dirty="0"/>
          </a:p>
        </p:txBody>
      </p:sp>
      <p:sp>
        <p:nvSpPr>
          <p:cNvPr id="6" name="TextBox 5">
            <a:extLst>
              <a:ext uri="{FF2B5EF4-FFF2-40B4-BE49-F238E27FC236}">
                <a16:creationId xmlns:a16="http://schemas.microsoft.com/office/drawing/2014/main" id="{30D81967-E99D-7B61-32F5-7EDD5F5F9898}"/>
              </a:ext>
            </a:extLst>
          </p:cNvPr>
          <p:cNvSpPr txBox="1"/>
          <p:nvPr/>
        </p:nvSpPr>
        <p:spPr>
          <a:xfrm>
            <a:off x="0" y="0"/>
            <a:ext cx="9144000" cy="1631216"/>
          </a:xfrm>
          <a:prstGeom prst="rect">
            <a:avLst/>
          </a:prstGeom>
          <a:solidFill>
            <a:schemeClr val="accent4">
              <a:lumMod val="90000"/>
              <a:lumOff val="10000"/>
            </a:schemeClr>
          </a:solidFill>
        </p:spPr>
        <p:txBody>
          <a:bodyPr wrap="square">
            <a:spAutoFit/>
          </a:bodyPr>
          <a:lstStyle/>
          <a:p>
            <a:pPr>
              <a:buNone/>
            </a:pPr>
            <a:r>
              <a:rPr lang="en-US" sz="2500" b="0" dirty="0">
                <a:solidFill>
                  <a:srgbClr val="569CD6"/>
                </a:solidFill>
                <a:effectLst/>
                <a:latin typeface="Consolas" panose="020B0609020204030204" pitchFamily="49" charset="0"/>
              </a:rPr>
              <a:t>SELECT</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COUNT(</a:t>
            </a:r>
            <a:r>
              <a:rPr lang="en-US" sz="2500" b="0" dirty="0" err="1">
                <a:solidFill>
                  <a:srgbClr val="CCCCCC"/>
                </a:solidFill>
                <a:effectLst/>
                <a:latin typeface="Consolas" panose="020B0609020204030204" pitchFamily="49" charset="0"/>
              </a:rPr>
              <a:t>SalesOrderID</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OrderCount</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FROM</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SalesLT.SalesOrderHeader</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GROUP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3641B637-DA68-AB12-89EF-3208DBCF1129}"/>
              </a:ext>
            </a:extLst>
          </p:cNvPr>
          <p:cNvSpPr txBox="1"/>
          <p:nvPr/>
        </p:nvSpPr>
        <p:spPr>
          <a:xfrm>
            <a:off x="1" y="1755058"/>
            <a:ext cx="9144000" cy="2610843"/>
          </a:xfrm>
          <a:prstGeom prst="rect">
            <a:avLst/>
          </a:prstGeom>
          <a:noFill/>
        </p:spPr>
        <p:txBody>
          <a:bodyPr wrap="square">
            <a:spAutoFit/>
          </a:bodyPr>
          <a:lstStyle/>
          <a:p>
            <a:pPr>
              <a:lnSpc>
                <a:spcPct val="150000"/>
              </a:lnSpc>
            </a:pPr>
            <a:r>
              <a:rPr lang="en-US" sz="2800" dirty="0">
                <a:latin typeface="Calibir"/>
              </a:rPr>
              <a:t>In short:</a:t>
            </a:r>
            <a:br>
              <a:rPr lang="en-US" sz="2800" dirty="0">
                <a:latin typeface="Calibir"/>
              </a:rPr>
            </a:br>
            <a:r>
              <a:rPr lang="en-US" sz="2800" dirty="0">
                <a:latin typeface="Calibir"/>
              </a:rPr>
              <a:t>This query finds how many orders each customer has made.</a:t>
            </a:r>
            <a:br>
              <a:rPr lang="en-US" sz="2800" dirty="0">
                <a:latin typeface="Calibir"/>
              </a:rPr>
            </a:br>
            <a:r>
              <a:rPr lang="en-US" sz="2800" dirty="0">
                <a:latin typeface="Calibir"/>
              </a:rPr>
              <a:t>Think of it like an Excel pivot table showing one row per customer and their total number of purchases.</a:t>
            </a:r>
          </a:p>
        </p:txBody>
      </p:sp>
    </p:spTree>
    <p:extLst>
      <p:ext uri="{BB962C8B-B14F-4D97-AF65-F5344CB8AC3E}">
        <p14:creationId xmlns:p14="http://schemas.microsoft.com/office/powerpoint/2010/main" val="262966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6EE4F3E-7EDB-3207-199C-181192A552F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57C6B21-0E93-5C57-6323-E9D383F7951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7D6762B-FE53-3B3A-6ED1-CA59C83965EF}"/>
              </a:ext>
            </a:extLst>
          </p:cNvPr>
          <p:cNvSpPr>
            <a:spLocks noGrp="1"/>
          </p:cNvSpPr>
          <p:nvPr>
            <p:ph type="sldNum" sz="quarter" idx="4"/>
          </p:nvPr>
        </p:nvSpPr>
        <p:spPr/>
        <p:txBody>
          <a:bodyPr/>
          <a:lstStyle/>
          <a:p>
            <a:fld id="{16A89BA3-132D-40E1-AAB4-CDCD0A14C216}" type="slidenum">
              <a:rPr lang="en-AU" smtClean="0"/>
              <a:pPr/>
              <a:t>75</a:t>
            </a:fld>
            <a:r>
              <a:rPr lang="en-AU"/>
              <a:t>  |</a:t>
            </a:r>
            <a:endParaRPr lang="en-AU" dirty="0"/>
          </a:p>
        </p:txBody>
      </p:sp>
      <p:sp>
        <p:nvSpPr>
          <p:cNvPr id="9" name="Text Placeholder 3">
            <a:extLst>
              <a:ext uri="{FF2B5EF4-FFF2-40B4-BE49-F238E27FC236}">
                <a16:creationId xmlns:a16="http://schemas.microsoft.com/office/drawing/2014/main" id="{B1ED6BF9-67CA-9478-5712-03F4E701EA18}"/>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48D983E-996B-AE46-E90B-95B6A95420C1}"/>
              </a:ext>
            </a:extLst>
          </p:cNvPr>
          <p:cNvSpPr txBox="1"/>
          <p:nvPr/>
        </p:nvSpPr>
        <p:spPr>
          <a:xfrm>
            <a:off x="78058" y="624468"/>
            <a:ext cx="9065942" cy="668966"/>
          </a:xfrm>
          <a:prstGeom prst="rect">
            <a:avLst/>
          </a:prstGeom>
          <a:noFill/>
        </p:spPr>
        <p:txBody>
          <a:bodyPr wrap="square" rtlCol="0">
            <a:spAutoFit/>
          </a:bodyPr>
          <a:lstStyle/>
          <a:p>
            <a:pPr>
              <a:lnSpc>
                <a:spcPct val="150000"/>
              </a:lnSpc>
            </a:pPr>
            <a:r>
              <a:rPr lang="en-US" sz="2800" dirty="0">
                <a:latin typeface="Calibir"/>
              </a:rPr>
              <a:t>7. Days between </a:t>
            </a:r>
            <a:r>
              <a:rPr lang="en-US" sz="2800" dirty="0" err="1">
                <a:latin typeface="Calibir"/>
              </a:rPr>
              <a:t>OrderDate</a:t>
            </a:r>
            <a:r>
              <a:rPr lang="en-US" sz="2800" dirty="0">
                <a:latin typeface="Calibir"/>
              </a:rPr>
              <a:t> and </a:t>
            </a:r>
            <a:r>
              <a:rPr lang="en-US" sz="2800" dirty="0" err="1">
                <a:latin typeface="Calibir"/>
              </a:rPr>
              <a:t>DueDate</a:t>
            </a:r>
            <a:endParaRPr lang="en-US" sz="2800" dirty="0">
              <a:latin typeface="Calibir"/>
            </a:endParaRPr>
          </a:p>
        </p:txBody>
      </p:sp>
      <p:sp>
        <p:nvSpPr>
          <p:cNvPr id="11" name="TextBox 10">
            <a:extLst>
              <a:ext uri="{FF2B5EF4-FFF2-40B4-BE49-F238E27FC236}">
                <a16:creationId xmlns:a16="http://schemas.microsoft.com/office/drawing/2014/main" id="{985EAD13-5D10-7D7C-99A2-C7B0635BF2C9}"/>
              </a:ext>
            </a:extLst>
          </p:cNvPr>
          <p:cNvSpPr txBox="1"/>
          <p:nvPr/>
        </p:nvSpPr>
        <p:spPr>
          <a:xfrm>
            <a:off x="0" y="1293434"/>
            <a:ext cx="8849710" cy="523220"/>
          </a:xfrm>
          <a:prstGeom prst="rect">
            <a:avLst/>
          </a:prstGeom>
          <a:noFill/>
        </p:spPr>
        <p:txBody>
          <a:bodyPr wrap="square">
            <a:spAutoFit/>
          </a:bodyPr>
          <a:lstStyle/>
          <a:p>
            <a:r>
              <a:rPr lang="en-US" sz="2800" dirty="0">
                <a:solidFill>
                  <a:srgbClr val="3D3935"/>
                </a:solidFill>
                <a:latin typeface="Calibir"/>
              </a:rPr>
              <a:t>Take a screenshot) Shift + Enter (Or click </a:t>
            </a:r>
            <a:r>
              <a:rPr lang="en-US" sz="2800" dirty="0">
                <a:solidFill>
                  <a:srgbClr val="3D3935"/>
                </a:solidFill>
                <a:highlight>
                  <a:srgbClr val="FFFF00"/>
                </a:highlight>
                <a:latin typeface="Calibir"/>
              </a:rPr>
              <a:t>Run</a:t>
            </a:r>
            <a:r>
              <a:rPr lang="en-US" sz="2800" dirty="0">
                <a:solidFill>
                  <a:srgbClr val="3D3935"/>
                </a:solidFill>
                <a:latin typeface="Calibir"/>
              </a:rPr>
              <a:t>)</a:t>
            </a:r>
            <a:endParaRPr lang="en-US" sz="2800" dirty="0"/>
          </a:p>
        </p:txBody>
      </p:sp>
      <p:sp>
        <p:nvSpPr>
          <p:cNvPr id="12" name="TextBox 11">
            <a:extLst>
              <a:ext uri="{FF2B5EF4-FFF2-40B4-BE49-F238E27FC236}">
                <a16:creationId xmlns:a16="http://schemas.microsoft.com/office/drawing/2014/main" id="{4C8D5005-7120-B421-5D26-4254BE1B5171}"/>
              </a:ext>
            </a:extLst>
          </p:cNvPr>
          <p:cNvSpPr txBox="1"/>
          <p:nvPr/>
        </p:nvSpPr>
        <p:spPr>
          <a:xfrm>
            <a:off x="0" y="3772398"/>
            <a:ext cx="9144000" cy="1318181"/>
          </a:xfrm>
          <a:prstGeom prst="rect">
            <a:avLst/>
          </a:prstGeom>
          <a:noFill/>
        </p:spPr>
        <p:txBody>
          <a:bodyPr wrap="square">
            <a:spAutoFit/>
          </a:bodyPr>
          <a:lstStyle/>
          <a:p>
            <a:pPr>
              <a:lnSpc>
                <a:spcPct val="150000"/>
              </a:lnSpc>
            </a:pPr>
            <a:r>
              <a:rPr lang="en-US" sz="2800" dirty="0">
                <a:latin typeface="Calibir"/>
              </a:rPr>
              <a:t>DATEDIFF calculates how many days passed between order and due dates — helpful to measure delivery lead time.</a:t>
            </a:r>
          </a:p>
        </p:txBody>
      </p:sp>
      <p:sp>
        <p:nvSpPr>
          <p:cNvPr id="5" name="TextBox 4">
            <a:extLst>
              <a:ext uri="{FF2B5EF4-FFF2-40B4-BE49-F238E27FC236}">
                <a16:creationId xmlns:a16="http://schemas.microsoft.com/office/drawing/2014/main" id="{DF1017E4-123C-A9B8-D875-14554D496CC6}"/>
              </a:ext>
            </a:extLst>
          </p:cNvPr>
          <p:cNvSpPr txBox="1"/>
          <p:nvPr/>
        </p:nvSpPr>
        <p:spPr>
          <a:xfrm>
            <a:off x="0" y="2071861"/>
            <a:ext cx="9144000" cy="1107996"/>
          </a:xfrm>
          <a:prstGeom prst="rect">
            <a:avLst/>
          </a:prstGeom>
          <a:solidFill>
            <a:schemeClr val="accent4">
              <a:lumMod val="90000"/>
              <a:lumOff val="10000"/>
            </a:schemeClr>
          </a:solidFill>
        </p:spPr>
        <p:txBody>
          <a:bodyPr wrap="square">
            <a:spAutoFit/>
          </a:bodyPr>
          <a:lstStyle/>
          <a:p>
            <a:pPr>
              <a:buNone/>
            </a:pPr>
            <a:r>
              <a:rPr lang="en-US" sz="2200" b="0" dirty="0">
                <a:solidFill>
                  <a:srgbClr val="569CD6"/>
                </a:solidFill>
                <a:effectLst/>
                <a:latin typeface="Consolas" panose="020B0609020204030204" pitchFamily="49" charset="0"/>
              </a:rPr>
              <a:t>SELECT</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OrderDate</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DueDate</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DATEDIFF(day, </a:t>
            </a:r>
            <a:r>
              <a:rPr lang="en-US" sz="2200" b="0" dirty="0" err="1">
                <a:solidFill>
                  <a:srgbClr val="CCCCCC"/>
                </a:solidFill>
                <a:effectLst/>
                <a:latin typeface="Consolas" panose="020B0609020204030204" pitchFamily="49" charset="0"/>
              </a:rPr>
              <a:t>OrderDate</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DueDate</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AS</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DaysDifference</a:t>
            </a:r>
            <a:endParaRPr lang="en-US" sz="2200" b="0" dirty="0">
              <a:solidFill>
                <a:srgbClr val="CCCCCC"/>
              </a:solidFill>
              <a:effectLst/>
              <a:latin typeface="Consolas" panose="020B0609020204030204" pitchFamily="49" charset="0"/>
            </a:endParaRPr>
          </a:p>
          <a:p>
            <a:pPr>
              <a:buNone/>
            </a:pPr>
            <a:r>
              <a:rPr lang="en-US" sz="2200" b="0" dirty="0">
                <a:solidFill>
                  <a:srgbClr val="569CD6"/>
                </a:solidFill>
                <a:effectLst/>
                <a:latin typeface="Consolas" panose="020B0609020204030204" pitchFamily="49" charset="0"/>
              </a:rPr>
              <a:t>FROM</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SalesLT.SalesOrderHeader</a:t>
            </a:r>
            <a:r>
              <a:rPr lang="en-US" sz="22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6813899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10A1D9A-62A5-6379-E676-11E0D03C73A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2F8B06B-F5D6-6645-3AA3-C9D80AB969D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206BD8C-61EE-1000-C67F-D954E02DF270}"/>
              </a:ext>
            </a:extLst>
          </p:cNvPr>
          <p:cNvSpPr>
            <a:spLocks noGrp="1"/>
          </p:cNvSpPr>
          <p:nvPr>
            <p:ph type="sldNum" sz="quarter" idx="4"/>
          </p:nvPr>
        </p:nvSpPr>
        <p:spPr/>
        <p:txBody>
          <a:bodyPr/>
          <a:lstStyle/>
          <a:p>
            <a:fld id="{16A89BA3-132D-40E1-AAB4-CDCD0A14C216}" type="slidenum">
              <a:rPr lang="en-AU" smtClean="0"/>
              <a:pPr/>
              <a:t>76</a:t>
            </a:fld>
            <a:r>
              <a:rPr lang="en-AU"/>
              <a:t>  |</a:t>
            </a:r>
            <a:endParaRPr lang="en-AU" dirty="0"/>
          </a:p>
        </p:txBody>
      </p:sp>
      <p:sp>
        <p:nvSpPr>
          <p:cNvPr id="5" name="TextBox 4">
            <a:extLst>
              <a:ext uri="{FF2B5EF4-FFF2-40B4-BE49-F238E27FC236}">
                <a16:creationId xmlns:a16="http://schemas.microsoft.com/office/drawing/2014/main" id="{8955D925-0F4E-CA83-DE1A-64A7AF7FE79B}"/>
              </a:ext>
            </a:extLst>
          </p:cNvPr>
          <p:cNvSpPr txBox="1"/>
          <p:nvPr/>
        </p:nvSpPr>
        <p:spPr>
          <a:xfrm>
            <a:off x="0" y="0"/>
            <a:ext cx="9144000" cy="1107996"/>
          </a:xfrm>
          <a:prstGeom prst="rect">
            <a:avLst/>
          </a:prstGeom>
          <a:solidFill>
            <a:schemeClr val="accent4">
              <a:lumMod val="90000"/>
              <a:lumOff val="10000"/>
            </a:schemeClr>
          </a:solidFill>
        </p:spPr>
        <p:txBody>
          <a:bodyPr wrap="square">
            <a:spAutoFit/>
          </a:bodyPr>
          <a:lstStyle/>
          <a:p>
            <a:pPr>
              <a:buNone/>
            </a:pPr>
            <a:r>
              <a:rPr lang="en-US" sz="2200" b="0" dirty="0">
                <a:solidFill>
                  <a:srgbClr val="569CD6"/>
                </a:solidFill>
                <a:effectLst/>
                <a:latin typeface="Consolas" panose="020B0609020204030204" pitchFamily="49" charset="0"/>
              </a:rPr>
              <a:t>SELECT</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OrderDate</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DueDate</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DATEDIFF(day, </a:t>
            </a:r>
            <a:r>
              <a:rPr lang="en-US" sz="2200" b="0" dirty="0" err="1">
                <a:solidFill>
                  <a:srgbClr val="CCCCCC"/>
                </a:solidFill>
                <a:effectLst/>
                <a:latin typeface="Consolas" panose="020B0609020204030204" pitchFamily="49" charset="0"/>
              </a:rPr>
              <a:t>OrderDate</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DueDate</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AS</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DaysDifference</a:t>
            </a:r>
            <a:endParaRPr lang="en-US" sz="2200" b="0" dirty="0">
              <a:solidFill>
                <a:srgbClr val="CCCCCC"/>
              </a:solidFill>
              <a:effectLst/>
              <a:latin typeface="Consolas" panose="020B0609020204030204" pitchFamily="49" charset="0"/>
            </a:endParaRPr>
          </a:p>
          <a:p>
            <a:pPr>
              <a:buNone/>
            </a:pPr>
            <a:r>
              <a:rPr lang="en-US" sz="2200" b="0" dirty="0">
                <a:solidFill>
                  <a:srgbClr val="569CD6"/>
                </a:solidFill>
                <a:effectLst/>
                <a:latin typeface="Consolas" panose="020B0609020204030204" pitchFamily="49" charset="0"/>
              </a:rPr>
              <a:t>FROM</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SalesLT.SalesOrderHeader</a:t>
            </a:r>
            <a:r>
              <a:rPr lang="en-US" sz="22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EF61ABF2-E5F3-9664-73B6-87EADF3E2D00}"/>
              </a:ext>
            </a:extLst>
          </p:cNvPr>
          <p:cNvGraphicFramePr>
            <a:graphicFrameLocks noGrp="1"/>
          </p:cNvGraphicFramePr>
          <p:nvPr>
            <p:extLst>
              <p:ext uri="{D42A27DB-BD31-4B8C-83A1-F6EECF244321}">
                <p14:modId xmlns:p14="http://schemas.microsoft.com/office/powerpoint/2010/main" val="4030216191"/>
              </p:ext>
            </p:extLst>
          </p:nvPr>
        </p:nvGraphicFramePr>
        <p:xfrm>
          <a:off x="0" y="1107996"/>
          <a:ext cx="9144000" cy="4048396"/>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619446201"/>
                    </a:ext>
                  </a:extLst>
                </a:gridCol>
                <a:gridCol w="3048000">
                  <a:extLst>
                    <a:ext uri="{9D8B030D-6E8A-4147-A177-3AD203B41FA5}">
                      <a16:colId xmlns:a16="http://schemas.microsoft.com/office/drawing/2014/main" val="3740990895"/>
                    </a:ext>
                  </a:extLst>
                </a:gridCol>
                <a:gridCol w="3048000">
                  <a:extLst>
                    <a:ext uri="{9D8B030D-6E8A-4147-A177-3AD203B41FA5}">
                      <a16:colId xmlns:a16="http://schemas.microsoft.com/office/drawing/2014/main" val="2739933737"/>
                    </a:ext>
                  </a:extLst>
                </a:gridCol>
              </a:tblGrid>
              <a:tr h="488392">
                <a:tc>
                  <a:txBody>
                    <a:bodyPr/>
                    <a:lstStyle/>
                    <a:p>
                      <a:pPr>
                        <a:buNone/>
                      </a:pPr>
                      <a:r>
                        <a:rPr lang="en-US" sz="2200" b="0">
                          <a:latin typeface="Calibir"/>
                        </a:rPr>
                        <a:t>Part</a:t>
                      </a:r>
                    </a:p>
                  </a:txBody>
                  <a:tcPr marL="69069" marR="69069" marT="34534" marB="34534" anchor="ctr"/>
                </a:tc>
                <a:tc>
                  <a:txBody>
                    <a:bodyPr/>
                    <a:lstStyle/>
                    <a:p>
                      <a:pPr>
                        <a:buNone/>
                      </a:pPr>
                      <a:r>
                        <a:rPr lang="en-US" sz="2200" b="0">
                          <a:latin typeface="Calibir"/>
                        </a:rPr>
                        <a:t>Meaning</a:t>
                      </a:r>
                    </a:p>
                  </a:txBody>
                  <a:tcPr marL="69069" marR="69069" marT="34534" marB="34534" anchor="ctr"/>
                </a:tc>
                <a:tc>
                  <a:txBody>
                    <a:bodyPr/>
                    <a:lstStyle/>
                    <a:p>
                      <a:pPr>
                        <a:buNone/>
                      </a:pPr>
                      <a:r>
                        <a:rPr lang="en-US" sz="2200" b="0">
                          <a:latin typeface="Calibir"/>
                        </a:rPr>
                        <a:t>Example</a:t>
                      </a:r>
                    </a:p>
                  </a:txBody>
                  <a:tcPr marL="69069" marR="69069" marT="34534" marB="34534" anchor="ctr"/>
                </a:tc>
                <a:extLst>
                  <a:ext uri="{0D108BD9-81ED-4DB2-BD59-A6C34878D82A}">
                    <a16:rowId xmlns:a16="http://schemas.microsoft.com/office/drawing/2014/main" val="4292588993"/>
                  </a:ext>
                </a:extLst>
              </a:tr>
              <a:tr h="0">
                <a:tc>
                  <a:txBody>
                    <a:bodyPr/>
                    <a:lstStyle/>
                    <a:p>
                      <a:pPr>
                        <a:buNone/>
                      </a:pPr>
                      <a:r>
                        <a:rPr lang="en-US" sz="2200" b="0">
                          <a:latin typeface="Calibir"/>
                        </a:rPr>
                        <a:t>SELECT</a:t>
                      </a:r>
                    </a:p>
                  </a:txBody>
                  <a:tcPr marL="69069" marR="69069" marT="34534" marB="34534" anchor="ctr"/>
                </a:tc>
                <a:tc>
                  <a:txBody>
                    <a:bodyPr/>
                    <a:lstStyle/>
                    <a:p>
                      <a:pPr>
                        <a:buNone/>
                      </a:pPr>
                      <a:r>
                        <a:rPr lang="en-US" sz="2200" b="0" dirty="0">
                          <a:latin typeface="Calibir"/>
                        </a:rPr>
                        <a:t>Chooses what data to show.</a:t>
                      </a:r>
                    </a:p>
                  </a:txBody>
                  <a:tcPr marL="69069" marR="69069" marT="34534" marB="34534" anchor="ctr"/>
                </a:tc>
                <a:tc>
                  <a:txBody>
                    <a:bodyPr/>
                    <a:lstStyle/>
                    <a:p>
                      <a:pPr>
                        <a:buNone/>
                      </a:pPr>
                      <a:r>
                        <a:rPr lang="en-US" sz="2200" b="0" dirty="0">
                          <a:latin typeface="Calibir"/>
                        </a:rPr>
                        <a:t>“Show me order date, due date, and how many days between them.”</a:t>
                      </a:r>
                    </a:p>
                  </a:txBody>
                  <a:tcPr marL="69069" marR="69069" marT="34534" marB="34534" anchor="ctr"/>
                </a:tc>
                <a:extLst>
                  <a:ext uri="{0D108BD9-81ED-4DB2-BD59-A6C34878D82A}">
                    <a16:rowId xmlns:a16="http://schemas.microsoft.com/office/drawing/2014/main" val="3023058216"/>
                  </a:ext>
                </a:extLst>
              </a:tr>
              <a:tr h="0">
                <a:tc>
                  <a:txBody>
                    <a:bodyPr/>
                    <a:lstStyle/>
                    <a:p>
                      <a:pPr>
                        <a:buNone/>
                      </a:pPr>
                      <a:r>
                        <a:rPr lang="en-US" sz="2200" b="0">
                          <a:latin typeface="Calibir"/>
                        </a:rPr>
                        <a:t>OrderDate, DueDate</a:t>
                      </a:r>
                    </a:p>
                  </a:txBody>
                  <a:tcPr marL="69069" marR="69069" marT="34534" marB="34534" anchor="ctr"/>
                </a:tc>
                <a:tc>
                  <a:txBody>
                    <a:bodyPr/>
                    <a:lstStyle/>
                    <a:p>
                      <a:pPr>
                        <a:buNone/>
                      </a:pPr>
                      <a:r>
                        <a:rPr lang="en-US" sz="2200" b="0">
                          <a:latin typeface="Calibir"/>
                        </a:rPr>
                        <a:t>These are the columns showing when an order was made and when it’s due.</a:t>
                      </a:r>
                    </a:p>
                  </a:txBody>
                  <a:tcPr marL="69069" marR="69069" marT="34534" marB="34534" anchor="ctr"/>
                </a:tc>
                <a:tc>
                  <a:txBody>
                    <a:bodyPr/>
                    <a:lstStyle/>
                    <a:p>
                      <a:pPr>
                        <a:buNone/>
                      </a:pPr>
                      <a:r>
                        <a:rPr lang="en-US" sz="2200" b="0">
                          <a:latin typeface="Calibir"/>
                        </a:rPr>
                        <a:t>e.g., 2025-03-01 and 2025-03-10.</a:t>
                      </a:r>
                    </a:p>
                  </a:txBody>
                  <a:tcPr marL="69069" marR="69069" marT="34534" marB="34534" anchor="ctr"/>
                </a:tc>
                <a:extLst>
                  <a:ext uri="{0D108BD9-81ED-4DB2-BD59-A6C34878D82A}">
                    <a16:rowId xmlns:a16="http://schemas.microsoft.com/office/drawing/2014/main" val="1049275199"/>
                  </a:ext>
                </a:extLst>
              </a:tr>
              <a:tr h="0">
                <a:tc>
                  <a:txBody>
                    <a:bodyPr/>
                    <a:lstStyle/>
                    <a:p>
                      <a:pPr>
                        <a:buNone/>
                      </a:pPr>
                      <a:r>
                        <a:rPr lang="en-US" sz="2200" b="0">
                          <a:latin typeface="Calibir"/>
                        </a:rPr>
                        <a:t>DATEDIFF(day, OrderDate, DueDate)</a:t>
                      </a:r>
                    </a:p>
                  </a:txBody>
                  <a:tcPr marL="69069" marR="69069" marT="34534" marB="34534" anchor="ctr"/>
                </a:tc>
                <a:tc>
                  <a:txBody>
                    <a:bodyPr/>
                    <a:lstStyle/>
                    <a:p>
                      <a:pPr>
                        <a:buNone/>
                      </a:pPr>
                      <a:r>
                        <a:rPr lang="en-US" sz="2200" b="0">
                          <a:latin typeface="Calibir"/>
                        </a:rPr>
                        <a:t>Calculates the number of days between the two dates.</a:t>
                      </a:r>
                    </a:p>
                  </a:txBody>
                  <a:tcPr marL="69069" marR="69069" marT="34534" marB="34534" anchor="ctr"/>
                </a:tc>
                <a:tc>
                  <a:txBody>
                    <a:bodyPr/>
                    <a:lstStyle/>
                    <a:p>
                      <a:pPr>
                        <a:buNone/>
                      </a:pPr>
                      <a:r>
                        <a:rPr lang="en-US" sz="2200" b="0" dirty="0">
                          <a:latin typeface="Calibir"/>
                        </a:rPr>
                        <a:t>Example: 10 - 1 = 9 days difference.</a:t>
                      </a:r>
                    </a:p>
                  </a:txBody>
                  <a:tcPr marL="69069" marR="69069" marT="34534" marB="34534" anchor="ctr"/>
                </a:tc>
                <a:extLst>
                  <a:ext uri="{0D108BD9-81ED-4DB2-BD59-A6C34878D82A}">
                    <a16:rowId xmlns:a16="http://schemas.microsoft.com/office/drawing/2014/main" val="1274507959"/>
                  </a:ext>
                </a:extLst>
              </a:tr>
            </a:tbl>
          </a:graphicData>
        </a:graphic>
      </p:graphicFrame>
    </p:spTree>
    <p:extLst>
      <p:ext uri="{BB962C8B-B14F-4D97-AF65-F5344CB8AC3E}">
        <p14:creationId xmlns:p14="http://schemas.microsoft.com/office/powerpoint/2010/main" val="1388802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2DE15A8-AD5C-E2F7-2474-683E13939AA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B55EA7A-206E-FC68-7640-04DDA3F3741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94014F4-F662-808C-9B92-F1AF6CC32C00}"/>
              </a:ext>
            </a:extLst>
          </p:cNvPr>
          <p:cNvSpPr>
            <a:spLocks noGrp="1"/>
          </p:cNvSpPr>
          <p:nvPr>
            <p:ph type="sldNum" sz="quarter" idx="4"/>
          </p:nvPr>
        </p:nvSpPr>
        <p:spPr/>
        <p:txBody>
          <a:bodyPr/>
          <a:lstStyle/>
          <a:p>
            <a:fld id="{16A89BA3-132D-40E1-AAB4-CDCD0A14C216}" type="slidenum">
              <a:rPr lang="en-AU" smtClean="0"/>
              <a:pPr/>
              <a:t>77</a:t>
            </a:fld>
            <a:r>
              <a:rPr lang="en-AU"/>
              <a:t>  |</a:t>
            </a:r>
            <a:endParaRPr lang="en-AU" dirty="0"/>
          </a:p>
        </p:txBody>
      </p:sp>
      <p:sp>
        <p:nvSpPr>
          <p:cNvPr id="5" name="TextBox 4">
            <a:extLst>
              <a:ext uri="{FF2B5EF4-FFF2-40B4-BE49-F238E27FC236}">
                <a16:creationId xmlns:a16="http://schemas.microsoft.com/office/drawing/2014/main" id="{5F6DCA9C-3BA0-37AF-739E-A6DB4F610D07}"/>
              </a:ext>
            </a:extLst>
          </p:cNvPr>
          <p:cNvSpPr txBox="1"/>
          <p:nvPr/>
        </p:nvSpPr>
        <p:spPr>
          <a:xfrm>
            <a:off x="0" y="0"/>
            <a:ext cx="9144000" cy="1107996"/>
          </a:xfrm>
          <a:prstGeom prst="rect">
            <a:avLst/>
          </a:prstGeom>
          <a:solidFill>
            <a:schemeClr val="accent4">
              <a:lumMod val="90000"/>
              <a:lumOff val="10000"/>
            </a:schemeClr>
          </a:solidFill>
        </p:spPr>
        <p:txBody>
          <a:bodyPr wrap="square">
            <a:spAutoFit/>
          </a:bodyPr>
          <a:lstStyle/>
          <a:p>
            <a:pPr>
              <a:buNone/>
            </a:pPr>
            <a:r>
              <a:rPr lang="en-US" sz="2200" b="0" dirty="0">
                <a:solidFill>
                  <a:srgbClr val="569CD6"/>
                </a:solidFill>
                <a:effectLst/>
                <a:latin typeface="Consolas" panose="020B0609020204030204" pitchFamily="49" charset="0"/>
              </a:rPr>
              <a:t>SELECT</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OrderDate</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DueDate</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DATEDIFF(day, </a:t>
            </a:r>
            <a:r>
              <a:rPr lang="en-US" sz="2200" b="0" dirty="0" err="1">
                <a:solidFill>
                  <a:srgbClr val="CCCCCC"/>
                </a:solidFill>
                <a:effectLst/>
                <a:latin typeface="Consolas" panose="020B0609020204030204" pitchFamily="49" charset="0"/>
              </a:rPr>
              <a:t>OrderDate</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DueDate</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AS</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DaysDifference</a:t>
            </a:r>
            <a:endParaRPr lang="en-US" sz="2200" b="0" dirty="0">
              <a:solidFill>
                <a:srgbClr val="CCCCCC"/>
              </a:solidFill>
              <a:effectLst/>
              <a:latin typeface="Consolas" panose="020B0609020204030204" pitchFamily="49" charset="0"/>
            </a:endParaRPr>
          </a:p>
          <a:p>
            <a:pPr>
              <a:buNone/>
            </a:pPr>
            <a:r>
              <a:rPr lang="en-US" sz="2200" b="0" dirty="0">
                <a:solidFill>
                  <a:srgbClr val="569CD6"/>
                </a:solidFill>
                <a:effectLst/>
                <a:latin typeface="Consolas" panose="020B0609020204030204" pitchFamily="49" charset="0"/>
              </a:rPr>
              <a:t>FROM</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SalesLT.SalesOrderHeader</a:t>
            </a:r>
            <a:r>
              <a:rPr lang="en-US" sz="2200" b="0" dirty="0">
                <a:solidFill>
                  <a:srgbClr val="CCCCCC"/>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040D440D-2571-DFC5-E3E1-5F70E97F87F8}"/>
              </a:ext>
            </a:extLst>
          </p:cNvPr>
          <p:cNvSpPr txBox="1"/>
          <p:nvPr/>
        </p:nvSpPr>
        <p:spPr>
          <a:xfrm>
            <a:off x="0" y="3600826"/>
            <a:ext cx="9144000" cy="3257174"/>
          </a:xfrm>
          <a:prstGeom prst="rect">
            <a:avLst/>
          </a:prstGeom>
          <a:solidFill>
            <a:schemeClr val="bg1"/>
          </a:solidFill>
        </p:spPr>
        <p:txBody>
          <a:bodyPr wrap="square">
            <a:spAutoFit/>
          </a:bodyPr>
          <a:lstStyle/>
          <a:p>
            <a:pPr>
              <a:lnSpc>
                <a:spcPct val="150000"/>
              </a:lnSpc>
            </a:pPr>
            <a:r>
              <a:rPr lang="en-US" sz="2800" dirty="0">
                <a:latin typeface="Calibir"/>
              </a:rPr>
              <a:t>In short:</a:t>
            </a:r>
            <a:br>
              <a:rPr lang="en-US" sz="2800" dirty="0">
                <a:latin typeface="Calibir"/>
              </a:rPr>
            </a:br>
            <a:r>
              <a:rPr lang="en-US" sz="2800" dirty="0">
                <a:latin typeface="Calibir"/>
              </a:rPr>
              <a:t>This query shows how many days passed between when an order was made and when it’s due. It’s like checking the number of days left until the payment or delivery deadline for each order.</a:t>
            </a:r>
          </a:p>
        </p:txBody>
      </p:sp>
      <p:graphicFrame>
        <p:nvGraphicFramePr>
          <p:cNvPr id="8" name="Table 7">
            <a:extLst>
              <a:ext uri="{FF2B5EF4-FFF2-40B4-BE49-F238E27FC236}">
                <a16:creationId xmlns:a16="http://schemas.microsoft.com/office/drawing/2014/main" id="{035E34CA-6576-2B87-CFC7-B7421B6AC1EC}"/>
              </a:ext>
            </a:extLst>
          </p:cNvPr>
          <p:cNvGraphicFramePr>
            <a:graphicFrameLocks noGrp="1"/>
          </p:cNvGraphicFramePr>
          <p:nvPr>
            <p:extLst>
              <p:ext uri="{D42A27DB-BD31-4B8C-83A1-F6EECF244321}">
                <p14:modId xmlns:p14="http://schemas.microsoft.com/office/powerpoint/2010/main" val="1196010516"/>
              </p:ext>
            </p:extLst>
          </p:nvPr>
        </p:nvGraphicFramePr>
        <p:xfrm>
          <a:off x="0" y="1107996"/>
          <a:ext cx="9144000" cy="2638208"/>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619446201"/>
                    </a:ext>
                  </a:extLst>
                </a:gridCol>
                <a:gridCol w="3048000">
                  <a:extLst>
                    <a:ext uri="{9D8B030D-6E8A-4147-A177-3AD203B41FA5}">
                      <a16:colId xmlns:a16="http://schemas.microsoft.com/office/drawing/2014/main" val="3740990895"/>
                    </a:ext>
                  </a:extLst>
                </a:gridCol>
                <a:gridCol w="3048000">
                  <a:extLst>
                    <a:ext uri="{9D8B030D-6E8A-4147-A177-3AD203B41FA5}">
                      <a16:colId xmlns:a16="http://schemas.microsoft.com/office/drawing/2014/main" val="2739933737"/>
                    </a:ext>
                  </a:extLst>
                </a:gridCol>
              </a:tblGrid>
              <a:tr h="488392">
                <a:tc>
                  <a:txBody>
                    <a:bodyPr/>
                    <a:lstStyle/>
                    <a:p>
                      <a:pPr>
                        <a:buNone/>
                      </a:pPr>
                      <a:r>
                        <a:rPr lang="en-US" sz="2200" b="0">
                          <a:latin typeface="Calibir"/>
                        </a:rPr>
                        <a:t>Part</a:t>
                      </a:r>
                    </a:p>
                  </a:txBody>
                  <a:tcPr marL="69069" marR="69069" marT="34534" marB="34534" anchor="ctr"/>
                </a:tc>
                <a:tc>
                  <a:txBody>
                    <a:bodyPr/>
                    <a:lstStyle/>
                    <a:p>
                      <a:pPr>
                        <a:buNone/>
                      </a:pPr>
                      <a:r>
                        <a:rPr lang="en-US" sz="2200" b="0">
                          <a:latin typeface="Calibir"/>
                        </a:rPr>
                        <a:t>Meaning</a:t>
                      </a:r>
                    </a:p>
                  </a:txBody>
                  <a:tcPr marL="69069" marR="69069" marT="34534" marB="34534" anchor="ctr"/>
                </a:tc>
                <a:tc>
                  <a:txBody>
                    <a:bodyPr/>
                    <a:lstStyle/>
                    <a:p>
                      <a:pPr>
                        <a:buNone/>
                      </a:pPr>
                      <a:r>
                        <a:rPr lang="en-US" sz="2200" b="0">
                          <a:latin typeface="Calibir"/>
                        </a:rPr>
                        <a:t>Example</a:t>
                      </a:r>
                    </a:p>
                  </a:txBody>
                  <a:tcPr marL="69069" marR="69069" marT="34534" marB="34534" anchor="ctr"/>
                </a:tc>
                <a:extLst>
                  <a:ext uri="{0D108BD9-81ED-4DB2-BD59-A6C34878D82A}">
                    <a16:rowId xmlns:a16="http://schemas.microsoft.com/office/drawing/2014/main" val="4292588993"/>
                  </a:ext>
                </a:extLst>
              </a:tr>
              <a:tr h="0">
                <a:tc>
                  <a:txBody>
                    <a:bodyPr/>
                    <a:lstStyle/>
                    <a:p>
                      <a:pPr>
                        <a:buNone/>
                      </a:pPr>
                      <a:r>
                        <a:rPr lang="en-US" sz="2200" b="0" dirty="0">
                          <a:latin typeface="Calibir"/>
                        </a:rPr>
                        <a:t>AS </a:t>
                      </a:r>
                      <a:r>
                        <a:rPr lang="en-US" sz="2200" b="0" dirty="0" err="1">
                          <a:latin typeface="Calibir"/>
                        </a:rPr>
                        <a:t>DaysDifference</a:t>
                      </a:r>
                      <a:endParaRPr lang="en-US" sz="2200" b="0" dirty="0">
                        <a:latin typeface="Calibir"/>
                      </a:endParaRPr>
                    </a:p>
                  </a:txBody>
                  <a:tcPr marL="69069" marR="69069" marT="34534" marB="34534" anchor="ctr"/>
                </a:tc>
                <a:tc>
                  <a:txBody>
                    <a:bodyPr/>
                    <a:lstStyle/>
                    <a:p>
                      <a:pPr>
                        <a:buNone/>
                      </a:pPr>
                      <a:r>
                        <a:rPr lang="en-US" sz="2200" b="0" dirty="0">
                          <a:latin typeface="Calibir"/>
                        </a:rPr>
                        <a:t>Gives a friendly name to the calculated column.</a:t>
                      </a:r>
                    </a:p>
                  </a:txBody>
                  <a:tcPr marL="69069" marR="69069" marT="34534" marB="34534" anchor="ctr"/>
                </a:tc>
                <a:tc>
                  <a:txBody>
                    <a:bodyPr/>
                    <a:lstStyle/>
                    <a:p>
                      <a:pPr>
                        <a:buNone/>
                      </a:pPr>
                      <a:r>
                        <a:rPr lang="en-US" sz="2200" b="0">
                          <a:latin typeface="Calibir"/>
                        </a:rPr>
                        <a:t>The result column will show as DaysDifference.</a:t>
                      </a:r>
                    </a:p>
                  </a:txBody>
                  <a:tcPr marL="69069" marR="69069" marT="34534" marB="34534" anchor="ctr"/>
                </a:tc>
                <a:extLst>
                  <a:ext uri="{0D108BD9-81ED-4DB2-BD59-A6C34878D82A}">
                    <a16:rowId xmlns:a16="http://schemas.microsoft.com/office/drawing/2014/main" val="3023058216"/>
                  </a:ext>
                </a:extLst>
              </a:tr>
              <a:tr h="0">
                <a:tc>
                  <a:txBody>
                    <a:bodyPr/>
                    <a:lstStyle/>
                    <a:p>
                      <a:pPr>
                        <a:buNone/>
                      </a:pPr>
                      <a:r>
                        <a:rPr lang="en-US" sz="2200" b="0" dirty="0">
                          <a:latin typeface="Calibir"/>
                        </a:rPr>
                        <a:t>FROM </a:t>
                      </a:r>
                      <a:r>
                        <a:rPr lang="en-US" sz="2200" b="0" dirty="0" err="1">
                          <a:latin typeface="Calibir"/>
                        </a:rPr>
                        <a:t>SalesLT.SalesOrderHeader</a:t>
                      </a:r>
                      <a:endParaRPr lang="en-US" sz="2200" b="0" dirty="0">
                        <a:latin typeface="Calibir"/>
                      </a:endParaRPr>
                    </a:p>
                  </a:txBody>
                  <a:tcPr marL="69069" marR="69069" marT="34534" marB="34534" anchor="ctr"/>
                </a:tc>
                <a:tc>
                  <a:txBody>
                    <a:bodyPr/>
                    <a:lstStyle/>
                    <a:p>
                      <a:pPr>
                        <a:buNone/>
                      </a:pPr>
                      <a:r>
                        <a:rPr lang="en-US" sz="2200" b="0" dirty="0">
                          <a:latin typeface="Calibir"/>
                        </a:rPr>
                        <a:t>Data comes from the </a:t>
                      </a:r>
                      <a:r>
                        <a:rPr lang="en-US" sz="2200" b="0" dirty="0" err="1">
                          <a:latin typeface="Calibir"/>
                        </a:rPr>
                        <a:t>SalesOrderHeader</a:t>
                      </a:r>
                      <a:r>
                        <a:rPr lang="en-US" sz="2200" b="0" dirty="0">
                          <a:latin typeface="Calibir"/>
                        </a:rPr>
                        <a:t> table (where order details are stored).</a:t>
                      </a:r>
                    </a:p>
                  </a:txBody>
                  <a:tcPr marL="69069" marR="69069" marT="34534" marB="34534" anchor="ctr"/>
                </a:tc>
                <a:tc>
                  <a:txBody>
                    <a:bodyPr/>
                    <a:lstStyle/>
                    <a:p>
                      <a:pPr>
                        <a:buNone/>
                      </a:pPr>
                      <a:r>
                        <a:rPr lang="en-US" sz="2200" b="0" dirty="0">
                          <a:latin typeface="Calibir"/>
                        </a:rPr>
                        <a:t>Each row = one order record.</a:t>
                      </a:r>
                    </a:p>
                  </a:txBody>
                  <a:tcPr marL="69069" marR="69069" marT="34534" marB="34534" anchor="ctr"/>
                </a:tc>
                <a:extLst>
                  <a:ext uri="{0D108BD9-81ED-4DB2-BD59-A6C34878D82A}">
                    <a16:rowId xmlns:a16="http://schemas.microsoft.com/office/drawing/2014/main" val="1049275199"/>
                  </a:ext>
                </a:extLst>
              </a:tr>
            </a:tbl>
          </a:graphicData>
        </a:graphic>
      </p:graphicFrame>
    </p:spTree>
    <p:extLst>
      <p:ext uri="{BB962C8B-B14F-4D97-AF65-F5344CB8AC3E}">
        <p14:creationId xmlns:p14="http://schemas.microsoft.com/office/powerpoint/2010/main" val="602728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421CAD1-A028-DF1A-3DE4-FA2C3458685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AC76A20-E9C3-5AFE-7E63-E3B07543CE8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5AAC9D8-E05C-8C17-5984-6D2FDDC94775}"/>
              </a:ext>
            </a:extLst>
          </p:cNvPr>
          <p:cNvSpPr>
            <a:spLocks noGrp="1"/>
          </p:cNvSpPr>
          <p:nvPr>
            <p:ph type="sldNum" sz="quarter" idx="4"/>
          </p:nvPr>
        </p:nvSpPr>
        <p:spPr/>
        <p:txBody>
          <a:bodyPr/>
          <a:lstStyle/>
          <a:p>
            <a:fld id="{16A89BA3-132D-40E1-AAB4-CDCD0A14C216}" type="slidenum">
              <a:rPr lang="en-AU" smtClean="0"/>
              <a:pPr/>
              <a:t>78</a:t>
            </a:fld>
            <a:r>
              <a:rPr lang="en-AU"/>
              <a:t>  |</a:t>
            </a:r>
            <a:endParaRPr lang="en-AU" dirty="0"/>
          </a:p>
        </p:txBody>
      </p:sp>
      <p:sp>
        <p:nvSpPr>
          <p:cNvPr id="9" name="Text Placeholder 3">
            <a:extLst>
              <a:ext uri="{FF2B5EF4-FFF2-40B4-BE49-F238E27FC236}">
                <a16:creationId xmlns:a16="http://schemas.microsoft.com/office/drawing/2014/main" id="{E3717088-2311-73CD-D886-8FE141F319EC}"/>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A2C240B-48AF-C7F4-DB7A-ABE190A97D22}"/>
              </a:ext>
            </a:extLst>
          </p:cNvPr>
          <p:cNvSpPr txBox="1"/>
          <p:nvPr/>
        </p:nvSpPr>
        <p:spPr>
          <a:xfrm>
            <a:off x="78058" y="624468"/>
            <a:ext cx="9065942" cy="523220"/>
          </a:xfrm>
          <a:prstGeom prst="rect">
            <a:avLst/>
          </a:prstGeom>
          <a:noFill/>
        </p:spPr>
        <p:txBody>
          <a:bodyPr wrap="square" rtlCol="0">
            <a:spAutoFit/>
          </a:bodyPr>
          <a:lstStyle/>
          <a:p>
            <a:r>
              <a:rPr lang="en-US" sz="2800" dirty="0">
                <a:latin typeface="Calibir"/>
              </a:rPr>
              <a:t>8.  Total products sold per </a:t>
            </a:r>
            <a:r>
              <a:rPr lang="en-US" sz="2800" dirty="0" err="1">
                <a:latin typeface="Calibir"/>
              </a:rPr>
              <a:t>ProductCategory</a:t>
            </a:r>
            <a:endParaRPr lang="en-US" sz="2800" dirty="0">
              <a:latin typeface="Calibir"/>
            </a:endParaRPr>
          </a:p>
        </p:txBody>
      </p:sp>
      <p:sp>
        <p:nvSpPr>
          <p:cNvPr id="11" name="TextBox 10">
            <a:extLst>
              <a:ext uri="{FF2B5EF4-FFF2-40B4-BE49-F238E27FC236}">
                <a16:creationId xmlns:a16="http://schemas.microsoft.com/office/drawing/2014/main" id="{2AC1E688-685F-F18B-1398-42C264A27C76}"/>
              </a:ext>
            </a:extLst>
          </p:cNvPr>
          <p:cNvSpPr txBox="1"/>
          <p:nvPr/>
        </p:nvSpPr>
        <p:spPr>
          <a:xfrm>
            <a:off x="0" y="1293434"/>
            <a:ext cx="8849710" cy="523220"/>
          </a:xfrm>
          <a:prstGeom prst="rect">
            <a:avLst/>
          </a:prstGeom>
          <a:noFill/>
        </p:spPr>
        <p:txBody>
          <a:bodyPr wrap="square">
            <a:spAutoFit/>
          </a:bodyPr>
          <a:lstStyle/>
          <a:p>
            <a:r>
              <a:rPr lang="en-US" sz="2800" dirty="0">
                <a:solidFill>
                  <a:srgbClr val="3D3935"/>
                </a:solidFill>
                <a:latin typeface="Calibir"/>
              </a:rPr>
              <a:t>Take a screenshot) Shift + Enter (Or click </a:t>
            </a:r>
            <a:r>
              <a:rPr lang="en-US" sz="2800" dirty="0">
                <a:solidFill>
                  <a:srgbClr val="3D3935"/>
                </a:solidFill>
                <a:highlight>
                  <a:srgbClr val="FFFF00"/>
                </a:highlight>
                <a:latin typeface="Calibir"/>
              </a:rPr>
              <a:t>Run</a:t>
            </a:r>
            <a:r>
              <a:rPr lang="en-US" sz="2800" dirty="0">
                <a:solidFill>
                  <a:srgbClr val="3D3935"/>
                </a:solidFill>
                <a:latin typeface="Calibir"/>
              </a:rPr>
              <a:t>)</a:t>
            </a:r>
            <a:endParaRPr lang="en-US" sz="2800" dirty="0"/>
          </a:p>
        </p:txBody>
      </p:sp>
      <p:sp>
        <p:nvSpPr>
          <p:cNvPr id="6" name="TextBox 5">
            <a:extLst>
              <a:ext uri="{FF2B5EF4-FFF2-40B4-BE49-F238E27FC236}">
                <a16:creationId xmlns:a16="http://schemas.microsoft.com/office/drawing/2014/main" id="{08EF86FB-113F-CCF6-602F-95360687BCBA}"/>
              </a:ext>
            </a:extLst>
          </p:cNvPr>
          <p:cNvSpPr txBox="1"/>
          <p:nvPr/>
        </p:nvSpPr>
        <p:spPr>
          <a:xfrm>
            <a:off x="0" y="1816655"/>
            <a:ext cx="9144000" cy="2677656"/>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p.ProductCategoryID</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SUM(</a:t>
            </a:r>
            <a:r>
              <a:rPr lang="en-US" sz="2800" b="0" dirty="0" err="1">
                <a:solidFill>
                  <a:srgbClr val="CCCCCC"/>
                </a:solidFill>
                <a:effectLst/>
                <a:latin typeface="Consolas" panose="020B0609020204030204" pitchFamily="49" charset="0"/>
              </a:rPr>
              <a:t>sod.OrderQty</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TotalSold</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SalesLT.SalesOrderDetail</a:t>
            </a:r>
            <a:r>
              <a:rPr lang="en-US" sz="2800" b="0" dirty="0">
                <a:solidFill>
                  <a:srgbClr val="CCCCCC"/>
                </a:solidFill>
                <a:effectLst/>
                <a:latin typeface="Consolas" panose="020B0609020204030204" pitchFamily="49" charset="0"/>
              </a:rPr>
              <a:t> sod</a:t>
            </a:r>
          </a:p>
          <a:p>
            <a:pPr>
              <a:buNone/>
            </a:pPr>
            <a:r>
              <a:rPr lang="en-US" sz="2800" b="0" dirty="0">
                <a:solidFill>
                  <a:srgbClr val="569CD6"/>
                </a:solidFill>
                <a:effectLst/>
                <a:latin typeface="Consolas" panose="020B0609020204030204" pitchFamily="49" charset="0"/>
              </a:rPr>
              <a:t>JOIN</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SalesLT.Product</a:t>
            </a:r>
            <a:r>
              <a:rPr lang="en-US" sz="2800" b="0" dirty="0">
                <a:solidFill>
                  <a:srgbClr val="CCCCCC"/>
                </a:solidFill>
                <a:effectLst/>
                <a:latin typeface="Consolas" panose="020B0609020204030204" pitchFamily="49" charset="0"/>
              </a:rPr>
              <a:t> p</a:t>
            </a:r>
          </a:p>
          <a:p>
            <a:pPr>
              <a:buNone/>
            </a:pP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ON</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sod.ProductID</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p.ProductID</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GROUP BY</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p.ProductCategoryID</a:t>
            </a:r>
            <a:r>
              <a:rPr lang="en-US" sz="2800" b="0" dirty="0">
                <a:solidFill>
                  <a:srgbClr val="CCCCCC"/>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C5244A30-4553-EC96-0E95-7D57E30AE586}"/>
              </a:ext>
            </a:extLst>
          </p:cNvPr>
          <p:cNvSpPr txBox="1"/>
          <p:nvPr/>
        </p:nvSpPr>
        <p:spPr>
          <a:xfrm>
            <a:off x="0" y="4583300"/>
            <a:ext cx="9144000" cy="1318181"/>
          </a:xfrm>
          <a:prstGeom prst="rect">
            <a:avLst/>
          </a:prstGeom>
          <a:noFill/>
        </p:spPr>
        <p:txBody>
          <a:bodyPr wrap="square">
            <a:spAutoFit/>
          </a:bodyPr>
          <a:lstStyle/>
          <a:p>
            <a:pPr>
              <a:lnSpc>
                <a:spcPct val="150000"/>
              </a:lnSpc>
            </a:pPr>
            <a:r>
              <a:rPr lang="en-US" sz="2800" dirty="0">
                <a:latin typeface="Calibir"/>
              </a:rPr>
              <a:t>Links products with their orders and adds up quantities to show how many items were sold per category.</a:t>
            </a:r>
          </a:p>
        </p:txBody>
      </p:sp>
    </p:spTree>
    <p:extLst>
      <p:ext uri="{BB962C8B-B14F-4D97-AF65-F5344CB8AC3E}">
        <p14:creationId xmlns:p14="http://schemas.microsoft.com/office/powerpoint/2010/main" val="12977534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928B10E-B807-5131-54C6-4AB371D6CDB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43A2301-B8CA-C1F8-0E29-E68A52AB9A8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7BBF6ED-FFD4-32EE-1135-851F3F8B633C}"/>
              </a:ext>
            </a:extLst>
          </p:cNvPr>
          <p:cNvSpPr>
            <a:spLocks noGrp="1"/>
          </p:cNvSpPr>
          <p:nvPr>
            <p:ph type="sldNum" sz="quarter" idx="4"/>
          </p:nvPr>
        </p:nvSpPr>
        <p:spPr/>
        <p:txBody>
          <a:bodyPr/>
          <a:lstStyle/>
          <a:p>
            <a:fld id="{16A89BA3-132D-40E1-AAB4-CDCD0A14C216}" type="slidenum">
              <a:rPr lang="en-AU" smtClean="0"/>
              <a:pPr/>
              <a:t>79</a:t>
            </a:fld>
            <a:r>
              <a:rPr lang="en-AU"/>
              <a:t>  |</a:t>
            </a:r>
            <a:endParaRPr lang="en-AU" dirty="0"/>
          </a:p>
        </p:txBody>
      </p:sp>
      <p:sp>
        <p:nvSpPr>
          <p:cNvPr id="6" name="TextBox 5">
            <a:extLst>
              <a:ext uri="{FF2B5EF4-FFF2-40B4-BE49-F238E27FC236}">
                <a16:creationId xmlns:a16="http://schemas.microsoft.com/office/drawing/2014/main" id="{F6579E45-5A09-9580-5C0D-A4CBC2F6D809}"/>
              </a:ext>
            </a:extLst>
          </p:cNvPr>
          <p:cNvSpPr txBox="1"/>
          <p:nvPr/>
        </p:nvSpPr>
        <p:spPr>
          <a:xfrm>
            <a:off x="0" y="0"/>
            <a:ext cx="9144000" cy="2677656"/>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p.ProductCategoryID</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SUM(</a:t>
            </a:r>
            <a:r>
              <a:rPr lang="en-US" sz="2800" b="0" dirty="0" err="1">
                <a:solidFill>
                  <a:srgbClr val="CCCCCC"/>
                </a:solidFill>
                <a:effectLst/>
                <a:latin typeface="Consolas" panose="020B0609020204030204" pitchFamily="49" charset="0"/>
              </a:rPr>
              <a:t>sod.OrderQty</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TotalSold</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SalesLT.SalesOrderDetail</a:t>
            </a:r>
            <a:r>
              <a:rPr lang="en-US" sz="2800" b="0" dirty="0">
                <a:solidFill>
                  <a:srgbClr val="CCCCCC"/>
                </a:solidFill>
                <a:effectLst/>
                <a:latin typeface="Consolas" panose="020B0609020204030204" pitchFamily="49" charset="0"/>
              </a:rPr>
              <a:t> sod</a:t>
            </a:r>
          </a:p>
          <a:p>
            <a:pPr>
              <a:buNone/>
            </a:pPr>
            <a:r>
              <a:rPr lang="en-US" sz="2800" b="0" dirty="0">
                <a:solidFill>
                  <a:srgbClr val="569CD6"/>
                </a:solidFill>
                <a:effectLst/>
                <a:latin typeface="Consolas" panose="020B0609020204030204" pitchFamily="49" charset="0"/>
              </a:rPr>
              <a:t>JOIN</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SalesLT.Product</a:t>
            </a:r>
            <a:r>
              <a:rPr lang="en-US" sz="2800" b="0" dirty="0">
                <a:solidFill>
                  <a:srgbClr val="CCCCCC"/>
                </a:solidFill>
                <a:effectLst/>
                <a:latin typeface="Consolas" panose="020B0609020204030204" pitchFamily="49" charset="0"/>
              </a:rPr>
              <a:t> p</a:t>
            </a:r>
          </a:p>
          <a:p>
            <a:pPr>
              <a:buNone/>
            </a:pP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ON</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sod.ProductID</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p.ProductID</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GROUP BY</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p.ProductCategoryID</a:t>
            </a:r>
            <a:r>
              <a:rPr lang="en-US" sz="28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C3CFCB77-2EC5-AEC8-54D2-7192D34D8025}"/>
              </a:ext>
            </a:extLst>
          </p:cNvPr>
          <p:cNvGraphicFramePr>
            <a:graphicFrameLocks noGrp="1"/>
          </p:cNvGraphicFramePr>
          <p:nvPr>
            <p:extLst>
              <p:ext uri="{D42A27DB-BD31-4B8C-83A1-F6EECF244321}">
                <p14:modId xmlns:p14="http://schemas.microsoft.com/office/powerpoint/2010/main" val="4216666029"/>
              </p:ext>
            </p:extLst>
          </p:nvPr>
        </p:nvGraphicFramePr>
        <p:xfrm>
          <a:off x="1" y="2677656"/>
          <a:ext cx="9144000" cy="3563028"/>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934796065"/>
                    </a:ext>
                  </a:extLst>
                </a:gridCol>
                <a:gridCol w="3048000">
                  <a:extLst>
                    <a:ext uri="{9D8B030D-6E8A-4147-A177-3AD203B41FA5}">
                      <a16:colId xmlns:a16="http://schemas.microsoft.com/office/drawing/2014/main" val="2371293604"/>
                    </a:ext>
                  </a:extLst>
                </a:gridCol>
                <a:gridCol w="3048000">
                  <a:extLst>
                    <a:ext uri="{9D8B030D-6E8A-4147-A177-3AD203B41FA5}">
                      <a16:colId xmlns:a16="http://schemas.microsoft.com/office/drawing/2014/main" val="1722741027"/>
                    </a:ext>
                  </a:extLst>
                </a:gridCol>
              </a:tblGrid>
              <a:tr h="400464">
                <a:tc>
                  <a:txBody>
                    <a:bodyPr/>
                    <a:lstStyle/>
                    <a:p>
                      <a:pPr>
                        <a:buNone/>
                      </a:pPr>
                      <a:r>
                        <a:rPr lang="en-US" sz="2200">
                          <a:latin typeface="Calibir"/>
                        </a:rPr>
                        <a:t>Part</a:t>
                      </a:r>
                    </a:p>
                  </a:txBody>
                  <a:tcPr marL="48348" marR="48348" marT="24174" marB="24174" anchor="ctr"/>
                </a:tc>
                <a:tc>
                  <a:txBody>
                    <a:bodyPr/>
                    <a:lstStyle/>
                    <a:p>
                      <a:pPr>
                        <a:buNone/>
                      </a:pPr>
                      <a:r>
                        <a:rPr lang="en-US" sz="2200">
                          <a:latin typeface="Calibir"/>
                        </a:rPr>
                        <a:t>Meaning</a:t>
                      </a:r>
                    </a:p>
                  </a:txBody>
                  <a:tcPr marL="48348" marR="48348" marT="24174" marB="24174" anchor="ctr"/>
                </a:tc>
                <a:tc>
                  <a:txBody>
                    <a:bodyPr/>
                    <a:lstStyle/>
                    <a:p>
                      <a:pPr>
                        <a:buNone/>
                      </a:pPr>
                      <a:r>
                        <a:rPr lang="en-US" sz="2200">
                          <a:latin typeface="Calibir"/>
                        </a:rPr>
                        <a:t>Example</a:t>
                      </a:r>
                    </a:p>
                  </a:txBody>
                  <a:tcPr marL="48348" marR="48348" marT="24174" marB="24174" anchor="ctr"/>
                </a:tc>
                <a:extLst>
                  <a:ext uri="{0D108BD9-81ED-4DB2-BD59-A6C34878D82A}">
                    <a16:rowId xmlns:a16="http://schemas.microsoft.com/office/drawing/2014/main" val="25834274"/>
                  </a:ext>
                </a:extLst>
              </a:tr>
              <a:tr h="0">
                <a:tc>
                  <a:txBody>
                    <a:bodyPr/>
                    <a:lstStyle/>
                    <a:p>
                      <a:pPr>
                        <a:buNone/>
                      </a:pPr>
                      <a:r>
                        <a:rPr lang="en-US" sz="2200" b="1">
                          <a:latin typeface="Calibir"/>
                        </a:rPr>
                        <a:t>SELECT</a:t>
                      </a:r>
                      <a:endParaRPr lang="en-US" sz="2200">
                        <a:latin typeface="Calibir"/>
                      </a:endParaRPr>
                    </a:p>
                  </a:txBody>
                  <a:tcPr marL="48348" marR="48348" marT="24174" marB="24174" anchor="ctr"/>
                </a:tc>
                <a:tc>
                  <a:txBody>
                    <a:bodyPr/>
                    <a:lstStyle/>
                    <a:p>
                      <a:pPr>
                        <a:buNone/>
                      </a:pPr>
                      <a:r>
                        <a:rPr lang="en-US" sz="2200">
                          <a:latin typeface="Calibir"/>
                        </a:rPr>
                        <a:t>Chooses which information to show.</a:t>
                      </a:r>
                    </a:p>
                  </a:txBody>
                  <a:tcPr marL="48348" marR="48348" marT="24174" marB="24174" anchor="ctr"/>
                </a:tc>
                <a:tc>
                  <a:txBody>
                    <a:bodyPr/>
                    <a:lstStyle/>
                    <a:p>
                      <a:pPr>
                        <a:buNone/>
                      </a:pPr>
                      <a:r>
                        <a:rPr lang="en-US" sz="2200">
                          <a:latin typeface="Calibir"/>
                        </a:rPr>
                        <a:t>“Show each product category and total items sold.”</a:t>
                      </a:r>
                    </a:p>
                  </a:txBody>
                  <a:tcPr marL="48348" marR="48348" marT="24174" marB="24174" anchor="ctr"/>
                </a:tc>
                <a:extLst>
                  <a:ext uri="{0D108BD9-81ED-4DB2-BD59-A6C34878D82A}">
                    <a16:rowId xmlns:a16="http://schemas.microsoft.com/office/drawing/2014/main" val="3517497696"/>
                  </a:ext>
                </a:extLst>
              </a:tr>
              <a:tr h="0">
                <a:tc>
                  <a:txBody>
                    <a:bodyPr/>
                    <a:lstStyle/>
                    <a:p>
                      <a:pPr>
                        <a:buNone/>
                      </a:pPr>
                      <a:r>
                        <a:rPr lang="en-US" sz="2200" b="1">
                          <a:latin typeface="Calibir"/>
                        </a:rPr>
                        <a:t>p.ProductCategoryID</a:t>
                      </a:r>
                      <a:endParaRPr lang="en-US" sz="2200">
                        <a:latin typeface="Calibir"/>
                      </a:endParaRPr>
                    </a:p>
                  </a:txBody>
                  <a:tcPr marL="48348" marR="48348" marT="24174" marB="24174" anchor="ctr"/>
                </a:tc>
                <a:tc>
                  <a:txBody>
                    <a:bodyPr/>
                    <a:lstStyle/>
                    <a:p>
                      <a:pPr>
                        <a:buNone/>
                      </a:pPr>
                      <a:r>
                        <a:rPr lang="en-US" sz="2200">
                          <a:latin typeface="Calibir"/>
                        </a:rPr>
                        <a:t>Refers to the category each product belongs to (from the Product table).</a:t>
                      </a:r>
                    </a:p>
                  </a:txBody>
                  <a:tcPr marL="48348" marR="48348" marT="24174" marB="24174" anchor="ctr"/>
                </a:tc>
                <a:tc>
                  <a:txBody>
                    <a:bodyPr/>
                    <a:lstStyle/>
                    <a:p>
                      <a:pPr>
                        <a:buNone/>
                      </a:pPr>
                      <a:r>
                        <a:rPr lang="en-US" sz="2200">
                          <a:latin typeface="Calibir"/>
                        </a:rPr>
                        <a:t>e.g., Bikes, Helmets, Accessories.</a:t>
                      </a:r>
                    </a:p>
                  </a:txBody>
                  <a:tcPr marL="48348" marR="48348" marT="24174" marB="24174" anchor="ctr"/>
                </a:tc>
                <a:extLst>
                  <a:ext uri="{0D108BD9-81ED-4DB2-BD59-A6C34878D82A}">
                    <a16:rowId xmlns:a16="http://schemas.microsoft.com/office/drawing/2014/main" val="1468121014"/>
                  </a:ext>
                </a:extLst>
              </a:tr>
              <a:tr h="0">
                <a:tc>
                  <a:txBody>
                    <a:bodyPr/>
                    <a:lstStyle/>
                    <a:p>
                      <a:pPr>
                        <a:buNone/>
                      </a:pPr>
                      <a:r>
                        <a:rPr lang="en-US" sz="2200" b="1">
                          <a:latin typeface="Calibir"/>
                        </a:rPr>
                        <a:t>SUM(sod.OrderQty)</a:t>
                      </a:r>
                      <a:endParaRPr lang="en-US" sz="2200">
                        <a:latin typeface="Calibir"/>
                      </a:endParaRPr>
                    </a:p>
                  </a:txBody>
                  <a:tcPr marL="48348" marR="48348" marT="24174" marB="24174" anchor="ctr"/>
                </a:tc>
                <a:tc>
                  <a:txBody>
                    <a:bodyPr/>
                    <a:lstStyle/>
                    <a:p>
                      <a:pPr>
                        <a:buNone/>
                      </a:pPr>
                      <a:r>
                        <a:rPr lang="en-US" sz="2200">
                          <a:latin typeface="Calibir"/>
                        </a:rPr>
                        <a:t>Adds up the total number of items sold per category.</a:t>
                      </a:r>
                    </a:p>
                  </a:txBody>
                  <a:tcPr marL="48348" marR="48348" marT="24174" marB="24174" anchor="ctr"/>
                </a:tc>
                <a:tc>
                  <a:txBody>
                    <a:bodyPr/>
                    <a:lstStyle/>
                    <a:p>
                      <a:pPr>
                        <a:buNone/>
                      </a:pPr>
                      <a:r>
                        <a:rPr lang="en-US" sz="2200" dirty="0">
                          <a:latin typeface="Calibir"/>
                        </a:rPr>
                        <a:t>If three bike orders = 2, 3, 5 → total = 10.</a:t>
                      </a:r>
                    </a:p>
                  </a:txBody>
                  <a:tcPr marL="48348" marR="48348" marT="24174" marB="24174" anchor="ctr"/>
                </a:tc>
                <a:extLst>
                  <a:ext uri="{0D108BD9-81ED-4DB2-BD59-A6C34878D82A}">
                    <a16:rowId xmlns:a16="http://schemas.microsoft.com/office/drawing/2014/main" val="1231826117"/>
                  </a:ext>
                </a:extLst>
              </a:tr>
            </a:tbl>
          </a:graphicData>
        </a:graphic>
      </p:graphicFrame>
    </p:spTree>
    <p:extLst>
      <p:ext uri="{BB962C8B-B14F-4D97-AF65-F5344CB8AC3E}">
        <p14:creationId xmlns:p14="http://schemas.microsoft.com/office/powerpoint/2010/main" val="18703453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4FB73D7-ACA2-1C4F-B9DD-D2F73FA14B1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8BB1467-DABA-F7CE-B4ED-5C4546A4149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90AE5A1-F7C7-613C-DD5D-B6B3245F4DCA}"/>
              </a:ext>
            </a:extLst>
          </p:cNvPr>
          <p:cNvSpPr>
            <a:spLocks noGrp="1"/>
          </p:cNvSpPr>
          <p:nvPr>
            <p:ph type="sldNum" sz="quarter" idx="4"/>
          </p:nvPr>
        </p:nvSpPr>
        <p:spPr/>
        <p:txBody>
          <a:bodyPr/>
          <a:lstStyle/>
          <a:p>
            <a:fld id="{16A89BA3-132D-40E1-AAB4-CDCD0A14C216}" type="slidenum">
              <a:rPr lang="en-AU" smtClean="0"/>
              <a:pPr/>
              <a:t>80</a:t>
            </a:fld>
            <a:r>
              <a:rPr lang="en-AU"/>
              <a:t>  |</a:t>
            </a:r>
            <a:endParaRPr lang="en-AU" dirty="0"/>
          </a:p>
        </p:txBody>
      </p:sp>
      <p:sp>
        <p:nvSpPr>
          <p:cNvPr id="6" name="TextBox 5">
            <a:extLst>
              <a:ext uri="{FF2B5EF4-FFF2-40B4-BE49-F238E27FC236}">
                <a16:creationId xmlns:a16="http://schemas.microsoft.com/office/drawing/2014/main" id="{2A337A5F-E0E5-61B2-F321-43B97AB8606B}"/>
              </a:ext>
            </a:extLst>
          </p:cNvPr>
          <p:cNvSpPr txBox="1"/>
          <p:nvPr/>
        </p:nvSpPr>
        <p:spPr>
          <a:xfrm>
            <a:off x="0" y="0"/>
            <a:ext cx="9144000" cy="2677656"/>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p.ProductCategoryID</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SUM(</a:t>
            </a:r>
            <a:r>
              <a:rPr lang="en-US" sz="2800" b="0" dirty="0" err="1">
                <a:solidFill>
                  <a:srgbClr val="CCCCCC"/>
                </a:solidFill>
                <a:effectLst/>
                <a:latin typeface="Consolas" panose="020B0609020204030204" pitchFamily="49" charset="0"/>
              </a:rPr>
              <a:t>sod.OrderQty</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TotalSold</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SalesLT.SalesOrderDetail</a:t>
            </a:r>
            <a:r>
              <a:rPr lang="en-US" sz="2800" b="0" dirty="0">
                <a:solidFill>
                  <a:srgbClr val="CCCCCC"/>
                </a:solidFill>
                <a:effectLst/>
                <a:latin typeface="Consolas" panose="020B0609020204030204" pitchFamily="49" charset="0"/>
              </a:rPr>
              <a:t> sod</a:t>
            </a:r>
          </a:p>
          <a:p>
            <a:pPr>
              <a:buNone/>
            </a:pPr>
            <a:r>
              <a:rPr lang="en-US" sz="2800" b="0" dirty="0">
                <a:solidFill>
                  <a:srgbClr val="569CD6"/>
                </a:solidFill>
                <a:effectLst/>
                <a:latin typeface="Consolas" panose="020B0609020204030204" pitchFamily="49" charset="0"/>
              </a:rPr>
              <a:t>JOIN</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SalesLT.Product</a:t>
            </a:r>
            <a:r>
              <a:rPr lang="en-US" sz="2800" b="0" dirty="0">
                <a:solidFill>
                  <a:srgbClr val="CCCCCC"/>
                </a:solidFill>
                <a:effectLst/>
                <a:latin typeface="Consolas" panose="020B0609020204030204" pitchFamily="49" charset="0"/>
              </a:rPr>
              <a:t> p</a:t>
            </a:r>
          </a:p>
          <a:p>
            <a:pPr>
              <a:buNone/>
            </a:pP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ON</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sod.ProductID</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p.ProductID</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GROUP BY</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p.ProductCategoryID</a:t>
            </a:r>
            <a:r>
              <a:rPr lang="en-US" sz="28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C4FE824C-F3B5-7357-C5AF-76AF618DF203}"/>
              </a:ext>
            </a:extLst>
          </p:cNvPr>
          <p:cNvGraphicFramePr>
            <a:graphicFrameLocks noGrp="1"/>
          </p:cNvGraphicFramePr>
          <p:nvPr>
            <p:extLst>
              <p:ext uri="{D42A27DB-BD31-4B8C-83A1-F6EECF244321}">
                <p14:modId xmlns:p14="http://schemas.microsoft.com/office/powerpoint/2010/main" val="788254469"/>
              </p:ext>
            </p:extLst>
          </p:nvPr>
        </p:nvGraphicFramePr>
        <p:xfrm>
          <a:off x="1" y="2677656"/>
          <a:ext cx="9144000" cy="3563028"/>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934796065"/>
                    </a:ext>
                  </a:extLst>
                </a:gridCol>
                <a:gridCol w="3048000">
                  <a:extLst>
                    <a:ext uri="{9D8B030D-6E8A-4147-A177-3AD203B41FA5}">
                      <a16:colId xmlns:a16="http://schemas.microsoft.com/office/drawing/2014/main" val="2371293604"/>
                    </a:ext>
                  </a:extLst>
                </a:gridCol>
                <a:gridCol w="3048000">
                  <a:extLst>
                    <a:ext uri="{9D8B030D-6E8A-4147-A177-3AD203B41FA5}">
                      <a16:colId xmlns:a16="http://schemas.microsoft.com/office/drawing/2014/main" val="1722741027"/>
                    </a:ext>
                  </a:extLst>
                </a:gridCol>
              </a:tblGrid>
              <a:tr h="400464">
                <a:tc>
                  <a:txBody>
                    <a:bodyPr/>
                    <a:lstStyle/>
                    <a:p>
                      <a:pPr>
                        <a:buNone/>
                      </a:pPr>
                      <a:r>
                        <a:rPr lang="en-US" sz="2200">
                          <a:latin typeface="Calibir"/>
                        </a:rPr>
                        <a:t>Part</a:t>
                      </a:r>
                    </a:p>
                  </a:txBody>
                  <a:tcPr marL="48348" marR="48348" marT="24174" marB="24174" anchor="ctr"/>
                </a:tc>
                <a:tc>
                  <a:txBody>
                    <a:bodyPr/>
                    <a:lstStyle/>
                    <a:p>
                      <a:pPr>
                        <a:buNone/>
                      </a:pPr>
                      <a:r>
                        <a:rPr lang="en-US" sz="2200">
                          <a:latin typeface="Calibir"/>
                        </a:rPr>
                        <a:t>Meaning</a:t>
                      </a:r>
                    </a:p>
                  </a:txBody>
                  <a:tcPr marL="48348" marR="48348" marT="24174" marB="24174" anchor="ctr"/>
                </a:tc>
                <a:tc>
                  <a:txBody>
                    <a:bodyPr/>
                    <a:lstStyle/>
                    <a:p>
                      <a:pPr>
                        <a:buNone/>
                      </a:pPr>
                      <a:r>
                        <a:rPr lang="en-US" sz="2200">
                          <a:latin typeface="Calibir"/>
                        </a:rPr>
                        <a:t>Example</a:t>
                      </a:r>
                    </a:p>
                  </a:txBody>
                  <a:tcPr marL="48348" marR="48348" marT="24174" marB="24174" anchor="ctr"/>
                </a:tc>
                <a:extLst>
                  <a:ext uri="{0D108BD9-81ED-4DB2-BD59-A6C34878D82A}">
                    <a16:rowId xmlns:a16="http://schemas.microsoft.com/office/drawing/2014/main" val="25834274"/>
                  </a:ext>
                </a:extLst>
              </a:tr>
              <a:tr h="0">
                <a:tc>
                  <a:txBody>
                    <a:bodyPr/>
                    <a:lstStyle/>
                    <a:p>
                      <a:pPr>
                        <a:buNone/>
                      </a:pPr>
                      <a:r>
                        <a:rPr lang="en-US" sz="2200" b="1" dirty="0">
                          <a:latin typeface="Calibir"/>
                        </a:rPr>
                        <a:t>AS </a:t>
                      </a:r>
                      <a:r>
                        <a:rPr lang="en-US" sz="2200" b="1" dirty="0" err="1">
                          <a:latin typeface="Calibir"/>
                        </a:rPr>
                        <a:t>TotalSold</a:t>
                      </a:r>
                      <a:endParaRPr lang="en-US" sz="2200" dirty="0">
                        <a:latin typeface="Calibir"/>
                      </a:endParaRPr>
                    </a:p>
                  </a:txBody>
                  <a:tcPr marL="48348" marR="48348" marT="24174" marB="24174" anchor="ctr"/>
                </a:tc>
                <a:tc>
                  <a:txBody>
                    <a:bodyPr/>
                    <a:lstStyle/>
                    <a:p>
                      <a:pPr>
                        <a:buNone/>
                      </a:pPr>
                      <a:r>
                        <a:rPr lang="en-US" sz="2200">
                          <a:latin typeface="Calibir"/>
                        </a:rPr>
                        <a:t>Gives a friendly name to the total number of sold items.</a:t>
                      </a:r>
                    </a:p>
                  </a:txBody>
                  <a:tcPr marL="48348" marR="48348" marT="24174" marB="24174" anchor="ctr"/>
                </a:tc>
                <a:tc>
                  <a:txBody>
                    <a:bodyPr/>
                    <a:lstStyle/>
                    <a:p>
                      <a:pPr>
                        <a:buNone/>
                      </a:pPr>
                      <a:r>
                        <a:rPr lang="en-US" sz="2200">
                          <a:latin typeface="Calibir"/>
                        </a:rPr>
                        <a:t>The result column will be called TotalSold.</a:t>
                      </a:r>
                    </a:p>
                  </a:txBody>
                  <a:tcPr marL="48348" marR="48348" marT="24174" marB="24174" anchor="ctr"/>
                </a:tc>
                <a:extLst>
                  <a:ext uri="{0D108BD9-81ED-4DB2-BD59-A6C34878D82A}">
                    <a16:rowId xmlns:a16="http://schemas.microsoft.com/office/drawing/2014/main" val="3517497696"/>
                  </a:ext>
                </a:extLst>
              </a:tr>
              <a:tr h="0">
                <a:tc>
                  <a:txBody>
                    <a:bodyPr/>
                    <a:lstStyle/>
                    <a:p>
                      <a:pPr>
                        <a:buNone/>
                      </a:pPr>
                      <a:r>
                        <a:rPr lang="en-US" sz="2200" b="1" dirty="0">
                          <a:latin typeface="Calibir"/>
                        </a:rPr>
                        <a:t>FROM </a:t>
                      </a:r>
                      <a:r>
                        <a:rPr lang="en-US" sz="2200" b="1" dirty="0" err="1">
                          <a:latin typeface="Calibir"/>
                        </a:rPr>
                        <a:t>SalesLT.SalesOrderDetail</a:t>
                      </a:r>
                      <a:r>
                        <a:rPr lang="en-US" sz="2200" b="1" dirty="0">
                          <a:latin typeface="Calibir"/>
                        </a:rPr>
                        <a:t> sod</a:t>
                      </a:r>
                      <a:endParaRPr lang="en-US" sz="2200" dirty="0">
                        <a:latin typeface="Calibir"/>
                      </a:endParaRPr>
                    </a:p>
                  </a:txBody>
                  <a:tcPr marL="48348" marR="48348" marT="24174" marB="24174" anchor="ctr"/>
                </a:tc>
                <a:tc>
                  <a:txBody>
                    <a:bodyPr/>
                    <a:lstStyle/>
                    <a:p>
                      <a:pPr>
                        <a:buNone/>
                      </a:pPr>
                      <a:r>
                        <a:rPr lang="en-US" sz="2200" dirty="0">
                          <a:latin typeface="Calibir"/>
                        </a:rPr>
                        <a:t>The main table that contains each order line (how many of each product was sold).</a:t>
                      </a:r>
                    </a:p>
                  </a:txBody>
                  <a:tcPr marL="48348" marR="48348" marT="24174" marB="24174" anchor="ctr"/>
                </a:tc>
                <a:tc>
                  <a:txBody>
                    <a:bodyPr/>
                    <a:lstStyle/>
                    <a:p>
                      <a:pPr>
                        <a:buNone/>
                      </a:pPr>
                      <a:r>
                        <a:rPr lang="en-US" sz="2200">
                          <a:latin typeface="Calibir"/>
                        </a:rPr>
                        <a:t>Think of it like an invoice detail list.</a:t>
                      </a:r>
                    </a:p>
                  </a:txBody>
                  <a:tcPr marL="48348" marR="48348" marT="24174" marB="24174" anchor="ctr"/>
                </a:tc>
                <a:extLst>
                  <a:ext uri="{0D108BD9-81ED-4DB2-BD59-A6C34878D82A}">
                    <a16:rowId xmlns:a16="http://schemas.microsoft.com/office/drawing/2014/main" val="1468121014"/>
                  </a:ext>
                </a:extLst>
              </a:tr>
              <a:tr h="0">
                <a:tc>
                  <a:txBody>
                    <a:bodyPr/>
                    <a:lstStyle/>
                    <a:p>
                      <a:pPr>
                        <a:buNone/>
                      </a:pPr>
                      <a:r>
                        <a:rPr lang="en-US" sz="2200" b="1">
                          <a:latin typeface="Calibir"/>
                        </a:rPr>
                        <a:t>JOIN SalesLT.Product p</a:t>
                      </a:r>
                      <a:endParaRPr lang="en-US" sz="2200">
                        <a:latin typeface="Calibir"/>
                      </a:endParaRPr>
                    </a:p>
                  </a:txBody>
                  <a:tcPr marL="48348" marR="48348" marT="24174" marB="24174" anchor="ctr"/>
                </a:tc>
                <a:tc>
                  <a:txBody>
                    <a:bodyPr/>
                    <a:lstStyle/>
                    <a:p>
                      <a:pPr>
                        <a:buNone/>
                      </a:pPr>
                      <a:r>
                        <a:rPr lang="en-US" sz="2200" dirty="0">
                          <a:latin typeface="Calibir"/>
                        </a:rPr>
                        <a:t>Combines order details with product info.</a:t>
                      </a:r>
                    </a:p>
                  </a:txBody>
                  <a:tcPr marL="48348" marR="48348" marT="24174" marB="24174" anchor="ctr"/>
                </a:tc>
                <a:tc>
                  <a:txBody>
                    <a:bodyPr/>
                    <a:lstStyle/>
                    <a:p>
                      <a:pPr>
                        <a:buNone/>
                      </a:pPr>
                      <a:r>
                        <a:rPr lang="en-US" sz="2200" dirty="0">
                          <a:latin typeface="Calibir"/>
                        </a:rPr>
                        <a:t>Links the product ID to find its category.</a:t>
                      </a:r>
                    </a:p>
                  </a:txBody>
                  <a:tcPr marL="48348" marR="48348" marT="24174" marB="24174" anchor="ctr"/>
                </a:tc>
                <a:extLst>
                  <a:ext uri="{0D108BD9-81ED-4DB2-BD59-A6C34878D82A}">
                    <a16:rowId xmlns:a16="http://schemas.microsoft.com/office/drawing/2014/main" val="1231826117"/>
                  </a:ext>
                </a:extLst>
              </a:tr>
            </a:tbl>
          </a:graphicData>
        </a:graphic>
      </p:graphicFrame>
    </p:spTree>
    <p:extLst>
      <p:ext uri="{BB962C8B-B14F-4D97-AF65-F5344CB8AC3E}">
        <p14:creationId xmlns:p14="http://schemas.microsoft.com/office/powerpoint/2010/main" val="22393074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067DE35-1B17-23F4-B944-6823361C57F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0D0CA4D-7E50-00B9-C892-862BBA0CBC0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C0A1E91-1364-C4F6-EB4C-89DDA70D7866}"/>
              </a:ext>
            </a:extLst>
          </p:cNvPr>
          <p:cNvSpPr>
            <a:spLocks noGrp="1"/>
          </p:cNvSpPr>
          <p:nvPr>
            <p:ph type="sldNum" sz="quarter" idx="4"/>
          </p:nvPr>
        </p:nvSpPr>
        <p:spPr/>
        <p:txBody>
          <a:bodyPr/>
          <a:lstStyle/>
          <a:p>
            <a:fld id="{16A89BA3-132D-40E1-AAB4-CDCD0A14C216}" type="slidenum">
              <a:rPr lang="en-AU" smtClean="0"/>
              <a:pPr/>
              <a:t>81</a:t>
            </a:fld>
            <a:r>
              <a:rPr lang="en-AU"/>
              <a:t>  |</a:t>
            </a:r>
            <a:endParaRPr lang="en-AU" dirty="0"/>
          </a:p>
        </p:txBody>
      </p:sp>
      <p:sp>
        <p:nvSpPr>
          <p:cNvPr id="6" name="TextBox 5">
            <a:extLst>
              <a:ext uri="{FF2B5EF4-FFF2-40B4-BE49-F238E27FC236}">
                <a16:creationId xmlns:a16="http://schemas.microsoft.com/office/drawing/2014/main" id="{2B81A5F5-056F-51FD-61F5-2FD3C4EACB74}"/>
              </a:ext>
            </a:extLst>
          </p:cNvPr>
          <p:cNvSpPr txBox="1"/>
          <p:nvPr/>
        </p:nvSpPr>
        <p:spPr>
          <a:xfrm>
            <a:off x="0" y="0"/>
            <a:ext cx="9144000" cy="2677656"/>
          </a:xfrm>
          <a:prstGeom prst="rect">
            <a:avLst/>
          </a:prstGeom>
          <a:solidFill>
            <a:schemeClr val="accent4">
              <a:lumMod val="90000"/>
              <a:lumOff val="10000"/>
            </a:schemeClr>
          </a:solidFill>
        </p:spPr>
        <p:txBody>
          <a:bodyPr wrap="square">
            <a:spAutoFit/>
          </a:bodyPr>
          <a:lstStyle/>
          <a:p>
            <a:pPr>
              <a:buNone/>
            </a:pPr>
            <a:r>
              <a:rPr lang="en-US" sz="2800" b="0" dirty="0">
                <a:solidFill>
                  <a:srgbClr val="569CD6"/>
                </a:solidFill>
                <a:effectLst/>
                <a:latin typeface="Consolas" panose="020B0609020204030204" pitchFamily="49" charset="0"/>
              </a:rPr>
              <a:t>SELECT</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p.ProductCategoryID</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SUM(</a:t>
            </a:r>
            <a:r>
              <a:rPr lang="en-US" sz="2800" b="0" dirty="0" err="1">
                <a:solidFill>
                  <a:srgbClr val="CCCCCC"/>
                </a:solidFill>
                <a:effectLst/>
                <a:latin typeface="Consolas" panose="020B0609020204030204" pitchFamily="49" charset="0"/>
              </a:rPr>
              <a:t>sod.OrderQty</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AS</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TotalSold</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SalesLT.SalesOrderDetail</a:t>
            </a:r>
            <a:r>
              <a:rPr lang="en-US" sz="2800" b="0" dirty="0">
                <a:solidFill>
                  <a:srgbClr val="CCCCCC"/>
                </a:solidFill>
                <a:effectLst/>
                <a:latin typeface="Consolas" panose="020B0609020204030204" pitchFamily="49" charset="0"/>
              </a:rPr>
              <a:t> sod</a:t>
            </a:r>
          </a:p>
          <a:p>
            <a:pPr>
              <a:buNone/>
            </a:pPr>
            <a:r>
              <a:rPr lang="en-US" sz="2800" b="0" dirty="0">
                <a:solidFill>
                  <a:srgbClr val="569CD6"/>
                </a:solidFill>
                <a:effectLst/>
                <a:latin typeface="Consolas" panose="020B0609020204030204" pitchFamily="49" charset="0"/>
              </a:rPr>
              <a:t>JOIN</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SalesLT.Product</a:t>
            </a:r>
            <a:r>
              <a:rPr lang="en-US" sz="2800" b="0" dirty="0">
                <a:solidFill>
                  <a:srgbClr val="CCCCCC"/>
                </a:solidFill>
                <a:effectLst/>
                <a:latin typeface="Consolas" panose="020B0609020204030204" pitchFamily="49" charset="0"/>
              </a:rPr>
              <a:t> p</a:t>
            </a:r>
          </a:p>
          <a:p>
            <a:pPr>
              <a:buNone/>
            </a:pP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ON</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sod.ProductID</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p.ProductID</a:t>
            </a:r>
            <a:endParaRPr lang="en-US" sz="2800" b="0" dirty="0">
              <a:solidFill>
                <a:srgbClr val="CCCCCC"/>
              </a:solidFill>
              <a:effectLst/>
              <a:latin typeface="Consolas" panose="020B0609020204030204" pitchFamily="49" charset="0"/>
            </a:endParaRPr>
          </a:p>
          <a:p>
            <a:pPr>
              <a:buNone/>
            </a:pPr>
            <a:r>
              <a:rPr lang="en-US" sz="2800" b="0" dirty="0">
                <a:solidFill>
                  <a:srgbClr val="569CD6"/>
                </a:solidFill>
                <a:effectLst/>
                <a:latin typeface="Consolas" panose="020B0609020204030204" pitchFamily="49" charset="0"/>
              </a:rPr>
              <a:t>GROUP BY</a:t>
            </a:r>
            <a:r>
              <a:rPr lang="en-US" sz="2800" b="0" dirty="0">
                <a:solidFill>
                  <a:srgbClr val="CCCCCC"/>
                </a:solidFill>
                <a:effectLst/>
                <a:latin typeface="Consolas" panose="020B0609020204030204" pitchFamily="49" charset="0"/>
              </a:rPr>
              <a:t> </a:t>
            </a:r>
            <a:r>
              <a:rPr lang="en-US" sz="2800" b="0" dirty="0" err="1">
                <a:solidFill>
                  <a:srgbClr val="CCCCCC"/>
                </a:solidFill>
                <a:effectLst/>
                <a:latin typeface="Consolas" panose="020B0609020204030204" pitchFamily="49" charset="0"/>
              </a:rPr>
              <a:t>p.ProductCategoryID</a:t>
            </a:r>
            <a:r>
              <a:rPr lang="en-US" sz="28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D5DED73B-8D85-F434-A7D8-8EE9D2E40DEB}"/>
              </a:ext>
            </a:extLst>
          </p:cNvPr>
          <p:cNvGraphicFramePr>
            <a:graphicFrameLocks noGrp="1"/>
          </p:cNvGraphicFramePr>
          <p:nvPr>
            <p:extLst>
              <p:ext uri="{D42A27DB-BD31-4B8C-83A1-F6EECF244321}">
                <p14:modId xmlns:p14="http://schemas.microsoft.com/office/powerpoint/2010/main" val="1469231577"/>
              </p:ext>
            </p:extLst>
          </p:nvPr>
        </p:nvGraphicFramePr>
        <p:xfrm>
          <a:off x="1" y="2677656"/>
          <a:ext cx="9144000" cy="2508840"/>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934796065"/>
                    </a:ext>
                  </a:extLst>
                </a:gridCol>
                <a:gridCol w="3048000">
                  <a:extLst>
                    <a:ext uri="{9D8B030D-6E8A-4147-A177-3AD203B41FA5}">
                      <a16:colId xmlns:a16="http://schemas.microsoft.com/office/drawing/2014/main" val="2371293604"/>
                    </a:ext>
                  </a:extLst>
                </a:gridCol>
                <a:gridCol w="3048000">
                  <a:extLst>
                    <a:ext uri="{9D8B030D-6E8A-4147-A177-3AD203B41FA5}">
                      <a16:colId xmlns:a16="http://schemas.microsoft.com/office/drawing/2014/main" val="1722741027"/>
                    </a:ext>
                  </a:extLst>
                </a:gridCol>
              </a:tblGrid>
              <a:tr h="400464">
                <a:tc>
                  <a:txBody>
                    <a:bodyPr/>
                    <a:lstStyle/>
                    <a:p>
                      <a:pPr>
                        <a:buNone/>
                      </a:pPr>
                      <a:r>
                        <a:rPr lang="en-US" sz="2200">
                          <a:latin typeface="Calibir"/>
                        </a:rPr>
                        <a:t>Part</a:t>
                      </a:r>
                    </a:p>
                  </a:txBody>
                  <a:tcPr marL="48348" marR="48348" marT="24174" marB="24174" anchor="ctr"/>
                </a:tc>
                <a:tc>
                  <a:txBody>
                    <a:bodyPr/>
                    <a:lstStyle/>
                    <a:p>
                      <a:pPr>
                        <a:buNone/>
                      </a:pPr>
                      <a:r>
                        <a:rPr lang="en-US" sz="2200">
                          <a:latin typeface="Calibir"/>
                        </a:rPr>
                        <a:t>Meaning</a:t>
                      </a:r>
                    </a:p>
                  </a:txBody>
                  <a:tcPr marL="48348" marR="48348" marT="24174" marB="24174" anchor="ctr"/>
                </a:tc>
                <a:tc>
                  <a:txBody>
                    <a:bodyPr/>
                    <a:lstStyle/>
                    <a:p>
                      <a:pPr>
                        <a:buNone/>
                      </a:pPr>
                      <a:r>
                        <a:rPr lang="en-US" sz="2200">
                          <a:latin typeface="Calibir"/>
                        </a:rPr>
                        <a:t>Example</a:t>
                      </a:r>
                    </a:p>
                  </a:txBody>
                  <a:tcPr marL="48348" marR="48348" marT="24174" marB="24174" anchor="ctr"/>
                </a:tc>
                <a:extLst>
                  <a:ext uri="{0D108BD9-81ED-4DB2-BD59-A6C34878D82A}">
                    <a16:rowId xmlns:a16="http://schemas.microsoft.com/office/drawing/2014/main" val="25834274"/>
                  </a:ext>
                </a:extLst>
              </a:tr>
              <a:tr h="0">
                <a:tc>
                  <a:txBody>
                    <a:bodyPr/>
                    <a:lstStyle/>
                    <a:p>
                      <a:pPr>
                        <a:buNone/>
                      </a:pPr>
                      <a:r>
                        <a:rPr lang="en-US" sz="2200" b="1" dirty="0">
                          <a:latin typeface="Calibir"/>
                        </a:rPr>
                        <a:t>ON </a:t>
                      </a:r>
                      <a:r>
                        <a:rPr lang="en-US" sz="2200" b="1" dirty="0" err="1">
                          <a:latin typeface="Calibir"/>
                        </a:rPr>
                        <a:t>sod.ProductID</a:t>
                      </a:r>
                      <a:r>
                        <a:rPr lang="en-US" sz="2200" b="1" dirty="0">
                          <a:latin typeface="Calibir"/>
                        </a:rPr>
                        <a:t> = </a:t>
                      </a:r>
                      <a:r>
                        <a:rPr lang="en-US" sz="2200" b="1" dirty="0" err="1">
                          <a:latin typeface="Calibir"/>
                        </a:rPr>
                        <a:t>p.ProductID</a:t>
                      </a:r>
                      <a:endParaRPr lang="en-US" sz="2200" dirty="0">
                        <a:latin typeface="Calibir"/>
                      </a:endParaRPr>
                    </a:p>
                  </a:txBody>
                  <a:tcPr marL="48348" marR="48348" marT="24174" marB="24174" anchor="ctr"/>
                </a:tc>
                <a:tc>
                  <a:txBody>
                    <a:bodyPr/>
                    <a:lstStyle/>
                    <a:p>
                      <a:pPr>
                        <a:buNone/>
                      </a:pPr>
                      <a:r>
                        <a:rPr lang="en-US" sz="2200" dirty="0">
                          <a:latin typeface="Calibir"/>
                        </a:rPr>
                        <a:t>This is the rule that connects both tables using </a:t>
                      </a:r>
                      <a:r>
                        <a:rPr lang="en-US" sz="2200" dirty="0" err="1">
                          <a:latin typeface="Calibir"/>
                        </a:rPr>
                        <a:t>ProductID</a:t>
                      </a:r>
                      <a:r>
                        <a:rPr lang="en-US" sz="2200" dirty="0">
                          <a:latin typeface="Calibir"/>
                        </a:rPr>
                        <a:t>.</a:t>
                      </a:r>
                    </a:p>
                  </a:txBody>
                  <a:tcPr marL="48348" marR="48348" marT="24174" marB="24174" anchor="ctr"/>
                </a:tc>
                <a:tc>
                  <a:txBody>
                    <a:bodyPr/>
                    <a:lstStyle/>
                    <a:p>
                      <a:pPr>
                        <a:buNone/>
                      </a:pPr>
                      <a:r>
                        <a:rPr lang="en-US" sz="2200" dirty="0">
                          <a:latin typeface="Calibir"/>
                        </a:rPr>
                        <a:t>Matches each order item to its product.</a:t>
                      </a:r>
                    </a:p>
                  </a:txBody>
                  <a:tcPr marL="48348" marR="48348" marT="24174" marB="24174" anchor="ctr"/>
                </a:tc>
                <a:extLst>
                  <a:ext uri="{0D108BD9-81ED-4DB2-BD59-A6C34878D82A}">
                    <a16:rowId xmlns:a16="http://schemas.microsoft.com/office/drawing/2014/main" val="3517497696"/>
                  </a:ext>
                </a:extLst>
              </a:tr>
              <a:tr h="0">
                <a:tc>
                  <a:txBody>
                    <a:bodyPr/>
                    <a:lstStyle/>
                    <a:p>
                      <a:pPr>
                        <a:buNone/>
                      </a:pPr>
                      <a:r>
                        <a:rPr lang="en-US" sz="2200" b="1">
                          <a:latin typeface="Calibir"/>
                        </a:rPr>
                        <a:t>GROUP BY p.ProductCategoryID</a:t>
                      </a:r>
                      <a:endParaRPr lang="en-US" sz="2200">
                        <a:latin typeface="Calibir"/>
                      </a:endParaRPr>
                    </a:p>
                  </a:txBody>
                  <a:tcPr marL="48348" marR="48348" marT="24174" marB="24174" anchor="ctr"/>
                </a:tc>
                <a:tc>
                  <a:txBody>
                    <a:bodyPr/>
                    <a:lstStyle/>
                    <a:p>
                      <a:pPr>
                        <a:buNone/>
                      </a:pPr>
                      <a:r>
                        <a:rPr lang="en-US" sz="2200">
                          <a:latin typeface="Calibir"/>
                        </a:rPr>
                        <a:t>Groups all products by their category to calculate totals per category.</a:t>
                      </a:r>
                    </a:p>
                  </a:txBody>
                  <a:tcPr marL="48348" marR="48348" marT="24174" marB="24174" anchor="ctr"/>
                </a:tc>
                <a:tc>
                  <a:txBody>
                    <a:bodyPr/>
                    <a:lstStyle/>
                    <a:p>
                      <a:pPr>
                        <a:buNone/>
                      </a:pPr>
                      <a:r>
                        <a:rPr lang="en-US" sz="2200" dirty="0">
                          <a:latin typeface="Calibir"/>
                        </a:rPr>
                        <a:t>One row per category.</a:t>
                      </a:r>
                    </a:p>
                  </a:txBody>
                  <a:tcPr marL="48348" marR="48348" marT="24174" marB="24174" anchor="ctr"/>
                </a:tc>
                <a:extLst>
                  <a:ext uri="{0D108BD9-81ED-4DB2-BD59-A6C34878D82A}">
                    <a16:rowId xmlns:a16="http://schemas.microsoft.com/office/drawing/2014/main" val="1468121014"/>
                  </a:ext>
                </a:extLst>
              </a:tr>
            </a:tbl>
          </a:graphicData>
        </a:graphic>
      </p:graphicFrame>
      <p:sp>
        <p:nvSpPr>
          <p:cNvPr id="7" name="TextBox 6">
            <a:extLst>
              <a:ext uri="{FF2B5EF4-FFF2-40B4-BE49-F238E27FC236}">
                <a16:creationId xmlns:a16="http://schemas.microsoft.com/office/drawing/2014/main" id="{82E98C9C-41CE-7C8A-2253-E797F06BF650}"/>
              </a:ext>
            </a:extLst>
          </p:cNvPr>
          <p:cNvSpPr txBox="1"/>
          <p:nvPr/>
        </p:nvSpPr>
        <p:spPr>
          <a:xfrm>
            <a:off x="-1" y="5186496"/>
            <a:ext cx="9144000" cy="1563377"/>
          </a:xfrm>
          <a:prstGeom prst="rect">
            <a:avLst/>
          </a:prstGeom>
          <a:solidFill>
            <a:schemeClr val="bg1"/>
          </a:solidFill>
        </p:spPr>
        <p:txBody>
          <a:bodyPr wrap="square">
            <a:spAutoFit/>
          </a:bodyPr>
          <a:lstStyle/>
          <a:p>
            <a:pPr>
              <a:lnSpc>
                <a:spcPct val="150000"/>
              </a:lnSpc>
            </a:pPr>
            <a:r>
              <a:rPr lang="en-US" sz="2200" dirty="0">
                <a:latin typeface="Calibir"/>
              </a:rPr>
              <a:t>This query calculates how many products were sold in each category.</a:t>
            </a:r>
            <a:br>
              <a:rPr lang="en-US" sz="2200" dirty="0">
                <a:latin typeface="Calibir"/>
              </a:rPr>
            </a:br>
            <a:r>
              <a:rPr lang="en-US" sz="2200" dirty="0">
                <a:latin typeface="Calibir"/>
              </a:rPr>
              <a:t>It joins two tables — one for orders and one for product details — to find total sales per category (like “Total Bikes sold” or “Total Helmets sold”).</a:t>
            </a:r>
          </a:p>
        </p:txBody>
      </p:sp>
    </p:spTree>
    <p:extLst>
      <p:ext uri="{BB962C8B-B14F-4D97-AF65-F5344CB8AC3E}">
        <p14:creationId xmlns:p14="http://schemas.microsoft.com/office/powerpoint/2010/main" val="18267626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7804E90A-E6F2-010B-1FAA-3FC01EB664B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3568A64-9C81-6FED-81AD-6B022A9E50A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199E4825-9F8D-7893-1B6E-A719081665EF}"/>
              </a:ext>
            </a:extLst>
          </p:cNvPr>
          <p:cNvSpPr>
            <a:spLocks noGrp="1"/>
          </p:cNvSpPr>
          <p:nvPr>
            <p:ph type="sldNum" sz="quarter" idx="4"/>
          </p:nvPr>
        </p:nvSpPr>
        <p:spPr/>
        <p:txBody>
          <a:bodyPr/>
          <a:lstStyle/>
          <a:p>
            <a:fld id="{16A89BA3-132D-40E1-AAB4-CDCD0A14C216}" type="slidenum">
              <a:rPr lang="en-AU" smtClean="0"/>
              <a:pPr/>
              <a:t>82</a:t>
            </a:fld>
            <a:r>
              <a:rPr lang="en-AU"/>
              <a:t>  |</a:t>
            </a:r>
            <a:endParaRPr lang="en-AU" dirty="0"/>
          </a:p>
        </p:txBody>
      </p:sp>
      <p:sp>
        <p:nvSpPr>
          <p:cNvPr id="9" name="Text Placeholder 3">
            <a:extLst>
              <a:ext uri="{FF2B5EF4-FFF2-40B4-BE49-F238E27FC236}">
                <a16:creationId xmlns:a16="http://schemas.microsoft.com/office/drawing/2014/main" id="{66C8F59E-97BB-FBEC-2104-164A9471A10E}"/>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BBEF45F-ADA2-3DB3-BBE2-5FFACE1ADE8B}"/>
              </a:ext>
            </a:extLst>
          </p:cNvPr>
          <p:cNvSpPr txBox="1"/>
          <p:nvPr/>
        </p:nvSpPr>
        <p:spPr>
          <a:xfrm>
            <a:off x="78058" y="624468"/>
            <a:ext cx="9065942" cy="523220"/>
          </a:xfrm>
          <a:prstGeom prst="rect">
            <a:avLst/>
          </a:prstGeom>
          <a:noFill/>
        </p:spPr>
        <p:txBody>
          <a:bodyPr wrap="square" rtlCol="0">
            <a:spAutoFit/>
          </a:bodyPr>
          <a:lstStyle/>
          <a:p>
            <a:r>
              <a:rPr lang="en-US" sz="2800" dirty="0">
                <a:latin typeface="Calibir"/>
              </a:rPr>
              <a:t>9.  Top 5 customers by total order amount</a:t>
            </a:r>
          </a:p>
        </p:txBody>
      </p:sp>
      <p:sp>
        <p:nvSpPr>
          <p:cNvPr id="11" name="TextBox 10">
            <a:extLst>
              <a:ext uri="{FF2B5EF4-FFF2-40B4-BE49-F238E27FC236}">
                <a16:creationId xmlns:a16="http://schemas.microsoft.com/office/drawing/2014/main" id="{767BD5EB-771B-C71E-A5EB-2E39F03413A0}"/>
              </a:ext>
            </a:extLst>
          </p:cNvPr>
          <p:cNvSpPr txBox="1"/>
          <p:nvPr/>
        </p:nvSpPr>
        <p:spPr>
          <a:xfrm>
            <a:off x="0" y="1293434"/>
            <a:ext cx="8849710" cy="523220"/>
          </a:xfrm>
          <a:prstGeom prst="rect">
            <a:avLst/>
          </a:prstGeom>
          <a:noFill/>
        </p:spPr>
        <p:txBody>
          <a:bodyPr wrap="square">
            <a:spAutoFit/>
          </a:bodyPr>
          <a:lstStyle/>
          <a:p>
            <a:r>
              <a:rPr lang="en-US" sz="2800" dirty="0">
                <a:solidFill>
                  <a:srgbClr val="3D3935"/>
                </a:solidFill>
                <a:latin typeface="Calibir"/>
              </a:rPr>
              <a:t>Take a screenshot) Shift + Enter (Or click </a:t>
            </a:r>
            <a:r>
              <a:rPr lang="en-US" sz="2800" dirty="0">
                <a:solidFill>
                  <a:srgbClr val="3D3935"/>
                </a:solidFill>
                <a:highlight>
                  <a:srgbClr val="FFFF00"/>
                </a:highlight>
                <a:latin typeface="Calibir"/>
              </a:rPr>
              <a:t>Run</a:t>
            </a:r>
            <a:r>
              <a:rPr lang="en-US" sz="2800" dirty="0">
                <a:solidFill>
                  <a:srgbClr val="3D3935"/>
                </a:solidFill>
                <a:latin typeface="Calibir"/>
              </a:rPr>
              <a:t>)</a:t>
            </a:r>
            <a:endParaRPr lang="en-US" sz="2800" dirty="0"/>
          </a:p>
        </p:txBody>
      </p:sp>
      <p:sp>
        <p:nvSpPr>
          <p:cNvPr id="10" name="TextBox 9">
            <a:extLst>
              <a:ext uri="{FF2B5EF4-FFF2-40B4-BE49-F238E27FC236}">
                <a16:creationId xmlns:a16="http://schemas.microsoft.com/office/drawing/2014/main" id="{14721819-E293-7E7E-5A10-8B97978076CB}"/>
              </a:ext>
            </a:extLst>
          </p:cNvPr>
          <p:cNvSpPr txBox="1"/>
          <p:nvPr/>
        </p:nvSpPr>
        <p:spPr>
          <a:xfrm>
            <a:off x="0" y="4583300"/>
            <a:ext cx="9144000" cy="1315425"/>
          </a:xfrm>
          <a:prstGeom prst="rect">
            <a:avLst/>
          </a:prstGeom>
          <a:noFill/>
        </p:spPr>
        <p:txBody>
          <a:bodyPr wrap="square">
            <a:spAutoFit/>
          </a:bodyPr>
          <a:lstStyle/>
          <a:p>
            <a:pPr>
              <a:lnSpc>
                <a:spcPct val="150000"/>
              </a:lnSpc>
            </a:pPr>
            <a:r>
              <a:rPr lang="en-US" sz="2800" dirty="0">
                <a:latin typeface="Calibir"/>
              </a:rPr>
              <a:t>Adds up all payments per customer, sorts by the biggest spenders, and shows only the top 5.</a:t>
            </a:r>
          </a:p>
        </p:txBody>
      </p:sp>
      <p:sp>
        <p:nvSpPr>
          <p:cNvPr id="5" name="TextBox 4">
            <a:extLst>
              <a:ext uri="{FF2B5EF4-FFF2-40B4-BE49-F238E27FC236}">
                <a16:creationId xmlns:a16="http://schemas.microsoft.com/office/drawing/2014/main" id="{5F4F09F2-B15C-0304-E7FD-DF8099EF7415}"/>
              </a:ext>
            </a:extLst>
          </p:cNvPr>
          <p:cNvSpPr txBox="1"/>
          <p:nvPr/>
        </p:nvSpPr>
        <p:spPr>
          <a:xfrm>
            <a:off x="0" y="1926115"/>
            <a:ext cx="9144000" cy="2400657"/>
          </a:xfrm>
          <a:prstGeom prst="rect">
            <a:avLst/>
          </a:prstGeom>
          <a:solidFill>
            <a:schemeClr val="accent4">
              <a:lumMod val="90000"/>
              <a:lumOff val="10000"/>
            </a:schemeClr>
          </a:solidFill>
        </p:spPr>
        <p:txBody>
          <a:bodyPr wrap="square">
            <a:spAutoFit/>
          </a:bodyPr>
          <a:lstStyle/>
          <a:p>
            <a:pPr>
              <a:buNone/>
            </a:pPr>
            <a:r>
              <a:rPr lang="en-US" sz="2500" b="0" dirty="0">
                <a:solidFill>
                  <a:srgbClr val="569CD6"/>
                </a:solidFill>
                <a:effectLst/>
                <a:latin typeface="Consolas" panose="020B0609020204030204" pitchFamily="49" charset="0"/>
              </a:rPr>
              <a:t>SELECT</a:t>
            </a:r>
            <a:r>
              <a:rPr lang="en-US" sz="2500" b="0" dirty="0">
                <a:solidFill>
                  <a:srgbClr val="CCCCCC"/>
                </a:solidFill>
                <a:effectLst/>
                <a:latin typeface="Consolas" panose="020B0609020204030204" pitchFamily="49" charset="0"/>
              </a:rPr>
              <a:t> TOP </a:t>
            </a:r>
            <a:r>
              <a:rPr lang="en-US" sz="2500" b="0" dirty="0">
                <a:solidFill>
                  <a:srgbClr val="B5CEA8"/>
                </a:solidFill>
                <a:effectLst/>
                <a:latin typeface="Consolas" panose="020B0609020204030204" pitchFamily="49" charset="0"/>
              </a:rPr>
              <a:t>5</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SUM(</a:t>
            </a:r>
            <a:r>
              <a:rPr lang="en-US" sz="2500" b="0" dirty="0" err="1">
                <a:solidFill>
                  <a:srgbClr val="CCCCCC"/>
                </a:solidFill>
                <a:effectLst/>
                <a:latin typeface="Consolas" panose="020B0609020204030204" pitchFamily="49" charset="0"/>
              </a:rPr>
              <a:t>TotalDue</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COUNT(</a:t>
            </a:r>
            <a:r>
              <a:rPr lang="en-US" sz="2500" b="0" dirty="0" err="1">
                <a:solidFill>
                  <a:srgbClr val="CCCCCC"/>
                </a:solidFill>
                <a:effectLst/>
                <a:latin typeface="Consolas" panose="020B0609020204030204" pitchFamily="49" charset="0"/>
              </a:rPr>
              <a:t>SalesOrderID</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OrdersPlaced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FROM</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SalesLT.SalesOrderHeader</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GROUP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ORDER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DESC</a:t>
            </a:r>
            <a:r>
              <a:rPr lang="en-US" sz="25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0900979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5AAE830-5360-FD7D-FCD5-8D78B820493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F379CAF-1F31-0864-C325-B8DFA85A3768}"/>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60B7F0B-809D-B9D3-982A-ED30DEA491A0}"/>
              </a:ext>
            </a:extLst>
          </p:cNvPr>
          <p:cNvSpPr>
            <a:spLocks noGrp="1"/>
          </p:cNvSpPr>
          <p:nvPr>
            <p:ph type="sldNum" sz="quarter" idx="4"/>
          </p:nvPr>
        </p:nvSpPr>
        <p:spPr/>
        <p:txBody>
          <a:bodyPr/>
          <a:lstStyle/>
          <a:p>
            <a:fld id="{16A89BA3-132D-40E1-AAB4-CDCD0A14C216}" type="slidenum">
              <a:rPr lang="en-AU" smtClean="0"/>
              <a:pPr/>
              <a:t>83</a:t>
            </a:fld>
            <a:r>
              <a:rPr lang="en-AU"/>
              <a:t>  |</a:t>
            </a:r>
            <a:endParaRPr lang="en-AU" dirty="0"/>
          </a:p>
        </p:txBody>
      </p:sp>
      <p:sp>
        <p:nvSpPr>
          <p:cNvPr id="5" name="TextBox 4">
            <a:extLst>
              <a:ext uri="{FF2B5EF4-FFF2-40B4-BE49-F238E27FC236}">
                <a16:creationId xmlns:a16="http://schemas.microsoft.com/office/drawing/2014/main" id="{275411F2-C17E-93BB-B6C2-AB60CBBE371A}"/>
              </a:ext>
            </a:extLst>
          </p:cNvPr>
          <p:cNvSpPr txBox="1"/>
          <p:nvPr/>
        </p:nvSpPr>
        <p:spPr>
          <a:xfrm>
            <a:off x="0" y="0"/>
            <a:ext cx="9144000" cy="2400657"/>
          </a:xfrm>
          <a:prstGeom prst="rect">
            <a:avLst/>
          </a:prstGeom>
          <a:solidFill>
            <a:schemeClr val="accent4">
              <a:lumMod val="90000"/>
              <a:lumOff val="10000"/>
            </a:schemeClr>
          </a:solidFill>
        </p:spPr>
        <p:txBody>
          <a:bodyPr wrap="square">
            <a:spAutoFit/>
          </a:bodyPr>
          <a:lstStyle/>
          <a:p>
            <a:pPr>
              <a:buNone/>
            </a:pPr>
            <a:r>
              <a:rPr lang="en-US" sz="2500" b="0" dirty="0">
                <a:solidFill>
                  <a:srgbClr val="569CD6"/>
                </a:solidFill>
                <a:effectLst/>
                <a:latin typeface="Consolas" panose="020B0609020204030204" pitchFamily="49" charset="0"/>
              </a:rPr>
              <a:t>SELECT</a:t>
            </a:r>
            <a:r>
              <a:rPr lang="en-US" sz="2500" b="0" dirty="0">
                <a:solidFill>
                  <a:srgbClr val="CCCCCC"/>
                </a:solidFill>
                <a:effectLst/>
                <a:latin typeface="Consolas" panose="020B0609020204030204" pitchFamily="49" charset="0"/>
              </a:rPr>
              <a:t> TOP </a:t>
            </a:r>
            <a:r>
              <a:rPr lang="en-US" sz="2500" b="0" dirty="0">
                <a:solidFill>
                  <a:srgbClr val="B5CEA8"/>
                </a:solidFill>
                <a:effectLst/>
                <a:latin typeface="Consolas" panose="020B0609020204030204" pitchFamily="49" charset="0"/>
              </a:rPr>
              <a:t>5</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SUM(</a:t>
            </a:r>
            <a:r>
              <a:rPr lang="en-US" sz="2500" b="0" dirty="0" err="1">
                <a:solidFill>
                  <a:srgbClr val="CCCCCC"/>
                </a:solidFill>
                <a:effectLst/>
                <a:latin typeface="Consolas" panose="020B0609020204030204" pitchFamily="49" charset="0"/>
              </a:rPr>
              <a:t>TotalDue</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COUNT(</a:t>
            </a:r>
            <a:r>
              <a:rPr lang="en-US" sz="2500" b="0" dirty="0" err="1">
                <a:solidFill>
                  <a:srgbClr val="CCCCCC"/>
                </a:solidFill>
                <a:effectLst/>
                <a:latin typeface="Consolas" panose="020B0609020204030204" pitchFamily="49" charset="0"/>
              </a:rPr>
              <a:t>SalesOrderID</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OrdersPlaced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FROM</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SalesLT.SalesOrderHeader</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GROUP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ORDER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DESC</a:t>
            </a:r>
            <a:r>
              <a:rPr lang="en-US" sz="25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E51CA5CC-8300-A397-E318-DBB2AF5DB85B}"/>
              </a:ext>
            </a:extLst>
          </p:cNvPr>
          <p:cNvGraphicFramePr>
            <a:graphicFrameLocks noGrp="1"/>
          </p:cNvGraphicFramePr>
          <p:nvPr>
            <p:extLst>
              <p:ext uri="{D42A27DB-BD31-4B8C-83A1-F6EECF244321}">
                <p14:modId xmlns:p14="http://schemas.microsoft.com/office/powerpoint/2010/main" val="336543723"/>
              </p:ext>
            </p:extLst>
          </p:nvPr>
        </p:nvGraphicFramePr>
        <p:xfrm>
          <a:off x="0" y="2400657"/>
          <a:ext cx="9144000" cy="4241410"/>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1323101181"/>
                    </a:ext>
                  </a:extLst>
                </a:gridCol>
                <a:gridCol w="3048000">
                  <a:extLst>
                    <a:ext uri="{9D8B030D-6E8A-4147-A177-3AD203B41FA5}">
                      <a16:colId xmlns:a16="http://schemas.microsoft.com/office/drawing/2014/main" val="2468395180"/>
                    </a:ext>
                  </a:extLst>
                </a:gridCol>
                <a:gridCol w="3048000">
                  <a:extLst>
                    <a:ext uri="{9D8B030D-6E8A-4147-A177-3AD203B41FA5}">
                      <a16:colId xmlns:a16="http://schemas.microsoft.com/office/drawing/2014/main" val="3304487667"/>
                    </a:ext>
                  </a:extLst>
                </a:gridCol>
              </a:tblGrid>
              <a:tr h="390666">
                <a:tc>
                  <a:txBody>
                    <a:bodyPr/>
                    <a:lstStyle/>
                    <a:p>
                      <a:pPr>
                        <a:buNone/>
                      </a:pPr>
                      <a:r>
                        <a:rPr lang="en-US" sz="2200">
                          <a:latin typeface="Calibir"/>
                        </a:rPr>
                        <a:t>Part</a:t>
                      </a:r>
                    </a:p>
                  </a:txBody>
                  <a:tcPr marL="40667" marR="40667" marT="20333" marB="20333" anchor="ctr"/>
                </a:tc>
                <a:tc>
                  <a:txBody>
                    <a:bodyPr/>
                    <a:lstStyle/>
                    <a:p>
                      <a:pPr>
                        <a:buNone/>
                      </a:pPr>
                      <a:r>
                        <a:rPr lang="en-US" sz="2200">
                          <a:latin typeface="Calibir"/>
                        </a:rPr>
                        <a:t>Meaning</a:t>
                      </a:r>
                    </a:p>
                  </a:txBody>
                  <a:tcPr marL="40667" marR="40667" marT="20333" marB="20333" anchor="ctr"/>
                </a:tc>
                <a:tc>
                  <a:txBody>
                    <a:bodyPr/>
                    <a:lstStyle/>
                    <a:p>
                      <a:pPr>
                        <a:buNone/>
                      </a:pPr>
                      <a:r>
                        <a:rPr lang="en-US" sz="2200">
                          <a:latin typeface="Calibir"/>
                        </a:rPr>
                        <a:t>Example</a:t>
                      </a:r>
                    </a:p>
                  </a:txBody>
                  <a:tcPr marL="40667" marR="40667" marT="20333" marB="20333" anchor="ctr"/>
                </a:tc>
                <a:extLst>
                  <a:ext uri="{0D108BD9-81ED-4DB2-BD59-A6C34878D82A}">
                    <a16:rowId xmlns:a16="http://schemas.microsoft.com/office/drawing/2014/main" val="2140342137"/>
                  </a:ext>
                </a:extLst>
              </a:tr>
              <a:tr h="0">
                <a:tc>
                  <a:txBody>
                    <a:bodyPr/>
                    <a:lstStyle/>
                    <a:p>
                      <a:pPr>
                        <a:buNone/>
                      </a:pPr>
                      <a:r>
                        <a:rPr lang="en-US" sz="2200" b="1">
                          <a:latin typeface="Calibir"/>
                        </a:rPr>
                        <a:t>SELECT</a:t>
                      </a:r>
                      <a:endParaRPr lang="en-US" sz="2200">
                        <a:latin typeface="Calibir"/>
                      </a:endParaRPr>
                    </a:p>
                  </a:txBody>
                  <a:tcPr marL="40667" marR="40667" marT="20333" marB="20333" anchor="ctr"/>
                </a:tc>
                <a:tc>
                  <a:txBody>
                    <a:bodyPr/>
                    <a:lstStyle/>
                    <a:p>
                      <a:pPr>
                        <a:buNone/>
                      </a:pPr>
                      <a:r>
                        <a:rPr lang="en-US" sz="2200">
                          <a:latin typeface="Calibir"/>
                        </a:rPr>
                        <a:t>Chooses what information to show.</a:t>
                      </a:r>
                    </a:p>
                  </a:txBody>
                  <a:tcPr marL="40667" marR="40667" marT="20333" marB="20333" anchor="ctr"/>
                </a:tc>
                <a:tc>
                  <a:txBody>
                    <a:bodyPr/>
                    <a:lstStyle/>
                    <a:p>
                      <a:pPr>
                        <a:buNone/>
                      </a:pPr>
                      <a:r>
                        <a:rPr lang="en-US" sz="2200">
                          <a:latin typeface="Calibir"/>
                        </a:rPr>
                        <a:t>“Show me the customer, their total spending, and number of orders.”</a:t>
                      </a:r>
                    </a:p>
                  </a:txBody>
                  <a:tcPr marL="40667" marR="40667" marT="20333" marB="20333" anchor="ctr"/>
                </a:tc>
                <a:extLst>
                  <a:ext uri="{0D108BD9-81ED-4DB2-BD59-A6C34878D82A}">
                    <a16:rowId xmlns:a16="http://schemas.microsoft.com/office/drawing/2014/main" val="154046484"/>
                  </a:ext>
                </a:extLst>
              </a:tr>
              <a:tr h="0">
                <a:tc>
                  <a:txBody>
                    <a:bodyPr/>
                    <a:lstStyle/>
                    <a:p>
                      <a:pPr>
                        <a:buNone/>
                      </a:pPr>
                      <a:r>
                        <a:rPr lang="en-US" sz="2200" b="1">
                          <a:latin typeface="Calibir"/>
                        </a:rPr>
                        <a:t>TOP 5</a:t>
                      </a:r>
                      <a:endParaRPr lang="en-US" sz="2200">
                        <a:latin typeface="Calibir"/>
                      </a:endParaRPr>
                    </a:p>
                  </a:txBody>
                  <a:tcPr marL="40667" marR="40667" marT="20333" marB="20333" anchor="ctr"/>
                </a:tc>
                <a:tc>
                  <a:txBody>
                    <a:bodyPr/>
                    <a:lstStyle/>
                    <a:p>
                      <a:pPr>
                        <a:buNone/>
                      </a:pPr>
                      <a:r>
                        <a:rPr lang="en-US" sz="2200">
                          <a:latin typeface="Calibir"/>
                        </a:rPr>
                        <a:t>Limits results to the top 5 customers.</a:t>
                      </a:r>
                    </a:p>
                  </a:txBody>
                  <a:tcPr marL="40667" marR="40667" marT="20333" marB="20333" anchor="ctr"/>
                </a:tc>
                <a:tc>
                  <a:txBody>
                    <a:bodyPr/>
                    <a:lstStyle/>
                    <a:p>
                      <a:pPr>
                        <a:buNone/>
                      </a:pPr>
                      <a:r>
                        <a:rPr lang="en-US" sz="2200">
                          <a:latin typeface="Calibir"/>
                        </a:rPr>
                        <a:t>Only the 5 highest-spending customers are displayed.</a:t>
                      </a:r>
                    </a:p>
                  </a:txBody>
                  <a:tcPr marL="40667" marR="40667" marT="20333" marB="20333" anchor="ctr"/>
                </a:tc>
                <a:extLst>
                  <a:ext uri="{0D108BD9-81ED-4DB2-BD59-A6C34878D82A}">
                    <a16:rowId xmlns:a16="http://schemas.microsoft.com/office/drawing/2014/main" val="1310635880"/>
                  </a:ext>
                </a:extLst>
              </a:tr>
              <a:tr h="0">
                <a:tc>
                  <a:txBody>
                    <a:bodyPr/>
                    <a:lstStyle/>
                    <a:p>
                      <a:pPr>
                        <a:buNone/>
                      </a:pPr>
                      <a:r>
                        <a:rPr lang="en-US" sz="2200" b="1">
                          <a:latin typeface="Calibir"/>
                        </a:rPr>
                        <a:t>CustomerID</a:t>
                      </a:r>
                      <a:endParaRPr lang="en-US" sz="2200">
                        <a:latin typeface="Calibir"/>
                      </a:endParaRPr>
                    </a:p>
                  </a:txBody>
                  <a:tcPr marL="40667" marR="40667" marT="20333" marB="20333" anchor="ctr"/>
                </a:tc>
                <a:tc>
                  <a:txBody>
                    <a:bodyPr/>
                    <a:lstStyle/>
                    <a:p>
                      <a:pPr>
                        <a:buNone/>
                      </a:pPr>
                      <a:r>
                        <a:rPr lang="en-US" sz="2200">
                          <a:latin typeface="Calibir"/>
                        </a:rPr>
                        <a:t>Identifies each customer.</a:t>
                      </a:r>
                    </a:p>
                  </a:txBody>
                  <a:tcPr marL="40667" marR="40667" marT="20333" marB="20333" anchor="ctr"/>
                </a:tc>
                <a:tc>
                  <a:txBody>
                    <a:bodyPr/>
                    <a:lstStyle/>
                    <a:p>
                      <a:pPr>
                        <a:buNone/>
                      </a:pPr>
                      <a:r>
                        <a:rPr lang="en-US" sz="2200">
                          <a:latin typeface="Calibir"/>
                        </a:rPr>
                        <a:t>e.g., CustomerID = 101, 102, etc.</a:t>
                      </a:r>
                    </a:p>
                  </a:txBody>
                  <a:tcPr marL="40667" marR="40667" marT="20333" marB="20333" anchor="ctr"/>
                </a:tc>
                <a:extLst>
                  <a:ext uri="{0D108BD9-81ED-4DB2-BD59-A6C34878D82A}">
                    <a16:rowId xmlns:a16="http://schemas.microsoft.com/office/drawing/2014/main" val="2717501209"/>
                  </a:ext>
                </a:extLst>
              </a:tr>
              <a:tr h="0">
                <a:tc>
                  <a:txBody>
                    <a:bodyPr/>
                    <a:lstStyle/>
                    <a:p>
                      <a:pPr>
                        <a:buNone/>
                      </a:pPr>
                      <a:r>
                        <a:rPr lang="en-US" sz="2200" b="1">
                          <a:latin typeface="Calibir"/>
                        </a:rPr>
                        <a:t>SUM(TotalDue)</a:t>
                      </a:r>
                      <a:endParaRPr lang="en-US" sz="2200">
                        <a:latin typeface="Calibir"/>
                      </a:endParaRPr>
                    </a:p>
                  </a:txBody>
                  <a:tcPr marL="40667" marR="40667" marT="20333" marB="20333" anchor="ctr"/>
                </a:tc>
                <a:tc>
                  <a:txBody>
                    <a:bodyPr/>
                    <a:lstStyle/>
                    <a:p>
                      <a:pPr>
                        <a:buNone/>
                      </a:pPr>
                      <a:r>
                        <a:rPr lang="en-US" sz="2200">
                          <a:latin typeface="Calibir"/>
                        </a:rPr>
                        <a:t>Adds up how much each customer has spent overall.</a:t>
                      </a:r>
                    </a:p>
                  </a:txBody>
                  <a:tcPr marL="40667" marR="40667" marT="20333" marB="20333" anchor="ctr"/>
                </a:tc>
                <a:tc>
                  <a:txBody>
                    <a:bodyPr/>
                    <a:lstStyle/>
                    <a:p>
                      <a:pPr>
                        <a:buNone/>
                      </a:pPr>
                      <a:r>
                        <a:rPr lang="en-US" sz="2200" dirty="0">
                          <a:latin typeface="Calibir"/>
                        </a:rPr>
                        <a:t>If a customer placed 3 orders worth $100, $200, and $50 → Total = $350.</a:t>
                      </a:r>
                    </a:p>
                  </a:txBody>
                  <a:tcPr marL="40667" marR="40667" marT="20333" marB="20333" anchor="ctr"/>
                </a:tc>
                <a:extLst>
                  <a:ext uri="{0D108BD9-81ED-4DB2-BD59-A6C34878D82A}">
                    <a16:rowId xmlns:a16="http://schemas.microsoft.com/office/drawing/2014/main" val="712220722"/>
                  </a:ext>
                </a:extLst>
              </a:tr>
            </a:tbl>
          </a:graphicData>
        </a:graphic>
      </p:graphicFrame>
    </p:spTree>
    <p:extLst>
      <p:ext uri="{BB962C8B-B14F-4D97-AF65-F5344CB8AC3E}">
        <p14:creationId xmlns:p14="http://schemas.microsoft.com/office/powerpoint/2010/main" val="39772941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FFC72E8-E702-30F4-31E0-D77DB78AA38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59C56FC-FA0D-1E27-D24B-B405C2B671C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1CADB42-9EBF-CBC5-CE41-8D0CBF9A9FC1}"/>
              </a:ext>
            </a:extLst>
          </p:cNvPr>
          <p:cNvSpPr>
            <a:spLocks noGrp="1"/>
          </p:cNvSpPr>
          <p:nvPr>
            <p:ph type="sldNum" sz="quarter" idx="4"/>
          </p:nvPr>
        </p:nvSpPr>
        <p:spPr/>
        <p:txBody>
          <a:bodyPr/>
          <a:lstStyle/>
          <a:p>
            <a:fld id="{16A89BA3-132D-40E1-AAB4-CDCD0A14C216}" type="slidenum">
              <a:rPr lang="en-AU" smtClean="0"/>
              <a:pPr/>
              <a:t>84</a:t>
            </a:fld>
            <a:r>
              <a:rPr lang="en-AU"/>
              <a:t>  |</a:t>
            </a:r>
            <a:endParaRPr lang="en-AU" dirty="0"/>
          </a:p>
        </p:txBody>
      </p:sp>
      <p:sp>
        <p:nvSpPr>
          <p:cNvPr id="5" name="TextBox 4">
            <a:extLst>
              <a:ext uri="{FF2B5EF4-FFF2-40B4-BE49-F238E27FC236}">
                <a16:creationId xmlns:a16="http://schemas.microsoft.com/office/drawing/2014/main" id="{A34F3A24-FB38-DD3C-A110-DCD9B0F513C6}"/>
              </a:ext>
            </a:extLst>
          </p:cNvPr>
          <p:cNvSpPr txBox="1"/>
          <p:nvPr/>
        </p:nvSpPr>
        <p:spPr>
          <a:xfrm>
            <a:off x="0" y="0"/>
            <a:ext cx="9144000" cy="2400657"/>
          </a:xfrm>
          <a:prstGeom prst="rect">
            <a:avLst/>
          </a:prstGeom>
          <a:solidFill>
            <a:schemeClr val="accent4">
              <a:lumMod val="90000"/>
              <a:lumOff val="10000"/>
            </a:schemeClr>
          </a:solidFill>
        </p:spPr>
        <p:txBody>
          <a:bodyPr wrap="square">
            <a:spAutoFit/>
          </a:bodyPr>
          <a:lstStyle/>
          <a:p>
            <a:pPr>
              <a:buNone/>
            </a:pPr>
            <a:r>
              <a:rPr lang="en-US" sz="2500" b="0" dirty="0">
                <a:solidFill>
                  <a:srgbClr val="569CD6"/>
                </a:solidFill>
                <a:effectLst/>
                <a:latin typeface="Consolas" panose="020B0609020204030204" pitchFamily="49" charset="0"/>
              </a:rPr>
              <a:t>SELECT</a:t>
            </a:r>
            <a:r>
              <a:rPr lang="en-US" sz="2500" b="0" dirty="0">
                <a:solidFill>
                  <a:srgbClr val="CCCCCC"/>
                </a:solidFill>
                <a:effectLst/>
                <a:latin typeface="Consolas" panose="020B0609020204030204" pitchFamily="49" charset="0"/>
              </a:rPr>
              <a:t> TOP </a:t>
            </a:r>
            <a:r>
              <a:rPr lang="en-US" sz="2500" b="0" dirty="0">
                <a:solidFill>
                  <a:srgbClr val="B5CEA8"/>
                </a:solidFill>
                <a:effectLst/>
                <a:latin typeface="Consolas" panose="020B0609020204030204" pitchFamily="49" charset="0"/>
              </a:rPr>
              <a:t>5</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SUM(</a:t>
            </a:r>
            <a:r>
              <a:rPr lang="en-US" sz="2500" b="0" dirty="0" err="1">
                <a:solidFill>
                  <a:srgbClr val="CCCCCC"/>
                </a:solidFill>
                <a:effectLst/>
                <a:latin typeface="Consolas" panose="020B0609020204030204" pitchFamily="49" charset="0"/>
              </a:rPr>
              <a:t>TotalDue</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COUNT(</a:t>
            </a:r>
            <a:r>
              <a:rPr lang="en-US" sz="2500" b="0" dirty="0" err="1">
                <a:solidFill>
                  <a:srgbClr val="CCCCCC"/>
                </a:solidFill>
                <a:effectLst/>
                <a:latin typeface="Consolas" panose="020B0609020204030204" pitchFamily="49" charset="0"/>
              </a:rPr>
              <a:t>SalesOrderID</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OrdersPlaced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FROM</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SalesLT.SalesOrderHeader</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GROUP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ORDER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DESC</a:t>
            </a:r>
            <a:r>
              <a:rPr lang="en-US" sz="25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96552870-5788-8200-A31D-29B3A5AEFC8A}"/>
              </a:ext>
            </a:extLst>
          </p:cNvPr>
          <p:cNvGraphicFramePr>
            <a:graphicFrameLocks noGrp="1"/>
          </p:cNvGraphicFramePr>
          <p:nvPr>
            <p:extLst>
              <p:ext uri="{D42A27DB-BD31-4B8C-83A1-F6EECF244321}">
                <p14:modId xmlns:p14="http://schemas.microsoft.com/office/powerpoint/2010/main" val="2134379531"/>
              </p:ext>
            </p:extLst>
          </p:nvPr>
        </p:nvGraphicFramePr>
        <p:xfrm>
          <a:off x="0" y="2400657"/>
          <a:ext cx="9144000" cy="3906130"/>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1323101181"/>
                    </a:ext>
                  </a:extLst>
                </a:gridCol>
                <a:gridCol w="3048000">
                  <a:extLst>
                    <a:ext uri="{9D8B030D-6E8A-4147-A177-3AD203B41FA5}">
                      <a16:colId xmlns:a16="http://schemas.microsoft.com/office/drawing/2014/main" val="2468395180"/>
                    </a:ext>
                  </a:extLst>
                </a:gridCol>
                <a:gridCol w="3048000">
                  <a:extLst>
                    <a:ext uri="{9D8B030D-6E8A-4147-A177-3AD203B41FA5}">
                      <a16:colId xmlns:a16="http://schemas.microsoft.com/office/drawing/2014/main" val="3304487667"/>
                    </a:ext>
                  </a:extLst>
                </a:gridCol>
              </a:tblGrid>
              <a:tr h="390666">
                <a:tc>
                  <a:txBody>
                    <a:bodyPr/>
                    <a:lstStyle/>
                    <a:p>
                      <a:pPr>
                        <a:buNone/>
                      </a:pPr>
                      <a:r>
                        <a:rPr lang="en-US" sz="2200">
                          <a:latin typeface="Calibir"/>
                        </a:rPr>
                        <a:t>Part</a:t>
                      </a:r>
                    </a:p>
                  </a:txBody>
                  <a:tcPr marL="40667" marR="40667" marT="20333" marB="20333" anchor="ctr"/>
                </a:tc>
                <a:tc>
                  <a:txBody>
                    <a:bodyPr/>
                    <a:lstStyle/>
                    <a:p>
                      <a:pPr>
                        <a:buNone/>
                      </a:pPr>
                      <a:r>
                        <a:rPr lang="en-US" sz="2200">
                          <a:latin typeface="Calibir"/>
                        </a:rPr>
                        <a:t>Meaning</a:t>
                      </a:r>
                    </a:p>
                  </a:txBody>
                  <a:tcPr marL="40667" marR="40667" marT="20333" marB="20333" anchor="ctr"/>
                </a:tc>
                <a:tc>
                  <a:txBody>
                    <a:bodyPr/>
                    <a:lstStyle/>
                    <a:p>
                      <a:pPr>
                        <a:buNone/>
                      </a:pPr>
                      <a:r>
                        <a:rPr lang="en-US" sz="2200">
                          <a:latin typeface="Calibir"/>
                        </a:rPr>
                        <a:t>Example</a:t>
                      </a:r>
                    </a:p>
                  </a:txBody>
                  <a:tcPr marL="40667" marR="40667" marT="20333" marB="20333" anchor="ctr"/>
                </a:tc>
                <a:extLst>
                  <a:ext uri="{0D108BD9-81ED-4DB2-BD59-A6C34878D82A}">
                    <a16:rowId xmlns:a16="http://schemas.microsoft.com/office/drawing/2014/main" val="2140342137"/>
                  </a:ext>
                </a:extLst>
              </a:tr>
              <a:tr h="0">
                <a:tc>
                  <a:txBody>
                    <a:bodyPr/>
                    <a:lstStyle/>
                    <a:p>
                      <a:pPr>
                        <a:buNone/>
                      </a:pPr>
                      <a:r>
                        <a:rPr lang="en-US" sz="2200" b="1" dirty="0">
                          <a:latin typeface="Calibir"/>
                        </a:rPr>
                        <a:t>AS </a:t>
                      </a:r>
                      <a:r>
                        <a:rPr lang="en-US" sz="2200" b="1" dirty="0" err="1">
                          <a:latin typeface="Calibir"/>
                        </a:rPr>
                        <a:t>TotalAmount</a:t>
                      </a:r>
                      <a:endParaRPr lang="en-US" sz="2200" dirty="0">
                        <a:latin typeface="Calibir"/>
                      </a:endParaRPr>
                    </a:p>
                  </a:txBody>
                  <a:tcPr marL="40667" marR="40667" marT="20333" marB="20333" anchor="ctr"/>
                </a:tc>
                <a:tc>
                  <a:txBody>
                    <a:bodyPr/>
                    <a:lstStyle/>
                    <a:p>
                      <a:pPr>
                        <a:buNone/>
                      </a:pPr>
                      <a:r>
                        <a:rPr lang="en-US" sz="2200" dirty="0">
                          <a:latin typeface="Calibir"/>
                        </a:rPr>
                        <a:t>Gives a friendly name to the total spending column.</a:t>
                      </a:r>
                    </a:p>
                  </a:txBody>
                  <a:tcPr marL="40667" marR="40667" marT="20333" marB="20333" anchor="ctr"/>
                </a:tc>
                <a:tc>
                  <a:txBody>
                    <a:bodyPr/>
                    <a:lstStyle/>
                    <a:p>
                      <a:pPr>
                        <a:buNone/>
                      </a:pPr>
                      <a:r>
                        <a:rPr lang="en-US" sz="2200" dirty="0">
                          <a:latin typeface="Calibir"/>
                        </a:rPr>
                        <a:t>It appears as “</a:t>
                      </a:r>
                      <a:r>
                        <a:rPr lang="en-US" sz="2200" dirty="0" err="1">
                          <a:latin typeface="Calibir"/>
                        </a:rPr>
                        <a:t>TotalAmount</a:t>
                      </a:r>
                      <a:r>
                        <a:rPr lang="en-US" sz="2200" dirty="0">
                          <a:latin typeface="Calibir"/>
                        </a:rPr>
                        <a:t>” in the results.</a:t>
                      </a:r>
                    </a:p>
                  </a:txBody>
                  <a:tcPr marL="40667" marR="40667" marT="20333" marB="20333" anchor="ctr"/>
                </a:tc>
                <a:extLst>
                  <a:ext uri="{0D108BD9-81ED-4DB2-BD59-A6C34878D82A}">
                    <a16:rowId xmlns:a16="http://schemas.microsoft.com/office/drawing/2014/main" val="154046484"/>
                  </a:ext>
                </a:extLst>
              </a:tr>
              <a:tr h="0">
                <a:tc>
                  <a:txBody>
                    <a:bodyPr/>
                    <a:lstStyle/>
                    <a:p>
                      <a:pPr>
                        <a:buNone/>
                      </a:pPr>
                      <a:r>
                        <a:rPr lang="en-US" sz="2200" b="1">
                          <a:latin typeface="Calibir"/>
                        </a:rPr>
                        <a:t>COUNT(SalesOrderID)</a:t>
                      </a:r>
                      <a:endParaRPr lang="en-US" sz="2200">
                        <a:latin typeface="Calibir"/>
                      </a:endParaRPr>
                    </a:p>
                  </a:txBody>
                  <a:tcPr marL="40667" marR="40667" marT="20333" marB="20333" anchor="ctr"/>
                </a:tc>
                <a:tc>
                  <a:txBody>
                    <a:bodyPr/>
                    <a:lstStyle/>
                    <a:p>
                      <a:pPr>
                        <a:buNone/>
                      </a:pPr>
                      <a:r>
                        <a:rPr lang="en-US" sz="2200">
                          <a:latin typeface="Calibir"/>
                        </a:rPr>
                        <a:t>Counts how many orders each customer placed.</a:t>
                      </a:r>
                    </a:p>
                  </a:txBody>
                  <a:tcPr marL="40667" marR="40667" marT="20333" marB="20333" anchor="ctr"/>
                </a:tc>
                <a:tc>
                  <a:txBody>
                    <a:bodyPr/>
                    <a:lstStyle/>
                    <a:p>
                      <a:pPr>
                        <a:buNone/>
                      </a:pPr>
                      <a:r>
                        <a:rPr lang="en-US" sz="2200" dirty="0">
                          <a:latin typeface="Calibir"/>
                        </a:rPr>
                        <a:t>If a customer has 3 orders → result = 3.</a:t>
                      </a:r>
                    </a:p>
                  </a:txBody>
                  <a:tcPr marL="40667" marR="40667" marT="20333" marB="20333" anchor="ctr"/>
                </a:tc>
                <a:extLst>
                  <a:ext uri="{0D108BD9-81ED-4DB2-BD59-A6C34878D82A}">
                    <a16:rowId xmlns:a16="http://schemas.microsoft.com/office/drawing/2014/main" val="1310635880"/>
                  </a:ext>
                </a:extLst>
              </a:tr>
              <a:tr h="0">
                <a:tc>
                  <a:txBody>
                    <a:bodyPr/>
                    <a:lstStyle/>
                    <a:p>
                      <a:pPr>
                        <a:buNone/>
                      </a:pPr>
                      <a:r>
                        <a:rPr lang="en-US" sz="2200" b="1">
                          <a:latin typeface="Calibir"/>
                        </a:rPr>
                        <a:t>AS OrdersPlaced</a:t>
                      </a:r>
                      <a:endParaRPr lang="en-US" sz="2200">
                        <a:latin typeface="Calibir"/>
                      </a:endParaRPr>
                    </a:p>
                  </a:txBody>
                  <a:tcPr marL="40667" marR="40667" marT="20333" marB="20333" anchor="ctr"/>
                </a:tc>
                <a:tc>
                  <a:txBody>
                    <a:bodyPr/>
                    <a:lstStyle/>
                    <a:p>
                      <a:pPr>
                        <a:buNone/>
                      </a:pPr>
                      <a:r>
                        <a:rPr lang="en-US" sz="2200">
                          <a:latin typeface="Calibir"/>
                        </a:rPr>
                        <a:t>Renames that count result as “OrdersPlaced.”</a:t>
                      </a:r>
                    </a:p>
                  </a:txBody>
                  <a:tcPr marL="40667" marR="40667" marT="20333" marB="20333" anchor="ctr"/>
                </a:tc>
                <a:tc>
                  <a:txBody>
                    <a:bodyPr/>
                    <a:lstStyle/>
                    <a:p>
                      <a:pPr>
                        <a:buNone/>
                      </a:pPr>
                      <a:r>
                        <a:rPr lang="en-US" sz="2200" dirty="0">
                          <a:latin typeface="Calibir"/>
                        </a:rPr>
                        <a:t>Easier to read in output.</a:t>
                      </a:r>
                    </a:p>
                  </a:txBody>
                  <a:tcPr marL="40667" marR="40667" marT="20333" marB="20333" anchor="ctr"/>
                </a:tc>
                <a:extLst>
                  <a:ext uri="{0D108BD9-81ED-4DB2-BD59-A6C34878D82A}">
                    <a16:rowId xmlns:a16="http://schemas.microsoft.com/office/drawing/2014/main" val="2717501209"/>
                  </a:ext>
                </a:extLst>
              </a:tr>
              <a:tr h="0">
                <a:tc>
                  <a:txBody>
                    <a:bodyPr/>
                    <a:lstStyle/>
                    <a:p>
                      <a:pPr>
                        <a:buNone/>
                      </a:pPr>
                      <a:r>
                        <a:rPr lang="en-US" sz="2200" b="1">
                          <a:latin typeface="Calibir"/>
                        </a:rPr>
                        <a:t>FROM SalesLT.SalesOrderHeader</a:t>
                      </a:r>
                      <a:endParaRPr lang="en-US" sz="2200">
                        <a:latin typeface="Calibir"/>
                      </a:endParaRPr>
                    </a:p>
                  </a:txBody>
                  <a:tcPr marL="40667" marR="40667" marT="20333" marB="20333" anchor="ctr"/>
                </a:tc>
                <a:tc>
                  <a:txBody>
                    <a:bodyPr/>
                    <a:lstStyle/>
                    <a:p>
                      <a:pPr>
                        <a:buNone/>
                      </a:pPr>
                      <a:r>
                        <a:rPr lang="en-US" sz="2200">
                          <a:latin typeface="Calibir"/>
                        </a:rPr>
                        <a:t>Data is taken from the order records table.</a:t>
                      </a:r>
                    </a:p>
                  </a:txBody>
                  <a:tcPr marL="40667" marR="40667" marT="20333" marB="20333" anchor="ctr"/>
                </a:tc>
                <a:tc>
                  <a:txBody>
                    <a:bodyPr/>
                    <a:lstStyle/>
                    <a:p>
                      <a:pPr>
                        <a:buNone/>
                      </a:pPr>
                      <a:r>
                        <a:rPr lang="en-US" sz="2200" dirty="0">
                          <a:latin typeface="Calibir"/>
                        </a:rPr>
                        <a:t>This is where all sales transactions are listed.</a:t>
                      </a:r>
                    </a:p>
                  </a:txBody>
                  <a:tcPr marL="40667" marR="40667" marT="20333" marB="20333" anchor="ctr"/>
                </a:tc>
                <a:extLst>
                  <a:ext uri="{0D108BD9-81ED-4DB2-BD59-A6C34878D82A}">
                    <a16:rowId xmlns:a16="http://schemas.microsoft.com/office/drawing/2014/main" val="712220722"/>
                  </a:ext>
                </a:extLst>
              </a:tr>
            </a:tbl>
          </a:graphicData>
        </a:graphic>
      </p:graphicFrame>
    </p:spTree>
    <p:extLst>
      <p:ext uri="{BB962C8B-B14F-4D97-AF65-F5344CB8AC3E}">
        <p14:creationId xmlns:p14="http://schemas.microsoft.com/office/powerpoint/2010/main" val="16637222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EEB41DE-1160-33C3-BBE9-D438E6B0458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EC0D277-6277-2DB1-8BBD-7D4B95F87F4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4FD74D8-356F-D03F-0DE5-AE66279193E5}"/>
              </a:ext>
            </a:extLst>
          </p:cNvPr>
          <p:cNvSpPr>
            <a:spLocks noGrp="1"/>
          </p:cNvSpPr>
          <p:nvPr>
            <p:ph type="sldNum" sz="quarter" idx="4"/>
          </p:nvPr>
        </p:nvSpPr>
        <p:spPr/>
        <p:txBody>
          <a:bodyPr/>
          <a:lstStyle/>
          <a:p>
            <a:fld id="{16A89BA3-132D-40E1-AAB4-CDCD0A14C216}" type="slidenum">
              <a:rPr lang="en-AU" smtClean="0"/>
              <a:pPr/>
              <a:t>85</a:t>
            </a:fld>
            <a:r>
              <a:rPr lang="en-AU"/>
              <a:t>  |</a:t>
            </a:r>
            <a:endParaRPr lang="en-AU" dirty="0"/>
          </a:p>
        </p:txBody>
      </p:sp>
      <p:sp>
        <p:nvSpPr>
          <p:cNvPr id="5" name="TextBox 4">
            <a:extLst>
              <a:ext uri="{FF2B5EF4-FFF2-40B4-BE49-F238E27FC236}">
                <a16:creationId xmlns:a16="http://schemas.microsoft.com/office/drawing/2014/main" id="{8F305CA0-5C39-8FF0-AA0D-B41AFBE0981E}"/>
              </a:ext>
            </a:extLst>
          </p:cNvPr>
          <p:cNvSpPr txBox="1"/>
          <p:nvPr/>
        </p:nvSpPr>
        <p:spPr>
          <a:xfrm>
            <a:off x="0" y="0"/>
            <a:ext cx="9144000" cy="2400657"/>
          </a:xfrm>
          <a:prstGeom prst="rect">
            <a:avLst/>
          </a:prstGeom>
          <a:solidFill>
            <a:schemeClr val="accent4">
              <a:lumMod val="90000"/>
              <a:lumOff val="10000"/>
            </a:schemeClr>
          </a:solidFill>
        </p:spPr>
        <p:txBody>
          <a:bodyPr wrap="square">
            <a:spAutoFit/>
          </a:bodyPr>
          <a:lstStyle/>
          <a:p>
            <a:pPr>
              <a:buNone/>
            </a:pPr>
            <a:r>
              <a:rPr lang="en-US" sz="2500" b="0" dirty="0">
                <a:solidFill>
                  <a:srgbClr val="569CD6"/>
                </a:solidFill>
                <a:effectLst/>
                <a:latin typeface="Consolas" panose="020B0609020204030204" pitchFamily="49" charset="0"/>
              </a:rPr>
              <a:t>SELECT</a:t>
            </a:r>
            <a:r>
              <a:rPr lang="en-US" sz="2500" b="0" dirty="0">
                <a:solidFill>
                  <a:srgbClr val="CCCCCC"/>
                </a:solidFill>
                <a:effectLst/>
                <a:latin typeface="Consolas" panose="020B0609020204030204" pitchFamily="49" charset="0"/>
              </a:rPr>
              <a:t> TOP </a:t>
            </a:r>
            <a:r>
              <a:rPr lang="en-US" sz="2500" b="0" dirty="0">
                <a:solidFill>
                  <a:srgbClr val="B5CEA8"/>
                </a:solidFill>
                <a:effectLst/>
                <a:latin typeface="Consolas" panose="020B0609020204030204" pitchFamily="49" charset="0"/>
              </a:rPr>
              <a:t>5</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SUM(</a:t>
            </a:r>
            <a:r>
              <a:rPr lang="en-US" sz="2500" b="0" dirty="0" err="1">
                <a:solidFill>
                  <a:srgbClr val="CCCCCC"/>
                </a:solidFill>
                <a:effectLst/>
                <a:latin typeface="Consolas" panose="020B0609020204030204" pitchFamily="49" charset="0"/>
              </a:rPr>
              <a:t>TotalDue</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COUNT(</a:t>
            </a:r>
            <a:r>
              <a:rPr lang="en-US" sz="2500" b="0" dirty="0" err="1">
                <a:solidFill>
                  <a:srgbClr val="CCCCCC"/>
                </a:solidFill>
                <a:effectLst/>
                <a:latin typeface="Consolas" panose="020B0609020204030204" pitchFamily="49" charset="0"/>
              </a:rPr>
              <a:t>SalesOrderID</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OrdersPlaced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FROM</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SalesLT.SalesOrderHeader</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GROUP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ORDER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DESC</a:t>
            </a:r>
            <a:r>
              <a:rPr lang="en-US" sz="25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150CF035-3819-E23E-DA30-B10895C16ADF}"/>
              </a:ext>
            </a:extLst>
          </p:cNvPr>
          <p:cNvGraphicFramePr>
            <a:graphicFrameLocks noGrp="1"/>
          </p:cNvGraphicFramePr>
          <p:nvPr>
            <p:extLst>
              <p:ext uri="{D42A27DB-BD31-4B8C-83A1-F6EECF244321}">
                <p14:modId xmlns:p14="http://schemas.microsoft.com/office/powerpoint/2010/main" val="3402935735"/>
              </p:ext>
            </p:extLst>
          </p:nvPr>
        </p:nvGraphicFramePr>
        <p:xfrm>
          <a:off x="0" y="2400657"/>
          <a:ext cx="9144000" cy="2483678"/>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1323101181"/>
                    </a:ext>
                  </a:extLst>
                </a:gridCol>
                <a:gridCol w="3048000">
                  <a:extLst>
                    <a:ext uri="{9D8B030D-6E8A-4147-A177-3AD203B41FA5}">
                      <a16:colId xmlns:a16="http://schemas.microsoft.com/office/drawing/2014/main" val="2468395180"/>
                    </a:ext>
                  </a:extLst>
                </a:gridCol>
                <a:gridCol w="3048000">
                  <a:extLst>
                    <a:ext uri="{9D8B030D-6E8A-4147-A177-3AD203B41FA5}">
                      <a16:colId xmlns:a16="http://schemas.microsoft.com/office/drawing/2014/main" val="3304487667"/>
                    </a:ext>
                  </a:extLst>
                </a:gridCol>
              </a:tblGrid>
              <a:tr h="390666">
                <a:tc>
                  <a:txBody>
                    <a:bodyPr/>
                    <a:lstStyle/>
                    <a:p>
                      <a:pPr>
                        <a:buNone/>
                      </a:pPr>
                      <a:r>
                        <a:rPr lang="en-US" sz="2200">
                          <a:latin typeface="Calibir"/>
                        </a:rPr>
                        <a:t>Part</a:t>
                      </a:r>
                    </a:p>
                  </a:txBody>
                  <a:tcPr marL="40667" marR="40667" marT="20333" marB="20333" anchor="ctr"/>
                </a:tc>
                <a:tc>
                  <a:txBody>
                    <a:bodyPr/>
                    <a:lstStyle/>
                    <a:p>
                      <a:pPr>
                        <a:buNone/>
                      </a:pPr>
                      <a:r>
                        <a:rPr lang="en-US" sz="2200">
                          <a:latin typeface="Calibir"/>
                        </a:rPr>
                        <a:t>Meaning</a:t>
                      </a:r>
                    </a:p>
                  </a:txBody>
                  <a:tcPr marL="40667" marR="40667" marT="20333" marB="20333" anchor="ctr"/>
                </a:tc>
                <a:tc>
                  <a:txBody>
                    <a:bodyPr/>
                    <a:lstStyle/>
                    <a:p>
                      <a:pPr>
                        <a:buNone/>
                      </a:pPr>
                      <a:r>
                        <a:rPr lang="en-US" sz="2200">
                          <a:latin typeface="Calibir"/>
                        </a:rPr>
                        <a:t>Example</a:t>
                      </a:r>
                    </a:p>
                  </a:txBody>
                  <a:tcPr marL="40667" marR="40667" marT="20333" marB="20333" anchor="ctr"/>
                </a:tc>
                <a:extLst>
                  <a:ext uri="{0D108BD9-81ED-4DB2-BD59-A6C34878D82A}">
                    <a16:rowId xmlns:a16="http://schemas.microsoft.com/office/drawing/2014/main" val="2140342137"/>
                  </a:ext>
                </a:extLst>
              </a:tr>
              <a:tr h="0">
                <a:tc>
                  <a:txBody>
                    <a:bodyPr/>
                    <a:lstStyle/>
                    <a:p>
                      <a:pPr>
                        <a:buNone/>
                      </a:pPr>
                      <a:r>
                        <a:rPr lang="en-US" sz="2200" b="1">
                          <a:latin typeface="Calibir"/>
                        </a:rPr>
                        <a:t>GROUP BY CustomerID</a:t>
                      </a:r>
                      <a:endParaRPr lang="en-US" sz="2200">
                        <a:latin typeface="Calibir"/>
                      </a:endParaRPr>
                    </a:p>
                  </a:txBody>
                  <a:tcPr marL="40667" marR="40667" marT="20333" marB="20333" anchor="ctr"/>
                </a:tc>
                <a:tc>
                  <a:txBody>
                    <a:bodyPr/>
                    <a:lstStyle/>
                    <a:p>
                      <a:pPr>
                        <a:buNone/>
                      </a:pPr>
                      <a:r>
                        <a:rPr lang="en-US" sz="2200">
                          <a:latin typeface="Calibir"/>
                        </a:rPr>
                        <a:t>Groups results by customer so each row = one customer.</a:t>
                      </a:r>
                    </a:p>
                  </a:txBody>
                  <a:tcPr marL="40667" marR="40667" marT="20333" marB="20333" anchor="ctr"/>
                </a:tc>
                <a:tc>
                  <a:txBody>
                    <a:bodyPr/>
                    <a:lstStyle/>
                    <a:p>
                      <a:pPr>
                        <a:buNone/>
                      </a:pPr>
                      <a:r>
                        <a:rPr lang="en-US" sz="2200" dirty="0">
                          <a:latin typeface="Calibir"/>
                        </a:rPr>
                        <a:t>Calculates totals per customer.</a:t>
                      </a:r>
                    </a:p>
                  </a:txBody>
                  <a:tcPr marL="40667" marR="40667" marT="20333" marB="20333" anchor="ctr"/>
                </a:tc>
                <a:extLst>
                  <a:ext uri="{0D108BD9-81ED-4DB2-BD59-A6C34878D82A}">
                    <a16:rowId xmlns:a16="http://schemas.microsoft.com/office/drawing/2014/main" val="154046484"/>
                  </a:ext>
                </a:extLst>
              </a:tr>
              <a:tr h="0">
                <a:tc>
                  <a:txBody>
                    <a:bodyPr/>
                    <a:lstStyle/>
                    <a:p>
                      <a:pPr>
                        <a:buNone/>
                      </a:pPr>
                      <a:r>
                        <a:rPr lang="en-US" sz="2200" b="1">
                          <a:latin typeface="Calibir"/>
                        </a:rPr>
                        <a:t>ORDER BY TotalAmount DESC</a:t>
                      </a:r>
                      <a:endParaRPr lang="en-US" sz="2200">
                        <a:latin typeface="Calibir"/>
                      </a:endParaRPr>
                    </a:p>
                  </a:txBody>
                  <a:tcPr marL="40667" marR="40667" marT="20333" marB="20333" anchor="ctr"/>
                </a:tc>
                <a:tc>
                  <a:txBody>
                    <a:bodyPr/>
                    <a:lstStyle/>
                    <a:p>
                      <a:pPr>
                        <a:buNone/>
                      </a:pPr>
                      <a:r>
                        <a:rPr lang="en-US" sz="2200">
                          <a:latin typeface="Calibir"/>
                        </a:rPr>
                        <a:t>Sorts the results from highest to lowest total spending.</a:t>
                      </a:r>
                    </a:p>
                  </a:txBody>
                  <a:tcPr marL="40667" marR="40667" marT="20333" marB="20333" anchor="ctr"/>
                </a:tc>
                <a:tc>
                  <a:txBody>
                    <a:bodyPr/>
                    <a:lstStyle/>
                    <a:p>
                      <a:pPr>
                        <a:buNone/>
                      </a:pPr>
                      <a:r>
                        <a:rPr lang="en-US" sz="2200" dirty="0">
                          <a:latin typeface="Calibir"/>
                        </a:rPr>
                        <a:t>Shows biggest spenders first</a:t>
                      </a:r>
                    </a:p>
                  </a:txBody>
                  <a:tcPr marL="40667" marR="40667" marT="20333" marB="20333" anchor="ctr"/>
                </a:tc>
                <a:extLst>
                  <a:ext uri="{0D108BD9-81ED-4DB2-BD59-A6C34878D82A}">
                    <a16:rowId xmlns:a16="http://schemas.microsoft.com/office/drawing/2014/main" val="1310635880"/>
                  </a:ext>
                </a:extLst>
              </a:tr>
            </a:tbl>
          </a:graphicData>
        </a:graphic>
      </p:graphicFrame>
      <p:sp>
        <p:nvSpPr>
          <p:cNvPr id="7" name="TextBox 6">
            <a:extLst>
              <a:ext uri="{FF2B5EF4-FFF2-40B4-BE49-F238E27FC236}">
                <a16:creationId xmlns:a16="http://schemas.microsoft.com/office/drawing/2014/main" id="{F59B8628-3EA4-EED0-5AF8-26481DDA7593}"/>
              </a:ext>
            </a:extLst>
          </p:cNvPr>
          <p:cNvSpPr txBox="1"/>
          <p:nvPr/>
        </p:nvSpPr>
        <p:spPr>
          <a:xfrm>
            <a:off x="0" y="4801314"/>
            <a:ext cx="9232492" cy="1563377"/>
          </a:xfrm>
          <a:prstGeom prst="rect">
            <a:avLst/>
          </a:prstGeom>
          <a:solidFill>
            <a:schemeClr val="bg1"/>
          </a:solidFill>
        </p:spPr>
        <p:txBody>
          <a:bodyPr wrap="square">
            <a:spAutoFit/>
          </a:bodyPr>
          <a:lstStyle/>
          <a:p>
            <a:pPr>
              <a:lnSpc>
                <a:spcPct val="150000"/>
              </a:lnSpc>
              <a:buNone/>
            </a:pPr>
            <a:r>
              <a:rPr lang="en-US" sz="2200" b="1" dirty="0">
                <a:latin typeface="Calibir"/>
              </a:rPr>
              <a:t>In short: </a:t>
            </a:r>
            <a:r>
              <a:rPr lang="en-US" sz="2200" dirty="0">
                <a:latin typeface="Calibir"/>
              </a:rPr>
              <a:t>This query finds the top 5 customers who spent the most money, showing their total amount spent and how many orders they placed.</a:t>
            </a:r>
            <a:br>
              <a:rPr lang="en-US" sz="2200" dirty="0">
                <a:latin typeface="Calibir"/>
              </a:rPr>
            </a:br>
            <a:r>
              <a:rPr lang="en-US" sz="2200" dirty="0">
                <a:latin typeface="Calibir"/>
              </a:rPr>
              <a:t>It’s like a leaderboard of your best customers based on total purchases.</a:t>
            </a:r>
          </a:p>
        </p:txBody>
      </p:sp>
    </p:spTree>
    <p:extLst>
      <p:ext uri="{BB962C8B-B14F-4D97-AF65-F5344CB8AC3E}">
        <p14:creationId xmlns:p14="http://schemas.microsoft.com/office/powerpoint/2010/main" val="8094446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CD8DB67-FDA8-33DA-7231-6837EB53784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4660FC6-5794-2D60-D955-181EBE5FE52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EAEA4E7D-840A-ADC0-6890-5937124A3238}"/>
              </a:ext>
            </a:extLst>
          </p:cNvPr>
          <p:cNvSpPr>
            <a:spLocks noGrp="1"/>
          </p:cNvSpPr>
          <p:nvPr>
            <p:ph type="sldNum" sz="quarter" idx="4"/>
          </p:nvPr>
        </p:nvSpPr>
        <p:spPr/>
        <p:txBody>
          <a:bodyPr/>
          <a:lstStyle/>
          <a:p>
            <a:fld id="{16A89BA3-132D-40E1-AAB4-CDCD0A14C216}" type="slidenum">
              <a:rPr lang="en-AU" smtClean="0"/>
              <a:pPr/>
              <a:t>86</a:t>
            </a:fld>
            <a:r>
              <a:rPr lang="en-AU"/>
              <a:t>  |</a:t>
            </a:r>
            <a:endParaRPr lang="en-AU" dirty="0"/>
          </a:p>
        </p:txBody>
      </p:sp>
      <p:sp>
        <p:nvSpPr>
          <p:cNvPr id="9" name="Text Placeholder 3">
            <a:extLst>
              <a:ext uri="{FF2B5EF4-FFF2-40B4-BE49-F238E27FC236}">
                <a16:creationId xmlns:a16="http://schemas.microsoft.com/office/drawing/2014/main" id="{A321C2CD-66F3-4A62-BCA4-45DBEDCB931A}"/>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4855D01-FAE5-E2A3-7D94-97D7C4980B41}"/>
              </a:ext>
            </a:extLst>
          </p:cNvPr>
          <p:cNvSpPr txBox="1"/>
          <p:nvPr/>
        </p:nvSpPr>
        <p:spPr>
          <a:xfrm>
            <a:off x="78058" y="624468"/>
            <a:ext cx="9065942" cy="523220"/>
          </a:xfrm>
          <a:prstGeom prst="rect">
            <a:avLst/>
          </a:prstGeom>
          <a:noFill/>
        </p:spPr>
        <p:txBody>
          <a:bodyPr wrap="square" rtlCol="0">
            <a:spAutoFit/>
          </a:bodyPr>
          <a:lstStyle/>
          <a:p>
            <a:r>
              <a:rPr lang="en-US" sz="2800" dirty="0">
                <a:latin typeface="Calibir"/>
              </a:rPr>
              <a:t>10.  Average days between </a:t>
            </a:r>
            <a:r>
              <a:rPr lang="en-US" sz="2800" dirty="0" err="1">
                <a:latin typeface="Calibir"/>
              </a:rPr>
              <a:t>OrderDate</a:t>
            </a:r>
            <a:r>
              <a:rPr lang="en-US" sz="2800" dirty="0">
                <a:latin typeface="Calibir"/>
              </a:rPr>
              <a:t> and </a:t>
            </a:r>
            <a:r>
              <a:rPr lang="en-US" sz="2800" dirty="0" err="1">
                <a:latin typeface="Calibir"/>
              </a:rPr>
              <a:t>ShipDate</a:t>
            </a:r>
            <a:endParaRPr lang="en-US" sz="2800" dirty="0">
              <a:latin typeface="Calibir"/>
            </a:endParaRPr>
          </a:p>
        </p:txBody>
      </p:sp>
      <p:sp>
        <p:nvSpPr>
          <p:cNvPr id="11" name="TextBox 10">
            <a:extLst>
              <a:ext uri="{FF2B5EF4-FFF2-40B4-BE49-F238E27FC236}">
                <a16:creationId xmlns:a16="http://schemas.microsoft.com/office/drawing/2014/main" id="{70812209-4ADC-F4B5-745F-72869944D26F}"/>
              </a:ext>
            </a:extLst>
          </p:cNvPr>
          <p:cNvSpPr txBox="1"/>
          <p:nvPr/>
        </p:nvSpPr>
        <p:spPr>
          <a:xfrm>
            <a:off x="0" y="1293434"/>
            <a:ext cx="8849710" cy="523220"/>
          </a:xfrm>
          <a:prstGeom prst="rect">
            <a:avLst/>
          </a:prstGeom>
          <a:noFill/>
        </p:spPr>
        <p:txBody>
          <a:bodyPr wrap="square">
            <a:spAutoFit/>
          </a:bodyPr>
          <a:lstStyle/>
          <a:p>
            <a:r>
              <a:rPr lang="en-US" sz="2800" dirty="0">
                <a:solidFill>
                  <a:srgbClr val="3D3935"/>
                </a:solidFill>
                <a:latin typeface="Calibir"/>
              </a:rPr>
              <a:t>Take a screenshot) Shift + Enter (Or click </a:t>
            </a:r>
            <a:r>
              <a:rPr lang="en-US" sz="2800" dirty="0">
                <a:solidFill>
                  <a:srgbClr val="3D3935"/>
                </a:solidFill>
                <a:highlight>
                  <a:srgbClr val="FFFF00"/>
                </a:highlight>
                <a:latin typeface="Calibir"/>
              </a:rPr>
              <a:t>Run</a:t>
            </a:r>
            <a:r>
              <a:rPr lang="en-US" sz="2800" dirty="0">
                <a:solidFill>
                  <a:srgbClr val="3D3935"/>
                </a:solidFill>
                <a:latin typeface="Calibir"/>
              </a:rPr>
              <a:t>)</a:t>
            </a:r>
            <a:endParaRPr lang="en-US" sz="2800" dirty="0"/>
          </a:p>
        </p:txBody>
      </p:sp>
      <p:sp>
        <p:nvSpPr>
          <p:cNvPr id="10" name="TextBox 9">
            <a:extLst>
              <a:ext uri="{FF2B5EF4-FFF2-40B4-BE49-F238E27FC236}">
                <a16:creationId xmlns:a16="http://schemas.microsoft.com/office/drawing/2014/main" id="{A29BAC88-B8A7-522F-B996-2A9BB6E6D917}"/>
              </a:ext>
            </a:extLst>
          </p:cNvPr>
          <p:cNvSpPr txBox="1"/>
          <p:nvPr/>
        </p:nvSpPr>
        <p:spPr>
          <a:xfrm>
            <a:off x="0" y="4583300"/>
            <a:ext cx="9144000" cy="1315425"/>
          </a:xfrm>
          <a:prstGeom prst="rect">
            <a:avLst/>
          </a:prstGeom>
          <a:noFill/>
        </p:spPr>
        <p:txBody>
          <a:bodyPr wrap="square">
            <a:spAutoFit/>
          </a:bodyPr>
          <a:lstStyle/>
          <a:p>
            <a:pPr>
              <a:lnSpc>
                <a:spcPct val="150000"/>
              </a:lnSpc>
            </a:pPr>
            <a:r>
              <a:rPr lang="en-US" sz="2800" dirty="0">
                <a:latin typeface="Calibir"/>
              </a:rPr>
              <a:t>Finds the average number of days it takes to ship an order — useful for checking delivery performance.</a:t>
            </a:r>
          </a:p>
        </p:txBody>
      </p:sp>
      <p:sp>
        <p:nvSpPr>
          <p:cNvPr id="5" name="TextBox 4">
            <a:extLst>
              <a:ext uri="{FF2B5EF4-FFF2-40B4-BE49-F238E27FC236}">
                <a16:creationId xmlns:a16="http://schemas.microsoft.com/office/drawing/2014/main" id="{C39A533A-1B39-2FD0-FE81-AB9C81D0E55D}"/>
              </a:ext>
            </a:extLst>
          </p:cNvPr>
          <p:cNvSpPr txBox="1"/>
          <p:nvPr/>
        </p:nvSpPr>
        <p:spPr>
          <a:xfrm>
            <a:off x="0" y="1926115"/>
            <a:ext cx="9144000" cy="2400657"/>
          </a:xfrm>
          <a:prstGeom prst="rect">
            <a:avLst/>
          </a:prstGeom>
          <a:solidFill>
            <a:schemeClr val="accent4">
              <a:lumMod val="90000"/>
              <a:lumOff val="10000"/>
            </a:schemeClr>
          </a:solidFill>
        </p:spPr>
        <p:txBody>
          <a:bodyPr wrap="square">
            <a:spAutoFit/>
          </a:bodyPr>
          <a:lstStyle/>
          <a:p>
            <a:pPr>
              <a:buNone/>
            </a:pPr>
            <a:r>
              <a:rPr lang="en-US" sz="2500" b="0" dirty="0">
                <a:solidFill>
                  <a:srgbClr val="569CD6"/>
                </a:solidFill>
                <a:effectLst/>
                <a:latin typeface="Consolas" panose="020B0609020204030204" pitchFamily="49" charset="0"/>
              </a:rPr>
              <a:t>SELECT</a:t>
            </a:r>
            <a:r>
              <a:rPr lang="en-US" sz="2500" b="0" dirty="0">
                <a:solidFill>
                  <a:srgbClr val="CCCCCC"/>
                </a:solidFill>
                <a:effectLst/>
                <a:latin typeface="Consolas" panose="020B0609020204030204" pitchFamily="49" charset="0"/>
              </a:rPr>
              <a:t> TOP </a:t>
            </a:r>
            <a:r>
              <a:rPr lang="en-US" sz="2500" b="0" dirty="0">
                <a:solidFill>
                  <a:srgbClr val="B5CEA8"/>
                </a:solidFill>
                <a:effectLst/>
                <a:latin typeface="Consolas" panose="020B0609020204030204" pitchFamily="49" charset="0"/>
              </a:rPr>
              <a:t>5</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SUM(</a:t>
            </a:r>
            <a:r>
              <a:rPr lang="en-US" sz="2500" b="0" dirty="0" err="1">
                <a:solidFill>
                  <a:srgbClr val="CCCCCC"/>
                </a:solidFill>
                <a:effectLst/>
                <a:latin typeface="Consolas" panose="020B0609020204030204" pitchFamily="49" charset="0"/>
              </a:rPr>
              <a:t>TotalDue</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COUNT(</a:t>
            </a:r>
            <a:r>
              <a:rPr lang="en-US" sz="2500" b="0" dirty="0" err="1">
                <a:solidFill>
                  <a:srgbClr val="CCCCCC"/>
                </a:solidFill>
                <a:effectLst/>
                <a:latin typeface="Consolas" panose="020B0609020204030204" pitchFamily="49" charset="0"/>
              </a:rPr>
              <a:t>SalesOrderID</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OrdersPlaced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FROM</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SalesLT.SalesOrderHeader</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GROUP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ORDER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DESC</a:t>
            </a:r>
            <a:r>
              <a:rPr lang="en-US" sz="25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1485001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F59182D7-855B-7FF8-5FBC-EE340BF1A31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AC70096-696A-A21E-95C1-E6048999B708}"/>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173F7B49-A708-7D48-F923-53700F7CB799}"/>
              </a:ext>
            </a:extLst>
          </p:cNvPr>
          <p:cNvSpPr>
            <a:spLocks noGrp="1"/>
          </p:cNvSpPr>
          <p:nvPr>
            <p:ph type="sldNum" sz="quarter" idx="4"/>
          </p:nvPr>
        </p:nvSpPr>
        <p:spPr/>
        <p:txBody>
          <a:bodyPr/>
          <a:lstStyle/>
          <a:p>
            <a:fld id="{16A89BA3-132D-40E1-AAB4-CDCD0A14C216}" type="slidenum">
              <a:rPr lang="en-AU" smtClean="0"/>
              <a:pPr/>
              <a:t>87</a:t>
            </a:fld>
            <a:r>
              <a:rPr lang="en-AU"/>
              <a:t>  |</a:t>
            </a:r>
            <a:endParaRPr lang="en-AU" dirty="0"/>
          </a:p>
        </p:txBody>
      </p:sp>
      <p:sp>
        <p:nvSpPr>
          <p:cNvPr id="5" name="TextBox 4">
            <a:extLst>
              <a:ext uri="{FF2B5EF4-FFF2-40B4-BE49-F238E27FC236}">
                <a16:creationId xmlns:a16="http://schemas.microsoft.com/office/drawing/2014/main" id="{703A6E5A-0E97-1576-362E-4C4E62169E40}"/>
              </a:ext>
            </a:extLst>
          </p:cNvPr>
          <p:cNvSpPr txBox="1"/>
          <p:nvPr/>
        </p:nvSpPr>
        <p:spPr>
          <a:xfrm>
            <a:off x="0" y="0"/>
            <a:ext cx="9144000" cy="2400657"/>
          </a:xfrm>
          <a:prstGeom prst="rect">
            <a:avLst/>
          </a:prstGeom>
          <a:solidFill>
            <a:schemeClr val="accent4">
              <a:lumMod val="90000"/>
              <a:lumOff val="10000"/>
            </a:schemeClr>
          </a:solidFill>
        </p:spPr>
        <p:txBody>
          <a:bodyPr wrap="square">
            <a:spAutoFit/>
          </a:bodyPr>
          <a:lstStyle/>
          <a:p>
            <a:pPr>
              <a:buNone/>
            </a:pPr>
            <a:r>
              <a:rPr lang="en-US" sz="2500" b="0" dirty="0">
                <a:solidFill>
                  <a:srgbClr val="569CD6"/>
                </a:solidFill>
                <a:effectLst/>
                <a:latin typeface="Consolas" panose="020B0609020204030204" pitchFamily="49" charset="0"/>
              </a:rPr>
              <a:t>SELECT</a:t>
            </a:r>
            <a:r>
              <a:rPr lang="en-US" sz="2500" b="0" dirty="0">
                <a:solidFill>
                  <a:srgbClr val="CCCCCC"/>
                </a:solidFill>
                <a:effectLst/>
                <a:latin typeface="Consolas" panose="020B0609020204030204" pitchFamily="49" charset="0"/>
              </a:rPr>
              <a:t> TOP </a:t>
            </a:r>
            <a:r>
              <a:rPr lang="en-US" sz="2500" b="0" dirty="0">
                <a:solidFill>
                  <a:srgbClr val="B5CEA8"/>
                </a:solidFill>
                <a:effectLst/>
                <a:latin typeface="Consolas" panose="020B0609020204030204" pitchFamily="49" charset="0"/>
              </a:rPr>
              <a:t>5</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SUM(</a:t>
            </a:r>
            <a:r>
              <a:rPr lang="en-US" sz="2500" b="0" dirty="0" err="1">
                <a:solidFill>
                  <a:srgbClr val="CCCCCC"/>
                </a:solidFill>
                <a:effectLst/>
                <a:latin typeface="Consolas" panose="020B0609020204030204" pitchFamily="49" charset="0"/>
              </a:rPr>
              <a:t>TotalDue</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COUNT(</a:t>
            </a:r>
            <a:r>
              <a:rPr lang="en-US" sz="2500" b="0" dirty="0" err="1">
                <a:solidFill>
                  <a:srgbClr val="CCCCCC"/>
                </a:solidFill>
                <a:effectLst/>
                <a:latin typeface="Consolas" panose="020B0609020204030204" pitchFamily="49" charset="0"/>
              </a:rPr>
              <a:t>SalesOrderID</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OrdersPlaced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FROM</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SalesLT.SalesOrderHeader</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GROUP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ORDER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DESC</a:t>
            </a:r>
            <a:r>
              <a:rPr lang="en-US" sz="25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A0F9B945-F168-0070-224F-8E81B7E9293C}"/>
              </a:ext>
            </a:extLst>
          </p:cNvPr>
          <p:cNvGraphicFramePr>
            <a:graphicFrameLocks noGrp="1"/>
          </p:cNvGraphicFramePr>
          <p:nvPr>
            <p:extLst>
              <p:ext uri="{D42A27DB-BD31-4B8C-83A1-F6EECF244321}">
                <p14:modId xmlns:p14="http://schemas.microsoft.com/office/powerpoint/2010/main" val="452854895"/>
              </p:ext>
            </p:extLst>
          </p:nvPr>
        </p:nvGraphicFramePr>
        <p:xfrm>
          <a:off x="-1" y="2400657"/>
          <a:ext cx="9144000" cy="4576323"/>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792685846"/>
                    </a:ext>
                  </a:extLst>
                </a:gridCol>
                <a:gridCol w="3048000">
                  <a:extLst>
                    <a:ext uri="{9D8B030D-6E8A-4147-A177-3AD203B41FA5}">
                      <a16:colId xmlns:a16="http://schemas.microsoft.com/office/drawing/2014/main" val="1588994029"/>
                    </a:ext>
                  </a:extLst>
                </a:gridCol>
                <a:gridCol w="3048000">
                  <a:extLst>
                    <a:ext uri="{9D8B030D-6E8A-4147-A177-3AD203B41FA5}">
                      <a16:colId xmlns:a16="http://schemas.microsoft.com/office/drawing/2014/main" val="321363036"/>
                    </a:ext>
                  </a:extLst>
                </a:gridCol>
              </a:tblGrid>
              <a:tr h="390299">
                <a:tc>
                  <a:txBody>
                    <a:bodyPr/>
                    <a:lstStyle/>
                    <a:p>
                      <a:pPr>
                        <a:buNone/>
                      </a:pPr>
                      <a:r>
                        <a:rPr lang="en-US" sz="2200">
                          <a:latin typeface="Calibir"/>
                        </a:rPr>
                        <a:t>Part</a:t>
                      </a:r>
                    </a:p>
                  </a:txBody>
                  <a:tcPr marL="40667" marR="40667" marT="20333" marB="20333" anchor="ctr"/>
                </a:tc>
                <a:tc>
                  <a:txBody>
                    <a:bodyPr/>
                    <a:lstStyle/>
                    <a:p>
                      <a:pPr>
                        <a:buNone/>
                      </a:pPr>
                      <a:r>
                        <a:rPr lang="en-US" sz="2200">
                          <a:latin typeface="Calibir"/>
                        </a:rPr>
                        <a:t>Meaning</a:t>
                      </a:r>
                    </a:p>
                  </a:txBody>
                  <a:tcPr marL="40667" marR="40667" marT="20333" marB="20333" anchor="ctr"/>
                </a:tc>
                <a:tc>
                  <a:txBody>
                    <a:bodyPr/>
                    <a:lstStyle/>
                    <a:p>
                      <a:pPr>
                        <a:buNone/>
                      </a:pPr>
                      <a:r>
                        <a:rPr lang="en-US" sz="2200">
                          <a:latin typeface="Calibir"/>
                        </a:rPr>
                        <a:t>Example</a:t>
                      </a:r>
                    </a:p>
                  </a:txBody>
                  <a:tcPr marL="40667" marR="40667" marT="20333" marB="20333" anchor="ctr"/>
                </a:tc>
                <a:extLst>
                  <a:ext uri="{0D108BD9-81ED-4DB2-BD59-A6C34878D82A}">
                    <a16:rowId xmlns:a16="http://schemas.microsoft.com/office/drawing/2014/main" val="1711794444"/>
                  </a:ext>
                </a:extLst>
              </a:tr>
              <a:tr h="0">
                <a:tc>
                  <a:txBody>
                    <a:bodyPr/>
                    <a:lstStyle/>
                    <a:p>
                      <a:pPr>
                        <a:buNone/>
                      </a:pPr>
                      <a:r>
                        <a:rPr lang="en-US" sz="2200" b="1" dirty="0">
                          <a:latin typeface="Calibir"/>
                        </a:rPr>
                        <a:t>SELECT</a:t>
                      </a:r>
                      <a:endParaRPr lang="en-US" sz="2200" dirty="0">
                        <a:latin typeface="Calibir"/>
                      </a:endParaRPr>
                    </a:p>
                  </a:txBody>
                  <a:tcPr marL="40667" marR="40667" marT="20333" marB="20333" anchor="ctr">
                    <a:solidFill>
                      <a:schemeClr val="bg1"/>
                    </a:solidFill>
                  </a:tcPr>
                </a:tc>
                <a:tc>
                  <a:txBody>
                    <a:bodyPr/>
                    <a:lstStyle/>
                    <a:p>
                      <a:pPr>
                        <a:buNone/>
                      </a:pPr>
                      <a:r>
                        <a:rPr lang="en-US" sz="2200">
                          <a:latin typeface="Calibir"/>
                        </a:rPr>
                        <a:t>Chooses what you want to see in the results.</a:t>
                      </a:r>
                    </a:p>
                  </a:txBody>
                  <a:tcPr marL="40667" marR="40667" marT="20333" marB="20333" anchor="ctr">
                    <a:solidFill>
                      <a:schemeClr val="bg1"/>
                    </a:solidFill>
                  </a:tcPr>
                </a:tc>
                <a:tc>
                  <a:txBody>
                    <a:bodyPr/>
                    <a:lstStyle/>
                    <a:p>
                      <a:pPr>
                        <a:buNone/>
                      </a:pPr>
                      <a:r>
                        <a:rPr lang="en-US" sz="2200">
                          <a:latin typeface="Calibir"/>
                        </a:rPr>
                        <a:t>“Show me customer ID, total money spent, and how many orders they made.”</a:t>
                      </a:r>
                    </a:p>
                  </a:txBody>
                  <a:tcPr marL="40667" marR="40667" marT="20333" marB="20333" anchor="ctr">
                    <a:solidFill>
                      <a:schemeClr val="bg1"/>
                    </a:solidFill>
                  </a:tcPr>
                </a:tc>
                <a:extLst>
                  <a:ext uri="{0D108BD9-81ED-4DB2-BD59-A6C34878D82A}">
                    <a16:rowId xmlns:a16="http://schemas.microsoft.com/office/drawing/2014/main" val="2610809305"/>
                  </a:ext>
                </a:extLst>
              </a:tr>
              <a:tr h="0">
                <a:tc>
                  <a:txBody>
                    <a:bodyPr/>
                    <a:lstStyle/>
                    <a:p>
                      <a:pPr>
                        <a:buNone/>
                      </a:pPr>
                      <a:r>
                        <a:rPr lang="en-US" sz="2200" b="1">
                          <a:latin typeface="Calibir"/>
                        </a:rPr>
                        <a:t>TOP 5</a:t>
                      </a:r>
                      <a:endParaRPr lang="en-US" sz="2200">
                        <a:latin typeface="Calibir"/>
                      </a:endParaRPr>
                    </a:p>
                  </a:txBody>
                  <a:tcPr marL="40667" marR="40667" marT="20333" marB="20333" anchor="ctr">
                    <a:solidFill>
                      <a:schemeClr val="bg1"/>
                    </a:solidFill>
                  </a:tcPr>
                </a:tc>
                <a:tc>
                  <a:txBody>
                    <a:bodyPr/>
                    <a:lstStyle/>
                    <a:p>
                      <a:pPr>
                        <a:buNone/>
                      </a:pPr>
                      <a:r>
                        <a:rPr lang="en-US" sz="2200" dirty="0">
                          <a:latin typeface="Calibir"/>
                        </a:rPr>
                        <a:t>Limits the output to only the first 5 rows.</a:t>
                      </a:r>
                    </a:p>
                  </a:txBody>
                  <a:tcPr marL="40667" marR="40667" marT="20333" marB="20333" anchor="ctr">
                    <a:solidFill>
                      <a:schemeClr val="bg1"/>
                    </a:solidFill>
                  </a:tcPr>
                </a:tc>
                <a:tc>
                  <a:txBody>
                    <a:bodyPr/>
                    <a:lstStyle/>
                    <a:p>
                      <a:pPr>
                        <a:buNone/>
                      </a:pPr>
                      <a:r>
                        <a:rPr lang="en-US" sz="2200">
                          <a:latin typeface="Calibir"/>
                        </a:rPr>
                        <a:t>Shows the </a:t>
                      </a:r>
                      <a:r>
                        <a:rPr lang="en-US" sz="2200" b="1">
                          <a:latin typeface="Calibir"/>
                        </a:rPr>
                        <a:t>top 5</a:t>
                      </a:r>
                      <a:r>
                        <a:rPr lang="en-US" sz="2200">
                          <a:latin typeface="Calibir"/>
                        </a:rPr>
                        <a:t> customers based on spending.</a:t>
                      </a:r>
                    </a:p>
                  </a:txBody>
                  <a:tcPr marL="40667" marR="40667" marT="20333" marB="20333" anchor="ctr">
                    <a:solidFill>
                      <a:schemeClr val="bg1"/>
                    </a:solidFill>
                  </a:tcPr>
                </a:tc>
                <a:extLst>
                  <a:ext uri="{0D108BD9-81ED-4DB2-BD59-A6C34878D82A}">
                    <a16:rowId xmlns:a16="http://schemas.microsoft.com/office/drawing/2014/main" val="3099550658"/>
                  </a:ext>
                </a:extLst>
              </a:tr>
              <a:tr h="0">
                <a:tc>
                  <a:txBody>
                    <a:bodyPr/>
                    <a:lstStyle/>
                    <a:p>
                      <a:pPr>
                        <a:buNone/>
                      </a:pPr>
                      <a:r>
                        <a:rPr lang="en-US" sz="2200" b="1">
                          <a:latin typeface="Calibir"/>
                        </a:rPr>
                        <a:t>CustomerID</a:t>
                      </a:r>
                      <a:endParaRPr lang="en-US" sz="2200">
                        <a:latin typeface="Calibir"/>
                      </a:endParaRPr>
                    </a:p>
                  </a:txBody>
                  <a:tcPr marL="40667" marR="40667" marT="20333" marB="20333" anchor="ctr">
                    <a:solidFill>
                      <a:schemeClr val="bg1"/>
                    </a:solidFill>
                  </a:tcPr>
                </a:tc>
                <a:tc>
                  <a:txBody>
                    <a:bodyPr/>
                    <a:lstStyle/>
                    <a:p>
                      <a:pPr>
                        <a:buNone/>
                      </a:pPr>
                      <a:r>
                        <a:rPr lang="en-US" sz="2200" dirty="0">
                          <a:latin typeface="Calibir"/>
                        </a:rPr>
                        <a:t>Identifies each customer uniquely.</a:t>
                      </a:r>
                    </a:p>
                  </a:txBody>
                  <a:tcPr marL="40667" marR="40667" marT="20333" marB="20333" anchor="ctr">
                    <a:solidFill>
                      <a:schemeClr val="bg1"/>
                    </a:solidFill>
                  </a:tcPr>
                </a:tc>
                <a:tc>
                  <a:txBody>
                    <a:bodyPr/>
                    <a:lstStyle/>
                    <a:p>
                      <a:pPr>
                        <a:buNone/>
                      </a:pPr>
                      <a:r>
                        <a:rPr lang="fr-FR" sz="2200" dirty="0">
                          <a:latin typeface="Calibir"/>
                        </a:rPr>
                        <a:t>e.g., 101, 102, 103, etc.</a:t>
                      </a:r>
                    </a:p>
                  </a:txBody>
                  <a:tcPr marL="40667" marR="40667" marT="20333" marB="20333" anchor="ctr">
                    <a:solidFill>
                      <a:schemeClr val="bg1"/>
                    </a:solidFill>
                  </a:tcPr>
                </a:tc>
                <a:extLst>
                  <a:ext uri="{0D108BD9-81ED-4DB2-BD59-A6C34878D82A}">
                    <a16:rowId xmlns:a16="http://schemas.microsoft.com/office/drawing/2014/main" val="1109719814"/>
                  </a:ext>
                </a:extLst>
              </a:tr>
              <a:tr h="0">
                <a:tc>
                  <a:txBody>
                    <a:bodyPr/>
                    <a:lstStyle/>
                    <a:p>
                      <a:pPr>
                        <a:buNone/>
                      </a:pPr>
                      <a:r>
                        <a:rPr lang="en-US" sz="2200" b="1">
                          <a:latin typeface="Calibir"/>
                        </a:rPr>
                        <a:t>SUM(TotalDue)</a:t>
                      </a:r>
                      <a:endParaRPr lang="en-US" sz="2200">
                        <a:latin typeface="Calibir"/>
                      </a:endParaRPr>
                    </a:p>
                  </a:txBody>
                  <a:tcPr marL="40667" marR="40667" marT="20333" marB="20333" anchor="ctr">
                    <a:solidFill>
                      <a:schemeClr val="bg1"/>
                    </a:solidFill>
                  </a:tcPr>
                </a:tc>
                <a:tc>
                  <a:txBody>
                    <a:bodyPr/>
                    <a:lstStyle/>
                    <a:p>
                      <a:pPr>
                        <a:buNone/>
                      </a:pPr>
                      <a:r>
                        <a:rPr lang="en-US" sz="2200">
                          <a:latin typeface="Calibir"/>
                        </a:rPr>
                        <a:t>Adds up the total amount each customer has spent.</a:t>
                      </a:r>
                    </a:p>
                  </a:txBody>
                  <a:tcPr marL="40667" marR="40667" marT="20333" marB="20333" anchor="ctr">
                    <a:solidFill>
                      <a:schemeClr val="bg1"/>
                    </a:solidFill>
                  </a:tcPr>
                </a:tc>
                <a:tc>
                  <a:txBody>
                    <a:bodyPr/>
                    <a:lstStyle/>
                    <a:p>
                      <a:pPr>
                        <a:buNone/>
                      </a:pPr>
                      <a:r>
                        <a:rPr lang="en-US" sz="2200" dirty="0">
                          <a:latin typeface="Calibir"/>
                        </a:rPr>
                        <a:t>If a customer spent $100, $200, $300 → total = $600.</a:t>
                      </a:r>
                    </a:p>
                  </a:txBody>
                  <a:tcPr marL="40667" marR="40667" marT="20333" marB="20333" anchor="ctr">
                    <a:solidFill>
                      <a:schemeClr val="bg1"/>
                    </a:solidFill>
                  </a:tcPr>
                </a:tc>
                <a:extLst>
                  <a:ext uri="{0D108BD9-81ED-4DB2-BD59-A6C34878D82A}">
                    <a16:rowId xmlns:a16="http://schemas.microsoft.com/office/drawing/2014/main" val="2197245643"/>
                  </a:ext>
                </a:extLst>
              </a:tr>
            </a:tbl>
          </a:graphicData>
        </a:graphic>
      </p:graphicFrame>
    </p:spTree>
    <p:extLst>
      <p:ext uri="{BB962C8B-B14F-4D97-AF65-F5344CB8AC3E}">
        <p14:creationId xmlns:p14="http://schemas.microsoft.com/office/powerpoint/2010/main" val="396272276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FD468A7-A316-26BA-11F0-A3BAA967328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E5F721A-270C-6297-4617-1F262E434C8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8F76B5F-FE5A-467A-C640-C03EB02EF8DB}"/>
              </a:ext>
            </a:extLst>
          </p:cNvPr>
          <p:cNvSpPr>
            <a:spLocks noGrp="1"/>
          </p:cNvSpPr>
          <p:nvPr>
            <p:ph type="sldNum" sz="quarter" idx="4"/>
          </p:nvPr>
        </p:nvSpPr>
        <p:spPr/>
        <p:txBody>
          <a:bodyPr/>
          <a:lstStyle/>
          <a:p>
            <a:fld id="{16A89BA3-132D-40E1-AAB4-CDCD0A14C216}" type="slidenum">
              <a:rPr lang="en-AU" smtClean="0"/>
              <a:pPr/>
              <a:t>88</a:t>
            </a:fld>
            <a:r>
              <a:rPr lang="en-AU"/>
              <a:t>  |</a:t>
            </a:r>
            <a:endParaRPr lang="en-AU" dirty="0"/>
          </a:p>
        </p:txBody>
      </p:sp>
      <p:sp>
        <p:nvSpPr>
          <p:cNvPr id="5" name="TextBox 4">
            <a:extLst>
              <a:ext uri="{FF2B5EF4-FFF2-40B4-BE49-F238E27FC236}">
                <a16:creationId xmlns:a16="http://schemas.microsoft.com/office/drawing/2014/main" id="{7AB1EC8E-ADFD-96AD-6AE1-EB3AB4E13E12}"/>
              </a:ext>
            </a:extLst>
          </p:cNvPr>
          <p:cNvSpPr txBox="1"/>
          <p:nvPr/>
        </p:nvSpPr>
        <p:spPr>
          <a:xfrm>
            <a:off x="0" y="0"/>
            <a:ext cx="9144000" cy="2400657"/>
          </a:xfrm>
          <a:prstGeom prst="rect">
            <a:avLst/>
          </a:prstGeom>
          <a:solidFill>
            <a:schemeClr val="accent4">
              <a:lumMod val="90000"/>
              <a:lumOff val="10000"/>
            </a:schemeClr>
          </a:solidFill>
        </p:spPr>
        <p:txBody>
          <a:bodyPr wrap="square">
            <a:spAutoFit/>
          </a:bodyPr>
          <a:lstStyle/>
          <a:p>
            <a:pPr>
              <a:buNone/>
            </a:pPr>
            <a:r>
              <a:rPr lang="en-US" sz="2500" b="0" dirty="0">
                <a:solidFill>
                  <a:srgbClr val="569CD6"/>
                </a:solidFill>
                <a:effectLst/>
                <a:latin typeface="Consolas" panose="020B0609020204030204" pitchFamily="49" charset="0"/>
              </a:rPr>
              <a:t>SELECT</a:t>
            </a:r>
            <a:r>
              <a:rPr lang="en-US" sz="2500" b="0" dirty="0">
                <a:solidFill>
                  <a:srgbClr val="CCCCCC"/>
                </a:solidFill>
                <a:effectLst/>
                <a:latin typeface="Consolas" panose="020B0609020204030204" pitchFamily="49" charset="0"/>
              </a:rPr>
              <a:t> TOP </a:t>
            </a:r>
            <a:r>
              <a:rPr lang="en-US" sz="2500" b="0" dirty="0">
                <a:solidFill>
                  <a:srgbClr val="B5CEA8"/>
                </a:solidFill>
                <a:effectLst/>
                <a:latin typeface="Consolas" panose="020B0609020204030204" pitchFamily="49" charset="0"/>
              </a:rPr>
              <a:t>5</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SUM(</a:t>
            </a:r>
            <a:r>
              <a:rPr lang="en-US" sz="2500" b="0" dirty="0" err="1">
                <a:solidFill>
                  <a:srgbClr val="CCCCCC"/>
                </a:solidFill>
                <a:effectLst/>
                <a:latin typeface="Consolas" panose="020B0609020204030204" pitchFamily="49" charset="0"/>
              </a:rPr>
              <a:t>TotalDue</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COUNT(</a:t>
            </a:r>
            <a:r>
              <a:rPr lang="en-US" sz="2500" b="0" dirty="0" err="1">
                <a:solidFill>
                  <a:srgbClr val="CCCCCC"/>
                </a:solidFill>
                <a:effectLst/>
                <a:latin typeface="Consolas" panose="020B0609020204030204" pitchFamily="49" charset="0"/>
              </a:rPr>
              <a:t>SalesOrderID</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OrdersPlaced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FROM</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SalesLT.SalesOrderHeader</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GROUP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ORDER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DESC</a:t>
            </a:r>
            <a:r>
              <a:rPr lang="en-US" sz="25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467C77C6-BE5C-422D-F582-A0E59F9F0E1B}"/>
              </a:ext>
            </a:extLst>
          </p:cNvPr>
          <p:cNvGraphicFramePr>
            <a:graphicFrameLocks noGrp="1"/>
          </p:cNvGraphicFramePr>
          <p:nvPr>
            <p:extLst>
              <p:ext uri="{D42A27DB-BD31-4B8C-83A1-F6EECF244321}">
                <p14:modId xmlns:p14="http://schemas.microsoft.com/office/powerpoint/2010/main" val="3082026287"/>
              </p:ext>
            </p:extLst>
          </p:nvPr>
        </p:nvGraphicFramePr>
        <p:xfrm>
          <a:off x="-1" y="2400657"/>
          <a:ext cx="9144000" cy="3905763"/>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792685846"/>
                    </a:ext>
                  </a:extLst>
                </a:gridCol>
                <a:gridCol w="3048000">
                  <a:extLst>
                    <a:ext uri="{9D8B030D-6E8A-4147-A177-3AD203B41FA5}">
                      <a16:colId xmlns:a16="http://schemas.microsoft.com/office/drawing/2014/main" val="1588994029"/>
                    </a:ext>
                  </a:extLst>
                </a:gridCol>
                <a:gridCol w="3048000">
                  <a:extLst>
                    <a:ext uri="{9D8B030D-6E8A-4147-A177-3AD203B41FA5}">
                      <a16:colId xmlns:a16="http://schemas.microsoft.com/office/drawing/2014/main" val="321363036"/>
                    </a:ext>
                  </a:extLst>
                </a:gridCol>
              </a:tblGrid>
              <a:tr h="390299">
                <a:tc>
                  <a:txBody>
                    <a:bodyPr/>
                    <a:lstStyle/>
                    <a:p>
                      <a:pPr>
                        <a:buNone/>
                      </a:pPr>
                      <a:r>
                        <a:rPr lang="en-US" sz="2200">
                          <a:latin typeface="Calibir"/>
                        </a:rPr>
                        <a:t>Part</a:t>
                      </a:r>
                    </a:p>
                  </a:txBody>
                  <a:tcPr marL="40667" marR="40667" marT="20333" marB="20333" anchor="ctr"/>
                </a:tc>
                <a:tc>
                  <a:txBody>
                    <a:bodyPr/>
                    <a:lstStyle/>
                    <a:p>
                      <a:pPr>
                        <a:buNone/>
                      </a:pPr>
                      <a:r>
                        <a:rPr lang="en-US" sz="2200">
                          <a:latin typeface="Calibir"/>
                        </a:rPr>
                        <a:t>Meaning</a:t>
                      </a:r>
                    </a:p>
                  </a:txBody>
                  <a:tcPr marL="40667" marR="40667" marT="20333" marB="20333" anchor="ctr"/>
                </a:tc>
                <a:tc>
                  <a:txBody>
                    <a:bodyPr/>
                    <a:lstStyle/>
                    <a:p>
                      <a:pPr>
                        <a:buNone/>
                      </a:pPr>
                      <a:r>
                        <a:rPr lang="en-US" sz="2200">
                          <a:latin typeface="Calibir"/>
                        </a:rPr>
                        <a:t>Example</a:t>
                      </a:r>
                    </a:p>
                  </a:txBody>
                  <a:tcPr marL="40667" marR="40667" marT="20333" marB="20333" anchor="ctr"/>
                </a:tc>
                <a:extLst>
                  <a:ext uri="{0D108BD9-81ED-4DB2-BD59-A6C34878D82A}">
                    <a16:rowId xmlns:a16="http://schemas.microsoft.com/office/drawing/2014/main" val="1711794444"/>
                  </a:ext>
                </a:extLst>
              </a:tr>
              <a:tr h="0">
                <a:tc>
                  <a:txBody>
                    <a:bodyPr/>
                    <a:lstStyle/>
                    <a:p>
                      <a:pPr>
                        <a:buNone/>
                      </a:pPr>
                      <a:r>
                        <a:rPr lang="en-US" sz="2200" b="1" dirty="0">
                          <a:latin typeface="Calibir"/>
                        </a:rPr>
                        <a:t>AS </a:t>
                      </a:r>
                      <a:r>
                        <a:rPr lang="en-US" sz="2200" b="1" dirty="0" err="1">
                          <a:latin typeface="Calibir"/>
                        </a:rPr>
                        <a:t>TotalAmount</a:t>
                      </a:r>
                      <a:endParaRPr lang="en-US" sz="2200" dirty="0">
                        <a:latin typeface="Calibir"/>
                      </a:endParaRPr>
                    </a:p>
                  </a:txBody>
                  <a:tcPr marL="40667" marR="40667" marT="20333" marB="20333" anchor="ctr"/>
                </a:tc>
                <a:tc>
                  <a:txBody>
                    <a:bodyPr/>
                    <a:lstStyle/>
                    <a:p>
                      <a:pPr>
                        <a:buNone/>
                      </a:pPr>
                      <a:r>
                        <a:rPr lang="en-US" sz="2200" dirty="0">
                          <a:latin typeface="Calibir"/>
                        </a:rPr>
                        <a:t>Gives a friendly name (“</a:t>
                      </a:r>
                      <a:r>
                        <a:rPr lang="en-US" sz="2200" dirty="0" err="1">
                          <a:latin typeface="Calibir"/>
                        </a:rPr>
                        <a:t>TotalAmount</a:t>
                      </a:r>
                      <a:r>
                        <a:rPr lang="en-US" sz="2200" dirty="0">
                          <a:latin typeface="Calibir"/>
                        </a:rPr>
                        <a:t>”) to the calculated column.</a:t>
                      </a:r>
                    </a:p>
                  </a:txBody>
                  <a:tcPr marL="40667" marR="40667" marT="20333" marB="20333" anchor="ctr"/>
                </a:tc>
                <a:tc>
                  <a:txBody>
                    <a:bodyPr/>
                    <a:lstStyle/>
                    <a:p>
                      <a:pPr>
                        <a:buNone/>
                      </a:pPr>
                      <a:r>
                        <a:rPr lang="en-US" sz="2200">
                          <a:latin typeface="Calibir"/>
                        </a:rPr>
                        <a:t>Makes the results easier to read.</a:t>
                      </a:r>
                    </a:p>
                  </a:txBody>
                  <a:tcPr marL="40667" marR="40667" marT="20333" marB="20333" anchor="ctr"/>
                </a:tc>
                <a:extLst>
                  <a:ext uri="{0D108BD9-81ED-4DB2-BD59-A6C34878D82A}">
                    <a16:rowId xmlns:a16="http://schemas.microsoft.com/office/drawing/2014/main" val="2610809305"/>
                  </a:ext>
                </a:extLst>
              </a:tr>
              <a:tr h="0">
                <a:tc>
                  <a:txBody>
                    <a:bodyPr/>
                    <a:lstStyle/>
                    <a:p>
                      <a:pPr>
                        <a:buNone/>
                      </a:pPr>
                      <a:r>
                        <a:rPr lang="en-US" sz="2200" b="1" dirty="0">
                          <a:latin typeface="Calibir"/>
                        </a:rPr>
                        <a:t>COUNT(</a:t>
                      </a:r>
                      <a:r>
                        <a:rPr lang="en-US" sz="2200" b="1" dirty="0" err="1">
                          <a:latin typeface="Calibir"/>
                        </a:rPr>
                        <a:t>SalesOrderID</a:t>
                      </a:r>
                      <a:r>
                        <a:rPr lang="en-US" sz="2200" b="1" dirty="0">
                          <a:latin typeface="Calibir"/>
                        </a:rPr>
                        <a:t>)</a:t>
                      </a:r>
                      <a:endParaRPr lang="en-US" sz="2200" dirty="0">
                        <a:latin typeface="Calibir"/>
                      </a:endParaRPr>
                    </a:p>
                  </a:txBody>
                  <a:tcPr marL="40667" marR="40667" marT="20333" marB="20333" anchor="ctr"/>
                </a:tc>
                <a:tc>
                  <a:txBody>
                    <a:bodyPr/>
                    <a:lstStyle/>
                    <a:p>
                      <a:pPr>
                        <a:buNone/>
                      </a:pPr>
                      <a:r>
                        <a:rPr lang="en-US" sz="2200" dirty="0">
                          <a:latin typeface="Calibir"/>
                        </a:rPr>
                        <a:t>Counts how many orders each customer has made.</a:t>
                      </a:r>
                    </a:p>
                  </a:txBody>
                  <a:tcPr marL="40667" marR="40667" marT="20333" marB="20333" anchor="ctr"/>
                </a:tc>
                <a:tc>
                  <a:txBody>
                    <a:bodyPr/>
                    <a:lstStyle/>
                    <a:p>
                      <a:pPr>
                        <a:buNone/>
                      </a:pPr>
                      <a:r>
                        <a:rPr lang="en-US" sz="2200">
                          <a:latin typeface="Calibir"/>
                        </a:rPr>
                        <a:t>Example: 4 orders = 4.</a:t>
                      </a:r>
                    </a:p>
                  </a:txBody>
                  <a:tcPr marL="40667" marR="40667" marT="20333" marB="20333" anchor="ctr"/>
                </a:tc>
                <a:extLst>
                  <a:ext uri="{0D108BD9-81ED-4DB2-BD59-A6C34878D82A}">
                    <a16:rowId xmlns:a16="http://schemas.microsoft.com/office/drawing/2014/main" val="3099550658"/>
                  </a:ext>
                </a:extLst>
              </a:tr>
              <a:tr h="0">
                <a:tc>
                  <a:txBody>
                    <a:bodyPr/>
                    <a:lstStyle/>
                    <a:p>
                      <a:pPr>
                        <a:buNone/>
                      </a:pPr>
                      <a:r>
                        <a:rPr lang="en-US" sz="2200" b="1" dirty="0">
                          <a:latin typeface="Calibir"/>
                        </a:rPr>
                        <a:t>AS </a:t>
                      </a:r>
                      <a:r>
                        <a:rPr lang="en-US" sz="2200" b="1" dirty="0" err="1">
                          <a:latin typeface="Calibir"/>
                        </a:rPr>
                        <a:t>OrdersPlaced</a:t>
                      </a:r>
                      <a:endParaRPr lang="en-US" sz="2200" dirty="0">
                        <a:latin typeface="Calibir"/>
                      </a:endParaRPr>
                    </a:p>
                  </a:txBody>
                  <a:tcPr marL="40667" marR="40667" marT="20333" marB="20333" anchor="ctr"/>
                </a:tc>
                <a:tc>
                  <a:txBody>
                    <a:bodyPr/>
                    <a:lstStyle/>
                    <a:p>
                      <a:pPr>
                        <a:buNone/>
                      </a:pPr>
                      <a:r>
                        <a:rPr lang="en-US" sz="2200" dirty="0">
                          <a:latin typeface="Calibir"/>
                        </a:rPr>
                        <a:t>Labels that count column as “</a:t>
                      </a:r>
                      <a:r>
                        <a:rPr lang="en-US" sz="2200" dirty="0" err="1">
                          <a:latin typeface="Calibir"/>
                        </a:rPr>
                        <a:t>OrdersPlaced</a:t>
                      </a:r>
                      <a:r>
                        <a:rPr lang="en-US" sz="2200" dirty="0">
                          <a:latin typeface="Calibir"/>
                        </a:rPr>
                        <a:t>.”</a:t>
                      </a:r>
                    </a:p>
                  </a:txBody>
                  <a:tcPr marL="40667" marR="40667" marT="20333" marB="20333" anchor="ctr"/>
                </a:tc>
                <a:tc>
                  <a:txBody>
                    <a:bodyPr/>
                    <a:lstStyle/>
                    <a:p>
                      <a:pPr>
                        <a:buNone/>
                      </a:pPr>
                      <a:r>
                        <a:rPr lang="en-US" sz="2200">
                          <a:latin typeface="Calibir"/>
                        </a:rPr>
                        <a:t>So the column has a clear title.</a:t>
                      </a:r>
                    </a:p>
                  </a:txBody>
                  <a:tcPr marL="40667" marR="40667" marT="20333" marB="20333" anchor="ctr"/>
                </a:tc>
                <a:extLst>
                  <a:ext uri="{0D108BD9-81ED-4DB2-BD59-A6C34878D82A}">
                    <a16:rowId xmlns:a16="http://schemas.microsoft.com/office/drawing/2014/main" val="1109719814"/>
                  </a:ext>
                </a:extLst>
              </a:tr>
              <a:tr h="0">
                <a:tc>
                  <a:txBody>
                    <a:bodyPr/>
                    <a:lstStyle/>
                    <a:p>
                      <a:pPr>
                        <a:buNone/>
                      </a:pPr>
                      <a:r>
                        <a:rPr lang="en-US" sz="2200" b="1" dirty="0">
                          <a:latin typeface="Calibir"/>
                        </a:rPr>
                        <a:t>FROM </a:t>
                      </a:r>
                      <a:r>
                        <a:rPr lang="en-US" sz="2200" b="1" dirty="0" err="1">
                          <a:latin typeface="Calibir"/>
                        </a:rPr>
                        <a:t>SalesLT.SalesOrderHeader</a:t>
                      </a:r>
                      <a:endParaRPr lang="en-US" sz="2200" dirty="0">
                        <a:latin typeface="Calibir"/>
                      </a:endParaRPr>
                    </a:p>
                  </a:txBody>
                  <a:tcPr marL="40667" marR="40667" marT="20333" marB="20333" anchor="ctr"/>
                </a:tc>
                <a:tc>
                  <a:txBody>
                    <a:bodyPr/>
                    <a:lstStyle/>
                    <a:p>
                      <a:pPr>
                        <a:buNone/>
                      </a:pPr>
                      <a:r>
                        <a:rPr lang="en-US" sz="2200" dirty="0">
                          <a:latin typeface="Calibir"/>
                        </a:rPr>
                        <a:t>Uses data from the table that stores all order details.</a:t>
                      </a:r>
                    </a:p>
                  </a:txBody>
                  <a:tcPr marL="40667" marR="40667" marT="20333" marB="20333" anchor="ctr"/>
                </a:tc>
                <a:tc>
                  <a:txBody>
                    <a:bodyPr/>
                    <a:lstStyle/>
                    <a:p>
                      <a:pPr>
                        <a:buNone/>
                      </a:pPr>
                      <a:r>
                        <a:rPr lang="en-US" sz="2200" dirty="0">
                          <a:latin typeface="Calibir"/>
                        </a:rPr>
                        <a:t>Think of it as the “invoice history.”</a:t>
                      </a:r>
                    </a:p>
                  </a:txBody>
                  <a:tcPr marL="40667" marR="40667" marT="20333" marB="20333" anchor="ctr"/>
                </a:tc>
                <a:extLst>
                  <a:ext uri="{0D108BD9-81ED-4DB2-BD59-A6C34878D82A}">
                    <a16:rowId xmlns:a16="http://schemas.microsoft.com/office/drawing/2014/main" val="2197245643"/>
                  </a:ext>
                </a:extLst>
              </a:tr>
            </a:tbl>
          </a:graphicData>
        </a:graphic>
      </p:graphicFrame>
    </p:spTree>
    <p:extLst>
      <p:ext uri="{BB962C8B-B14F-4D97-AF65-F5344CB8AC3E}">
        <p14:creationId xmlns:p14="http://schemas.microsoft.com/office/powerpoint/2010/main" val="9032506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715B464B-3CC1-7BFC-2DEA-FDB49022957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69223F-1062-26A2-1726-C6440EFC7BA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ED82E175-4395-438B-EE83-1AC7699B5234}"/>
              </a:ext>
            </a:extLst>
          </p:cNvPr>
          <p:cNvSpPr>
            <a:spLocks noGrp="1"/>
          </p:cNvSpPr>
          <p:nvPr>
            <p:ph type="sldNum" sz="quarter" idx="4"/>
          </p:nvPr>
        </p:nvSpPr>
        <p:spPr/>
        <p:txBody>
          <a:bodyPr/>
          <a:lstStyle/>
          <a:p>
            <a:fld id="{16A89BA3-132D-40E1-AAB4-CDCD0A14C216}" type="slidenum">
              <a:rPr lang="en-AU" smtClean="0"/>
              <a:pPr/>
              <a:t>89</a:t>
            </a:fld>
            <a:r>
              <a:rPr lang="en-AU"/>
              <a:t>  |</a:t>
            </a:r>
            <a:endParaRPr lang="en-AU" dirty="0"/>
          </a:p>
        </p:txBody>
      </p:sp>
      <p:sp>
        <p:nvSpPr>
          <p:cNvPr id="5" name="TextBox 4">
            <a:extLst>
              <a:ext uri="{FF2B5EF4-FFF2-40B4-BE49-F238E27FC236}">
                <a16:creationId xmlns:a16="http://schemas.microsoft.com/office/drawing/2014/main" id="{F2AEE7D3-DF52-D995-A719-B6B3A9F44D92}"/>
              </a:ext>
            </a:extLst>
          </p:cNvPr>
          <p:cNvSpPr txBox="1"/>
          <p:nvPr/>
        </p:nvSpPr>
        <p:spPr>
          <a:xfrm>
            <a:off x="0" y="0"/>
            <a:ext cx="9144000" cy="2400657"/>
          </a:xfrm>
          <a:prstGeom prst="rect">
            <a:avLst/>
          </a:prstGeom>
          <a:solidFill>
            <a:schemeClr val="accent4">
              <a:lumMod val="90000"/>
              <a:lumOff val="10000"/>
            </a:schemeClr>
          </a:solidFill>
        </p:spPr>
        <p:txBody>
          <a:bodyPr wrap="square">
            <a:spAutoFit/>
          </a:bodyPr>
          <a:lstStyle/>
          <a:p>
            <a:pPr>
              <a:buNone/>
            </a:pPr>
            <a:r>
              <a:rPr lang="en-US" sz="2500" b="0" dirty="0">
                <a:solidFill>
                  <a:srgbClr val="569CD6"/>
                </a:solidFill>
                <a:effectLst/>
                <a:latin typeface="Consolas" panose="020B0609020204030204" pitchFamily="49" charset="0"/>
              </a:rPr>
              <a:t>SELECT</a:t>
            </a:r>
            <a:r>
              <a:rPr lang="en-US" sz="2500" b="0" dirty="0">
                <a:solidFill>
                  <a:srgbClr val="CCCCCC"/>
                </a:solidFill>
                <a:effectLst/>
                <a:latin typeface="Consolas" panose="020B0609020204030204" pitchFamily="49" charset="0"/>
              </a:rPr>
              <a:t> TOP </a:t>
            </a:r>
            <a:r>
              <a:rPr lang="en-US" sz="2500" b="0" dirty="0">
                <a:solidFill>
                  <a:srgbClr val="B5CEA8"/>
                </a:solidFill>
                <a:effectLst/>
                <a:latin typeface="Consolas" panose="020B0609020204030204" pitchFamily="49" charset="0"/>
              </a:rPr>
              <a:t>5</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SUM(</a:t>
            </a:r>
            <a:r>
              <a:rPr lang="en-US" sz="2500" b="0" dirty="0" err="1">
                <a:solidFill>
                  <a:srgbClr val="CCCCCC"/>
                </a:solidFill>
                <a:effectLst/>
                <a:latin typeface="Consolas" panose="020B0609020204030204" pitchFamily="49" charset="0"/>
              </a:rPr>
              <a:t>TotalDue</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COUNT(</a:t>
            </a:r>
            <a:r>
              <a:rPr lang="en-US" sz="2500" b="0" dirty="0" err="1">
                <a:solidFill>
                  <a:srgbClr val="CCCCCC"/>
                </a:solidFill>
                <a:effectLst/>
                <a:latin typeface="Consolas" panose="020B0609020204030204" pitchFamily="49" charset="0"/>
              </a:rPr>
              <a:t>SalesOrderID</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OrdersPlaced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FROM</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SalesLT.SalesOrderHeader</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GROUP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ORDER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DESC</a:t>
            </a:r>
            <a:r>
              <a:rPr lang="en-US" sz="25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813564C9-407E-7801-25AE-C895F5665C0B}"/>
              </a:ext>
            </a:extLst>
          </p:cNvPr>
          <p:cNvGraphicFramePr>
            <a:graphicFrameLocks noGrp="1"/>
          </p:cNvGraphicFramePr>
          <p:nvPr>
            <p:extLst>
              <p:ext uri="{D42A27DB-BD31-4B8C-83A1-F6EECF244321}">
                <p14:modId xmlns:p14="http://schemas.microsoft.com/office/powerpoint/2010/main" val="1893222071"/>
              </p:ext>
            </p:extLst>
          </p:nvPr>
        </p:nvGraphicFramePr>
        <p:xfrm>
          <a:off x="-1" y="2400657"/>
          <a:ext cx="9144000" cy="2483311"/>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792685846"/>
                    </a:ext>
                  </a:extLst>
                </a:gridCol>
                <a:gridCol w="3048000">
                  <a:extLst>
                    <a:ext uri="{9D8B030D-6E8A-4147-A177-3AD203B41FA5}">
                      <a16:colId xmlns:a16="http://schemas.microsoft.com/office/drawing/2014/main" val="1588994029"/>
                    </a:ext>
                  </a:extLst>
                </a:gridCol>
                <a:gridCol w="3048000">
                  <a:extLst>
                    <a:ext uri="{9D8B030D-6E8A-4147-A177-3AD203B41FA5}">
                      <a16:colId xmlns:a16="http://schemas.microsoft.com/office/drawing/2014/main" val="321363036"/>
                    </a:ext>
                  </a:extLst>
                </a:gridCol>
              </a:tblGrid>
              <a:tr h="390299">
                <a:tc>
                  <a:txBody>
                    <a:bodyPr/>
                    <a:lstStyle/>
                    <a:p>
                      <a:pPr>
                        <a:buNone/>
                      </a:pPr>
                      <a:r>
                        <a:rPr lang="en-US" sz="2200">
                          <a:latin typeface="Calibir"/>
                        </a:rPr>
                        <a:t>Part</a:t>
                      </a:r>
                    </a:p>
                  </a:txBody>
                  <a:tcPr marL="40667" marR="40667" marT="20333" marB="20333" anchor="ctr"/>
                </a:tc>
                <a:tc>
                  <a:txBody>
                    <a:bodyPr/>
                    <a:lstStyle/>
                    <a:p>
                      <a:pPr>
                        <a:buNone/>
                      </a:pPr>
                      <a:r>
                        <a:rPr lang="en-US" sz="2200">
                          <a:latin typeface="Calibir"/>
                        </a:rPr>
                        <a:t>Meaning</a:t>
                      </a:r>
                    </a:p>
                  </a:txBody>
                  <a:tcPr marL="40667" marR="40667" marT="20333" marB="20333" anchor="ctr"/>
                </a:tc>
                <a:tc>
                  <a:txBody>
                    <a:bodyPr/>
                    <a:lstStyle/>
                    <a:p>
                      <a:pPr>
                        <a:buNone/>
                      </a:pPr>
                      <a:r>
                        <a:rPr lang="en-US" sz="2200">
                          <a:latin typeface="Calibir"/>
                        </a:rPr>
                        <a:t>Example</a:t>
                      </a:r>
                    </a:p>
                  </a:txBody>
                  <a:tcPr marL="40667" marR="40667" marT="20333" marB="20333" anchor="ctr"/>
                </a:tc>
                <a:extLst>
                  <a:ext uri="{0D108BD9-81ED-4DB2-BD59-A6C34878D82A}">
                    <a16:rowId xmlns:a16="http://schemas.microsoft.com/office/drawing/2014/main" val="1711794444"/>
                  </a:ext>
                </a:extLst>
              </a:tr>
              <a:tr h="0">
                <a:tc>
                  <a:txBody>
                    <a:bodyPr/>
                    <a:lstStyle/>
                    <a:p>
                      <a:pPr>
                        <a:buNone/>
                      </a:pPr>
                      <a:r>
                        <a:rPr lang="en-US" sz="2200" b="1" dirty="0">
                          <a:latin typeface="Calibir"/>
                        </a:rPr>
                        <a:t>GROUP BY </a:t>
                      </a:r>
                      <a:r>
                        <a:rPr lang="en-US" sz="2200" b="1" dirty="0" err="1">
                          <a:latin typeface="Calibir"/>
                        </a:rPr>
                        <a:t>CustomerID</a:t>
                      </a:r>
                      <a:endParaRPr lang="en-US" sz="2200" dirty="0">
                        <a:latin typeface="Calibir"/>
                      </a:endParaRPr>
                    </a:p>
                  </a:txBody>
                  <a:tcPr marL="40667" marR="40667" marT="20333" marB="20333" anchor="ctr"/>
                </a:tc>
                <a:tc>
                  <a:txBody>
                    <a:bodyPr/>
                    <a:lstStyle/>
                    <a:p>
                      <a:pPr>
                        <a:buNone/>
                      </a:pPr>
                      <a:r>
                        <a:rPr lang="en-US" sz="2200" dirty="0">
                          <a:latin typeface="Calibir"/>
                        </a:rPr>
                        <a:t>Groups all orders for each customer together before calculating totals.</a:t>
                      </a:r>
                    </a:p>
                  </a:txBody>
                  <a:tcPr marL="40667" marR="40667" marT="20333" marB="20333" anchor="ctr"/>
                </a:tc>
                <a:tc>
                  <a:txBody>
                    <a:bodyPr/>
                    <a:lstStyle/>
                    <a:p>
                      <a:pPr>
                        <a:buNone/>
                      </a:pPr>
                      <a:r>
                        <a:rPr lang="en-US" sz="2200" dirty="0">
                          <a:latin typeface="Calibir"/>
                        </a:rPr>
                        <a:t>One row per customer.</a:t>
                      </a:r>
                    </a:p>
                  </a:txBody>
                  <a:tcPr marL="40667" marR="40667" marT="20333" marB="20333" anchor="ctr"/>
                </a:tc>
                <a:extLst>
                  <a:ext uri="{0D108BD9-81ED-4DB2-BD59-A6C34878D82A}">
                    <a16:rowId xmlns:a16="http://schemas.microsoft.com/office/drawing/2014/main" val="2610809305"/>
                  </a:ext>
                </a:extLst>
              </a:tr>
              <a:tr h="0">
                <a:tc>
                  <a:txBody>
                    <a:bodyPr/>
                    <a:lstStyle/>
                    <a:p>
                      <a:pPr>
                        <a:buNone/>
                      </a:pPr>
                      <a:r>
                        <a:rPr lang="en-US" sz="2200" b="1" dirty="0">
                          <a:latin typeface="Calibir"/>
                        </a:rPr>
                        <a:t>ORDER BY </a:t>
                      </a:r>
                      <a:r>
                        <a:rPr lang="en-US" sz="2200" b="1" dirty="0" err="1">
                          <a:latin typeface="Calibir"/>
                        </a:rPr>
                        <a:t>TotalAmount</a:t>
                      </a:r>
                      <a:r>
                        <a:rPr lang="en-US" sz="2200" b="1" dirty="0">
                          <a:latin typeface="Calibir"/>
                        </a:rPr>
                        <a:t> DESC</a:t>
                      </a:r>
                      <a:endParaRPr lang="en-US" sz="2200" dirty="0">
                        <a:latin typeface="Calibir"/>
                      </a:endParaRPr>
                    </a:p>
                  </a:txBody>
                  <a:tcPr marL="40667" marR="40667" marT="20333" marB="20333" anchor="ctr"/>
                </a:tc>
                <a:tc>
                  <a:txBody>
                    <a:bodyPr/>
                    <a:lstStyle/>
                    <a:p>
                      <a:pPr>
                        <a:buNone/>
                      </a:pPr>
                      <a:r>
                        <a:rPr lang="en-US" sz="2200" dirty="0">
                          <a:latin typeface="Calibir"/>
                        </a:rPr>
                        <a:t>Sorts customers by total spending from highest to lowest.</a:t>
                      </a:r>
                    </a:p>
                  </a:txBody>
                  <a:tcPr marL="40667" marR="40667" marT="20333" marB="20333" anchor="ctr"/>
                </a:tc>
                <a:tc>
                  <a:txBody>
                    <a:bodyPr/>
                    <a:lstStyle/>
                    <a:p>
                      <a:pPr>
                        <a:buNone/>
                      </a:pPr>
                      <a:r>
                        <a:rPr lang="en-US" sz="2200" dirty="0">
                          <a:latin typeface="Calibir"/>
                        </a:rPr>
                        <a:t>DESC = descending order.</a:t>
                      </a:r>
                    </a:p>
                  </a:txBody>
                  <a:tcPr marL="40667" marR="40667" marT="20333" marB="20333" anchor="ctr"/>
                </a:tc>
                <a:extLst>
                  <a:ext uri="{0D108BD9-81ED-4DB2-BD59-A6C34878D82A}">
                    <a16:rowId xmlns:a16="http://schemas.microsoft.com/office/drawing/2014/main" val="3099550658"/>
                  </a:ext>
                </a:extLst>
              </a:tr>
            </a:tbl>
          </a:graphicData>
        </a:graphic>
      </p:graphicFrame>
    </p:spTree>
    <p:extLst>
      <p:ext uri="{BB962C8B-B14F-4D97-AF65-F5344CB8AC3E}">
        <p14:creationId xmlns:p14="http://schemas.microsoft.com/office/powerpoint/2010/main" val="10183867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086A1E3-E551-F0B1-881A-4F665049701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073E2A1-A6AA-CB32-9B0F-77973ABFF0C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2C0DA33-AB25-77F8-CE35-844877970434}"/>
              </a:ext>
            </a:extLst>
          </p:cNvPr>
          <p:cNvSpPr>
            <a:spLocks noGrp="1"/>
          </p:cNvSpPr>
          <p:nvPr>
            <p:ph type="sldNum" sz="quarter" idx="4"/>
          </p:nvPr>
        </p:nvSpPr>
        <p:spPr/>
        <p:txBody>
          <a:bodyPr/>
          <a:lstStyle/>
          <a:p>
            <a:fld id="{16A89BA3-132D-40E1-AAB4-CDCD0A14C216}" type="slidenum">
              <a:rPr lang="en-AU" smtClean="0"/>
              <a:pPr/>
              <a:t>90</a:t>
            </a:fld>
            <a:r>
              <a:rPr lang="en-AU"/>
              <a:t>  |</a:t>
            </a:r>
            <a:endParaRPr lang="en-AU" dirty="0"/>
          </a:p>
        </p:txBody>
      </p:sp>
      <p:sp>
        <p:nvSpPr>
          <p:cNvPr id="5" name="TextBox 4">
            <a:extLst>
              <a:ext uri="{FF2B5EF4-FFF2-40B4-BE49-F238E27FC236}">
                <a16:creationId xmlns:a16="http://schemas.microsoft.com/office/drawing/2014/main" id="{D9B3AE8C-B4AA-1823-84F1-605FE9756729}"/>
              </a:ext>
            </a:extLst>
          </p:cNvPr>
          <p:cNvSpPr txBox="1"/>
          <p:nvPr/>
        </p:nvSpPr>
        <p:spPr>
          <a:xfrm>
            <a:off x="0" y="0"/>
            <a:ext cx="9144000" cy="2400657"/>
          </a:xfrm>
          <a:prstGeom prst="rect">
            <a:avLst/>
          </a:prstGeom>
          <a:solidFill>
            <a:schemeClr val="accent4">
              <a:lumMod val="90000"/>
              <a:lumOff val="10000"/>
            </a:schemeClr>
          </a:solidFill>
        </p:spPr>
        <p:txBody>
          <a:bodyPr wrap="square">
            <a:spAutoFit/>
          </a:bodyPr>
          <a:lstStyle/>
          <a:p>
            <a:pPr>
              <a:buNone/>
            </a:pPr>
            <a:r>
              <a:rPr lang="en-US" sz="2500" b="0" dirty="0">
                <a:solidFill>
                  <a:srgbClr val="569CD6"/>
                </a:solidFill>
                <a:effectLst/>
                <a:latin typeface="Consolas" panose="020B0609020204030204" pitchFamily="49" charset="0"/>
              </a:rPr>
              <a:t>SELECT</a:t>
            </a:r>
            <a:r>
              <a:rPr lang="en-US" sz="2500" b="0" dirty="0">
                <a:solidFill>
                  <a:srgbClr val="CCCCCC"/>
                </a:solidFill>
                <a:effectLst/>
                <a:latin typeface="Consolas" panose="020B0609020204030204" pitchFamily="49" charset="0"/>
              </a:rPr>
              <a:t> TOP </a:t>
            </a:r>
            <a:r>
              <a:rPr lang="en-US" sz="2500" b="0" dirty="0">
                <a:solidFill>
                  <a:srgbClr val="B5CEA8"/>
                </a:solidFill>
                <a:effectLst/>
                <a:latin typeface="Consolas" panose="020B0609020204030204" pitchFamily="49" charset="0"/>
              </a:rPr>
              <a:t>5</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SUM(</a:t>
            </a:r>
            <a:r>
              <a:rPr lang="en-US" sz="2500" b="0" dirty="0" err="1">
                <a:solidFill>
                  <a:srgbClr val="CCCCCC"/>
                </a:solidFill>
                <a:effectLst/>
                <a:latin typeface="Consolas" panose="020B0609020204030204" pitchFamily="49" charset="0"/>
              </a:rPr>
              <a:t>TotalDue</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COUNT(</a:t>
            </a:r>
            <a:r>
              <a:rPr lang="en-US" sz="2500" b="0" dirty="0" err="1">
                <a:solidFill>
                  <a:srgbClr val="CCCCCC"/>
                </a:solidFill>
                <a:effectLst/>
                <a:latin typeface="Consolas" panose="020B0609020204030204" pitchFamily="49" charset="0"/>
              </a:rPr>
              <a:t>SalesOrderID</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AS</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OrdersPlaced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FROM</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SalesLT.SalesOrderHeader</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GROUP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CustomerID</a:t>
            </a:r>
            <a:endParaRPr lang="en-US" sz="2500" b="0" dirty="0">
              <a:solidFill>
                <a:srgbClr val="CCCCCC"/>
              </a:solidFill>
              <a:effectLst/>
              <a:latin typeface="Consolas" panose="020B0609020204030204" pitchFamily="49" charset="0"/>
            </a:endParaRPr>
          </a:p>
          <a:p>
            <a:pPr>
              <a:buNone/>
            </a:pPr>
            <a:r>
              <a:rPr lang="en-US" sz="2500" b="0" dirty="0">
                <a:solidFill>
                  <a:srgbClr val="569CD6"/>
                </a:solidFill>
                <a:effectLst/>
                <a:latin typeface="Consolas" panose="020B0609020204030204" pitchFamily="49" charset="0"/>
              </a:rPr>
              <a:t>ORDER BY</a:t>
            </a:r>
            <a:r>
              <a:rPr lang="en-US" sz="2500" b="0" dirty="0">
                <a:solidFill>
                  <a:srgbClr val="CCCCCC"/>
                </a:solidFill>
                <a:effectLst/>
                <a:latin typeface="Consolas" panose="020B0609020204030204" pitchFamily="49" charset="0"/>
              </a:rPr>
              <a:t> </a:t>
            </a:r>
            <a:r>
              <a:rPr lang="en-US" sz="2500" b="0" dirty="0" err="1">
                <a:solidFill>
                  <a:srgbClr val="CCCCCC"/>
                </a:solidFill>
                <a:effectLst/>
                <a:latin typeface="Consolas" panose="020B0609020204030204" pitchFamily="49" charset="0"/>
              </a:rPr>
              <a:t>TotalAmount</a:t>
            </a:r>
            <a:r>
              <a:rPr lang="en-US" sz="2500" b="0" dirty="0">
                <a:solidFill>
                  <a:srgbClr val="CCCCCC"/>
                </a:solidFill>
                <a:effectLst/>
                <a:latin typeface="Consolas" panose="020B0609020204030204" pitchFamily="49" charset="0"/>
              </a:rPr>
              <a:t> </a:t>
            </a:r>
            <a:r>
              <a:rPr lang="en-US" sz="2500" b="0" dirty="0">
                <a:solidFill>
                  <a:srgbClr val="569CD6"/>
                </a:solidFill>
                <a:effectLst/>
                <a:latin typeface="Consolas" panose="020B0609020204030204" pitchFamily="49" charset="0"/>
              </a:rPr>
              <a:t>DESC</a:t>
            </a:r>
            <a:r>
              <a:rPr lang="en-US" sz="2500" b="0" dirty="0">
                <a:solidFill>
                  <a:srgbClr val="CCCCCC"/>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B1624A1D-4CBB-5137-4279-5984512980EF}"/>
              </a:ext>
            </a:extLst>
          </p:cNvPr>
          <p:cNvSpPr txBox="1"/>
          <p:nvPr/>
        </p:nvSpPr>
        <p:spPr>
          <a:xfrm>
            <a:off x="0" y="2531048"/>
            <a:ext cx="9144000" cy="4102533"/>
          </a:xfrm>
          <a:prstGeom prst="rect">
            <a:avLst/>
          </a:prstGeom>
          <a:noFill/>
        </p:spPr>
        <p:txBody>
          <a:bodyPr wrap="square">
            <a:spAutoFit/>
          </a:bodyPr>
          <a:lstStyle/>
          <a:p>
            <a:pPr>
              <a:lnSpc>
                <a:spcPct val="150000"/>
              </a:lnSpc>
              <a:buNone/>
            </a:pPr>
            <a:r>
              <a:rPr lang="en-US" sz="2200" dirty="0">
                <a:latin typeface="Calibir"/>
              </a:rPr>
              <a:t>In short:</a:t>
            </a:r>
            <a:br>
              <a:rPr lang="en-US" sz="2200" dirty="0">
                <a:latin typeface="Calibir"/>
              </a:rPr>
            </a:br>
            <a:r>
              <a:rPr lang="en-US" sz="2200" dirty="0">
                <a:latin typeface="Calibir"/>
              </a:rPr>
              <a:t>This query finds the top 5 customers who spent the most money and shows:</a:t>
            </a:r>
          </a:p>
          <a:p>
            <a:pPr marL="342900" indent="-342900">
              <a:lnSpc>
                <a:spcPct val="150000"/>
              </a:lnSpc>
              <a:buFont typeface="Arial" panose="020B0604020202020204" pitchFamily="34" charset="0"/>
              <a:buChar char="•"/>
            </a:pPr>
            <a:r>
              <a:rPr lang="en-US" sz="2200" dirty="0">
                <a:latin typeface="Calibir"/>
              </a:rPr>
              <a:t>their </a:t>
            </a:r>
            <a:r>
              <a:rPr lang="en-US" sz="2200" dirty="0" err="1">
                <a:latin typeface="Calibir"/>
              </a:rPr>
              <a:t>CustomerID</a:t>
            </a:r>
            <a:r>
              <a:rPr lang="en-US" sz="2200" dirty="0">
                <a:latin typeface="Calibir"/>
              </a:rPr>
              <a:t>,</a:t>
            </a:r>
          </a:p>
          <a:p>
            <a:pPr marL="342900" indent="-342900">
              <a:lnSpc>
                <a:spcPct val="150000"/>
              </a:lnSpc>
              <a:buFont typeface="Arial" panose="020B0604020202020204" pitchFamily="34" charset="0"/>
              <a:buChar char="•"/>
            </a:pPr>
            <a:r>
              <a:rPr lang="en-US" sz="2200" dirty="0">
                <a:latin typeface="Calibir"/>
              </a:rPr>
              <a:t>total money spent,</a:t>
            </a:r>
          </a:p>
          <a:p>
            <a:pPr marL="342900" indent="-342900">
              <a:lnSpc>
                <a:spcPct val="150000"/>
              </a:lnSpc>
              <a:buFont typeface="Arial" panose="020B0604020202020204" pitchFamily="34" charset="0"/>
              <a:buChar char="•"/>
            </a:pPr>
            <a:r>
              <a:rPr lang="en-US" sz="2200" dirty="0">
                <a:latin typeface="Calibir"/>
              </a:rPr>
              <a:t>and number of orders they made.</a:t>
            </a:r>
          </a:p>
          <a:p>
            <a:pPr>
              <a:lnSpc>
                <a:spcPct val="150000"/>
              </a:lnSpc>
              <a:buNone/>
            </a:pPr>
            <a:r>
              <a:rPr lang="en-US" sz="2200" dirty="0">
                <a:latin typeface="Calibir"/>
              </a:rPr>
              <a:t>Analogy:</a:t>
            </a:r>
            <a:br>
              <a:rPr lang="en-US" sz="2200" dirty="0">
                <a:latin typeface="Calibir"/>
              </a:rPr>
            </a:br>
            <a:r>
              <a:rPr lang="en-US" sz="2200" dirty="0">
                <a:latin typeface="Calibir"/>
              </a:rPr>
              <a:t>It’s like a </a:t>
            </a:r>
            <a:r>
              <a:rPr lang="en-US" sz="2200" i="1" dirty="0">
                <a:latin typeface="Calibir"/>
              </a:rPr>
              <a:t>leaderboard of your best customers</a:t>
            </a:r>
            <a:r>
              <a:rPr lang="en-US" sz="2200" dirty="0">
                <a:latin typeface="Calibir"/>
              </a:rPr>
              <a:t>, ranking who spent the most in your shop or service.</a:t>
            </a:r>
          </a:p>
        </p:txBody>
      </p:sp>
    </p:spTree>
    <p:extLst>
      <p:ext uri="{BB962C8B-B14F-4D97-AF65-F5344CB8AC3E}">
        <p14:creationId xmlns:p14="http://schemas.microsoft.com/office/powerpoint/2010/main" val="11323651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09D7D99-6F4F-70FC-3BAA-B2215550A40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F40576E-9D65-50B6-DC6F-826F7EBBCF4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1FCFABB3-4AA9-4BFB-8B6B-6FF06CCB0E11}"/>
              </a:ext>
            </a:extLst>
          </p:cNvPr>
          <p:cNvSpPr>
            <a:spLocks noGrp="1"/>
          </p:cNvSpPr>
          <p:nvPr>
            <p:ph type="sldNum" sz="quarter" idx="4"/>
          </p:nvPr>
        </p:nvSpPr>
        <p:spPr/>
        <p:txBody>
          <a:bodyPr/>
          <a:lstStyle/>
          <a:p>
            <a:fld id="{16A89BA3-132D-40E1-AAB4-CDCD0A14C216}" type="slidenum">
              <a:rPr lang="en-AU" smtClean="0"/>
              <a:pPr/>
              <a:t>91</a:t>
            </a:fld>
            <a:r>
              <a:rPr lang="en-AU"/>
              <a:t>  |</a:t>
            </a:r>
            <a:endParaRPr lang="en-AU" dirty="0"/>
          </a:p>
        </p:txBody>
      </p:sp>
      <p:sp>
        <p:nvSpPr>
          <p:cNvPr id="9" name="Text Placeholder 3">
            <a:extLst>
              <a:ext uri="{FF2B5EF4-FFF2-40B4-BE49-F238E27FC236}">
                <a16:creationId xmlns:a16="http://schemas.microsoft.com/office/drawing/2014/main" id="{AFA1A2F3-1C3E-12D9-AC9F-14A581A19189}"/>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F99072D-359B-4106-7293-BE18F78EE381}"/>
              </a:ext>
            </a:extLst>
          </p:cNvPr>
          <p:cNvSpPr txBox="1"/>
          <p:nvPr/>
        </p:nvSpPr>
        <p:spPr>
          <a:xfrm>
            <a:off x="78058" y="624468"/>
            <a:ext cx="9065942" cy="523220"/>
          </a:xfrm>
          <a:prstGeom prst="rect">
            <a:avLst/>
          </a:prstGeom>
          <a:noFill/>
        </p:spPr>
        <p:txBody>
          <a:bodyPr wrap="square" rtlCol="0">
            <a:spAutoFit/>
          </a:bodyPr>
          <a:lstStyle/>
          <a:p>
            <a:r>
              <a:rPr lang="en-US" sz="2800" dirty="0">
                <a:latin typeface="Calibir"/>
              </a:rPr>
              <a:t>11. Total profit per product</a:t>
            </a:r>
          </a:p>
        </p:txBody>
      </p:sp>
      <p:sp>
        <p:nvSpPr>
          <p:cNvPr id="11" name="TextBox 10">
            <a:extLst>
              <a:ext uri="{FF2B5EF4-FFF2-40B4-BE49-F238E27FC236}">
                <a16:creationId xmlns:a16="http://schemas.microsoft.com/office/drawing/2014/main" id="{6B816779-8ECB-4A80-AEC5-C55EB359D9E4}"/>
              </a:ext>
            </a:extLst>
          </p:cNvPr>
          <p:cNvSpPr txBox="1"/>
          <p:nvPr/>
        </p:nvSpPr>
        <p:spPr>
          <a:xfrm>
            <a:off x="0" y="1293434"/>
            <a:ext cx="8849710" cy="523220"/>
          </a:xfrm>
          <a:prstGeom prst="rect">
            <a:avLst/>
          </a:prstGeom>
          <a:noFill/>
        </p:spPr>
        <p:txBody>
          <a:bodyPr wrap="square">
            <a:spAutoFit/>
          </a:bodyPr>
          <a:lstStyle/>
          <a:p>
            <a:r>
              <a:rPr lang="en-US" sz="2800" dirty="0">
                <a:solidFill>
                  <a:srgbClr val="3D3935"/>
                </a:solidFill>
                <a:latin typeface="Calibir"/>
              </a:rPr>
              <a:t>Take a screenshot) Shift + Enter (Or click </a:t>
            </a:r>
            <a:r>
              <a:rPr lang="en-US" sz="2800" dirty="0">
                <a:solidFill>
                  <a:srgbClr val="3D3935"/>
                </a:solidFill>
                <a:highlight>
                  <a:srgbClr val="FFFF00"/>
                </a:highlight>
                <a:latin typeface="Calibir"/>
              </a:rPr>
              <a:t>Run</a:t>
            </a:r>
            <a:r>
              <a:rPr lang="en-US" sz="2800" dirty="0">
                <a:solidFill>
                  <a:srgbClr val="3D3935"/>
                </a:solidFill>
                <a:latin typeface="Calibir"/>
              </a:rPr>
              <a:t>)</a:t>
            </a:r>
            <a:endParaRPr lang="en-US" sz="2800" dirty="0"/>
          </a:p>
        </p:txBody>
      </p:sp>
      <p:sp>
        <p:nvSpPr>
          <p:cNvPr id="10" name="TextBox 9">
            <a:extLst>
              <a:ext uri="{FF2B5EF4-FFF2-40B4-BE49-F238E27FC236}">
                <a16:creationId xmlns:a16="http://schemas.microsoft.com/office/drawing/2014/main" id="{741EB7FF-86BE-E558-3234-00F1558AA9D2}"/>
              </a:ext>
            </a:extLst>
          </p:cNvPr>
          <p:cNvSpPr txBox="1"/>
          <p:nvPr/>
        </p:nvSpPr>
        <p:spPr>
          <a:xfrm>
            <a:off x="0" y="4583300"/>
            <a:ext cx="9144000" cy="1964512"/>
          </a:xfrm>
          <a:prstGeom prst="rect">
            <a:avLst/>
          </a:prstGeom>
          <a:noFill/>
        </p:spPr>
        <p:txBody>
          <a:bodyPr wrap="square">
            <a:spAutoFit/>
          </a:bodyPr>
          <a:lstStyle/>
          <a:p>
            <a:pPr>
              <a:lnSpc>
                <a:spcPct val="150000"/>
              </a:lnSpc>
            </a:pPr>
            <a:r>
              <a:rPr lang="en-US" sz="2800" dirty="0">
                <a:latin typeface="Calibir"/>
              </a:rPr>
              <a:t>Calculates profit by subtracting cost from price and multiplying by quantity sold. Groups by product to see which ones earn the most.</a:t>
            </a:r>
          </a:p>
        </p:txBody>
      </p:sp>
      <p:sp>
        <p:nvSpPr>
          <p:cNvPr id="6" name="TextBox 5">
            <a:extLst>
              <a:ext uri="{FF2B5EF4-FFF2-40B4-BE49-F238E27FC236}">
                <a16:creationId xmlns:a16="http://schemas.microsoft.com/office/drawing/2014/main" id="{5548771C-B76C-4EAA-D4EC-A273DAC065F9}"/>
              </a:ext>
            </a:extLst>
          </p:cNvPr>
          <p:cNvSpPr txBox="1"/>
          <p:nvPr/>
        </p:nvSpPr>
        <p:spPr>
          <a:xfrm>
            <a:off x="78058" y="1816654"/>
            <a:ext cx="9065942" cy="2462213"/>
          </a:xfrm>
          <a:prstGeom prst="rect">
            <a:avLst/>
          </a:prstGeom>
          <a:solidFill>
            <a:schemeClr val="accent4">
              <a:lumMod val="90000"/>
              <a:lumOff val="10000"/>
            </a:schemeClr>
          </a:solidFill>
        </p:spPr>
        <p:txBody>
          <a:bodyPr wrap="square">
            <a:spAutoFit/>
          </a:bodyPr>
          <a:lstStyle/>
          <a:p>
            <a:pPr>
              <a:buNone/>
            </a:pPr>
            <a:r>
              <a:rPr lang="en-US" sz="2200" b="0" dirty="0">
                <a:solidFill>
                  <a:srgbClr val="569CD6"/>
                </a:solidFill>
                <a:effectLst/>
                <a:latin typeface="Consolas" panose="020B0609020204030204" pitchFamily="49" charset="0"/>
              </a:rPr>
              <a:t>SELECT</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SUM((</a:t>
            </a:r>
            <a:r>
              <a:rPr lang="en-US" sz="2200" b="0" dirty="0" err="1">
                <a:solidFill>
                  <a:srgbClr val="CCCCCC"/>
                </a:solidFill>
                <a:effectLst/>
                <a:latin typeface="Consolas" panose="020B0609020204030204" pitchFamily="49" charset="0"/>
              </a:rPr>
              <a:t>p.ListPrice</a:t>
            </a:r>
            <a:r>
              <a:rPr lang="en-US" sz="2200" b="0" dirty="0">
                <a:solidFill>
                  <a:srgbClr val="CCCCCC"/>
                </a:solidFill>
                <a:effectLst/>
                <a:latin typeface="Consolas" panose="020B0609020204030204" pitchFamily="49" charset="0"/>
              </a:rPr>
              <a:t> - </a:t>
            </a:r>
            <a:r>
              <a:rPr lang="en-US" sz="2200" b="0" dirty="0" err="1">
                <a:solidFill>
                  <a:srgbClr val="CCCCCC"/>
                </a:solidFill>
                <a:effectLst/>
                <a:latin typeface="Consolas" panose="020B0609020204030204" pitchFamily="49" charset="0"/>
              </a:rPr>
              <a:t>p.StandardCost</a:t>
            </a:r>
            <a:r>
              <a:rPr lang="en-US" sz="2200" b="0" dirty="0">
                <a:solidFill>
                  <a:srgbClr val="CCCCCC"/>
                </a:solidFill>
                <a:effectLst/>
                <a:latin typeface="Consolas" panose="020B0609020204030204" pitchFamily="49" charset="0"/>
              </a:rPr>
              <a:t>) * </a:t>
            </a:r>
            <a:r>
              <a:rPr lang="en-US" sz="2200" b="0" dirty="0" err="1">
                <a:solidFill>
                  <a:srgbClr val="CCCCCC"/>
                </a:solidFill>
                <a:effectLst/>
                <a:latin typeface="Consolas" panose="020B0609020204030204" pitchFamily="49" charset="0"/>
              </a:rPr>
              <a:t>sod.OrderQty</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AS</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TotalProfit</a:t>
            </a:r>
            <a:endParaRPr lang="en-US" sz="2200" b="0" dirty="0">
              <a:solidFill>
                <a:srgbClr val="CCCCCC"/>
              </a:solidFill>
              <a:effectLst/>
              <a:latin typeface="Consolas" panose="020B0609020204030204" pitchFamily="49" charset="0"/>
            </a:endParaRPr>
          </a:p>
          <a:p>
            <a:pPr>
              <a:buNone/>
            </a:pPr>
            <a:r>
              <a:rPr lang="en-US" sz="2200" b="0" dirty="0">
                <a:solidFill>
                  <a:srgbClr val="569CD6"/>
                </a:solidFill>
                <a:effectLst/>
                <a:latin typeface="Consolas" panose="020B0609020204030204" pitchFamily="49" charset="0"/>
              </a:rPr>
              <a:t>FROM</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SalesLT.Product</a:t>
            </a:r>
            <a:r>
              <a:rPr lang="en-US" sz="2200" b="0" dirty="0">
                <a:solidFill>
                  <a:srgbClr val="CCCCCC"/>
                </a:solidFill>
                <a:effectLst/>
                <a:latin typeface="Consolas" panose="020B0609020204030204" pitchFamily="49" charset="0"/>
              </a:rPr>
              <a:t> p</a:t>
            </a:r>
          </a:p>
          <a:p>
            <a:pPr>
              <a:buNone/>
            </a:pPr>
            <a:r>
              <a:rPr lang="en-US" sz="2200" b="0" dirty="0">
                <a:solidFill>
                  <a:srgbClr val="569CD6"/>
                </a:solidFill>
                <a:effectLst/>
                <a:latin typeface="Consolas" panose="020B0609020204030204" pitchFamily="49" charset="0"/>
              </a:rPr>
              <a:t>JOIN</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SalesLT.SalesOrderDetail</a:t>
            </a:r>
            <a:r>
              <a:rPr lang="en-US" sz="2200" b="0" dirty="0">
                <a:solidFill>
                  <a:srgbClr val="CCCCCC"/>
                </a:solidFill>
                <a:effectLst/>
                <a:latin typeface="Consolas" panose="020B0609020204030204" pitchFamily="49" charset="0"/>
              </a:rPr>
              <a:t> sod</a:t>
            </a:r>
          </a:p>
          <a:p>
            <a:pPr>
              <a:buNone/>
            </a:pP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ON</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sod.ProductID</a:t>
            </a:r>
            <a:endParaRPr lang="en-US" sz="2200" b="0" dirty="0">
              <a:solidFill>
                <a:srgbClr val="CCCCCC"/>
              </a:solidFill>
              <a:effectLst/>
              <a:latin typeface="Consolas" panose="020B0609020204030204" pitchFamily="49" charset="0"/>
            </a:endParaRPr>
          </a:p>
          <a:p>
            <a:pPr>
              <a:buNone/>
            </a:pPr>
            <a:r>
              <a:rPr lang="en-US" sz="2200" b="0" dirty="0">
                <a:solidFill>
                  <a:srgbClr val="569CD6"/>
                </a:solidFill>
                <a:effectLst/>
                <a:latin typeface="Consolas" panose="020B0609020204030204" pitchFamily="49" charset="0"/>
              </a:rPr>
              <a:t>GROUP BY</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9267244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2B4B46D5-A613-FDF2-0E12-6E8F2093330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73571D-EC1F-3DD0-28DA-790C092D111F}"/>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150851E-F8C6-C817-78B2-8299BBA48E5A}"/>
              </a:ext>
            </a:extLst>
          </p:cNvPr>
          <p:cNvSpPr>
            <a:spLocks noGrp="1"/>
          </p:cNvSpPr>
          <p:nvPr>
            <p:ph type="sldNum" sz="quarter" idx="4"/>
          </p:nvPr>
        </p:nvSpPr>
        <p:spPr/>
        <p:txBody>
          <a:bodyPr/>
          <a:lstStyle/>
          <a:p>
            <a:fld id="{16A89BA3-132D-40E1-AAB4-CDCD0A14C216}" type="slidenum">
              <a:rPr lang="en-AU" smtClean="0"/>
              <a:pPr/>
              <a:t>92</a:t>
            </a:fld>
            <a:r>
              <a:rPr lang="en-AU"/>
              <a:t>  |</a:t>
            </a:r>
            <a:endParaRPr lang="en-AU" dirty="0"/>
          </a:p>
        </p:txBody>
      </p:sp>
      <p:sp>
        <p:nvSpPr>
          <p:cNvPr id="6" name="TextBox 5">
            <a:extLst>
              <a:ext uri="{FF2B5EF4-FFF2-40B4-BE49-F238E27FC236}">
                <a16:creationId xmlns:a16="http://schemas.microsoft.com/office/drawing/2014/main" id="{2FCF278D-9DCB-BD66-78AC-C8C86F734452}"/>
              </a:ext>
            </a:extLst>
          </p:cNvPr>
          <p:cNvSpPr txBox="1"/>
          <p:nvPr/>
        </p:nvSpPr>
        <p:spPr>
          <a:xfrm>
            <a:off x="0" y="32459"/>
            <a:ext cx="9065942" cy="2462213"/>
          </a:xfrm>
          <a:prstGeom prst="rect">
            <a:avLst/>
          </a:prstGeom>
          <a:solidFill>
            <a:schemeClr val="accent4">
              <a:lumMod val="90000"/>
              <a:lumOff val="10000"/>
            </a:schemeClr>
          </a:solidFill>
        </p:spPr>
        <p:txBody>
          <a:bodyPr wrap="square">
            <a:spAutoFit/>
          </a:bodyPr>
          <a:lstStyle/>
          <a:p>
            <a:pPr>
              <a:buNone/>
            </a:pPr>
            <a:r>
              <a:rPr lang="en-US" sz="2200" b="0" dirty="0">
                <a:solidFill>
                  <a:srgbClr val="569CD6"/>
                </a:solidFill>
                <a:effectLst/>
                <a:latin typeface="Consolas" panose="020B0609020204030204" pitchFamily="49" charset="0"/>
              </a:rPr>
              <a:t>SELECT</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SUM((</a:t>
            </a:r>
            <a:r>
              <a:rPr lang="en-US" sz="2200" b="0" dirty="0" err="1">
                <a:solidFill>
                  <a:srgbClr val="CCCCCC"/>
                </a:solidFill>
                <a:effectLst/>
                <a:latin typeface="Consolas" panose="020B0609020204030204" pitchFamily="49" charset="0"/>
              </a:rPr>
              <a:t>p.ListPrice</a:t>
            </a:r>
            <a:r>
              <a:rPr lang="en-US" sz="2200" b="0" dirty="0">
                <a:solidFill>
                  <a:srgbClr val="CCCCCC"/>
                </a:solidFill>
                <a:effectLst/>
                <a:latin typeface="Consolas" panose="020B0609020204030204" pitchFamily="49" charset="0"/>
              </a:rPr>
              <a:t> - </a:t>
            </a:r>
            <a:r>
              <a:rPr lang="en-US" sz="2200" b="0" dirty="0" err="1">
                <a:solidFill>
                  <a:srgbClr val="CCCCCC"/>
                </a:solidFill>
                <a:effectLst/>
                <a:latin typeface="Consolas" panose="020B0609020204030204" pitchFamily="49" charset="0"/>
              </a:rPr>
              <a:t>p.StandardCost</a:t>
            </a:r>
            <a:r>
              <a:rPr lang="en-US" sz="2200" b="0" dirty="0">
                <a:solidFill>
                  <a:srgbClr val="CCCCCC"/>
                </a:solidFill>
                <a:effectLst/>
                <a:latin typeface="Consolas" panose="020B0609020204030204" pitchFamily="49" charset="0"/>
              </a:rPr>
              <a:t>) * </a:t>
            </a:r>
            <a:r>
              <a:rPr lang="en-US" sz="2200" b="0" dirty="0" err="1">
                <a:solidFill>
                  <a:srgbClr val="CCCCCC"/>
                </a:solidFill>
                <a:effectLst/>
                <a:latin typeface="Consolas" panose="020B0609020204030204" pitchFamily="49" charset="0"/>
              </a:rPr>
              <a:t>sod.OrderQty</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AS</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TotalProfit</a:t>
            </a:r>
            <a:endParaRPr lang="en-US" sz="2200" b="0" dirty="0">
              <a:solidFill>
                <a:srgbClr val="CCCCCC"/>
              </a:solidFill>
              <a:effectLst/>
              <a:latin typeface="Consolas" panose="020B0609020204030204" pitchFamily="49" charset="0"/>
            </a:endParaRPr>
          </a:p>
          <a:p>
            <a:pPr>
              <a:buNone/>
            </a:pPr>
            <a:r>
              <a:rPr lang="en-US" sz="2200" b="0" dirty="0">
                <a:solidFill>
                  <a:srgbClr val="569CD6"/>
                </a:solidFill>
                <a:effectLst/>
                <a:latin typeface="Consolas" panose="020B0609020204030204" pitchFamily="49" charset="0"/>
              </a:rPr>
              <a:t>FROM</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SalesLT.Product</a:t>
            </a:r>
            <a:r>
              <a:rPr lang="en-US" sz="2200" b="0" dirty="0">
                <a:solidFill>
                  <a:srgbClr val="CCCCCC"/>
                </a:solidFill>
                <a:effectLst/>
                <a:latin typeface="Consolas" panose="020B0609020204030204" pitchFamily="49" charset="0"/>
              </a:rPr>
              <a:t> p</a:t>
            </a:r>
          </a:p>
          <a:p>
            <a:pPr>
              <a:buNone/>
            </a:pPr>
            <a:r>
              <a:rPr lang="en-US" sz="2200" b="0" dirty="0">
                <a:solidFill>
                  <a:srgbClr val="569CD6"/>
                </a:solidFill>
                <a:effectLst/>
                <a:latin typeface="Consolas" panose="020B0609020204030204" pitchFamily="49" charset="0"/>
              </a:rPr>
              <a:t>JOIN</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SalesLT.SalesOrderDetail</a:t>
            </a:r>
            <a:r>
              <a:rPr lang="en-US" sz="2200" b="0" dirty="0">
                <a:solidFill>
                  <a:srgbClr val="CCCCCC"/>
                </a:solidFill>
                <a:effectLst/>
                <a:latin typeface="Consolas" panose="020B0609020204030204" pitchFamily="49" charset="0"/>
              </a:rPr>
              <a:t> sod</a:t>
            </a:r>
          </a:p>
          <a:p>
            <a:pPr>
              <a:buNone/>
            </a:pP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ON</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sod.ProductID</a:t>
            </a:r>
            <a:endParaRPr lang="en-US" sz="2200" b="0" dirty="0">
              <a:solidFill>
                <a:srgbClr val="CCCCCC"/>
              </a:solidFill>
              <a:effectLst/>
              <a:latin typeface="Consolas" panose="020B0609020204030204" pitchFamily="49" charset="0"/>
            </a:endParaRPr>
          </a:p>
          <a:p>
            <a:pPr>
              <a:buNone/>
            </a:pPr>
            <a:r>
              <a:rPr lang="en-US" sz="2200" b="0" dirty="0">
                <a:solidFill>
                  <a:srgbClr val="569CD6"/>
                </a:solidFill>
                <a:effectLst/>
                <a:latin typeface="Consolas" panose="020B0609020204030204" pitchFamily="49" charset="0"/>
              </a:rPr>
              <a:t>GROUP BY</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69F40646-C024-B2DD-F6EA-9453B1B9B7D9}"/>
              </a:ext>
            </a:extLst>
          </p:cNvPr>
          <p:cNvGraphicFramePr>
            <a:graphicFrameLocks noGrp="1"/>
          </p:cNvGraphicFramePr>
          <p:nvPr>
            <p:extLst>
              <p:ext uri="{D42A27DB-BD31-4B8C-83A1-F6EECF244321}">
                <p14:modId xmlns:p14="http://schemas.microsoft.com/office/powerpoint/2010/main" val="98670501"/>
              </p:ext>
            </p:extLst>
          </p:nvPr>
        </p:nvGraphicFramePr>
        <p:xfrm>
          <a:off x="0" y="2494672"/>
          <a:ext cx="9065943" cy="4243129"/>
        </p:xfrm>
        <a:graphic>
          <a:graphicData uri="http://schemas.openxmlformats.org/drawingml/2006/table">
            <a:tbl>
              <a:tblPr>
                <a:tableStyleId>{ED083AE6-46FA-4A59-8FB0-9F97EB10719F}</a:tableStyleId>
              </a:tblPr>
              <a:tblGrid>
                <a:gridCol w="2609385">
                  <a:extLst>
                    <a:ext uri="{9D8B030D-6E8A-4147-A177-3AD203B41FA5}">
                      <a16:colId xmlns:a16="http://schemas.microsoft.com/office/drawing/2014/main" val="160480974"/>
                    </a:ext>
                  </a:extLst>
                </a:gridCol>
                <a:gridCol w="3434577">
                  <a:extLst>
                    <a:ext uri="{9D8B030D-6E8A-4147-A177-3AD203B41FA5}">
                      <a16:colId xmlns:a16="http://schemas.microsoft.com/office/drawing/2014/main" val="1908966808"/>
                    </a:ext>
                  </a:extLst>
                </a:gridCol>
                <a:gridCol w="3021981">
                  <a:extLst>
                    <a:ext uri="{9D8B030D-6E8A-4147-A177-3AD203B41FA5}">
                      <a16:colId xmlns:a16="http://schemas.microsoft.com/office/drawing/2014/main" val="2717038044"/>
                    </a:ext>
                  </a:extLst>
                </a:gridCol>
              </a:tblGrid>
              <a:tr h="380993">
                <a:tc>
                  <a:txBody>
                    <a:bodyPr/>
                    <a:lstStyle/>
                    <a:p>
                      <a:pPr>
                        <a:buNone/>
                      </a:pPr>
                      <a:r>
                        <a:rPr lang="en-US" sz="2200">
                          <a:latin typeface="Calibir"/>
                        </a:rPr>
                        <a:t>Part</a:t>
                      </a:r>
                    </a:p>
                  </a:txBody>
                  <a:tcPr marL="43513" marR="43513" marT="21757" marB="21757" anchor="ctr"/>
                </a:tc>
                <a:tc>
                  <a:txBody>
                    <a:bodyPr/>
                    <a:lstStyle/>
                    <a:p>
                      <a:pPr>
                        <a:buNone/>
                      </a:pPr>
                      <a:r>
                        <a:rPr lang="en-US" sz="2200">
                          <a:latin typeface="Calibir"/>
                        </a:rPr>
                        <a:t>Meaning</a:t>
                      </a:r>
                    </a:p>
                  </a:txBody>
                  <a:tcPr marL="43513" marR="43513" marT="21757" marB="21757" anchor="ctr"/>
                </a:tc>
                <a:tc>
                  <a:txBody>
                    <a:bodyPr/>
                    <a:lstStyle/>
                    <a:p>
                      <a:pPr>
                        <a:buNone/>
                      </a:pPr>
                      <a:r>
                        <a:rPr lang="en-US" sz="2200">
                          <a:latin typeface="Calibir"/>
                        </a:rPr>
                        <a:t>Example</a:t>
                      </a:r>
                    </a:p>
                  </a:txBody>
                  <a:tcPr marL="43513" marR="43513" marT="21757" marB="21757" anchor="ctr"/>
                </a:tc>
                <a:extLst>
                  <a:ext uri="{0D108BD9-81ED-4DB2-BD59-A6C34878D82A}">
                    <a16:rowId xmlns:a16="http://schemas.microsoft.com/office/drawing/2014/main" val="3025865182"/>
                  </a:ext>
                </a:extLst>
              </a:tr>
              <a:tr h="0">
                <a:tc>
                  <a:txBody>
                    <a:bodyPr/>
                    <a:lstStyle/>
                    <a:p>
                      <a:pPr>
                        <a:buNone/>
                      </a:pPr>
                      <a:r>
                        <a:rPr lang="en-US" sz="2200" b="1">
                          <a:latin typeface="Calibir"/>
                        </a:rPr>
                        <a:t>SELECT</a:t>
                      </a:r>
                      <a:endParaRPr lang="en-US" sz="2200">
                        <a:latin typeface="Calibir"/>
                      </a:endParaRPr>
                    </a:p>
                  </a:txBody>
                  <a:tcPr marL="43513" marR="43513" marT="21757" marB="21757" anchor="ctr"/>
                </a:tc>
                <a:tc>
                  <a:txBody>
                    <a:bodyPr/>
                    <a:lstStyle/>
                    <a:p>
                      <a:pPr>
                        <a:buNone/>
                      </a:pPr>
                      <a:r>
                        <a:rPr lang="en-US" sz="2200">
                          <a:latin typeface="Calibir"/>
                        </a:rPr>
                        <a:t>Chooses what to show in the result.</a:t>
                      </a:r>
                    </a:p>
                  </a:txBody>
                  <a:tcPr marL="43513" marR="43513" marT="21757" marB="21757" anchor="ctr"/>
                </a:tc>
                <a:tc>
                  <a:txBody>
                    <a:bodyPr/>
                    <a:lstStyle/>
                    <a:p>
                      <a:pPr>
                        <a:buNone/>
                      </a:pPr>
                      <a:r>
                        <a:rPr lang="en-US" sz="2200">
                          <a:latin typeface="Calibir"/>
                        </a:rPr>
                        <a:t>“Show each product and how much total profit it made.”</a:t>
                      </a:r>
                    </a:p>
                  </a:txBody>
                  <a:tcPr marL="43513" marR="43513" marT="21757" marB="21757" anchor="ctr"/>
                </a:tc>
                <a:extLst>
                  <a:ext uri="{0D108BD9-81ED-4DB2-BD59-A6C34878D82A}">
                    <a16:rowId xmlns:a16="http://schemas.microsoft.com/office/drawing/2014/main" val="2558046464"/>
                  </a:ext>
                </a:extLst>
              </a:tr>
              <a:tr h="0">
                <a:tc>
                  <a:txBody>
                    <a:bodyPr/>
                    <a:lstStyle/>
                    <a:p>
                      <a:pPr>
                        <a:buNone/>
                      </a:pPr>
                      <a:r>
                        <a:rPr lang="en-US" sz="2200" b="1">
                          <a:latin typeface="Calibir"/>
                        </a:rPr>
                        <a:t>p.ProductID</a:t>
                      </a:r>
                      <a:endParaRPr lang="en-US" sz="2200">
                        <a:latin typeface="Calibir"/>
                      </a:endParaRPr>
                    </a:p>
                  </a:txBody>
                  <a:tcPr marL="43513" marR="43513" marT="21757" marB="21757" anchor="ctr"/>
                </a:tc>
                <a:tc>
                  <a:txBody>
                    <a:bodyPr/>
                    <a:lstStyle/>
                    <a:p>
                      <a:pPr>
                        <a:buNone/>
                      </a:pPr>
                      <a:r>
                        <a:rPr lang="en-US" sz="2200">
                          <a:latin typeface="Calibir"/>
                        </a:rPr>
                        <a:t>The ID number of each product from the Product table.</a:t>
                      </a:r>
                    </a:p>
                  </a:txBody>
                  <a:tcPr marL="43513" marR="43513" marT="21757" marB="21757" anchor="ctr"/>
                </a:tc>
                <a:tc>
                  <a:txBody>
                    <a:bodyPr/>
                    <a:lstStyle/>
                    <a:p>
                      <a:pPr>
                        <a:buNone/>
                      </a:pPr>
                      <a:r>
                        <a:rPr lang="en-US" sz="2200">
                          <a:latin typeface="Calibir"/>
                        </a:rPr>
                        <a:t>e.g., ProductID = 101 for “Mountain Bike.”</a:t>
                      </a:r>
                    </a:p>
                  </a:txBody>
                  <a:tcPr marL="43513" marR="43513" marT="21757" marB="21757" anchor="ctr"/>
                </a:tc>
                <a:extLst>
                  <a:ext uri="{0D108BD9-81ED-4DB2-BD59-A6C34878D82A}">
                    <a16:rowId xmlns:a16="http://schemas.microsoft.com/office/drawing/2014/main" val="1698233318"/>
                  </a:ext>
                </a:extLst>
              </a:tr>
              <a:tr h="0">
                <a:tc>
                  <a:txBody>
                    <a:bodyPr/>
                    <a:lstStyle/>
                    <a:p>
                      <a:pPr>
                        <a:buNone/>
                      </a:pPr>
                      <a:r>
                        <a:rPr lang="en-US" sz="2200" b="1">
                          <a:latin typeface="Calibir"/>
                        </a:rPr>
                        <a:t>(p.ListPrice - p.StandardCost)</a:t>
                      </a:r>
                      <a:endParaRPr lang="en-US" sz="2200">
                        <a:latin typeface="Calibir"/>
                      </a:endParaRPr>
                    </a:p>
                  </a:txBody>
                  <a:tcPr marL="43513" marR="43513" marT="21757" marB="21757" anchor="ctr"/>
                </a:tc>
                <a:tc>
                  <a:txBody>
                    <a:bodyPr/>
                    <a:lstStyle/>
                    <a:p>
                      <a:pPr>
                        <a:buNone/>
                      </a:pPr>
                      <a:r>
                        <a:rPr lang="en-US" sz="2200">
                          <a:latin typeface="Calibir"/>
                        </a:rPr>
                        <a:t>Finds the profit </a:t>
                      </a:r>
                      <a:r>
                        <a:rPr lang="en-US" sz="2200" b="1">
                          <a:latin typeface="Calibir"/>
                        </a:rPr>
                        <a:t>per item</a:t>
                      </a:r>
                      <a:r>
                        <a:rPr lang="en-US" sz="2200">
                          <a:latin typeface="Calibir"/>
                        </a:rPr>
                        <a:t> by subtracting the cost from the selling price.</a:t>
                      </a:r>
                    </a:p>
                  </a:txBody>
                  <a:tcPr marL="43513" marR="43513" marT="21757" marB="21757" anchor="ctr"/>
                </a:tc>
                <a:tc>
                  <a:txBody>
                    <a:bodyPr/>
                    <a:lstStyle/>
                    <a:p>
                      <a:pPr>
                        <a:buNone/>
                      </a:pPr>
                      <a:r>
                        <a:rPr lang="en-US" sz="2200">
                          <a:latin typeface="Calibir"/>
                        </a:rPr>
                        <a:t>e.g., Price $100 – Cost $60 = $40 profit per item.</a:t>
                      </a:r>
                    </a:p>
                  </a:txBody>
                  <a:tcPr marL="43513" marR="43513" marT="21757" marB="21757" anchor="ctr"/>
                </a:tc>
                <a:extLst>
                  <a:ext uri="{0D108BD9-81ED-4DB2-BD59-A6C34878D82A}">
                    <a16:rowId xmlns:a16="http://schemas.microsoft.com/office/drawing/2014/main" val="3958318922"/>
                  </a:ext>
                </a:extLst>
              </a:tr>
              <a:tr h="0">
                <a:tc>
                  <a:txBody>
                    <a:bodyPr/>
                    <a:lstStyle/>
                    <a:p>
                      <a:pPr>
                        <a:buNone/>
                      </a:pPr>
                      <a:r>
                        <a:rPr lang="en-US" sz="2200" b="1">
                          <a:latin typeface="Calibir"/>
                        </a:rPr>
                        <a:t>* sod.OrderQty</a:t>
                      </a:r>
                      <a:endParaRPr lang="en-US" sz="2200">
                        <a:latin typeface="Calibir"/>
                      </a:endParaRPr>
                    </a:p>
                  </a:txBody>
                  <a:tcPr marL="43513" marR="43513" marT="21757" marB="21757" anchor="ctr"/>
                </a:tc>
                <a:tc>
                  <a:txBody>
                    <a:bodyPr/>
                    <a:lstStyle/>
                    <a:p>
                      <a:pPr>
                        <a:buNone/>
                      </a:pPr>
                      <a:r>
                        <a:rPr lang="en-US" sz="2200">
                          <a:latin typeface="Calibir"/>
                        </a:rPr>
                        <a:t>Multiplies that profit by how many units were sold.</a:t>
                      </a:r>
                    </a:p>
                  </a:txBody>
                  <a:tcPr marL="43513" marR="43513" marT="21757" marB="21757" anchor="ctr"/>
                </a:tc>
                <a:tc>
                  <a:txBody>
                    <a:bodyPr/>
                    <a:lstStyle/>
                    <a:p>
                      <a:pPr>
                        <a:buNone/>
                      </a:pPr>
                      <a:r>
                        <a:rPr lang="en-US" sz="2200" dirty="0">
                          <a:latin typeface="Calibir"/>
                        </a:rPr>
                        <a:t>e.g., $40 × 10 = $400 total profit.</a:t>
                      </a:r>
                    </a:p>
                  </a:txBody>
                  <a:tcPr marL="43513" marR="43513" marT="21757" marB="21757" anchor="ctr"/>
                </a:tc>
                <a:extLst>
                  <a:ext uri="{0D108BD9-81ED-4DB2-BD59-A6C34878D82A}">
                    <a16:rowId xmlns:a16="http://schemas.microsoft.com/office/drawing/2014/main" val="3920000030"/>
                  </a:ext>
                </a:extLst>
              </a:tr>
            </a:tbl>
          </a:graphicData>
        </a:graphic>
      </p:graphicFrame>
    </p:spTree>
    <p:extLst>
      <p:ext uri="{BB962C8B-B14F-4D97-AF65-F5344CB8AC3E}">
        <p14:creationId xmlns:p14="http://schemas.microsoft.com/office/powerpoint/2010/main" val="1910110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5BC967F-06AC-9CCE-B954-3D3B5E1F65D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88692A1-D22A-BD65-1F14-DB1932C8736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B1EF73E-C0E3-7B4B-C672-C1889A993D8C}"/>
              </a:ext>
            </a:extLst>
          </p:cNvPr>
          <p:cNvSpPr>
            <a:spLocks noGrp="1"/>
          </p:cNvSpPr>
          <p:nvPr>
            <p:ph type="sldNum" sz="quarter" idx="4"/>
          </p:nvPr>
        </p:nvSpPr>
        <p:spPr/>
        <p:txBody>
          <a:bodyPr/>
          <a:lstStyle/>
          <a:p>
            <a:fld id="{16A89BA3-132D-40E1-AAB4-CDCD0A14C216}" type="slidenum">
              <a:rPr lang="en-AU" smtClean="0"/>
              <a:pPr/>
              <a:t>93</a:t>
            </a:fld>
            <a:r>
              <a:rPr lang="en-AU"/>
              <a:t>  |</a:t>
            </a:r>
            <a:endParaRPr lang="en-AU" dirty="0"/>
          </a:p>
        </p:txBody>
      </p:sp>
      <p:sp>
        <p:nvSpPr>
          <p:cNvPr id="6" name="TextBox 5">
            <a:extLst>
              <a:ext uri="{FF2B5EF4-FFF2-40B4-BE49-F238E27FC236}">
                <a16:creationId xmlns:a16="http://schemas.microsoft.com/office/drawing/2014/main" id="{8F59ED4A-087F-F271-2CE9-2F8375F3D80F}"/>
              </a:ext>
            </a:extLst>
          </p:cNvPr>
          <p:cNvSpPr txBox="1"/>
          <p:nvPr/>
        </p:nvSpPr>
        <p:spPr>
          <a:xfrm>
            <a:off x="0" y="32459"/>
            <a:ext cx="9065942" cy="2462213"/>
          </a:xfrm>
          <a:prstGeom prst="rect">
            <a:avLst/>
          </a:prstGeom>
          <a:solidFill>
            <a:schemeClr val="accent4">
              <a:lumMod val="90000"/>
              <a:lumOff val="10000"/>
            </a:schemeClr>
          </a:solidFill>
        </p:spPr>
        <p:txBody>
          <a:bodyPr wrap="square">
            <a:spAutoFit/>
          </a:bodyPr>
          <a:lstStyle/>
          <a:p>
            <a:pPr>
              <a:buNone/>
            </a:pPr>
            <a:r>
              <a:rPr lang="en-US" sz="2200" b="0" dirty="0">
                <a:solidFill>
                  <a:srgbClr val="569CD6"/>
                </a:solidFill>
                <a:effectLst/>
                <a:latin typeface="Consolas" panose="020B0609020204030204" pitchFamily="49" charset="0"/>
              </a:rPr>
              <a:t>SELECT</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SUM((</a:t>
            </a:r>
            <a:r>
              <a:rPr lang="en-US" sz="2200" b="0" dirty="0" err="1">
                <a:solidFill>
                  <a:srgbClr val="CCCCCC"/>
                </a:solidFill>
                <a:effectLst/>
                <a:latin typeface="Consolas" panose="020B0609020204030204" pitchFamily="49" charset="0"/>
              </a:rPr>
              <a:t>p.ListPrice</a:t>
            </a:r>
            <a:r>
              <a:rPr lang="en-US" sz="2200" b="0" dirty="0">
                <a:solidFill>
                  <a:srgbClr val="CCCCCC"/>
                </a:solidFill>
                <a:effectLst/>
                <a:latin typeface="Consolas" panose="020B0609020204030204" pitchFamily="49" charset="0"/>
              </a:rPr>
              <a:t> - </a:t>
            </a:r>
            <a:r>
              <a:rPr lang="en-US" sz="2200" b="0" dirty="0" err="1">
                <a:solidFill>
                  <a:srgbClr val="CCCCCC"/>
                </a:solidFill>
                <a:effectLst/>
                <a:latin typeface="Consolas" panose="020B0609020204030204" pitchFamily="49" charset="0"/>
              </a:rPr>
              <a:t>p.StandardCost</a:t>
            </a:r>
            <a:r>
              <a:rPr lang="en-US" sz="2200" b="0" dirty="0">
                <a:solidFill>
                  <a:srgbClr val="CCCCCC"/>
                </a:solidFill>
                <a:effectLst/>
                <a:latin typeface="Consolas" panose="020B0609020204030204" pitchFamily="49" charset="0"/>
              </a:rPr>
              <a:t>) * </a:t>
            </a:r>
            <a:r>
              <a:rPr lang="en-US" sz="2200" b="0" dirty="0" err="1">
                <a:solidFill>
                  <a:srgbClr val="CCCCCC"/>
                </a:solidFill>
                <a:effectLst/>
                <a:latin typeface="Consolas" panose="020B0609020204030204" pitchFamily="49" charset="0"/>
              </a:rPr>
              <a:t>sod.OrderQty</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AS</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TotalProfit</a:t>
            </a:r>
            <a:endParaRPr lang="en-US" sz="2200" b="0" dirty="0">
              <a:solidFill>
                <a:srgbClr val="CCCCCC"/>
              </a:solidFill>
              <a:effectLst/>
              <a:latin typeface="Consolas" panose="020B0609020204030204" pitchFamily="49" charset="0"/>
            </a:endParaRPr>
          </a:p>
          <a:p>
            <a:pPr>
              <a:buNone/>
            </a:pPr>
            <a:r>
              <a:rPr lang="en-US" sz="2200" b="0" dirty="0">
                <a:solidFill>
                  <a:srgbClr val="569CD6"/>
                </a:solidFill>
                <a:effectLst/>
                <a:latin typeface="Consolas" panose="020B0609020204030204" pitchFamily="49" charset="0"/>
              </a:rPr>
              <a:t>FROM</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SalesLT.Product</a:t>
            </a:r>
            <a:r>
              <a:rPr lang="en-US" sz="2200" b="0" dirty="0">
                <a:solidFill>
                  <a:srgbClr val="CCCCCC"/>
                </a:solidFill>
                <a:effectLst/>
                <a:latin typeface="Consolas" panose="020B0609020204030204" pitchFamily="49" charset="0"/>
              </a:rPr>
              <a:t> p</a:t>
            </a:r>
          </a:p>
          <a:p>
            <a:pPr>
              <a:buNone/>
            </a:pPr>
            <a:r>
              <a:rPr lang="en-US" sz="2200" b="0" dirty="0">
                <a:solidFill>
                  <a:srgbClr val="569CD6"/>
                </a:solidFill>
                <a:effectLst/>
                <a:latin typeface="Consolas" panose="020B0609020204030204" pitchFamily="49" charset="0"/>
              </a:rPr>
              <a:t>JOIN</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SalesLT.SalesOrderDetail</a:t>
            </a:r>
            <a:r>
              <a:rPr lang="en-US" sz="2200" b="0" dirty="0">
                <a:solidFill>
                  <a:srgbClr val="CCCCCC"/>
                </a:solidFill>
                <a:effectLst/>
                <a:latin typeface="Consolas" panose="020B0609020204030204" pitchFamily="49" charset="0"/>
              </a:rPr>
              <a:t> sod</a:t>
            </a:r>
          </a:p>
          <a:p>
            <a:pPr>
              <a:buNone/>
            </a:pP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ON</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sod.ProductID</a:t>
            </a:r>
            <a:endParaRPr lang="en-US" sz="2200" b="0" dirty="0">
              <a:solidFill>
                <a:srgbClr val="CCCCCC"/>
              </a:solidFill>
              <a:effectLst/>
              <a:latin typeface="Consolas" panose="020B0609020204030204" pitchFamily="49" charset="0"/>
            </a:endParaRPr>
          </a:p>
          <a:p>
            <a:pPr>
              <a:buNone/>
            </a:pPr>
            <a:r>
              <a:rPr lang="en-US" sz="2200" b="0" dirty="0">
                <a:solidFill>
                  <a:srgbClr val="569CD6"/>
                </a:solidFill>
                <a:effectLst/>
                <a:latin typeface="Consolas" panose="020B0609020204030204" pitchFamily="49" charset="0"/>
              </a:rPr>
              <a:t>GROUP BY</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C9FF8158-38A3-AE95-361E-70D523C4C1AC}"/>
              </a:ext>
            </a:extLst>
          </p:cNvPr>
          <p:cNvGraphicFramePr>
            <a:graphicFrameLocks noGrp="1"/>
          </p:cNvGraphicFramePr>
          <p:nvPr>
            <p:extLst>
              <p:ext uri="{D42A27DB-BD31-4B8C-83A1-F6EECF244321}">
                <p14:modId xmlns:p14="http://schemas.microsoft.com/office/powerpoint/2010/main" val="1901695548"/>
              </p:ext>
            </p:extLst>
          </p:nvPr>
        </p:nvGraphicFramePr>
        <p:xfrm>
          <a:off x="0" y="2494672"/>
          <a:ext cx="9065943" cy="3907849"/>
        </p:xfrm>
        <a:graphic>
          <a:graphicData uri="http://schemas.openxmlformats.org/drawingml/2006/table">
            <a:tbl>
              <a:tblPr>
                <a:tableStyleId>{ED083AE6-46FA-4A59-8FB0-9F97EB10719F}</a:tableStyleId>
              </a:tblPr>
              <a:tblGrid>
                <a:gridCol w="2609385">
                  <a:extLst>
                    <a:ext uri="{9D8B030D-6E8A-4147-A177-3AD203B41FA5}">
                      <a16:colId xmlns:a16="http://schemas.microsoft.com/office/drawing/2014/main" val="160480974"/>
                    </a:ext>
                  </a:extLst>
                </a:gridCol>
                <a:gridCol w="3434577">
                  <a:extLst>
                    <a:ext uri="{9D8B030D-6E8A-4147-A177-3AD203B41FA5}">
                      <a16:colId xmlns:a16="http://schemas.microsoft.com/office/drawing/2014/main" val="1908966808"/>
                    </a:ext>
                  </a:extLst>
                </a:gridCol>
                <a:gridCol w="3021981">
                  <a:extLst>
                    <a:ext uri="{9D8B030D-6E8A-4147-A177-3AD203B41FA5}">
                      <a16:colId xmlns:a16="http://schemas.microsoft.com/office/drawing/2014/main" val="2717038044"/>
                    </a:ext>
                  </a:extLst>
                </a:gridCol>
              </a:tblGrid>
              <a:tr h="380993">
                <a:tc>
                  <a:txBody>
                    <a:bodyPr/>
                    <a:lstStyle/>
                    <a:p>
                      <a:pPr>
                        <a:buNone/>
                      </a:pPr>
                      <a:r>
                        <a:rPr lang="en-US" sz="2200">
                          <a:latin typeface="Calibir"/>
                        </a:rPr>
                        <a:t>Part</a:t>
                      </a:r>
                    </a:p>
                  </a:txBody>
                  <a:tcPr marL="43513" marR="43513" marT="21757" marB="21757" anchor="ctr"/>
                </a:tc>
                <a:tc>
                  <a:txBody>
                    <a:bodyPr/>
                    <a:lstStyle/>
                    <a:p>
                      <a:pPr>
                        <a:buNone/>
                      </a:pPr>
                      <a:r>
                        <a:rPr lang="en-US" sz="2200">
                          <a:latin typeface="Calibir"/>
                        </a:rPr>
                        <a:t>Meaning</a:t>
                      </a:r>
                    </a:p>
                  </a:txBody>
                  <a:tcPr marL="43513" marR="43513" marT="21757" marB="21757" anchor="ctr"/>
                </a:tc>
                <a:tc>
                  <a:txBody>
                    <a:bodyPr/>
                    <a:lstStyle/>
                    <a:p>
                      <a:pPr>
                        <a:buNone/>
                      </a:pPr>
                      <a:r>
                        <a:rPr lang="en-US" sz="2200">
                          <a:latin typeface="Calibir"/>
                        </a:rPr>
                        <a:t>Example</a:t>
                      </a:r>
                    </a:p>
                  </a:txBody>
                  <a:tcPr marL="43513" marR="43513" marT="21757" marB="21757" anchor="ctr"/>
                </a:tc>
                <a:extLst>
                  <a:ext uri="{0D108BD9-81ED-4DB2-BD59-A6C34878D82A}">
                    <a16:rowId xmlns:a16="http://schemas.microsoft.com/office/drawing/2014/main" val="3025865182"/>
                  </a:ext>
                </a:extLst>
              </a:tr>
              <a:tr h="0">
                <a:tc>
                  <a:txBody>
                    <a:bodyPr/>
                    <a:lstStyle/>
                    <a:p>
                      <a:pPr>
                        <a:buNone/>
                      </a:pPr>
                      <a:r>
                        <a:rPr lang="en-US" sz="2200" b="1" dirty="0">
                          <a:latin typeface="Calibir"/>
                        </a:rPr>
                        <a:t>SUM(...) AS </a:t>
                      </a:r>
                      <a:r>
                        <a:rPr lang="en-US" sz="2200" b="1" dirty="0" err="1">
                          <a:latin typeface="Calibir"/>
                        </a:rPr>
                        <a:t>TotalProfit</a:t>
                      </a:r>
                      <a:endParaRPr lang="en-US" sz="2200" dirty="0">
                        <a:latin typeface="Calibir"/>
                      </a:endParaRPr>
                    </a:p>
                  </a:txBody>
                  <a:tcPr marL="43513" marR="43513" marT="21757" marB="21757" anchor="ctr"/>
                </a:tc>
                <a:tc>
                  <a:txBody>
                    <a:bodyPr/>
                    <a:lstStyle/>
                    <a:p>
                      <a:pPr>
                        <a:buNone/>
                      </a:pPr>
                      <a:r>
                        <a:rPr lang="en-US" sz="2200" dirty="0">
                          <a:latin typeface="Calibir"/>
                        </a:rPr>
                        <a:t>Adds up all profits for each product (across all orders).</a:t>
                      </a:r>
                    </a:p>
                  </a:txBody>
                  <a:tcPr marL="43513" marR="43513" marT="21757" marB="21757" anchor="ctr"/>
                </a:tc>
                <a:tc>
                  <a:txBody>
                    <a:bodyPr/>
                    <a:lstStyle/>
                    <a:p>
                      <a:pPr>
                        <a:buNone/>
                      </a:pPr>
                      <a:r>
                        <a:rPr lang="en-US" sz="2200">
                          <a:latin typeface="Calibir"/>
                        </a:rPr>
                        <a:t>If Product 101 was sold 3 times → total all those profits together.</a:t>
                      </a:r>
                    </a:p>
                  </a:txBody>
                  <a:tcPr marL="43513" marR="43513" marT="21757" marB="21757" anchor="ctr"/>
                </a:tc>
                <a:extLst>
                  <a:ext uri="{0D108BD9-81ED-4DB2-BD59-A6C34878D82A}">
                    <a16:rowId xmlns:a16="http://schemas.microsoft.com/office/drawing/2014/main" val="2558046464"/>
                  </a:ext>
                </a:extLst>
              </a:tr>
              <a:tr h="0">
                <a:tc>
                  <a:txBody>
                    <a:bodyPr/>
                    <a:lstStyle/>
                    <a:p>
                      <a:pPr>
                        <a:buNone/>
                      </a:pPr>
                      <a:r>
                        <a:rPr lang="en-US" sz="2200" b="1">
                          <a:latin typeface="Calibir"/>
                        </a:rPr>
                        <a:t>FROM SalesLT.Product p</a:t>
                      </a:r>
                      <a:endParaRPr lang="en-US" sz="2200">
                        <a:latin typeface="Calibir"/>
                      </a:endParaRPr>
                    </a:p>
                  </a:txBody>
                  <a:tcPr marL="43513" marR="43513" marT="21757" marB="21757" anchor="ctr"/>
                </a:tc>
                <a:tc>
                  <a:txBody>
                    <a:bodyPr/>
                    <a:lstStyle/>
                    <a:p>
                      <a:pPr>
                        <a:buNone/>
                      </a:pPr>
                      <a:r>
                        <a:rPr lang="en-US" sz="2200" dirty="0">
                          <a:latin typeface="Calibir"/>
                        </a:rPr>
                        <a:t>The main product list (contains price and cost).</a:t>
                      </a:r>
                    </a:p>
                  </a:txBody>
                  <a:tcPr marL="43513" marR="43513" marT="21757" marB="21757" anchor="ctr"/>
                </a:tc>
                <a:tc>
                  <a:txBody>
                    <a:bodyPr/>
                    <a:lstStyle/>
                    <a:p>
                      <a:pPr>
                        <a:buNone/>
                      </a:pPr>
                      <a:r>
                        <a:rPr lang="en-US" sz="2200" dirty="0">
                          <a:latin typeface="Calibir"/>
                        </a:rPr>
                        <a:t>Think of it as your “catalogue.”</a:t>
                      </a:r>
                    </a:p>
                  </a:txBody>
                  <a:tcPr marL="43513" marR="43513" marT="21757" marB="21757" anchor="ctr"/>
                </a:tc>
                <a:extLst>
                  <a:ext uri="{0D108BD9-81ED-4DB2-BD59-A6C34878D82A}">
                    <a16:rowId xmlns:a16="http://schemas.microsoft.com/office/drawing/2014/main" val="1698233318"/>
                  </a:ext>
                </a:extLst>
              </a:tr>
              <a:tr h="0">
                <a:tc>
                  <a:txBody>
                    <a:bodyPr/>
                    <a:lstStyle/>
                    <a:p>
                      <a:pPr>
                        <a:buNone/>
                      </a:pPr>
                      <a:r>
                        <a:rPr lang="en-US" sz="2200" b="1">
                          <a:latin typeface="Calibir"/>
                        </a:rPr>
                        <a:t>JOIN SalesLT.SalesOrderDetail sod</a:t>
                      </a:r>
                      <a:endParaRPr lang="en-US" sz="2200">
                        <a:latin typeface="Calibir"/>
                      </a:endParaRPr>
                    </a:p>
                  </a:txBody>
                  <a:tcPr marL="43513" marR="43513" marT="21757" marB="21757" anchor="ctr"/>
                </a:tc>
                <a:tc>
                  <a:txBody>
                    <a:bodyPr/>
                    <a:lstStyle/>
                    <a:p>
                      <a:pPr>
                        <a:buNone/>
                      </a:pPr>
                      <a:r>
                        <a:rPr lang="en-US" sz="2200" dirty="0">
                          <a:latin typeface="Calibir"/>
                        </a:rPr>
                        <a:t>Combines product info with order details.</a:t>
                      </a:r>
                    </a:p>
                  </a:txBody>
                  <a:tcPr marL="43513" marR="43513" marT="21757" marB="21757" anchor="ctr"/>
                </a:tc>
                <a:tc>
                  <a:txBody>
                    <a:bodyPr/>
                    <a:lstStyle/>
                    <a:p>
                      <a:pPr>
                        <a:buNone/>
                      </a:pPr>
                      <a:r>
                        <a:rPr lang="en-US" sz="2200" dirty="0">
                          <a:latin typeface="Calibir"/>
                        </a:rPr>
                        <a:t>Links what was sold to what the product actually is.</a:t>
                      </a:r>
                    </a:p>
                  </a:txBody>
                  <a:tcPr marL="43513" marR="43513" marT="21757" marB="21757" anchor="ctr"/>
                </a:tc>
                <a:extLst>
                  <a:ext uri="{0D108BD9-81ED-4DB2-BD59-A6C34878D82A}">
                    <a16:rowId xmlns:a16="http://schemas.microsoft.com/office/drawing/2014/main" val="3958318922"/>
                  </a:ext>
                </a:extLst>
              </a:tr>
              <a:tr h="0">
                <a:tc>
                  <a:txBody>
                    <a:bodyPr/>
                    <a:lstStyle/>
                    <a:p>
                      <a:pPr>
                        <a:buNone/>
                      </a:pPr>
                      <a:r>
                        <a:rPr lang="en-US" sz="2200" b="1">
                          <a:latin typeface="Calibir"/>
                        </a:rPr>
                        <a:t>ON p.ProductID = sod.ProductID</a:t>
                      </a:r>
                      <a:endParaRPr lang="en-US" sz="2200">
                        <a:latin typeface="Calibir"/>
                      </a:endParaRPr>
                    </a:p>
                  </a:txBody>
                  <a:tcPr marL="43513" marR="43513" marT="21757" marB="21757" anchor="ctr"/>
                </a:tc>
                <a:tc>
                  <a:txBody>
                    <a:bodyPr/>
                    <a:lstStyle/>
                    <a:p>
                      <a:pPr>
                        <a:buNone/>
                      </a:pPr>
                      <a:r>
                        <a:rPr lang="en-US" sz="2200" dirty="0">
                          <a:latin typeface="Calibir"/>
                        </a:rPr>
                        <a:t>Connects both tables using the </a:t>
                      </a:r>
                      <a:r>
                        <a:rPr lang="en-US" sz="2200" dirty="0" err="1">
                          <a:latin typeface="Calibir"/>
                        </a:rPr>
                        <a:t>ProductID</a:t>
                      </a:r>
                      <a:r>
                        <a:rPr lang="en-US" sz="2200" dirty="0">
                          <a:latin typeface="Calibir"/>
                        </a:rPr>
                        <a:t> field.</a:t>
                      </a:r>
                    </a:p>
                  </a:txBody>
                  <a:tcPr marL="43513" marR="43513" marT="21757" marB="21757" anchor="ctr"/>
                </a:tc>
                <a:tc>
                  <a:txBody>
                    <a:bodyPr/>
                    <a:lstStyle/>
                    <a:p>
                      <a:pPr>
                        <a:buNone/>
                      </a:pPr>
                      <a:r>
                        <a:rPr lang="en-US" sz="2200" dirty="0">
                          <a:latin typeface="Calibir"/>
                        </a:rPr>
                        <a:t>Matches each order line with its product.</a:t>
                      </a:r>
                    </a:p>
                  </a:txBody>
                  <a:tcPr marL="43513" marR="43513" marT="21757" marB="21757" anchor="ctr"/>
                </a:tc>
                <a:extLst>
                  <a:ext uri="{0D108BD9-81ED-4DB2-BD59-A6C34878D82A}">
                    <a16:rowId xmlns:a16="http://schemas.microsoft.com/office/drawing/2014/main" val="3920000030"/>
                  </a:ext>
                </a:extLst>
              </a:tr>
            </a:tbl>
          </a:graphicData>
        </a:graphic>
      </p:graphicFrame>
    </p:spTree>
    <p:extLst>
      <p:ext uri="{BB962C8B-B14F-4D97-AF65-F5344CB8AC3E}">
        <p14:creationId xmlns:p14="http://schemas.microsoft.com/office/powerpoint/2010/main" val="358689996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0B4389C-0D34-11C5-50D3-C12D0E6913B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A390CBD-C428-7032-FCBC-67620102EBA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23CE2D2-0F84-95AC-C58C-F71A02175145}"/>
              </a:ext>
            </a:extLst>
          </p:cNvPr>
          <p:cNvSpPr>
            <a:spLocks noGrp="1"/>
          </p:cNvSpPr>
          <p:nvPr>
            <p:ph type="sldNum" sz="quarter" idx="4"/>
          </p:nvPr>
        </p:nvSpPr>
        <p:spPr/>
        <p:txBody>
          <a:bodyPr/>
          <a:lstStyle/>
          <a:p>
            <a:fld id="{16A89BA3-132D-40E1-AAB4-CDCD0A14C216}" type="slidenum">
              <a:rPr lang="en-AU" smtClean="0"/>
              <a:pPr/>
              <a:t>94</a:t>
            </a:fld>
            <a:r>
              <a:rPr lang="en-AU"/>
              <a:t>  |</a:t>
            </a:r>
            <a:endParaRPr lang="en-AU" dirty="0"/>
          </a:p>
        </p:txBody>
      </p:sp>
      <p:sp>
        <p:nvSpPr>
          <p:cNvPr id="6" name="TextBox 5">
            <a:extLst>
              <a:ext uri="{FF2B5EF4-FFF2-40B4-BE49-F238E27FC236}">
                <a16:creationId xmlns:a16="http://schemas.microsoft.com/office/drawing/2014/main" id="{B444AC33-EAC2-1358-6785-C4948C98D9FA}"/>
              </a:ext>
            </a:extLst>
          </p:cNvPr>
          <p:cNvSpPr txBox="1"/>
          <p:nvPr/>
        </p:nvSpPr>
        <p:spPr>
          <a:xfrm>
            <a:off x="0" y="32459"/>
            <a:ext cx="9065942" cy="2462213"/>
          </a:xfrm>
          <a:prstGeom prst="rect">
            <a:avLst/>
          </a:prstGeom>
          <a:solidFill>
            <a:schemeClr val="accent4">
              <a:lumMod val="90000"/>
              <a:lumOff val="10000"/>
            </a:schemeClr>
          </a:solidFill>
        </p:spPr>
        <p:txBody>
          <a:bodyPr wrap="square">
            <a:spAutoFit/>
          </a:bodyPr>
          <a:lstStyle/>
          <a:p>
            <a:pPr>
              <a:buNone/>
            </a:pPr>
            <a:r>
              <a:rPr lang="en-US" sz="2200" b="0" dirty="0">
                <a:solidFill>
                  <a:srgbClr val="569CD6"/>
                </a:solidFill>
                <a:effectLst/>
                <a:latin typeface="Consolas" panose="020B0609020204030204" pitchFamily="49" charset="0"/>
              </a:rPr>
              <a:t>SELECT</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SUM((</a:t>
            </a:r>
            <a:r>
              <a:rPr lang="en-US" sz="2200" b="0" dirty="0" err="1">
                <a:solidFill>
                  <a:srgbClr val="CCCCCC"/>
                </a:solidFill>
                <a:effectLst/>
                <a:latin typeface="Consolas" panose="020B0609020204030204" pitchFamily="49" charset="0"/>
              </a:rPr>
              <a:t>p.ListPrice</a:t>
            </a:r>
            <a:r>
              <a:rPr lang="en-US" sz="2200" b="0" dirty="0">
                <a:solidFill>
                  <a:srgbClr val="CCCCCC"/>
                </a:solidFill>
                <a:effectLst/>
                <a:latin typeface="Consolas" panose="020B0609020204030204" pitchFamily="49" charset="0"/>
              </a:rPr>
              <a:t> - </a:t>
            </a:r>
            <a:r>
              <a:rPr lang="en-US" sz="2200" b="0" dirty="0" err="1">
                <a:solidFill>
                  <a:srgbClr val="CCCCCC"/>
                </a:solidFill>
                <a:effectLst/>
                <a:latin typeface="Consolas" panose="020B0609020204030204" pitchFamily="49" charset="0"/>
              </a:rPr>
              <a:t>p.StandardCost</a:t>
            </a:r>
            <a:r>
              <a:rPr lang="en-US" sz="2200" b="0" dirty="0">
                <a:solidFill>
                  <a:srgbClr val="CCCCCC"/>
                </a:solidFill>
                <a:effectLst/>
                <a:latin typeface="Consolas" panose="020B0609020204030204" pitchFamily="49" charset="0"/>
              </a:rPr>
              <a:t>) * </a:t>
            </a:r>
            <a:r>
              <a:rPr lang="en-US" sz="2200" b="0" dirty="0" err="1">
                <a:solidFill>
                  <a:srgbClr val="CCCCCC"/>
                </a:solidFill>
                <a:effectLst/>
                <a:latin typeface="Consolas" panose="020B0609020204030204" pitchFamily="49" charset="0"/>
              </a:rPr>
              <a:t>sod.OrderQty</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AS</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TotalProfit</a:t>
            </a:r>
            <a:endParaRPr lang="en-US" sz="2200" b="0" dirty="0">
              <a:solidFill>
                <a:srgbClr val="CCCCCC"/>
              </a:solidFill>
              <a:effectLst/>
              <a:latin typeface="Consolas" panose="020B0609020204030204" pitchFamily="49" charset="0"/>
            </a:endParaRPr>
          </a:p>
          <a:p>
            <a:pPr>
              <a:buNone/>
            </a:pPr>
            <a:r>
              <a:rPr lang="en-US" sz="2200" b="0" dirty="0">
                <a:solidFill>
                  <a:srgbClr val="569CD6"/>
                </a:solidFill>
                <a:effectLst/>
                <a:latin typeface="Consolas" panose="020B0609020204030204" pitchFamily="49" charset="0"/>
              </a:rPr>
              <a:t>FROM</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SalesLT.Product</a:t>
            </a:r>
            <a:r>
              <a:rPr lang="en-US" sz="2200" b="0" dirty="0">
                <a:solidFill>
                  <a:srgbClr val="CCCCCC"/>
                </a:solidFill>
                <a:effectLst/>
                <a:latin typeface="Consolas" panose="020B0609020204030204" pitchFamily="49" charset="0"/>
              </a:rPr>
              <a:t> p</a:t>
            </a:r>
          </a:p>
          <a:p>
            <a:pPr>
              <a:buNone/>
            </a:pPr>
            <a:r>
              <a:rPr lang="en-US" sz="2200" b="0" dirty="0">
                <a:solidFill>
                  <a:srgbClr val="569CD6"/>
                </a:solidFill>
                <a:effectLst/>
                <a:latin typeface="Consolas" panose="020B0609020204030204" pitchFamily="49" charset="0"/>
              </a:rPr>
              <a:t>JOIN</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SalesLT.SalesOrderDetail</a:t>
            </a:r>
            <a:r>
              <a:rPr lang="en-US" sz="2200" b="0" dirty="0">
                <a:solidFill>
                  <a:srgbClr val="CCCCCC"/>
                </a:solidFill>
                <a:effectLst/>
                <a:latin typeface="Consolas" panose="020B0609020204030204" pitchFamily="49" charset="0"/>
              </a:rPr>
              <a:t> sod</a:t>
            </a:r>
          </a:p>
          <a:p>
            <a:pPr>
              <a:buNone/>
            </a:pP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ON</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sod.ProductID</a:t>
            </a:r>
            <a:endParaRPr lang="en-US" sz="2200" b="0" dirty="0">
              <a:solidFill>
                <a:srgbClr val="CCCCCC"/>
              </a:solidFill>
              <a:effectLst/>
              <a:latin typeface="Consolas" panose="020B0609020204030204" pitchFamily="49" charset="0"/>
            </a:endParaRPr>
          </a:p>
          <a:p>
            <a:pPr>
              <a:buNone/>
            </a:pPr>
            <a:r>
              <a:rPr lang="en-US" sz="2200" b="0" dirty="0">
                <a:solidFill>
                  <a:srgbClr val="569CD6"/>
                </a:solidFill>
                <a:effectLst/>
                <a:latin typeface="Consolas" panose="020B0609020204030204" pitchFamily="49" charset="0"/>
              </a:rPr>
              <a:t>GROUP BY</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4B61D61A-B3DE-7B0F-606D-CDA31E035C40}"/>
              </a:ext>
            </a:extLst>
          </p:cNvPr>
          <p:cNvGraphicFramePr>
            <a:graphicFrameLocks noGrp="1"/>
          </p:cNvGraphicFramePr>
          <p:nvPr>
            <p:extLst>
              <p:ext uri="{D42A27DB-BD31-4B8C-83A1-F6EECF244321}">
                <p14:modId xmlns:p14="http://schemas.microsoft.com/office/powerpoint/2010/main" val="3604796639"/>
              </p:ext>
            </p:extLst>
          </p:nvPr>
        </p:nvGraphicFramePr>
        <p:xfrm>
          <a:off x="0" y="2494672"/>
          <a:ext cx="9065943" cy="1430347"/>
        </p:xfrm>
        <a:graphic>
          <a:graphicData uri="http://schemas.openxmlformats.org/drawingml/2006/table">
            <a:tbl>
              <a:tblPr>
                <a:tableStyleId>{ED083AE6-46FA-4A59-8FB0-9F97EB10719F}</a:tableStyleId>
              </a:tblPr>
              <a:tblGrid>
                <a:gridCol w="2609385">
                  <a:extLst>
                    <a:ext uri="{9D8B030D-6E8A-4147-A177-3AD203B41FA5}">
                      <a16:colId xmlns:a16="http://schemas.microsoft.com/office/drawing/2014/main" val="160480974"/>
                    </a:ext>
                  </a:extLst>
                </a:gridCol>
                <a:gridCol w="3434577">
                  <a:extLst>
                    <a:ext uri="{9D8B030D-6E8A-4147-A177-3AD203B41FA5}">
                      <a16:colId xmlns:a16="http://schemas.microsoft.com/office/drawing/2014/main" val="1908966808"/>
                    </a:ext>
                  </a:extLst>
                </a:gridCol>
                <a:gridCol w="3021981">
                  <a:extLst>
                    <a:ext uri="{9D8B030D-6E8A-4147-A177-3AD203B41FA5}">
                      <a16:colId xmlns:a16="http://schemas.microsoft.com/office/drawing/2014/main" val="2717038044"/>
                    </a:ext>
                  </a:extLst>
                </a:gridCol>
              </a:tblGrid>
              <a:tr h="380993">
                <a:tc>
                  <a:txBody>
                    <a:bodyPr/>
                    <a:lstStyle/>
                    <a:p>
                      <a:pPr>
                        <a:buNone/>
                      </a:pPr>
                      <a:r>
                        <a:rPr lang="en-US" sz="2200">
                          <a:latin typeface="Calibir"/>
                        </a:rPr>
                        <a:t>Part</a:t>
                      </a:r>
                    </a:p>
                  </a:txBody>
                  <a:tcPr marL="43513" marR="43513" marT="21757" marB="21757" anchor="ctr"/>
                </a:tc>
                <a:tc>
                  <a:txBody>
                    <a:bodyPr/>
                    <a:lstStyle/>
                    <a:p>
                      <a:pPr>
                        <a:buNone/>
                      </a:pPr>
                      <a:r>
                        <a:rPr lang="en-US" sz="2200">
                          <a:latin typeface="Calibir"/>
                        </a:rPr>
                        <a:t>Meaning</a:t>
                      </a:r>
                    </a:p>
                  </a:txBody>
                  <a:tcPr marL="43513" marR="43513" marT="21757" marB="21757" anchor="ctr"/>
                </a:tc>
                <a:tc>
                  <a:txBody>
                    <a:bodyPr/>
                    <a:lstStyle/>
                    <a:p>
                      <a:pPr>
                        <a:buNone/>
                      </a:pPr>
                      <a:r>
                        <a:rPr lang="en-US" sz="2200">
                          <a:latin typeface="Calibir"/>
                        </a:rPr>
                        <a:t>Example</a:t>
                      </a:r>
                    </a:p>
                  </a:txBody>
                  <a:tcPr marL="43513" marR="43513" marT="21757" marB="21757" anchor="ctr"/>
                </a:tc>
                <a:extLst>
                  <a:ext uri="{0D108BD9-81ED-4DB2-BD59-A6C34878D82A}">
                    <a16:rowId xmlns:a16="http://schemas.microsoft.com/office/drawing/2014/main" val="3025865182"/>
                  </a:ext>
                </a:extLst>
              </a:tr>
              <a:tr h="0">
                <a:tc>
                  <a:txBody>
                    <a:bodyPr/>
                    <a:lstStyle/>
                    <a:p>
                      <a:pPr>
                        <a:buNone/>
                      </a:pPr>
                      <a:r>
                        <a:rPr lang="en-US" sz="2200" b="1">
                          <a:latin typeface="Calibir"/>
                        </a:rPr>
                        <a:t>GROUP BY p.ProductID</a:t>
                      </a:r>
                      <a:endParaRPr lang="en-US" sz="2200">
                        <a:latin typeface="Calibir"/>
                      </a:endParaRPr>
                    </a:p>
                  </a:txBody>
                  <a:tcPr marL="43513" marR="43513" marT="21757" marB="21757" anchor="ctr"/>
                </a:tc>
                <a:tc>
                  <a:txBody>
                    <a:bodyPr/>
                    <a:lstStyle/>
                    <a:p>
                      <a:pPr>
                        <a:buNone/>
                      </a:pPr>
                      <a:r>
                        <a:rPr lang="en-US" sz="2200" dirty="0">
                          <a:latin typeface="Calibir"/>
                        </a:rPr>
                        <a:t>Groups the results so each product shows once, with its total profit.</a:t>
                      </a:r>
                    </a:p>
                  </a:txBody>
                  <a:tcPr marL="43513" marR="43513" marT="21757" marB="21757" anchor="ctr"/>
                </a:tc>
                <a:tc>
                  <a:txBody>
                    <a:bodyPr/>
                    <a:lstStyle/>
                    <a:p>
                      <a:pPr>
                        <a:buNone/>
                      </a:pPr>
                      <a:r>
                        <a:rPr lang="en-US" sz="2200" dirty="0">
                          <a:latin typeface="Calibir"/>
                        </a:rPr>
                        <a:t>One row per product.</a:t>
                      </a:r>
                    </a:p>
                  </a:txBody>
                  <a:tcPr marL="43513" marR="43513" marT="21757" marB="21757" anchor="ctr"/>
                </a:tc>
                <a:extLst>
                  <a:ext uri="{0D108BD9-81ED-4DB2-BD59-A6C34878D82A}">
                    <a16:rowId xmlns:a16="http://schemas.microsoft.com/office/drawing/2014/main" val="1174588492"/>
                  </a:ext>
                </a:extLst>
              </a:tr>
            </a:tbl>
          </a:graphicData>
        </a:graphic>
      </p:graphicFrame>
    </p:spTree>
    <p:extLst>
      <p:ext uri="{BB962C8B-B14F-4D97-AF65-F5344CB8AC3E}">
        <p14:creationId xmlns:p14="http://schemas.microsoft.com/office/powerpoint/2010/main" val="24242798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2535DD69-8C70-3993-E044-4779573531A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96F2A82-558A-AE59-3C30-20526CF1AC6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8C892BF-7ACF-09E7-9DCB-5E2E3FD800D5}"/>
              </a:ext>
            </a:extLst>
          </p:cNvPr>
          <p:cNvSpPr>
            <a:spLocks noGrp="1"/>
          </p:cNvSpPr>
          <p:nvPr>
            <p:ph type="sldNum" sz="quarter" idx="4"/>
          </p:nvPr>
        </p:nvSpPr>
        <p:spPr/>
        <p:txBody>
          <a:bodyPr/>
          <a:lstStyle/>
          <a:p>
            <a:fld id="{16A89BA3-132D-40E1-AAB4-CDCD0A14C216}" type="slidenum">
              <a:rPr lang="en-AU" smtClean="0"/>
              <a:pPr/>
              <a:t>95</a:t>
            </a:fld>
            <a:r>
              <a:rPr lang="en-AU"/>
              <a:t>  |</a:t>
            </a:r>
            <a:endParaRPr lang="en-AU" dirty="0"/>
          </a:p>
        </p:txBody>
      </p:sp>
      <p:sp>
        <p:nvSpPr>
          <p:cNvPr id="6" name="TextBox 5">
            <a:extLst>
              <a:ext uri="{FF2B5EF4-FFF2-40B4-BE49-F238E27FC236}">
                <a16:creationId xmlns:a16="http://schemas.microsoft.com/office/drawing/2014/main" id="{481CB738-D4C7-5967-2C43-F6E81D965943}"/>
              </a:ext>
            </a:extLst>
          </p:cNvPr>
          <p:cNvSpPr txBox="1"/>
          <p:nvPr/>
        </p:nvSpPr>
        <p:spPr>
          <a:xfrm>
            <a:off x="0" y="32459"/>
            <a:ext cx="9065942" cy="2462213"/>
          </a:xfrm>
          <a:prstGeom prst="rect">
            <a:avLst/>
          </a:prstGeom>
          <a:solidFill>
            <a:schemeClr val="accent4">
              <a:lumMod val="90000"/>
              <a:lumOff val="10000"/>
            </a:schemeClr>
          </a:solidFill>
        </p:spPr>
        <p:txBody>
          <a:bodyPr wrap="square">
            <a:spAutoFit/>
          </a:bodyPr>
          <a:lstStyle/>
          <a:p>
            <a:pPr>
              <a:buNone/>
            </a:pPr>
            <a:r>
              <a:rPr lang="en-US" sz="2200" b="0" dirty="0">
                <a:solidFill>
                  <a:srgbClr val="569CD6"/>
                </a:solidFill>
                <a:effectLst/>
                <a:latin typeface="Consolas" panose="020B0609020204030204" pitchFamily="49" charset="0"/>
              </a:rPr>
              <a:t>SELECT</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a:t>
            </a:r>
          </a:p>
          <a:p>
            <a:pPr>
              <a:buNone/>
            </a:pPr>
            <a:r>
              <a:rPr lang="en-US" sz="2200" b="0" dirty="0">
                <a:solidFill>
                  <a:srgbClr val="CCCCCC"/>
                </a:solidFill>
                <a:effectLst/>
                <a:latin typeface="Consolas" panose="020B0609020204030204" pitchFamily="49" charset="0"/>
              </a:rPr>
              <a:t>       SUM((</a:t>
            </a:r>
            <a:r>
              <a:rPr lang="en-US" sz="2200" b="0" dirty="0" err="1">
                <a:solidFill>
                  <a:srgbClr val="CCCCCC"/>
                </a:solidFill>
                <a:effectLst/>
                <a:latin typeface="Consolas" panose="020B0609020204030204" pitchFamily="49" charset="0"/>
              </a:rPr>
              <a:t>p.ListPrice</a:t>
            </a:r>
            <a:r>
              <a:rPr lang="en-US" sz="2200" b="0" dirty="0">
                <a:solidFill>
                  <a:srgbClr val="CCCCCC"/>
                </a:solidFill>
                <a:effectLst/>
                <a:latin typeface="Consolas" panose="020B0609020204030204" pitchFamily="49" charset="0"/>
              </a:rPr>
              <a:t> - </a:t>
            </a:r>
            <a:r>
              <a:rPr lang="en-US" sz="2200" b="0" dirty="0" err="1">
                <a:solidFill>
                  <a:srgbClr val="CCCCCC"/>
                </a:solidFill>
                <a:effectLst/>
                <a:latin typeface="Consolas" panose="020B0609020204030204" pitchFamily="49" charset="0"/>
              </a:rPr>
              <a:t>p.StandardCost</a:t>
            </a:r>
            <a:r>
              <a:rPr lang="en-US" sz="2200" b="0" dirty="0">
                <a:solidFill>
                  <a:srgbClr val="CCCCCC"/>
                </a:solidFill>
                <a:effectLst/>
                <a:latin typeface="Consolas" panose="020B0609020204030204" pitchFamily="49" charset="0"/>
              </a:rPr>
              <a:t>) * </a:t>
            </a:r>
            <a:r>
              <a:rPr lang="en-US" sz="2200" b="0" dirty="0" err="1">
                <a:solidFill>
                  <a:srgbClr val="CCCCCC"/>
                </a:solidFill>
                <a:effectLst/>
                <a:latin typeface="Consolas" panose="020B0609020204030204" pitchFamily="49" charset="0"/>
              </a:rPr>
              <a:t>sod.OrderQty</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AS</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TotalProfit</a:t>
            </a:r>
            <a:endParaRPr lang="en-US" sz="2200" b="0" dirty="0">
              <a:solidFill>
                <a:srgbClr val="CCCCCC"/>
              </a:solidFill>
              <a:effectLst/>
              <a:latin typeface="Consolas" panose="020B0609020204030204" pitchFamily="49" charset="0"/>
            </a:endParaRPr>
          </a:p>
          <a:p>
            <a:pPr>
              <a:buNone/>
            </a:pPr>
            <a:r>
              <a:rPr lang="en-US" sz="2200" b="0" dirty="0">
                <a:solidFill>
                  <a:srgbClr val="569CD6"/>
                </a:solidFill>
                <a:effectLst/>
                <a:latin typeface="Consolas" panose="020B0609020204030204" pitchFamily="49" charset="0"/>
              </a:rPr>
              <a:t>FROM</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SalesLT.Product</a:t>
            </a:r>
            <a:r>
              <a:rPr lang="en-US" sz="2200" b="0" dirty="0">
                <a:solidFill>
                  <a:srgbClr val="CCCCCC"/>
                </a:solidFill>
                <a:effectLst/>
                <a:latin typeface="Consolas" panose="020B0609020204030204" pitchFamily="49" charset="0"/>
              </a:rPr>
              <a:t> p</a:t>
            </a:r>
          </a:p>
          <a:p>
            <a:pPr>
              <a:buNone/>
            </a:pPr>
            <a:r>
              <a:rPr lang="en-US" sz="2200" b="0" dirty="0">
                <a:solidFill>
                  <a:srgbClr val="569CD6"/>
                </a:solidFill>
                <a:effectLst/>
                <a:latin typeface="Consolas" panose="020B0609020204030204" pitchFamily="49" charset="0"/>
              </a:rPr>
              <a:t>JOIN</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SalesLT.SalesOrderDetail</a:t>
            </a:r>
            <a:r>
              <a:rPr lang="en-US" sz="2200" b="0" dirty="0">
                <a:solidFill>
                  <a:srgbClr val="CCCCCC"/>
                </a:solidFill>
                <a:effectLst/>
                <a:latin typeface="Consolas" panose="020B0609020204030204" pitchFamily="49" charset="0"/>
              </a:rPr>
              <a:t> sod</a:t>
            </a:r>
          </a:p>
          <a:p>
            <a:pPr>
              <a:buNone/>
            </a:pP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ON</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 </a:t>
            </a:r>
            <a:r>
              <a:rPr lang="en-US" sz="2200" b="0" dirty="0">
                <a:solidFill>
                  <a:srgbClr val="569CD6"/>
                </a:solidFill>
                <a:effectLst/>
                <a:latin typeface="Consolas" panose="020B0609020204030204" pitchFamily="49" charset="0"/>
              </a:rPr>
              <a:t>=</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sod.ProductID</a:t>
            </a:r>
            <a:endParaRPr lang="en-US" sz="2200" b="0" dirty="0">
              <a:solidFill>
                <a:srgbClr val="CCCCCC"/>
              </a:solidFill>
              <a:effectLst/>
              <a:latin typeface="Consolas" panose="020B0609020204030204" pitchFamily="49" charset="0"/>
            </a:endParaRPr>
          </a:p>
          <a:p>
            <a:pPr>
              <a:buNone/>
            </a:pPr>
            <a:r>
              <a:rPr lang="en-US" sz="2200" b="0" dirty="0">
                <a:solidFill>
                  <a:srgbClr val="569CD6"/>
                </a:solidFill>
                <a:effectLst/>
                <a:latin typeface="Consolas" panose="020B0609020204030204" pitchFamily="49" charset="0"/>
              </a:rPr>
              <a:t>GROUP BY</a:t>
            </a:r>
            <a:r>
              <a:rPr lang="en-US" sz="2200" b="0" dirty="0">
                <a:solidFill>
                  <a:srgbClr val="CCCCCC"/>
                </a:solidFill>
                <a:effectLst/>
                <a:latin typeface="Consolas" panose="020B0609020204030204" pitchFamily="49" charset="0"/>
              </a:rPr>
              <a:t> </a:t>
            </a:r>
            <a:r>
              <a:rPr lang="en-US" sz="2200" b="0" dirty="0" err="1">
                <a:solidFill>
                  <a:srgbClr val="CCCCCC"/>
                </a:solidFill>
                <a:effectLst/>
                <a:latin typeface="Consolas" panose="020B0609020204030204" pitchFamily="49" charset="0"/>
              </a:rPr>
              <a:t>p.ProductID</a:t>
            </a:r>
            <a:r>
              <a:rPr lang="en-US" sz="2200" b="0" dirty="0">
                <a:solidFill>
                  <a:srgbClr val="CCCCCC"/>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D25A6C00-5AEB-9EC4-6CD9-F5FD051F4032}"/>
              </a:ext>
            </a:extLst>
          </p:cNvPr>
          <p:cNvSpPr txBox="1"/>
          <p:nvPr/>
        </p:nvSpPr>
        <p:spPr>
          <a:xfrm>
            <a:off x="0" y="2494672"/>
            <a:ext cx="9144000" cy="4102533"/>
          </a:xfrm>
          <a:prstGeom prst="rect">
            <a:avLst/>
          </a:prstGeom>
          <a:noFill/>
        </p:spPr>
        <p:txBody>
          <a:bodyPr wrap="square">
            <a:spAutoFit/>
          </a:bodyPr>
          <a:lstStyle/>
          <a:p>
            <a:pPr>
              <a:lnSpc>
                <a:spcPct val="150000"/>
              </a:lnSpc>
              <a:buNone/>
            </a:pPr>
            <a:r>
              <a:rPr lang="en-US" sz="2200" dirty="0">
                <a:latin typeface="Calibir"/>
              </a:rPr>
              <a:t>In short:</a:t>
            </a:r>
            <a:br>
              <a:rPr lang="en-US" sz="2200" dirty="0">
                <a:latin typeface="Calibir"/>
              </a:rPr>
            </a:br>
            <a:r>
              <a:rPr lang="en-US" sz="2200" dirty="0">
                <a:latin typeface="Calibir"/>
              </a:rPr>
              <a:t>This query calculates total profit for each product by:</a:t>
            </a:r>
          </a:p>
          <a:p>
            <a:pPr marL="800100" lvl="1" indent="-342900">
              <a:lnSpc>
                <a:spcPct val="150000"/>
              </a:lnSpc>
              <a:buFont typeface="Arial" panose="020B0604020202020204" pitchFamily="34" charset="0"/>
              <a:buChar char="•"/>
            </a:pPr>
            <a:r>
              <a:rPr lang="en-US" sz="2200" dirty="0">
                <a:latin typeface="Calibir"/>
              </a:rPr>
              <a:t>subtracting cost from price,</a:t>
            </a:r>
          </a:p>
          <a:p>
            <a:pPr marL="800100" lvl="1" indent="-342900">
              <a:lnSpc>
                <a:spcPct val="150000"/>
              </a:lnSpc>
              <a:buFont typeface="Arial" panose="020B0604020202020204" pitchFamily="34" charset="0"/>
              <a:buChar char="•"/>
            </a:pPr>
            <a:r>
              <a:rPr lang="en-US" sz="2200" dirty="0">
                <a:latin typeface="Calibir"/>
              </a:rPr>
              <a:t>multiplying by how many were sold,</a:t>
            </a:r>
          </a:p>
          <a:p>
            <a:pPr marL="800100" lvl="1" indent="-342900">
              <a:lnSpc>
                <a:spcPct val="150000"/>
              </a:lnSpc>
              <a:buFont typeface="Arial" panose="020B0604020202020204" pitchFamily="34" charset="0"/>
              <a:buChar char="•"/>
            </a:pPr>
            <a:r>
              <a:rPr lang="en-US" sz="2200" dirty="0">
                <a:latin typeface="Calibir"/>
              </a:rPr>
              <a:t>then adding them all up per product.</a:t>
            </a:r>
          </a:p>
          <a:p>
            <a:pPr>
              <a:lnSpc>
                <a:spcPct val="150000"/>
              </a:lnSpc>
              <a:buNone/>
            </a:pPr>
            <a:r>
              <a:rPr lang="en-US" sz="2200" dirty="0">
                <a:latin typeface="Calibir"/>
              </a:rPr>
              <a:t>Analogy:</a:t>
            </a:r>
            <a:br>
              <a:rPr lang="en-US" sz="2200" dirty="0">
                <a:latin typeface="Calibir"/>
              </a:rPr>
            </a:br>
            <a:r>
              <a:rPr lang="en-US" sz="2200" dirty="0">
                <a:latin typeface="Calibir"/>
              </a:rPr>
              <a:t>It’s like checking the profit report in a store — for each item, it tells how much money the store earned after covering costs.</a:t>
            </a:r>
          </a:p>
        </p:txBody>
      </p:sp>
    </p:spTree>
    <p:extLst>
      <p:ext uri="{BB962C8B-B14F-4D97-AF65-F5344CB8AC3E}">
        <p14:creationId xmlns:p14="http://schemas.microsoft.com/office/powerpoint/2010/main" val="378586316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5264CDA-BEF0-3AEC-345A-E6A2EB4273E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D5FB6CC-992E-2D91-0C50-76755D7899A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FE69881-925F-7BF5-8A6B-B2A474BA5EF3}"/>
              </a:ext>
            </a:extLst>
          </p:cNvPr>
          <p:cNvSpPr>
            <a:spLocks noGrp="1"/>
          </p:cNvSpPr>
          <p:nvPr>
            <p:ph type="sldNum" sz="quarter" idx="4"/>
          </p:nvPr>
        </p:nvSpPr>
        <p:spPr/>
        <p:txBody>
          <a:bodyPr/>
          <a:lstStyle/>
          <a:p>
            <a:fld id="{16A89BA3-132D-40E1-AAB4-CDCD0A14C216}" type="slidenum">
              <a:rPr lang="en-AU" smtClean="0"/>
              <a:pPr/>
              <a:t>96</a:t>
            </a:fld>
            <a:r>
              <a:rPr lang="en-AU"/>
              <a:t>  |</a:t>
            </a:r>
            <a:endParaRPr lang="en-AU" dirty="0"/>
          </a:p>
        </p:txBody>
      </p:sp>
      <p:sp>
        <p:nvSpPr>
          <p:cNvPr id="9" name="Text Placeholder 3">
            <a:extLst>
              <a:ext uri="{FF2B5EF4-FFF2-40B4-BE49-F238E27FC236}">
                <a16:creationId xmlns:a16="http://schemas.microsoft.com/office/drawing/2014/main" id="{1F71C158-41E0-758B-4E01-1C6611673175}"/>
              </a:ext>
            </a:extLst>
          </p:cNvPr>
          <p:cNvSpPr>
            <a:spLocks noGrp="1"/>
          </p:cNvSpPr>
          <p:nvPr>
            <p:ph type="body" sz="quarter" idx="16"/>
          </p:nvPr>
        </p:nvSpPr>
        <p:spPr>
          <a:xfrm>
            <a:off x="0" y="-1"/>
            <a:ext cx="7849590" cy="515008"/>
          </a:xfrm>
        </p:spPr>
        <p:txBody>
          <a:bodyPr>
            <a:noAutofit/>
          </a:bodyPr>
          <a:lstStyle/>
          <a:p>
            <a:r>
              <a:rPr lang="en-US" sz="3200" dirty="0"/>
              <a:t>Week 9 Tutorial Activity (Step-by-Step)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BFF2D6E-4F2C-695F-4B92-5FA0523FE460}"/>
              </a:ext>
            </a:extLst>
          </p:cNvPr>
          <p:cNvSpPr txBox="1"/>
          <p:nvPr/>
        </p:nvSpPr>
        <p:spPr>
          <a:xfrm>
            <a:off x="0" y="883270"/>
            <a:ext cx="9065942" cy="954107"/>
          </a:xfrm>
          <a:prstGeom prst="rect">
            <a:avLst/>
          </a:prstGeom>
          <a:noFill/>
        </p:spPr>
        <p:txBody>
          <a:bodyPr wrap="square" rtlCol="0">
            <a:spAutoFit/>
          </a:bodyPr>
          <a:lstStyle/>
          <a:p>
            <a:r>
              <a:rPr lang="en-US" sz="2800" dirty="0">
                <a:latin typeface="Calibir"/>
              </a:rPr>
              <a:t>Please continue writing the remaining queries for tasks 12 to 15</a:t>
            </a:r>
          </a:p>
        </p:txBody>
      </p:sp>
      <p:pic>
        <p:nvPicPr>
          <p:cNvPr id="5" name="Picture 4">
            <a:extLst>
              <a:ext uri="{FF2B5EF4-FFF2-40B4-BE49-F238E27FC236}">
                <a16:creationId xmlns:a16="http://schemas.microsoft.com/office/drawing/2014/main" id="{42AB49A2-5198-CD7B-35EB-998ECBE74968}"/>
              </a:ext>
            </a:extLst>
          </p:cNvPr>
          <p:cNvPicPr>
            <a:picLocks noChangeAspect="1"/>
          </p:cNvPicPr>
          <p:nvPr/>
        </p:nvPicPr>
        <p:blipFill>
          <a:blip r:embed="rId3"/>
          <a:srcRect l="16452" t="7775" r="4517" b="4839"/>
          <a:stretch>
            <a:fillRect/>
          </a:stretch>
        </p:blipFill>
        <p:spPr>
          <a:xfrm>
            <a:off x="997673" y="1688036"/>
            <a:ext cx="7226711" cy="4494723"/>
          </a:xfrm>
          <a:prstGeom prst="rect">
            <a:avLst/>
          </a:prstGeom>
        </p:spPr>
      </p:pic>
    </p:spTree>
    <p:extLst>
      <p:ext uri="{BB962C8B-B14F-4D97-AF65-F5344CB8AC3E}">
        <p14:creationId xmlns:p14="http://schemas.microsoft.com/office/powerpoint/2010/main" val="104596289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328CE5C-B1EC-C48C-E87D-7A63136B5A7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71F32E4-52A2-6EBF-8038-D9C9F0CBF06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FA73592-3D1A-D07B-C5CF-811486F23B60}"/>
              </a:ext>
            </a:extLst>
          </p:cNvPr>
          <p:cNvSpPr>
            <a:spLocks noGrp="1"/>
          </p:cNvSpPr>
          <p:nvPr>
            <p:ph type="sldNum" sz="quarter" idx="4"/>
          </p:nvPr>
        </p:nvSpPr>
        <p:spPr/>
        <p:txBody>
          <a:bodyPr/>
          <a:lstStyle/>
          <a:p>
            <a:fld id="{16A89BA3-132D-40E1-AAB4-CDCD0A14C216}" type="slidenum">
              <a:rPr lang="en-AU" smtClean="0"/>
              <a:pPr/>
              <a:t>97</a:t>
            </a:fld>
            <a:r>
              <a:rPr lang="en-AU"/>
              <a:t>  |</a:t>
            </a:r>
            <a:endParaRPr lang="en-AU" dirty="0"/>
          </a:p>
        </p:txBody>
      </p:sp>
      <p:sp>
        <p:nvSpPr>
          <p:cNvPr id="7" name="TextBox 6">
            <a:extLst>
              <a:ext uri="{FF2B5EF4-FFF2-40B4-BE49-F238E27FC236}">
                <a16:creationId xmlns:a16="http://schemas.microsoft.com/office/drawing/2014/main" id="{F376FED0-E9C8-AF9A-680B-B4D342E046F0}"/>
              </a:ext>
            </a:extLst>
          </p:cNvPr>
          <p:cNvSpPr txBox="1"/>
          <p:nvPr/>
        </p:nvSpPr>
        <p:spPr>
          <a:xfrm>
            <a:off x="0" y="1237821"/>
            <a:ext cx="9144000" cy="3903504"/>
          </a:xfrm>
          <a:prstGeom prst="rect">
            <a:avLst/>
          </a:prstGeom>
          <a:solidFill>
            <a:schemeClr val="bg1"/>
          </a:solidFill>
        </p:spPr>
        <p:txBody>
          <a:bodyPr wrap="square">
            <a:spAutoFit/>
          </a:bodyPr>
          <a:lstStyle/>
          <a:p>
            <a:pPr marL="914400" lvl="1" indent="-457200">
              <a:lnSpc>
                <a:spcPct val="150000"/>
              </a:lnSpc>
              <a:buFont typeface="Arial" panose="020B0604020202020204" pitchFamily="34" charset="0"/>
              <a:buChar char="•"/>
            </a:pPr>
            <a:r>
              <a:rPr lang="en-US" sz="2800" dirty="0">
                <a:latin typeface="Calibir"/>
              </a:rPr>
              <a:t>How to use SQL to explore and </a:t>
            </a:r>
            <a:r>
              <a:rPr lang="en-US" sz="2800" dirty="0" err="1">
                <a:latin typeface="Calibir"/>
              </a:rPr>
              <a:t>analyse</a:t>
            </a:r>
            <a:r>
              <a:rPr lang="en-US" sz="2800" dirty="0">
                <a:latin typeface="Calibir"/>
              </a:rPr>
              <a:t> relational data.</a:t>
            </a:r>
          </a:p>
          <a:p>
            <a:pPr marL="914400" lvl="1" indent="-457200">
              <a:lnSpc>
                <a:spcPct val="150000"/>
              </a:lnSpc>
              <a:buFont typeface="Arial" panose="020B0604020202020204" pitchFamily="34" charset="0"/>
              <a:buChar char="•"/>
            </a:pPr>
            <a:r>
              <a:rPr lang="en-US" sz="2800" dirty="0">
                <a:latin typeface="Calibir"/>
              </a:rPr>
              <a:t>How to write basic and intermediate queries using SELECT, COUNT, SUM, AVG, GROUP BY, and DATE functions.</a:t>
            </a:r>
          </a:p>
          <a:p>
            <a:pPr marL="914400" lvl="1" indent="-457200">
              <a:lnSpc>
                <a:spcPct val="150000"/>
              </a:lnSpc>
              <a:buFont typeface="Arial" panose="020B0604020202020204" pitchFamily="34" charset="0"/>
              <a:buChar char="•"/>
            </a:pPr>
            <a:r>
              <a:rPr lang="en-US" sz="2800" dirty="0">
                <a:latin typeface="Calibir"/>
              </a:rPr>
              <a:t>How to combine results from multiple tables with joins (in later tasks).</a:t>
            </a:r>
          </a:p>
        </p:txBody>
      </p:sp>
      <p:sp>
        <p:nvSpPr>
          <p:cNvPr id="9" name="Text Placeholder 3">
            <a:extLst>
              <a:ext uri="{FF2B5EF4-FFF2-40B4-BE49-F238E27FC236}">
                <a16:creationId xmlns:a16="http://schemas.microsoft.com/office/drawing/2014/main" id="{E1046F60-7C24-8ED6-E088-3883076CCFE6}"/>
              </a:ext>
            </a:extLst>
          </p:cNvPr>
          <p:cNvSpPr>
            <a:spLocks noGrp="1"/>
          </p:cNvSpPr>
          <p:nvPr>
            <p:ph type="body" sz="quarter" idx="16"/>
          </p:nvPr>
        </p:nvSpPr>
        <p:spPr>
          <a:xfrm>
            <a:off x="0" y="-1"/>
            <a:ext cx="7849590" cy="515008"/>
          </a:xfrm>
        </p:spPr>
        <p:txBody>
          <a:bodyPr>
            <a:noAutofit/>
          </a:bodyPr>
          <a:lstStyle/>
          <a:p>
            <a:r>
              <a:rPr lang="en-US" sz="3200" dirty="0"/>
              <a:t>What we learned</a:t>
            </a:r>
            <a:endParaRPr lang="en-AU" sz="3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863310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FDC4B3FC-BEE9-7E70-BE57-28777ED8AEF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7731894-DC44-7B89-EE93-8A973C8D42D8}"/>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8FDD72E-1BFC-1DE8-4D59-2650A07DBD34}"/>
              </a:ext>
            </a:extLst>
          </p:cNvPr>
          <p:cNvSpPr>
            <a:spLocks noGrp="1"/>
          </p:cNvSpPr>
          <p:nvPr>
            <p:ph type="sldNum" sz="quarter" idx="4"/>
          </p:nvPr>
        </p:nvSpPr>
        <p:spPr/>
        <p:txBody>
          <a:bodyPr/>
          <a:lstStyle/>
          <a:p>
            <a:fld id="{16A89BA3-132D-40E1-AAB4-CDCD0A14C216}" type="slidenum">
              <a:rPr lang="en-AU" smtClean="0"/>
              <a:pPr/>
              <a:t>98</a:t>
            </a:fld>
            <a:r>
              <a:rPr lang="en-AU"/>
              <a:t>  |</a:t>
            </a:r>
            <a:endParaRPr lang="en-AU" dirty="0"/>
          </a:p>
        </p:txBody>
      </p:sp>
      <p:sp>
        <p:nvSpPr>
          <p:cNvPr id="7" name="TextBox 6">
            <a:extLst>
              <a:ext uri="{FF2B5EF4-FFF2-40B4-BE49-F238E27FC236}">
                <a16:creationId xmlns:a16="http://schemas.microsoft.com/office/drawing/2014/main" id="{E6EDBA63-4D5C-AA92-B22B-8A7E8CE3D35B}"/>
              </a:ext>
            </a:extLst>
          </p:cNvPr>
          <p:cNvSpPr txBox="1"/>
          <p:nvPr/>
        </p:nvSpPr>
        <p:spPr>
          <a:xfrm>
            <a:off x="0" y="667974"/>
            <a:ext cx="9144000" cy="5196166"/>
          </a:xfrm>
          <a:prstGeom prst="rect">
            <a:avLst/>
          </a:prstGeom>
          <a:solidFill>
            <a:schemeClr val="bg1"/>
          </a:solidFill>
        </p:spPr>
        <p:txBody>
          <a:bodyPr wrap="square">
            <a:spAutoFit/>
          </a:bodyPr>
          <a:lstStyle/>
          <a:p>
            <a:pPr>
              <a:lnSpc>
                <a:spcPct val="150000"/>
              </a:lnSpc>
            </a:pPr>
            <a:r>
              <a:rPr lang="en-US" sz="2800" dirty="0">
                <a:latin typeface="Calibir"/>
              </a:rPr>
              <a:t>SQL is one of the core data-management skills in every data-related or IT role.</a:t>
            </a:r>
            <a:br>
              <a:rPr lang="en-US" sz="2800" dirty="0">
                <a:latin typeface="Calibir"/>
              </a:rPr>
            </a:br>
            <a:r>
              <a:rPr lang="en-US" sz="2800" dirty="0">
                <a:latin typeface="Calibir"/>
              </a:rPr>
              <a:t>Almost every Australian company—from banks like Commonwealth Bank to healthcare and retail—relies on SQL for:</a:t>
            </a:r>
          </a:p>
          <a:p>
            <a:pPr marL="914400" lvl="1" indent="-457200">
              <a:lnSpc>
                <a:spcPct val="150000"/>
              </a:lnSpc>
              <a:buFont typeface="Arial" panose="020B0604020202020204" pitchFamily="34" charset="0"/>
              <a:buChar char="•"/>
            </a:pPr>
            <a:r>
              <a:rPr lang="en-US" sz="2800" dirty="0">
                <a:latin typeface="Calibir"/>
              </a:rPr>
              <a:t>Reporting and analytics</a:t>
            </a:r>
          </a:p>
          <a:p>
            <a:pPr marL="914400" lvl="1" indent="-457200">
              <a:lnSpc>
                <a:spcPct val="150000"/>
              </a:lnSpc>
              <a:buFont typeface="Arial" panose="020B0604020202020204" pitchFamily="34" charset="0"/>
              <a:buChar char="•"/>
            </a:pPr>
            <a:r>
              <a:rPr lang="en-US" sz="2800" dirty="0">
                <a:latin typeface="Calibir"/>
              </a:rPr>
              <a:t>Cleaning and preparing data</a:t>
            </a:r>
          </a:p>
          <a:p>
            <a:pPr marL="914400" lvl="1" indent="-457200">
              <a:lnSpc>
                <a:spcPct val="150000"/>
              </a:lnSpc>
              <a:buFont typeface="Arial" panose="020B0604020202020204" pitchFamily="34" charset="0"/>
              <a:buChar char="•"/>
            </a:pPr>
            <a:r>
              <a:rPr lang="en-US" sz="2800" dirty="0">
                <a:latin typeface="Calibir"/>
              </a:rPr>
              <a:t>Supporting web or cloud applications</a:t>
            </a:r>
          </a:p>
        </p:txBody>
      </p:sp>
      <p:sp>
        <p:nvSpPr>
          <p:cNvPr id="9" name="Text Placeholder 3">
            <a:extLst>
              <a:ext uri="{FF2B5EF4-FFF2-40B4-BE49-F238E27FC236}">
                <a16:creationId xmlns:a16="http://schemas.microsoft.com/office/drawing/2014/main" id="{7011589A-4987-CB6F-EE6D-7BCE2091C644}"/>
              </a:ext>
            </a:extLst>
          </p:cNvPr>
          <p:cNvSpPr>
            <a:spLocks noGrp="1"/>
          </p:cNvSpPr>
          <p:nvPr>
            <p:ph type="body" sz="quarter" idx="16"/>
          </p:nvPr>
        </p:nvSpPr>
        <p:spPr>
          <a:xfrm>
            <a:off x="0" y="-1"/>
            <a:ext cx="7849590" cy="515008"/>
          </a:xfrm>
        </p:spPr>
        <p:txBody>
          <a:bodyPr>
            <a:noAutofit/>
          </a:bodyPr>
          <a:lstStyle/>
          <a:p>
            <a:r>
              <a:rPr lang="en-US" sz="3200" dirty="0"/>
              <a:t>Why this is important</a:t>
            </a:r>
            <a:endParaRPr lang="en-AU" sz="3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232104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7D3F676-93F0-BAFC-C181-C5B3B317E57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A11AEF2-A582-A667-2A8E-BF190258078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EFE964E0-818E-DBA3-F516-20015D8EF427}"/>
              </a:ext>
            </a:extLst>
          </p:cNvPr>
          <p:cNvSpPr>
            <a:spLocks noGrp="1"/>
          </p:cNvSpPr>
          <p:nvPr>
            <p:ph type="sldNum" sz="quarter" idx="4"/>
          </p:nvPr>
        </p:nvSpPr>
        <p:spPr/>
        <p:txBody>
          <a:bodyPr/>
          <a:lstStyle/>
          <a:p>
            <a:fld id="{16A89BA3-132D-40E1-AAB4-CDCD0A14C216}" type="slidenum">
              <a:rPr lang="en-AU" smtClean="0"/>
              <a:pPr/>
              <a:t>99</a:t>
            </a:fld>
            <a:r>
              <a:rPr lang="en-AU"/>
              <a:t>  |</a:t>
            </a:r>
            <a:endParaRPr lang="en-AU" dirty="0"/>
          </a:p>
        </p:txBody>
      </p:sp>
      <p:sp>
        <p:nvSpPr>
          <p:cNvPr id="7" name="TextBox 6">
            <a:extLst>
              <a:ext uri="{FF2B5EF4-FFF2-40B4-BE49-F238E27FC236}">
                <a16:creationId xmlns:a16="http://schemas.microsoft.com/office/drawing/2014/main" id="{68EEE0B7-4009-6221-F525-5934CDFB3094}"/>
              </a:ext>
            </a:extLst>
          </p:cNvPr>
          <p:cNvSpPr txBox="1"/>
          <p:nvPr/>
        </p:nvSpPr>
        <p:spPr>
          <a:xfrm>
            <a:off x="0" y="972774"/>
            <a:ext cx="9144000" cy="5842497"/>
          </a:xfrm>
          <a:prstGeom prst="rect">
            <a:avLst/>
          </a:prstGeom>
          <a:solidFill>
            <a:schemeClr val="bg1"/>
          </a:solidFill>
        </p:spPr>
        <p:txBody>
          <a:bodyPr wrap="square">
            <a:spAutoFit/>
          </a:bodyPr>
          <a:lstStyle/>
          <a:p>
            <a:pPr>
              <a:lnSpc>
                <a:spcPct val="150000"/>
              </a:lnSpc>
            </a:pPr>
            <a:r>
              <a:rPr lang="en-US" sz="2800" dirty="0">
                <a:latin typeface="Calibir"/>
              </a:rPr>
              <a:t>Graduates who know SQL are expected to:</a:t>
            </a:r>
          </a:p>
          <a:p>
            <a:pPr marL="714375" indent="-457200">
              <a:lnSpc>
                <a:spcPct val="150000"/>
              </a:lnSpc>
              <a:buFont typeface="Arial" panose="020B0604020202020204" pitchFamily="34" charset="0"/>
              <a:buChar char="•"/>
            </a:pPr>
            <a:r>
              <a:rPr lang="en-US" sz="2800" dirty="0">
                <a:latin typeface="Calibir"/>
              </a:rPr>
              <a:t>Write queries to extract and </a:t>
            </a:r>
            <a:r>
              <a:rPr lang="en-US" sz="2800" dirty="0" err="1">
                <a:latin typeface="Calibir"/>
              </a:rPr>
              <a:t>summarise</a:t>
            </a:r>
            <a:r>
              <a:rPr lang="en-US" sz="2800" dirty="0">
                <a:latin typeface="Calibir"/>
              </a:rPr>
              <a:t> data efficiently</a:t>
            </a:r>
          </a:p>
          <a:p>
            <a:pPr marL="714375" indent="-457200">
              <a:lnSpc>
                <a:spcPct val="150000"/>
              </a:lnSpc>
              <a:buFont typeface="Arial" panose="020B0604020202020204" pitchFamily="34" charset="0"/>
              <a:buChar char="•"/>
            </a:pPr>
            <a:r>
              <a:rPr lang="en-US" sz="2800" dirty="0">
                <a:latin typeface="Calibir"/>
              </a:rPr>
              <a:t>Understand relational database design (tables, keys, joins)</a:t>
            </a:r>
          </a:p>
          <a:p>
            <a:pPr marL="714375" indent="-457200">
              <a:lnSpc>
                <a:spcPct val="150000"/>
              </a:lnSpc>
              <a:buFont typeface="Arial" panose="020B0604020202020204" pitchFamily="34" charset="0"/>
              <a:buChar char="•"/>
            </a:pPr>
            <a:r>
              <a:rPr lang="en-US" sz="2800" dirty="0" err="1">
                <a:latin typeface="Calibir"/>
              </a:rPr>
              <a:t>Analyse</a:t>
            </a:r>
            <a:r>
              <a:rPr lang="en-US" sz="2800" dirty="0">
                <a:latin typeface="Calibir"/>
              </a:rPr>
              <a:t> performance, detect anomalies, and create dashboards</a:t>
            </a:r>
            <a:br>
              <a:rPr lang="en-US" sz="2800" dirty="0">
                <a:latin typeface="Calibir"/>
              </a:rPr>
            </a:br>
            <a:r>
              <a:rPr lang="en-US" sz="2800" dirty="0">
                <a:latin typeface="Calibir"/>
              </a:rPr>
              <a:t>In Australia, jobs such as Data Analyst, Database Administrator, BI Developer, and Software Engineer almost always list SQL proficiency as a must-have skill.</a:t>
            </a:r>
          </a:p>
        </p:txBody>
      </p:sp>
      <p:sp>
        <p:nvSpPr>
          <p:cNvPr id="9" name="Text Placeholder 3">
            <a:extLst>
              <a:ext uri="{FF2B5EF4-FFF2-40B4-BE49-F238E27FC236}">
                <a16:creationId xmlns:a16="http://schemas.microsoft.com/office/drawing/2014/main" id="{586A3423-52A1-2231-1DFD-4A0800A55944}"/>
              </a:ext>
            </a:extLst>
          </p:cNvPr>
          <p:cNvSpPr>
            <a:spLocks noGrp="1"/>
          </p:cNvSpPr>
          <p:nvPr>
            <p:ph type="body" sz="quarter" idx="16"/>
          </p:nvPr>
        </p:nvSpPr>
        <p:spPr>
          <a:xfrm>
            <a:off x="0" y="-1"/>
            <a:ext cx="6632028" cy="872360"/>
          </a:xfrm>
        </p:spPr>
        <p:txBody>
          <a:bodyPr>
            <a:noAutofit/>
          </a:bodyPr>
          <a:lstStyle/>
          <a:p>
            <a:r>
              <a:rPr lang="en-US" sz="3200" dirty="0"/>
              <a:t>Industry Insights &amp; Graduate Expectations</a:t>
            </a:r>
            <a:endParaRPr lang="en-AU" sz="3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17251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7AE2E-97E0-BDCA-618B-720FE1F7F0A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13548F9-A26E-1B74-C2A0-A0350AC21E39}"/>
              </a:ext>
            </a:extLst>
          </p:cNvPr>
          <p:cNvSpPr txBox="1">
            <a:spLocks noGrp="1"/>
          </p:cNvSpPr>
          <p:nvPr>
            <p:ph type="title"/>
          </p:nvPr>
        </p:nvSpPr>
        <p:spPr>
          <a:xfrm>
            <a:off x="0" y="13827"/>
            <a:ext cx="6553200" cy="502061"/>
          </a:xfrm>
          <a:prstGeom prst="rect">
            <a:avLst/>
          </a:prstGeom>
        </p:spPr>
        <p:txBody>
          <a:bodyPr vert="horz" wrap="square" lIns="0" tIns="9525" rIns="0" bIns="0" rtlCol="0">
            <a:spAutoFit/>
          </a:bodyPr>
          <a:lstStyle/>
          <a:p>
            <a:pPr marL="9525">
              <a:spcBef>
                <a:spcPts val="75"/>
              </a:spcBef>
            </a:pPr>
            <a:r>
              <a:rPr lang="en-US" sz="3200" dirty="0"/>
              <a:t>Thank You</a:t>
            </a:r>
            <a:endParaRPr sz="3200" spc="-8" dirty="0"/>
          </a:p>
        </p:txBody>
      </p:sp>
      <p:sp>
        <p:nvSpPr>
          <p:cNvPr id="4" name="object 4">
            <a:extLst>
              <a:ext uri="{FF2B5EF4-FFF2-40B4-BE49-F238E27FC236}">
                <a16:creationId xmlns:a16="http://schemas.microsoft.com/office/drawing/2014/main" id="{285BD2D9-AABA-65D7-AD99-6F5B8666F073}"/>
              </a:ext>
            </a:extLst>
          </p:cNvPr>
          <p:cNvSpPr txBox="1">
            <a:spLocks noGrp="1"/>
          </p:cNvSpPr>
          <p:nvPr>
            <p:ph type="sldNum" sz="quarter" idx="7"/>
          </p:nvPr>
        </p:nvSpPr>
        <p:spPr>
          <a:prstGeom prst="rect">
            <a:avLst/>
          </a:prstGeom>
        </p:spPr>
        <p:txBody>
          <a:bodyPr vert="horz" wrap="square" lIns="0" tIns="476" rIns="0" bIns="0" rtlCol="0">
            <a:spAutoFit/>
          </a:bodyPr>
          <a:lstStyle/>
          <a:p>
            <a:pPr marL="28575" defTabSz="685800">
              <a:spcBef>
                <a:spcPts val="4"/>
              </a:spcBef>
            </a:pPr>
            <a:fld id="{81D60167-4931-47E6-BA6A-407CBD079E47}" type="slidenum">
              <a:rPr kern="0" dirty="0"/>
              <a:pPr marL="28575" defTabSz="685800">
                <a:spcBef>
                  <a:spcPts val="4"/>
                </a:spcBef>
              </a:pPr>
              <a:t>100</a:t>
            </a:fld>
            <a:r>
              <a:rPr kern="0" spc="176" dirty="0"/>
              <a:t> </a:t>
            </a:r>
            <a:r>
              <a:rPr kern="0" dirty="0"/>
              <a:t>|</a:t>
            </a:r>
            <a:r>
              <a:rPr kern="0" spc="300" dirty="0"/>
              <a:t> </a:t>
            </a:r>
            <a:r>
              <a:rPr kern="0" dirty="0"/>
              <a:t>Faculty</a:t>
            </a:r>
            <a:r>
              <a:rPr kern="0" spc="-11" dirty="0"/>
              <a:t> </a:t>
            </a:r>
            <a:r>
              <a:rPr kern="0" dirty="0"/>
              <a:t>of</a:t>
            </a:r>
            <a:r>
              <a:rPr kern="0" spc="-15" dirty="0"/>
              <a:t> </a:t>
            </a:r>
            <a:r>
              <a:rPr kern="0" dirty="0"/>
              <a:t>Business</a:t>
            </a:r>
            <a:r>
              <a:rPr kern="0" spc="-15" dirty="0"/>
              <a:t> </a:t>
            </a:r>
            <a:r>
              <a:rPr kern="0" dirty="0"/>
              <a:t>and</a:t>
            </a:r>
            <a:r>
              <a:rPr kern="0" spc="-15" dirty="0"/>
              <a:t> </a:t>
            </a:r>
            <a:r>
              <a:rPr kern="0" dirty="0"/>
              <a:t>Law</a:t>
            </a:r>
            <a:r>
              <a:rPr kern="0" spc="-11" dirty="0"/>
              <a:t> </a:t>
            </a:r>
            <a:r>
              <a:rPr kern="0" dirty="0"/>
              <a:t>|</a:t>
            </a:r>
            <a:r>
              <a:rPr kern="0" spc="-11" dirty="0"/>
              <a:t> </a:t>
            </a:r>
            <a:r>
              <a:rPr kern="0" dirty="0"/>
              <a:t>Peter</a:t>
            </a:r>
            <a:r>
              <a:rPr kern="0" spc="-8" dirty="0"/>
              <a:t> </a:t>
            </a:r>
            <a:r>
              <a:rPr kern="0" dirty="0"/>
              <a:t>Faber</a:t>
            </a:r>
            <a:r>
              <a:rPr kern="0" spc="-11" dirty="0"/>
              <a:t> </a:t>
            </a:r>
            <a:r>
              <a:rPr kern="0" dirty="0"/>
              <a:t>Business</a:t>
            </a:r>
            <a:r>
              <a:rPr kern="0" spc="-11" dirty="0"/>
              <a:t> </a:t>
            </a:r>
            <a:r>
              <a:rPr kern="0" spc="-8" dirty="0"/>
              <a:t>School</a:t>
            </a:r>
          </a:p>
        </p:txBody>
      </p:sp>
      <p:sp>
        <p:nvSpPr>
          <p:cNvPr id="3" name="object 3">
            <a:extLst>
              <a:ext uri="{FF2B5EF4-FFF2-40B4-BE49-F238E27FC236}">
                <a16:creationId xmlns:a16="http://schemas.microsoft.com/office/drawing/2014/main" id="{1C5F5B67-D420-B363-36D0-076510E9FACF}"/>
              </a:ext>
            </a:extLst>
          </p:cNvPr>
          <p:cNvSpPr txBox="1"/>
          <p:nvPr/>
        </p:nvSpPr>
        <p:spPr>
          <a:xfrm>
            <a:off x="154858" y="1214061"/>
            <a:ext cx="5808821" cy="491000"/>
          </a:xfrm>
          <a:prstGeom prst="rect">
            <a:avLst/>
          </a:prstGeom>
        </p:spPr>
        <p:txBody>
          <a:bodyPr vert="horz" wrap="square" lIns="0" tIns="59531" rIns="0" bIns="0" rtlCol="0">
            <a:spAutoFit/>
          </a:bodyPr>
          <a:lstStyle/>
          <a:p>
            <a:pPr marL="342424" indent="-332899" defTabSz="685800">
              <a:spcBef>
                <a:spcPts val="469"/>
              </a:spcBef>
              <a:buClr>
                <a:srgbClr val="F2120C"/>
              </a:buClr>
              <a:buSzPct val="75000"/>
              <a:buFont typeface="Arial"/>
              <a:buChar char="•"/>
              <a:tabLst>
                <a:tab pos="342424" algn="l"/>
              </a:tabLst>
            </a:pPr>
            <a:r>
              <a:rPr lang="en-US" sz="2800" i="1" kern="0" dirty="0">
                <a:solidFill>
                  <a:prstClr val="black"/>
                </a:solidFill>
                <a:latin typeface="Calibri"/>
                <a:cs typeface="Arial"/>
              </a:rPr>
              <a:t>Have a Great Learning Day!</a:t>
            </a:r>
            <a:endParaRPr sz="2800" kern="0" dirty="0">
              <a:solidFill>
                <a:prstClr val="black"/>
              </a:solidFill>
              <a:latin typeface="Calibri"/>
              <a:cs typeface="Arial"/>
            </a:endParaRPr>
          </a:p>
        </p:txBody>
      </p:sp>
      <p:sp>
        <p:nvSpPr>
          <p:cNvPr id="5" name="object 3">
            <a:extLst>
              <a:ext uri="{FF2B5EF4-FFF2-40B4-BE49-F238E27FC236}">
                <a16:creationId xmlns:a16="http://schemas.microsoft.com/office/drawing/2014/main" id="{4D47354F-B664-DD16-78CE-61C2CA4253AA}"/>
              </a:ext>
            </a:extLst>
          </p:cNvPr>
          <p:cNvSpPr txBox="1"/>
          <p:nvPr/>
        </p:nvSpPr>
        <p:spPr>
          <a:xfrm>
            <a:off x="154858" y="1720357"/>
            <a:ext cx="8074742" cy="491000"/>
          </a:xfrm>
          <a:prstGeom prst="rect">
            <a:avLst/>
          </a:prstGeom>
        </p:spPr>
        <p:txBody>
          <a:bodyPr vert="horz" wrap="square" lIns="0" tIns="59531" rIns="0" bIns="0" rtlCol="0">
            <a:spAutoFit/>
          </a:bodyPr>
          <a:lstStyle/>
          <a:p>
            <a:pPr marL="342424" indent="-332899" defTabSz="685800">
              <a:spcBef>
                <a:spcPts val="469"/>
              </a:spcBef>
              <a:buClr>
                <a:srgbClr val="F2120C"/>
              </a:buClr>
              <a:buSzPct val="75000"/>
              <a:buFont typeface="Arial"/>
              <a:buChar char="•"/>
              <a:tabLst>
                <a:tab pos="342424" algn="l"/>
              </a:tabLst>
            </a:pPr>
            <a:r>
              <a:rPr lang="en-US" sz="2800" kern="0" dirty="0">
                <a:solidFill>
                  <a:prstClr val="black"/>
                </a:solidFill>
                <a:latin typeface="Calibri"/>
              </a:rPr>
              <a:t>Feel free to reach out with any questions!</a:t>
            </a:r>
            <a:endParaRPr sz="2800" kern="0" dirty="0">
              <a:solidFill>
                <a:prstClr val="black"/>
              </a:solidFill>
              <a:latin typeface="Calibri"/>
              <a:cs typeface="Arial"/>
            </a:endParaRPr>
          </a:p>
        </p:txBody>
      </p:sp>
      <p:sp>
        <p:nvSpPr>
          <p:cNvPr id="6" name="object 3">
            <a:extLst>
              <a:ext uri="{FF2B5EF4-FFF2-40B4-BE49-F238E27FC236}">
                <a16:creationId xmlns:a16="http://schemas.microsoft.com/office/drawing/2014/main" id="{26A8C491-6C04-81E4-0F77-7812ABB2A303}"/>
              </a:ext>
            </a:extLst>
          </p:cNvPr>
          <p:cNvSpPr txBox="1"/>
          <p:nvPr/>
        </p:nvSpPr>
        <p:spPr>
          <a:xfrm>
            <a:off x="154858" y="2226653"/>
            <a:ext cx="5808821" cy="491000"/>
          </a:xfrm>
          <a:prstGeom prst="rect">
            <a:avLst/>
          </a:prstGeom>
        </p:spPr>
        <p:txBody>
          <a:bodyPr vert="horz" wrap="square" lIns="0" tIns="59531" rIns="0" bIns="0" rtlCol="0">
            <a:spAutoFit/>
          </a:bodyPr>
          <a:lstStyle/>
          <a:p>
            <a:pPr marL="342424" indent="-332899" defTabSz="685800">
              <a:spcBef>
                <a:spcPts val="469"/>
              </a:spcBef>
              <a:buClr>
                <a:srgbClr val="F2120C"/>
              </a:buClr>
              <a:buSzPct val="75000"/>
              <a:buFont typeface="Arial"/>
              <a:buChar char="•"/>
              <a:tabLst>
                <a:tab pos="342424" algn="l"/>
              </a:tabLst>
            </a:pPr>
            <a:r>
              <a:rPr lang="en-US" sz="2800" kern="0" dirty="0">
                <a:solidFill>
                  <a:prstClr val="black"/>
                </a:solidFill>
                <a:latin typeface="Calibri"/>
              </a:rPr>
              <a:t>Dr. Farshid Keivanian</a:t>
            </a:r>
            <a:endParaRPr sz="2800" kern="0" dirty="0">
              <a:solidFill>
                <a:prstClr val="black"/>
              </a:solidFill>
              <a:latin typeface="Calibri"/>
              <a:cs typeface="Arial"/>
            </a:endParaRPr>
          </a:p>
        </p:txBody>
      </p:sp>
    </p:spTree>
    <p:extLst>
      <p:ext uri="{BB962C8B-B14F-4D97-AF65-F5344CB8AC3E}">
        <p14:creationId xmlns:p14="http://schemas.microsoft.com/office/powerpoint/2010/main" val="38737682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CU Presentation">
  <a:themeElements>
    <a:clrScheme name="ACUColourScheme">
      <a:dk1>
        <a:srgbClr val="3C1053"/>
      </a:dk1>
      <a:lt1>
        <a:srgbClr val="FFFFFF"/>
      </a:lt1>
      <a:dk2>
        <a:srgbClr val="3C1053"/>
      </a:dk2>
      <a:lt2>
        <a:srgbClr val="E8E3DB"/>
      </a:lt2>
      <a:accent1>
        <a:srgbClr val="F2120C"/>
      </a:accent1>
      <a:accent2>
        <a:srgbClr val="3D3935"/>
      </a:accent2>
      <a:accent3>
        <a:srgbClr val="8C857B"/>
      </a:accent3>
      <a:accent4>
        <a:srgbClr val="3C1053"/>
      </a:accent4>
      <a:accent5>
        <a:srgbClr val="E8E3DB"/>
      </a:accent5>
      <a:accent6>
        <a:srgbClr val="70AD47"/>
      </a:accent6>
      <a:hlink>
        <a:srgbClr val="0563C1"/>
      </a:hlink>
      <a:folHlink>
        <a:srgbClr val="954F72"/>
      </a:folHlink>
    </a:clrScheme>
    <a:fontScheme name="Custom 21">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err="1" smtClean="0">
            <a:solidFill>
              <a:srgbClr val="3D3935"/>
            </a:solidFill>
          </a:defRPr>
        </a:defPPr>
      </a:lstStyle>
    </a:txDef>
  </a:objectDefaults>
  <a:extraClrSchemeLst/>
  <a:extLst>
    <a:ext uri="{05A4C25C-085E-4340-85A3-A5531E510DB2}">
      <thm15:themeFamily xmlns:thm15="http://schemas.microsoft.com/office/thememl/2012/main" name="PPT_Template_4_3_V2.potx" id="{F3B38964-EE74-4E1D-A3FE-21D8EB788CBF}" vid="{2C9D612A-0DB5-43BD-9B9F-0A9FAAF24DC0}"/>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CDC8B17FFF79F46AB892AACDE15F09D" ma:contentTypeVersion="1" ma:contentTypeDescription="Create a new document." ma:contentTypeScope="" ma:versionID="a5ba99c893f738a110fead59b8aec548">
  <xsd:schema xmlns:xsd="http://www.w3.org/2001/XMLSchema" xmlns:xs="http://www.w3.org/2001/XMLSchema" xmlns:p="http://schemas.microsoft.com/office/2006/metadata/properties" targetNamespace="http://schemas.microsoft.com/office/2006/metadata/properties" ma:root="true" ma:fieldsID="6c96ba11fc0b0f11135d6dc28d8a2ff0">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866CA7-3031-48D4-BC56-8127880CD39C}">
  <ds:schemaRefs>
    <ds:schemaRef ds:uri="http://schemas.microsoft.com/sharepoint/v3/contenttype/forms"/>
  </ds:schemaRefs>
</ds:datastoreItem>
</file>

<file path=customXml/itemProps2.xml><?xml version="1.0" encoding="utf-8"?>
<ds:datastoreItem xmlns:ds="http://schemas.openxmlformats.org/officeDocument/2006/customXml" ds:itemID="{719D6D79-91EF-4340-8C3D-E484566A2E2F}">
  <ds:schemaRefs>
    <ds:schemaRef ds:uri="http://purl.org/dc/dcmitype/"/>
    <ds:schemaRef ds:uri="http://schemas.microsoft.com/office/2006/documentManagement/types"/>
    <ds:schemaRef ds:uri="http://www.w3.org/XML/1998/namespace"/>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4360E499-BA5F-475B-94B4-A8CCAB2763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PPT_Template_4_3_V2.potx</Template>
  <TotalTime>5038</TotalTime>
  <Words>6622</Words>
  <Application>Microsoft Office PowerPoint</Application>
  <PresentationFormat>On-screen Show (4:3)</PresentationFormat>
  <Paragraphs>1590</Paragraphs>
  <Slides>100</Slides>
  <Notes>99</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100</vt:i4>
      </vt:variant>
    </vt:vector>
  </HeadingPairs>
  <TitlesOfParts>
    <vt:vector size="107" baseType="lpstr">
      <vt:lpstr>Arial</vt:lpstr>
      <vt:lpstr>Calibir</vt:lpstr>
      <vt:lpstr>Calibri</vt:lpstr>
      <vt:lpstr>Consolas</vt:lpstr>
      <vt:lpstr>ACU Presentation</vt:lpstr>
      <vt:lpstr>1_Office Theme</vt:lpstr>
      <vt:lpstr>think-cell Slide</vt:lpstr>
      <vt:lpstr>Structured Query Language (SQL)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ACU Presentation</dc:title>
  <dc:creator>Husnen Rupani;Simone.Byrnes@acu.edu.au</dc:creator>
  <cp:lastModifiedBy>Farshid Keivanian</cp:lastModifiedBy>
  <cp:revision>1172</cp:revision>
  <cp:lastPrinted>2017-08-03T04:07:41Z</cp:lastPrinted>
  <dcterms:created xsi:type="dcterms:W3CDTF">2017-05-11T09:33:32Z</dcterms:created>
  <dcterms:modified xsi:type="dcterms:W3CDTF">2026-05-05T02:01:45Z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0x0101007CDC8B17FFF79F46AB892AACDE15F09D</vt:lpwstr>
  </property>
</Properties>
</file>