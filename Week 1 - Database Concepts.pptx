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 id="2147483769" r:id="rId5"/>
  </p:sldMasterIdLst>
  <p:notesMasterIdLst>
    <p:notesMasterId r:id="rId97"/>
  </p:notesMasterIdLst>
  <p:sldIdLst>
    <p:sldId id="421" r:id="rId6"/>
    <p:sldId id="925" r:id="rId7"/>
    <p:sldId id="1135" r:id="rId8"/>
    <p:sldId id="1136" r:id="rId9"/>
    <p:sldId id="258" r:id="rId10"/>
    <p:sldId id="1089" r:id="rId11"/>
    <p:sldId id="1090" r:id="rId12"/>
    <p:sldId id="1091" r:id="rId13"/>
    <p:sldId id="1092" r:id="rId14"/>
    <p:sldId id="1093" r:id="rId15"/>
    <p:sldId id="1062" r:id="rId16"/>
    <p:sldId id="1094" r:id="rId17"/>
    <p:sldId id="1095" r:id="rId18"/>
    <p:sldId id="1096" r:id="rId19"/>
    <p:sldId id="1097" r:id="rId20"/>
    <p:sldId id="1098" r:id="rId21"/>
    <p:sldId id="1099" r:id="rId22"/>
    <p:sldId id="1100" r:id="rId23"/>
    <p:sldId id="1101" r:id="rId24"/>
    <p:sldId id="1102" r:id="rId25"/>
    <p:sldId id="1103" r:id="rId26"/>
    <p:sldId id="1063" r:id="rId27"/>
    <p:sldId id="1064" r:id="rId28"/>
    <p:sldId id="1065" r:id="rId29"/>
    <p:sldId id="1066" r:id="rId30"/>
    <p:sldId id="1067" r:id="rId31"/>
    <p:sldId id="1068" r:id="rId32"/>
    <p:sldId id="1104" r:id="rId33"/>
    <p:sldId id="1105" r:id="rId34"/>
    <p:sldId id="1071" r:id="rId35"/>
    <p:sldId id="1072" r:id="rId36"/>
    <p:sldId id="1106" r:id="rId37"/>
    <p:sldId id="1107" r:id="rId38"/>
    <p:sldId id="1108" r:id="rId39"/>
    <p:sldId id="1127" r:id="rId40"/>
    <p:sldId id="1128" r:id="rId41"/>
    <p:sldId id="1129" r:id="rId42"/>
    <p:sldId id="1130" r:id="rId43"/>
    <p:sldId id="1131" r:id="rId44"/>
    <p:sldId id="1132" r:id="rId45"/>
    <p:sldId id="1133" r:id="rId46"/>
    <p:sldId id="1134" r:id="rId47"/>
    <p:sldId id="1109" r:id="rId48"/>
    <p:sldId id="1110" r:id="rId49"/>
    <p:sldId id="1111" r:id="rId50"/>
    <p:sldId id="1112" r:id="rId51"/>
    <p:sldId id="1113" r:id="rId52"/>
    <p:sldId id="1114" r:id="rId53"/>
    <p:sldId id="1074" r:id="rId54"/>
    <p:sldId id="1115" r:id="rId55"/>
    <p:sldId id="1116" r:id="rId56"/>
    <p:sldId id="1117" r:id="rId57"/>
    <p:sldId id="1119" r:id="rId58"/>
    <p:sldId id="1120" r:id="rId59"/>
    <p:sldId id="1121" r:id="rId60"/>
    <p:sldId id="1122" r:id="rId61"/>
    <p:sldId id="1123" r:id="rId62"/>
    <p:sldId id="1124" r:id="rId63"/>
    <p:sldId id="1069" r:id="rId64"/>
    <p:sldId id="1070" r:id="rId65"/>
    <p:sldId id="1075" r:id="rId66"/>
    <p:sldId id="1076" r:id="rId67"/>
    <p:sldId id="1085" r:id="rId68"/>
    <p:sldId id="1137" r:id="rId69"/>
    <p:sldId id="1077" r:id="rId70"/>
    <p:sldId id="1087" r:id="rId71"/>
    <p:sldId id="1086" r:id="rId72"/>
    <p:sldId id="1083" r:id="rId73"/>
    <p:sldId id="1078" r:id="rId74"/>
    <p:sldId id="1079" r:id="rId75"/>
    <p:sldId id="1080" r:id="rId76"/>
    <p:sldId id="1851" r:id="rId77"/>
    <p:sldId id="1852" r:id="rId78"/>
    <p:sldId id="1853" r:id="rId79"/>
    <p:sldId id="1854" r:id="rId80"/>
    <p:sldId id="1855" r:id="rId81"/>
    <p:sldId id="1856" r:id="rId82"/>
    <p:sldId id="1857" r:id="rId83"/>
    <p:sldId id="1858" r:id="rId84"/>
    <p:sldId id="1859" r:id="rId85"/>
    <p:sldId id="1860" r:id="rId86"/>
    <p:sldId id="1861" r:id="rId87"/>
    <p:sldId id="1862" r:id="rId88"/>
    <p:sldId id="1863" r:id="rId89"/>
    <p:sldId id="1864" r:id="rId90"/>
    <p:sldId id="1081" r:id="rId91"/>
    <p:sldId id="1084" r:id="rId92"/>
    <p:sldId id="1865" r:id="rId93"/>
    <p:sldId id="1126" r:id="rId94"/>
    <p:sldId id="1817" r:id="rId95"/>
    <p:sldId id="1850" r:id="rId96"/>
  </p:sldIdLst>
  <p:sldSz cx="9144000" cy="6858000" type="screen4x3"/>
  <p:notesSz cx="6805613" cy="9939338"/>
  <p:custDataLst>
    <p:tags r:id="rId9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120C"/>
    <a:srgbClr val="3C1053"/>
    <a:srgbClr val="3D3935"/>
    <a:srgbClr val="8C857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7BB521D-F265-714B-8FCA-CDEFF71AA4E0}" v="4" dt="2022-02-20T13:33:14.8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115" autoAdjust="0"/>
    <p:restoredTop sz="94694"/>
  </p:normalViewPr>
  <p:slideViewPr>
    <p:cSldViewPr snapToGrid="0">
      <p:cViewPr varScale="1">
        <p:scale>
          <a:sx n="62" d="100"/>
          <a:sy n="62" d="100"/>
        </p:scale>
        <p:origin x="1224" y="261"/>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tableStyles" Target="tableStyles.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103" Type="http://schemas.microsoft.com/office/2016/11/relationships/changesInfo" Target="changesInfos/changesInfo1.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notesMaster" Target="notesMasters/notesMaster1.xml"/><Relationship Id="rId104" Type="http://schemas.microsoft.com/office/2015/10/relationships/revisionInfo" Target="revisionInfo.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viewProps" Target="view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tags" Target="tags/tag1.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ehdi Rajaeian" userId="e10da06b-5817-4dd1-ad34-42f38efef7bd" providerId="ADAL" clId="{B7BB521D-F265-714B-8FCA-CDEFF71AA4E0}"/>
    <pc:docChg chg="addSld delSld modSld">
      <pc:chgData name="Mehdi Rajaeian" userId="e10da06b-5817-4dd1-ad34-42f38efef7bd" providerId="ADAL" clId="{B7BB521D-F265-714B-8FCA-CDEFF71AA4E0}" dt="2022-02-20T13:35:17.726" v="11" actId="14100"/>
      <pc:docMkLst>
        <pc:docMk/>
      </pc:docMkLst>
      <pc:sldChg chg="del">
        <pc:chgData name="Mehdi Rajaeian" userId="e10da06b-5817-4dd1-ad34-42f38efef7bd" providerId="ADAL" clId="{B7BB521D-F265-714B-8FCA-CDEFF71AA4E0}" dt="2022-02-20T13:32:42.926" v="1" actId="2696"/>
        <pc:sldMkLst>
          <pc:docMk/>
          <pc:sldMk cId="0" sldId="257"/>
        </pc:sldMkLst>
      </pc:sldChg>
      <pc:sldChg chg="add">
        <pc:chgData name="Mehdi Rajaeian" userId="e10da06b-5817-4dd1-ad34-42f38efef7bd" providerId="ADAL" clId="{B7BB521D-F265-714B-8FCA-CDEFF71AA4E0}" dt="2022-02-20T13:32:54.646" v="2"/>
        <pc:sldMkLst>
          <pc:docMk/>
          <pc:sldMk cId="0" sldId="260"/>
        </pc:sldMkLst>
      </pc:sldChg>
      <pc:sldChg chg="add del setBg">
        <pc:chgData name="Mehdi Rajaeian" userId="e10da06b-5817-4dd1-ad34-42f38efef7bd" providerId="ADAL" clId="{B7BB521D-F265-714B-8FCA-CDEFF71AA4E0}" dt="2022-02-20T13:33:17.512" v="5" actId="2696"/>
        <pc:sldMkLst>
          <pc:docMk/>
          <pc:sldMk cId="0" sldId="261"/>
        </pc:sldMkLst>
      </pc:sldChg>
      <pc:sldChg chg="modSp add mod">
        <pc:chgData name="Mehdi Rajaeian" userId="e10da06b-5817-4dd1-ad34-42f38efef7bd" providerId="ADAL" clId="{B7BB521D-F265-714B-8FCA-CDEFF71AA4E0}" dt="2022-02-20T13:34:57.827" v="8" actId="14100"/>
        <pc:sldMkLst>
          <pc:docMk/>
          <pc:sldMk cId="0" sldId="262"/>
        </pc:sldMkLst>
        <pc:spChg chg="mod">
          <ac:chgData name="Mehdi Rajaeian" userId="e10da06b-5817-4dd1-ad34-42f38efef7bd" providerId="ADAL" clId="{B7BB521D-F265-714B-8FCA-CDEFF71AA4E0}" dt="2022-02-20T13:34:57.827" v="8" actId="14100"/>
          <ac:spMkLst>
            <pc:docMk/>
            <pc:sldMk cId="0" sldId="262"/>
            <ac:spMk id="10241" creationId="{FB578DD4-163E-DA47-AA29-CAC11E14669F}"/>
          </ac:spMkLst>
        </pc:spChg>
      </pc:sldChg>
      <pc:sldChg chg="modSp add mod">
        <pc:chgData name="Mehdi Rajaeian" userId="e10da06b-5817-4dd1-ad34-42f38efef7bd" providerId="ADAL" clId="{B7BB521D-F265-714B-8FCA-CDEFF71AA4E0}" dt="2022-02-20T13:35:09.730" v="10" actId="1036"/>
        <pc:sldMkLst>
          <pc:docMk/>
          <pc:sldMk cId="0" sldId="263"/>
        </pc:sldMkLst>
        <pc:spChg chg="mod">
          <ac:chgData name="Mehdi Rajaeian" userId="e10da06b-5817-4dd1-ad34-42f38efef7bd" providerId="ADAL" clId="{B7BB521D-F265-714B-8FCA-CDEFF71AA4E0}" dt="2022-02-20T13:35:09.730" v="10" actId="1036"/>
          <ac:spMkLst>
            <pc:docMk/>
            <pc:sldMk cId="0" sldId="263"/>
            <ac:spMk id="11265" creationId="{B419234F-7759-0C46-B90C-1801D22E960B}"/>
          </ac:spMkLst>
        </pc:spChg>
      </pc:sldChg>
      <pc:sldChg chg="add">
        <pc:chgData name="Mehdi Rajaeian" userId="e10da06b-5817-4dd1-ad34-42f38efef7bd" providerId="ADAL" clId="{B7BB521D-F265-714B-8FCA-CDEFF71AA4E0}" dt="2022-02-20T13:32:54.646" v="2"/>
        <pc:sldMkLst>
          <pc:docMk/>
          <pc:sldMk cId="0" sldId="264"/>
        </pc:sldMkLst>
      </pc:sldChg>
      <pc:sldChg chg="modSp add mod">
        <pc:chgData name="Mehdi Rajaeian" userId="e10da06b-5817-4dd1-ad34-42f38efef7bd" providerId="ADAL" clId="{B7BB521D-F265-714B-8FCA-CDEFF71AA4E0}" dt="2022-02-20T13:35:17.726" v="11" actId="14100"/>
        <pc:sldMkLst>
          <pc:docMk/>
          <pc:sldMk cId="0" sldId="265"/>
        </pc:sldMkLst>
        <pc:spChg chg="mod">
          <ac:chgData name="Mehdi Rajaeian" userId="e10da06b-5817-4dd1-ad34-42f38efef7bd" providerId="ADAL" clId="{B7BB521D-F265-714B-8FCA-CDEFF71AA4E0}" dt="2022-02-20T13:35:17.726" v="11" actId="14100"/>
          <ac:spMkLst>
            <pc:docMk/>
            <pc:sldMk cId="0" sldId="265"/>
            <ac:spMk id="13313" creationId="{5FAE3488-2F29-0F4E-8879-B91C4C246234}"/>
          </ac:spMkLst>
        </pc:spChg>
      </pc:sldChg>
      <pc:sldChg chg="add del">
        <pc:chgData name="Mehdi Rajaeian" userId="e10da06b-5817-4dd1-ad34-42f38efef7bd" providerId="ADAL" clId="{B7BB521D-F265-714B-8FCA-CDEFF71AA4E0}" dt="2022-02-20T13:33:31.634" v="6" actId="2696"/>
        <pc:sldMkLst>
          <pc:docMk/>
          <pc:sldMk cId="0" sldId="266"/>
        </pc:sldMkLst>
      </pc:sldChg>
      <pc:sldChg chg="modSp add mod">
        <pc:chgData name="Mehdi Rajaeian" userId="e10da06b-5817-4dd1-ad34-42f38efef7bd" providerId="ADAL" clId="{B7BB521D-F265-714B-8FCA-CDEFF71AA4E0}" dt="2022-02-20T13:33:36.847" v="7" actId="1076"/>
        <pc:sldMkLst>
          <pc:docMk/>
          <pc:sldMk cId="0" sldId="267"/>
        </pc:sldMkLst>
        <pc:spChg chg="mod">
          <ac:chgData name="Mehdi Rajaeian" userId="e10da06b-5817-4dd1-ad34-42f38efef7bd" providerId="ADAL" clId="{B7BB521D-F265-714B-8FCA-CDEFF71AA4E0}" dt="2022-02-20T13:33:36.847" v="7" actId="1076"/>
          <ac:spMkLst>
            <pc:docMk/>
            <pc:sldMk cId="0" sldId="267"/>
            <ac:spMk id="15361" creationId="{8C300C68-1EC3-9C45-B8EE-92BD86ABBF56}"/>
          </ac:spMkLst>
        </pc:spChg>
      </pc:sldChg>
      <pc:sldChg chg="add">
        <pc:chgData name="Mehdi Rajaeian" userId="e10da06b-5817-4dd1-ad34-42f38efef7bd" providerId="ADAL" clId="{B7BB521D-F265-714B-8FCA-CDEFF71AA4E0}" dt="2022-02-20T13:32:54.646" v="2"/>
        <pc:sldMkLst>
          <pc:docMk/>
          <pc:sldMk cId="0" sldId="268"/>
        </pc:sldMkLst>
      </pc:sldChg>
      <pc:sldChg chg="add">
        <pc:chgData name="Mehdi Rajaeian" userId="e10da06b-5817-4dd1-ad34-42f38efef7bd" providerId="ADAL" clId="{B7BB521D-F265-714B-8FCA-CDEFF71AA4E0}" dt="2022-02-20T13:33:14.810" v="4"/>
        <pc:sldMkLst>
          <pc:docMk/>
          <pc:sldMk cId="2757106827" sldId="284"/>
        </pc:sldMkLst>
      </pc:sldChg>
      <pc:sldChg chg="add">
        <pc:chgData name="Mehdi Rajaeian" userId="e10da06b-5817-4dd1-ad34-42f38efef7bd" providerId="ADAL" clId="{B7BB521D-F265-714B-8FCA-CDEFF71AA4E0}" dt="2022-02-20T13:33:14.810" v="4"/>
        <pc:sldMkLst>
          <pc:docMk/>
          <pc:sldMk cId="979744807" sldId="285"/>
        </pc:sldMkLst>
      </pc:sldChg>
      <pc:sldChg chg="modSp">
        <pc:chgData name="Mehdi Rajaeian" userId="e10da06b-5817-4dd1-ad34-42f38efef7bd" providerId="ADAL" clId="{B7BB521D-F265-714B-8FCA-CDEFF71AA4E0}" dt="2022-02-20T13:32:16.315" v="0"/>
        <pc:sldMkLst>
          <pc:docMk/>
          <pc:sldMk cId="2148014906" sldId="925"/>
        </pc:sldMkLst>
        <pc:spChg chg="mod">
          <ac:chgData name="Mehdi Rajaeian" userId="e10da06b-5817-4dd1-ad34-42f38efef7bd" providerId="ADAL" clId="{B7BB521D-F265-714B-8FCA-CDEFF71AA4E0}" dt="2022-02-20T13:32:16.315" v="0"/>
          <ac:spMkLst>
            <pc:docMk/>
            <pc:sldMk cId="2148014906" sldId="925"/>
            <ac:spMk id="7" creationId="{FAE72FDF-B21D-43D1-9CDB-2AEBCC5BA97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6F69E031-7821-4947-9A91-EC03C15F7566}" type="datetimeFigureOut">
              <a:rPr lang="en-AU" smtClean="0"/>
              <a:t>3/03/2026</a:t>
            </a:fld>
            <a:endParaRPr lang="en-AU"/>
          </a:p>
        </p:txBody>
      </p:sp>
      <p:sp>
        <p:nvSpPr>
          <p:cNvPr id="4" name="Slide Image Placeholder 3"/>
          <p:cNvSpPr>
            <a:spLocks noGrp="1" noRot="1" noChangeAspect="1"/>
          </p:cNvSpPr>
          <p:nvPr>
            <p:ph type="sldImg" idx="2"/>
          </p:nvPr>
        </p:nvSpPr>
        <p:spPr>
          <a:xfrm>
            <a:off x="1166813" y="1243013"/>
            <a:ext cx="4471987" cy="3354387"/>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4C98A5C1-1CB9-4F08-9AE0-90C38B1EBB91}" type="slidenum">
              <a:rPr lang="en-AU" smtClean="0"/>
              <a:t>‹#›</a:t>
            </a:fld>
            <a:endParaRPr lang="en-AU"/>
          </a:p>
        </p:txBody>
      </p:sp>
    </p:spTree>
    <p:extLst>
      <p:ext uri="{BB962C8B-B14F-4D97-AF65-F5344CB8AC3E}">
        <p14:creationId xmlns:p14="http://schemas.microsoft.com/office/powerpoint/2010/main" val="1452559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165105c655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56364DA-F71F-EBF9-D01C-37509743AF3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BE9E141-BD6E-46A0-6082-A1AB4D85CA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F81331F-49CA-0E23-861B-B7AC17DDF5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94FF090-BCF1-8E49-678F-8F03E9B466F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61083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358819C-26B7-5508-698B-14DFA3EC761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7D7EEEA-BFE9-95A3-5B8E-3BE5B2E984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031112E-A759-650E-84F6-53F11FF0FA6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D9E8162-50A6-CF49-EA1E-EF67BD9062F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575198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F4CA0DC-F5EE-BB87-FE3C-9BE647F6DF1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C20B095-001C-BF8E-1512-D72E0EF2B1C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183320A-62FE-77F7-49C5-28D053119D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1D4B768-473A-940C-BFD0-68CF256E2DF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71625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FB3BF70-DCB4-D487-25DA-AB9DB702432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35BFC5A-821A-69B1-D689-8637ECEED3A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AECA883-9B9D-F7BC-BD90-9CC494B9EE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78FAC4C-FC55-0C97-9696-202D482E91E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703579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03E5013-4756-9095-70C8-24A36DB196D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9E8132C-5FAB-C674-6176-73ABA5A8E7F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EA2C448-9417-8EB6-2256-56ED21DA4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892C11E-09F6-1754-014F-9CA4B1CAD23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63385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43BA873-5C9C-39A3-00B6-067964EFA81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706B44D-1BAC-DB71-4DB6-7993494F960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FCEDD46-07A0-69CF-6A10-085ADD5D3C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C2A7B1D-BC7D-5C6D-1688-7D5FDBE0AC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246562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2ACB170-B1B4-EA66-8191-5BE4EE19CEE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72E85D-7291-6E7E-896C-C9EA540F1C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F34F373-A0D3-1350-DCEE-FEFDF2373C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C604C58-0087-188E-30E9-ACEB1443318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847176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0A92FA-D817-ED27-2F32-1A4F3D646B3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F2D5D5B-C376-5148-7F69-C187C4AEDD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1985BC5-9EEC-1226-7D61-7197E8F2F3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9E9F98-84C5-C053-0FC1-533A1CC9303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41097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A9BC923-6BD2-0A91-D72E-803F341F71F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84C2CAA-7300-0B21-AA25-92ADD5D1FDD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F50A986-2121-E22E-CC07-658AF07B52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F2D595-B7B7-478D-1E4D-6730CF55754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78291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A3896B0-3407-3DA6-D53F-E9FDFCECBBB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F0CBE31-237F-26A1-E794-63941412D54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4A6F443-8BDF-3CCC-A238-2408C5CD60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D6FCDEE-16FE-19DB-62EE-6C96843ED47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718880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0C1B23D-4D60-69B1-ED70-E68492CA206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786BE2-2A6A-1696-37B8-16872D5FDD0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3F25E90-9394-3A49-B98E-D62A4E3E4D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A4689DE-B8B4-5E04-61A8-FECB49213E7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367121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7F8884-C613-18F4-DEAB-27D33B28507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A70DBEE-7EC3-E745-00BB-510504AC2DC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9BB7B9-5745-51B8-D74F-6041D2CA5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51630AA-9F48-F886-81C6-D646FDA3258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0945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2E9B60E-50DB-1DC4-0F27-4267F9DB83A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A75E174-7671-1BF5-D5F7-083FA7BF164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3FCEB84-6BFF-C107-63C8-8439801AE6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B4A92A0-1077-119C-D618-B972C5A46BB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00054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24B5F91-8F90-60F2-3794-47CA3317892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AD53933-77FB-6214-D668-198AD8E81D0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25EC4E-EF3F-441F-BE10-9E062C3559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8C66262-3614-759B-2441-7EB6EF5136A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53641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9AB183E-49B3-943B-7078-C5A0E79F0C2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218FCFA-51FA-5C2F-A3A7-23EE6F6B8EA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906F3CA-4FEF-752A-8F7C-BBFE251C4C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E803EF4-7B7B-BAF9-623F-91A92259C7D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563286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14B5856-123A-A1E2-DE00-E725E0E62D0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4BA811C-451E-76B1-7F43-E7E6E8992FE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366D0EC-102C-829F-35BC-4DAEC4FD6F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A5FA0A-EA89-2A66-6251-38409E4E957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720533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8E1396C-2B88-2F4A-1FCB-4F4B8EDF5B9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26F1E39-8215-F95D-2273-160B9122A41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DC4FD28-8A37-6272-20DD-126AB3172D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1B90655-0499-8808-AB99-7EE842DE30D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824773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598AB75-44A8-6409-FE97-A92C2E1A180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E133BE-1F8B-ACE2-A65B-FF2244E3DC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0CA10A2-F15B-F9A9-45EC-8E613A5CF8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8C380BF-7586-1D32-8103-E3BE9B1090E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841091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9172E9E-8457-D0FC-4D18-628F070E3A5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145FDC9-C255-3A81-8F70-1B377CCD46B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8672DEE-9EE7-852F-A5D1-3A8DFC46C8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1674D41-F01A-7330-52C8-1F294D008BF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308503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B397B6-AB57-4E25-D7D0-AFF00A86E86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DB8158E-0473-464B-C792-F403F133A46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FC2D60A-4BA6-4B71-479E-44522FAED0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0957D39-E59F-EDFC-B32A-36C2F926AB3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454815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DEBBBC9-1E53-D5E6-A861-BC93047E26D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EA41A37-5A9F-1E78-CD90-3F2603410D7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64E24C-CB2B-80CB-02BE-D040BF04D0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6705166-199B-9D8D-AD68-88C6810CFDE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697699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582DF1C-C516-0C8B-0183-3945F38B194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84B1AA2-AE73-EC5E-5F34-086F8A03874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10367A3-115E-561A-02D8-DA6C61A39A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3E7EDCB-5E96-3884-BA97-256FCCF5304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367715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0F7B73E-540B-94C5-C1FD-4F96B983CAA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DD68BE0-0370-1D31-2AAD-F8E956276BF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1615B58-376E-879A-664F-3670CE6E8B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5E6630B-5423-7425-AA1B-1A83A1F24F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8229116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B645D3A-8BF6-39CD-6603-ED93473EE0B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2EB0ED9-7FDB-6E1A-4CA0-6599133730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90E5CB1-4B36-1520-25D5-A27217EA06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B533F91-C22B-EE4B-46F0-231D4A1A0BF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231721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06F6C46-D1C5-BF28-BC43-A4825DF1547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C7C60D3-8BD8-F193-282D-564BA48CB4C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5254FAB-ECBE-2622-C59C-5AACB6AAAD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3A785BE-9A6D-F1E9-1009-132523ACF57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735701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729533C-BE3B-1EDD-AB4D-CE17427D07A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9E1B50-AACB-98F3-4D88-83AB51C1B68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95A8721-0680-4538-0115-52C57E65A3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8731A3-4E7C-A574-41CB-C7116FF28D0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478818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B9B637-59F2-3666-15F2-D8E40A7DDA9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F5187FF-9076-B653-78D0-1CD37D4419C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1867D26-5445-9EDF-B755-C8D2786C50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A15A98B-A858-CC5E-8AFD-E3C2A2C323D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663547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7C92EE4-8BBF-D1C3-4D64-D8F84E0E306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57104BD-1301-5EEE-E33E-31BF4398674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37E7756-3234-06AC-310C-ABE5A30AF0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35D23A8-382C-9337-DA1C-86EB53B9AAB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548950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BED853B-2C74-AC29-AB4B-843FE674E25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EF5EC5-8A06-4E79-CF65-6BBA15B9BB2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C090EBB-C70D-5414-0AB6-7C6749FD5D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F4C3612-C9AE-0222-D447-AC767295940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2373058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4CF60C2-391A-025E-2922-3B693611B6B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382131-AF14-81A1-64F8-FF175F024A7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0BC11BF-6D1D-305F-5B6A-F77FD4DB9F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E87E59B-AFA1-F7B8-87C2-43D031DDDAB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417132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3D3BA4-C3F1-574E-15DF-36016BBD8A9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2BDB5F7-8B55-C8BC-14B4-CFD86C0919B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6FFC465-AB37-FCBC-7F38-19FA716B5A8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695A1F2-909B-A1FE-6ECD-0026D2C2FE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6660695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00D1B4-5F2C-734C-B304-054BAA771AF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0CD33E7-94F4-219C-9329-25160490792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ABEE810-C3FB-BB81-E4CD-723ED03EDF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A516804-0F6E-8DB8-BA9C-9D472E57C82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841363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EAAF1D9-54E3-ECA1-F5F9-68D745079C9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173463C-395B-0749-B15E-AA06C4982C2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DD39156-D0F5-1099-E238-BF95B6C919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A737303-05D0-4BB5-863E-D395C0C970E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1819178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ED2ADB-94DD-2634-2DC4-326B01825FE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130ED2D-BD59-A0F5-1D8D-C9D6A533C2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043F66F-755D-C69A-13DB-0B0A24A697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8BAE1C2-117E-9171-2037-50EBC354C7F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457742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9F85134-DA20-58B1-BAF1-A7BCFEEF852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FD0158A-2533-E8BB-1F44-5DE1D1BCAAC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871059E-AF22-FAA4-FA5E-94EA450B0B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2673E4-78A1-0937-D1B6-DBAFBDF5A82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382296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3DC375A-D6BF-92EB-70B4-F72256CC5AF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58379F3-629E-EFA9-4D8D-A0FDE93CC00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31B9D19-A677-F492-EFFA-B3ACE6E374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FE9B756-955A-AB20-3B84-6254D42F855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8981207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DE9945E-F4A7-8F7E-B40E-57DFF9F7CA9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3299AE-10E6-6D2F-3C4D-074BD0DBBCC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A7B0151-61F9-CC02-9D5E-66A2355122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05A3616-C23B-178D-93C5-22F2A76A43F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23632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C887ABA-1F12-997B-12AF-2096ABF9A8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0A848A0-D97C-F102-7F7F-978A98690FF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BB23C8E-11F0-3786-8716-9696017860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DF5AB3-A266-D40D-98F0-BF852974D4D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4624524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6135DAA-58A5-3AE2-B3E1-5BBD5F9225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B875CC5-1CC7-0768-FEBE-879346B1CA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9F5B94C-DDB2-8E73-3FB4-C53B37F62D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EC1B202-B627-CC12-BE09-3AC561D450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278806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7F2EC44-3DEB-8B91-B2A3-AA010346644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CADAEA3-D432-526F-1F2D-E020981BD66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148FCC5-BF18-1D84-076D-785EC70A48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C97E937-51CE-270E-E1CB-68A51BC1A48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25384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03CB619-6E79-F824-56C4-EE576CAB366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1BED26-BC78-CBCB-2737-A1264361728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CDBF3A0-85F6-1835-F251-9CC5E522AD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17D0A67-55A4-E771-4CCD-CDDC9F715B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723120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47F844E-8771-41FC-EFAE-1B832E2422C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9611B8F-C3BB-666F-03E4-7A4EF55D9D6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344EB00-F044-F319-C5A1-CEAEABA7F5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0E9D3B3-0516-1269-8DE2-8FBA0AC9897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655456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81EE438-975B-1F61-ED08-E1A36C6894C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1D0E2C8-2A0F-5DD0-40D6-FB90FA470F2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76B75E2-EE35-A464-128A-3976C9B18D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80AD648-1D70-D7C6-1F53-2B4F292DDC7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0165990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781B4AF-935D-439B-E8E6-922AF262674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005298E-3BB9-47DC-21ED-B6A80290424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67ADFBC-004A-42C6-5CB2-7F394C556F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341237A-B484-2F19-7D51-F4E0479584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0777211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873F690-4E87-D033-F456-BE78A14B73C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B763062-0737-826C-1F13-FA4B9FDA9BC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C8C781C-A73D-AB5F-028E-CB0E6E8642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C96DDAD-743F-6B29-DFC3-51026D40371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880653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4AAB215-4269-FF61-889A-D1B90E56510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6349C21-85F0-3ED5-BE4C-31781924E02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DFCDB7F-06A3-855A-9FBC-B58FB8BCB3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D95D1E2-D6B5-4921-D211-4BCEE20DCAC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8184838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8B09198-393C-EA75-694F-5ADE33ACA5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C2A403-3477-39AF-E23F-FE133F4C541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DE6CAF5-16CF-1762-FAF6-E219FA3EF8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F1F2D80-85FE-E6FB-E0A3-C549611EE8E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2103530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E5033E3-6CCF-74D4-902C-55CA2C0B4BB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D7EE5A5-B947-2B9A-E2D1-6506BCFCD7D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0A9EE76-AC5C-4DF6-2286-108731735D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DBF2F95-757C-01EA-8723-097BE17AB01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479479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01CA40-5546-73F9-6102-2A0FB29E31E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3629863-CEEB-7159-D6EF-C4744F104D5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520B1D8-D871-D480-C7CE-938C993AC6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488FF35-5E02-BF3A-8648-B69188EA527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0367970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110A060-7C2F-75D2-A6EA-032E82CEF7E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9747D3F-FD54-784F-2C1A-655C4990EF5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83CC698-ABA5-0E2D-6503-32BEF6FDFE7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16FAB6A-A456-D5DF-4124-8217D5E75B4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596354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EB5329-455B-AFF1-2785-1E3ED993527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64C9FA7-9B75-305A-D9F5-7B4308142D9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6666A51-94F5-AA3F-439E-4339A2E60E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F365192-6EAC-4354-B76B-0E290CA8B1F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44036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2F40C5F-961F-7463-8B72-9C6BF63663A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452A62-E910-795F-144C-7E056011456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817FB25-84F0-CDFB-216C-CDBACB16BF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B89D647-0C79-39A0-D813-D25ED8D48D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2764291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904E850-D8A1-5CC8-946D-F1BA5779E71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57E1F2F-8805-A7CC-515E-930C13B711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C35FCEF-4A66-1E24-A0FC-84A4CBFCF0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440D5CA-2CDE-BB1E-C7E3-C732A01A11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857565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4ADBA54-9F24-1F22-68C4-CA0F7F974DF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11A8FA2-661D-C71C-FCDC-B1CEBA09F8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45F5024-71D9-67AB-7AD0-6D4EE20E23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B03BCAC-D057-5733-A562-BDEE06969E6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646455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E115F1-4CCF-65BB-4A6B-C1736FCC8BC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F9444A9-B3A5-FDC5-474A-664D9FB7C4F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EB4FAA0-DFFA-8BEB-2297-6A86677ABF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D012AB-B714-CB4B-E1EC-83DDDF91D18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5872949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EC8D6C7-DA02-5BC9-D6C1-C2A0F314EB6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6B99B6B-8808-81DD-7609-5257148ADE6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C699493-B458-E258-671D-6495DF4D39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C736131-B091-328B-DE28-FD17A2276A8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798270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1EC444A-30A2-3CF1-0E53-09F9F276679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A2FD1ED-3356-251A-F709-95C1814A52B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E58AC54-4645-DBD4-6608-B0EF157227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E283AB9-9793-09BA-BBF4-282B12B52A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465902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87E17C5-2F76-484C-F4E5-8D08E1DD8C1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57CDC71-C82A-2A6F-F829-02BD25147BC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1D9241D-C893-E738-DC59-0390C1DEA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51B745F-3FA9-3758-B60A-6DDD60CEAEB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026069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CDAA132-6354-398C-3FF3-F0239DA774F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1747F08-9458-E960-8C14-36755A06F39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FC32FB8-8AE9-840D-C4F0-3F029401FF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B5B0142-12FF-166B-E74A-2E0ED1BD3D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2844795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A4B3BC3-0A7C-CD79-B21C-AE5971C4B52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348EC43-B27E-C151-F4D0-7190F96791A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A03F9C8-FDBF-25FC-37B2-A995AF4A99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5BE0C37-FF80-F6F3-FD1C-71B1D0E785E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836522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0A481B-04B7-01C7-D86E-F0DAB34B070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D8314B9-FEED-E128-EA7F-70E02E5712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69D102A-E3FA-E6B0-8B6E-D882AE534D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33A2A32-A614-2F11-63D7-EFA35D2570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644731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6E3D1A6-E4B7-E3C7-0293-BE2FB6F417C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7D11CCC-F780-6180-A669-6940E0189CA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8816DDC-4C37-8C1C-98E2-49FA4977C8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D4AC8A-93E5-784B-2562-3CB7762F054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0505468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1BE0762-C7FF-49FB-FBFE-2D466BA76F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EB876F7-2037-6AD8-82EF-A677290806E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7B8EC86-68D2-DC8B-4793-F076F678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6132F28-0DC4-0349-4D3B-F5F472AE278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823023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56E8EF-2986-CFC7-866F-FA80C2AA92E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642EE8A-5892-D9B2-2E68-D9AF9219687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8660C5-8AE5-18D2-B1D9-4385740A21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D004AEB-C25B-ED28-041A-F792525C1A2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9694153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115338D-84A4-683F-DDD4-C3D25449298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64A38A7-6630-918F-ADF4-62EC2F88BD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E944E63-B867-2A89-FB21-5E3E6075E3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2651687-B326-7784-11E7-0EB55B257DC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890451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EC79193-2446-14DC-FF9A-3433DC0A73D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15C711D-88D2-C0DE-C14E-03A646E3320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845E87D-873B-2B36-4EB1-4152D0701B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1A678D3-52E9-708E-B623-3DC64DE3C53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07256100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EC0202-E6E4-40D3-1C3A-6C1D18C27DA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5CAEE80-0FB1-DD95-AE25-38C9E7B4F39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5E619F2-FA92-004C-913B-7B2FB0E86C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4A2EFF7-CA52-3F65-5C6E-FA2E171CF74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4098569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B36E745-816F-24E4-2BF9-12C46CD007F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5CC5059-1477-4B58-A8D1-E2A5B7219E0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2E56F1C-7B2E-5593-3E75-F24E2A3F35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A84C1E2-0C1C-58CE-780E-5E32E46FDB3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2151729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C88C1DA-37CD-B4F7-8385-96ABE604E7B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FDEDE30-CFC2-EBC2-5B3B-FCD00317635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0B72EA5-564B-9E97-A6B6-786897F87E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A027563-578E-42D8-0DFC-01653A493FF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4922117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077ECF-CA94-B483-2244-CC45DC76851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5E7B8C9-0F7F-8128-989F-275E647C84D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8C97DE0-2244-13B9-AD02-12E810D1F0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271B9AA-4591-C8C6-49C3-81C09C1E244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4999020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1579A91-72A7-8476-A3DB-AB8F05A5626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3A3C830-75EC-1E45-330D-03022401D8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68DF6DC-D106-A00C-6E95-F771AE43DE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F208879-8340-1D38-A659-C61FD335575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589084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B4FCD98-068D-C401-2840-40DEE000FC9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53E74C-1CA2-740C-1926-49607DEB3B4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847C95F-B471-000E-E86D-38AD491B30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B24652-9709-2182-F42E-5771054B461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36580176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F9D7D0F-A597-B49E-260A-3DD71E12085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54E493B-CE97-1E84-6149-5786E054515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154BE2-E733-93D1-EC14-BB01260EFD1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64A0F6D-FACA-3A61-B505-67326FD44B8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4332924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032D0E2-D7D0-5BCD-371E-B6CEA25E397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5CDF29-021C-B51D-68CB-2A8F5E3ADC3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757A3BA-816E-FCE3-E599-BAB2401DC5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6882D6A-5B66-8CEC-F599-D3443AA099B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2720300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03F35F-CF91-AE4C-863A-9F6822097B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2C33229-F910-D971-37FD-3954E69F51E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5EB4E8D-55B2-D3F8-E978-4C3F62B088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041E373-25C5-AA55-D878-96C495072B2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1342380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38ACC2F-2725-9715-4617-212EB0C51F9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3529301-25A7-8D42-1213-A85A24446DC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86FB4FE-C1D4-4757-8BB2-393C796958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3CE1827-039B-16FE-E7AC-6C1132E96DA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68478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B7047E3-0786-1314-A082-31071F2112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2FA3C21-9A0F-41DB-BE40-8B4AC6C1ADB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C6FB123-DE21-CC69-0AEE-FA9125C0BF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FF0E479-77CF-1180-C5B1-9D70B52AB55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4355448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EC38439-8832-DA96-8326-2A7E7F7D9BB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CF14C47-B3A1-3850-1E18-B3C8B92CB0E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EBD54AF-4E8B-3BD7-C63A-BD5676B4C4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CD83F7-A0FA-5F97-B55A-118A0D5E289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5704681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FC7F37B-6139-057B-F266-2C13EE0A9E8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6AED17B-D68B-17D2-08BE-C365DC7C603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FFAFB85-EE3A-D92F-43DA-C4EBE2A4D0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74E8137-7F00-973F-1784-9C5E4766A9A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5915812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48DB6DE-9AC5-87ED-E56B-18859BD02A1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35E82F5-678A-6FB9-AF4F-E9AF62ACADE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FD944C7-4E79-AAE0-4B62-FAB06C4351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2380F30-4D09-5854-3986-5422AC529AB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4639847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76D6E4-2683-B2E3-5672-928B76C8BCA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5E447F-6D0B-A9DE-F29A-3FCEC8736D6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A651046-90F3-CD9D-8F30-43924AE91D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9D9090-A93B-9770-F651-92D7BFA7127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578980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0"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3" y="1366463"/>
            <a:ext cx="3770617" cy="1137024"/>
          </a:xfrm>
        </p:spPr>
        <p:txBody>
          <a:bodyPr anchor="b">
            <a:normAutofit/>
          </a:bodyPr>
          <a:lstStyle>
            <a:lvl1pPr algn="l">
              <a:defRPr sz="3860"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3" y="2503487"/>
            <a:ext cx="3770617" cy="599309"/>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p:ph type="body" sz="quarter" idx="10" hasCustomPrompt="1"/>
          </p:nvPr>
        </p:nvSpPr>
        <p:spPr>
          <a:xfrm>
            <a:off x="5003800" y="39449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0" y="42398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0" y="469901"/>
            <a:ext cx="4565649" cy="2952750"/>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0" y="3422650"/>
            <a:ext cx="4565649" cy="3435349"/>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3777774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386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38"/>
            <a:ext cx="3867150" cy="447675"/>
          </a:xfrm>
        </p:spPr>
        <p:txBody>
          <a:bodyPr anchor="b">
            <a:noAutofit/>
          </a:bodyPr>
          <a:lstStyle>
            <a:lvl1pPr marL="0" indent="0" algn="l">
              <a:buNone/>
              <a:defRPr sz="1863">
                <a:solidFill>
                  <a:srgbClr val="3D3935"/>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597"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0"/>
            <a:ext cx="3770313" cy="328773"/>
          </a:xfrm>
        </p:spPr>
        <p:txBody>
          <a:bodyPr>
            <a:normAutofit/>
          </a:bodyPr>
          <a:lstStyle>
            <a:lvl1pPr marL="0" indent="0">
              <a:buNone/>
              <a:defRPr sz="1597"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4" y="2653276"/>
            <a:ext cx="1766125" cy="502731"/>
          </a:xfrm>
        </p:spPr>
        <p:txBody>
          <a:bodyPr/>
          <a:lstStyle>
            <a:lvl1pPr marL="0" indent="0">
              <a:buNone/>
              <a:defRPr sz="12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8"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17887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0" y="0"/>
            <a:ext cx="9144227"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8"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3860"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38"/>
            <a:ext cx="3867150" cy="447675"/>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3" name="Text Placeholder 7"/>
          <p:cNvSpPr>
            <a:spLocks noGrp="1"/>
          </p:cNvSpPr>
          <p:nvPr userDrawn="1">
            <p:ph type="body" sz="quarter" idx="10" hasCustomPrompt="1"/>
          </p:nvPr>
        </p:nvSpPr>
        <p:spPr>
          <a:xfrm>
            <a:off x="5038725" y="53165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5" y="56114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77701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6" name="Freeform 5"/>
          <p:cNvSpPr>
            <a:spLocks/>
          </p:cNvSpPr>
          <p:nvPr userDrawn="1"/>
        </p:nvSpPr>
        <p:spPr bwMode="auto">
          <a:xfrm>
            <a:off x="0" y="457201"/>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2"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0" y="1"/>
            <a:ext cx="9144464" cy="685800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5" y="1054317"/>
            <a:ext cx="4247805" cy="4749367"/>
          </a:xfrm>
        </p:spPr>
        <p:txBody>
          <a:bodyPr lIns="0" tIns="0" rIns="0" bIns="0" anchor="ctr" anchorCtr="0">
            <a:noAutofit/>
          </a:bodyPr>
          <a:lstStyle>
            <a:lvl1pPr>
              <a:defRPr sz="37857" spc="-150">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0" y="3246827"/>
            <a:ext cx="3092450" cy="357995"/>
          </a:xfrm>
        </p:spPr>
        <p:txBody>
          <a:bodyPr>
            <a:normAutofit/>
          </a:bodyPr>
          <a:lstStyle>
            <a:lvl1pPr marL="0" indent="0">
              <a:buNone/>
              <a:defRPr sz="1997">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8"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26311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689568"/>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1" y="1463720"/>
            <a:ext cx="8284029" cy="4272599"/>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1" y="-8733"/>
            <a:ext cx="4343399" cy="462758"/>
          </a:xfrm>
        </p:spPr>
        <p:txBody>
          <a:bodyPr anchor="ctr">
            <a:normAutofit/>
          </a:bodyPr>
          <a:lstStyle>
            <a:lvl1pPr marL="0" indent="0">
              <a:buNone/>
              <a:defRPr sz="1500"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1"/>
            <a:ext cx="4188129"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2718792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770735"/>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39935"/>
            <a:ext cx="6734398" cy="507831"/>
          </a:xfrm>
        </p:spPr>
        <p:txBody>
          <a:bodyPr anchor="ctr">
            <a:spAutoFit/>
          </a:bodyPr>
          <a:lstStyle>
            <a:lvl1pPr marL="0" indent="0">
              <a:lnSpc>
                <a:spcPct val="100000"/>
              </a:lnSpc>
              <a:buNone/>
              <a:defRPr sz="2700">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0"/>
            <a:ext cx="8284028" cy="359681"/>
          </a:xfrm>
        </p:spPr>
        <p:txBody>
          <a:bodyPr anchor="ctr">
            <a:noAutofit/>
          </a:bodyPr>
          <a:lstStyle>
            <a:lvl1pPr marL="0" indent="0">
              <a:lnSpc>
                <a:spcPct val="100000"/>
              </a:lnSpc>
              <a:buNone/>
              <a:defRPr sz="20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1" y="2640809"/>
            <a:ext cx="8284029" cy="3095510"/>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8" y="6510471"/>
            <a:ext cx="3872246"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208934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4"/>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0"/>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793049"/>
            <a:ext cx="6734398" cy="493981"/>
          </a:xfrm>
        </p:spPr>
        <p:txBody>
          <a:bodyPr>
            <a:sp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1"/>
            <a:ext cx="3887787"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289585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88"/>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29" y="1056579"/>
            <a:ext cx="6734398" cy="493981"/>
          </a:xfrm>
        </p:spPr>
        <p:txBody>
          <a:bodyPr>
            <a:norm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406363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8" y="371475"/>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5"/>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3" y="466725"/>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8"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8"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3" y="796925"/>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8"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3"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3"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3"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8"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8"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3" y="796925"/>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3"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3"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3"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8"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3" y="796925"/>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8"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3" y="371475"/>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5"/>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3" y="371475"/>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492378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07940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4" name="Rounded Rectangle 3"/>
          <p:cNvSpPr/>
          <p:nvPr/>
        </p:nvSpPr>
        <p:spPr bwMode="white">
          <a:xfrm>
            <a:off x="5410202"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5" name="Rounded Rectangle 4"/>
          <p:cNvSpPr/>
          <p:nvPr/>
        </p:nvSpPr>
        <p:spPr bwMode="white">
          <a:xfrm>
            <a:off x="7377113" y="4060826"/>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6" name="Rectangle 5"/>
          <p:cNvSpPr/>
          <p:nvPr/>
        </p:nvSpPr>
        <p:spPr>
          <a:xfrm>
            <a:off x="0" y="3962401"/>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59739" indent="0" algn="ctr">
              <a:buNone/>
              <a:defRPr sz="3200">
                <a:solidFill>
                  <a:schemeClr val="accent3">
                    <a:lumMod val="75000"/>
                  </a:schemeClr>
                </a:solidFill>
              </a:defRPr>
            </a:lvl1pPr>
            <a:lvl2pPr marL="426705" indent="0" algn="ctr">
              <a:buNone/>
            </a:lvl2pPr>
            <a:lvl3pPr marL="853410" indent="0" algn="ctr">
              <a:buNone/>
            </a:lvl3pPr>
            <a:lvl4pPr marL="1280114" indent="0" algn="ctr">
              <a:buNone/>
            </a:lvl4pPr>
            <a:lvl5pPr marL="1706819" indent="0" algn="ctr">
              <a:buNone/>
            </a:lvl5pPr>
            <a:lvl6pPr marL="2133524" indent="0" algn="ctr">
              <a:buNone/>
            </a:lvl6pPr>
            <a:lvl7pPr marL="2560229" indent="0" algn="ctr">
              <a:buNone/>
            </a:lvl7pPr>
            <a:lvl8pPr marL="2986933" indent="0" algn="ctr">
              <a:buNone/>
            </a:lvl8pPr>
            <a:lvl9pPr marL="3413638"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844724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8539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48599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9607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804008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59136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35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71007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639718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9794120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03892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0242315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89029107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375144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73238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01132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70485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991938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9427435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9880084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3156359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4359329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114978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0981093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5751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322574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5083454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760970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7054072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208742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3223317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588779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31674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0927098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664470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844434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07467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415202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6400732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1154673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237207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260611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15935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892215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533468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0567166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78432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603102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540580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7966486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864504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67901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068312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45236139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9686069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95209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67395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116149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58203913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972438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52299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856321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8286472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75721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11791584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5028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815255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27945878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9927288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93316914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FFFFFF"/>
        </a:solidFill>
        <a:effectLst/>
      </p:bgPr>
    </p:bg>
    <p:spTree>
      <p:nvGrpSpPr>
        <p:cNvPr id="1" name="Shape 38"/>
        <p:cNvGrpSpPr/>
        <p:nvPr/>
      </p:nvGrpSpPr>
      <p:grpSpPr>
        <a:xfrm>
          <a:off x="0" y="0"/>
          <a:ext cx="0" cy="0"/>
          <a:chOff x="0" y="0"/>
          <a:chExt cx="0" cy="0"/>
        </a:xfrm>
      </p:grpSpPr>
      <p:pic>
        <p:nvPicPr>
          <p:cNvPr id="39" name="Google Shape;39;p2"/>
          <p:cNvPicPr preferRelativeResize="0"/>
          <p:nvPr/>
        </p:nvPicPr>
        <p:blipFill>
          <a:blip r:embed="rId2">
            <a:alphaModFix/>
          </a:blip>
          <a:stretch>
            <a:fillRect/>
          </a:stretch>
        </p:blipFill>
        <p:spPr>
          <a:xfrm>
            <a:off x="1" y="-3"/>
            <a:ext cx="11328385" cy="6919433"/>
          </a:xfrm>
          <a:prstGeom prst="rect">
            <a:avLst/>
          </a:prstGeom>
          <a:noFill/>
          <a:ln>
            <a:noFill/>
          </a:ln>
        </p:spPr>
      </p:pic>
      <p:grpSp>
        <p:nvGrpSpPr>
          <p:cNvPr id="40" name="Google Shape;40;p2"/>
          <p:cNvGrpSpPr/>
          <p:nvPr/>
        </p:nvGrpSpPr>
        <p:grpSpPr>
          <a:xfrm>
            <a:off x="22" y="4740126"/>
            <a:ext cx="7314320" cy="1169029"/>
            <a:chOff x="-11" y="1378677"/>
            <a:chExt cx="7314320" cy="4116300"/>
          </a:xfrm>
        </p:grpSpPr>
        <p:sp>
          <p:nvSpPr>
            <p:cNvPr id="41" name="Google Shape;41;p2"/>
            <p:cNvSpPr/>
            <p:nvPr/>
          </p:nvSpPr>
          <p:spPr>
            <a:xfrm flipH="1">
              <a:off x="-11" y="1378677"/>
              <a:ext cx="187800" cy="41163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2" name="Google Shape;42;p2"/>
            <p:cNvSpPr/>
            <p:nvPr/>
          </p:nvSpPr>
          <p:spPr>
            <a:xfrm flipH="1">
              <a:off x="187809" y="1378677"/>
              <a:ext cx="7126500" cy="4116300"/>
            </a:xfrm>
            <a:prstGeom prst="rect">
              <a:avLst/>
            </a:prstGeom>
            <a:solidFill>
              <a:srgbClr val="434343"/>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3" name="Google Shape;43;p2"/>
          <p:cNvSpPr txBox="1">
            <a:spLocks noGrp="1"/>
          </p:cNvSpPr>
          <p:nvPr>
            <p:ph type="ctrTitle"/>
          </p:nvPr>
        </p:nvSpPr>
        <p:spPr>
          <a:xfrm>
            <a:off x="414375" y="4842443"/>
            <a:ext cx="6400800" cy="9644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3600"/>
              <a:buNone/>
              <a:defRPr sz="3600">
                <a:solidFill>
                  <a:srgbClr val="FFFFFF"/>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extLst>
      <p:ext uri="{BB962C8B-B14F-4D97-AF65-F5344CB8AC3E}">
        <p14:creationId xmlns:p14="http://schemas.microsoft.com/office/powerpoint/2010/main" val="35822015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7"/>
        <p:cNvGrpSpPr/>
        <p:nvPr/>
      </p:nvGrpSpPr>
      <p:grpSpPr>
        <a:xfrm>
          <a:off x="0" y="0"/>
          <a:ext cx="0" cy="0"/>
          <a:chOff x="0" y="0"/>
          <a:chExt cx="0" cy="0"/>
        </a:xfrm>
      </p:grpSpPr>
      <p:grpSp>
        <p:nvGrpSpPr>
          <p:cNvPr id="58" name="Google Shape;58;p5"/>
          <p:cNvGrpSpPr/>
          <p:nvPr/>
        </p:nvGrpSpPr>
        <p:grpSpPr>
          <a:xfrm>
            <a:off x="-13" y="-12188"/>
            <a:ext cx="8005728" cy="1612563"/>
            <a:chOff x="-13" y="-12188"/>
            <a:chExt cx="8005728" cy="1161900"/>
          </a:xfrm>
        </p:grpSpPr>
        <p:sp>
          <p:nvSpPr>
            <p:cNvPr id="59" name="Google Shape;59;p5"/>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60" name="Google Shape;60;p5"/>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61" name="Google Shape;61;p5"/>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Tree>
    <p:extLst>
      <p:ext uri="{BB962C8B-B14F-4D97-AF65-F5344CB8AC3E}">
        <p14:creationId xmlns:p14="http://schemas.microsoft.com/office/powerpoint/2010/main" val="401939164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grpSp>
        <p:nvGrpSpPr>
          <p:cNvPr id="45" name="Google Shape;45;p3"/>
          <p:cNvGrpSpPr/>
          <p:nvPr/>
        </p:nvGrpSpPr>
        <p:grpSpPr>
          <a:xfrm>
            <a:off x="-13" y="-12188"/>
            <a:ext cx="8005728" cy="1612563"/>
            <a:chOff x="-13" y="-12188"/>
            <a:chExt cx="8005728" cy="1161900"/>
          </a:xfrm>
        </p:grpSpPr>
        <p:sp>
          <p:nvSpPr>
            <p:cNvPr id="46" name="Google Shape;46;p3"/>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7" name="Google Shape;47;p3"/>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8" name="Google Shape;48;p3"/>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
        <p:nvSpPr>
          <p:cNvPr id="49" name="Google Shape;49;p3"/>
          <p:cNvSpPr txBox="1">
            <a:spLocks noGrp="1"/>
          </p:cNvSpPr>
          <p:nvPr>
            <p:ph type="body" idx="1"/>
          </p:nvPr>
        </p:nvSpPr>
        <p:spPr>
          <a:xfrm>
            <a:off x="457200" y="1704688"/>
            <a:ext cx="8229600" cy="4840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0"/>
              </a:spcBef>
              <a:spcAft>
                <a:spcPts val="0"/>
              </a:spcAft>
              <a:buSzPts val="1800"/>
              <a:buChar char="○"/>
              <a:defRPr/>
            </a:lvl2pPr>
            <a:lvl3pPr marL="1371600" lvl="2" indent="-342900">
              <a:spcBef>
                <a:spcPts val="0"/>
              </a:spcBef>
              <a:spcAft>
                <a:spcPts val="0"/>
              </a:spcAft>
              <a:buSzPts val="18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Tree>
    <p:extLst>
      <p:ext uri="{BB962C8B-B14F-4D97-AF65-F5344CB8AC3E}">
        <p14:creationId xmlns:p14="http://schemas.microsoft.com/office/powerpoint/2010/main" val="26621810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3/3/2026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84112460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3/3/2026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03556647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3/3/2026</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9380312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3/3/2026</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6872711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3/3/2026</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7668356"/>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theme" Target="../theme/theme1.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image" Target="../media/image1.emf"/><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6.xml"/><Relationship Id="rId7" Type="http://schemas.openxmlformats.org/officeDocument/2006/relationships/image" Target="../media/image9.png"/><Relationship Id="rId2" Type="http://schemas.openxmlformats.org/officeDocument/2006/relationships/slideLayout" Target="../slideLayouts/slideLayout85.xml"/><Relationship Id="rId1" Type="http://schemas.openxmlformats.org/officeDocument/2006/relationships/slideLayout" Target="../slideLayouts/slideLayout84.xml"/><Relationship Id="rId6" Type="http://schemas.openxmlformats.org/officeDocument/2006/relationships/theme" Target="../theme/theme2.xml"/><Relationship Id="rId5" Type="http://schemas.openxmlformats.org/officeDocument/2006/relationships/slideLayout" Target="../slideLayouts/slideLayout88.xml"/><Relationship Id="rId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5"/>
            </p:custDataLst>
            <p:extLst>
              <p:ext uri="{D42A27DB-BD31-4B8C-83A1-F6EECF244321}">
                <p14:modId xmlns:p14="http://schemas.microsoft.com/office/powerpoint/2010/main" val="34756964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86" imgW="347" imgH="348" progId="TCLayout.ActiveDocument.1">
                  <p:embed/>
                </p:oleObj>
              </mc:Choice>
              <mc:Fallback>
                <p:oleObj name="think-cell Slide" r:id="rId86" imgW="347" imgH="348" progId="TCLayout.ActiveDocument.1">
                  <p:embed/>
                  <p:pic>
                    <p:nvPicPr>
                      <p:cNvPr id="4" name="Object 3" hidden="1"/>
                      <p:cNvPicPr/>
                      <p:nvPr/>
                    </p:nvPicPr>
                    <p:blipFill>
                      <a:blip r:embed="rId87"/>
                      <a:stretch>
                        <a:fillRect/>
                      </a:stretch>
                    </p:blipFill>
                    <p:spPr>
                      <a:xfrm>
                        <a:off x="1588" y="1588"/>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8"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980067865"/>
      </p:ext>
    </p:extLst>
  </p:cSld>
  <p:clrMap bg1="lt1" tx1="dk1" bg2="lt2" tx2="dk2" accent1="accent1" accent2="accent2" accent3="accent3" accent4="accent4" accent5="accent5" accent6="accent6" hlink="hlink" folHlink="folHlink"/>
  <p:sldLayoutIdLst>
    <p:sldLayoutId id="2147483661" r:id="rId1"/>
    <p:sldLayoutId id="2147483691" r:id="rId2"/>
    <p:sldLayoutId id="2147483663" r:id="rId3"/>
    <p:sldLayoutId id="2147483664" r:id="rId4"/>
    <p:sldLayoutId id="2147483665" r:id="rId5"/>
    <p:sldLayoutId id="2147483682" r:id="rId6"/>
    <p:sldLayoutId id="2147483679" r:id="rId7"/>
    <p:sldLayoutId id="2147483686" r:id="rId8"/>
    <p:sldLayoutId id="2147483689" r:id="rId9"/>
    <p:sldLayoutId id="2147483692" r:id="rId10"/>
    <p:sldLayoutId id="2147483693"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711" r:id="rId28"/>
    <p:sldLayoutId id="2147483712" r:id="rId29"/>
    <p:sldLayoutId id="2147483713" r:id="rId30"/>
    <p:sldLayoutId id="2147483714" r:id="rId31"/>
    <p:sldLayoutId id="2147483715" r:id="rId32"/>
    <p:sldLayoutId id="2147483716" r:id="rId33"/>
    <p:sldLayoutId id="2147483717" r:id="rId34"/>
    <p:sldLayoutId id="2147483718" r:id="rId35"/>
    <p:sldLayoutId id="2147483719" r:id="rId36"/>
    <p:sldLayoutId id="2147483720" r:id="rId37"/>
    <p:sldLayoutId id="2147483721" r:id="rId38"/>
    <p:sldLayoutId id="2147483722" r:id="rId39"/>
    <p:sldLayoutId id="2147483723" r:id="rId40"/>
    <p:sldLayoutId id="2147483724" r:id="rId41"/>
    <p:sldLayoutId id="2147483726" r:id="rId42"/>
    <p:sldLayoutId id="2147483727" r:id="rId43"/>
    <p:sldLayoutId id="2147483728" r:id="rId44"/>
    <p:sldLayoutId id="2147483729" r:id="rId45"/>
    <p:sldLayoutId id="2147483730" r:id="rId46"/>
    <p:sldLayoutId id="2147483731" r:id="rId47"/>
    <p:sldLayoutId id="2147483732" r:id="rId48"/>
    <p:sldLayoutId id="2147483733" r:id="rId49"/>
    <p:sldLayoutId id="2147483734" r:id="rId50"/>
    <p:sldLayoutId id="2147483735" r:id="rId51"/>
    <p:sldLayoutId id="2147483736" r:id="rId52"/>
    <p:sldLayoutId id="2147483737" r:id="rId53"/>
    <p:sldLayoutId id="2147483738" r:id="rId54"/>
    <p:sldLayoutId id="2147483739" r:id="rId55"/>
    <p:sldLayoutId id="2147483740" r:id="rId56"/>
    <p:sldLayoutId id="2147483741" r:id="rId57"/>
    <p:sldLayoutId id="2147483742" r:id="rId58"/>
    <p:sldLayoutId id="2147483743" r:id="rId59"/>
    <p:sldLayoutId id="2147483744" r:id="rId60"/>
    <p:sldLayoutId id="2147483745" r:id="rId61"/>
    <p:sldLayoutId id="2147483746" r:id="rId62"/>
    <p:sldLayoutId id="2147483747" r:id="rId63"/>
    <p:sldLayoutId id="2147483748" r:id="rId64"/>
    <p:sldLayoutId id="2147483749" r:id="rId65"/>
    <p:sldLayoutId id="2147483750" r:id="rId66"/>
    <p:sldLayoutId id="2147483751" r:id="rId67"/>
    <p:sldLayoutId id="2147483752" r:id="rId68"/>
    <p:sldLayoutId id="2147483753" r:id="rId69"/>
    <p:sldLayoutId id="2147483754" r:id="rId70"/>
    <p:sldLayoutId id="2147483755" r:id="rId71"/>
    <p:sldLayoutId id="2147483756" r:id="rId72"/>
    <p:sldLayoutId id="2147483757" r:id="rId73"/>
    <p:sldLayoutId id="2147483758" r:id="rId74"/>
    <p:sldLayoutId id="2147483759" r:id="rId75"/>
    <p:sldLayoutId id="2147483760" r:id="rId76"/>
    <p:sldLayoutId id="2147483761" r:id="rId77"/>
    <p:sldLayoutId id="2147483762" r:id="rId78"/>
    <p:sldLayoutId id="2147483763" r:id="rId79"/>
    <p:sldLayoutId id="2147483764" r:id="rId80"/>
    <p:sldLayoutId id="2147483766" r:id="rId81"/>
    <p:sldLayoutId id="2147483767" r:id="rId82"/>
    <p:sldLayoutId id="2147483768" r:id="rId83"/>
  </p:sldLayoutIdLst>
  <p:hf hdr="0" dt="0"/>
  <p:txStyles>
    <p:title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3/3/2026</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54260899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7.xml"/></Relationships>
</file>

<file path=ppt/slides/_rels/slide8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7.xml"/></Relationships>
</file>

<file path=ppt/slides/_rels/slide8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github.com/FarshidKeivanian/Sessions_DATA-AND-INFORMATION-MANAGEMENT" TargetMode="External"/><Relationship Id="rId1" Type="http://schemas.openxmlformats.org/officeDocument/2006/relationships/slideLayout" Target="../slideLayouts/slideLayout87.xml"/></Relationships>
</file>

<file path=ppt/slides/_rels/slide9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5.xml"/></Relationships>
</file>

<file path=ppt/slides/_rels/slide91.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0.jpeg"/><Relationship Id="rId1" Type="http://schemas.openxmlformats.org/officeDocument/2006/relationships/slideLayout" Target="../slideLayouts/slideLayout85.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198630" y="750523"/>
            <a:ext cx="5119302" cy="2320693"/>
          </a:xfrm>
        </p:spPr>
        <p:txBody>
          <a:bodyPr/>
          <a:lstStyle/>
          <a:p>
            <a:r>
              <a:rPr lang="en-US" sz="3400" dirty="0"/>
              <a:t>Database Concepts</a:t>
            </a:r>
            <a:endParaRPr lang="en-AU" sz="3400" dirty="0"/>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776288" y="3893642"/>
            <a:ext cx="3867150" cy="447675"/>
          </a:xfrm>
        </p:spPr>
        <p:txBody>
          <a:bodyPr/>
          <a:lstStyle/>
          <a:p>
            <a:r>
              <a:rPr lang="en-AU" sz="2000" b="1" dirty="0"/>
              <a:t>Week 1</a:t>
            </a:r>
          </a:p>
        </p:txBody>
      </p:sp>
      <p:sp>
        <p:nvSpPr>
          <p:cNvPr id="4" name="Text Placeholder 3">
            <a:extLst>
              <a:ext uri="{FF2B5EF4-FFF2-40B4-BE49-F238E27FC236}">
                <a16:creationId xmlns:a16="http://schemas.microsoft.com/office/drawing/2014/main" id="{08DAEE5F-D393-479E-8BB0-2D5C0579454F}"/>
              </a:ext>
            </a:extLst>
          </p:cNvPr>
          <p:cNvSpPr>
            <a:spLocks noGrp="1"/>
          </p:cNvSpPr>
          <p:nvPr>
            <p:ph type="body" sz="quarter" idx="10"/>
          </p:nvPr>
        </p:nvSpPr>
        <p:spPr/>
        <p:txBody>
          <a:bodyPr>
            <a:normAutofit fontScale="92500" lnSpcReduction="20000"/>
          </a:bodyPr>
          <a:lstStyle/>
          <a:p>
            <a:r>
              <a:rPr lang="en-AU" dirty="0"/>
              <a:t>Dr. Farshid Keivanian</a:t>
            </a:r>
          </a:p>
        </p:txBody>
      </p:sp>
    </p:spTree>
    <p:extLst>
      <p:ext uri="{BB962C8B-B14F-4D97-AF65-F5344CB8AC3E}">
        <p14:creationId xmlns:p14="http://schemas.microsoft.com/office/powerpoint/2010/main" val="5816889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6A77CA0-CFDC-4710-905A-A8D8E8AC01D5}"/>
              </a:ext>
            </a:extLst>
          </p:cNvPr>
          <p:cNvSpPr>
            <a:spLocks noGrp="1"/>
          </p:cNvSpPr>
          <p:nvPr>
            <p:ph type="body" sz="quarter" idx="16"/>
          </p:nvPr>
        </p:nvSpPr>
        <p:spPr>
          <a:xfrm>
            <a:off x="0" y="0"/>
            <a:ext cx="4343399" cy="462758"/>
          </a:xfrm>
        </p:spPr>
        <p:txBody>
          <a:bodyPr>
            <a:noAutofit/>
          </a:bodyPr>
          <a:lstStyle/>
          <a:p>
            <a:r>
              <a:rPr lang="en-AU" sz="3200" dirty="0">
                <a:latin typeface="Calibri" panose="020F0502020204030204" pitchFamily="34" charset="0"/>
                <a:cs typeface="Calibri" panose="020F0502020204030204" pitchFamily="34" charset="0"/>
              </a:rPr>
              <a:t>Week 1 overview</a:t>
            </a:r>
          </a:p>
        </p:txBody>
      </p:sp>
      <p:sp>
        <p:nvSpPr>
          <p:cNvPr id="5" name="Slide Number Placeholder 4">
            <a:extLst>
              <a:ext uri="{FF2B5EF4-FFF2-40B4-BE49-F238E27FC236}">
                <a16:creationId xmlns:a16="http://schemas.microsoft.com/office/drawing/2014/main" id="{3548241F-58BF-4D41-99BA-4E9BE3037FFA}"/>
              </a:ext>
            </a:extLst>
          </p:cNvPr>
          <p:cNvSpPr>
            <a:spLocks noGrp="1"/>
          </p:cNvSpPr>
          <p:nvPr>
            <p:ph type="sldNum" sz="quarter" idx="4"/>
          </p:nvPr>
        </p:nvSpPr>
        <p:spPr/>
        <p:txBody>
          <a:bodyPr/>
          <a:lstStyle/>
          <a:p>
            <a:fld id="{16A89BA3-132D-40E1-AAB4-CDCD0A14C216}" type="slidenum">
              <a:rPr lang="en-AU" smtClean="0"/>
              <a:pPr/>
              <a:t>2</a:t>
            </a:fld>
            <a:r>
              <a:rPr lang="en-AU"/>
              <a:t>  |</a:t>
            </a:r>
            <a:endParaRPr lang="en-AU" dirty="0"/>
          </a:p>
        </p:txBody>
      </p:sp>
      <p:sp>
        <p:nvSpPr>
          <p:cNvPr id="6" name="Footer Placeholder 5">
            <a:extLst>
              <a:ext uri="{FF2B5EF4-FFF2-40B4-BE49-F238E27FC236}">
                <a16:creationId xmlns:a16="http://schemas.microsoft.com/office/drawing/2014/main" id="{027418FF-2021-4F13-BC58-508F61D2C9F3}"/>
              </a:ext>
            </a:extLst>
          </p:cNvPr>
          <p:cNvSpPr>
            <a:spLocks noGrp="1"/>
          </p:cNvSpPr>
          <p:nvPr>
            <p:ph type="ftr" sz="quarter" idx="3"/>
          </p:nvPr>
        </p:nvSpPr>
        <p:spPr/>
        <p:txBody>
          <a:bodyPr/>
          <a:lstStyle/>
          <a:p>
            <a:r>
              <a:rPr lang="en-US" dirty="0"/>
              <a:t>Faculty of Business and Law | Peter Faber Business School</a:t>
            </a:r>
          </a:p>
        </p:txBody>
      </p:sp>
      <p:sp>
        <p:nvSpPr>
          <p:cNvPr id="13" name="TextBox 12">
            <a:extLst>
              <a:ext uri="{FF2B5EF4-FFF2-40B4-BE49-F238E27FC236}">
                <a16:creationId xmlns:a16="http://schemas.microsoft.com/office/drawing/2014/main" id="{A8DDF53D-16BA-C4C9-C92B-E8DB979CD7C9}"/>
              </a:ext>
            </a:extLst>
          </p:cNvPr>
          <p:cNvSpPr txBox="1"/>
          <p:nvPr/>
        </p:nvSpPr>
        <p:spPr>
          <a:xfrm>
            <a:off x="106878" y="667975"/>
            <a:ext cx="8728362" cy="5803512"/>
          </a:xfrm>
          <a:prstGeom prst="rect">
            <a:avLst/>
          </a:prstGeom>
          <a:noFill/>
        </p:spPr>
        <p:txBody>
          <a:bodyPr wrap="square">
            <a:spAutoFit/>
          </a:bodyPr>
          <a:lstStyle/>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this module is about</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Data?</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Information?</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Why Data is important?</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Basic Concepts</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How is Data stored</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a Database?</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Why Databases Are Better Than File Systems</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Key Database Concepts – Tables, Records, Fields, Keys</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Database Management System?</a:t>
            </a:r>
          </a:p>
        </p:txBody>
      </p:sp>
    </p:spTree>
    <p:extLst>
      <p:ext uri="{BB962C8B-B14F-4D97-AF65-F5344CB8AC3E}">
        <p14:creationId xmlns:p14="http://schemas.microsoft.com/office/powerpoint/2010/main" val="21480149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AE5D-4423-63B9-C02C-C86C86269F59}"/>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1C5DF59-5251-F5FA-56E7-BB485593A17F}"/>
              </a:ext>
            </a:extLst>
          </p:cNvPr>
          <p:cNvSpPr>
            <a:spLocks noGrp="1"/>
          </p:cNvSpPr>
          <p:nvPr>
            <p:ph type="body" sz="quarter" idx="16"/>
          </p:nvPr>
        </p:nvSpPr>
        <p:spPr>
          <a:xfrm>
            <a:off x="0" y="0"/>
            <a:ext cx="4343399" cy="462758"/>
          </a:xfrm>
        </p:spPr>
        <p:txBody>
          <a:bodyPr>
            <a:noAutofit/>
          </a:bodyPr>
          <a:lstStyle/>
          <a:p>
            <a:r>
              <a:rPr lang="en-AU" sz="3200" dirty="0">
                <a:latin typeface="Calibri" panose="020F0502020204030204" pitchFamily="34" charset="0"/>
                <a:cs typeface="Calibri" panose="020F0502020204030204" pitchFamily="34" charset="0"/>
              </a:rPr>
              <a:t>Week 1 overview</a:t>
            </a:r>
          </a:p>
        </p:txBody>
      </p:sp>
      <p:sp>
        <p:nvSpPr>
          <p:cNvPr id="5" name="Slide Number Placeholder 4">
            <a:extLst>
              <a:ext uri="{FF2B5EF4-FFF2-40B4-BE49-F238E27FC236}">
                <a16:creationId xmlns:a16="http://schemas.microsoft.com/office/drawing/2014/main" id="{8BB65AFF-E89F-B02C-CFAB-7DC0F61DFDDB}"/>
              </a:ext>
            </a:extLst>
          </p:cNvPr>
          <p:cNvSpPr>
            <a:spLocks noGrp="1"/>
          </p:cNvSpPr>
          <p:nvPr>
            <p:ph type="sldNum" sz="quarter" idx="4"/>
          </p:nvPr>
        </p:nvSpPr>
        <p:spPr/>
        <p:txBody>
          <a:bodyPr/>
          <a:lstStyle/>
          <a:p>
            <a:fld id="{16A89BA3-132D-40E1-AAB4-CDCD0A14C216}" type="slidenum">
              <a:rPr lang="en-AU" smtClean="0"/>
              <a:pPr/>
              <a:t>3</a:t>
            </a:fld>
            <a:r>
              <a:rPr lang="en-AU"/>
              <a:t>  |</a:t>
            </a:r>
            <a:endParaRPr lang="en-AU" dirty="0"/>
          </a:p>
        </p:txBody>
      </p:sp>
      <p:sp>
        <p:nvSpPr>
          <p:cNvPr id="6" name="Footer Placeholder 5">
            <a:extLst>
              <a:ext uri="{FF2B5EF4-FFF2-40B4-BE49-F238E27FC236}">
                <a16:creationId xmlns:a16="http://schemas.microsoft.com/office/drawing/2014/main" id="{2B77280A-026B-917D-45FE-73B7E040C776}"/>
              </a:ext>
            </a:extLst>
          </p:cNvPr>
          <p:cNvSpPr>
            <a:spLocks noGrp="1"/>
          </p:cNvSpPr>
          <p:nvPr>
            <p:ph type="ftr" sz="quarter" idx="3"/>
          </p:nvPr>
        </p:nvSpPr>
        <p:spPr/>
        <p:txBody>
          <a:bodyPr/>
          <a:lstStyle/>
          <a:p>
            <a:r>
              <a:rPr lang="en-US" dirty="0"/>
              <a:t>Faculty of Business and Law | Peter Faber Business School</a:t>
            </a:r>
          </a:p>
        </p:txBody>
      </p:sp>
      <p:sp>
        <p:nvSpPr>
          <p:cNvPr id="13" name="TextBox 12">
            <a:extLst>
              <a:ext uri="{FF2B5EF4-FFF2-40B4-BE49-F238E27FC236}">
                <a16:creationId xmlns:a16="http://schemas.microsoft.com/office/drawing/2014/main" id="{604B6612-4BF5-E695-4FB6-D0F5AA8F8513}"/>
              </a:ext>
            </a:extLst>
          </p:cNvPr>
          <p:cNvSpPr txBox="1"/>
          <p:nvPr/>
        </p:nvSpPr>
        <p:spPr>
          <a:xfrm>
            <a:off x="106878" y="667975"/>
            <a:ext cx="8728362" cy="5803512"/>
          </a:xfrm>
          <a:prstGeom prst="rect">
            <a:avLst/>
          </a:prstGeom>
          <a:noFill/>
        </p:spPr>
        <p:txBody>
          <a:bodyPr wrap="square">
            <a:spAutoFit/>
          </a:bodyPr>
          <a:lstStyle/>
          <a:p>
            <a:pPr marL="457200" lvl="0" indent="-4572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Why Use a Database?</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Real-World Examples</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Common Database Platforms Used in Australia</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Career Paths in Data and Database Management</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Key Takeaways</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Discussion Questions</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Relational Model Overview</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Wrap-Up</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Knowledge Check and Tutorial Activity</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Week 1 Knowledge Check</a:t>
            </a:r>
          </a:p>
        </p:txBody>
      </p:sp>
    </p:spTree>
    <p:extLst>
      <p:ext uri="{BB962C8B-B14F-4D97-AF65-F5344CB8AC3E}">
        <p14:creationId xmlns:p14="http://schemas.microsoft.com/office/powerpoint/2010/main" val="2785512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21D29-CDF6-6AEF-1E2F-318D78B3CCAE}"/>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A67C5A36-3C29-755F-692A-C09E5E0293DB}"/>
              </a:ext>
            </a:extLst>
          </p:cNvPr>
          <p:cNvSpPr>
            <a:spLocks noGrp="1"/>
          </p:cNvSpPr>
          <p:nvPr>
            <p:ph type="body" sz="quarter" idx="16"/>
          </p:nvPr>
        </p:nvSpPr>
        <p:spPr>
          <a:xfrm>
            <a:off x="0" y="0"/>
            <a:ext cx="4343399" cy="462758"/>
          </a:xfrm>
        </p:spPr>
        <p:txBody>
          <a:bodyPr>
            <a:noAutofit/>
          </a:bodyPr>
          <a:lstStyle/>
          <a:p>
            <a:r>
              <a:rPr lang="en-AU" sz="3200" dirty="0">
                <a:latin typeface="Calibri" panose="020F0502020204030204" pitchFamily="34" charset="0"/>
                <a:cs typeface="Calibri" panose="020F0502020204030204" pitchFamily="34" charset="0"/>
              </a:rPr>
              <a:t>Week 1 overview</a:t>
            </a:r>
          </a:p>
        </p:txBody>
      </p:sp>
      <p:sp>
        <p:nvSpPr>
          <p:cNvPr id="5" name="Slide Number Placeholder 4">
            <a:extLst>
              <a:ext uri="{FF2B5EF4-FFF2-40B4-BE49-F238E27FC236}">
                <a16:creationId xmlns:a16="http://schemas.microsoft.com/office/drawing/2014/main" id="{AA1E7C68-E194-A391-CCAB-D3F621FF404F}"/>
              </a:ext>
            </a:extLst>
          </p:cNvPr>
          <p:cNvSpPr>
            <a:spLocks noGrp="1"/>
          </p:cNvSpPr>
          <p:nvPr>
            <p:ph type="sldNum" sz="quarter" idx="4"/>
          </p:nvPr>
        </p:nvSpPr>
        <p:spPr/>
        <p:txBody>
          <a:bodyPr/>
          <a:lstStyle/>
          <a:p>
            <a:fld id="{16A89BA3-132D-40E1-AAB4-CDCD0A14C216}" type="slidenum">
              <a:rPr lang="en-AU" smtClean="0"/>
              <a:pPr/>
              <a:t>4</a:t>
            </a:fld>
            <a:r>
              <a:rPr lang="en-AU"/>
              <a:t>  |</a:t>
            </a:r>
            <a:endParaRPr lang="en-AU" dirty="0"/>
          </a:p>
        </p:txBody>
      </p:sp>
      <p:sp>
        <p:nvSpPr>
          <p:cNvPr id="6" name="Footer Placeholder 5">
            <a:extLst>
              <a:ext uri="{FF2B5EF4-FFF2-40B4-BE49-F238E27FC236}">
                <a16:creationId xmlns:a16="http://schemas.microsoft.com/office/drawing/2014/main" id="{0EB3A248-9D5C-B042-5DD6-C9D7847B195B}"/>
              </a:ext>
            </a:extLst>
          </p:cNvPr>
          <p:cNvSpPr>
            <a:spLocks noGrp="1"/>
          </p:cNvSpPr>
          <p:nvPr>
            <p:ph type="ftr" sz="quarter" idx="3"/>
          </p:nvPr>
        </p:nvSpPr>
        <p:spPr/>
        <p:txBody>
          <a:bodyPr/>
          <a:lstStyle/>
          <a:p>
            <a:r>
              <a:rPr lang="en-US" dirty="0"/>
              <a:t>Faculty of Business and Law | Peter Faber Business School</a:t>
            </a:r>
          </a:p>
        </p:txBody>
      </p:sp>
      <p:sp>
        <p:nvSpPr>
          <p:cNvPr id="13" name="TextBox 12">
            <a:extLst>
              <a:ext uri="{FF2B5EF4-FFF2-40B4-BE49-F238E27FC236}">
                <a16:creationId xmlns:a16="http://schemas.microsoft.com/office/drawing/2014/main" id="{6C9DC639-6EEC-9D4C-BCE1-698A720A7A3A}"/>
              </a:ext>
            </a:extLst>
          </p:cNvPr>
          <p:cNvSpPr txBox="1"/>
          <p:nvPr/>
        </p:nvSpPr>
        <p:spPr>
          <a:xfrm>
            <a:off x="106878" y="667975"/>
            <a:ext cx="8728362" cy="1763944"/>
          </a:xfrm>
          <a:prstGeom prst="rect">
            <a:avLst/>
          </a:prstGeom>
          <a:noFill/>
        </p:spPr>
        <p:txBody>
          <a:bodyPr wrap="square">
            <a:spAutoFit/>
          </a:bodyPr>
          <a:lstStyle/>
          <a:p>
            <a:pPr marL="457200" lvl="0" indent="-457200">
              <a:lnSpc>
                <a:spcPct val="150000"/>
              </a:lnSpc>
              <a:buFont typeface="+mj-lt"/>
              <a:buAutoNum type="arabicPeriod" startAt="21"/>
            </a:pPr>
            <a:r>
              <a:rPr lang="en-US" sz="2500" kern="100" dirty="0">
                <a:latin typeface="Calibri" panose="020F0502020204030204" pitchFamily="34" charset="0"/>
                <a:ea typeface="Aptos" panose="020B0004020202020204" pitchFamily="34" charset="0"/>
                <a:cs typeface="Calibri" panose="020F0502020204030204" pitchFamily="34" charset="0"/>
              </a:rPr>
              <a:t>WEEK 1 TUTORIAL GUIDELINE</a:t>
            </a:r>
          </a:p>
          <a:p>
            <a:pPr marL="342900" lvl="0" indent="-342900">
              <a:lnSpc>
                <a:spcPct val="150000"/>
              </a:lnSpc>
              <a:buFont typeface="+mj-lt"/>
              <a:buAutoNum type="arabicPeriod" startAt="21"/>
            </a:pPr>
            <a:r>
              <a:rPr lang="en-US" sz="2500" kern="100" dirty="0">
                <a:latin typeface="Calibri" panose="020F0502020204030204" pitchFamily="34" charset="0"/>
                <a:ea typeface="Aptos" panose="020B0004020202020204" pitchFamily="34" charset="0"/>
                <a:cs typeface="Calibri" panose="020F0502020204030204" pitchFamily="34" charset="0"/>
              </a:rPr>
              <a:t>Submission of Tutorials &amp; Assessments</a:t>
            </a:r>
          </a:p>
          <a:p>
            <a:pPr marL="342900" lvl="0" indent="-342900">
              <a:lnSpc>
                <a:spcPct val="150000"/>
              </a:lnSpc>
              <a:buFont typeface="+mj-lt"/>
              <a:buAutoNum type="arabicPeriod" startAt="21"/>
            </a:pPr>
            <a:r>
              <a:rPr lang="en-US" sz="2500" kern="100" dirty="0">
                <a:latin typeface="Calibri" panose="020F0502020204030204" pitchFamily="34" charset="0"/>
                <a:ea typeface="Aptos" panose="020B0004020202020204" pitchFamily="34" charset="0"/>
                <a:cs typeface="Calibri" panose="020F0502020204030204" pitchFamily="34" charset="0"/>
              </a:rPr>
              <a:t>Resources</a:t>
            </a:r>
          </a:p>
        </p:txBody>
      </p:sp>
    </p:spTree>
    <p:extLst>
      <p:ext uri="{BB962C8B-B14F-4D97-AF65-F5344CB8AC3E}">
        <p14:creationId xmlns:p14="http://schemas.microsoft.com/office/powerpoint/2010/main" val="38098011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3" name="Footer Placeholder 2">
            <a:extLst>
              <a:ext uri="{FF2B5EF4-FFF2-40B4-BE49-F238E27FC236}">
                <a16:creationId xmlns:a16="http://schemas.microsoft.com/office/drawing/2014/main" id="{F5646AD0-6036-4879-B5D7-F60847E332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5D78C77-E952-41E0-8B40-BAC1771F8431}"/>
              </a:ext>
            </a:extLst>
          </p:cNvPr>
          <p:cNvSpPr>
            <a:spLocks noGrp="1"/>
          </p:cNvSpPr>
          <p:nvPr>
            <p:ph type="sldNum" sz="quarter" idx="4"/>
          </p:nvPr>
        </p:nvSpPr>
        <p:spPr/>
        <p:txBody>
          <a:bodyPr/>
          <a:lstStyle/>
          <a:p>
            <a:fld id="{16A89BA3-132D-40E1-AAB4-CDCD0A14C216}" type="slidenum">
              <a:rPr lang="en-AU" smtClean="0"/>
              <a:pPr/>
              <a:t>5</a:t>
            </a:fld>
            <a:r>
              <a:rPr lang="en-AU"/>
              <a:t>  |</a:t>
            </a:r>
            <a:endParaRPr lang="en-AU" dirty="0"/>
          </a:p>
        </p:txBody>
      </p:sp>
      <p:sp>
        <p:nvSpPr>
          <p:cNvPr id="9" name="Text Placeholder 3">
            <a:extLst>
              <a:ext uri="{FF2B5EF4-FFF2-40B4-BE49-F238E27FC236}">
                <a16:creationId xmlns:a16="http://schemas.microsoft.com/office/drawing/2014/main" id="{414796BC-CEFD-189B-E9D1-5A9CBE8BAF76}"/>
              </a:ext>
            </a:extLst>
          </p:cNvPr>
          <p:cNvSpPr>
            <a:spLocks noGrp="1"/>
          </p:cNvSpPr>
          <p:nvPr>
            <p:ph type="body" sz="quarter" idx="16"/>
          </p:nvPr>
        </p:nvSpPr>
        <p:spPr>
          <a:xfrm>
            <a:off x="0" y="0"/>
            <a:ext cx="7849590" cy="451262"/>
          </a:xfrm>
        </p:spPr>
        <p:txBody>
          <a:bodyPr>
            <a:noAutofit/>
          </a:bodyPr>
          <a:lstStyle/>
          <a:p>
            <a:r>
              <a:rPr lang="en-US" sz="3200" dirty="0"/>
              <a:t>What this module is about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21EE6214-3988-BA86-3529-05DB78221CDF}"/>
              </a:ext>
            </a:extLst>
          </p:cNvPr>
          <p:cNvSpPr txBox="1"/>
          <p:nvPr/>
        </p:nvSpPr>
        <p:spPr>
          <a:xfrm>
            <a:off x="0" y="1642891"/>
            <a:ext cx="9120249" cy="390350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This module introduces: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data is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data is stored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a database is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databases are important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Career paths in data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CE7CFCA-5335-2BCB-EF48-1D5987945B3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92A5912-9DB4-CD13-EE0F-368468A5B84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E82E62C-51C5-AFDE-023E-BAEBBAD419D0}"/>
              </a:ext>
            </a:extLst>
          </p:cNvPr>
          <p:cNvSpPr>
            <a:spLocks noGrp="1"/>
          </p:cNvSpPr>
          <p:nvPr>
            <p:ph type="sldNum" sz="quarter" idx="4"/>
          </p:nvPr>
        </p:nvSpPr>
        <p:spPr/>
        <p:txBody>
          <a:bodyPr/>
          <a:lstStyle/>
          <a:p>
            <a:fld id="{16A89BA3-132D-40E1-AAB4-CDCD0A14C216}" type="slidenum">
              <a:rPr lang="en-AU" smtClean="0"/>
              <a:pPr/>
              <a:t>6</a:t>
            </a:fld>
            <a:r>
              <a:rPr lang="en-AU"/>
              <a:t>  |</a:t>
            </a:r>
            <a:endParaRPr lang="en-AU" dirty="0"/>
          </a:p>
        </p:txBody>
      </p:sp>
      <p:sp>
        <p:nvSpPr>
          <p:cNvPr id="9" name="Text Placeholder 3">
            <a:extLst>
              <a:ext uri="{FF2B5EF4-FFF2-40B4-BE49-F238E27FC236}">
                <a16:creationId xmlns:a16="http://schemas.microsoft.com/office/drawing/2014/main" id="{1EFFA234-7C51-41DA-0EE4-BA98FAF9E671}"/>
              </a:ext>
            </a:extLst>
          </p:cNvPr>
          <p:cNvSpPr>
            <a:spLocks noGrp="1"/>
          </p:cNvSpPr>
          <p:nvPr>
            <p:ph type="body" sz="quarter" idx="16"/>
          </p:nvPr>
        </p:nvSpPr>
        <p:spPr>
          <a:xfrm>
            <a:off x="0" y="0"/>
            <a:ext cx="7849590" cy="451262"/>
          </a:xfrm>
        </p:spPr>
        <p:txBody>
          <a:bodyPr>
            <a:noAutofit/>
          </a:bodyPr>
          <a:lstStyle/>
          <a:p>
            <a:r>
              <a:rPr lang="en-US" sz="3200" dirty="0"/>
              <a:t>What this module is about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442887F-E842-416D-27A5-F1847DF32C67}"/>
              </a:ext>
            </a:extLst>
          </p:cNvPr>
          <p:cNvSpPr txBox="1"/>
          <p:nvPr/>
        </p:nvSpPr>
        <p:spPr>
          <a:xfrm>
            <a:off x="0" y="1154082"/>
            <a:ext cx="9120249"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Why this matters</a:t>
            </a:r>
          </a:p>
          <a:p>
            <a:pPr>
              <a:lnSpc>
                <a:spcPct val="150000"/>
              </a:lnSpc>
            </a:pPr>
            <a:r>
              <a:rPr lang="en-US" sz="2800" dirty="0">
                <a:latin typeface="Calibri" panose="020F0502020204030204" pitchFamily="34" charset="0"/>
                <a:cs typeface="Calibri" panose="020F0502020204030204" pitchFamily="34" charset="0"/>
              </a:rPr>
              <a:t>Today, almost everything uses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Banking systems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Hospitals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Online shopping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Social media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Government systems</a:t>
            </a:r>
          </a:p>
        </p:txBody>
      </p:sp>
    </p:spTree>
    <p:extLst>
      <p:ext uri="{BB962C8B-B14F-4D97-AF65-F5344CB8AC3E}">
        <p14:creationId xmlns:p14="http://schemas.microsoft.com/office/powerpoint/2010/main" val="26952047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CE8B9BA-98C2-D1B1-3938-ED314BEA67F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25572D4-D940-DD08-5146-5BD7C9BB58D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39DC38F-53ED-0F8F-7F9E-B8AA8D555561}"/>
              </a:ext>
            </a:extLst>
          </p:cNvPr>
          <p:cNvSpPr>
            <a:spLocks noGrp="1"/>
          </p:cNvSpPr>
          <p:nvPr>
            <p:ph type="sldNum" sz="quarter" idx="4"/>
          </p:nvPr>
        </p:nvSpPr>
        <p:spPr/>
        <p:txBody>
          <a:bodyPr/>
          <a:lstStyle/>
          <a:p>
            <a:fld id="{16A89BA3-132D-40E1-AAB4-CDCD0A14C216}" type="slidenum">
              <a:rPr lang="en-AU" smtClean="0"/>
              <a:pPr/>
              <a:t>7</a:t>
            </a:fld>
            <a:r>
              <a:rPr lang="en-AU"/>
              <a:t>  |</a:t>
            </a:r>
            <a:endParaRPr lang="en-AU" dirty="0"/>
          </a:p>
        </p:txBody>
      </p:sp>
      <p:sp>
        <p:nvSpPr>
          <p:cNvPr id="9" name="Text Placeholder 3">
            <a:extLst>
              <a:ext uri="{FF2B5EF4-FFF2-40B4-BE49-F238E27FC236}">
                <a16:creationId xmlns:a16="http://schemas.microsoft.com/office/drawing/2014/main" id="{31ED9409-5A16-3F1D-1896-744EDB306CF2}"/>
              </a:ext>
            </a:extLst>
          </p:cNvPr>
          <p:cNvSpPr>
            <a:spLocks noGrp="1"/>
          </p:cNvSpPr>
          <p:nvPr>
            <p:ph type="body" sz="quarter" idx="16"/>
          </p:nvPr>
        </p:nvSpPr>
        <p:spPr>
          <a:xfrm>
            <a:off x="0" y="0"/>
            <a:ext cx="7849590" cy="451262"/>
          </a:xfrm>
        </p:spPr>
        <p:txBody>
          <a:bodyPr>
            <a:noAutofit/>
          </a:bodyPr>
          <a:lstStyle/>
          <a:p>
            <a:r>
              <a:rPr lang="en-US" sz="3200" dirty="0"/>
              <a:t>What this module is about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68DF1A8F-B5D5-5690-7677-4AFA9299932F}"/>
              </a:ext>
            </a:extLst>
          </p:cNvPr>
          <p:cNvSpPr txBox="1"/>
          <p:nvPr/>
        </p:nvSpPr>
        <p:spPr>
          <a:xfrm>
            <a:off x="0" y="1154082"/>
            <a:ext cx="9120249"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Understanding data is the foundation of:</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Programming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Cyber security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science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Business systems</a:t>
            </a:r>
          </a:p>
        </p:txBody>
      </p:sp>
    </p:spTree>
    <p:extLst>
      <p:ext uri="{BB962C8B-B14F-4D97-AF65-F5344CB8AC3E}">
        <p14:creationId xmlns:p14="http://schemas.microsoft.com/office/powerpoint/2010/main" val="303717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7B0C44F-078B-38D3-7CAC-FFACB7E82C1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B405EF3-5BBE-ABD1-4969-AEB8007FB5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CEC3FD6-887D-C71F-DAE7-2EB5E5BA3036}"/>
              </a:ext>
            </a:extLst>
          </p:cNvPr>
          <p:cNvSpPr>
            <a:spLocks noGrp="1"/>
          </p:cNvSpPr>
          <p:nvPr>
            <p:ph type="sldNum" sz="quarter" idx="4"/>
          </p:nvPr>
        </p:nvSpPr>
        <p:spPr/>
        <p:txBody>
          <a:bodyPr/>
          <a:lstStyle/>
          <a:p>
            <a:fld id="{16A89BA3-132D-40E1-AAB4-CDCD0A14C216}" type="slidenum">
              <a:rPr lang="en-AU" smtClean="0"/>
              <a:pPr/>
              <a:t>8</a:t>
            </a:fld>
            <a:r>
              <a:rPr lang="en-AU"/>
              <a:t>  |</a:t>
            </a:r>
            <a:endParaRPr lang="en-AU" dirty="0"/>
          </a:p>
        </p:txBody>
      </p:sp>
      <p:sp>
        <p:nvSpPr>
          <p:cNvPr id="9" name="Text Placeholder 3">
            <a:extLst>
              <a:ext uri="{FF2B5EF4-FFF2-40B4-BE49-F238E27FC236}">
                <a16:creationId xmlns:a16="http://schemas.microsoft.com/office/drawing/2014/main" id="{AE601981-A421-F56A-1115-A12235648658}"/>
              </a:ext>
            </a:extLst>
          </p:cNvPr>
          <p:cNvSpPr>
            <a:spLocks noGrp="1"/>
          </p:cNvSpPr>
          <p:nvPr>
            <p:ph type="body" sz="quarter" idx="16"/>
          </p:nvPr>
        </p:nvSpPr>
        <p:spPr>
          <a:xfrm>
            <a:off x="0" y="0"/>
            <a:ext cx="7849590" cy="451262"/>
          </a:xfrm>
        </p:spPr>
        <p:txBody>
          <a:bodyPr>
            <a:noAutofit/>
          </a:bodyPr>
          <a:lstStyle/>
          <a:p>
            <a:r>
              <a:rPr lang="en-US" sz="3200" dirty="0"/>
              <a:t>What is Data?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0BF0F78-61F4-AFCC-5170-1BE0D72940B8}"/>
              </a:ext>
            </a:extLst>
          </p:cNvPr>
          <p:cNvSpPr txBox="1"/>
          <p:nvPr/>
        </p:nvSpPr>
        <p:spPr>
          <a:xfrm>
            <a:off x="0" y="1154082"/>
            <a:ext cx="9120249"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Data</a:t>
            </a:r>
            <a:r>
              <a:rPr lang="en-US" sz="2800" dirty="0">
                <a:latin typeface="Calibri" panose="020F0502020204030204" pitchFamily="34" charset="0"/>
                <a:cs typeface="Calibri" panose="020F0502020204030204" pitchFamily="34" charset="0"/>
              </a:rPr>
              <a:t> is raw facts and figures.</a:t>
            </a:r>
          </a:p>
          <a:p>
            <a:pPr>
              <a:lnSpc>
                <a:spcPct val="150000"/>
              </a:lnSpc>
            </a:pPr>
            <a:r>
              <a:rPr lang="en-US" sz="2800" dirty="0">
                <a:latin typeface="Calibri" panose="020F0502020204030204" pitchFamily="34" charset="0"/>
                <a:cs typeface="Calibri" panose="020F0502020204030204" pitchFamily="34" charset="0"/>
              </a:rPr>
              <a:t>Examples: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Name: Ali</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Age: 25</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Temperature: 32°C</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Price: $15.50</a:t>
            </a:r>
          </a:p>
          <a:p>
            <a:pPr>
              <a:lnSpc>
                <a:spcPct val="150000"/>
              </a:lnSpc>
            </a:pPr>
            <a:r>
              <a:rPr lang="en-US" sz="2800" dirty="0">
                <a:latin typeface="Calibri" panose="020F0502020204030204" pitchFamily="34" charset="0"/>
                <a:cs typeface="Calibri" panose="020F0502020204030204" pitchFamily="34" charset="0"/>
              </a:rPr>
              <a:t>Data by itself may not mean much.</a:t>
            </a:r>
          </a:p>
        </p:txBody>
      </p:sp>
    </p:spTree>
    <p:extLst>
      <p:ext uri="{BB962C8B-B14F-4D97-AF65-F5344CB8AC3E}">
        <p14:creationId xmlns:p14="http://schemas.microsoft.com/office/powerpoint/2010/main" val="125927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AF02045-0884-9397-2F21-070F68D6952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BAA9882-4DCD-C85A-A688-56A9A86B4D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1B524AB-9894-18FC-BFAC-2F9C3397D7AC}"/>
              </a:ext>
            </a:extLst>
          </p:cNvPr>
          <p:cNvSpPr>
            <a:spLocks noGrp="1"/>
          </p:cNvSpPr>
          <p:nvPr>
            <p:ph type="sldNum" sz="quarter" idx="4"/>
          </p:nvPr>
        </p:nvSpPr>
        <p:spPr/>
        <p:txBody>
          <a:bodyPr/>
          <a:lstStyle/>
          <a:p>
            <a:fld id="{16A89BA3-132D-40E1-AAB4-CDCD0A14C216}" type="slidenum">
              <a:rPr lang="en-AU" smtClean="0"/>
              <a:pPr/>
              <a:t>9</a:t>
            </a:fld>
            <a:r>
              <a:rPr lang="en-AU"/>
              <a:t>  |</a:t>
            </a:r>
            <a:endParaRPr lang="en-AU" dirty="0"/>
          </a:p>
        </p:txBody>
      </p:sp>
      <p:sp>
        <p:nvSpPr>
          <p:cNvPr id="9" name="Text Placeholder 3">
            <a:extLst>
              <a:ext uri="{FF2B5EF4-FFF2-40B4-BE49-F238E27FC236}">
                <a16:creationId xmlns:a16="http://schemas.microsoft.com/office/drawing/2014/main" id="{8EAB8337-6B96-0E25-A6A1-840CDFAF32D2}"/>
              </a:ext>
            </a:extLst>
          </p:cNvPr>
          <p:cNvSpPr>
            <a:spLocks noGrp="1"/>
          </p:cNvSpPr>
          <p:nvPr>
            <p:ph type="body" sz="quarter" idx="16"/>
          </p:nvPr>
        </p:nvSpPr>
        <p:spPr>
          <a:xfrm>
            <a:off x="0" y="0"/>
            <a:ext cx="7849590" cy="451262"/>
          </a:xfrm>
        </p:spPr>
        <p:txBody>
          <a:bodyPr>
            <a:noAutofit/>
          </a:bodyPr>
          <a:lstStyle/>
          <a:p>
            <a:r>
              <a:rPr lang="en-US" sz="3200" dirty="0"/>
              <a:t>What is Information?</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465D2D5-C6A2-CD45-17EA-076C31909049}"/>
              </a:ext>
            </a:extLst>
          </p:cNvPr>
          <p:cNvSpPr txBox="1"/>
          <p:nvPr/>
        </p:nvSpPr>
        <p:spPr>
          <a:xfrm>
            <a:off x="0" y="1154082"/>
            <a:ext cx="9120249" cy="325717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Information</a:t>
            </a:r>
            <a:r>
              <a:rPr lang="en-US" sz="2800" dirty="0">
                <a:latin typeface="Calibri" panose="020F0502020204030204" pitchFamily="34" charset="0"/>
                <a:cs typeface="Calibri" panose="020F0502020204030204" pitchFamily="34" charset="0"/>
              </a:rPr>
              <a:t> is processed data that has meaning.</a:t>
            </a:r>
          </a:p>
          <a:p>
            <a:pPr>
              <a:lnSpc>
                <a:spcPct val="150000"/>
              </a:lnSpc>
            </a:pPr>
            <a:r>
              <a:rPr lang="en-US" sz="2800" dirty="0">
                <a:latin typeface="Calibri" panose="020F0502020204030204" pitchFamily="34" charset="0"/>
                <a:cs typeface="Calibri" panose="020F0502020204030204" pitchFamily="34" charset="0"/>
              </a:rPr>
              <a:t>Example: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32, 34, 36, 38</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Information: “The temperature is increasing.”</a:t>
            </a:r>
          </a:p>
          <a:p>
            <a:pPr>
              <a:lnSpc>
                <a:spcPct val="150000"/>
              </a:lnSpc>
            </a:pPr>
            <a:r>
              <a:rPr lang="en-US" sz="2800" dirty="0">
                <a:latin typeface="Calibri" panose="020F0502020204030204" pitchFamily="34" charset="0"/>
                <a:cs typeface="Calibri" panose="020F0502020204030204" pitchFamily="34" charset="0"/>
              </a:rPr>
              <a:t>Data → Processed → Information</a:t>
            </a:r>
          </a:p>
        </p:txBody>
      </p:sp>
    </p:spTree>
    <p:extLst>
      <p:ext uri="{BB962C8B-B14F-4D97-AF65-F5344CB8AC3E}">
        <p14:creationId xmlns:p14="http://schemas.microsoft.com/office/powerpoint/2010/main" val="3270274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barn(inVertical)">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6E375E5-6D5F-7C35-8812-B0A4C82573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8944F33-C879-D556-DBD7-5B632622548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EFF2A3D-32AA-0A94-C4E7-FB94E12C05B4}"/>
              </a:ext>
            </a:extLst>
          </p:cNvPr>
          <p:cNvSpPr>
            <a:spLocks noGrp="1"/>
          </p:cNvSpPr>
          <p:nvPr>
            <p:ph type="sldNum" sz="quarter" idx="4"/>
          </p:nvPr>
        </p:nvSpPr>
        <p:spPr/>
        <p:txBody>
          <a:bodyPr/>
          <a:lstStyle/>
          <a:p>
            <a:fld id="{16A89BA3-132D-40E1-AAB4-CDCD0A14C216}" type="slidenum">
              <a:rPr lang="en-AU" smtClean="0"/>
              <a:pPr/>
              <a:t>10</a:t>
            </a:fld>
            <a:r>
              <a:rPr lang="en-AU"/>
              <a:t>  |</a:t>
            </a:r>
            <a:endParaRPr lang="en-AU" dirty="0"/>
          </a:p>
        </p:txBody>
      </p:sp>
      <p:sp>
        <p:nvSpPr>
          <p:cNvPr id="9" name="Text Placeholder 3">
            <a:extLst>
              <a:ext uri="{FF2B5EF4-FFF2-40B4-BE49-F238E27FC236}">
                <a16:creationId xmlns:a16="http://schemas.microsoft.com/office/drawing/2014/main" id="{CFD6D763-CA91-8FA1-9339-5F68E2E0DD65}"/>
              </a:ext>
            </a:extLst>
          </p:cNvPr>
          <p:cNvSpPr>
            <a:spLocks noGrp="1"/>
          </p:cNvSpPr>
          <p:nvPr>
            <p:ph type="body" sz="quarter" idx="16"/>
          </p:nvPr>
        </p:nvSpPr>
        <p:spPr>
          <a:xfrm>
            <a:off x="0" y="0"/>
            <a:ext cx="7849590" cy="451262"/>
          </a:xfrm>
        </p:spPr>
        <p:txBody>
          <a:bodyPr>
            <a:noAutofit/>
          </a:bodyPr>
          <a:lstStyle/>
          <a:p>
            <a:r>
              <a:rPr lang="en-US" sz="3200" dirty="0"/>
              <a:t>Why Data is important?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53B08B01-A669-A04A-BD3E-9D4CE3F33910}"/>
              </a:ext>
            </a:extLst>
          </p:cNvPr>
          <p:cNvSpPr txBox="1"/>
          <p:nvPr/>
        </p:nvSpPr>
        <p:spPr>
          <a:xfrm>
            <a:off x="0" y="882783"/>
            <a:ext cx="9120249" cy="5196166"/>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Organizations use data to:</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Make decisions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Track performance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Predict trends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Improve services</a:t>
            </a:r>
          </a:p>
          <a:p>
            <a:pPr>
              <a:lnSpc>
                <a:spcPct val="150000"/>
              </a:lnSpc>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supermarket uses sales data to decide what products to restock.</a:t>
            </a:r>
          </a:p>
        </p:txBody>
      </p:sp>
    </p:spTree>
    <p:extLst>
      <p:ext uri="{BB962C8B-B14F-4D97-AF65-F5344CB8AC3E}">
        <p14:creationId xmlns:p14="http://schemas.microsoft.com/office/powerpoint/2010/main" val="2003451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CBB8423-98E1-B859-CDDF-38E02AE67E6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C13924C-9A1D-814F-045D-4EC70B2CC59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4B28A0-D5C6-55A3-3652-F314A431C094}"/>
              </a:ext>
            </a:extLst>
          </p:cNvPr>
          <p:cNvSpPr>
            <a:spLocks noGrp="1"/>
          </p:cNvSpPr>
          <p:nvPr>
            <p:ph type="sldNum" sz="quarter" idx="4"/>
          </p:nvPr>
        </p:nvSpPr>
        <p:spPr/>
        <p:txBody>
          <a:bodyPr/>
          <a:lstStyle/>
          <a:p>
            <a:fld id="{16A89BA3-132D-40E1-AAB4-CDCD0A14C216}" type="slidenum">
              <a:rPr lang="en-AU" smtClean="0"/>
              <a:pPr/>
              <a:t>11</a:t>
            </a:fld>
            <a:r>
              <a:rPr lang="en-AU"/>
              <a:t>  |</a:t>
            </a:r>
            <a:endParaRPr lang="en-AU" dirty="0"/>
          </a:p>
        </p:txBody>
      </p:sp>
      <p:sp>
        <p:nvSpPr>
          <p:cNvPr id="9" name="Text Placeholder 3">
            <a:extLst>
              <a:ext uri="{FF2B5EF4-FFF2-40B4-BE49-F238E27FC236}">
                <a16:creationId xmlns:a16="http://schemas.microsoft.com/office/drawing/2014/main" id="{85B0C136-F8F0-CEBF-C467-E243A7E5F1E1}"/>
              </a:ext>
            </a:extLst>
          </p:cNvPr>
          <p:cNvSpPr>
            <a:spLocks noGrp="1"/>
          </p:cNvSpPr>
          <p:nvPr>
            <p:ph type="body" sz="quarter" idx="16"/>
          </p:nvPr>
        </p:nvSpPr>
        <p:spPr>
          <a:xfrm>
            <a:off x="0" y="0"/>
            <a:ext cx="7849590" cy="451262"/>
          </a:xfrm>
        </p:spPr>
        <p:txBody>
          <a:bodyPr>
            <a:noAutofit/>
          </a:bodyPr>
          <a:lstStyle/>
          <a:p>
            <a:r>
              <a:rPr lang="en-US" sz="3200" dirty="0"/>
              <a:t>Analogy</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7BD46CE-A464-9300-52A8-D4044765110D}"/>
              </a:ext>
            </a:extLst>
          </p:cNvPr>
          <p:cNvSpPr txBox="1"/>
          <p:nvPr/>
        </p:nvSpPr>
        <p:spPr>
          <a:xfrm>
            <a:off x="0" y="1642891"/>
            <a:ext cx="9120249" cy="390350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dirty="0">
                <a:latin typeface="Calibri" panose="020F0502020204030204" pitchFamily="34" charset="0"/>
                <a:cs typeface="Calibri" panose="020F0502020204030204" pitchFamily="34" charset="0"/>
              </a:rPr>
              <a:t>Data is like ingredients (flour, eggs, sugar).</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Information is the cake you bake using those ingredients!</a:t>
            </a:r>
          </a:p>
          <a:p>
            <a:pPr lvl="0" eaLnBrk="0" fontAlgn="base" hangingPunct="0">
              <a:lnSpc>
                <a:spcPct val="150000"/>
              </a:lnSpc>
              <a:spcBef>
                <a:spcPct val="0"/>
              </a:spcBef>
              <a:spcAft>
                <a:spcPct val="0"/>
              </a:spcAft>
            </a:pPr>
            <a:r>
              <a:rPr lang="en-US" altLang="en-US" sz="2800" b="1" dirty="0">
                <a:latin typeface="Calibri" panose="020F0502020204030204" pitchFamily="34" charset="0"/>
                <a:cs typeface="Calibri" panose="020F0502020204030204" pitchFamily="34" charset="0"/>
              </a:rPr>
              <a:t>Australian Example:</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Data: 24°C, 60% humidity</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Information: "It’s a warm and slightly humid day in Melbourne – wear light clothing."</a:t>
            </a:r>
          </a:p>
        </p:txBody>
      </p:sp>
    </p:spTree>
    <p:extLst>
      <p:ext uri="{BB962C8B-B14F-4D97-AF65-F5344CB8AC3E}">
        <p14:creationId xmlns:p14="http://schemas.microsoft.com/office/powerpoint/2010/main" val="702645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35CE4FF-6EFB-1791-E51A-B916C9CD84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CF83C8A-528B-D029-765C-FE80914668F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62D2013-F97F-6F0A-0F40-4E3741F960C5}"/>
              </a:ext>
            </a:extLst>
          </p:cNvPr>
          <p:cNvSpPr>
            <a:spLocks noGrp="1"/>
          </p:cNvSpPr>
          <p:nvPr>
            <p:ph type="sldNum" sz="quarter" idx="4"/>
          </p:nvPr>
        </p:nvSpPr>
        <p:spPr/>
        <p:txBody>
          <a:bodyPr/>
          <a:lstStyle/>
          <a:p>
            <a:fld id="{16A89BA3-132D-40E1-AAB4-CDCD0A14C216}" type="slidenum">
              <a:rPr lang="en-AU" smtClean="0"/>
              <a:pPr/>
              <a:t>12</a:t>
            </a:fld>
            <a:r>
              <a:rPr lang="en-AU"/>
              <a:t>  |</a:t>
            </a:r>
            <a:endParaRPr lang="en-AU" dirty="0"/>
          </a:p>
        </p:txBody>
      </p:sp>
      <p:sp>
        <p:nvSpPr>
          <p:cNvPr id="9" name="Text Placeholder 3">
            <a:extLst>
              <a:ext uri="{FF2B5EF4-FFF2-40B4-BE49-F238E27FC236}">
                <a16:creationId xmlns:a16="http://schemas.microsoft.com/office/drawing/2014/main" id="{658CA9E3-9FB2-E9A5-836D-FEAA746B845F}"/>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497DBE5-E96A-1E66-A505-0962834A1969}"/>
              </a:ext>
            </a:extLst>
          </p:cNvPr>
          <p:cNvSpPr txBox="1"/>
          <p:nvPr/>
        </p:nvSpPr>
        <p:spPr>
          <a:xfrm>
            <a:off x="0" y="882783"/>
            <a:ext cx="9120249" cy="1964512"/>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1. Data vs Information</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Data</a:t>
            </a:r>
            <a:r>
              <a:rPr lang="en-US" sz="2800" dirty="0">
                <a:latin typeface="Calibri" panose="020F0502020204030204" pitchFamily="34" charset="0"/>
                <a:cs typeface="Calibri" panose="020F0502020204030204" pitchFamily="34" charset="0"/>
              </a:rPr>
              <a:t> = raw facts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Information</a:t>
            </a:r>
            <a:r>
              <a:rPr lang="en-US" sz="2800" dirty="0">
                <a:latin typeface="Calibri" panose="020F0502020204030204" pitchFamily="34" charset="0"/>
                <a:cs typeface="Calibri" panose="020F0502020204030204" pitchFamily="34" charset="0"/>
              </a:rPr>
              <a:t> = organized, meaningful data</a:t>
            </a:r>
          </a:p>
        </p:txBody>
      </p:sp>
    </p:spTree>
    <p:extLst>
      <p:ext uri="{BB962C8B-B14F-4D97-AF65-F5344CB8AC3E}">
        <p14:creationId xmlns:p14="http://schemas.microsoft.com/office/powerpoint/2010/main" val="3005509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636308E-5170-4D54-B3B5-AF73C8644BC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492B26A-391C-ACF3-7474-5ABD6CA2C20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72C79F-E08B-36F2-5039-A7817EE37662}"/>
              </a:ext>
            </a:extLst>
          </p:cNvPr>
          <p:cNvSpPr>
            <a:spLocks noGrp="1"/>
          </p:cNvSpPr>
          <p:nvPr>
            <p:ph type="sldNum" sz="quarter" idx="4"/>
          </p:nvPr>
        </p:nvSpPr>
        <p:spPr/>
        <p:txBody>
          <a:bodyPr/>
          <a:lstStyle/>
          <a:p>
            <a:fld id="{16A89BA3-132D-40E1-AAB4-CDCD0A14C216}" type="slidenum">
              <a:rPr lang="en-AU" smtClean="0"/>
              <a:pPr/>
              <a:t>13</a:t>
            </a:fld>
            <a:r>
              <a:rPr lang="en-AU"/>
              <a:t>  |</a:t>
            </a:r>
            <a:endParaRPr lang="en-AU" dirty="0"/>
          </a:p>
        </p:txBody>
      </p:sp>
      <p:sp>
        <p:nvSpPr>
          <p:cNvPr id="9" name="Text Placeholder 3">
            <a:extLst>
              <a:ext uri="{FF2B5EF4-FFF2-40B4-BE49-F238E27FC236}">
                <a16:creationId xmlns:a16="http://schemas.microsoft.com/office/drawing/2014/main" id="{F079FA8E-746F-F760-638D-66FE63DFACDE}"/>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6EDDE0F-8DD6-0541-8B7F-26F31723AB00}"/>
              </a:ext>
            </a:extLst>
          </p:cNvPr>
          <p:cNvSpPr txBox="1"/>
          <p:nvPr/>
        </p:nvSpPr>
        <p:spPr>
          <a:xfrm>
            <a:off x="0" y="882783"/>
            <a:ext cx="9120249"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Types of Data</a:t>
            </a:r>
          </a:p>
          <a:p>
            <a:pPr>
              <a:lnSpc>
                <a:spcPct val="150000"/>
              </a:lnSpc>
            </a:pPr>
            <a:r>
              <a:rPr lang="en-US" sz="2800" b="1" dirty="0">
                <a:latin typeface="Calibri" panose="020F0502020204030204" pitchFamily="34" charset="0"/>
                <a:cs typeface="Calibri" panose="020F0502020204030204" pitchFamily="34" charset="0"/>
              </a:rPr>
              <a:t>Structured Data</a:t>
            </a:r>
          </a:p>
          <a:p>
            <a:pPr>
              <a:lnSpc>
                <a:spcPct val="150000"/>
              </a:lnSpc>
            </a:pPr>
            <a:r>
              <a:rPr lang="en-US" sz="2800" dirty="0">
                <a:latin typeface="Calibri" panose="020F0502020204030204" pitchFamily="34" charset="0"/>
                <a:cs typeface="Calibri" panose="020F0502020204030204" pitchFamily="34" charset="0"/>
              </a:rPr>
              <a:t>Organized in rows and columns.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Example:</a:t>
            </a:r>
          </a:p>
        </p:txBody>
      </p:sp>
      <p:graphicFrame>
        <p:nvGraphicFramePr>
          <p:cNvPr id="2" name="Table 1">
            <a:extLst>
              <a:ext uri="{FF2B5EF4-FFF2-40B4-BE49-F238E27FC236}">
                <a16:creationId xmlns:a16="http://schemas.microsoft.com/office/drawing/2014/main" id="{F7C2ED0F-D864-1283-07DF-2FA1C2D546F3}"/>
              </a:ext>
            </a:extLst>
          </p:cNvPr>
          <p:cNvGraphicFramePr>
            <a:graphicFrameLocks noGrp="1"/>
          </p:cNvGraphicFramePr>
          <p:nvPr/>
        </p:nvGraphicFramePr>
        <p:xfrm>
          <a:off x="137037" y="3660775"/>
          <a:ext cx="7886700" cy="1036320"/>
        </p:xfrm>
        <a:graphic>
          <a:graphicData uri="http://schemas.openxmlformats.org/drawingml/2006/table">
            <a:tbl>
              <a:tblPr>
                <a:tableStyleId>{ED083AE6-46FA-4A59-8FB0-9F97EB10719F}</a:tableStyleId>
              </a:tblPr>
              <a:tblGrid>
                <a:gridCol w="2628900">
                  <a:extLst>
                    <a:ext uri="{9D8B030D-6E8A-4147-A177-3AD203B41FA5}">
                      <a16:colId xmlns:a16="http://schemas.microsoft.com/office/drawing/2014/main" val="467361558"/>
                    </a:ext>
                  </a:extLst>
                </a:gridCol>
                <a:gridCol w="2628900">
                  <a:extLst>
                    <a:ext uri="{9D8B030D-6E8A-4147-A177-3AD203B41FA5}">
                      <a16:colId xmlns:a16="http://schemas.microsoft.com/office/drawing/2014/main" val="1130186881"/>
                    </a:ext>
                  </a:extLst>
                </a:gridCol>
                <a:gridCol w="2628900">
                  <a:extLst>
                    <a:ext uri="{9D8B030D-6E8A-4147-A177-3AD203B41FA5}">
                      <a16:colId xmlns:a16="http://schemas.microsoft.com/office/drawing/2014/main" val="3456521480"/>
                    </a:ext>
                  </a:extLst>
                </a:gridCol>
              </a:tblGrid>
              <a:tr h="0">
                <a:tc>
                  <a:txBody>
                    <a:bodyPr/>
                    <a:lstStyle/>
                    <a:p>
                      <a:pPr>
                        <a:buNone/>
                      </a:pPr>
                      <a:r>
                        <a:rPr lang="en-US" sz="2800" dirty="0">
                          <a:latin typeface="Calibri" panose="020F0502020204030204" pitchFamily="34" charset="0"/>
                          <a:cs typeface="Calibri" panose="020F0502020204030204" pitchFamily="34" charset="0"/>
                        </a:rPr>
                        <a:t>ID</a:t>
                      </a:r>
                    </a:p>
                  </a:txBody>
                  <a:tcPr anchor="ctr"/>
                </a:tc>
                <a:tc>
                  <a:txBody>
                    <a:bodyPr/>
                    <a:lstStyle/>
                    <a:p>
                      <a:pPr>
                        <a:buNone/>
                      </a:pPr>
                      <a:r>
                        <a:rPr lang="en-US" sz="2800">
                          <a:latin typeface="Calibri" panose="020F0502020204030204" pitchFamily="34" charset="0"/>
                          <a:cs typeface="Calibri" panose="020F0502020204030204" pitchFamily="34" charset="0"/>
                        </a:rPr>
                        <a:t>Name</a:t>
                      </a:r>
                    </a:p>
                  </a:txBody>
                  <a:tcPr anchor="ctr"/>
                </a:tc>
                <a:tc>
                  <a:txBody>
                    <a:bodyPr/>
                    <a:lstStyle/>
                    <a:p>
                      <a:pPr>
                        <a:buNone/>
                      </a:pPr>
                      <a:r>
                        <a:rPr lang="en-US" sz="2800">
                          <a:latin typeface="Calibri" panose="020F0502020204030204" pitchFamily="34" charset="0"/>
                          <a:cs typeface="Calibri" panose="020F0502020204030204" pitchFamily="34" charset="0"/>
                        </a:rPr>
                        <a:t>Age</a:t>
                      </a:r>
                    </a:p>
                  </a:txBody>
                  <a:tcPr anchor="ctr"/>
                </a:tc>
                <a:extLst>
                  <a:ext uri="{0D108BD9-81ED-4DB2-BD59-A6C34878D82A}">
                    <a16:rowId xmlns:a16="http://schemas.microsoft.com/office/drawing/2014/main" val="707729838"/>
                  </a:ext>
                </a:extLst>
              </a:tr>
              <a:tr h="0">
                <a:tc>
                  <a:txBody>
                    <a:bodyPr/>
                    <a:lstStyle/>
                    <a:p>
                      <a:pPr>
                        <a:buNone/>
                      </a:pPr>
                      <a:r>
                        <a:rPr lang="en-US" sz="2800">
                          <a:latin typeface="Calibri" panose="020F0502020204030204" pitchFamily="34" charset="0"/>
                          <a:cs typeface="Calibri" panose="020F0502020204030204" pitchFamily="34" charset="0"/>
                        </a:rPr>
                        <a:t>1</a:t>
                      </a:r>
                    </a:p>
                  </a:txBody>
                  <a:tcPr anchor="ctr"/>
                </a:tc>
                <a:tc>
                  <a:txBody>
                    <a:bodyPr/>
                    <a:lstStyle/>
                    <a:p>
                      <a:pPr>
                        <a:buNone/>
                      </a:pPr>
                      <a:r>
                        <a:rPr lang="en-US" sz="2800">
                          <a:latin typeface="Calibri" panose="020F0502020204030204" pitchFamily="34" charset="0"/>
                          <a:cs typeface="Calibri" panose="020F0502020204030204" pitchFamily="34" charset="0"/>
                        </a:rPr>
                        <a:t>Sara</a:t>
                      </a:r>
                    </a:p>
                  </a:txBody>
                  <a:tcPr anchor="ctr"/>
                </a:tc>
                <a:tc>
                  <a:txBody>
                    <a:bodyPr/>
                    <a:lstStyle/>
                    <a:p>
                      <a:pPr>
                        <a:buNone/>
                      </a:pPr>
                      <a:r>
                        <a:rPr lang="en-US" sz="2800" dirty="0">
                          <a:latin typeface="Calibri" panose="020F0502020204030204" pitchFamily="34" charset="0"/>
                          <a:cs typeface="Calibri" panose="020F0502020204030204" pitchFamily="34" charset="0"/>
                        </a:rPr>
                        <a:t>22</a:t>
                      </a:r>
                    </a:p>
                  </a:txBody>
                  <a:tcPr anchor="ctr"/>
                </a:tc>
                <a:extLst>
                  <a:ext uri="{0D108BD9-81ED-4DB2-BD59-A6C34878D82A}">
                    <a16:rowId xmlns:a16="http://schemas.microsoft.com/office/drawing/2014/main" val="2305770057"/>
                  </a:ext>
                </a:extLst>
              </a:tr>
            </a:tbl>
          </a:graphicData>
        </a:graphic>
      </p:graphicFrame>
      <p:sp>
        <p:nvSpPr>
          <p:cNvPr id="7" name="TextBox 6">
            <a:extLst>
              <a:ext uri="{FF2B5EF4-FFF2-40B4-BE49-F238E27FC236}">
                <a16:creationId xmlns:a16="http://schemas.microsoft.com/office/drawing/2014/main" id="{1CF2216B-1F11-7540-98DD-34C307CEDE26}"/>
              </a:ext>
            </a:extLst>
          </p:cNvPr>
          <p:cNvSpPr txBox="1"/>
          <p:nvPr/>
        </p:nvSpPr>
        <p:spPr>
          <a:xfrm>
            <a:off x="0" y="4937940"/>
            <a:ext cx="4650658" cy="523220"/>
          </a:xfrm>
          <a:prstGeom prst="rect">
            <a:avLst/>
          </a:prstGeom>
          <a:noFill/>
        </p:spPr>
        <p:txBody>
          <a:bodyPr wrap="square">
            <a:spAutoFit/>
          </a:bodyPr>
          <a:lstStyle/>
          <a:p>
            <a:r>
              <a:rPr lang="en-US" sz="2800" dirty="0">
                <a:latin typeface="Calibri" panose="020F0502020204030204" pitchFamily="34" charset="0"/>
                <a:cs typeface="Calibri" panose="020F0502020204030204" pitchFamily="34" charset="0"/>
              </a:rPr>
              <a:t>Used in databases.</a:t>
            </a:r>
          </a:p>
        </p:txBody>
      </p:sp>
    </p:spTree>
    <p:extLst>
      <p:ext uri="{BB962C8B-B14F-4D97-AF65-F5344CB8AC3E}">
        <p14:creationId xmlns:p14="http://schemas.microsoft.com/office/powerpoint/2010/main" val="3840900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A5FD11A-5A36-AF42-4F4B-1DDEC8E9F29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E0671FA-7975-0440-6E05-41D200039B0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8750A27-7186-5688-BBC3-CA95A8F632B4}"/>
              </a:ext>
            </a:extLst>
          </p:cNvPr>
          <p:cNvSpPr>
            <a:spLocks noGrp="1"/>
          </p:cNvSpPr>
          <p:nvPr>
            <p:ph type="sldNum" sz="quarter" idx="4"/>
          </p:nvPr>
        </p:nvSpPr>
        <p:spPr/>
        <p:txBody>
          <a:bodyPr/>
          <a:lstStyle/>
          <a:p>
            <a:fld id="{16A89BA3-132D-40E1-AAB4-CDCD0A14C216}" type="slidenum">
              <a:rPr lang="en-AU" smtClean="0"/>
              <a:pPr/>
              <a:t>14</a:t>
            </a:fld>
            <a:r>
              <a:rPr lang="en-AU"/>
              <a:t>  |</a:t>
            </a:r>
            <a:endParaRPr lang="en-AU" dirty="0"/>
          </a:p>
        </p:txBody>
      </p:sp>
      <p:sp>
        <p:nvSpPr>
          <p:cNvPr id="9" name="Text Placeholder 3">
            <a:extLst>
              <a:ext uri="{FF2B5EF4-FFF2-40B4-BE49-F238E27FC236}">
                <a16:creationId xmlns:a16="http://schemas.microsoft.com/office/drawing/2014/main" id="{1BDBAC14-F892-6AB8-F6C0-02DA3E78FD5D}"/>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1ADE9D9-4120-E248-E6F3-F26C5A604BCD}"/>
              </a:ext>
            </a:extLst>
          </p:cNvPr>
          <p:cNvSpPr txBox="1"/>
          <p:nvPr/>
        </p:nvSpPr>
        <p:spPr>
          <a:xfrm>
            <a:off x="0" y="882783"/>
            <a:ext cx="9120249"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Unstructured Data</a:t>
            </a:r>
          </a:p>
          <a:p>
            <a:pPr>
              <a:lnSpc>
                <a:spcPct val="150000"/>
              </a:lnSpc>
            </a:pPr>
            <a:r>
              <a:rPr lang="en-US" sz="2800" dirty="0">
                <a:latin typeface="Calibri" panose="020F0502020204030204" pitchFamily="34" charset="0"/>
                <a:cs typeface="Calibri" panose="020F0502020204030204" pitchFamily="34" charset="0"/>
              </a:rPr>
              <a:t>Not organized in tables.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Examples: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Images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Videos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Emails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Social media posts</a:t>
            </a:r>
          </a:p>
        </p:txBody>
      </p:sp>
    </p:spTree>
    <p:extLst>
      <p:ext uri="{BB962C8B-B14F-4D97-AF65-F5344CB8AC3E}">
        <p14:creationId xmlns:p14="http://schemas.microsoft.com/office/powerpoint/2010/main" val="10437724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CC8CE80-6E63-7797-6A16-79312074F5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4808D5C-29DB-A950-0006-F580FD04C1B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EDB88D5-1CE2-CCB0-D64C-0F5451A4F6F2}"/>
              </a:ext>
            </a:extLst>
          </p:cNvPr>
          <p:cNvSpPr>
            <a:spLocks noGrp="1"/>
          </p:cNvSpPr>
          <p:nvPr>
            <p:ph type="sldNum" sz="quarter" idx="4"/>
          </p:nvPr>
        </p:nvSpPr>
        <p:spPr/>
        <p:txBody>
          <a:bodyPr/>
          <a:lstStyle/>
          <a:p>
            <a:fld id="{16A89BA3-132D-40E1-AAB4-CDCD0A14C216}" type="slidenum">
              <a:rPr lang="en-AU" smtClean="0"/>
              <a:pPr/>
              <a:t>15</a:t>
            </a:fld>
            <a:r>
              <a:rPr lang="en-AU"/>
              <a:t>  |</a:t>
            </a:r>
            <a:endParaRPr lang="en-AU" dirty="0"/>
          </a:p>
        </p:txBody>
      </p:sp>
      <p:sp>
        <p:nvSpPr>
          <p:cNvPr id="9" name="Text Placeholder 3">
            <a:extLst>
              <a:ext uri="{FF2B5EF4-FFF2-40B4-BE49-F238E27FC236}">
                <a16:creationId xmlns:a16="http://schemas.microsoft.com/office/drawing/2014/main" id="{85FDE449-B22C-05CA-7EB1-2DBAB1906F3F}"/>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E5A1B43-3665-8D18-83CF-644141098200}"/>
              </a:ext>
            </a:extLst>
          </p:cNvPr>
          <p:cNvSpPr txBox="1"/>
          <p:nvPr/>
        </p:nvSpPr>
        <p:spPr>
          <a:xfrm>
            <a:off x="0" y="882783"/>
            <a:ext cx="9120249" cy="390350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Metadata</a:t>
            </a:r>
          </a:p>
          <a:p>
            <a:pPr>
              <a:lnSpc>
                <a:spcPct val="150000"/>
              </a:lnSpc>
            </a:pPr>
            <a:r>
              <a:rPr lang="en-US" sz="2800" dirty="0">
                <a:latin typeface="Calibri" panose="020F0502020204030204" pitchFamily="34" charset="0"/>
                <a:cs typeface="Calibri" panose="020F0502020204030204" pitchFamily="34" charset="0"/>
              </a:rPr>
              <a:t>Metadata = data about data.</a:t>
            </a:r>
          </a:p>
          <a:p>
            <a:pPr>
              <a:lnSpc>
                <a:spcPct val="150000"/>
              </a:lnSpc>
            </a:pPr>
            <a:r>
              <a:rPr lang="en-US" sz="2800" dirty="0">
                <a:latin typeface="Calibri" panose="020F0502020204030204" pitchFamily="34" charset="0"/>
                <a:cs typeface="Calibri" panose="020F0502020204030204" pitchFamily="34" charset="0"/>
              </a:rPr>
              <a:t>Example: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File size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Date created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Author name</a:t>
            </a:r>
          </a:p>
        </p:txBody>
      </p:sp>
    </p:spTree>
    <p:extLst>
      <p:ext uri="{BB962C8B-B14F-4D97-AF65-F5344CB8AC3E}">
        <p14:creationId xmlns:p14="http://schemas.microsoft.com/office/powerpoint/2010/main" val="26681499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A01A9A1-CB84-9898-B612-462F960C17F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0AEE014-FE15-9B2F-CD57-9669D01F99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496F02A-431A-97E8-ADC3-1B4BE4F854D9}"/>
              </a:ext>
            </a:extLst>
          </p:cNvPr>
          <p:cNvSpPr>
            <a:spLocks noGrp="1"/>
          </p:cNvSpPr>
          <p:nvPr>
            <p:ph type="sldNum" sz="quarter" idx="4"/>
          </p:nvPr>
        </p:nvSpPr>
        <p:spPr/>
        <p:txBody>
          <a:bodyPr/>
          <a:lstStyle/>
          <a:p>
            <a:fld id="{16A89BA3-132D-40E1-AAB4-CDCD0A14C216}" type="slidenum">
              <a:rPr lang="en-AU" smtClean="0"/>
              <a:pPr/>
              <a:t>16</a:t>
            </a:fld>
            <a:r>
              <a:rPr lang="en-AU"/>
              <a:t>  |</a:t>
            </a:r>
            <a:endParaRPr lang="en-AU" dirty="0"/>
          </a:p>
        </p:txBody>
      </p:sp>
      <p:sp>
        <p:nvSpPr>
          <p:cNvPr id="9" name="Text Placeholder 3">
            <a:extLst>
              <a:ext uri="{FF2B5EF4-FFF2-40B4-BE49-F238E27FC236}">
                <a16:creationId xmlns:a16="http://schemas.microsoft.com/office/drawing/2014/main" id="{F5C013B6-005C-CEE9-418D-2A3CC6ACD45D}"/>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71D1E7CE-1E3A-7F80-97A4-5B5840DE21C7}"/>
              </a:ext>
            </a:extLst>
          </p:cNvPr>
          <p:cNvSpPr txBox="1"/>
          <p:nvPr/>
        </p:nvSpPr>
        <p:spPr>
          <a:xfrm>
            <a:off x="0" y="882783"/>
            <a:ext cx="9120249"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4. Records and Fields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Field</a:t>
            </a:r>
            <a:r>
              <a:rPr lang="en-US" sz="2800" dirty="0">
                <a:latin typeface="Calibri" panose="020F0502020204030204" pitchFamily="34" charset="0"/>
                <a:cs typeface="Calibri" panose="020F0502020204030204" pitchFamily="34" charset="0"/>
              </a:rPr>
              <a:t> = one piece of data (e.g., Age)</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Record</a:t>
            </a:r>
            <a:r>
              <a:rPr lang="en-US" sz="2800" dirty="0">
                <a:latin typeface="Calibri" panose="020F0502020204030204" pitchFamily="34" charset="0"/>
                <a:cs typeface="Calibri" panose="020F0502020204030204" pitchFamily="34" charset="0"/>
              </a:rPr>
              <a:t> = a full row of data (e.g., all details about one student)</a:t>
            </a:r>
          </a:p>
        </p:txBody>
      </p:sp>
    </p:spTree>
    <p:extLst>
      <p:ext uri="{BB962C8B-B14F-4D97-AF65-F5344CB8AC3E}">
        <p14:creationId xmlns:p14="http://schemas.microsoft.com/office/powerpoint/2010/main" val="24737035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E87ECAA-C66A-EEE8-1C15-00C5307FE8B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6493291-4A00-F2C8-5B61-FD173BD71E0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98F3A1E-6C6D-C54A-76BF-4B144A7CFF79}"/>
              </a:ext>
            </a:extLst>
          </p:cNvPr>
          <p:cNvSpPr>
            <a:spLocks noGrp="1"/>
          </p:cNvSpPr>
          <p:nvPr>
            <p:ph type="sldNum" sz="quarter" idx="4"/>
          </p:nvPr>
        </p:nvSpPr>
        <p:spPr/>
        <p:txBody>
          <a:bodyPr/>
          <a:lstStyle/>
          <a:p>
            <a:fld id="{16A89BA3-132D-40E1-AAB4-CDCD0A14C216}" type="slidenum">
              <a:rPr lang="en-AU" smtClean="0"/>
              <a:pPr/>
              <a:t>17</a:t>
            </a:fld>
            <a:r>
              <a:rPr lang="en-AU"/>
              <a:t>  |</a:t>
            </a:r>
            <a:endParaRPr lang="en-AU" dirty="0"/>
          </a:p>
        </p:txBody>
      </p:sp>
      <p:sp>
        <p:nvSpPr>
          <p:cNvPr id="9" name="Text Placeholder 3">
            <a:extLst>
              <a:ext uri="{FF2B5EF4-FFF2-40B4-BE49-F238E27FC236}">
                <a16:creationId xmlns:a16="http://schemas.microsoft.com/office/drawing/2014/main" id="{02F2DE92-50F3-33D3-4E6E-E5E2CBC6AE8B}"/>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601EC878-0068-AD73-FBF0-F982CE46FE96}"/>
              </a:ext>
            </a:extLst>
          </p:cNvPr>
          <p:cNvSpPr txBox="1"/>
          <p:nvPr/>
        </p:nvSpPr>
        <p:spPr>
          <a:xfrm>
            <a:off x="0" y="791084"/>
            <a:ext cx="9120249" cy="5842497"/>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Data storage has evolved over time.</a:t>
            </a:r>
          </a:p>
          <a:p>
            <a:pPr>
              <a:lnSpc>
                <a:spcPct val="150000"/>
              </a:lnSpc>
            </a:pPr>
            <a:r>
              <a:rPr lang="en-US" sz="2800" b="1" dirty="0">
                <a:latin typeface="Calibri" panose="020F0502020204030204" pitchFamily="34" charset="0"/>
                <a:cs typeface="Calibri" panose="020F0502020204030204" pitchFamily="34" charset="0"/>
              </a:rPr>
              <a:t>1. Paper-Based Storage (Old Method)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Filing cabinets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Paper forms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Books</a:t>
            </a:r>
          </a:p>
          <a:p>
            <a:pPr>
              <a:lnSpc>
                <a:spcPct val="150000"/>
              </a:lnSpc>
            </a:pPr>
            <a:r>
              <a:rPr lang="en-US" sz="2800" dirty="0">
                <a:latin typeface="Calibri" panose="020F0502020204030204" pitchFamily="34" charset="0"/>
                <a:cs typeface="Calibri" panose="020F0502020204030204" pitchFamily="34" charset="0"/>
              </a:rPr>
              <a:t>Problems: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Slow</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Easy to lose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 to search</a:t>
            </a:r>
          </a:p>
        </p:txBody>
      </p:sp>
    </p:spTree>
    <p:extLst>
      <p:ext uri="{BB962C8B-B14F-4D97-AF65-F5344CB8AC3E}">
        <p14:creationId xmlns:p14="http://schemas.microsoft.com/office/powerpoint/2010/main" val="373927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6873A08-6BFD-1003-5A13-A068BAF6BB4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D6BEFCC-A60A-5FE7-C112-AE1714592EB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6DDDDB-F29C-9A52-8CEE-4C91E1031E6D}"/>
              </a:ext>
            </a:extLst>
          </p:cNvPr>
          <p:cNvSpPr>
            <a:spLocks noGrp="1"/>
          </p:cNvSpPr>
          <p:nvPr>
            <p:ph type="sldNum" sz="quarter" idx="4"/>
          </p:nvPr>
        </p:nvSpPr>
        <p:spPr/>
        <p:txBody>
          <a:bodyPr/>
          <a:lstStyle/>
          <a:p>
            <a:fld id="{16A89BA3-132D-40E1-AAB4-CDCD0A14C216}" type="slidenum">
              <a:rPr lang="en-AU" smtClean="0"/>
              <a:pPr/>
              <a:t>18</a:t>
            </a:fld>
            <a:r>
              <a:rPr lang="en-AU"/>
              <a:t>  |</a:t>
            </a:r>
            <a:endParaRPr lang="en-AU" dirty="0"/>
          </a:p>
        </p:txBody>
      </p:sp>
      <p:sp>
        <p:nvSpPr>
          <p:cNvPr id="9" name="Text Placeholder 3">
            <a:extLst>
              <a:ext uri="{FF2B5EF4-FFF2-40B4-BE49-F238E27FC236}">
                <a16:creationId xmlns:a16="http://schemas.microsoft.com/office/drawing/2014/main" id="{60DEF80E-0804-C982-093F-48CF49FDE120}"/>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3FF8632D-C0B1-AD53-0836-EE98DC62FBDA}"/>
              </a:ext>
            </a:extLst>
          </p:cNvPr>
          <p:cNvSpPr txBox="1"/>
          <p:nvPr/>
        </p:nvSpPr>
        <p:spPr>
          <a:xfrm>
            <a:off x="23751" y="667974"/>
            <a:ext cx="9120249" cy="5842497"/>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Digital Files</a:t>
            </a:r>
          </a:p>
          <a:p>
            <a:pPr>
              <a:lnSpc>
                <a:spcPct val="150000"/>
              </a:lnSpc>
            </a:pPr>
            <a:r>
              <a:rPr lang="en-US" sz="2800" dirty="0">
                <a:latin typeface="Calibri" panose="020F0502020204030204" pitchFamily="34" charset="0"/>
                <a:cs typeface="Calibri" panose="020F0502020204030204" pitchFamily="34" charset="0"/>
              </a:rPr>
              <a:t>Data stored in:</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Text files (.txt)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Excel files (.xlsx)</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CSV files (.csv)</a:t>
            </a:r>
          </a:p>
          <a:p>
            <a:pPr>
              <a:lnSpc>
                <a:spcPct val="150000"/>
              </a:lnSpc>
            </a:pPr>
            <a:r>
              <a:rPr lang="en-US" sz="2800" dirty="0">
                <a:latin typeface="Calibri" panose="020F0502020204030204" pitchFamily="34" charset="0"/>
                <a:cs typeface="Calibri" panose="020F0502020204030204" pitchFamily="34" charset="0"/>
              </a:rPr>
              <a:t>Problems: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 to manage large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Risk of duplication</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No strong security</a:t>
            </a:r>
          </a:p>
        </p:txBody>
      </p:sp>
    </p:spTree>
    <p:extLst>
      <p:ext uri="{BB962C8B-B14F-4D97-AF65-F5344CB8AC3E}">
        <p14:creationId xmlns:p14="http://schemas.microsoft.com/office/powerpoint/2010/main" val="1775419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A623450-1510-B620-8D36-F0D0651DC8F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0BC517D-8A3C-C828-FE53-D46C17E88F1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D78E37C-5111-63C6-76D8-E815A57798F2}"/>
              </a:ext>
            </a:extLst>
          </p:cNvPr>
          <p:cNvSpPr>
            <a:spLocks noGrp="1"/>
          </p:cNvSpPr>
          <p:nvPr>
            <p:ph type="sldNum" sz="quarter" idx="4"/>
          </p:nvPr>
        </p:nvSpPr>
        <p:spPr/>
        <p:txBody>
          <a:bodyPr/>
          <a:lstStyle/>
          <a:p>
            <a:fld id="{16A89BA3-132D-40E1-AAB4-CDCD0A14C216}" type="slidenum">
              <a:rPr lang="en-AU" smtClean="0"/>
              <a:pPr/>
              <a:t>19</a:t>
            </a:fld>
            <a:r>
              <a:rPr lang="en-AU"/>
              <a:t>  |</a:t>
            </a:r>
            <a:endParaRPr lang="en-AU" dirty="0"/>
          </a:p>
        </p:txBody>
      </p:sp>
      <p:sp>
        <p:nvSpPr>
          <p:cNvPr id="9" name="Text Placeholder 3">
            <a:extLst>
              <a:ext uri="{FF2B5EF4-FFF2-40B4-BE49-F238E27FC236}">
                <a16:creationId xmlns:a16="http://schemas.microsoft.com/office/drawing/2014/main" id="{7F73F1AC-9D31-82CB-0A02-6B7D7992EB75}"/>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931EA312-C08F-8A80-B4CC-9E1D19ED36DB}"/>
              </a:ext>
            </a:extLst>
          </p:cNvPr>
          <p:cNvSpPr txBox="1"/>
          <p:nvPr/>
        </p:nvSpPr>
        <p:spPr>
          <a:xfrm>
            <a:off x="0" y="369172"/>
            <a:ext cx="6674069" cy="6488828"/>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Database Systems (Modern Solution)</a:t>
            </a:r>
          </a:p>
          <a:p>
            <a:pPr>
              <a:lnSpc>
                <a:spcPct val="150000"/>
              </a:lnSpc>
            </a:pPr>
            <a:r>
              <a:rPr lang="en-US" sz="2800" dirty="0">
                <a:latin typeface="Calibri" panose="020F0502020204030204" pitchFamily="34" charset="0"/>
                <a:cs typeface="Calibri" panose="020F0502020204030204" pitchFamily="34" charset="0"/>
              </a:rPr>
              <a:t>Data stored: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 structured format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 tables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Managed by software</a:t>
            </a:r>
          </a:p>
          <a:p>
            <a:pPr>
              <a:lnSpc>
                <a:spcPct val="150000"/>
              </a:lnSpc>
            </a:pPr>
            <a:r>
              <a:rPr lang="en-US" sz="2800" dirty="0">
                <a:latin typeface="Calibri" panose="020F0502020204030204" pitchFamily="34" charset="0"/>
                <a:cs typeface="Calibri" panose="020F0502020204030204" pitchFamily="34" charset="0"/>
              </a:rPr>
              <a:t>Advantages: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Fast search</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Secure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Supports many users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Reduces duplication</a:t>
            </a:r>
          </a:p>
        </p:txBody>
      </p:sp>
    </p:spTree>
    <p:extLst>
      <p:ext uri="{BB962C8B-B14F-4D97-AF65-F5344CB8AC3E}">
        <p14:creationId xmlns:p14="http://schemas.microsoft.com/office/powerpoint/2010/main" val="17829706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69E4344-7F1B-2423-34BF-7C0234EA94C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B6BCAC2-6D52-B138-D9AF-67A30BA08E3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DA6E082-E486-5D07-84E7-943774CBF37C}"/>
              </a:ext>
            </a:extLst>
          </p:cNvPr>
          <p:cNvSpPr>
            <a:spLocks noGrp="1"/>
          </p:cNvSpPr>
          <p:nvPr>
            <p:ph type="sldNum" sz="quarter" idx="4"/>
          </p:nvPr>
        </p:nvSpPr>
        <p:spPr/>
        <p:txBody>
          <a:bodyPr/>
          <a:lstStyle/>
          <a:p>
            <a:fld id="{16A89BA3-132D-40E1-AAB4-CDCD0A14C216}" type="slidenum">
              <a:rPr lang="en-AU" smtClean="0"/>
              <a:pPr/>
              <a:t>20</a:t>
            </a:fld>
            <a:r>
              <a:rPr lang="en-AU"/>
              <a:t>  |</a:t>
            </a:r>
            <a:endParaRPr lang="en-AU" dirty="0"/>
          </a:p>
        </p:txBody>
      </p:sp>
      <p:sp>
        <p:nvSpPr>
          <p:cNvPr id="9" name="Text Placeholder 3">
            <a:extLst>
              <a:ext uri="{FF2B5EF4-FFF2-40B4-BE49-F238E27FC236}">
                <a16:creationId xmlns:a16="http://schemas.microsoft.com/office/drawing/2014/main" id="{B22F0C7D-FB83-D39C-4A5D-849BD1F81FE7}"/>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53A13C71-2F55-6A13-6C02-7F5B9A6B76B8}"/>
              </a:ext>
            </a:extLst>
          </p:cNvPr>
          <p:cNvSpPr txBox="1"/>
          <p:nvPr/>
        </p:nvSpPr>
        <p:spPr>
          <a:xfrm>
            <a:off x="0" y="369172"/>
            <a:ext cx="6674069" cy="325717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Storage Devices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 drives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SSD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Cloud storage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Servers</a:t>
            </a:r>
          </a:p>
        </p:txBody>
      </p:sp>
    </p:spTree>
    <p:extLst>
      <p:ext uri="{BB962C8B-B14F-4D97-AF65-F5344CB8AC3E}">
        <p14:creationId xmlns:p14="http://schemas.microsoft.com/office/powerpoint/2010/main" val="10803905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2A8B440-C67D-6F0B-23FD-BE14698F11F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B4415D9-A89E-69B1-FC1C-4C8C0E1F62D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83A09A2-C386-D609-D9EA-75C897E578FA}"/>
              </a:ext>
            </a:extLst>
          </p:cNvPr>
          <p:cNvSpPr>
            <a:spLocks noGrp="1"/>
          </p:cNvSpPr>
          <p:nvPr>
            <p:ph type="sldNum" sz="quarter" idx="4"/>
          </p:nvPr>
        </p:nvSpPr>
        <p:spPr/>
        <p:txBody>
          <a:bodyPr/>
          <a:lstStyle/>
          <a:p>
            <a:fld id="{16A89BA3-132D-40E1-AAB4-CDCD0A14C216}" type="slidenum">
              <a:rPr lang="en-AU" smtClean="0"/>
              <a:pPr/>
              <a:t>21</a:t>
            </a:fld>
            <a:r>
              <a:rPr lang="en-AU"/>
              <a:t>  |</a:t>
            </a:r>
            <a:endParaRPr lang="en-AU" dirty="0"/>
          </a:p>
        </p:txBody>
      </p:sp>
      <p:sp>
        <p:nvSpPr>
          <p:cNvPr id="9" name="Text Placeholder 3">
            <a:extLst>
              <a:ext uri="{FF2B5EF4-FFF2-40B4-BE49-F238E27FC236}">
                <a16:creationId xmlns:a16="http://schemas.microsoft.com/office/drawing/2014/main" id="{611CD02D-E805-B4A7-F8D6-FA4DE5D32292}"/>
              </a:ext>
            </a:extLst>
          </p:cNvPr>
          <p:cNvSpPr>
            <a:spLocks noGrp="1"/>
          </p:cNvSpPr>
          <p:nvPr>
            <p:ph type="body" sz="quarter" idx="16"/>
          </p:nvPr>
        </p:nvSpPr>
        <p:spPr>
          <a:xfrm>
            <a:off x="0" y="0"/>
            <a:ext cx="7849590" cy="451262"/>
          </a:xfrm>
        </p:spPr>
        <p:txBody>
          <a:bodyPr>
            <a:noAutofit/>
          </a:bodyPr>
          <a:lstStyle/>
          <a:p>
            <a:r>
              <a:rPr lang="en-US" sz="3200" dirty="0"/>
              <a:t>What is a Database?</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637C1B12-EB26-64FE-FCA4-A49CC4DD1BCC}"/>
              </a:ext>
            </a:extLst>
          </p:cNvPr>
          <p:cNvSpPr txBox="1"/>
          <p:nvPr/>
        </p:nvSpPr>
        <p:spPr>
          <a:xfrm>
            <a:off x="0" y="524152"/>
            <a:ext cx="6674069"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 database is an organized collection of data stored electronically.</a:t>
            </a:r>
          </a:p>
          <a:p>
            <a:pPr>
              <a:lnSpc>
                <a:spcPct val="150000"/>
              </a:lnSpc>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university database stores: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Student records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Courses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Grades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Staff details</a:t>
            </a:r>
          </a:p>
        </p:txBody>
      </p:sp>
    </p:spTree>
    <p:extLst>
      <p:ext uri="{BB962C8B-B14F-4D97-AF65-F5344CB8AC3E}">
        <p14:creationId xmlns:p14="http://schemas.microsoft.com/office/powerpoint/2010/main" val="4085054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1000"/>
                                        <p:tgtEl>
                                          <p:spTgt spid="13">
                                            <p:txEl>
                                              <p:pRg st="0" end="0"/>
                                            </p:txEl>
                                          </p:spTgt>
                                        </p:tgtEl>
                                      </p:cBhvr>
                                    </p:animEffect>
                                    <p:anim calcmode="lin" valueType="num">
                                      <p:cBhvr>
                                        <p:cTn id="8" dur="1000" fill="hold"/>
                                        <p:tgtEl>
                                          <p:spTgt spid="1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1000"/>
                                        <p:tgtEl>
                                          <p:spTgt spid="13">
                                            <p:txEl>
                                              <p:pRg st="1" end="1"/>
                                            </p:txEl>
                                          </p:spTgt>
                                        </p:tgtEl>
                                      </p:cBhvr>
                                    </p:animEffect>
                                    <p:anim calcmode="lin" valueType="num">
                                      <p:cBhvr>
                                        <p:cTn id="13"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1000"/>
                                        <p:tgtEl>
                                          <p:spTgt spid="13">
                                            <p:txEl>
                                              <p:pRg st="2" end="2"/>
                                            </p:txEl>
                                          </p:spTgt>
                                        </p:tgtEl>
                                      </p:cBhvr>
                                    </p:animEffect>
                                    <p:anim calcmode="lin" valueType="num">
                                      <p:cBhvr>
                                        <p:cTn id="18" dur="1000" fill="hold"/>
                                        <p:tgtEl>
                                          <p:spTgt spid="1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3">
                                            <p:txEl>
                                              <p:pRg st="3" end="3"/>
                                            </p:txEl>
                                          </p:spTgt>
                                        </p:tgtEl>
                                        <p:attrNameLst>
                                          <p:attrName>style.visibility</p:attrName>
                                        </p:attrNameLst>
                                      </p:cBhvr>
                                      <p:to>
                                        <p:strVal val="visible"/>
                                      </p:to>
                                    </p:set>
                                    <p:animEffect transition="in" filter="fade">
                                      <p:cBhvr>
                                        <p:cTn id="22" dur="1000"/>
                                        <p:tgtEl>
                                          <p:spTgt spid="13">
                                            <p:txEl>
                                              <p:pRg st="3" end="3"/>
                                            </p:txEl>
                                          </p:spTgt>
                                        </p:tgtEl>
                                      </p:cBhvr>
                                    </p:animEffect>
                                    <p:anim calcmode="lin" valueType="num">
                                      <p:cBhvr>
                                        <p:cTn id="23" dur="1000" fill="hold"/>
                                        <p:tgtEl>
                                          <p:spTgt spid="1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1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3">
                                            <p:txEl>
                                              <p:pRg st="4" end="4"/>
                                            </p:txEl>
                                          </p:spTgt>
                                        </p:tgtEl>
                                        <p:attrNameLst>
                                          <p:attrName>style.visibility</p:attrName>
                                        </p:attrNameLst>
                                      </p:cBhvr>
                                      <p:to>
                                        <p:strVal val="visible"/>
                                      </p:to>
                                    </p:set>
                                    <p:animEffect transition="in" filter="fade">
                                      <p:cBhvr>
                                        <p:cTn id="27" dur="1000"/>
                                        <p:tgtEl>
                                          <p:spTgt spid="13">
                                            <p:txEl>
                                              <p:pRg st="4" end="4"/>
                                            </p:txEl>
                                          </p:spTgt>
                                        </p:tgtEl>
                                      </p:cBhvr>
                                    </p:animEffect>
                                    <p:anim calcmode="lin" valueType="num">
                                      <p:cBhvr>
                                        <p:cTn id="28" dur="1000" fill="hold"/>
                                        <p:tgtEl>
                                          <p:spTgt spid="1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13">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13">
                                            <p:txEl>
                                              <p:pRg st="5" end="5"/>
                                            </p:txEl>
                                          </p:spTgt>
                                        </p:tgtEl>
                                        <p:attrNameLst>
                                          <p:attrName>style.visibility</p:attrName>
                                        </p:attrNameLst>
                                      </p:cBhvr>
                                      <p:to>
                                        <p:strVal val="visible"/>
                                      </p:to>
                                    </p:set>
                                    <p:animEffect transition="in" filter="fade">
                                      <p:cBhvr>
                                        <p:cTn id="32" dur="1000"/>
                                        <p:tgtEl>
                                          <p:spTgt spid="13">
                                            <p:txEl>
                                              <p:pRg st="5" end="5"/>
                                            </p:txEl>
                                          </p:spTgt>
                                        </p:tgtEl>
                                      </p:cBhvr>
                                    </p:animEffect>
                                    <p:anim calcmode="lin" valueType="num">
                                      <p:cBhvr>
                                        <p:cTn id="33" dur="1000" fill="hold"/>
                                        <p:tgtEl>
                                          <p:spTgt spid="13">
                                            <p:txEl>
                                              <p:pRg st="5" end="5"/>
                                            </p:txEl>
                                          </p:spTgt>
                                        </p:tgtEl>
                                        <p:attrNameLst>
                                          <p:attrName>ppt_x</p:attrName>
                                        </p:attrNameLst>
                                      </p:cBhvr>
                                      <p:tavLst>
                                        <p:tav tm="0">
                                          <p:val>
                                            <p:strVal val="#ppt_x"/>
                                          </p:val>
                                        </p:tav>
                                        <p:tav tm="100000">
                                          <p:val>
                                            <p:strVal val="#ppt_x"/>
                                          </p:val>
                                        </p:tav>
                                      </p:tavLst>
                                    </p:anim>
                                    <p:anim calcmode="lin" valueType="num">
                                      <p:cBhvr>
                                        <p:cTn id="34" dur="1000" fill="hold"/>
                                        <p:tgtEl>
                                          <p:spTgt spid="1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F24FDBC-FCE1-853F-8788-1FCF5248D1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7E54B0-C82E-0FD4-0626-C4F9132E08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48FDFD6-6195-DCCF-7936-686B35D782E8}"/>
              </a:ext>
            </a:extLst>
          </p:cNvPr>
          <p:cNvSpPr>
            <a:spLocks noGrp="1"/>
          </p:cNvSpPr>
          <p:nvPr>
            <p:ph type="sldNum" sz="quarter" idx="4"/>
          </p:nvPr>
        </p:nvSpPr>
        <p:spPr/>
        <p:txBody>
          <a:bodyPr/>
          <a:lstStyle/>
          <a:p>
            <a:fld id="{16A89BA3-132D-40E1-AAB4-CDCD0A14C216}" type="slidenum">
              <a:rPr lang="en-AU" smtClean="0"/>
              <a:pPr/>
              <a:t>22</a:t>
            </a:fld>
            <a:r>
              <a:rPr lang="en-AU"/>
              <a:t>  |</a:t>
            </a:r>
            <a:endParaRPr lang="en-AU" dirty="0"/>
          </a:p>
        </p:txBody>
      </p:sp>
      <p:sp>
        <p:nvSpPr>
          <p:cNvPr id="9" name="Text Placeholder 3">
            <a:extLst>
              <a:ext uri="{FF2B5EF4-FFF2-40B4-BE49-F238E27FC236}">
                <a16:creationId xmlns:a16="http://schemas.microsoft.com/office/drawing/2014/main" id="{37656267-AB82-2AA4-B01D-4D5FACB2016E}"/>
              </a:ext>
            </a:extLst>
          </p:cNvPr>
          <p:cNvSpPr>
            <a:spLocks noGrp="1"/>
          </p:cNvSpPr>
          <p:nvPr>
            <p:ph type="body" sz="quarter" idx="16"/>
          </p:nvPr>
        </p:nvSpPr>
        <p:spPr>
          <a:xfrm>
            <a:off x="0" y="0"/>
            <a:ext cx="7849590" cy="843148"/>
          </a:xfrm>
        </p:spPr>
        <p:txBody>
          <a:bodyPr>
            <a:noAutofit/>
          </a:bodyPr>
          <a:lstStyle/>
          <a:p>
            <a:r>
              <a:rPr lang="en-US" sz="3200" dirty="0"/>
              <a:t>Why Databases Are Better Than File Systems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9DC731A-F293-AC92-A8C6-1F39B824F232}"/>
              </a:ext>
            </a:extLst>
          </p:cNvPr>
          <p:cNvSpPr txBox="1"/>
          <p:nvPr/>
        </p:nvSpPr>
        <p:spPr>
          <a:xfrm>
            <a:off x="0" y="1642891"/>
            <a:ext cx="9120249" cy="390350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From Spreadsheets to Smart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Traditional file systems (e.g., Excel sheets) are like paper folders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 Easy for small tasks, messy for large operations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Databases are like online banking apps – fast, secure, searchable, multi-user</a:t>
            </a:r>
          </a:p>
        </p:txBody>
      </p:sp>
    </p:spTree>
    <p:extLst>
      <p:ext uri="{BB962C8B-B14F-4D97-AF65-F5344CB8AC3E}">
        <p14:creationId xmlns:p14="http://schemas.microsoft.com/office/powerpoint/2010/main" val="9125086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30CAE6F-7429-67A5-CE91-26B6774E5A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BB01B06-1828-0D1E-408F-452C145615B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5E81B8-681B-62A7-4D9F-894F8B09AED8}"/>
              </a:ext>
            </a:extLst>
          </p:cNvPr>
          <p:cNvSpPr>
            <a:spLocks noGrp="1"/>
          </p:cNvSpPr>
          <p:nvPr>
            <p:ph type="sldNum" sz="quarter" idx="4"/>
          </p:nvPr>
        </p:nvSpPr>
        <p:spPr/>
        <p:txBody>
          <a:bodyPr/>
          <a:lstStyle/>
          <a:p>
            <a:fld id="{16A89BA3-132D-40E1-AAB4-CDCD0A14C216}" type="slidenum">
              <a:rPr lang="en-AU" smtClean="0"/>
              <a:pPr/>
              <a:t>23</a:t>
            </a:fld>
            <a:r>
              <a:rPr lang="en-AU"/>
              <a:t>  |</a:t>
            </a:r>
            <a:endParaRPr lang="en-AU" dirty="0"/>
          </a:p>
        </p:txBody>
      </p:sp>
      <p:sp>
        <p:nvSpPr>
          <p:cNvPr id="9" name="Text Placeholder 3">
            <a:extLst>
              <a:ext uri="{FF2B5EF4-FFF2-40B4-BE49-F238E27FC236}">
                <a16:creationId xmlns:a16="http://schemas.microsoft.com/office/drawing/2014/main" id="{02734E25-D8B8-463E-FD89-18FB0E23FF0D}"/>
              </a:ext>
            </a:extLst>
          </p:cNvPr>
          <p:cNvSpPr>
            <a:spLocks noGrp="1"/>
          </p:cNvSpPr>
          <p:nvPr>
            <p:ph type="body" sz="quarter" idx="16"/>
          </p:nvPr>
        </p:nvSpPr>
        <p:spPr>
          <a:xfrm>
            <a:off x="0" y="0"/>
            <a:ext cx="7849590" cy="843148"/>
          </a:xfrm>
        </p:spPr>
        <p:txBody>
          <a:bodyPr>
            <a:noAutofit/>
          </a:bodyPr>
          <a:lstStyle/>
          <a:p>
            <a:r>
              <a:rPr lang="en-US" sz="3200" dirty="0"/>
              <a:t>Why Databases Are Better Than File Systems</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9EBCAD35-D54F-540C-1D72-C02F78858BCF}"/>
              </a:ext>
            </a:extLst>
          </p:cNvPr>
          <p:cNvGraphicFramePr>
            <a:graphicFrameLocks noGrp="1"/>
          </p:cNvGraphicFramePr>
          <p:nvPr/>
        </p:nvGraphicFramePr>
        <p:xfrm>
          <a:off x="628650" y="1493520"/>
          <a:ext cx="7886700" cy="3444240"/>
        </p:xfrm>
        <a:graphic>
          <a:graphicData uri="http://schemas.openxmlformats.org/drawingml/2006/table">
            <a:tbl>
              <a:tblPr>
                <a:tableStyleId>{ED083AE6-46FA-4A59-8FB0-9F97EB10719F}</a:tableStyleId>
              </a:tblPr>
              <a:tblGrid>
                <a:gridCol w="2628900">
                  <a:extLst>
                    <a:ext uri="{9D8B030D-6E8A-4147-A177-3AD203B41FA5}">
                      <a16:colId xmlns:a16="http://schemas.microsoft.com/office/drawing/2014/main" val="1368820529"/>
                    </a:ext>
                  </a:extLst>
                </a:gridCol>
                <a:gridCol w="2628900">
                  <a:extLst>
                    <a:ext uri="{9D8B030D-6E8A-4147-A177-3AD203B41FA5}">
                      <a16:colId xmlns:a16="http://schemas.microsoft.com/office/drawing/2014/main" val="2928352506"/>
                    </a:ext>
                  </a:extLst>
                </a:gridCol>
                <a:gridCol w="2628900">
                  <a:extLst>
                    <a:ext uri="{9D8B030D-6E8A-4147-A177-3AD203B41FA5}">
                      <a16:colId xmlns:a16="http://schemas.microsoft.com/office/drawing/2014/main" val="1431186750"/>
                    </a:ext>
                  </a:extLst>
                </a:gridCol>
              </a:tblGrid>
              <a:tr h="0">
                <a:tc>
                  <a:txBody>
                    <a:bodyPr/>
                    <a:lstStyle/>
                    <a:p>
                      <a:r>
                        <a:rPr lang="en-US" sz="2800" dirty="0">
                          <a:latin typeface="Calibri" panose="020F0502020204030204" pitchFamily="34" charset="0"/>
                          <a:cs typeface="Calibri" panose="020F0502020204030204" pitchFamily="34" charset="0"/>
                        </a:rPr>
                        <a:t>Feature</a:t>
                      </a:r>
                    </a:p>
                  </a:txBody>
                  <a:tcPr anchor="ctr">
                    <a:solidFill>
                      <a:schemeClr val="tx1">
                        <a:lumMod val="10000"/>
                        <a:lumOff val="90000"/>
                      </a:schemeClr>
                    </a:solidFill>
                  </a:tcPr>
                </a:tc>
                <a:tc>
                  <a:txBody>
                    <a:bodyPr/>
                    <a:lstStyle/>
                    <a:p>
                      <a:r>
                        <a:rPr lang="en-US" sz="2800" dirty="0">
                          <a:latin typeface="Calibri" panose="020F0502020204030204" pitchFamily="34" charset="0"/>
                          <a:cs typeface="Calibri" panose="020F0502020204030204" pitchFamily="34" charset="0"/>
                        </a:rPr>
                        <a:t>File System</a:t>
                      </a:r>
                    </a:p>
                  </a:txBody>
                  <a:tcPr anchor="ctr">
                    <a:solidFill>
                      <a:schemeClr val="tx1">
                        <a:lumMod val="10000"/>
                        <a:lumOff val="90000"/>
                      </a:schemeClr>
                    </a:solidFill>
                  </a:tcPr>
                </a:tc>
                <a:tc>
                  <a:txBody>
                    <a:bodyPr/>
                    <a:lstStyle/>
                    <a:p>
                      <a:r>
                        <a:rPr lang="en-US" sz="2800" dirty="0">
                          <a:latin typeface="Calibri" panose="020F0502020204030204" pitchFamily="34" charset="0"/>
                          <a:cs typeface="Calibri" panose="020F0502020204030204" pitchFamily="34" charset="0"/>
                        </a:rPr>
                        <a:t>Database ()</a:t>
                      </a:r>
                    </a:p>
                  </a:txBody>
                  <a:tcPr anchor="ctr">
                    <a:solidFill>
                      <a:schemeClr val="tx1">
                        <a:lumMod val="10000"/>
                        <a:lumOff val="90000"/>
                      </a:schemeClr>
                    </a:solidFill>
                  </a:tcPr>
                </a:tc>
                <a:extLst>
                  <a:ext uri="{0D108BD9-81ED-4DB2-BD59-A6C34878D82A}">
                    <a16:rowId xmlns:a16="http://schemas.microsoft.com/office/drawing/2014/main" val="1950778884"/>
                  </a:ext>
                </a:extLst>
              </a:tr>
              <a:tr h="0">
                <a:tc>
                  <a:txBody>
                    <a:bodyPr/>
                    <a:lstStyle/>
                    <a:p>
                      <a:r>
                        <a:rPr lang="en-US" sz="2800">
                          <a:latin typeface="Calibri" panose="020F0502020204030204" pitchFamily="34" charset="0"/>
                          <a:cs typeface="Calibri" panose="020F0502020204030204" pitchFamily="34" charset="0"/>
                        </a:rPr>
                        <a:t>Data Redundancy</a:t>
                      </a:r>
                    </a:p>
                  </a:txBody>
                  <a:tcPr anchor="ctr"/>
                </a:tc>
                <a:tc>
                  <a:txBody>
                    <a:bodyPr/>
                    <a:lstStyle/>
                    <a:p>
                      <a:r>
                        <a:rPr lang="en-US" sz="2800">
                          <a:latin typeface="Calibri" panose="020F0502020204030204" pitchFamily="34" charset="0"/>
                          <a:cs typeface="Calibri" panose="020F0502020204030204" pitchFamily="34" charset="0"/>
                        </a:rPr>
                        <a:t>High</a:t>
                      </a:r>
                    </a:p>
                  </a:txBody>
                  <a:tcPr anchor="ctr"/>
                </a:tc>
                <a:tc>
                  <a:txBody>
                    <a:bodyPr/>
                    <a:lstStyle/>
                    <a:p>
                      <a:r>
                        <a:rPr lang="en-US" sz="2800">
                          <a:latin typeface="Calibri" panose="020F0502020204030204" pitchFamily="34" charset="0"/>
                          <a:cs typeface="Calibri" panose="020F0502020204030204" pitchFamily="34" charset="0"/>
                        </a:rPr>
                        <a:t>Low</a:t>
                      </a:r>
                    </a:p>
                  </a:txBody>
                  <a:tcPr anchor="ctr"/>
                </a:tc>
                <a:extLst>
                  <a:ext uri="{0D108BD9-81ED-4DB2-BD59-A6C34878D82A}">
                    <a16:rowId xmlns:a16="http://schemas.microsoft.com/office/drawing/2014/main" val="1041568126"/>
                  </a:ext>
                </a:extLst>
              </a:tr>
              <a:tr h="0">
                <a:tc>
                  <a:txBody>
                    <a:bodyPr/>
                    <a:lstStyle/>
                    <a:p>
                      <a:r>
                        <a:rPr lang="en-US" sz="2800">
                          <a:latin typeface="Calibri" panose="020F0502020204030204" pitchFamily="34" charset="0"/>
                          <a:cs typeface="Calibri" panose="020F0502020204030204" pitchFamily="34" charset="0"/>
                        </a:rPr>
                        <a:t>Search Speed</a:t>
                      </a:r>
                    </a:p>
                  </a:txBody>
                  <a:tcPr anchor="ctr"/>
                </a:tc>
                <a:tc>
                  <a:txBody>
                    <a:bodyPr/>
                    <a:lstStyle/>
                    <a:p>
                      <a:r>
                        <a:rPr lang="en-US" sz="2800">
                          <a:latin typeface="Calibri" panose="020F0502020204030204" pitchFamily="34" charset="0"/>
                          <a:cs typeface="Calibri" panose="020F0502020204030204" pitchFamily="34" charset="0"/>
                        </a:rPr>
                        <a:t>Slow</a:t>
                      </a:r>
                    </a:p>
                  </a:txBody>
                  <a:tcPr anchor="ctr"/>
                </a:tc>
                <a:tc>
                  <a:txBody>
                    <a:bodyPr/>
                    <a:lstStyle/>
                    <a:p>
                      <a:r>
                        <a:rPr lang="en-US" sz="2800">
                          <a:latin typeface="Calibri" panose="020F0502020204030204" pitchFamily="34" charset="0"/>
                          <a:cs typeface="Calibri" panose="020F0502020204030204" pitchFamily="34" charset="0"/>
                        </a:rPr>
                        <a:t>Fast</a:t>
                      </a:r>
                    </a:p>
                  </a:txBody>
                  <a:tcPr anchor="ctr"/>
                </a:tc>
                <a:extLst>
                  <a:ext uri="{0D108BD9-81ED-4DB2-BD59-A6C34878D82A}">
                    <a16:rowId xmlns:a16="http://schemas.microsoft.com/office/drawing/2014/main" val="4038410637"/>
                  </a:ext>
                </a:extLst>
              </a:tr>
              <a:tr h="0">
                <a:tc>
                  <a:txBody>
                    <a:bodyPr/>
                    <a:lstStyle/>
                    <a:p>
                      <a:r>
                        <a:rPr lang="en-US" sz="2800">
                          <a:latin typeface="Calibri" panose="020F0502020204030204" pitchFamily="34" charset="0"/>
                          <a:cs typeface="Calibri" panose="020F0502020204030204" pitchFamily="34" charset="0"/>
                        </a:rPr>
                        <a:t>Multi-user Access</a:t>
                      </a:r>
                    </a:p>
                  </a:txBody>
                  <a:tcPr anchor="ctr"/>
                </a:tc>
                <a:tc>
                  <a:txBody>
                    <a:bodyPr/>
                    <a:lstStyle/>
                    <a:p>
                      <a:r>
                        <a:rPr lang="en-US" sz="2800">
                          <a:latin typeface="Calibri" panose="020F0502020204030204" pitchFamily="34" charset="0"/>
                          <a:cs typeface="Calibri" panose="020F0502020204030204" pitchFamily="34" charset="0"/>
                        </a:rPr>
                        <a:t>Hard</a:t>
                      </a:r>
                    </a:p>
                  </a:txBody>
                  <a:tcPr anchor="ctr"/>
                </a:tc>
                <a:tc>
                  <a:txBody>
                    <a:bodyPr/>
                    <a:lstStyle/>
                    <a:p>
                      <a:r>
                        <a:rPr lang="en-US" sz="2800">
                          <a:latin typeface="Calibri" panose="020F0502020204030204" pitchFamily="34" charset="0"/>
                          <a:cs typeface="Calibri" panose="020F0502020204030204" pitchFamily="34" charset="0"/>
                        </a:rPr>
                        <a:t>Easy</a:t>
                      </a:r>
                    </a:p>
                  </a:txBody>
                  <a:tcPr anchor="ctr"/>
                </a:tc>
                <a:extLst>
                  <a:ext uri="{0D108BD9-81ED-4DB2-BD59-A6C34878D82A}">
                    <a16:rowId xmlns:a16="http://schemas.microsoft.com/office/drawing/2014/main" val="1810339865"/>
                  </a:ext>
                </a:extLst>
              </a:tr>
              <a:tr h="0">
                <a:tc>
                  <a:txBody>
                    <a:bodyPr/>
                    <a:lstStyle/>
                    <a:p>
                      <a:r>
                        <a:rPr lang="en-US" sz="2800">
                          <a:latin typeface="Calibri" panose="020F0502020204030204" pitchFamily="34" charset="0"/>
                          <a:cs typeface="Calibri" panose="020F0502020204030204" pitchFamily="34" charset="0"/>
                        </a:rPr>
                        <a:t>Security</a:t>
                      </a:r>
                    </a:p>
                  </a:txBody>
                  <a:tcPr anchor="ctr"/>
                </a:tc>
                <a:tc>
                  <a:txBody>
                    <a:bodyPr/>
                    <a:lstStyle/>
                    <a:p>
                      <a:r>
                        <a:rPr lang="en-US" sz="2800">
                          <a:latin typeface="Calibri" panose="020F0502020204030204" pitchFamily="34" charset="0"/>
                          <a:cs typeface="Calibri" panose="020F0502020204030204" pitchFamily="34" charset="0"/>
                        </a:rPr>
                        <a:t>Weak</a:t>
                      </a:r>
                    </a:p>
                  </a:txBody>
                  <a:tcPr anchor="ctr"/>
                </a:tc>
                <a:tc>
                  <a:txBody>
                    <a:bodyPr/>
                    <a:lstStyle/>
                    <a:p>
                      <a:r>
                        <a:rPr lang="en-US" sz="2800" dirty="0">
                          <a:latin typeface="Calibri" panose="020F0502020204030204" pitchFamily="34" charset="0"/>
                          <a:cs typeface="Calibri" panose="020F0502020204030204" pitchFamily="34" charset="0"/>
                        </a:rPr>
                        <a:t>Strong</a:t>
                      </a:r>
                    </a:p>
                  </a:txBody>
                  <a:tcPr anchor="ctr"/>
                </a:tc>
                <a:extLst>
                  <a:ext uri="{0D108BD9-81ED-4DB2-BD59-A6C34878D82A}">
                    <a16:rowId xmlns:a16="http://schemas.microsoft.com/office/drawing/2014/main" val="3465947376"/>
                  </a:ext>
                </a:extLst>
              </a:tr>
            </a:tbl>
          </a:graphicData>
        </a:graphic>
      </p:graphicFrame>
    </p:spTree>
    <p:extLst>
      <p:ext uri="{BB962C8B-B14F-4D97-AF65-F5344CB8AC3E}">
        <p14:creationId xmlns:p14="http://schemas.microsoft.com/office/powerpoint/2010/main" val="2838147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A905E64-B862-F3FF-B774-D41C941AE5A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40F014-73F7-A62A-1EC7-056A0F3D1D5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B5CFFF-C727-13EF-0488-0607E9CDE359}"/>
              </a:ext>
            </a:extLst>
          </p:cNvPr>
          <p:cNvSpPr>
            <a:spLocks noGrp="1"/>
          </p:cNvSpPr>
          <p:nvPr>
            <p:ph type="sldNum" sz="quarter" idx="4"/>
          </p:nvPr>
        </p:nvSpPr>
        <p:spPr/>
        <p:txBody>
          <a:bodyPr/>
          <a:lstStyle/>
          <a:p>
            <a:fld id="{16A89BA3-132D-40E1-AAB4-CDCD0A14C216}" type="slidenum">
              <a:rPr lang="en-AU" smtClean="0"/>
              <a:pPr/>
              <a:t>24</a:t>
            </a:fld>
            <a:r>
              <a:rPr lang="en-AU"/>
              <a:t>  |</a:t>
            </a:r>
            <a:endParaRPr lang="en-AU" dirty="0"/>
          </a:p>
        </p:txBody>
      </p:sp>
      <p:sp>
        <p:nvSpPr>
          <p:cNvPr id="9" name="Text Placeholder 3">
            <a:extLst>
              <a:ext uri="{FF2B5EF4-FFF2-40B4-BE49-F238E27FC236}">
                <a16:creationId xmlns:a16="http://schemas.microsoft.com/office/drawing/2014/main" id="{DEE757E1-763A-9142-C034-7CC179C7EF80}"/>
              </a:ext>
            </a:extLst>
          </p:cNvPr>
          <p:cNvSpPr>
            <a:spLocks noGrp="1"/>
          </p:cNvSpPr>
          <p:nvPr>
            <p:ph type="body" sz="quarter" idx="16"/>
          </p:nvPr>
        </p:nvSpPr>
        <p:spPr>
          <a:xfrm>
            <a:off x="0" y="0"/>
            <a:ext cx="7849590" cy="843148"/>
          </a:xfrm>
        </p:spPr>
        <p:txBody>
          <a:bodyPr>
            <a:noAutofit/>
          </a:bodyPr>
          <a:lstStyle/>
          <a:p>
            <a:r>
              <a:rPr lang="en-US" sz="3200" dirty="0"/>
              <a:t>Why Databases Are Better Than File Systems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512A909B-F024-CA33-08BD-D43F1CBD9E22}"/>
              </a:ext>
            </a:extLst>
          </p:cNvPr>
          <p:cNvSpPr txBox="1"/>
          <p:nvPr/>
        </p:nvSpPr>
        <p:spPr>
          <a:xfrm>
            <a:off x="0" y="2123578"/>
            <a:ext cx="9144000" cy="2610843"/>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Australian Analogy: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Think of ATO’s tax records – you can’t manage millions of taxpayer files using Excel. Databases keep it fast, secure, and reliable.</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029908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8A7027-E35C-0AAC-9384-F0D9D87003E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AE6D1FA-7A67-6476-E119-1BDC6446A64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559A221-A5A3-7AEF-8DE3-A0D743C2AB2A}"/>
              </a:ext>
            </a:extLst>
          </p:cNvPr>
          <p:cNvSpPr>
            <a:spLocks noGrp="1"/>
          </p:cNvSpPr>
          <p:nvPr>
            <p:ph type="sldNum" sz="quarter" idx="4"/>
          </p:nvPr>
        </p:nvSpPr>
        <p:spPr/>
        <p:txBody>
          <a:bodyPr/>
          <a:lstStyle/>
          <a:p>
            <a:fld id="{16A89BA3-132D-40E1-AAB4-CDCD0A14C216}" type="slidenum">
              <a:rPr lang="en-AU" smtClean="0"/>
              <a:pPr/>
              <a:t>25</a:t>
            </a:fld>
            <a:r>
              <a:rPr lang="en-AU"/>
              <a:t>  |</a:t>
            </a:r>
            <a:endParaRPr lang="en-AU" dirty="0"/>
          </a:p>
        </p:txBody>
      </p:sp>
      <p:sp>
        <p:nvSpPr>
          <p:cNvPr id="9" name="Text Placeholder 3">
            <a:extLst>
              <a:ext uri="{FF2B5EF4-FFF2-40B4-BE49-F238E27FC236}">
                <a16:creationId xmlns:a16="http://schemas.microsoft.com/office/drawing/2014/main" id="{1C251E6F-55AD-0BE4-F385-7B89A1E700CB}"/>
              </a:ext>
            </a:extLst>
          </p:cNvPr>
          <p:cNvSpPr>
            <a:spLocks noGrp="1"/>
          </p:cNvSpPr>
          <p:nvPr>
            <p:ph type="body" sz="quarter" idx="16"/>
          </p:nvPr>
        </p:nvSpPr>
        <p:spPr>
          <a:xfrm>
            <a:off x="0" y="0"/>
            <a:ext cx="7849590" cy="843148"/>
          </a:xfrm>
        </p:spPr>
        <p:txBody>
          <a:bodyPr>
            <a:noAutofit/>
          </a:bodyPr>
          <a:lstStyle/>
          <a:p>
            <a:r>
              <a:rPr lang="en-US" sz="3200" dirty="0"/>
              <a:t>Key Database Concepts – Tables, Records, Fields, Keys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57B79CE9-448B-7A64-DCCA-8097BBB9002D}"/>
              </a:ext>
            </a:extLst>
          </p:cNvPr>
          <p:cNvSpPr txBox="1"/>
          <p:nvPr/>
        </p:nvSpPr>
        <p:spPr>
          <a:xfrm>
            <a:off x="0" y="1800413"/>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Tables, Records, Fields &amp; Keys – The Building Blocks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Table = Like a spreadsheet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Record (row) = One item (e.g., a student)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Field (column) = A characteristic (e.g., name, ID)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Primary Key = A unique ID (e.g., Student ID)</a:t>
            </a:r>
          </a:p>
        </p:txBody>
      </p:sp>
    </p:spTree>
    <p:extLst>
      <p:ext uri="{BB962C8B-B14F-4D97-AF65-F5344CB8AC3E}">
        <p14:creationId xmlns:p14="http://schemas.microsoft.com/office/powerpoint/2010/main" val="18531021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B800835-8DCA-EFA7-0C01-2D47D70FF27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1280300-96F2-0394-6E64-C766EDE37F0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248B08A-8153-2D30-8195-1D448BD28590}"/>
              </a:ext>
            </a:extLst>
          </p:cNvPr>
          <p:cNvSpPr>
            <a:spLocks noGrp="1"/>
          </p:cNvSpPr>
          <p:nvPr>
            <p:ph type="sldNum" sz="quarter" idx="4"/>
          </p:nvPr>
        </p:nvSpPr>
        <p:spPr/>
        <p:txBody>
          <a:bodyPr/>
          <a:lstStyle/>
          <a:p>
            <a:fld id="{16A89BA3-132D-40E1-AAB4-CDCD0A14C216}" type="slidenum">
              <a:rPr lang="en-AU" smtClean="0"/>
              <a:pPr/>
              <a:t>26</a:t>
            </a:fld>
            <a:r>
              <a:rPr lang="en-AU"/>
              <a:t>  |</a:t>
            </a:r>
            <a:endParaRPr lang="en-AU" dirty="0"/>
          </a:p>
        </p:txBody>
      </p:sp>
      <p:sp>
        <p:nvSpPr>
          <p:cNvPr id="9" name="Text Placeholder 3">
            <a:extLst>
              <a:ext uri="{FF2B5EF4-FFF2-40B4-BE49-F238E27FC236}">
                <a16:creationId xmlns:a16="http://schemas.microsoft.com/office/drawing/2014/main" id="{E4D9CB4E-8878-54E5-8A48-3B6664B6C2FB}"/>
              </a:ext>
            </a:extLst>
          </p:cNvPr>
          <p:cNvSpPr>
            <a:spLocks noGrp="1"/>
          </p:cNvSpPr>
          <p:nvPr>
            <p:ph type="body" sz="quarter" idx="16"/>
          </p:nvPr>
        </p:nvSpPr>
        <p:spPr>
          <a:xfrm>
            <a:off x="0" y="0"/>
            <a:ext cx="7849590" cy="843148"/>
          </a:xfrm>
        </p:spPr>
        <p:txBody>
          <a:bodyPr>
            <a:noAutofit/>
          </a:bodyPr>
          <a:lstStyle/>
          <a:p>
            <a:r>
              <a:rPr lang="en-US" sz="3200" dirty="0"/>
              <a:t>Key Database Concepts – Tables, Records, Fields, Keys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DECCAB8-9769-67C8-049A-09AF2438E49A}"/>
              </a:ext>
            </a:extLst>
          </p:cNvPr>
          <p:cNvSpPr txBox="1"/>
          <p:nvPr/>
        </p:nvSpPr>
        <p:spPr>
          <a:xfrm>
            <a:off x="0" y="1800413"/>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Analogy: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student database is like a university class list.</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Each student = a record</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Each column = name, major, email</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The Student ID = primary key to uniquely identify each person</a:t>
            </a:r>
          </a:p>
        </p:txBody>
      </p:sp>
    </p:spTree>
    <p:extLst>
      <p:ext uri="{BB962C8B-B14F-4D97-AF65-F5344CB8AC3E}">
        <p14:creationId xmlns:p14="http://schemas.microsoft.com/office/powerpoint/2010/main" val="14487029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93038EF-930E-4C93-B804-F116E359C49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EE4E682-4AC0-E5CC-D8DA-2B02488AFCA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FA17BB-1395-A6CC-1660-05EA0014BCB7}"/>
              </a:ext>
            </a:extLst>
          </p:cNvPr>
          <p:cNvSpPr>
            <a:spLocks noGrp="1"/>
          </p:cNvSpPr>
          <p:nvPr>
            <p:ph type="sldNum" sz="quarter" idx="4"/>
          </p:nvPr>
        </p:nvSpPr>
        <p:spPr/>
        <p:txBody>
          <a:bodyPr/>
          <a:lstStyle/>
          <a:p>
            <a:fld id="{16A89BA3-132D-40E1-AAB4-CDCD0A14C216}" type="slidenum">
              <a:rPr lang="en-AU" smtClean="0"/>
              <a:pPr/>
              <a:t>27</a:t>
            </a:fld>
            <a:r>
              <a:rPr lang="en-AU"/>
              <a:t>  |</a:t>
            </a:r>
            <a:endParaRPr lang="en-AU" dirty="0"/>
          </a:p>
        </p:txBody>
      </p:sp>
      <p:sp>
        <p:nvSpPr>
          <p:cNvPr id="9" name="Text Placeholder 3">
            <a:extLst>
              <a:ext uri="{FF2B5EF4-FFF2-40B4-BE49-F238E27FC236}">
                <a16:creationId xmlns:a16="http://schemas.microsoft.com/office/drawing/2014/main" id="{0088733E-5425-FBA0-A5B3-48EACFDABD19}"/>
              </a:ext>
            </a:extLst>
          </p:cNvPr>
          <p:cNvSpPr>
            <a:spLocks noGrp="1"/>
          </p:cNvSpPr>
          <p:nvPr>
            <p:ph type="body" sz="quarter" idx="16"/>
          </p:nvPr>
        </p:nvSpPr>
        <p:spPr>
          <a:xfrm>
            <a:off x="0" y="0"/>
            <a:ext cx="7849590" cy="843148"/>
          </a:xfrm>
        </p:spPr>
        <p:txBody>
          <a:bodyPr>
            <a:noAutofit/>
          </a:bodyPr>
          <a:lstStyle/>
          <a:p>
            <a:r>
              <a:rPr lang="en-US" sz="3200" dirty="0"/>
              <a:t>Key Database Concepts – Tables, Records, Fields, Keys</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B7914895-326A-73C6-650C-BF740446C725}"/>
              </a:ext>
            </a:extLst>
          </p:cNvPr>
          <p:cNvGraphicFramePr>
            <a:graphicFrameLocks noGrp="1"/>
          </p:cNvGraphicFramePr>
          <p:nvPr/>
        </p:nvGraphicFramePr>
        <p:xfrm>
          <a:off x="628650" y="2346103"/>
          <a:ext cx="7886700" cy="1330706"/>
        </p:xfrm>
        <a:graphic>
          <a:graphicData uri="http://schemas.openxmlformats.org/drawingml/2006/table">
            <a:tbl>
              <a:tblPr>
                <a:tableStyleId>{ED083AE6-46FA-4A59-8FB0-9F97EB10719F}</a:tableStyleId>
              </a:tblPr>
              <a:tblGrid>
                <a:gridCol w="2628900">
                  <a:extLst>
                    <a:ext uri="{9D8B030D-6E8A-4147-A177-3AD203B41FA5}">
                      <a16:colId xmlns:a16="http://schemas.microsoft.com/office/drawing/2014/main" val="1987571559"/>
                    </a:ext>
                  </a:extLst>
                </a:gridCol>
                <a:gridCol w="2628900">
                  <a:extLst>
                    <a:ext uri="{9D8B030D-6E8A-4147-A177-3AD203B41FA5}">
                      <a16:colId xmlns:a16="http://schemas.microsoft.com/office/drawing/2014/main" val="89244227"/>
                    </a:ext>
                  </a:extLst>
                </a:gridCol>
                <a:gridCol w="2628900">
                  <a:extLst>
                    <a:ext uri="{9D8B030D-6E8A-4147-A177-3AD203B41FA5}">
                      <a16:colId xmlns:a16="http://schemas.microsoft.com/office/drawing/2014/main" val="680670750"/>
                    </a:ext>
                  </a:extLst>
                </a:gridCol>
              </a:tblGrid>
              <a:tr h="0">
                <a:tc>
                  <a:txBody>
                    <a:bodyPr/>
                    <a:lstStyle/>
                    <a:p>
                      <a:pPr>
                        <a:lnSpc>
                          <a:spcPct val="150000"/>
                        </a:lnSpc>
                      </a:pPr>
                      <a:r>
                        <a:rPr lang="en-US" sz="2800">
                          <a:latin typeface="Calibri" panose="020F0502020204030204" pitchFamily="34" charset="0"/>
                          <a:cs typeface="Calibri" panose="020F0502020204030204" pitchFamily="34" charset="0"/>
                        </a:rPr>
                        <a:t>Student ID</a:t>
                      </a:r>
                    </a:p>
                  </a:txBody>
                  <a:tcPr anchor="ctr"/>
                </a:tc>
                <a:tc>
                  <a:txBody>
                    <a:bodyPr/>
                    <a:lstStyle/>
                    <a:p>
                      <a:pPr>
                        <a:lnSpc>
                          <a:spcPct val="150000"/>
                        </a:lnSpc>
                      </a:pPr>
                      <a:r>
                        <a:rPr lang="en-US" sz="2800">
                          <a:latin typeface="Calibri" panose="020F0502020204030204" pitchFamily="34" charset="0"/>
                          <a:cs typeface="Calibri" panose="020F0502020204030204" pitchFamily="34" charset="0"/>
                        </a:rPr>
                        <a:t>Name</a:t>
                      </a:r>
                    </a:p>
                  </a:txBody>
                  <a:tcPr anchor="ctr"/>
                </a:tc>
                <a:tc>
                  <a:txBody>
                    <a:bodyPr/>
                    <a:lstStyle/>
                    <a:p>
                      <a:pPr>
                        <a:lnSpc>
                          <a:spcPct val="150000"/>
                        </a:lnSpc>
                      </a:pPr>
                      <a:r>
                        <a:rPr lang="en-US" sz="2800">
                          <a:latin typeface="Calibri" panose="020F0502020204030204" pitchFamily="34" charset="0"/>
                          <a:cs typeface="Calibri" panose="020F0502020204030204" pitchFamily="34" charset="0"/>
                        </a:rPr>
                        <a:t>Major</a:t>
                      </a:r>
                    </a:p>
                  </a:txBody>
                  <a:tcPr anchor="ctr"/>
                </a:tc>
                <a:extLst>
                  <a:ext uri="{0D108BD9-81ED-4DB2-BD59-A6C34878D82A}">
                    <a16:rowId xmlns:a16="http://schemas.microsoft.com/office/drawing/2014/main" val="1893736760"/>
                  </a:ext>
                </a:extLst>
              </a:tr>
              <a:tr h="0">
                <a:tc>
                  <a:txBody>
                    <a:bodyPr/>
                    <a:lstStyle/>
                    <a:p>
                      <a:pPr>
                        <a:lnSpc>
                          <a:spcPct val="150000"/>
                        </a:lnSpc>
                      </a:pPr>
                      <a:r>
                        <a:rPr lang="en-US" sz="2800">
                          <a:latin typeface="Calibri" panose="020F0502020204030204" pitchFamily="34" charset="0"/>
                          <a:cs typeface="Calibri" panose="020F0502020204030204" pitchFamily="34" charset="0"/>
                        </a:rPr>
                        <a:t>S123456</a:t>
                      </a:r>
                    </a:p>
                  </a:txBody>
                  <a:tcPr anchor="ctr"/>
                </a:tc>
                <a:tc>
                  <a:txBody>
                    <a:bodyPr/>
                    <a:lstStyle/>
                    <a:p>
                      <a:pPr>
                        <a:lnSpc>
                          <a:spcPct val="150000"/>
                        </a:lnSpc>
                      </a:pPr>
                      <a:r>
                        <a:rPr lang="en-US" sz="2800">
                          <a:latin typeface="Calibri" panose="020F0502020204030204" pitchFamily="34" charset="0"/>
                          <a:cs typeface="Calibri" panose="020F0502020204030204" pitchFamily="34" charset="0"/>
                        </a:rPr>
                        <a:t>Aria Chen</a:t>
                      </a:r>
                    </a:p>
                  </a:txBody>
                  <a:tcPr anchor="ctr"/>
                </a:tc>
                <a:tc>
                  <a:txBody>
                    <a:bodyPr/>
                    <a:lstStyle/>
                    <a:p>
                      <a:pPr>
                        <a:lnSpc>
                          <a:spcPct val="150000"/>
                        </a:lnSpc>
                      </a:pPr>
                      <a:r>
                        <a:rPr lang="en-US" sz="2800" dirty="0">
                          <a:latin typeface="Calibri" panose="020F0502020204030204" pitchFamily="34" charset="0"/>
                          <a:cs typeface="Calibri" panose="020F0502020204030204" pitchFamily="34" charset="0"/>
                        </a:rPr>
                        <a:t>Cybersecurity</a:t>
                      </a:r>
                    </a:p>
                  </a:txBody>
                  <a:tcPr anchor="ctr"/>
                </a:tc>
                <a:extLst>
                  <a:ext uri="{0D108BD9-81ED-4DB2-BD59-A6C34878D82A}">
                    <a16:rowId xmlns:a16="http://schemas.microsoft.com/office/drawing/2014/main" val="3239475507"/>
                  </a:ext>
                </a:extLst>
              </a:tr>
            </a:tbl>
          </a:graphicData>
        </a:graphic>
      </p:graphicFrame>
      <p:sp>
        <p:nvSpPr>
          <p:cNvPr id="5" name="Rectangle 1">
            <a:extLst>
              <a:ext uri="{FF2B5EF4-FFF2-40B4-BE49-F238E27FC236}">
                <a16:creationId xmlns:a16="http://schemas.microsoft.com/office/drawing/2014/main" id="{4E92B5CB-3743-6ACA-9CE9-FF6C0F5437B5}"/>
              </a:ext>
            </a:extLst>
          </p:cNvPr>
          <p:cNvSpPr>
            <a:spLocks noChangeArrowheads="1"/>
          </p:cNvSpPr>
          <p:nvPr/>
        </p:nvSpPr>
        <p:spPr bwMode="auto">
          <a:xfrm>
            <a:off x="0" y="1163116"/>
            <a:ext cx="154959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Example:</a:t>
            </a:r>
            <a:endPar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54439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37DE6D5-D724-4105-A242-9A1FEAA793D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2F60854-B653-5050-33BC-669168F6AD8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8531C4D-B364-3246-6390-37894F992E99}"/>
              </a:ext>
            </a:extLst>
          </p:cNvPr>
          <p:cNvSpPr>
            <a:spLocks noGrp="1"/>
          </p:cNvSpPr>
          <p:nvPr>
            <p:ph type="sldNum" sz="quarter" idx="4"/>
          </p:nvPr>
        </p:nvSpPr>
        <p:spPr/>
        <p:txBody>
          <a:bodyPr/>
          <a:lstStyle/>
          <a:p>
            <a:fld id="{16A89BA3-132D-40E1-AAB4-CDCD0A14C216}" type="slidenum">
              <a:rPr lang="en-AU" smtClean="0"/>
              <a:pPr/>
              <a:t>28</a:t>
            </a:fld>
            <a:r>
              <a:rPr lang="en-AU"/>
              <a:t>  |</a:t>
            </a:r>
            <a:endParaRPr lang="en-AU" dirty="0"/>
          </a:p>
        </p:txBody>
      </p:sp>
      <p:sp>
        <p:nvSpPr>
          <p:cNvPr id="9" name="Text Placeholder 3">
            <a:extLst>
              <a:ext uri="{FF2B5EF4-FFF2-40B4-BE49-F238E27FC236}">
                <a16:creationId xmlns:a16="http://schemas.microsoft.com/office/drawing/2014/main" id="{2754AB3E-DEEE-30DC-C800-C8432F373890}"/>
              </a:ext>
            </a:extLst>
          </p:cNvPr>
          <p:cNvSpPr>
            <a:spLocks noGrp="1"/>
          </p:cNvSpPr>
          <p:nvPr>
            <p:ph type="body" sz="quarter" idx="16"/>
          </p:nvPr>
        </p:nvSpPr>
        <p:spPr>
          <a:xfrm>
            <a:off x="0" y="0"/>
            <a:ext cx="7704083" cy="851338"/>
          </a:xfrm>
        </p:spPr>
        <p:txBody>
          <a:bodyPr>
            <a:noAutofit/>
          </a:bodyPr>
          <a:lstStyle/>
          <a:p>
            <a:r>
              <a:rPr lang="en-US" sz="3200" dirty="0"/>
              <a:t>What is Database Management System?</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F01D7AE-D440-5A21-74A6-63676709CA10}"/>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 (Database Management System)</a:t>
            </a:r>
            <a:r>
              <a:rPr lang="en-US" sz="2800" dirty="0">
                <a:latin typeface="Calibri" panose="020F0502020204030204" pitchFamily="34" charset="0"/>
                <a:cs typeface="Calibri" panose="020F0502020204030204" pitchFamily="34" charset="0"/>
              </a:rPr>
              <a:t> is software that manages databases.</a:t>
            </a:r>
          </a:p>
          <a:p>
            <a:pPr>
              <a:lnSpc>
                <a:spcPct val="150000"/>
              </a:lnSpc>
            </a:pPr>
            <a:r>
              <a:rPr lang="en-US" sz="2800" dirty="0">
                <a:latin typeface="Calibri" panose="020F0502020204030204" pitchFamily="34" charset="0"/>
                <a:cs typeface="Calibri" panose="020F0502020204030204" pitchFamily="34" charset="0"/>
              </a:rPr>
              <a:t>Examples: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MySQL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Oracle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SQL Server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PostgreSQL</a:t>
            </a:r>
          </a:p>
        </p:txBody>
      </p:sp>
    </p:spTree>
    <p:extLst>
      <p:ext uri="{BB962C8B-B14F-4D97-AF65-F5344CB8AC3E}">
        <p14:creationId xmlns:p14="http://schemas.microsoft.com/office/powerpoint/2010/main" val="1306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5A379CA-69DA-0C21-AEAB-5AC248D19B8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E64439C-D93B-2A4D-539C-674EB5E4FF6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457014-41ED-22B2-6A98-77A815322CC6}"/>
              </a:ext>
            </a:extLst>
          </p:cNvPr>
          <p:cNvSpPr>
            <a:spLocks noGrp="1"/>
          </p:cNvSpPr>
          <p:nvPr>
            <p:ph type="sldNum" sz="quarter" idx="4"/>
          </p:nvPr>
        </p:nvSpPr>
        <p:spPr/>
        <p:txBody>
          <a:bodyPr/>
          <a:lstStyle/>
          <a:p>
            <a:fld id="{16A89BA3-132D-40E1-AAB4-CDCD0A14C216}" type="slidenum">
              <a:rPr lang="en-AU" smtClean="0"/>
              <a:pPr/>
              <a:t>29</a:t>
            </a:fld>
            <a:r>
              <a:rPr lang="en-AU"/>
              <a:t>  |</a:t>
            </a:r>
            <a:endParaRPr lang="en-AU" dirty="0"/>
          </a:p>
        </p:txBody>
      </p:sp>
      <p:sp>
        <p:nvSpPr>
          <p:cNvPr id="13" name="TextBox 12">
            <a:extLst>
              <a:ext uri="{FF2B5EF4-FFF2-40B4-BE49-F238E27FC236}">
                <a16:creationId xmlns:a16="http://schemas.microsoft.com/office/drawing/2014/main" id="{7098B146-725C-261F-C727-EB7190B82374}"/>
              </a:ext>
            </a:extLst>
          </p:cNvPr>
          <p:cNvSpPr txBox="1"/>
          <p:nvPr/>
        </p:nvSpPr>
        <p:spPr>
          <a:xfrm>
            <a:off x="0" y="1070690"/>
            <a:ext cx="6674069" cy="3257174"/>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 allows users to:</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Add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Delete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Update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Search data</a:t>
            </a:r>
          </a:p>
        </p:txBody>
      </p:sp>
      <p:sp>
        <p:nvSpPr>
          <p:cNvPr id="6" name="Text Placeholder 3">
            <a:extLst>
              <a:ext uri="{FF2B5EF4-FFF2-40B4-BE49-F238E27FC236}">
                <a16:creationId xmlns:a16="http://schemas.microsoft.com/office/drawing/2014/main" id="{09A8969B-89CA-3BC3-ED81-1281E0E9AC10}"/>
              </a:ext>
            </a:extLst>
          </p:cNvPr>
          <p:cNvSpPr txBox="1">
            <a:spLocks/>
          </p:cNvSpPr>
          <p:nvPr/>
        </p:nvSpPr>
        <p:spPr>
          <a:xfrm>
            <a:off x="0" y="0"/>
            <a:ext cx="7704083" cy="851338"/>
          </a:xfrm>
          <a:prstGeom prst="rect">
            <a:avLst/>
          </a:prstGeom>
        </p:spPr>
        <p:txBody>
          <a:bodyPr vert="horz" lIns="91440" tIns="45720" rIns="91440" bIns="45720" rtlCol="0" anchor="ctr">
            <a:noAutofit/>
          </a:bodyPr>
          <a:lstStyle>
            <a:lvl1pPr marL="0" indent="0" algn="l" defTabSz="914400" rtl="0" eaLnBrk="1" latinLnBrk="0" hangingPunct="1">
              <a:lnSpc>
                <a:spcPct val="100000"/>
              </a:lnSpc>
              <a:spcBef>
                <a:spcPts val="1000"/>
              </a:spcBef>
              <a:buClr>
                <a:srgbClr val="F2120C"/>
              </a:buClr>
              <a:buFont typeface="Arial" panose="020B0604020202020204" pitchFamily="34" charset="0"/>
              <a:buNone/>
              <a:defRPr sz="1500" b="1"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What is Database Management System?</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500341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05C0947-7D8A-34D7-05A8-629ED11A1B8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0F94673-0439-1531-1FAF-0ECA6B3EAF7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56BFA8D-A00A-DB6C-7C96-6A9CE96F4640}"/>
              </a:ext>
            </a:extLst>
          </p:cNvPr>
          <p:cNvSpPr>
            <a:spLocks noGrp="1"/>
          </p:cNvSpPr>
          <p:nvPr>
            <p:ph type="sldNum" sz="quarter" idx="4"/>
          </p:nvPr>
        </p:nvSpPr>
        <p:spPr/>
        <p:txBody>
          <a:bodyPr/>
          <a:lstStyle/>
          <a:p>
            <a:fld id="{16A89BA3-132D-40E1-AAB4-CDCD0A14C216}" type="slidenum">
              <a:rPr lang="en-AU" smtClean="0"/>
              <a:pPr/>
              <a:t>30</a:t>
            </a:fld>
            <a:r>
              <a:rPr lang="en-AU"/>
              <a:t>  |</a:t>
            </a:r>
            <a:endParaRPr lang="en-AU" dirty="0"/>
          </a:p>
        </p:txBody>
      </p:sp>
      <p:sp>
        <p:nvSpPr>
          <p:cNvPr id="9" name="Text Placeholder 3">
            <a:extLst>
              <a:ext uri="{FF2B5EF4-FFF2-40B4-BE49-F238E27FC236}">
                <a16:creationId xmlns:a16="http://schemas.microsoft.com/office/drawing/2014/main" id="{23E914C6-49B2-CDFF-8533-C8402381D833}"/>
              </a:ext>
            </a:extLst>
          </p:cNvPr>
          <p:cNvSpPr>
            <a:spLocks noGrp="1"/>
          </p:cNvSpPr>
          <p:nvPr>
            <p:ph type="body" sz="quarter" idx="16"/>
          </p:nvPr>
        </p:nvSpPr>
        <p:spPr>
          <a:xfrm>
            <a:off x="0" y="-118754"/>
            <a:ext cx="7849590" cy="843148"/>
          </a:xfrm>
        </p:spPr>
        <p:txBody>
          <a:bodyPr>
            <a:noAutofit/>
          </a:bodyPr>
          <a:lstStyle/>
          <a:p>
            <a:r>
              <a:rPr lang="en-US" sz="3200" dirty="0"/>
              <a:t>Real-World Examples of  Usage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027A01F-1F0F-8DB3-87C1-B6B3DC16B75C}"/>
              </a:ext>
            </a:extLst>
          </p:cNvPr>
          <p:cNvSpPr txBox="1"/>
          <p:nvPr/>
        </p:nvSpPr>
        <p:spPr>
          <a:xfrm>
            <a:off x="0" y="532461"/>
            <a:ext cx="9144000" cy="6488828"/>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Where Do We Use Databases in Australia?</a:t>
            </a:r>
          </a:p>
          <a:p>
            <a:pPr>
              <a:lnSpc>
                <a:spcPct val="150000"/>
              </a:lnSpc>
            </a:pPr>
            <a:r>
              <a:rPr lang="en-US" sz="2800" b="1" dirty="0">
                <a:latin typeface="Calibri" panose="020F0502020204030204" pitchFamily="34" charset="0"/>
                <a:cs typeface="Calibri" panose="020F0502020204030204" pitchFamily="34" charset="0"/>
              </a:rPr>
              <a:t>Examples:</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Medicare (MyGov)</a:t>
            </a:r>
            <a:r>
              <a:rPr lang="en-US" sz="2800" dirty="0">
                <a:latin typeface="Calibri" panose="020F0502020204030204" pitchFamily="34" charset="0"/>
                <a:cs typeface="Calibri" panose="020F0502020204030204" pitchFamily="34" charset="0"/>
              </a:rPr>
              <a:t> – Patient info, appointments, prescriptions</a:t>
            </a:r>
          </a:p>
          <a:p>
            <a:pPr marL="914400" lvl="1" indent="-457200">
              <a:lnSpc>
                <a:spcPct val="150000"/>
              </a:lnSpc>
              <a:buFont typeface="Arial" panose="020B0604020202020204" pitchFamily="34" charset="0"/>
              <a:buChar char="•"/>
            </a:pPr>
            <a:r>
              <a:rPr lang="en-US" sz="2800" b="1" dirty="0" err="1">
                <a:latin typeface="Calibri" panose="020F0502020204030204" pitchFamily="34" charset="0"/>
                <a:cs typeface="Calibri" panose="020F0502020204030204" pitchFamily="34" charset="0"/>
              </a:rPr>
              <a:t>MyUni</a:t>
            </a:r>
            <a:r>
              <a:rPr lang="en-US" sz="2800" b="1" dirty="0">
                <a:latin typeface="Calibri" panose="020F0502020204030204" pitchFamily="34" charset="0"/>
                <a:cs typeface="Calibri" panose="020F0502020204030204" pitchFamily="34" charset="0"/>
              </a:rPr>
              <a:t> ACU System</a:t>
            </a:r>
            <a:r>
              <a:rPr lang="en-US" sz="2800" dirty="0">
                <a:latin typeface="Calibri" panose="020F0502020204030204" pitchFamily="34" charset="0"/>
                <a:cs typeface="Calibri" panose="020F0502020204030204" pitchFamily="34" charset="0"/>
              </a:rPr>
              <a:t> – Student records, course enrollments, grades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Woolworths Rewards</a:t>
            </a:r>
            <a:r>
              <a:rPr lang="en-US" sz="2800" dirty="0">
                <a:latin typeface="Calibri" panose="020F0502020204030204" pitchFamily="34" charset="0"/>
                <a:cs typeface="Calibri" panose="020F0502020204030204" pitchFamily="34" charset="0"/>
              </a:rPr>
              <a:t> – Tracks customer purchases, rewards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Centrelink</a:t>
            </a:r>
            <a:r>
              <a:rPr lang="en-US" sz="2800" dirty="0">
                <a:latin typeface="Calibri" panose="020F0502020204030204" pitchFamily="34" charset="0"/>
                <a:cs typeface="Calibri" panose="020F0502020204030204" pitchFamily="34" charset="0"/>
              </a:rPr>
              <a:t> – Client details, payment history, benefit eligibility</a:t>
            </a:r>
          </a:p>
        </p:txBody>
      </p:sp>
    </p:spTree>
    <p:extLst>
      <p:ext uri="{BB962C8B-B14F-4D97-AF65-F5344CB8AC3E}">
        <p14:creationId xmlns:p14="http://schemas.microsoft.com/office/powerpoint/2010/main" val="1316760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1000"/>
                                        <p:tgtEl>
                                          <p:spTgt spid="7">
                                            <p:txEl>
                                              <p:pRg st="1" end="1"/>
                                            </p:txEl>
                                          </p:spTgt>
                                        </p:tgtEl>
                                      </p:cBhvr>
                                    </p:animEffect>
                                    <p:anim calcmode="lin" valueType="num">
                                      <p:cBhvr>
                                        <p:cTn id="8"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1000"/>
                                        <p:tgtEl>
                                          <p:spTgt spid="7">
                                            <p:txEl>
                                              <p:pRg st="2" end="2"/>
                                            </p:txEl>
                                          </p:spTgt>
                                        </p:tgtEl>
                                      </p:cBhvr>
                                    </p:animEffect>
                                    <p:anim calcmode="lin" valueType="num">
                                      <p:cBhvr>
                                        <p:cTn id="13"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1000"/>
                                        <p:tgtEl>
                                          <p:spTgt spid="7">
                                            <p:txEl>
                                              <p:pRg st="3" end="3"/>
                                            </p:txEl>
                                          </p:spTgt>
                                        </p:tgtEl>
                                      </p:cBhvr>
                                    </p:animEffect>
                                    <p:anim calcmode="lin" valueType="num">
                                      <p:cBhvr>
                                        <p:cTn id="18"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7">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1000"/>
                                        <p:tgtEl>
                                          <p:spTgt spid="7">
                                            <p:txEl>
                                              <p:pRg st="4" end="4"/>
                                            </p:txEl>
                                          </p:spTgt>
                                        </p:tgtEl>
                                      </p:cBhvr>
                                    </p:animEffect>
                                    <p:anim calcmode="lin" valueType="num">
                                      <p:cBhvr>
                                        <p:cTn id="2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1000"/>
                                        <p:tgtEl>
                                          <p:spTgt spid="7">
                                            <p:txEl>
                                              <p:pRg st="5" end="5"/>
                                            </p:txEl>
                                          </p:spTgt>
                                        </p:tgtEl>
                                      </p:cBhvr>
                                    </p:animEffect>
                                    <p:anim calcmode="lin" valueType="num">
                                      <p:cBhvr>
                                        <p:cTn id="28"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6188E15-30EB-00A6-8ACF-03D2D65FF03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43E2365-2286-814A-5289-597B20E5E36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81B2CE7-7D1F-559C-DBDE-FE763CF0D6D0}"/>
              </a:ext>
            </a:extLst>
          </p:cNvPr>
          <p:cNvSpPr>
            <a:spLocks noGrp="1"/>
          </p:cNvSpPr>
          <p:nvPr>
            <p:ph type="sldNum" sz="quarter" idx="4"/>
          </p:nvPr>
        </p:nvSpPr>
        <p:spPr/>
        <p:txBody>
          <a:bodyPr/>
          <a:lstStyle/>
          <a:p>
            <a:fld id="{16A89BA3-132D-40E1-AAB4-CDCD0A14C216}" type="slidenum">
              <a:rPr lang="en-AU" smtClean="0"/>
              <a:pPr/>
              <a:t>31</a:t>
            </a:fld>
            <a:r>
              <a:rPr lang="en-AU"/>
              <a:t>  |</a:t>
            </a:r>
            <a:endParaRPr lang="en-AU" dirty="0"/>
          </a:p>
        </p:txBody>
      </p:sp>
      <p:sp>
        <p:nvSpPr>
          <p:cNvPr id="9" name="Text Placeholder 3">
            <a:extLst>
              <a:ext uri="{FF2B5EF4-FFF2-40B4-BE49-F238E27FC236}">
                <a16:creationId xmlns:a16="http://schemas.microsoft.com/office/drawing/2014/main" id="{524AAC40-8F2B-7CC9-9D0F-B2316CA4F9B7}"/>
              </a:ext>
            </a:extLst>
          </p:cNvPr>
          <p:cNvSpPr>
            <a:spLocks noGrp="1"/>
          </p:cNvSpPr>
          <p:nvPr>
            <p:ph type="body" sz="quarter" idx="16"/>
          </p:nvPr>
        </p:nvSpPr>
        <p:spPr>
          <a:xfrm>
            <a:off x="0" y="-118754"/>
            <a:ext cx="7849590" cy="843148"/>
          </a:xfrm>
        </p:spPr>
        <p:txBody>
          <a:bodyPr>
            <a:noAutofit/>
          </a:bodyPr>
          <a:lstStyle/>
          <a:p>
            <a:r>
              <a:rPr lang="en-US" sz="3200" dirty="0"/>
              <a:t>Real-World Examples of  Usage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95BAFD1-60B4-5BE7-1311-2380F88774F3}"/>
              </a:ext>
            </a:extLst>
          </p:cNvPr>
          <p:cNvSpPr txBox="1"/>
          <p:nvPr/>
        </p:nvSpPr>
        <p:spPr>
          <a:xfrm>
            <a:off x="0" y="2636555"/>
            <a:ext cx="9144000" cy="1961755"/>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Why It Matters: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Good database systems = faster services, fewer errors, better decisions.</a:t>
            </a:r>
          </a:p>
        </p:txBody>
      </p:sp>
    </p:spTree>
    <p:extLst>
      <p:ext uri="{BB962C8B-B14F-4D97-AF65-F5344CB8AC3E}">
        <p14:creationId xmlns:p14="http://schemas.microsoft.com/office/powerpoint/2010/main" val="16196829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60FEC73-1D79-D436-523C-B114A5C2860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E52C70D-6D96-B449-A22B-8319DFC00B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B3ACDCE-2D29-5E6E-6B7C-60D4FA3A6E6C}"/>
              </a:ext>
            </a:extLst>
          </p:cNvPr>
          <p:cNvSpPr>
            <a:spLocks noGrp="1"/>
          </p:cNvSpPr>
          <p:nvPr>
            <p:ph type="sldNum" sz="quarter" idx="4"/>
          </p:nvPr>
        </p:nvSpPr>
        <p:spPr/>
        <p:txBody>
          <a:bodyPr/>
          <a:lstStyle/>
          <a:p>
            <a:fld id="{16A89BA3-132D-40E1-AAB4-CDCD0A14C216}" type="slidenum">
              <a:rPr lang="en-AU" smtClean="0"/>
              <a:pPr/>
              <a:t>32</a:t>
            </a:fld>
            <a:r>
              <a:rPr lang="en-AU"/>
              <a:t>  |</a:t>
            </a:r>
            <a:endParaRPr lang="en-AU" dirty="0"/>
          </a:p>
        </p:txBody>
      </p:sp>
      <p:sp>
        <p:nvSpPr>
          <p:cNvPr id="9" name="Text Placeholder 3">
            <a:extLst>
              <a:ext uri="{FF2B5EF4-FFF2-40B4-BE49-F238E27FC236}">
                <a16:creationId xmlns:a16="http://schemas.microsoft.com/office/drawing/2014/main" id="{F7DD3D57-4EA7-5BB4-8521-F8B7849709DA}"/>
              </a:ext>
            </a:extLst>
          </p:cNvPr>
          <p:cNvSpPr>
            <a:spLocks noGrp="1"/>
          </p:cNvSpPr>
          <p:nvPr>
            <p:ph type="body" sz="quarter" idx="16"/>
          </p:nvPr>
        </p:nvSpPr>
        <p:spPr>
          <a:xfrm>
            <a:off x="0" y="0"/>
            <a:ext cx="7849590" cy="451262"/>
          </a:xfrm>
        </p:spPr>
        <p:txBody>
          <a:bodyPr>
            <a:noAutofit/>
          </a:bodyPr>
          <a:lstStyle/>
          <a:p>
            <a:r>
              <a:rPr lang="en-US" sz="3200" dirty="0">
                <a:latin typeface="Calibri" panose="020F0502020204030204" pitchFamily="34" charset="0"/>
                <a:cs typeface="Calibri" panose="020F0502020204030204" pitchFamily="34" charset="0"/>
              </a:rPr>
              <a:t>Why Use a Database?</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F7D6CE1F-23EF-C8F2-D757-151EF57D3576}"/>
              </a:ext>
            </a:extLst>
          </p:cNvPr>
          <p:cNvSpPr txBox="1"/>
          <p:nvPr/>
        </p:nvSpPr>
        <p:spPr>
          <a:xfrm>
            <a:off x="0" y="524152"/>
            <a:ext cx="6674069" cy="3257174"/>
          </a:xfrm>
          <a:prstGeom prst="rect">
            <a:avLst/>
          </a:prstGeom>
          <a:solidFill>
            <a:schemeClr val="bg1"/>
          </a:solidFill>
        </p:spPr>
        <p:txBody>
          <a:bodyPr wrap="square">
            <a:spAutoFit/>
          </a:bodyPr>
          <a:lstStyle/>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Better organization</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Faster access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Improved security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Backup and recovery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Multi-user access</a:t>
            </a:r>
          </a:p>
        </p:txBody>
      </p:sp>
    </p:spTree>
    <p:extLst>
      <p:ext uri="{BB962C8B-B14F-4D97-AF65-F5344CB8AC3E}">
        <p14:creationId xmlns:p14="http://schemas.microsoft.com/office/powerpoint/2010/main" val="1706787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1000"/>
                                        <p:tgtEl>
                                          <p:spTgt spid="13">
                                            <p:txEl>
                                              <p:pRg st="0" end="0"/>
                                            </p:txEl>
                                          </p:spTgt>
                                        </p:tgtEl>
                                      </p:cBhvr>
                                    </p:animEffect>
                                    <p:anim calcmode="lin" valueType="num">
                                      <p:cBhvr>
                                        <p:cTn id="8" dur="1000" fill="hold"/>
                                        <p:tgtEl>
                                          <p:spTgt spid="1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1000"/>
                                        <p:tgtEl>
                                          <p:spTgt spid="13">
                                            <p:txEl>
                                              <p:pRg st="1" end="1"/>
                                            </p:txEl>
                                          </p:spTgt>
                                        </p:tgtEl>
                                      </p:cBhvr>
                                    </p:animEffect>
                                    <p:anim calcmode="lin" valueType="num">
                                      <p:cBhvr>
                                        <p:cTn id="13"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1000"/>
                                        <p:tgtEl>
                                          <p:spTgt spid="13">
                                            <p:txEl>
                                              <p:pRg st="2" end="2"/>
                                            </p:txEl>
                                          </p:spTgt>
                                        </p:tgtEl>
                                      </p:cBhvr>
                                    </p:animEffect>
                                    <p:anim calcmode="lin" valueType="num">
                                      <p:cBhvr>
                                        <p:cTn id="18" dur="1000" fill="hold"/>
                                        <p:tgtEl>
                                          <p:spTgt spid="1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3">
                                            <p:txEl>
                                              <p:pRg st="3" end="3"/>
                                            </p:txEl>
                                          </p:spTgt>
                                        </p:tgtEl>
                                        <p:attrNameLst>
                                          <p:attrName>style.visibility</p:attrName>
                                        </p:attrNameLst>
                                      </p:cBhvr>
                                      <p:to>
                                        <p:strVal val="visible"/>
                                      </p:to>
                                    </p:set>
                                    <p:animEffect transition="in" filter="fade">
                                      <p:cBhvr>
                                        <p:cTn id="22" dur="1000"/>
                                        <p:tgtEl>
                                          <p:spTgt spid="13">
                                            <p:txEl>
                                              <p:pRg st="3" end="3"/>
                                            </p:txEl>
                                          </p:spTgt>
                                        </p:tgtEl>
                                      </p:cBhvr>
                                    </p:animEffect>
                                    <p:anim calcmode="lin" valueType="num">
                                      <p:cBhvr>
                                        <p:cTn id="23" dur="1000" fill="hold"/>
                                        <p:tgtEl>
                                          <p:spTgt spid="1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1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3">
                                            <p:txEl>
                                              <p:pRg st="4" end="4"/>
                                            </p:txEl>
                                          </p:spTgt>
                                        </p:tgtEl>
                                        <p:attrNameLst>
                                          <p:attrName>style.visibility</p:attrName>
                                        </p:attrNameLst>
                                      </p:cBhvr>
                                      <p:to>
                                        <p:strVal val="visible"/>
                                      </p:to>
                                    </p:set>
                                    <p:animEffect transition="in" filter="fade">
                                      <p:cBhvr>
                                        <p:cTn id="27" dur="1000"/>
                                        <p:tgtEl>
                                          <p:spTgt spid="13">
                                            <p:txEl>
                                              <p:pRg st="4" end="4"/>
                                            </p:txEl>
                                          </p:spTgt>
                                        </p:tgtEl>
                                      </p:cBhvr>
                                    </p:animEffect>
                                    <p:anim calcmode="lin" valueType="num">
                                      <p:cBhvr>
                                        <p:cTn id="28" dur="1000" fill="hold"/>
                                        <p:tgtEl>
                                          <p:spTgt spid="1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1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7F7F38F-D418-FF84-C240-AFD1FA676E5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51228E-1DCB-3FF4-04F7-CD5B4BF7A75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0853736-6373-52CE-D404-90B57231786E}"/>
              </a:ext>
            </a:extLst>
          </p:cNvPr>
          <p:cNvSpPr>
            <a:spLocks noGrp="1"/>
          </p:cNvSpPr>
          <p:nvPr>
            <p:ph type="sldNum" sz="quarter" idx="4"/>
          </p:nvPr>
        </p:nvSpPr>
        <p:spPr/>
        <p:txBody>
          <a:bodyPr/>
          <a:lstStyle/>
          <a:p>
            <a:fld id="{16A89BA3-132D-40E1-AAB4-CDCD0A14C216}" type="slidenum">
              <a:rPr lang="en-AU" smtClean="0"/>
              <a:pPr/>
              <a:t>33</a:t>
            </a:fld>
            <a:r>
              <a:rPr lang="en-AU"/>
              <a:t>  |</a:t>
            </a:r>
            <a:endParaRPr lang="en-AU" dirty="0"/>
          </a:p>
        </p:txBody>
      </p:sp>
      <p:sp>
        <p:nvSpPr>
          <p:cNvPr id="9" name="Text Placeholder 3">
            <a:extLst>
              <a:ext uri="{FF2B5EF4-FFF2-40B4-BE49-F238E27FC236}">
                <a16:creationId xmlns:a16="http://schemas.microsoft.com/office/drawing/2014/main" id="{B3FB2A63-90A1-1556-B83A-CE1831BAA887}"/>
              </a:ext>
            </a:extLst>
          </p:cNvPr>
          <p:cNvSpPr>
            <a:spLocks noGrp="1"/>
          </p:cNvSpPr>
          <p:nvPr>
            <p:ph type="body" sz="quarter" idx="16"/>
          </p:nvPr>
        </p:nvSpPr>
        <p:spPr>
          <a:xfrm>
            <a:off x="0" y="0"/>
            <a:ext cx="7849590" cy="451262"/>
          </a:xfrm>
        </p:spPr>
        <p:txBody>
          <a:bodyPr>
            <a:noAutofit/>
          </a:bodyPr>
          <a:lstStyle/>
          <a:p>
            <a:r>
              <a:rPr lang="en-US" sz="3200" dirty="0">
                <a:latin typeface="Calibri" panose="020F0502020204030204" pitchFamily="34" charset="0"/>
                <a:cs typeface="Calibri" panose="020F0502020204030204" pitchFamily="34" charset="0"/>
              </a:rPr>
              <a:t>Real-World Examples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7CD37540-84C5-84EA-DB06-13AB6FD50964}"/>
              </a:ext>
            </a:extLst>
          </p:cNvPr>
          <p:cNvSpPr txBox="1"/>
          <p:nvPr/>
        </p:nvSpPr>
        <p:spPr>
          <a:xfrm>
            <a:off x="0" y="524152"/>
            <a:ext cx="6674069"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Bank system:</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Customer accounts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Transactions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Loans</a:t>
            </a:r>
          </a:p>
          <a:p>
            <a:pPr>
              <a:lnSpc>
                <a:spcPct val="150000"/>
              </a:lnSpc>
            </a:pPr>
            <a:r>
              <a:rPr lang="en-US" sz="2800" dirty="0">
                <a:latin typeface="Calibri" panose="020F0502020204030204" pitchFamily="34" charset="0"/>
                <a:cs typeface="Calibri" panose="020F0502020204030204" pitchFamily="34" charset="0"/>
              </a:rPr>
              <a:t>Hospital system:</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Patient records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Appointments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Prescriptions</a:t>
            </a:r>
          </a:p>
        </p:txBody>
      </p:sp>
    </p:spTree>
    <p:extLst>
      <p:ext uri="{BB962C8B-B14F-4D97-AF65-F5344CB8AC3E}">
        <p14:creationId xmlns:p14="http://schemas.microsoft.com/office/powerpoint/2010/main" val="2769298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E4F943E-B27F-816E-A491-02A164F5E8C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17DF9EF-D6D3-1CC9-AFBE-207FC75730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5412E8B-EB02-F55E-FC49-4A6620D04926}"/>
              </a:ext>
            </a:extLst>
          </p:cNvPr>
          <p:cNvSpPr>
            <a:spLocks noGrp="1"/>
          </p:cNvSpPr>
          <p:nvPr>
            <p:ph type="sldNum" sz="quarter" idx="4"/>
          </p:nvPr>
        </p:nvSpPr>
        <p:spPr/>
        <p:txBody>
          <a:bodyPr/>
          <a:lstStyle/>
          <a:p>
            <a:fld id="{16A89BA3-132D-40E1-AAB4-CDCD0A14C216}" type="slidenum">
              <a:rPr lang="en-AU" smtClean="0"/>
              <a:pPr/>
              <a:t>34</a:t>
            </a:fld>
            <a:r>
              <a:rPr lang="en-AU"/>
              <a:t>  |</a:t>
            </a:r>
            <a:endParaRPr lang="en-AU" dirty="0"/>
          </a:p>
        </p:txBody>
      </p:sp>
      <p:sp>
        <p:nvSpPr>
          <p:cNvPr id="9" name="Text Placeholder 3">
            <a:extLst>
              <a:ext uri="{FF2B5EF4-FFF2-40B4-BE49-F238E27FC236}">
                <a16:creationId xmlns:a16="http://schemas.microsoft.com/office/drawing/2014/main" id="{59E7FB70-E593-D958-CBC0-E8058F7F22C6}"/>
              </a:ext>
            </a:extLst>
          </p:cNvPr>
          <p:cNvSpPr>
            <a:spLocks noGrp="1"/>
          </p:cNvSpPr>
          <p:nvPr>
            <p:ph type="body" sz="quarter" idx="16"/>
          </p:nvPr>
        </p:nvSpPr>
        <p:spPr>
          <a:xfrm>
            <a:off x="0" y="0"/>
            <a:ext cx="7849590" cy="451262"/>
          </a:xfrm>
        </p:spPr>
        <p:txBody>
          <a:bodyPr>
            <a:noAutofit/>
          </a:bodyPr>
          <a:lstStyle/>
          <a:p>
            <a:r>
              <a:rPr lang="en-US" sz="3200" dirty="0">
                <a:latin typeface="Calibri" panose="020F0502020204030204" pitchFamily="34" charset="0"/>
                <a:cs typeface="Calibri" panose="020F0502020204030204" pitchFamily="34" charset="0"/>
              </a:rPr>
              <a:t>Real-World Examples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F59EF029-3EB7-388B-AB70-BCD03F3E9651}"/>
              </a:ext>
            </a:extLst>
          </p:cNvPr>
          <p:cNvSpPr txBox="1"/>
          <p:nvPr/>
        </p:nvSpPr>
        <p:spPr>
          <a:xfrm>
            <a:off x="0" y="524152"/>
            <a:ext cx="6674069" cy="2610843"/>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E-commerce: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Products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Orders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Payments</a:t>
            </a:r>
          </a:p>
        </p:txBody>
      </p:sp>
    </p:spTree>
    <p:extLst>
      <p:ext uri="{BB962C8B-B14F-4D97-AF65-F5344CB8AC3E}">
        <p14:creationId xmlns:p14="http://schemas.microsoft.com/office/powerpoint/2010/main" val="21826283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3AC1DBE-C7DC-B438-AB68-340B4DCACA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A054A4F-7EA7-916E-33AD-29BAD310A77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D0823E7-DF41-40FF-37AE-E15E72B7C17E}"/>
              </a:ext>
            </a:extLst>
          </p:cNvPr>
          <p:cNvSpPr>
            <a:spLocks noGrp="1"/>
          </p:cNvSpPr>
          <p:nvPr>
            <p:ph type="sldNum" sz="quarter" idx="4"/>
          </p:nvPr>
        </p:nvSpPr>
        <p:spPr/>
        <p:txBody>
          <a:bodyPr/>
          <a:lstStyle/>
          <a:p>
            <a:fld id="{16A89BA3-132D-40E1-AAB4-CDCD0A14C216}" type="slidenum">
              <a:rPr lang="en-AU" smtClean="0"/>
              <a:pPr/>
              <a:t>35</a:t>
            </a:fld>
            <a:r>
              <a:rPr lang="en-AU"/>
              <a:t>  |</a:t>
            </a:r>
            <a:endParaRPr lang="en-AU" dirty="0"/>
          </a:p>
        </p:txBody>
      </p:sp>
      <p:sp>
        <p:nvSpPr>
          <p:cNvPr id="9" name="Text Placeholder 3">
            <a:extLst>
              <a:ext uri="{FF2B5EF4-FFF2-40B4-BE49-F238E27FC236}">
                <a16:creationId xmlns:a16="http://schemas.microsoft.com/office/drawing/2014/main" id="{CA942598-5137-CA04-79D1-988D9FC8BBF9}"/>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A93837D7-4411-B654-A6FE-7DD728B9E970}"/>
              </a:ext>
            </a:extLst>
          </p:cNvPr>
          <p:cNvSpPr txBox="1"/>
          <p:nvPr/>
        </p:nvSpPr>
        <p:spPr>
          <a:xfrm>
            <a:off x="0" y="1123242"/>
            <a:ext cx="9144000" cy="1964512"/>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In Australia, businesses and developers use a mix of database technologies — both traditional relational databases and modern cloud-based systems. Some are especially popular:</a:t>
            </a:r>
          </a:p>
        </p:txBody>
      </p:sp>
    </p:spTree>
    <p:extLst>
      <p:ext uri="{BB962C8B-B14F-4D97-AF65-F5344CB8AC3E}">
        <p14:creationId xmlns:p14="http://schemas.microsoft.com/office/powerpoint/2010/main" val="7104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AEAE77-572C-AF4B-7BFA-0A6984706CA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745AFE-32E2-DD88-2BD3-C8C9E1F5C20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CE19777-EA8B-2CB5-41F7-F1690E2F909A}"/>
              </a:ext>
            </a:extLst>
          </p:cNvPr>
          <p:cNvSpPr>
            <a:spLocks noGrp="1"/>
          </p:cNvSpPr>
          <p:nvPr>
            <p:ph type="sldNum" sz="quarter" idx="4"/>
          </p:nvPr>
        </p:nvSpPr>
        <p:spPr/>
        <p:txBody>
          <a:bodyPr/>
          <a:lstStyle/>
          <a:p>
            <a:fld id="{16A89BA3-132D-40E1-AAB4-CDCD0A14C216}" type="slidenum">
              <a:rPr lang="en-AU" smtClean="0"/>
              <a:pPr/>
              <a:t>36</a:t>
            </a:fld>
            <a:r>
              <a:rPr lang="en-AU"/>
              <a:t>  |</a:t>
            </a:r>
            <a:endParaRPr lang="en-AU" dirty="0"/>
          </a:p>
        </p:txBody>
      </p:sp>
      <p:sp>
        <p:nvSpPr>
          <p:cNvPr id="9" name="Text Placeholder 3">
            <a:extLst>
              <a:ext uri="{FF2B5EF4-FFF2-40B4-BE49-F238E27FC236}">
                <a16:creationId xmlns:a16="http://schemas.microsoft.com/office/drawing/2014/main" id="{2AD70C60-C8E0-D4FB-5AAA-73DD9FC39C97}"/>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59E83175-38C7-DE5A-ADFB-A577A3F448E9}"/>
              </a:ext>
            </a:extLst>
          </p:cNvPr>
          <p:cNvSpPr txBox="1"/>
          <p:nvPr/>
        </p:nvSpPr>
        <p:spPr>
          <a:xfrm>
            <a:off x="0" y="1123242"/>
            <a:ext cx="9144000" cy="5842497"/>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1. MySQL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One of the most common databases used in websites and many business applications.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It stores data in tables and uses SQL (Structured Query Language).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Especially popular for small/medium business apps and web platforms.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Reports show MySQL has very high usage on Australian websites.</a:t>
            </a:r>
          </a:p>
        </p:txBody>
      </p:sp>
    </p:spTree>
    <p:extLst>
      <p:ext uri="{BB962C8B-B14F-4D97-AF65-F5344CB8AC3E}">
        <p14:creationId xmlns:p14="http://schemas.microsoft.com/office/powerpoint/2010/main" val="38127898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BAEC8F0-12A1-97AD-F453-1F4D57157AE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0A4D9D-38BB-006F-D844-7424FEC4BFB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F973908-81D1-D9B0-2839-13FB03F958EE}"/>
              </a:ext>
            </a:extLst>
          </p:cNvPr>
          <p:cNvSpPr>
            <a:spLocks noGrp="1"/>
          </p:cNvSpPr>
          <p:nvPr>
            <p:ph type="sldNum" sz="quarter" idx="4"/>
          </p:nvPr>
        </p:nvSpPr>
        <p:spPr/>
        <p:txBody>
          <a:bodyPr/>
          <a:lstStyle/>
          <a:p>
            <a:fld id="{16A89BA3-132D-40E1-AAB4-CDCD0A14C216}" type="slidenum">
              <a:rPr lang="en-AU" smtClean="0"/>
              <a:pPr/>
              <a:t>37</a:t>
            </a:fld>
            <a:r>
              <a:rPr lang="en-AU"/>
              <a:t>  |</a:t>
            </a:r>
            <a:endParaRPr lang="en-AU" dirty="0"/>
          </a:p>
        </p:txBody>
      </p:sp>
      <p:sp>
        <p:nvSpPr>
          <p:cNvPr id="9" name="Text Placeholder 3">
            <a:extLst>
              <a:ext uri="{FF2B5EF4-FFF2-40B4-BE49-F238E27FC236}">
                <a16:creationId xmlns:a16="http://schemas.microsoft.com/office/drawing/2014/main" id="{E03AC0FF-1838-013B-7EAC-5BD18385ECA7}"/>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273921A-3FB4-BF40-5223-F61D28DBCA4F}"/>
              </a:ext>
            </a:extLst>
          </p:cNvPr>
          <p:cNvSpPr txBox="1"/>
          <p:nvPr/>
        </p:nvSpPr>
        <p:spPr>
          <a:xfrm>
            <a:off x="0" y="1123242"/>
            <a:ext cx="9144000" cy="390350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Microsoft SQL Server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Widely used in larger companies.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Works well with other Microsoft tools and corporate applications.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Good for business systems that need strong support and security.</a:t>
            </a:r>
          </a:p>
        </p:txBody>
      </p:sp>
    </p:spTree>
    <p:extLst>
      <p:ext uri="{BB962C8B-B14F-4D97-AF65-F5344CB8AC3E}">
        <p14:creationId xmlns:p14="http://schemas.microsoft.com/office/powerpoint/2010/main" val="40613328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3E16768-52A8-B7A5-66DA-3B00AF6F02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7808FE6-D3CF-0C3F-E75F-C71786D77F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7502FB0-83DD-E0CF-7B5D-8F060A1D874D}"/>
              </a:ext>
            </a:extLst>
          </p:cNvPr>
          <p:cNvSpPr>
            <a:spLocks noGrp="1"/>
          </p:cNvSpPr>
          <p:nvPr>
            <p:ph type="sldNum" sz="quarter" idx="4"/>
          </p:nvPr>
        </p:nvSpPr>
        <p:spPr/>
        <p:txBody>
          <a:bodyPr/>
          <a:lstStyle/>
          <a:p>
            <a:fld id="{16A89BA3-132D-40E1-AAB4-CDCD0A14C216}" type="slidenum">
              <a:rPr lang="en-AU" smtClean="0"/>
              <a:pPr/>
              <a:t>38</a:t>
            </a:fld>
            <a:r>
              <a:rPr lang="en-AU"/>
              <a:t>  |</a:t>
            </a:r>
            <a:endParaRPr lang="en-AU" dirty="0"/>
          </a:p>
        </p:txBody>
      </p:sp>
      <p:sp>
        <p:nvSpPr>
          <p:cNvPr id="9" name="Text Placeholder 3">
            <a:extLst>
              <a:ext uri="{FF2B5EF4-FFF2-40B4-BE49-F238E27FC236}">
                <a16:creationId xmlns:a16="http://schemas.microsoft.com/office/drawing/2014/main" id="{4B9A0EFA-7C73-D452-A392-27291BEEF17B}"/>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7BA6A10D-5AD0-D49A-9960-F0E02D5E8BFE}"/>
              </a:ext>
            </a:extLst>
          </p:cNvPr>
          <p:cNvSpPr txBox="1"/>
          <p:nvPr/>
        </p:nvSpPr>
        <p:spPr>
          <a:xfrm>
            <a:off x="0" y="1123242"/>
            <a:ext cx="9144000"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Oracle Database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Often used by large enterprises (e.g., banks, government, big </a:t>
            </a:r>
            <a:r>
              <a:rPr lang="en-US" sz="2800" dirty="0" err="1">
                <a:latin typeface="Calibri" panose="020F0502020204030204" pitchFamily="34" charset="0"/>
                <a:cs typeface="Calibri" panose="020F0502020204030204" pitchFamily="34" charset="0"/>
              </a:rPr>
              <a:t>organisations</a:t>
            </a:r>
            <a:r>
              <a:rPr lang="en-US" sz="2800" dirty="0">
                <a:latin typeface="Calibri" panose="020F0502020204030204" pitchFamily="34" charset="0"/>
                <a:cs typeface="Calibri" panose="020F0502020204030204" pitchFamily="34" charset="0"/>
              </a:rPr>
              <a: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Very powerful and can handle huge amounts of data. </a:t>
            </a:r>
          </a:p>
        </p:txBody>
      </p:sp>
    </p:spTree>
    <p:extLst>
      <p:ext uri="{BB962C8B-B14F-4D97-AF65-F5344CB8AC3E}">
        <p14:creationId xmlns:p14="http://schemas.microsoft.com/office/powerpoint/2010/main" val="10079497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5F20294-2D01-7279-0A5C-F2BEE9B8FD6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E09D20A-AA17-5873-7B57-780FC2F5A57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3EB5B97-E5EE-ABEB-035E-4CB451E7369B}"/>
              </a:ext>
            </a:extLst>
          </p:cNvPr>
          <p:cNvSpPr>
            <a:spLocks noGrp="1"/>
          </p:cNvSpPr>
          <p:nvPr>
            <p:ph type="sldNum" sz="quarter" idx="4"/>
          </p:nvPr>
        </p:nvSpPr>
        <p:spPr/>
        <p:txBody>
          <a:bodyPr/>
          <a:lstStyle/>
          <a:p>
            <a:fld id="{16A89BA3-132D-40E1-AAB4-CDCD0A14C216}" type="slidenum">
              <a:rPr lang="en-AU" smtClean="0"/>
              <a:pPr/>
              <a:t>39</a:t>
            </a:fld>
            <a:r>
              <a:rPr lang="en-AU"/>
              <a:t>  |</a:t>
            </a:r>
            <a:endParaRPr lang="en-AU" dirty="0"/>
          </a:p>
        </p:txBody>
      </p:sp>
      <p:sp>
        <p:nvSpPr>
          <p:cNvPr id="9" name="Text Placeholder 3">
            <a:extLst>
              <a:ext uri="{FF2B5EF4-FFF2-40B4-BE49-F238E27FC236}">
                <a16:creationId xmlns:a16="http://schemas.microsoft.com/office/drawing/2014/main" id="{D98B257D-CE56-AAE4-1699-67CAA9C770B1}"/>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237FE03-EBE7-0D4B-2475-A78D031F1A68}"/>
              </a:ext>
            </a:extLst>
          </p:cNvPr>
          <p:cNvSpPr txBox="1"/>
          <p:nvPr/>
        </p:nvSpPr>
        <p:spPr>
          <a:xfrm>
            <a:off x="0" y="1123242"/>
            <a:ext cx="9144000"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Cloud-Based Databases Growing in Use</a:t>
            </a:r>
          </a:p>
          <a:p>
            <a:pPr>
              <a:lnSpc>
                <a:spcPct val="150000"/>
              </a:lnSpc>
            </a:pPr>
            <a:r>
              <a:rPr lang="en-US" sz="2800" dirty="0">
                <a:latin typeface="Calibri" panose="020F0502020204030204" pitchFamily="34" charset="0"/>
                <a:cs typeface="Calibri" panose="020F0502020204030204" pitchFamily="34" charset="0"/>
              </a:rPr>
              <a:t>Many Australian companies also use databases hosted in the cloud, such as: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Amazon RDS / AWS database services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Google Cloud 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Snowflake and Redshift for analytics</a:t>
            </a:r>
          </a:p>
          <a:p>
            <a:pPr>
              <a:lnSpc>
                <a:spcPct val="150000"/>
              </a:lnSpc>
            </a:pPr>
            <a:r>
              <a:rPr lang="en-US" sz="2800" dirty="0">
                <a:latin typeface="Calibri" panose="020F0502020204030204" pitchFamily="34" charset="0"/>
                <a:cs typeface="Calibri" panose="020F0502020204030204" pitchFamily="34" charset="0"/>
              </a:rPr>
              <a:t>These make it easier to scale and manage data without owning servers. </a:t>
            </a:r>
          </a:p>
        </p:txBody>
      </p:sp>
    </p:spTree>
    <p:extLst>
      <p:ext uri="{BB962C8B-B14F-4D97-AF65-F5344CB8AC3E}">
        <p14:creationId xmlns:p14="http://schemas.microsoft.com/office/powerpoint/2010/main" val="36616986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1CB0E1D-64F7-2A91-885F-D01E7CBDBF8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0CB344-6701-1139-44B8-B3CEB23EC54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077376D-6CE4-5123-872C-D045C0F017CE}"/>
              </a:ext>
            </a:extLst>
          </p:cNvPr>
          <p:cNvSpPr>
            <a:spLocks noGrp="1"/>
          </p:cNvSpPr>
          <p:nvPr>
            <p:ph type="sldNum" sz="quarter" idx="4"/>
          </p:nvPr>
        </p:nvSpPr>
        <p:spPr/>
        <p:txBody>
          <a:bodyPr/>
          <a:lstStyle/>
          <a:p>
            <a:fld id="{16A89BA3-132D-40E1-AAB4-CDCD0A14C216}" type="slidenum">
              <a:rPr lang="en-AU" smtClean="0"/>
              <a:pPr/>
              <a:t>40</a:t>
            </a:fld>
            <a:r>
              <a:rPr lang="en-AU"/>
              <a:t>  |</a:t>
            </a:r>
            <a:endParaRPr lang="en-AU" dirty="0"/>
          </a:p>
        </p:txBody>
      </p:sp>
      <p:sp>
        <p:nvSpPr>
          <p:cNvPr id="9" name="Text Placeholder 3">
            <a:extLst>
              <a:ext uri="{FF2B5EF4-FFF2-40B4-BE49-F238E27FC236}">
                <a16:creationId xmlns:a16="http://schemas.microsoft.com/office/drawing/2014/main" id="{64F12C08-6D48-0023-798C-809B73DB4086}"/>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A8647C0F-9E2B-7766-108C-77CFF879DC42}"/>
              </a:ext>
            </a:extLst>
          </p:cNvPr>
          <p:cNvGraphicFramePr>
            <a:graphicFrameLocks noGrp="1"/>
          </p:cNvGraphicFramePr>
          <p:nvPr>
            <p:extLst>
              <p:ext uri="{D42A27DB-BD31-4B8C-83A1-F6EECF244321}">
                <p14:modId xmlns:p14="http://schemas.microsoft.com/office/powerpoint/2010/main" val="3555457222"/>
              </p:ext>
            </p:extLst>
          </p:nvPr>
        </p:nvGraphicFramePr>
        <p:xfrm>
          <a:off x="28690" y="1594258"/>
          <a:ext cx="9086619" cy="5221732"/>
        </p:xfrm>
        <a:graphic>
          <a:graphicData uri="http://schemas.openxmlformats.org/drawingml/2006/table">
            <a:tbl>
              <a:tblPr>
                <a:tableStyleId>{616DA210-FB5B-4158-B5E0-FEB733F419BA}</a:tableStyleId>
              </a:tblPr>
              <a:tblGrid>
                <a:gridCol w="2580695">
                  <a:extLst>
                    <a:ext uri="{9D8B030D-6E8A-4147-A177-3AD203B41FA5}">
                      <a16:colId xmlns:a16="http://schemas.microsoft.com/office/drawing/2014/main" val="178469192"/>
                    </a:ext>
                  </a:extLst>
                </a:gridCol>
                <a:gridCol w="3477051">
                  <a:extLst>
                    <a:ext uri="{9D8B030D-6E8A-4147-A177-3AD203B41FA5}">
                      <a16:colId xmlns:a16="http://schemas.microsoft.com/office/drawing/2014/main" val="3801069618"/>
                    </a:ext>
                  </a:extLst>
                </a:gridCol>
                <a:gridCol w="3028873">
                  <a:extLst>
                    <a:ext uri="{9D8B030D-6E8A-4147-A177-3AD203B41FA5}">
                      <a16:colId xmlns:a16="http://schemas.microsoft.com/office/drawing/2014/main" val="4208332991"/>
                    </a:ext>
                  </a:extLst>
                </a:gridCol>
              </a:tblGrid>
              <a:tr h="0">
                <a:tc>
                  <a:txBody>
                    <a:bodyPr/>
                    <a:lstStyle/>
                    <a:p>
                      <a:pPr>
                        <a:lnSpc>
                          <a:spcPct val="150000"/>
                        </a:lnSpc>
                        <a:buNone/>
                      </a:pPr>
                      <a:r>
                        <a:rPr lang="en-US" sz="2800" b="1" dirty="0">
                          <a:latin typeface="Calibri" panose="020F0502020204030204" pitchFamily="34" charset="0"/>
                          <a:cs typeface="Calibri" panose="020F0502020204030204" pitchFamily="34" charset="0"/>
                        </a:rPr>
                        <a:t>Type</a:t>
                      </a:r>
                    </a:p>
                  </a:txBody>
                  <a:tcPr anchor="ctr">
                    <a:solidFill>
                      <a:schemeClr val="tx1">
                        <a:lumMod val="10000"/>
                        <a:lumOff val="90000"/>
                      </a:schemeClr>
                    </a:solidFill>
                  </a:tcPr>
                </a:tc>
                <a:tc>
                  <a:txBody>
                    <a:bodyPr/>
                    <a:lstStyle/>
                    <a:p>
                      <a:pPr>
                        <a:lnSpc>
                          <a:spcPct val="150000"/>
                        </a:lnSpc>
                        <a:buNone/>
                      </a:pPr>
                      <a:r>
                        <a:rPr lang="en-US" sz="2800" b="1" dirty="0">
                          <a:latin typeface="Calibri" panose="020F0502020204030204" pitchFamily="34" charset="0"/>
                          <a:cs typeface="Calibri" panose="020F0502020204030204" pitchFamily="34" charset="0"/>
                        </a:rPr>
                        <a:t>Common Examples in Australia</a:t>
                      </a:r>
                    </a:p>
                  </a:txBody>
                  <a:tcPr anchor="ctr">
                    <a:solidFill>
                      <a:schemeClr val="tx1">
                        <a:lumMod val="10000"/>
                        <a:lumOff val="90000"/>
                      </a:schemeClr>
                    </a:solidFill>
                  </a:tcPr>
                </a:tc>
                <a:tc>
                  <a:txBody>
                    <a:bodyPr/>
                    <a:lstStyle/>
                    <a:p>
                      <a:pPr>
                        <a:lnSpc>
                          <a:spcPct val="150000"/>
                        </a:lnSpc>
                        <a:buNone/>
                      </a:pPr>
                      <a:r>
                        <a:rPr lang="en-US" sz="2800" b="1" dirty="0">
                          <a:latin typeface="Calibri" panose="020F0502020204030204" pitchFamily="34" charset="0"/>
                          <a:cs typeface="Calibri" panose="020F0502020204030204" pitchFamily="34" charset="0"/>
                        </a:rPr>
                        <a:t>Why used</a:t>
                      </a:r>
                    </a:p>
                  </a:txBody>
                  <a:tcPr anchor="ctr">
                    <a:solidFill>
                      <a:schemeClr val="tx1">
                        <a:lumMod val="10000"/>
                        <a:lumOff val="90000"/>
                      </a:schemeClr>
                    </a:solidFill>
                  </a:tcPr>
                </a:tc>
                <a:extLst>
                  <a:ext uri="{0D108BD9-81ED-4DB2-BD59-A6C34878D82A}">
                    <a16:rowId xmlns:a16="http://schemas.microsoft.com/office/drawing/2014/main" val="528210847"/>
                  </a:ext>
                </a:extLst>
              </a:tr>
              <a:tr h="0">
                <a:tc>
                  <a:txBody>
                    <a:bodyPr/>
                    <a:lstStyle/>
                    <a:p>
                      <a:pPr>
                        <a:lnSpc>
                          <a:spcPct val="150000"/>
                        </a:lnSpc>
                        <a:buNone/>
                      </a:pPr>
                      <a:r>
                        <a:rPr lang="en-US" sz="2800">
                          <a:latin typeface="Calibri" panose="020F0502020204030204" pitchFamily="34" charset="0"/>
                          <a:cs typeface="Calibri" panose="020F0502020204030204" pitchFamily="34" charset="0"/>
                        </a:rPr>
                        <a:t>Relational (SQL)</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MySQL, SQL Server, Oracle</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Organised data, easy reporting</a:t>
                      </a:r>
                    </a:p>
                  </a:txBody>
                  <a:tcPr anchor="ctr">
                    <a:solidFill>
                      <a:schemeClr val="bg1"/>
                    </a:solidFill>
                  </a:tcPr>
                </a:tc>
                <a:extLst>
                  <a:ext uri="{0D108BD9-81ED-4DB2-BD59-A6C34878D82A}">
                    <a16:rowId xmlns:a16="http://schemas.microsoft.com/office/drawing/2014/main" val="922808283"/>
                  </a:ext>
                </a:extLst>
              </a:tr>
              <a:tr h="0">
                <a:tc>
                  <a:txBody>
                    <a:bodyPr/>
                    <a:lstStyle/>
                    <a:p>
                      <a:pPr>
                        <a:lnSpc>
                          <a:spcPct val="150000"/>
                        </a:lnSpc>
                        <a:buNone/>
                      </a:pPr>
                      <a:r>
                        <a:rPr lang="en-US" sz="2800">
                          <a:latin typeface="Calibri" panose="020F0502020204030204" pitchFamily="34" charset="0"/>
                          <a:cs typeface="Calibri" panose="020F0502020204030204" pitchFamily="34" charset="0"/>
                        </a:rPr>
                        <a:t>Cloud Databases</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AWS, Google Cloud, Snowflake</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Flexible, scalable, cheaper setup</a:t>
                      </a:r>
                    </a:p>
                  </a:txBody>
                  <a:tcPr anchor="ctr">
                    <a:solidFill>
                      <a:schemeClr val="bg1"/>
                    </a:solidFill>
                  </a:tcPr>
                </a:tc>
                <a:extLst>
                  <a:ext uri="{0D108BD9-81ED-4DB2-BD59-A6C34878D82A}">
                    <a16:rowId xmlns:a16="http://schemas.microsoft.com/office/drawing/2014/main" val="3634141377"/>
                  </a:ext>
                </a:extLst>
              </a:tr>
              <a:tr h="0">
                <a:tc>
                  <a:txBody>
                    <a:bodyPr/>
                    <a:lstStyle/>
                    <a:p>
                      <a:pPr>
                        <a:lnSpc>
                          <a:spcPct val="150000"/>
                        </a:lnSpc>
                        <a:buNone/>
                      </a:pPr>
                      <a:r>
                        <a:rPr lang="en-US" sz="2800">
                          <a:latin typeface="Calibri" panose="020F0502020204030204" pitchFamily="34" charset="0"/>
                          <a:cs typeface="Calibri" panose="020F0502020204030204" pitchFamily="34" charset="0"/>
                        </a:rPr>
                        <a:t>Analytics Databases</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PostgreSQL, Redshift</a:t>
                      </a:r>
                    </a:p>
                  </a:txBody>
                  <a:tcPr anchor="ctr">
                    <a:solidFill>
                      <a:schemeClr val="bg1"/>
                    </a:solidFill>
                  </a:tcPr>
                </a:tc>
                <a:tc>
                  <a:txBody>
                    <a:bodyPr/>
                    <a:lstStyle/>
                    <a:p>
                      <a:pPr>
                        <a:lnSpc>
                          <a:spcPct val="150000"/>
                        </a:lnSpc>
                        <a:buNone/>
                      </a:pPr>
                      <a:r>
                        <a:rPr lang="en-US" sz="2800" dirty="0">
                          <a:latin typeface="Calibri" panose="020F0502020204030204" pitchFamily="34" charset="0"/>
                          <a:cs typeface="Calibri" panose="020F0502020204030204" pitchFamily="34" charset="0"/>
                        </a:rPr>
                        <a:t>For data analysis and insights</a:t>
                      </a:r>
                    </a:p>
                  </a:txBody>
                  <a:tcPr anchor="ctr">
                    <a:solidFill>
                      <a:schemeClr val="bg1"/>
                    </a:solidFill>
                  </a:tcPr>
                </a:tc>
                <a:extLst>
                  <a:ext uri="{0D108BD9-81ED-4DB2-BD59-A6C34878D82A}">
                    <a16:rowId xmlns:a16="http://schemas.microsoft.com/office/drawing/2014/main" val="581799436"/>
                  </a:ext>
                </a:extLst>
              </a:tr>
            </a:tbl>
          </a:graphicData>
        </a:graphic>
      </p:graphicFrame>
      <p:sp>
        <p:nvSpPr>
          <p:cNvPr id="5" name="Rectangle 1">
            <a:extLst>
              <a:ext uri="{FF2B5EF4-FFF2-40B4-BE49-F238E27FC236}">
                <a16:creationId xmlns:a16="http://schemas.microsoft.com/office/drawing/2014/main" id="{F0C87ED0-C57A-7FD6-02A6-411EC50034C4}"/>
              </a:ext>
            </a:extLst>
          </p:cNvPr>
          <p:cNvSpPr>
            <a:spLocks noChangeArrowheads="1"/>
          </p:cNvSpPr>
          <p:nvPr/>
        </p:nvSpPr>
        <p:spPr bwMode="auto">
          <a:xfrm>
            <a:off x="28690" y="1071038"/>
            <a:ext cx="1608133"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Summary</a:t>
            </a:r>
            <a:endPar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615358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41BF25B-41E2-89FE-1DBB-5AA454295B7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2B9487C-0DAB-E881-A624-FF45305862F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0CF3266-9EDA-6992-DB69-2E95DDD9B8B5}"/>
              </a:ext>
            </a:extLst>
          </p:cNvPr>
          <p:cNvSpPr>
            <a:spLocks noGrp="1"/>
          </p:cNvSpPr>
          <p:nvPr>
            <p:ph type="sldNum" sz="quarter" idx="4"/>
          </p:nvPr>
        </p:nvSpPr>
        <p:spPr/>
        <p:txBody>
          <a:bodyPr/>
          <a:lstStyle/>
          <a:p>
            <a:fld id="{16A89BA3-132D-40E1-AAB4-CDCD0A14C216}" type="slidenum">
              <a:rPr lang="en-AU" smtClean="0"/>
              <a:pPr/>
              <a:t>41</a:t>
            </a:fld>
            <a:r>
              <a:rPr lang="en-AU"/>
              <a:t>  |</a:t>
            </a:r>
            <a:endParaRPr lang="en-AU" dirty="0"/>
          </a:p>
        </p:txBody>
      </p:sp>
      <p:sp>
        <p:nvSpPr>
          <p:cNvPr id="9" name="Text Placeholder 3">
            <a:extLst>
              <a:ext uri="{FF2B5EF4-FFF2-40B4-BE49-F238E27FC236}">
                <a16:creationId xmlns:a16="http://schemas.microsoft.com/office/drawing/2014/main" id="{95E488C2-44A5-20F0-8979-E17897B42CBA}"/>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38DE31D-16DC-9542-84D2-201F8565A97B}"/>
              </a:ext>
            </a:extLst>
          </p:cNvPr>
          <p:cNvSpPr txBox="1"/>
          <p:nvPr/>
        </p:nvSpPr>
        <p:spPr>
          <a:xfrm>
            <a:off x="0" y="1338147"/>
            <a:ext cx="8987882" cy="325717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What This Means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Small websites and apps → often MySQL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Business/enterprise systems → often SQL Server or Oracle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Cloud-first companies → use cloud database services</a:t>
            </a:r>
          </a:p>
        </p:txBody>
      </p:sp>
    </p:spTree>
    <p:extLst>
      <p:ext uri="{BB962C8B-B14F-4D97-AF65-F5344CB8AC3E}">
        <p14:creationId xmlns:p14="http://schemas.microsoft.com/office/powerpoint/2010/main" val="12030720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96DEC9-88E5-E6C0-138B-678D009C83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CE108E7-6F00-4F67-6481-6A88437F09D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01B552F-6E7F-75B0-9B8B-52BB58691BA8}"/>
              </a:ext>
            </a:extLst>
          </p:cNvPr>
          <p:cNvSpPr>
            <a:spLocks noGrp="1"/>
          </p:cNvSpPr>
          <p:nvPr>
            <p:ph type="sldNum" sz="quarter" idx="4"/>
          </p:nvPr>
        </p:nvSpPr>
        <p:spPr/>
        <p:txBody>
          <a:bodyPr/>
          <a:lstStyle/>
          <a:p>
            <a:fld id="{16A89BA3-132D-40E1-AAB4-CDCD0A14C216}" type="slidenum">
              <a:rPr lang="en-AU" smtClean="0"/>
              <a:pPr/>
              <a:t>42</a:t>
            </a:fld>
            <a:r>
              <a:rPr lang="en-AU"/>
              <a:t>  |</a:t>
            </a:r>
            <a:endParaRPr lang="en-AU" dirty="0"/>
          </a:p>
        </p:txBody>
      </p:sp>
      <p:sp>
        <p:nvSpPr>
          <p:cNvPr id="9" name="Text Placeholder 3">
            <a:extLst>
              <a:ext uri="{FF2B5EF4-FFF2-40B4-BE49-F238E27FC236}">
                <a16:creationId xmlns:a16="http://schemas.microsoft.com/office/drawing/2014/main" id="{D6246C1C-2632-25D5-C521-61A0C59DBCF4}"/>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03393EF-BA5E-BD2E-AC47-75728FF82DE9}"/>
              </a:ext>
            </a:extLst>
          </p:cNvPr>
          <p:cNvSpPr txBox="1"/>
          <p:nvPr/>
        </p:nvSpPr>
        <p:spPr>
          <a:xfrm>
            <a:off x="0" y="1338147"/>
            <a:ext cx="8987882" cy="2607958"/>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Companies pick the database based on:</a:t>
            </a:r>
          </a:p>
          <a:p>
            <a:pPr marL="914400" lvl="1" indent="-457200">
              <a:lnSpc>
                <a:spcPct val="150000"/>
              </a:lnSpc>
              <a:buFont typeface="Wingdings" panose="05000000000000000000" pitchFamily="2" charset="2"/>
              <a:buChar char="ü"/>
            </a:pPr>
            <a:r>
              <a:rPr lang="en-US" sz="2800" dirty="0">
                <a:latin typeface="Calibri" panose="020F0502020204030204" pitchFamily="34" charset="0"/>
                <a:cs typeface="Calibri" panose="020F0502020204030204" pitchFamily="34" charset="0"/>
              </a:rPr>
              <a:t>How much data they have</a:t>
            </a:r>
          </a:p>
          <a:p>
            <a:pPr marL="914400" lvl="1" indent="-457200">
              <a:lnSpc>
                <a:spcPct val="150000"/>
              </a:lnSpc>
              <a:buFont typeface="Wingdings" panose="05000000000000000000" pitchFamily="2" charset="2"/>
              <a:buChar char="ü"/>
            </a:pPr>
            <a:r>
              <a:rPr lang="en-US" sz="2800" dirty="0">
                <a:latin typeface="Calibri" panose="020F0502020204030204" pitchFamily="34" charset="0"/>
                <a:cs typeface="Calibri" panose="020F0502020204030204" pitchFamily="34" charset="0"/>
              </a:rPr>
              <a:t>How many users need access</a:t>
            </a:r>
          </a:p>
          <a:p>
            <a:pPr marL="914400" lvl="1" indent="-457200">
              <a:lnSpc>
                <a:spcPct val="150000"/>
              </a:lnSpc>
              <a:buFont typeface="Wingdings" panose="05000000000000000000" pitchFamily="2" charset="2"/>
              <a:buChar char="ü"/>
            </a:pPr>
            <a:r>
              <a:rPr lang="en-US" sz="2800" dirty="0">
                <a:latin typeface="Calibri" panose="020F0502020204030204" pitchFamily="34" charset="0"/>
                <a:cs typeface="Calibri" panose="020F0502020204030204" pitchFamily="34" charset="0"/>
              </a:rPr>
              <a:t>Whether they want on-site servers or cloud setup</a:t>
            </a:r>
          </a:p>
        </p:txBody>
      </p:sp>
    </p:spTree>
    <p:extLst>
      <p:ext uri="{BB962C8B-B14F-4D97-AF65-F5344CB8AC3E}">
        <p14:creationId xmlns:p14="http://schemas.microsoft.com/office/powerpoint/2010/main" val="3460715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DCCF5CE-0332-2E3E-B4B4-8C70F7EBA73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BB1F0C4-E756-6FE2-F626-0E971F67B67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8572E53-BF0D-788F-109D-B12CC3E52E82}"/>
              </a:ext>
            </a:extLst>
          </p:cNvPr>
          <p:cNvSpPr>
            <a:spLocks noGrp="1"/>
          </p:cNvSpPr>
          <p:nvPr>
            <p:ph type="sldNum" sz="quarter" idx="4"/>
          </p:nvPr>
        </p:nvSpPr>
        <p:spPr/>
        <p:txBody>
          <a:bodyPr/>
          <a:lstStyle/>
          <a:p>
            <a:fld id="{16A89BA3-132D-40E1-AAB4-CDCD0A14C216}" type="slidenum">
              <a:rPr lang="en-AU" smtClean="0"/>
              <a:pPr/>
              <a:t>43</a:t>
            </a:fld>
            <a:r>
              <a:rPr lang="en-AU"/>
              <a:t>  |</a:t>
            </a:r>
            <a:endParaRPr lang="en-AU" dirty="0"/>
          </a:p>
        </p:txBody>
      </p:sp>
      <p:sp>
        <p:nvSpPr>
          <p:cNvPr id="9" name="Text Placeholder 3">
            <a:extLst>
              <a:ext uri="{FF2B5EF4-FFF2-40B4-BE49-F238E27FC236}">
                <a16:creationId xmlns:a16="http://schemas.microsoft.com/office/drawing/2014/main" id="{5C3456FD-DCCA-C6F3-D3B0-23CE4ED60E70}"/>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EC22CF9-A0F2-88C4-1466-06326AC7292E}"/>
              </a:ext>
            </a:extLst>
          </p:cNvPr>
          <p:cNvSpPr txBox="1"/>
          <p:nvPr/>
        </p:nvSpPr>
        <p:spPr>
          <a:xfrm>
            <a:off x="0" y="1154082"/>
            <a:ext cx="6674069" cy="4549835"/>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There are many careers in this field.</a:t>
            </a:r>
          </a:p>
          <a:p>
            <a:pPr>
              <a:lnSpc>
                <a:spcPct val="150000"/>
              </a:lnSpc>
            </a:pPr>
            <a:r>
              <a:rPr lang="en-US" sz="2800" b="1" dirty="0">
                <a:latin typeface="Calibri" panose="020F0502020204030204" pitchFamily="34" charset="0"/>
                <a:cs typeface="Calibri" panose="020F0502020204030204" pitchFamily="34" charset="0"/>
              </a:rPr>
              <a:t>1. Database Administrator (DBA)</a:t>
            </a:r>
          </a:p>
          <a:p>
            <a:pPr>
              <a:lnSpc>
                <a:spcPct val="150000"/>
              </a:lnSpc>
            </a:pPr>
            <a:r>
              <a:rPr lang="en-US" sz="2800" dirty="0">
                <a:latin typeface="Calibri" panose="020F0502020204030204" pitchFamily="34" charset="0"/>
                <a:cs typeface="Calibri" panose="020F0502020204030204" pitchFamily="34" charset="0"/>
              </a:rPr>
              <a:t>Responsible for: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Managing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Backup and recovery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Security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Performance tuning</a:t>
            </a:r>
          </a:p>
        </p:txBody>
      </p:sp>
    </p:spTree>
    <p:extLst>
      <p:ext uri="{BB962C8B-B14F-4D97-AF65-F5344CB8AC3E}">
        <p14:creationId xmlns:p14="http://schemas.microsoft.com/office/powerpoint/2010/main" val="2407511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A76D82-05BD-0A60-83DB-6D9A2272EE0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F67E8B8-88F3-A99A-9F8D-57A79DF8C2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CB3E4DC-C096-8F20-21FA-71C6BD5E493D}"/>
              </a:ext>
            </a:extLst>
          </p:cNvPr>
          <p:cNvSpPr>
            <a:spLocks noGrp="1"/>
          </p:cNvSpPr>
          <p:nvPr>
            <p:ph type="sldNum" sz="quarter" idx="4"/>
          </p:nvPr>
        </p:nvSpPr>
        <p:spPr/>
        <p:txBody>
          <a:bodyPr/>
          <a:lstStyle/>
          <a:p>
            <a:fld id="{16A89BA3-132D-40E1-AAB4-CDCD0A14C216}" type="slidenum">
              <a:rPr lang="en-AU" smtClean="0"/>
              <a:pPr/>
              <a:t>44</a:t>
            </a:fld>
            <a:r>
              <a:rPr lang="en-AU"/>
              <a:t>  |</a:t>
            </a:r>
            <a:endParaRPr lang="en-AU" dirty="0"/>
          </a:p>
        </p:txBody>
      </p:sp>
      <p:sp>
        <p:nvSpPr>
          <p:cNvPr id="9" name="Text Placeholder 3">
            <a:extLst>
              <a:ext uri="{FF2B5EF4-FFF2-40B4-BE49-F238E27FC236}">
                <a16:creationId xmlns:a16="http://schemas.microsoft.com/office/drawing/2014/main" id="{B37E1BFB-64C5-B0CC-1A4F-4410F7E65B31}"/>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F770C9E-E9DE-A744-DEAC-D16DB3207E58}"/>
              </a:ext>
            </a:extLst>
          </p:cNvPr>
          <p:cNvSpPr txBox="1"/>
          <p:nvPr/>
        </p:nvSpPr>
        <p:spPr>
          <a:xfrm>
            <a:off x="0" y="1154082"/>
            <a:ext cx="6674069" cy="325717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Data Analyst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Analyzes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Creates reports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Finds patterns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Helps decision-making</a:t>
            </a:r>
          </a:p>
        </p:txBody>
      </p:sp>
    </p:spTree>
    <p:extLst>
      <p:ext uri="{BB962C8B-B14F-4D97-AF65-F5344CB8AC3E}">
        <p14:creationId xmlns:p14="http://schemas.microsoft.com/office/powerpoint/2010/main" val="5450177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0BD57A2-0215-C52B-BC06-FBCC2DE5363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2E0FD32-2C5A-E3E4-44C2-85159C24FF3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907F0D1-13B6-0B1E-137C-2AD50698F7C9}"/>
              </a:ext>
            </a:extLst>
          </p:cNvPr>
          <p:cNvSpPr>
            <a:spLocks noGrp="1"/>
          </p:cNvSpPr>
          <p:nvPr>
            <p:ph type="sldNum" sz="quarter" idx="4"/>
          </p:nvPr>
        </p:nvSpPr>
        <p:spPr/>
        <p:txBody>
          <a:bodyPr/>
          <a:lstStyle/>
          <a:p>
            <a:fld id="{16A89BA3-132D-40E1-AAB4-CDCD0A14C216}" type="slidenum">
              <a:rPr lang="en-AU" smtClean="0"/>
              <a:pPr/>
              <a:t>45</a:t>
            </a:fld>
            <a:r>
              <a:rPr lang="en-AU"/>
              <a:t>  |</a:t>
            </a:r>
            <a:endParaRPr lang="en-AU" dirty="0"/>
          </a:p>
        </p:txBody>
      </p:sp>
      <p:sp>
        <p:nvSpPr>
          <p:cNvPr id="9" name="Text Placeholder 3">
            <a:extLst>
              <a:ext uri="{FF2B5EF4-FFF2-40B4-BE49-F238E27FC236}">
                <a16:creationId xmlns:a16="http://schemas.microsoft.com/office/drawing/2014/main" id="{A6265570-A87B-AD2D-5D13-7AF03EE9FAAD}"/>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818C536-54AD-9FE2-3892-BF716AD17979}"/>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Data Scientist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Uses statistics and machine learning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Builds prediction models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Works with big data</a:t>
            </a:r>
          </a:p>
        </p:txBody>
      </p:sp>
    </p:spTree>
    <p:extLst>
      <p:ext uri="{BB962C8B-B14F-4D97-AF65-F5344CB8AC3E}">
        <p14:creationId xmlns:p14="http://schemas.microsoft.com/office/powerpoint/2010/main" val="13227471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0C1EA5-8BF0-F181-246C-280BE28D44C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D23208F-1D1A-3718-8358-B4800F5C2D5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0B213CC-D4D5-601D-AC12-7BACC2C7794E}"/>
              </a:ext>
            </a:extLst>
          </p:cNvPr>
          <p:cNvSpPr>
            <a:spLocks noGrp="1"/>
          </p:cNvSpPr>
          <p:nvPr>
            <p:ph type="sldNum" sz="quarter" idx="4"/>
          </p:nvPr>
        </p:nvSpPr>
        <p:spPr/>
        <p:txBody>
          <a:bodyPr/>
          <a:lstStyle/>
          <a:p>
            <a:fld id="{16A89BA3-132D-40E1-AAB4-CDCD0A14C216}" type="slidenum">
              <a:rPr lang="en-AU" smtClean="0"/>
              <a:pPr/>
              <a:t>46</a:t>
            </a:fld>
            <a:r>
              <a:rPr lang="en-AU"/>
              <a:t>  |</a:t>
            </a:r>
            <a:endParaRPr lang="en-AU" dirty="0"/>
          </a:p>
        </p:txBody>
      </p:sp>
      <p:sp>
        <p:nvSpPr>
          <p:cNvPr id="9" name="Text Placeholder 3">
            <a:extLst>
              <a:ext uri="{FF2B5EF4-FFF2-40B4-BE49-F238E27FC236}">
                <a16:creationId xmlns:a16="http://schemas.microsoft.com/office/drawing/2014/main" id="{0BA043B9-F3EF-557E-CB87-729B38AB64AC}"/>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237462A-44C2-8A6A-9301-C70F0DB44AA1}"/>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4. Database Developer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Designs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Writes SQL queries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Creates stored procedures</a:t>
            </a:r>
          </a:p>
        </p:txBody>
      </p:sp>
    </p:spTree>
    <p:extLst>
      <p:ext uri="{BB962C8B-B14F-4D97-AF65-F5344CB8AC3E}">
        <p14:creationId xmlns:p14="http://schemas.microsoft.com/office/powerpoint/2010/main" val="34677670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3278C78-F31D-FD16-1705-542CD0389EA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9F33EDA-5F71-10C2-2521-1571CC41D36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E0B4BE-A080-C644-73E6-8FEFE2DC5DED}"/>
              </a:ext>
            </a:extLst>
          </p:cNvPr>
          <p:cNvSpPr>
            <a:spLocks noGrp="1"/>
          </p:cNvSpPr>
          <p:nvPr>
            <p:ph type="sldNum" sz="quarter" idx="4"/>
          </p:nvPr>
        </p:nvSpPr>
        <p:spPr/>
        <p:txBody>
          <a:bodyPr/>
          <a:lstStyle/>
          <a:p>
            <a:fld id="{16A89BA3-132D-40E1-AAB4-CDCD0A14C216}" type="slidenum">
              <a:rPr lang="en-AU" smtClean="0"/>
              <a:pPr/>
              <a:t>47</a:t>
            </a:fld>
            <a:r>
              <a:rPr lang="en-AU"/>
              <a:t>  |</a:t>
            </a:r>
            <a:endParaRPr lang="en-AU" dirty="0"/>
          </a:p>
        </p:txBody>
      </p:sp>
      <p:sp>
        <p:nvSpPr>
          <p:cNvPr id="9" name="Text Placeholder 3">
            <a:extLst>
              <a:ext uri="{FF2B5EF4-FFF2-40B4-BE49-F238E27FC236}">
                <a16:creationId xmlns:a16="http://schemas.microsoft.com/office/drawing/2014/main" id="{4442703C-7AF8-D8F7-53ED-0282578CD5D9}"/>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9498944-2B46-36A9-626A-728B0223C101}"/>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5. Data Engineer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Builds data pipelines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Manages big data systems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Works with cloud databases</a:t>
            </a:r>
          </a:p>
        </p:txBody>
      </p:sp>
    </p:spTree>
    <p:extLst>
      <p:ext uri="{BB962C8B-B14F-4D97-AF65-F5344CB8AC3E}">
        <p14:creationId xmlns:p14="http://schemas.microsoft.com/office/powerpoint/2010/main" val="13661727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A16A2E-D968-B5C4-7677-BC025A0801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B541C74-1C77-5285-9127-BC098E24EC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6777498-7E14-3E36-8A50-ECD147E070F8}"/>
              </a:ext>
            </a:extLst>
          </p:cNvPr>
          <p:cNvSpPr>
            <a:spLocks noGrp="1"/>
          </p:cNvSpPr>
          <p:nvPr>
            <p:ph type="sldNum" sz="quarter" idx="4"/>
          </p:nvPr>
        </p:nvSpPr>
        <p:spPr/>
        <p:txBody>
          <a:bodyPr/>
          <a:lstStyle/>
          <a:p>
            <a:fld id="{16A89BA3-132D-40E1-AAB4-CDCD0A14C216}" type="slidenum">
              <a:rPr lang="en-AU" smtClean="0"/>
              <a:pPr/>
              <a:t>48</a:t>
            </a:fld>
            <a:r>
              <a:rPr lang="en-AU"/>
              <a:t>  |</a:t>
            </a:r>
            <a:endParaRPr lang="en-AU" dirty="0"/>
          </a:p>
        </p:txBody>
      </p:sp>
      <p:sp>
        <p:nvSpPr>
          <p:cNvPr id="9" name="Text Placeholder 3">
            <a:extLst>
              <a:ext uri="{FF2B5EF4-FFF2-40B4-BE49-F238E27FC236}">
                <a16:creationId xmlns:a16="http://schemas.microsoft.com/office/drawing/2014/main" id="{26D76D6D-8B7B-ED0A-A612-5D5CCEF9A4E0}"/>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3840AA4A-77E9-FE04-0389-3F84E8568EA5}"/>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6. Business Intelligence (BI) Developer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Creates dashboards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Visualizes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Supports management decisions</a:t>
            </a:r>
          </a:p>
        </p:txBody>
      </p:sp>
    </p:spTree>
    <p:extLst>
      <p:ext uri="{BB962C8B-B14F-4D97-AF65-F5344CB8AC3E}">
        <p14:creationId xmlns:p14="http://schemas.microsoft.com/office/powerpoint/2010/main" val="926819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3509D60-015A-4004-EE18-D1793B9675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25547D8-41FA-C0A3-FF6F-897094BE77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5BA8E62-97BD-1C05-F4B7-68742B1C61C1}"/>
              </a:ext>
            </a:extLst>
          </p:cNvPr>
          <p:cNvSpPr>
            <a:spLocks noGrp="1"/>
          </p:cNvSpPr>
          <p:nvPr>
            <p:ph type="sldNum" sz="quarter" idx="4"/>
          </p:nvPr>
        </p:nvSpPr>
        <p:spPr/>
        <p:txBody>
          <a:bodyPr/>
          <a:lstStyle/>
          <a:p>
            <a:fld id="{16A89BA3-132D-40E1-AAB4-CDCD0A14C216}" type="slidenum">
              <a:rPr lang="en-AU" smtClean="0"/>
              <a:pPr/>
              <a:t>49</a:t>
            </a:fld>
            <a:r>
              <a:rPr lang="en-AU"/>
              <a:t>  |</a:t>
            </a:r>
            <a:endParaRPr lang="en-AU" dirty="0"/>
          </a:p>
        </p:txBody>
      </p:sp>
      <p:sp>
        <p:nvSpPr>
          <p:cNvPr id="9" name="Text Placeholder 3">
            <a:extLst>
              <a:ext uri="{FF2B5EF4-FFF2-40B4-BE49-F238E27FC236}">
                <a16:creationId xmlns:a16="http://schemas.microsoft.com/office/drawing/2014/main" id="{189A0459-7A82-5528-87C3-30B6966BE954}"/>
              </a:ext>
            </a:extLst>
          </p:cNvPr>
          <p:cNvSpPr>
            <a:spLocks noGrp="1"/>
          </p:cNvSpPr>
          <p:nvPr>
            <p:ph type="body" sz="quarter" idx="16"/>
          </p:nvPr>
        </p:nvSpPr>
        <p:spPr>
          <a:xfrm>
            <a:off x="0" y="0"/>
            <a:ext cx="7849590" cy="84314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97228F1-6B33-2F4C-DB09-913FB1725DEF}"/>
              </a:ext>
            </a:extLst>
          </p:cNvPr>
          <p:cNvSpPr txBox="1"/>
          <p:nvPr/>
        </p:nvSpPr>
        <p:spPr>
          <a:xfrm>
            <a:off x="0" y="1078726"/>
            <a:ext cx="9144000" cy="4549835"/>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Analogy: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If a database is a hospital, the: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DBA = technician</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Analyst = doctor reading reports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Scientist = researcher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Architect or Data Engineer = engineer designing hospital layout</a:t>
            </a:r>
          </a:p>
        </p:txBody>
      </p:sp>
    </p:spTree>
    <p:extLst>
      <p:ext uri="{BB962C8B-B14F-4D97-AF65-F5344CB8AC3E}">
        <p14:creationId xmlns:p14="http://schemas.microsoft.com/office/powerpoint/2010/main" val="25197653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5823FE9-8558-D85F-BF8F-95D6D9FA8F1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35D9269-4DB6-C186-37E2-0BFEFC913EB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285DAFD-FAFC-7533-2303-1734F64975E9}"/>
              </a:ext>
            </a:extLst>
          </p:cNvPr>
          <p:cNvSpPr>
            <a:spLocks noGrp="1"/>
          </p:cNvSpPr>
          <p:nvPr>
            <p:ph type="sldNum" sz="quarter" idx="4"/>
          </p:nvPr>
        </p:nvSpPr>
        <p:spPr/>
        <p:txBody>
          <a:bodyPr/>
          <a:lstStyle/>
          <a:p>
            <a:fld id="{16A89BA3-132D-40E1-AAB4-CDCD0A14C216}" type="slidenum">
              <a:rPr lang="en-AU" smtClean="0"/>
              <a:pPr/>
              <a:t>50</a:t>
            </a:fld>
            <a:r>
              <a:rPr lang="en-AU"/>
              <a:t>  |</a:t>
            </a:r>
            <a:endParaRPr lang="en-AU" dirty="0"/>
          </a:p>
        </p:txBody>
      </p:sp>
      <p:sp>
        <p:nvSpPr>
          <p:cNvPr id="9" name="Text Placeholder 3">
            <a:extLst>
              <a:ext uri="{FF2B5EF4-FFF2-40B4-BE49-F238E27FC236}">
                <a16:creationId xmlns:a16="http://schemas.microsoft.com/office/drawing/2014/main" id="{69797E28-FBF2-CF87-D3B3-3BF752466B2F}"/>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C662DB89-AF85-84E5-C160-54B051099625}"/>
              </a:ext>
            </a:extLst>
          </p:cNvPr>
          <p:cNvSpPr txBox="1"/>
          <p:nvPr/>
        </p:nvSpPr>
        <p:spPr>
          <a:xfrm>
            <a:off x="0" y="1154082"/>
            <a:ext cx="6674069" cy="390350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Skills Needed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modeling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Basic programming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Analytical thinking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Problem solving</a:t>
            </a:r>
          </a:p>
        </p:txBody>
      </p:sp>
    </p:spTree>
    <p:extLst>
      <p:ext uri="{BB962C8B-B14F-4D97-AF65-F5344CB8AC3E}">
        <p14:creationId xmlns:p14="http://schemas.microsoft.com/office/powerpoint/2010/main" val="1705310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6E68D5C-FEB1-E811-D823-A88DB35737B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D4E16CA-8E2E-1A41-2E52-C1E38DF749D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050E75-477A-E213-11B6-A0DCF0812BFF}"/>
              </a:ext>
            </a:extLst>
          </p:cNvPr>
          <p:cNvSpPr>
            <a:spLocks noGrp="1"/>
          </p:cNvSpPr>
          <p:nvPr>
            <p:ph type="sldNum" sz="quarter" idx="4"/>
          </p:nvPr>
        </p:nvSpPr>
        <p:spPr/>
        <p:txBody>
          <a:bodyPr/>
          <a:lstStyle/>
          <a:p>
            <a:fld id="{16A89BA3-132D-40E1-AAB4-CDCD0A14C216}" type="slidenum">
              <a:rPr lang="en-AU" smtClean="0"/>
              <a:pPr/>
              <a:t>51</a:t>
            </a:fld>
            <a:r>
              <a:rPr lang="en-AU"/>
              <a:t>  |</a:t>
            </a:r>
            <a:endParaRPr lang="en-AU" dirty="0"/>
          </a:p>
        </p:txBody>
      </p:sp>
      <p:sp>
        <p:nvSpPr>
          <p:cNvPr id="9" name="Text Placeholder 3">
            <a:extLst>
              <a:ext uri="{FF2B5EF4-FFF2-40B4-BE49-F238E27FC236}">
                <a16:creationId xmlns:a16="http://schemas.microsoft.com/office/drawing/2014/main" id="{C870CF84-4642-EDBE-9D12-0D422FE5B110}"/>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Key Takeaways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9CD71C4F-3EB1-A0D6-1E35-F9350ACFEF04}"/>
              </a:ext>
            </a:extLst>
          </p:cNvPr>
          <p:cNvSpPr txBox="1"/>
          <p:nvPr/>
        </p:nvSpPr>
        <p:spPr>
          <a:xfrm>
            <a:off x="0" y="1154082"/>
            <a:ext cx="9144000" cy="3257174"/>
          </a:xfrm>
          <a:prstGeom prst="rect">
            <a:avLst/>
          </a:prstGeom>
          <a:solidFill>
            <a:schemeClr val="bg1"/>
          </a:solidFill>
        </p:spPr>
        <p:txBody>
          <a:bodyPr wrap="square">
            <a:spAutoFit/>
          </a:bodyPr>
          <a:lstStyle/>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 raw facts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Information = processed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Databases store structured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 manages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Many career opportunities exist in data</a:t>
            </a:r>
          </a:p>
        </p:txBody>
      </p:sp>
    </p:spTree>
    <p:extLst>
      <p:ext uri="{BB962C8B-B14F-4D97-AF65-F5344CB8AC3E}">
        <p14:creationId xmlns:p14="http://schemas.microsoft.com/office/powerpoint/2010/main" val="28161753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977A6A7-79E5-4547-1A36-A345BB4824C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1F1C047-11B3-A640-DC8F-C35039A489E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6F845B9-C4E7-678C-3BA8-A9BC430ED0EB}"/>
              </a:ext>
            </a:extLst>
          </p:cNvPr>
          <p:cNvSpPr>
            <a:spLocks noGrp="1"/>
          </p:cNvSpPr>
          <p:nvPr>
            <p:ph type="sldNum" sz="quarter" idx="4"/>
          </p:nvPr>
        </p:nvSpPr>
        <p:spPr/>
        <p:txBody>
          <a:bodyPr/>
          <a:lstStyle/>
          <a:p>
            <a:fld id="{16A89BA3-132D-40E1-AAB4-CDCD0A14C216}" type="slidenum">
              <a:rPr lang="en-AU" smtClean="0"/>
              <a:pPr/>
              <a:t>52</a:t>
            </a:fld>
            <a:r>
              <a:rPr lang="en-AU"/>
              <a:t>  |</a:t>
            </a:r>
            <a:endParaRPr lang="en-AU" dirty="0"/>
          </a:p>
        </p:txBody>
      </p:sp>
      <p:sp>
        <p:nvSpPr>
          <p:cNvPr id="9" name="Text Placeholder 3">
            <a:extLst>
              <a:ext uri="{FF2B5EF4-FFF2-40B4-BE49-F238E27FC236}">
                <a16:creationId xmlns:a16="http://schemas.microsoft.com/office/drawing/2014/main" id="{EDA96A15-C2AE-53C5-28E6-57E646722398}"/>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0076469-E3D6-7E1B-E299-AC0CEA9ED864}"/>
              </a:ext>
            </a:extLst>
          </p:cNvPr>
          <p:cNvSpPr txBox="1"/>
          <p:nvPr/>
        </p:nvSpPr>
        <p:spPr>
          <a:xfrm>
            <a:off x="0" y="1154082"/>
            <a:ext cx="9144000" cy="671851"/>
          </a:xfrm>
          <a:prstGeom prst="rect">
            <a:avLst/>
          </a:prstGeom>
          <a:solidFill>
            <a:schemeClr val="bg1"/>
          </a:solidFill>
        </p:spPr>
        <p:txBody>
          <a:bodyPr wrap="square">
            <a:spAutoFit/>
          </a:bodyPr>
          <a:lstStyle/>
          <a:p>
            <a:pPr marL="51435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Why is data important in modern businesses? (</a:t>
            </a:r>
            <a:r>
              <a:rPr lang="en-US" sz="2800" b="1" dirty="0">
                <a:highlight>
                  <a:srgbClr val="00FF00"/>
                </a:highlight>
                <a:latin typeface="Calibri" panose="020F0502020204030204" pitchFamily="34" charset="0"/>
                <a:cs typeface="Calibri" panose="020F0502020204030204" pitchFamily="34" charset="0"/>
              </a:rPr>
              <a:t>1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818487D6-E697-DED6-56BD-AA1DBBE2B2A1}"/>
              </a:ext>
            </a:extLst>
          </p:cNvPr>
          <p:cNvSpPr txBox="1"/>
          <p:nvPr/>
        </p:nvSpPr>
        <p:spPr>
          <a:xfrm>
            <a:off x="0" y="2049517"/>
            <a:ext cx="9144000" cy="390350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Data helps businesses: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Make better decisions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Understand customers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Increase sales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Reduce costs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Plan for the future</a:t>
            </a:r>
          </a:p>
        </p:txBody>
      </p:sp>
    </p:spTree>
    <p:extLst>
      <p:ext uri="{BB962C8B-B14F-4D97-AF65-F5344CB8AC3E}">
        <p14:creationId xmlns:p14="http://schemas.microsoft.com/office/powerpoint/2010/main" val="391456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6E576E0-5C82-6335-3424-07D2E6B3E48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17ED12-F527-1014-E7AF-84B31FF9B22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AF68B02-68DD-D3FC-9457-87482E67B0B1}"/>
              </a:ext>
            </a:extLst>
          </p:cNvPr>
          <p:cNvSpPr>
            <a:spLocks noGrp="1"/>
          </p:cNvSpPr>
          <p:nvPr>
            <p:ph type="sldNum" sz="quarter" idx="4"/>
          </p:nvPr>
        </p:nvSpPr>
        <p:spPr/>
        <p:txBody>
          <a:bodyPr/>
          <a:lstStyle/>
          <a:p>
            <a:fld id="{16A89BA3-132D-40E1-AAB4-CDCD0A14C216}" type="slidenum">
              <a:rPr lang="en-AU" smtClean="0"/>
              <a:pPr/>
              <a:t>53</a:t>
            </a:fld>
            <a:r>
              <a:rPr lang="en-AU"/>
              <a:t>  |</a:t>
            </a:r>
            <a:endParaRPr lang="en-AU" dirty="0"/>
          </a:p>
        </p:txBody>
      </p:sp>
      <p:sp>
        <p:nvSpPr>
          <p:cNvPr id="9" name="Text Placeholder 3">
            <a:extLst>
              <a:ext uri="{FF2B5EF4-FFF2-40B4-BE49-F238E27FC236}">
                <a16:creationId xmlns:a16="http://schemas.microsoft.com/office/drawing/2014/main" id="{26F416D2-1FB9-616F-39CF-7A5C31D758DD}"/>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E2AB1BAF-F641-CB9B-E1B3-632E644D6B3D}"/>
              </a:ext>
            </a:extLst>
          </p:cNvPr>
          <p:cNvSpPr txBox="1"/>
          <p:nvPr/>
        </p:nvSpPr>
        <p:spPr>
          <a:xfrm>
            <a:off x="0" y="2123578"/>
            <a:ext cx="9144000" cy="2610843"/>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store checks sales data to see which products sell the most. Then they order more of those products.</a:t>
            </a:r>
          </a:p>
          <a:p>
            <a:pPr>
              <a:lnSpc>
                <a:spcPct val="150000"/>
              </a:lnSpc>
            </a:pPr>
            <a:r>
              <a:rPr lang="en-US" sz="2800" dirty="0">
                <a:latin typeface="Calibri" panose="020F0502020204030204" pitchFamily="34" charset="0"/>
                <a:cs typeface="Calibri" panose="020F0502020204030204" pitchFamily="34" charset="0"/>
              </a:rPr>
              <a:t>Without data, businesses would be guessing.</a:t>
            </a:r>
          </a:p>
        </p:txBody>
      </p:sp>
    </p:spTree>
    <p:extLst>
      <p:ext uri="{BB962C8B-B14F-4D97-AF65-F5344CB8AC3E}">
        <p14:creationId xmlns:p14="http://schemas.microsoft.com/office/powerpoint/2010/main" val="27686573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BEA7A22-BACA-839C-5601-5A6709BBC5A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282AB8C-9C64-B9D6-910A-5B629EE3CB7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96B46EC-BD17-B538-F155-91633153A2CF}"/>
              </a:ext>
            </a:extLst>
          </p:cNvPr>
          <p:cNvSpPr>
            <a:spLocks noGrp="1"/>
          </p:cNvSpPr>
          <p:nvPr>
            <p:ph type="sldNum" sz="quarter" idx="4"/>
          </p:nvPr>
        </p:nvSpPr>
        <p:spPr/>
        <p:txBody>
          <a:bodyPr/>
          <a:lstStyle/>
          <a:p>
            <a:fld id="{16A89BA3-132D-40E1-AAB4-CDCD0A14C216}" type="slidenum">
              <a:rPr lang="en-AU" smtClean="0"/>
              <a:pPr/>
              <a:t>54</a:t>
            </a:fld>
            <a:r>
              <a:rPr lang="en-AU"/>
              <a:t>  |</a:t>
            </a:r>
            <a:endParaRPr lang="en-AU" dirty="0"/>
          </a:p>
        </p:txBody>
      </p:sp>
      <p:sp>
        <p:nvSpPr>
          <p:cNvPr id="9" name="Text Placeholder 3">
            <a:extLst>
              <a:ext uri="{FF2B5EF4-FFF2-40B4-BE49-F238E27FC236}">
                <a16:creationId xmlns:a16="http://schemas.microsoft.com/office/drawing/2014/main" id="{1D743C8C-DEF8-2913-5922-0479373DA8FC}"/>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0B4B512-53A0-A77A-BBEA-7EAB67090AFC}"/>
              </a:ext>
            </a:extLst>
          </p:cNvPr>
          <p:cNvSpPr txBox="1"/>
          <p:nvPr/>
        </p:nvSpPr>
        <p:spPr>
          <a:xfrm>
            <a:off x="0" y="1154082"/>
            <a:ext cx="9144000" cy="671851"/>
          </a:xfrm>
          <a:prstGeom prst="rect">
            <a:avLst/>
          </a:prstGeom>
          <a:solidFill>
            <a:schemeClr val="bg1"/>
          </a:solidFill>
        </p:spPr>
        <p:txBody>
          <a:bodyPr wrap="square">
            <a:spAutoFit/>
          </a:bodyPr>
          <a:lstStyle/>
          <a:p>
            <a:pPr marL="514350" indent="-514350">
              <a:lnSpc>
                <a:spcPct val="150000"/>
              </a:lnSpc>
              <a:buFont typeface="+mj-lt"/>
              <a:buAutoNum type="arabicPeriod" startAt="2"/>
            </a:pPr>
            <a:r>
              <a:rPr lang="en-US" sz="2800" b="1" dirty="0">
                <a:latin typeface="Calibri" panose="020F0502020204030204" pitchFamily="34" charset="0"/>
                <a:cs typeface="Calibri" panose="020F0502020204030204" pitchFamily="34" charset="0"/>
              </a:rPr>
              <a:t>Why problems can happen without databases? (</a:t>
            </a:r>
            <a:r>
              <a:rPr lang="en-US" sz="2800" b="1" dirty="0">
                <a:highlight>
                  <a:srgbClr val="00FF00"/>
                </a:highlight>
                <a:latin typeface="Calibri" panose="020F0502020204030204" pitchFamily="34" charset="0"/>
                <a:cs typeface="Calibri" panose="020F0502020204030204" pitchFamily="34" charset="0"/>
              </a:rPr>
              <a:t>1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EFE68D12-2438-F697-6F6E-2B465C2F17F9}"/>
              </a:ext>
            </a:extLst>
          </p:cNvPr>
          <p:cNvSpPr txBox="1"/>
          <p:nvPr/>
        </p:nvSpPr>
        <p:spPr>
          <a:xfrm>
            <a:off x="0" y="1960636"/>
            <a:ext cx="9144000" cy="4549835"/>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Without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can be lost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Information can be duplicated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Searching for data is slow</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Mistakes happen easily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Security is weak</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Reports take longer to prepare</a:t>
            </a:r>
          </a:p>
        </p:txBody>
      </p:sp>
    </p:spTree>
    <p:extLst>
      <p:ext uri="{BB962C8B-B14F-4D97-AF65-F5344CB8AC3E}">
        <p14:creationId xmlns:p14="http://schemas.microsoft.com/office/powerpoint/2010/main" val="155335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97E93E1-1196-05BB-B413-B2F7D90D715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F9E05C7-A509-90A2-3427-61A541362D3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4FFD292-3206-AD40-F2B8-6FF3AD7A9733}"/>
              </a:ext>
            </a:extLst>
          </p:cNvPr>
          <p:cNvSpPr>
            <a:spLocks noGrp="1"/>
          </p:cNvSpPr>
          <p:nvPr>
            <p:ph type="sldNum" sz="quarter" idx="4"/>
          </p:nvPr>
        </p:nvSpPr>
        <p:spPr/>
        <p:txBody>
          <a:bodyPr/>
          <a:lstStyle/>
          <a:p>
            <a:fld id="{16A89BA3-132D-40E1-AAB4-CDCD0A14C216}" type="slidenum">
              <a:rPr lang="en-AU" smtClean="0"/>
              <a:pPr/>
              <a:t>55</a:t>
            </a:fld>
            <a:r>
              <a:rPr lang="en-AU"/>
              <a:t>  |</a:t>
            </a:r>
            <a:endParaRPr lang="en-AU" dirty="0"/>
          </a:p>
        </p:txBody>
      </p:sp>
      <p:sp>
        <p:nvSpPr>
          <p:cNvPr id="9" name="Text Placeholder 3">
            <a:extLst>
              <a:ext uri="{FF2B5EF4-FFF2-40B4-BE49-F238E27FC236}">
                <a16:creationId xmlns:a16="http://schemas.microsoft.com/office/drawing/2014/main" id="{D349A396-BA31-4CA1-6F32-42F32F322464}"/>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B7B9AAEF-B156-9FC5-86ED-86B40C5F96F0}"/>
              </a:ext>
            </a:extLst>
          </p:cNvPr>
          <p:cNvSpPr txBox="1"/>
          <p:nvPr/>
        </p:nvSpPr>
        <p:spPr>
          <a:xfrm>
            <a:off x="0" y="2123578"/>
            <a:ext cx="9144000" cy="2610843"/>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If a hospital stores patient data in paper files, it may take a long time to find a patient’s record in an emergency.</a:t>
            </a:r>
          </a:p>
          <a:p>
            <a:pPr>
              <a:lnSpc>
                <a:spcPct val="150000"/>
              </a:lnSpc>
              <a:buNone/>
            </a:pPr>
            <a:r>
              <a:rPr lang="en-US" sz="2800" dirty="0">
                <a:latin typeface="Calibri" panose="020F0502020204030204" pitchFamily="34" charset="0"/>
                <a:cs typeface="Calibri" panose="020F0502020204030204" pitchFamily="34" charset="0"/>
              </a:rPr>
              <a:t>Databases keep data organized and easy to access.</a:t>
            </a:r>
          </a:p>
        </p:txBody>
      </p:sp>
    </p:spTree>
    <p:extLst>
      <p:ext uri="{BB962C8B-B14F-4D97-AF65-F5344CB8AC3E}">
        <p14:creationId xmlns:p14="http://schemas.microsoft.com/office/powerpoint/2010/main" val="40065939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C6F7EC1-8D20-753F-2BCD-90EC60224B8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9080D2E-7F69-BF06-5FD4-A20A4AFF768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2EF854A-9AA4-1DB3-10C3-499CB328A4D0}"/>
              </a:ext>
            </a:extLst>
          </p:cNvPr>
          <p:cNvSpPr>
            <a:spLocks noGrp="1"/>
          </p:cNvSpPr>
          <p:nvPr>
            <p:ph type="sldNum" sz="quarter" idx="4"/>
          </p:nvPr>
        </p:nvSpPr>
        <p:spPr/>
        <p:txBody>
          <a:bodyPr/>
          <a:lstStyle/>
          <a:p>
            <a:fld id="{16A89BA3-132D-40E1-AAB4-CDCD0A14C216}" type="slidenum">
              <a:rPr lang="en-AU" smtClean="0"/>
              <a:pPr/>
              <a:t>56</a:t>
            </a:fld>
            <a:r>
              <a:rPr lang="en-AU"/>
              <a:t>  |</a:t>
            </a:r>
            <a:endParaRPr lang="en-AU" dirty="0"/>
          </a:p>
        </p:txBody>
      </p:sp>
      <p:sp>
        <p:nvSpPr>
          <p:cNvPr id="9" name="Text Placeholder 3">
            <a:extLst>
              <a:ext uri="{FF2B5EF4-FFF2-40B4-BE49-F238E27FC236}">
                <a16:creationId xmlns:a16="http://schemas.microsoft.com/office/drawing/2014/main" id="{E57877B0-8C2B-1526-2EEF-922BE2934880}"/>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F704232-7172-BF08-8521-6D32AC2BA5A8}"/>
              </a:ext>
            </a:extLst>
          </p:cNvPr>
          <p:cNvSpPr txBox="1"/>
          <p:nvPr/>
        </p:nvSpPr>
        <p:spPr>
          <a:xfrm>
            <a:off x="0" y="1154082"/>
            <a:ext cx="9144000" cy="1318181"/>
          </a:xfrm>
          <a:prstGeom prst="rect">
            <a:avLst/>
          </a:prstGeom>
          <a:solidFill>
            <a:schemeClr val="bg1"/>
          </a:solidFill>
        </p:spPr>
        <p:txBody>
          <a:bodyPr wrap="square">
            <a:spAutoFit/>
          </a:bodyPr>
          <a:lstStyle/>
          <a:p>
            <a:pPr marL="514350" indent="-514350">
              <a:lnSpc>
                <a:spcPct val="150000"/>
              </a:lnSpc>
              <a:buFont typeface="+mj-lt"/>
              <a:buAutoNum type="arabicPeriod" startAt="3"/>
            </a:pPr>
            <a:r>
              <a:rPr lang="en-US" sz="2800" b="1" dirty="0">
                <a:latin typeface="Calibri" panose="020F0502020204030204" pitchFamily="34" charset="0"/>
                <a:cs typeface="Calibri" panose="020F0502020204030204" pitchFamily="34" charset="0"/>
              </a:rPr>
              <a:t>What is the difference between structured and unstructured data? (</a:t>
            </a:r>
            <a:r>
              <a:rPr lang="en-US" sz="2800" b="1" dirty="0">
                <a:highlight>
                  <a:srgbClr val="00FF00"/>
                </a:highlight>
                <a:latin typeface="Calibri" panose="020F0502020204030204" pitchFamily="34" charset="0"/>
                <a:cs typeface="Calibri" panose="020F0502020204030204" pitchFamily="34" charset="0"/>
              </a:rPr>
              <a:t>1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673C94CE-205B-46FA-053C-843BA2F16315}"/>
              </a:ext>
            </a:extLst>
          </p:cNvPr>
          <p:cNvSpPr txBox="1"/>
          <p:nvPr/>
        </p:nvSpPr>
        <p:spPr>
          <a:xfrm>
            <a:off x="0" y="2591256"/>
            <a:ext cx="9144000"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Structured data</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Organized in tables (rows and columns)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Easy to search and analyze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Example: Student ID, Name, Age in a table</a:t>
            </a:r>
          </a:p>
        </p:txBody>
      </p:sp>
    </p:spTree>
    <p:extLst>
      <p:ext uri="{BB962C8B-B14F-4D97-AF65-F5344CB8AC3E}">
        <p14:creationId xmlns:p14="http://schemas.microsoft.com/office/powerpoint/2010/main" val="581994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41150BE-D08E-A495-DB6A-4724C04AFF6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A718B66-4895-9135-54AC-3CC7C23FFCA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C2EE331-3387-4A46-A947-CE3A5EE77C5E}"/>
              </a:ext>
            </a:extLst>
          </p:cNvPr>
          <p:cNvSpPr>
            <a:spLocks noGrp="1"/>
          </p:cNvSpPr>
          <p:nvPr>
            <p:ph type="sldNum" sz="quarter" idx="4"/>
          </p:nvPr>
        </p:nvSpPr>
        <p:spPr/>
        <p:txBody>
          <a:bodyPr/>
          <a:lstStyle/>
          <a:p>
            <a:fld id="{16A89BA3-132D-40E1-AAB4-CDCD0A14C216}" type="slidenum">
              <a:rPr lang="en-AU" smtClean="0"/>
              <a:pPr/>
              <a:t>57</a:t>
            </a:fld>
            <a:r>
              <a:rPr lang="en-AU"/>
              <a:t>  |</a:t>
            </a:r>
            <a:endParaRPr lang="en-AU" dirty="0"/>
          </a:p>
        </p:txBody>
      </p:sp>
      <p:sp>
        <p:nvSpPr>
          <p:cNvPr id="9" name="Text Placeholder 3">
            <a:extLst>
              <a:ext uri="{FF2B5EF4-FFF2-40B4-BE49-F238E27FC236}">
                <a16:creationId xmlns:a16="http://schemas.microsoft.com/office/drawing/2014/main" id="{C2B75174-032E-AD08-5BF0-CA4F0992EB66}"/>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C41A60B4-FB50-10E1-BA76-0B41A3EBC467}"/>
              </a:ext>
            </a:extLst>
          </p:cNvPr>
          <p:cNvSpPr txBox="1"/>
          <p:nvPr/>
        </p:nvSpPr>
        <p:spPr>
          <a:xfrm>
            <a:off x="0" y="1098787"/>
            <a:ext cx="9144000"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Unstructured data</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Not organized in tables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Harder to analyze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Example: Emails, videos, photos, social media posts</a:t>
            </a:r>
          </a:p>
        </p:txBody>
      </p:sp>
      <p:sp>
        <p:nvSpPr>
          <p:cNvPr id="6" name="TextBox 5">
            <a:extLst>
              <a:ext uri="{FF2B5EF4-FFF2-40B4-BE49-F238E27FC236}">
                <a16:creationId xmlns:a16="http://schemas.microsoft.com/office/drawing/2014/main" id="{88A43C5A-2974-A531-78AF-9A6A2C62FCB0}"/>
              </a:ext>
            </a:extLst>
          </p:cNvPr>
          <p:cNvSpPr txBox="1"/>
          <p:nvPr/>
        </p:nvSpPr>
        <p:spPr>
          <a:xfrm>
            <a:off x="0" y="3794701"/>
            <a:ext cx="4650826" cy="1964512"/>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Simple difference: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Structured = organized</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Unstructured = not organized</a:t>
            </a:r>
          </a:p>
        </p:txBody>
      </p:sp>
    </p:spTree>
    <p:extLst>
      <p:ext uri="{BB962C8B-B14F-4D97-AF65-F5344CB8AC3E}">
        <p14:creationId xmlns:p14="http://schemas.microsoft.com/office/powerpoint/2010/main" val="8759105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0C503C5-6F5A-1C23-66F5-CE7D317243E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B00B276-F2B0-BEB7-C525-93D31644CBE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5B57690-F984-2435-FA03-EE02A04EFA7F}"/>
              </a:ext>
            </a:extLst>
          </p:cNvPr>
          <p:cNvSpPr>
            <a:spLocks noGrp="1"/>
          </p:cNvSpPr>
          <p:nvPr>
            <p:ph type="sldNum" sz="quarter" idx="4"/>
          </p:nvPr>
        </p:nvSpPr>
        <p:spPr/>
        <p:txBody>
          <a:bodyPr/>
          <a:lstStyle/>
          <a:p>
            <a:fld id="{16A89BA3-132D-40E1-AAB4-CDCD0A14C216}" type="slidenum">
              <a:rPr lang="en-AU" smtClean="0"/>
              <a:pPr/>
              <a:t>58</a:t>
            </a:fld>
            <a:r>
              <a:rPr lang="en-AU"/>
              <a:t>  |</a:t>
            </a:r>
            <a:endParaRPr lang="en-AU" dirty="0"/>
          </a:p>
        </p:txBody>
      </p:sp>
      <p:sp>
        <p:nvSpPr>
          <p:cNvPr id="9" name="Text Placeholder 3">
            <a:extLst>
              <a:ext uri="{FF2B5EF4-FFF2-40B4-BE49-F238E27FC236}">
                <a16:creationId xmlns:a16="http://schemas.microsoft.com/office/drawing/2014/main" id="{8A7F7BE9-CDB7-5570-5767-8393805EFBA0}"/>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57A2DCA-9E9E-2B14-3D46-B75E1110111B}"/>
              </a:ext>
            </a:extLst>
          </p:cNvPr>
          <p:cNvSpPr txBox="1"/>
          <p:nvPr/>
        </p:nvSpPr>
        <p:spPr>
          <a:xfrm>
            <a:off x="0" y="1154082"/>
            <a:ext cx="9144000" cy="671851"/>
          </a:xfrm>
          <a:prstGeom prst="rect">
            <a:avLst/>
          </a:prstGeom>
          <a:solidFill>
            <a:schemeClr val="bg1"/>
          </a:solidFill>
        </p:spPr>
        <p:txBody>
          <a:bodyPr wrap="square">
            <a:spAutoFit/>
          </a:bodyPr>
          <a:lstStyle/>
          <a:p>
            <a:pPr marL="514350" indent="-514350">
              <a:lnSpc>
                <a:spcPct val="150000"/>
              </a:lnSpc>
              <a:buFont typeface="+mj-lt"/>
              <a:buAutoNum type="arabicPeriod" startAt="3"/>
            </a:pPr>
            <a:r>
              <a:rPr lang="en-US" sz="2800" b="1" dirty="0">
                <a:latin typeface="Calibri" panose="020F0502020204030204" pitchFamily="34" charset="0"/>
                <a:cs typeface="Calibri" panose="020F0502020204030204" pitchFamily="34" charset="0"/>
              </a:rPr>
              <a:t>What career interests you most in data? (</a:t>
            </a:r>
            <a:r>
              <a:rPr lang="en-US" sz="2800" b="1" dirty="0">
                <a:highlight>
                  <a:srgbClr val="00FF00"/>
                </a:highlight>
                <a:latin typeface="Calibri" panose="020F0502020204030204" pitchFamily="34" charset="0"/>
                <a:cs typeface="Calibri" panose="020F0502020204030204" pitchFamily="34" charset="0"/>
              </a:rPr>
              <a:t>1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210A9AFF-CCDC-4885-EF32-A24803BA0660}"/>
              </a:ext>
            </a:extLst>
          </p:cNvPr>
          <p:cNvSpPr txBox="1"/>
          <p:nvPr/>
        </p:nvSpPr>
        <p:spPr>
          <a:xfrm>
            <a:off x="0" y="2290022"/>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You can answer personally, but here is a sample response:</a:t>
            </a:r>
          </a:p>
          <a:p>
            <a:pPr>
              <a:lnSpc>
                <a:spcPct val="150000"/>
              </a:lnSpc>
            </a:pPr>
            <a:r>
              <a:rPr lang="en-US" sz="2800" dirty="0">
                <a:latin typeface="Calibri" panose="020F0502020204030204" pitchFamily="34" charset="0"/>
                <a:cs typeface="Calibri" panose="020F0502020204030204" pitchFamily="34" charset="0"/>
              </a:rPr>
              <a:t>“I am most interested in becoming a Data Analyst because I like working with numbers and finding patterns. I enjoy solving problems and helping businesses make better decisions.”</a:t>
            </a:r>
          </a:p>
        </p:txBody>
      </p:sp>
      <p:sp>
        <p:nvSpPr>
          <p:cNvPr id="6" name="TextBox 5">
            <a:extLst>
              <a:ext uri="{FF2B5EF4-FFF2-40B4-BE49-F238E27FC236}">
                <a16:creationId xmlns:a16="http://schemas.microsoft.com/office/drawing/2014/main" id="{23A46B03-8436-C896-43DA-E5DC5A928CED}"/>
              </a:ext>
            </a:extLst>
          </p:cNvPr>
          <p:cNvSpPr txBox="1"/>
          <p:nvPr/>
        </p:nvSpPr>
        <p:spPr>
          <a:xfrm>
            <a:off x="15453" y="5626564"/>
            <a:ext cx="8755116" cy="769441"/>
          </a:xfrm>
          <a:prstGeom prst="rect">
            <a:avLst/>
          </a:prstGeom>
          <a:noFill/>
        </p:spPr>
        <p:txBody>
          <a:bodyPr wrap="square">
            <a:spAutoFit/>
          </a:bodyPr>
          <a:lstStyle/>
          <a:p>
            <a:r>
              <a:rPr lang="en-US" sz="2200" dirty="0">
                <a:latin typeface="Calibri" panose="020F0502020204030204" pitchFamily="34" charset="0"/>
                <a:cs typeface="Calibri" panose="020F0502020204030204" pitchFamily="34" charset="0"/>
              </a:rPr>
              <a:t>There is no right or wrong answer — choose a career that matches your interests and strengths.</a:t>
            </a:r>
          </a:p>
        </p:txBody>
      </p:sp>
    </p:spTree>
    <p:extLst>
      <p:ext uri="{BB962C8B-B14F-4D97-AF65-F5344CB8AC3E}">
        <p14:creationId xmlns:p14="http://schemas.microsoft.com/office/powerpoint/2010/main" val="3806137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fade">
                                      <p:cBhvr>
                                        <p:cTn id="12" dur="1000"/>
                                        <p:tgtEl>
                                          <p:spTgt spid="6">
                                            <p:txEl>
                                              <p:pRg st="0" end="0"/>
                                            </p:txEl>
                                          </p:spTgt>
                                        </p:tgtEl>
                                      </p:cBhvr>
                                    </p:animEffect>
                                    <p:anim calcmode="lin" valueType="num">
                                      <p:cBhvr>
                                        <p:cTn id="13"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9F10CCF-C416-D972-0D5F-C9BBA67B306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5B6F0EE-A1F1-71B6-CEFC-A11E4365B59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17F3483-FA4C-1924-E239-42C736587551}"/>
              </a:ext>
            </a:extLst>
          </p:cNvPr>
          <p:cNvSpPr>
            <a:spLocks noGrp="1"/>
          </p:cNvSpPr>
          <p:nvPr>
            <p:ph type="sldNum" sz="quarter" idx="4"/>
          </p:nvPr>
        </p:nvSpPr>
        <p:spPr/>
        <p:txBody>
          <a:bodyPr/>
          <a:lstStyle/>
          <a:p>
            <a:fld id="{16A89BA3-132D-40E1-AAB4-CDCD0A14C216}" type="slidenum">
              <a:rPr lang="en-AU" smtClean="0"/>
              <a:pPr/>
              <a:t>59</a:t>
            </a:fld>
            <a:r>
              <a:rPr lang="en-AU"/>
              <a:t>  |</a:t>
            </a:r>
            <a:endParaRPr lang="en-AU" dirty="0"/>
          </a:p>
        </p:txBody>
      </p:sp>
      <p:sp>
        <p:nvSpPr>
          <p:cNvPr id="9" name="Text Placeholder 3">
            <a:extLst>
              <a:ext uri="{FF2B5EF4-FFF2-40B4-BE49-F238E27FC236}">
                <a16:creationId xmlns:a16="http://schemas.microsoft.com/office/drawing/2014/main" id="{5E2A8E8A-F78A-5CDD-8417-2EBE4946CB0C}"/>
              </a:ext>
            </a:extLst>
          </p:cNvPr>
          <p:cNvSpPr>
            <a:spLocks noGrp="1"/>
          </p:cNvSpPr>
          <p:nvPr>
            <p:ph type="body" sz="quarter" idx="16"/>
          </p:nvPr>
        </p:nvSpPr>
        <p:spPr>
          <a:xfrm>
            <a:off x="0" y="0"/>
            <a:ext cx="7849590" cy="510639"/>
          </a:xfrm>
        </p:spPr>
        <p:txBody>
          <a:bodyPr>
            <a:noAutofit/>
          </a:bodyPr>
          <a:lstStyle/>
          <a:p>
            <a:r>
              <a:rPr lang="en-US" sz="3200" dirty="0"/>
              <a:t>Relational Model Overview</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DA89655-1B42-568C-A5F5-1EB8E5465557}"/>
              </a:ext>
            </a:extLst>
          </p:cNvPr>
          <p:cNvSpPr txBox="1"/>
          <p:nvPr/>
        </p:nvSpPr>
        <p:spPr>
          <a:xfrm>
            <a:off x="0" y="1353788"/>
            <a:ext cx="9144000" cy="325717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Relational Model – Linking Tables Together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Tables are linked using keys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Avoids duplication – use foreign keys to reference data from other tables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Makes querying, updating, and managing data easier</a:t>
            </a:r>
          </a:p>
        </p:txBody>
      </p:sp>
    </p:spTree>
    <p:extLst>
      <p:ext uri="{BB962C8B-B14F-4D97-AF65-F5344CB8AC3E}">
        <p14:creationId xmlns:p14="http://schemas.microsoft.com/office/powerpoint/2010/main" val="12674021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9CABEC-18C4-0D9A-156A-17AF7961A10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32C7FD2-10F5-D81F-52F9-27EB8C3174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895739E-FA0A-9BBE-6396-2B7CCFFB192B}"/>
              </a:ext>
            </a:extLst>
          </p:cNvPr>
          <p:cNvSpPr>
            <a:spLocks noGrp="1"/>
          </p:cNvSpPr>
          <p:nvPr>
            <p:ph type="sldNum" sz="quarter" idx="4"/>
          </p:nvPr>
        </p:nvSpPr>
        <p:spPr/>
        <p:txBody>
          <a:bodyPr/>
          <a:lstStyle/>
          <a:p>
            <a:fld id="{16A89BA3-132D-40E1-AAB4-CDCD0A14C216}" type="slidenum">
              <a:rPr lang="en-AU" smtClean="0"/>
              <a:pPr/>
              <a:t>60</a:t>
            </a:fld>
            <a:r>
              <a:rPr lang="en-AU"/>
              <a:t>  |</a:t>
            </a:r>
            <a:endParaRPr lang="en-AU" dirty="0"/>
          </a:p>
        </p:txBody>
      </p:sp>
      <p:sp>
        <p:nvSpPr>
          <p:cNvPr id="9" name="Text Placeholder 3">
            <a:extLst>
              <a:ext uri="{FF2B5EF4-FFF2-40B4-BE49-F238E27FC236}">
                <a16:creationId xmlns:a16="http://schemas.microsoft.com/office/drawing/2014/main" id="{537C9263-F41E-81AE-9EF6-F9EEE57249D8}"/>
              </a:ext>
            </a:extLst>
          </p:cNvPr>
          <p:cNvSpPr>
            <a:spLocks noGrp="1"/>
          </p:cNvSpPr>
          <p:nvPr>
            <p:ph type="body" sz="quarter" idx="16"/>
          </p:nvPr>
        </p:nvSpPr>
        <p:spPr>
          <a:xfrm>
            <a:off x="0" y="0"/>
            <a:ext cx="7849590" cy="558140"/>
          </a:xfrm>
        </p:spPr>
        <p:txBody>
          <a:bodyPr>
            <a:noAutofit/>
          </a:bodyPr>
          <a:lstStyle/>
          <a:p>
            <a:r>
              <a:rPr lang="en-US" sz="3200" dirty="0"/>
              <a:t>Relational Model Overview</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1126D16-DD46-E4D4-0FDB-D626A2DDFD35}"/>
              </a:ext>
            </a:extLst>
          </p:cNvPr>
          <p:cNvSpPr txBox="1"/>
          <p:nvPr/>
        </p:nvSpPr>
        <p:spPr>
          <a:xfrm>
            <a:off x="0" y="667974"/>
            <a:ext cx="9144000" cy="5842497"/>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dirty="0">
                <a:latin typeface="Calibri" panose="020F0502020204030204" pitchFamily="34" charset="0"/>
                <a:cs typeface="Calibri" panose="020F0502020204030204" pitchFamily="34" charset="0"/>
              </a:rPr>
              <a:t>Analogy:</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Like a Myki card linking your name, travel history, and payment info across systems – not stored in one place, but connected.</a:t>
            </a:r>
          </a:p>
          <a:p>
            <a:pPr lvl="0" eaLnBrk="0" fontAlgn="base" hangingPunct="0">
              <a:lnSpc>
                <a:spcPct val="150000"/>
              </a:lnSpc>
              <a:spcBef>
                <a:spcPct val="0"/>
              </a:spcBef>
              <a:spcAft>
                <a:spcPct val="0"/>
              </a:spcAft>
            </a:pPr>
            <a:r>
              <a:rPr lang="en-US" altLang="en-US" sz="2800" dirty="0">
                <a:latin typeface="Calibri" panose="020F0502020204030204" pitchFamily="34" charset="0"/>
                <a:cs typeface="Calibri" panose="020F0502020204030204" pitchFamily="34" charset="0"/>
              </a:rPr>
              <a:t>Example (University):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Students table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Courses table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Enrollments table (link between both using Student ID and Course Code)</a:t>
            </a:r>
          </a:p>
        </p:txBody>
      </p:sp>
    </p:spTree>
    <p:extLst>
      <p:ext uri="{BB962C8B-B14F-4D97-AF65-F5344CB8AC3E}">
        <p14:creationId xmlns:p14="http://schemas.microsoft.com/office/powerpoint/2010/main" val="7177896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D324B04-E930-5A18-E576-0FC02EB23C6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56A37A8-E755-89CE-8305-A03C133ACAF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195F20-81FB-6761-8036-7BE2AEBB7A21}"/>
              </a:ext>
            </a:extLst>
          </p:cNvPr>
          <p:cNvSpPr>
            <a:spLocks noGrp="1"/>
          </p:cNvSpPr>
          <p:nvPr>
            <p:ph type="sldNum" sz="quarter" idx="4"/>
          </p:nvPr>
        </p:nvSpPr>
        <p:spPr/>
        <p:txBody>
          <a:bodyPr/>
          <a:lstStyle/>
          <a:p>
            <a:fld id="{16A89BA3-132D-40E1-AAB4-CDCD0A14C216}" type="slidenum">
              <a:rPr lang="en-AU" smtClean="0"/>
              <a:pPr/>
              <a:t>61</a:t>
            </a:fld>
            <a:r>
              <a:rPr lang="en-AU"/>
              <a:t>  |</a:t>
            </a:r>
            <a:endParaRPr lang="en-AU" dirty="0"/>
          </a:p>
        </p:txBody>
      </p:sp>
      <p:sp>
        <p:nvSpPr>
          <p:cNvPr id="9" name="Text Placeholder 3">
            <a:extLst>
              <a:ext uri="{FF2B5EF4-FFF2-40B4-BE49-F238E27FC236}">
                <a16:creationId xmlns:a16="http://schemas.microsoft.com/office/drawing/2014/main" id="{4CCE4640-2CBD-8DDE-7EB2-BF576262E1B5}"/>
              </a:ext>
            </a:extLst>
          </p:cNvPr>
          <p:cNvSpPr>
            <a:spLocks noGrp="1"/>
          </p:cNvSpPr>
          <p:nvPr>
            <p:ph type="body" sz="quarter" idx="16"/>
          </p:nvPr>
        </p:nvSpPr>
        <p:spPr>
          <a:xfrm>
            <a:off x="0" y="0"/>
            <a:ext cx="7849590" cy="463138"/>
          </a:xfrm>
        </p:spPr>
        <p:txBody>
          <a:bodyPr>
            <a:noAutofit/>
          </a:bodyPr>
          <a:lstStyle/>
          <a:p>
            <a:r>
              <a:rPr lang="en-US" sz="3200" dirty="0"/>
              <a:t>Wrap-Up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FC02BB5-919D-57A7-0E1C-C50D4F312E99}"/>
              </a:ext>
            </a:extLst>
          </p:cNvPr>
          <p:cNvSpPr txBox="1"/>
          <p:nvPr/>
        </p:nvSpPr>
        <p:spPr>
          <a:xfrm>
            <a:off x="0" y="1078726"/>
            <a:ext cx="9144000"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Week 1 Wrap-Up: What Have You Learned?</a:t>
            </a:r>
          </a:p>
          <a:p>
            <a:pPr>
              <a:lnSpc>
                <a:spcPct val="150000"/>
              </a:lnSpc>
            </a:pPr>
            <a:r>
              <a:rPr lang="en-US" sz="2800" b="1" dirty="0">
                <a:latin typeface="Calibri" panose="020F0502020204030204" pitchFamily="34" charset="0"/>
                <a:cs typeface="Calibri" panose="020F0502020204030204" pitchFamily="34" charset="0"/>
              </a:rPr>
              <a:t>Quick Recap:</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 Information (raw vs processed)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Databases &gt; file systems for large-scale, reliable storage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Understand tables, fields, records, keys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Relational model connects data meaningfully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 is everywhere – from </a:t>
            </a:r>
            <a:r>
              <a:rPr lang="en-US" sz="2800" dirty="0" err="1">
                <a:latin typeface="Calibri" panose="020F0502020204030204" pitchFamily="34" charset="0"/>
                <a:cs typeface="Calibri" panose="020F0502020204030204" pitchFamily="34" charset="0"/>
              </a:rPr>
              <a:t>uni</a:t>
            </a:r>
            <a:r>
              <a:rPr lang="en-US" sz="2800" dirty="0">
                <a:latin typeface="Calibri" panose="020F0502020204030204" pitchFamily="34" charset="0"/>
                <a:cs typeface="Calibri" panose="020F0502020204030204" pitchFamily="34" charset="0"/>
              </a:rPr>
              <a:t> systems to government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Many career paths involve working with data</a:t>
            </a:r>
          </a:p>
        </p:txBody>
      </p:sp>
    </p:spTree>
    <p:extLst>
      <p:ext uri="{BB962C8B-B14F-4D97-AF65-F5344CB8AC3E}">
        <p14:creationId xmlns:p14="http://schemas.microsoft.com/office/powerpoint/2010/main" val="197512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1000"/>
                                        <p:tgtEl>
                                          <p:spTgt spid="7">
                                            <p:txEl>
                                              <p:pRg st="1" end="1"/>
                                            </p:txEl>
                                          </p:spTgt>
                                        </p:tgtEl>
                                      </p:cBhvr>
                                    </p:animEffect>
                                    <p:anim calcmode="lin" valueType="num">
                                      <p:cBhvr>
                                        <p:cTn id="8"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1000"/>
                                        <p:tgtEl>
                                          <p:spTgt spid="7">
                                            <p:txEl>
                                              <p:pRg st="2" end="2"/>
                                            </p:txEl>
                                          </p:spTgt>
                                        </p:tgtEl>
                                      </p:cBhvr>
                                    </p:animEffect>
                                    <p:anim calcmode="lin" valueType="num">
                                      <p:cBhvr>
                                        <p:cTn id="13"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1000"/>
                                        <p:tgtEl>
                                          <p:spTgt spid="7">
                                            <p:txEl>
                                              <p:pRg st="3" end="3"/>
                                            </p:txEl>
                                          </p:spTgt>
                                        </p:tgtEl>
                                      </p:cBhvr>
                                    </p:animEffect>
                                    <p:anim calcmode="lin" valueType="num">
                                      <p:cBhvr>
                                        <p:cTn id="18"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7">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1000"/>
                                        <p:tgtEl>
                                          <p:spTgt spid="7">
                                            <p:txEl>
                                              <p:pRg st="4" end="4"/>
                                            </p:txEl>
                                          </p:spTgt>
                                        </p:tgtEl>
                                      </p:cBhvr>
                                    </p:animEffect>
                                    <p:anim calcmode="lin" valueType="num">
                                      <p:cBhvr>
                                        <p:cTn id="2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1000"/>
                                        <p:tgtEl>
                                          <p:spTgt spid="7">
                                            <p:txEl>
                                              <p:pRg st="5" end="5"/>
                                            </p:txEl>
                                          </p:spTgt>
                                        </p:tgtEl>
                                      </p:cBhvr>
                                    </p:animEffect>
                                    <p:anim calcmode="lin" valueType="num">
                                      <p:cBhvr>
                                        <p:cTn id="28"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7">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7">
                                            <p:txEl>
                                              <p:pRg st="6" end="6"/>
                                            </p:txEl>
                                          </p:spTgt>
                                        </p:tgtEl>
                                        <p:attrNameLst>
                                          <p:attrName>style.visibility</p:attrName>
                                        </p:attrNameLst>
                                      </p:cBhvr>
                                      <p:to>
                                        <p:strVal val="visible"/>
                                      </p:to>
                                    </p:set>
                                    <p:animEffect transition="in" filter="fade">
                                      <p:cBhvr>
                                        <p:cTn id="32" dur="1000"/>
                                        <p:tgtEl>
                                          <p:spTgt spid="7">
                                            <p:txEl>
                                              <p:pRg st="6" end="6"/>
                                            </p:txEl>
                                          </p:spTgt>
                                        </p:tgtEl>
                                      </p:cBhvr>
                                    </p:animEffect>
                                    <p:anim calcmode="lin" valueType="num">
                                      <p:cBhvr>
                                        <p:cTn id="33"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7">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7">
                                            <p:txEl>
                                              <p:pRg st="7" end="7"/>
                                            </p:txEl>
                                          </p:spTgt>
                                        </p:tgtEl>
                                        <p:attrNameLst>
                                          <p:attrName>style.visibility</p:attrName>
                                        </p:attrNameLst>
                                      </p:cBhvr>
                                      <p:to>
                                        <p:strVal val="visible"/>
                                      </p:to>
                                    </p:set>
                                    <p:animEffect transition="in" filter="fade">
                                      <p:cBhvr>
                                        <p:cTn id="37" dur="1000"/>
                                        <p:tgtEl>
                                          <p:spTgt spid="7">
                                            <p:txEl>
                                              <p:pRg st="7" end="7"/>
                                            </p:txEl>
                                          </p:spTgt>
                                        </p:tgtEl>
                                      </p:cBhvr>
                                    </p:animEffect>
                                    <p:anim calcmode="lin" valueType="num">
                                      <p:cBhvr>
                                        <p:cTn id="38"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697CC2F-023B-90CA-7214-A39ACB57DA6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DF0D68A8-5DE1-9273-D71D-522BA2CAC5B3}"/>
              </a:ext>
            </a:extLst>
          </p:cNvPr>
          <p:cNvPicPr>
            <a:picLocks noChangeAspect="1"/>
          </p:cNvPicPr>
          <p:nvPr/>
        </p:nvPicPr>
        <p:blipFill>
          <a:blip r:embed="rId3"/>
          <a:srcRect t="9080" b="5505"/>
          <a:stretch>
            <a:fillRect/>
          </a:stretch>
        </p:blipFill>
        <p:spPr>
          <a:xfrm>
            <a:off x="0" y="2704390"/>
            <a:ext cx="8645071" cy="4153610"/>
          </a:xfrm>
          <a:prstGeom prst="rect">
            <a:avLst/>
          </a:prstGeom>
        </p:spPr>
      </p:pic>
      <p:sp>
        <p:nvSpPr>
          <p:cNvPr id="4" name="Slide Number Placeholder 3">
            <a:extLst>
              <a:ext uri="{FF2B5EF4-FFF2-40B4-BE49-F238E27FC236}">
                <a16:creationId xmlns:a16="http://schemas.microsoft.com/office/drawing/2014/main" id="{B4BFACEC-7BF5-0026-2AC3-719657BF8D3C}"/>
              </a:ext>
            </a:extLst>
          </p:cNvPr>
          <p:cNvSpPr>
            <a:spLocks noGrp="1"/>
          </p:cNvSpPr>
          <p:nvPr>
            <p:ph type="sldNum" sz="quarter" idx="4"/>
          </p:nvPr>
        </p:nvSpPr>
        <p:spPr/>
        <p:txBody>
          <a:bodyPr/>
          <a:lstStyle/>
          <a:p>
            <a:fld id="{16A89BA3-132D-40E1-AAB4-CDCD0A14C216}" type="slidenum">
              <a:rPr lang="en-AU" smtClean="0"/>
              <a:pPr/>
              <a:t>62</a:t>
            </a:fld>
            <a:r>
              <a:rPr lang="en-AU"/>
              <a:t>  |</a:t>
            </a:r>
            <a:endParaRPr lang="en-AU" dirty="0"/>
          </a:p>
        </p:txBody>
      </p:sp>
      <p:sp>
        <p:nvSpPr>
          <p:cNvPr id="9" name="Text Placeholder 3">
            <a:extLst>
              <a:ext uri="{FF2B5EF4-FFF2-40B4-BE49-F238E27FC236}">
                <a16:creationId xmlns:a16="http://schemas.microsoft.com/office/drawing/2014/main" id="{1F6FA9C4-9A8F-2219-4ECC-828BF3F744EB}"/>
              </a:ext>
            </a:extLst>
          </p:cNvPr>
          <p:cNvSpPr>
            <a:spLocks noGrp="1"/>
          </p:cNvSpPr>
          <p:nvPr>
            <p:ph type="body" sz="quarter" idx="16"/>
          </p:nvPr>
        </p:nvSpPr>
        <p:spPr>
          <a:xfrm>
            <a:off x="0" y="0"/>
            <a:ext cx="7849590" cy="463138"/>
          </a:xfrm>
        </p:spPr>
        <p:txBody>
          <a:bodyPr>
            <a:noAutofit/>
          </a:bodyPr>
          <a:lstStyle/>
          <a:p>
            <a:r>
              <a:rPr lang="en-US" sz="3200" dirty="0"/>
              <a:t>Knowledge Check and Tutorial Activity</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E85B9B-70E5-0112-4B2E-3F4898377BD7}"/>
              </a:ext>
            </a:extLst>
          </p:cNvPr>
          <p:cNvSpPr txBox="1"/>
          <p:nvPr/>
        </p:nvSpPr>
        <p:spPr>
          <a:xfrm>
            <a:off x="0" y="751097"/>
            <a:ext cx="9144000" cy="1964512"/>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Knowledge Check:</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For each week, you must compete Knowledge check and tutorial activity</a:t>
            </a:r>
          </a:p>
        </p:txBody>
      </p:sp>
      <p:sp>
        <p:nvSpPr>
          <p:cNvPr id="6" name="Rectangle: Rounded Corners 5">
            <a:extLst>
              <a:ext uri="{FF2B5EF4-FFF2-40B4-BE49-F238E27FC236}">
                <a16:creationId xmlns:a16="http://schemas.microsoft.com/office/drawing/2014/main" id="{1C51D970-C54D-4979-329C-4C10B7EDBB11}"/>
              </a:ext>
            </a:extLst>
          </p:cNvPr>
          <p:cNvSpPr/>
          <p:nvPr/>
        </p:nvSpPr>
        <p:spPr>
          <a:xfrm>
            <a:off x="1673056" y="4657155"/>
            <a:ext cx="2089647" cy="65034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039470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6246175-B93F-9FC2-3942-469A8286743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C5F633-9163-1E92-FD1C-FC92618A7CA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A3897D1-6136-7D2A-FD5C-81AD695FF769}"/>
              </a:ext>
            </a:extLst>
          </p:cNvPr>
          <p:cNvSpPr>
            <a:spLocks noGrp="1"/>
          </p:cNvSpPr>
          <p:nvPr>
            <p:ph type="sldNum" sz="quarter" idx="4"/>
          </p:nvPr>
        </p:nvSpPr>
        <p:spPr/>
        <p:txBody>
          <a:bodyPr/>
          <a:lstStyle/>
          <a:p>
            <a:fld id="{16A89BA3-132D-40E1-AAB4-CDCD0A14C216}" type="slidenum">
              <a:rPr lang="en-AU" smtClean="0"/>
              <a:pPr/>
              <a:t>63</a:t>
            </a:fld>
            <a:r>
              <a:rPr lang="en-AU"/>
              <a:t>  |</a:t>
            </a:r>
            <a:endParaRPr lang="en-AU" dirty="0"/>
          </a:p>
        </p:txBody>
      </p:sp>
      <p:sp>
        <p:nvSpPr>
          <p:cNvPr id="9" name="Text Placeholder 3">
            <a:extLst>
              <a:ext uri="{FF2B5EF4-FFF2-40B4-BE49-F238E27FC236}">
                <a16:creationId xmlns:a16="http://schemas.microsoft.com/office/drawing/2014/main" id="{5A40C46E-4B74-59A2-553C-176A7B2F776B}"/>
              </a:ext>
            </a:extLst>
          </p:cNvPr>
          <p:cNvSpPr>
            <a:spLocks noGrp="1"/>
          </p:cNvSpPr>
          <p:nvPr>
            <p:ph type="body" sz="quarter" idx="16"/>
          </p:nvPr>
        </p:nvSpPr>
        <p:spPr>
          <a:xfrm>
            <a:off x="0" y="0"/>
            <a:ext cx="7849590" cy="463138"/>
          </a:xfrm>
        </p:spPr>
        <p:txBody>
          <a:bodyPr>
            <a:noAutofit/>
          </a:bodyPr>
          <a:lstStyle/>
          <a:p>
            <a:r>
              <a:rPr lang="en-US" sz="3200" dirty="0"/>
              <a:t>Week 1 Knowledge Check</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4889667A-5008-D679-CED5-EDF8A531E834}"/>
              </a:ext>
            </a:extLst>
          </p:cNvPr>
          <p:cNvPicPr>
            <a:picLocks noChangeAspect="1"/>
          </p:cNvPicPr>
          <p:nvPr/>
        </p:nvPicPr>
        <p:blipFill>
          <a:blip r:embed="rId3"/>
          <a:srcRect t="8672" b="13882"/>
          <a:stretch>
            <a:fillRect/>
          </a:stretch>
        </p:blipFill>
        <p:spPr>
          <a:xfrm>
            <a:off x="0" y="1437290"/>
            <a:ext cx="9144000" cy="3983420"/>
          </a:xfrm>
          <a:prstGeom prst="rect">
            <a:avLst/>
          </a:prstGeom>
        </p:spPr>
      </p:pic>
    </p:spTree>
    <p:extLst>
      <p:ext uri="{BB962C8B-B14F-4D97-AF65-F5344CB8AC3E}">
        <p14:creationId xmlns:p14="http://schemas.microsoft.com/office/powerpoint/2010/main" val="2675577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FDAAE97-9ACD-F6DD-5B62-B0A8C8590D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667BD1B-A229-D4AC-D87D-E7D4DA5B1DD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34F06EA-C50C-AEB0-E806-C0F9781183B1}"/>
              </a:ext>
            </a:extLst>
          </p:cNvPr>
          <p:cNvSpPr>
            <a:spLocks noGrp="1"/>
          </p:cNvSpPr>
          <p:nvPr>
            <p:ph type="sldNum" sz="quarter" idx="4"/>
          </p:nvPr>
        </p:nvSpPr>
        <p:spPr/>
        <p:txBody>
          <a:bodyPr/>
          <a:lstStyle/>
          <a:p>
            <a:fld id="{16A89BA3-132D-40E1-AAB4-CDCD0A14C216}" type="slidenum">
              <a:rPr lang="en-AU" smtClean="0"/>
              <a:pPr/>
              <a:t>64</a:t>
            </a:fld>
            <a:r>
              <a:rPr lang="en-AU"/>
              <a:t>  |</a:t>
            </a:r>
            <a:endParaRPr lang="en-AU" dirty="0"/>
          </a:p>
        </p:txBody>
      </p:sp>
      <p:sp>
        <p:nvSpPr>
          <p:cNvPr id="9" name="Text Placeholder 3">
            <a:extLst>
              <a:ext uri="{FF2B5EF4-FFF2-40B4-BE49-F238E27FC236}">
                <a16:creationId xmlns:a16="http://schemas.microsoft.com/office/drawing/2014/main" id="{5D13ADB9-D516-CEE4-61C1-BCDF2AC94B36}"/>
              </a:ext>
            </a:extLst>
          </p:cNvPr>
          <p:cNvSpPr>
            <a:spLocks noGrp="1"/>
          </p:cNvSpPr>
          <p:nvPr>
            <p:ph type="body" sz="quarter" idx="16"/>
          </p:nvPr>
        </p:nvSpPr>
        <p:spPr>
          <a:xfrm>
            <a:off x="0" y="0"/>
            <a:ext cx="7849590" cy="463138"/>
          </a:xfrm>
        </p:spPr>
        <p:txBody>
          <a:bodyPr>
            <a:noAutofit/>
          </a:bodyPr>
          <a:lstStyle/>
          <a:p>
            <a:r>
              <a:rPr lang="en-US" sz="3200" dirty="0"/>
              <a:t>Week 1 Knowledge Check</a:t>
            </a:r>
            <a:endParaRPr lang="en-AU" sz="30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62999F3F-CCA5-9D4D-20F3-257520FE9623}"/>
              </a:ext>
            </a:extLst>
          </p:cNvPr>
          <p:cNvPicPr>
            <a:picLocks noChangeAspect="1"/>
          </p:cNvPicPr>
          <p:nvPr/>
        </p:nvPicPr>
        <p:blipFill>
          <a:blip r:embed="rId3"/>
          <a:srcRect t="8264" r="19081" b="4686"/>
          <a:stretch>
            <a:fillRect/>
          </a:stretch>
        </p:blipFill>
        <p:spPr>
          <a:xfrm>
            <a:off x="-5499" y="1036040"/>
            <a:ext cx="8387255" cy="5075242"/>
          </a:xfrm>
          <a:prstGeom prst="rect">
            <a:avLst/>
          </a:prstGeom>
        </p:spPr>
      </p:pic>
    </p:spTree>
    <p:extLst>
      <p:ext uri="{BB962C8B-B14F-4D97-AF65-F5344CB8AC3E}">
        <p14:creationId xmlns:p14="http://schemas.microsoft.com/office/powerpoint/2010/main" val="6456569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3FF3A03-3D3C-EACB-E0B7-FC86DBC424E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21A5E1F-C2C6-A763-D75E-7A81443F69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9BC5502-B8E4-939C-96A5-7BA4328EDFC3}"/>
              </a:ext>
            </a:extLst>
          </p:cNvPr>
          <p:cNvSpPr>
            <a:spLocks noGrp="1"/>
          </p:cNvSpPr>
          <p:nvPr>
            <p:ph type="sldNum" sz="quarter" idx="4"/>
          </p:nvPr>
        </p:nvSpPr>
        <p:spPr/>
        <p:txBody>
          <a:bodyPr/>
          <a:lstStyle/>
          <a:p>
            <a:fld id="{16A89BA3-132D-40E1-AAB4-CDCD0A14C216}" type="slidenum">
              <a:rPr lang="en-AU" smtClean="0"/>
              <a:pPr/>
              <a:t>65</a:t>
            </a:fld>
            <a:r>
              <a:rPr lang="en-AU"/>
              <a:t>  |</a:t>
            </a:r>
            <a:endParaRPr lang="en-AU" dirty="0"/>
          </a:p>
        </p:txBody>
      </p:sp>
      <p:sp>
        <p:nvSpPr>
          <p:cNvPr id="9" name="Text Placeholder 3">
            <a:extLst>
              <a:ext uri="{FF2B5EF4-FFF2-40B4-BE49-F238E27FC236}">
                <a16:creationId xmlns:a16="http://schemas.microsoft.com/office/drawing/2014/main" id="{B47106F4-F896-2A67-71E7-8E13F8D49E4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08512C1D-9BD0-F70E-71F8-152BE6D8DE76}"/>
              </a:ext>
            </a:extLst>
          </p:cNvPr>
          <p:cNvPicPr>
            <a:picLocks noChangeAspect="1"/>
          </p:cNvPicPr>
          <p:nvPr/>
        </p:nvPicPr>
        <p:blipFill>
          <a:blip r:embed="rId3"/>
          <a:srcRect t="9081" b="5096"/>
          <a:stretch>
            <a:fillRect/>
          </a:stretch>
        </p:blipFill>
        <p:spPr>
          <a:xfrm>
            <a:off x="0" y="1324303"/>
            <a:ext cx="9144000" cy="4414346"/>
          </a:xfrm>
          <a:prstGeom prst="rect">
            <a:avLst/>
          </a:prstGeom>
          <a:ln w="38100">
            <a:solidFill>
              <a:schemeClr val="accent1"/>
            </a:solidFill>
          </a:ln>
        </p:spPr>
      </p:pic>
    </p:spTree>
    <p:extLst>
      <p:ext uri="{BB962C8B-B14F-4D97-AF65-F5344CB8AC3E}">
        <p14:creationId xmlns:p14="http://schemas.microsoft.com/office/powerpoint/2010/main" val="98960010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4C57061-A24F-F80B-246C-1EC620FB45E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1A46CFC-18AF-5CFC-23FE-92F5BE25D71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A632BF0-2627-FB37-27BC-91B275E4C4B2}"/>
              </a:ext>
            </a:extLst>
          </p:cNvPr>
          <p:cNvSpPr>
            <a:spLocks noGrp="1"/>
          </p:cNvSpPr>
          <p:nvPr>
            <p:ph type="sldNum" sz="quarter" idx="4"/>
          </p:nvPr>
        </p:nvSpPr>
        <p:spPr/>
        <p:txBody>
          <a:bodyPr/>
          <a:lstStyle/>
          <a:p>
            <a:fld id="{16A89BA3-132D-40E1-AAB4-CDCD0A14C216}" type="slidenum">
              <a:rPr lang="en-AU" smtClean="0"/>
              <a:pPr/>
              <a:t>66</a:t>
            </a:fld>
            <a:r>
              <a:rPr lang="en-AU"/>
              <a:t>  |</a:t>
            </a:r>
            <a:endParaRPr lang="en-AU" dirty="0"/>
          </a:p>
        </p:txBody>
      </p:sp>
      <p:sp>
        <p:nvSpPr>
          <p:cNvPr id="9" name="Text Placeholder 3">
            <a:extLst>
              <a:ext uri="{FF2B5EF4-FFF2-40B4-BE49-F238E27FC236}">
                <a16:creationId xmlns:a16="http://schemas.microsoft.com/office/drawing/2014/main" id="{80B69C0A-EE7A-AF3D-925B-3009F090BC3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13AC2906-1195-D10F-654A-99723D0333AA}"/>
              </a:ext>
            </a:extLst>
          </p:cNvPr>
          <p:cNvPicPr>
            <a:picLocks noChangeAspect="1"/>
          </p:cNvPicPr>
          <p:nvPr/>
        </p:nvPicPr>
        <p:blipFill>
          <a:blip r:embed="rId3"/>
          <a:srcRect r="16960" b="15973"/>
          <a:stretch>
            <a:fillRect/>
          </a:stretch>
        </p:blipFill>
        <p:spPr>
          <a:xfrm>
            <a:off x="0" y="857250"/>
            <a:ext cx="7593178" cy="4321912"/>
          </a:xfrm>
          <a:prstGeom prst="rect">
            <a:avLst/>
          </a:prstGeom>
        </p:spPr>
      </p:pic>
    </p:spTree>
    <p:extLst>
      <p:ext uri="{BB962C8B-B14F-4D97-AF65-F5344CB8AC3E}">
        <p14:creationId xmlns:p14="http://schemas.microsoft.com/office/powerpoint/2010/main" val="28553449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0B90830-65C8-1433-8EE7-A50A4A39883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DDBA555-C199-BCF8-636A-41D6A6EED85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61988E7-88C3-0D89-14DF-815CE01DFD35}"/>
              </a:ext>
            </a:extLst>
          </p:cNvPr>
          <p:cNvSpPr>
            <a:spLocks noGrp="1"/>
          </p:cNvSpPr>
          <p:nvPr>
            <p:ph type="sldNum" sz="quarter" idx="4"/>
          </p:nvPr>
        </p:nvSpPr>
        <p:spPr/>
        <p:txBody>
          <a:bodyPr/>
          <a:lstStyle/>
          <a:p>
            <a:fld id="{16A89BA3-132D-40E1-AAB4-CDCD0A14C216}" type="slidenum">
              <a:rPr lang="en-AU" smtClean="0"/>
              <a:pPr/>
              <a:t>67</a:t>
            </a:fld>
            <a:r>
              <a:rPr lang="en-AU"/>
              <a:t>  |</a:t>
            </a:r>
            <a:endParaRPr lang="en-AU" dirty="0"/>
          </a:p>
        </p:txBody>
      </p:sp>
      <p:sp>
        <p:nvSpPr>
          <p:cNvPr id="9" name="Text Placeholder 3">
            <a:extLst>
              <a:ext uri="{FF2B5EF4-FFF2-40B4-BE49-F238E27FC236}">
                <a16:creationId xmlns:a16="http://schemas.microsoft.com/office/drawing/2014/main" id="{45699D7D-C055-0DD7-1F0E-F43603DC116B}"/>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4BEBF3-0E42-6623-74E5-F6F6D42E6398}"/>
              </a:ext>
            </a:extLst>
          </p:cNvPr>
          <p:cNvSpPr txBox="1"/>
          <p:nvPr/>
        </p:nvSpPr>
        <p:spPr>
          <a:xfrm>
            <a:off x="0" y="1755080"/>
            <a:ext cx="9144000" cy="2805063"/>
          </a:xfrm>
          <a:prstGeom prst="rect">
            <a:avLst/>
          </a:prstGeom>
          <a:solidFill>
            <a:schemeClr val="bg1"/>
          </a:solidFill>
        </p:spPr>
        <p:txBody>
          <a:bodyPr wrap="square">
            <a:spAutoFit/>
          </a:bodyPr>
          <a:lstStyle/>
          <a:p>
            <a:pPr marL="320675" eaLnBrk="0" fontAlgn="base" hangingPunct="0">
              <a:lnSpc>
                <a:spcPct val="150000"/>
              </a:lnSpc>
              <a:spcBef>
                <a:spcPct val="0"/>
              </a:spcBef>
              <a:spcAft>
                <a:spcPct val="0"/>
              </a:spcAft>
            </a:pPr>
            <a:r>
              <a:rPr lang="en-US" sz="2400" dirty="0">
                <a:latin typeface="Calibri" panose="020F0502020204030204" pitchFamily="34" charset="0"/>
                <a:cs typeface="Calibri" panose="020F0502020204030204" pitchFamily="34" charset="0"/>
              </a:rPr>
              <a:t>This part is an optional guide created to help you understand and implement the steps from the official </a:t>
            </a:r>
            <a:r>
              <a:rPr lang="en-US" sz="2400" i="1" dirty="0">
                <a:latin typeface="Calibri" panose="020F0502020204030204" pitchFamily="34" charset="0"/>
                <a:cs typeface="Calibri" panose="020F0502020204030204" pitchFamily="34" charset="0"/>
              </a:rPr>
              <a:t>Week 1 – Tutorial</a:t>
            </a:r>
            <a:r>
              <a:rPr lang="en-US" sz="2400" dirty="0">
                <a:latin typeface="Calibri" panose="020F0502020204030204" pitchFamily="34" charset="0"/>
                <a:cs typeface="Calibri" panose="020F0502020204030204" pitchFamily="34" charset="0"/>
              </a:rPr>
              <a:t> instructions. It also includes a step-by-step walkthrough for Question 1. Please ensure you follow the official instructions and assessment on Canvas when completing your tutorial and submitting your work.</a:t>
            </a:r>
            <a:endParaRPr lang="en-US" altLang="en-US"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933341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833D6B-1F2E-D313-57DC-4D929D81560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17819ED-7208-97EE-F0EE-32E72F3573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18C0979-1AB2-E6E4-87F1-EAD394420BCA}"/>
              </a:ext>
            </a:extLst>
          </p:cNvPr>
          <p:cNvSpPr>
            <a:spLocks noGrp="1"/>
          </p:cNvSpPr>
          <p:nvPr>
            <p:ph type="sldNum" sz="quarter" idx="4"/>
          </p:nvPr>
        </p:nvSpPr>
        <p:spPr/>
        <p:txBody>
          <a:bodyPr/>
          <a:lstStyle/>
          <a:p>
            <a:fld id="{16A89BA3-132D-40E1-AAB4-CDCD0A14C216}" type="slidenum">
              <a:rPr lang="en-AU" smtClean="0"/>
              <a:pPr/>
              <a:t>68</a:t>
            </a:fld>
            <a:r>
              <a:rPr lang="en-AU"/>
              <a:t>  |</a:t>
            </a:r>
            <a:endParaRPr lang="en-AU" dirty="0"/>
          </a:p>
        </p:txBody>
      </p:sp>
      <p:sp>
        <p:nvSpPr>
          <p:cNvPr id="9" name="Text Placeholder 3">
            <a:extLst>
              <a:ext uri="{FF2B5EF4-FFF2-40B4-BE49-F238E27FC236}">
                <a16:creationId xmlns:a16="http://schemas.microsoft.com/office/drawing/2014/main" id="{D58D2C42-9DCB-F9B3-92B0-8653179871B7}"/>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1AD40F6-E36F-4674-4EEC-30E1D7648D1F}"/>
              </a:ext>
            </a:extLst>
          </p:cNvPr>
          <p:cNvSpPr txBox="1"/>
          <p:nvPr/>
        </p:nvSpPr>
        <p:spPr>
          <a:xfrm>
            <a:off x="0" y="817469"/>
            <a:ext cx="9144000" cy="5575052"/>
          </a:xfrm>
          <a:prstGeom prst="rect">
            <a:avLst/>
          </a:prstGeom>
          <a:solidFill>
            <a:schemeClr val="bg1"/>
          </a:solidFill>
        </p:spPr>
        <p:txBody>
          <a:bodyPr wrap="square">
            <a:spAutoFit/>
          </a:bodyPr>
          <a:lstStyle/>
          <a:p>
            <a:pPr>
              <a:lnSpc>
                <a:spcPct val="150000"/>
              </a:lnSpc>
            </a:pPr>
            <a:r>
              <a:rPr lang="en-US" sz="2400" dirty="0">
                <a:latin typeface="Calibri" panose="020F0502020204030204" pitchFamily="34" charset="0"/>
                <a:cs typeface="Calibri" panose="020F0502020204030204" pitchFamily="34" charset="0"/>
              </a:rPr>
              <a:t>Instructions:</a:t>
            </a:r>
          </a:p>
          <a:p>
            <a:pPr>
              <a:lnSpc>
                <a:spcPct val="150000"/>
              </a:lnSpc>
            </a:pPr>
            <a:r>
              <a:rPr lang="en-US" sz="2400" dirty="0">
                <a:latin typeface="Calibri" panose="020F0502020204030204" pitchFamily="34" charset="0"/>
                <a:cs typeface="Calibri" panose="020F0502020204030204" pitchFamily="34" charset="0"/>
              </a:rPr>
              <a:t>Goal: Use Figure P1.1 (first image) to answer Questions 1–4.</a:t>
            </a:r>
            <a:br>
              <a:rPr lang="en-US" sz="2400" dirty="0">
                <a:latin typeface="Calibri" panose="020F0502020204030204" pitchFamily="34" charset="0"/>
                <a:cs typeface="Calibri" panose="020F0502020204030204" pitchFamily="34" charset="0"/>
              </a:rPr>
            </a:br>
            <a:r>
              <a:rPr lang="en-US" sz="2400" dirty="0">
                <a:latin typeface="Calibri" panose="020F0502020204030204" pitchFamily="34" charset="0"/>
                <a:cs typeface="Calibri" panose="020F0502020204030204" pitchFamily="34" charset="0"/>
              </a:rPr>
              <a:t>Submit your responses in a Word document via Canvas &gt; Module 1 &gt; Tutorial activities submission facility.</a:t>
            </a:r>
            <a:br>
              <a:rPr lang="en-US" sz="2400" dirty="0">
                <a:latin typeface="Calibri" panose="020F0502020204030204" pitchFamily="34" charset="0"/>
                <a:cs typeface="Calibri" panose="020F0502020204030204" pitchFamily="34" charset="0"/>
              </a:rPr>
            </a:br>
            <a:r>
              <a:rPr lang="en-US" sz="2400" dirty="0">
                <a:latin typeface="Calibri" panose="020F0502020204030204" pitchFamily="34" charset="0"/>
                <a:cs typeface="Calibri" panose="020F0502020204030204" pitchFamily="34" charset="0"/>
              </a:rPr>
              <a:t>Submission Format: Include:</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Full Name</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Student ID</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Campus</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Answers to Questions </a:t>
            </a:r>
            <a:br>
              <a:rPr lang="en-US" sz="2400" dirty="0">
                <a:latin typeface="Calibri" panose="020F0502020204030204" pitchFamily="34" charset="0"/>
                <a:cs typeface="Calibri" panose="020F0502020204030204" pitchFamily="34" charset="0"/>
              </a:rPr>
            </a:br>
            <a:r>
              <a:rPr lang="en-US" sz="2400" dirty="0">
                <a:latin typeface="Calibri" panose="020F0502020204030204" pitchFamily="34" charset="0"/>
                <a:cs typeface="Calibri" panose="020F0502020204030204" pitchFamily="34" charset="0"/>
              </a:rPr>
              <a:t>1–4 in full sentences</a:t>
            </a:r>
          </a:p>
        </p:txBody>
      </p:sp>
      <p:pic>
        <p:nvPicPr>
          <p:cNvPr id="5" name="Picture 4">
            <a:extLst>
              <a:ext uri="{FF2B5EF4-FFF2-40B4-BE49-F238E27FC236}">
                <a16:creationId xmlns:a16="http://schemas.microsoft.com/office/drawing/2014/main" id="{E7306311-8CFD-0C97-C526-9F9BCB2F340D}"/>
              </a:ext>
            </a:extLst>
          </p:cNvPr>
          <p:cNvPicPr>
            <a:picLocks noChangeAspect="1"/>
          </p:cNvPicPr>
          <p:nvPr/>
        </p:nvPicPr>
        <p:blipFill>
          <a:blip r:embed="rId3"/>
          <a:srcRect l="31955" t="17050" r="12183" b="21648"/>
          <a:stretch>
            <a:fillRect/>
          </a:stretch>
        </p:blipFill>
        <p:spPr>
          <a:xfrm>
            <a:off x="3647091" y="3464845"/>
            <a:ext cx="5496910" cy="3393155"/>
          </a:xfrm>
          <a:prstGeom prst="rect">
            <a:avLst/>
          </a:prstGeom>
          <a:ln>
            <a:solidFill>
              <a:schemeClr val="accent1"/>
            </a:solidFill>
          </a:ln>
        </p:spPr>
      </p:pic>
    </p:spTree>
    <p:extLst>
      <p:ext uri="{BB962C8B-B14F-4D97-AF65-F5344CB8AC3E}">
        <p14:creationId xmlns:p14="http://schemas.microsoft.com/office/powerpoint/2010/main" val="303995823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7E16B68-2C77-C844-5D89-9684AC5D1B4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464A38F-15BC-948B-9C57-95D8AC2EECA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A5BBEA2-FBD7-382D-FF53-72CC0F6EFF3E}"/>
              </a:ext>
            </a:extLst>
          </p:cNvPr>
          <p:cNvSpPr>
            <a:spLocks noGrp="1"/>
          </p:cNvSpPr>
          <p:nvPr>
            <p:ph type="sldNum" sz="quarter" idx="4"/>
          </p:nvPr>
        </p:nvSpPr>
        <p:spPr/>
        <p:txBody>
          <a:bodyPr/>
          <a:lstStyle/>
          <a:p>
            <a:fld id="{16A89BA3-132D-40E1-AAB4-CDCD0A14C216}" type="slidenum">
              <a:rPr lang="en-AU" smtClean="0"/>
              <a:pPr/>
              <a:t>69</a:t>
            </a:fld>
            <a:r>
              <a:rPr lang="en-AU"/>
              <a:t>  |</a:t>
            </a:r>
            <a:endParaRPr lang="en-AU" dirty="0"/>
          </a:p>
        </p:txBody>
      </p:sp>
      <p:sp>
        <p:nvSpPr>
          <p:cNvPr id="9" name="Text Placeholder 3">
            <a:extLst>
              <a:ext uri="{FF2B5EF4-FFF2-40B4-BE49-F238E27FC236}">
                <a16:creationId xmlns:a16="http://schemas.microsoft.com/office/drawing/2014/main" id="{F4B8FF8F-8F0F-70E9-6470-CC0A2D3D656A}"/>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217D3A8-9FFA-F5EE-2B50-452456D26C58}"/>
              </a:ext>
            </a:extLst>
          </p:cNvPr>
          <p:cNvSpPr txBox="1"/>
          <p:nvPr/>
        </p:nvSpPr>
        <p:spPr>
          <a:xfrm>
            <a:off x="0" y="1078726"/>
            <a:ext cx="9144000" cy="2610843"/>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Step-by-Step: Do this</a:t>
            </a:r>
          </a:p>
          <a:p>
            <a:pPr>
              <a:lnSpc>
                <a:spcPct val="150000"/>
              </a:lnSpc>
            </a:pPr>
            <a:r>
              <a:rPr lang="en-US" sz="2800" dirty="0">
                <a:latin typeface="Calibri" panose="020F0502020204030204" pitchFamily="34" charset="0"/>
                <a:cs typeface="Calibri" panose="020F0502020204030204" pitchFamily="34" charset="0"/>
              </a:rPr>
              <a:t>1. Understand the file structure (Figure P1.1)</a:t>
            </a:r>
          </a:p>
          <a:p>
            <a:pPr>
              <a:lnSpc>
                <a:spcPct val="150000"/>
              </a:lnSpc>
            </a:pPr>
            <a:r>
              <a:rPr lang="en-US" sz="2800" dirty="0">
                <a:latin typeface="Calibri" panose="020F0502020204030204" pitchFamily="34" charset="0"/>
                <a:cs typeface="Calibri" panose="020F0502020204030204" pitchFamily="34" charset="0"/>
              </a:rPr>
              <a:t>Open the first image. Each row is a record, and each column is a field (PROJECT_CODE, PROJECT_MANAGER, etc.).</a:t>
            </a:r>
          </a:p>
        </p:txBody>
      </p:sp>
    </p:spTree>
    <p:extLst>
      <p:ext uri="{BB962C8B-B14F-4D97-AF65-F5344CB8AC3E}">
        <p14:creationId xmlns:p14="http://schemas.microsoft.com/office/powerpoint/2010/main" val="22110994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E64E4DB-1C0F-F5E6-48C9-FD51F96C89D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9306135-4EF7-5EBE-FFC1-813CDF4896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16D2EB4-9823-BC28-69F5-A3D7206E1B31}"/>
              </a:ext>
            </a:extLst>
          </p:cNvPr>
          <p:cNvSpPr>
            <a:spLocks noGrp="1"/>
          </p:cNvSpPr>
          <p:nvPr>
            <p:ph type="sldNum" sz="quarter" idx="4"/>
          </p:nvPr>
        </p:nvSpPr>
        <p:spPr/>
        <p:txBody>
          <a:bodyPr/>
          <a:lstStyle/>
          <a:p>
            <a:fld id="{16A89BA3-132D-40E1-AAB4-CDCD0A14C216}" type="slidenum">
              <a:rPr lang="en-AU" smtClean="0"/>
              <a:pPr/>
              <a:t>70</a:t>
            </a:fld>
            <a:r>
              <a:rPr lang="en-AU"/>
              <a:t>  |</a:t>
            </a:r>
            <a:endParaRPr lang="en-AU" dirty="0"/>
          </a:p>
        </p:txBody>
      </p:sp>
      <p:sp>
        <p:nvSpPr>
          <p:cNvPr id="9" name="Text Placeholder 3">
            <a:extLst>
              <a:ext uri="{FF2B5EF4-FFF2-40B4-BE49-F238E27FC236}">
                <a16:creationId xmlns:a16="http://schemas.microsoft.com/office/drawing/2014/main" id="{CB676F3E-CCF8-A522-70DE-A56CE0C12AA2}"/>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9EDDD67-1F93-E66A-4DB7-CB72E7651E71}"/>
              </a:ext>
            </a:extLst>
          </p:cNvPr>
          <p:cNvSpPr txBox="1"/>
          <p:nvPr/>
        </p:nvSpPr>
        <p:spPr>
          <a:xfrm>
            <a:off x="0" y="1078726"/>
            <a:ext cx="9144000" cy="1964512"/>
          </a:xfrm>
          <a:prstGeom prst="rect">
            <a:avLst/>
          </a:prstGeom>
          <a:solidFill>
            <a:schemeClr val="bg1"/>
          </a:solidFill>
        </p:spPr>
        <p:txBody>
          <a:bodyPr wrap="square">
            <a:spAutoFit/>
          </a:bodyPr>
          <a:lstStyle/>
          <a:p>
            <a:pPr lvl="0" eaLnBrk="0" fontAlgn="base" hangingPunct="0">
              <a:lnSpc>
                <a:spcPct val="150000"/>
              </a:lnSpc>
              <a:spcBef>
                <a:spcPct val="0"/>
              </a:spcBef>
              <a:spcAft>
                <a:spcPct val="0"/>
              </a:spcAft>
            </a:pPr>
            <a:r>
              <a:rPr lang="en-US" altLang="en-US" sz="2800" b="1" dirty="0">
                <a:latin typeface="Calibri" panose="020F0502020204030204" pitchFamily="34" charset="0"/>
                <a:cs typeface="Calibri" panose="020F0502020204030204" pitchFamily="34" charset="0"/>
              </a:rPr>
              <a:t>2. Work on Question 1 only:</a:t>
            </a:r>
          </a:p>
          <a:p>
            <a:pPr lvl="0" eaLnBrk="0" fontAlgn="base" hangingPunct="0">
              <a:lnSpc>
                <a:spcPct val="150000"/>
              </a:lnSpc>
              <a:spcBef>
                <a:spcPct val="0"/>
              </a:spcBef>
              <a:spcAft>
                <a:spcPct val="0"/>
              </a:spcAft>
            </a:pPr>
            <a:r>
              <a:rPr lang="en-US" altLang="en-US" sz="2800" b="1" dirty="0">
                <a:latin typeface="Calibri" panose="020F0502020204030204" pitchFamily="34" charset="0"/>
                <a:cs typeface="Calibri" panose="020F0502020204030204" pitchFamily="34" charset="0"/>
              </a:rPr>
              <a:t>Q1. How many records does the file contain? How many fields are there per record?</a:t>
            </a:r>
            <a:endParaRPr lang="en-US" altLang="en-US" sz="28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03FD26B1-A37E-B5C3-AE6F-B60EE1A3F1F2}"/>
              </a:ext>
            </a:extLst>
          </p:cNvPr>
          <p:cNvPicPr>
            <a:picLocks noChangeAspect="1"/>
          </p:cNvPicPr>
          <p:nvPr/>
        </p:nvPicPr>
        <p:blipFill>
          <a:blip r:embed="rId3"/>
          <a:stretch>
            <a:fillRect/>
          </a:stretch>
        </p:blipFill>
        <p:spPr>
          <a:xfrm>
            <a:off x="162493" y="3429000"/>
            <a:ext cx="8819014" cy="1886606"/>
          </a:xfrm>
          <a:prstGeom prst="rect">
            <a:avLst/>
          </a:prstGeom>
        </p:spPr>
      </p:pic>
    </p:spTree>
    <p:extLst>
      <p:ext uri="{BB962C8B-B14F-4D97-AF65-F5344CB8AC3E}">
        <p14:creationId xmlns:p14="http://schemas.microsoft.com/office/powerpoint/2010/main" val="164832446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9502D56-3AA5-609F-4D05-A41DB7DE239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889BCFB-36D2-E2DE-8821-E7ACD1D2773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3D29AA3-F4B2-C9AE-82C5-EFCF3F0697EE}"/>
              </a:ext>
            </a:extLst>
          </p:cNvPr>
          <p:cNvSpPr>
            <a:spLocks noGrp="1"/>
          </p:cNvSpPr>
          <p:nvPr>
            <p:ph type="sldNum" sz="quarter" idx="4"/>
          </p:nvPr>
        </p:nvSpPr>
        <p:spPr/>
        <p:txBody>
          <a:bodyPr/>
          <a:lstStyle/>
          <a:p>
            <a:fld id="{16A89BA3-132D-40E1-AAB4-CDCD0A14C216}" type="slidenum">
              <a:rPr lang="en-AU" smtClean="0"/>
              <a:pPr/>
              <a:t>71</a:t>
            </a:fld>
            <a:r>
              <a:rPr lang="en-AU"/>
              <a:t>  |</a:t>
            </a:r>
            <a:endParaRPr lang="en-AU" dirty="0"/>
          </a:p>
        </p:txBody>
      </p:sp>
      <p:sp>
        <p:nvSpPr>
          <p:cNvPr id="9" name="Text Placeholder 3">
            <a:extLst>
              <a:ext uri="{FF2B5EF4-FFF2-40B4-BE49-F238E27FC236}">
                <a16:creationId xmlns:a16="http://schemas.microsoft.com/office/drawing/2014/main" id="{F48CE413-FC29-3BA0-A6B2-9062F6BAA92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F4639D5-3F4B-96EA-90EE-48E037600D14}"/>
              </a:ext>
            </a:extLst>
          </p:cNvPr>
          <p:cNvSpPr txBox="1"/>
          <p:nvPr/>
        </p:nvSpPr>
        <p:spPr>
          <a:xfrm>
            <a:off x="0" y="1078726"/>
            <a:ext cx="9144000" cy="5118196"/>
          </a:xfrm>
          <a:prstGeom prst="rect">
            <a:avLst/>
          </a:prstGeom>
          <a:solidFill>
            <a:schemeClr val="bg1"/>
          </a:solidFill>
        </p:spPr>
        <p:txBody>
          <a:bodyPr wrap="square">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 file contains 7 records. Each row from the table represents one project record.</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There are 5 fields per record:</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PROJECT_CODE</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PROJECT_MANAGER</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MANAGER_PHONE</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MANAGER_ADDRESS</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PROJECT_BID_PRICE</a:t>
            </a:r>
          </a:p>
          <a:p>
            <a:pPr>
              <a:lnSpc>
                <a:spcPct val="150000"/>
              </a:lnSpc>
            </a:pPr>
            <a:r>
              <a:rPr lang="en-US" sz="2200" dirty="0">
                <a:latin typeface="Calibri" panose="020F0502020204030204" pitchFamily="34" charset="0"/>
                <a:cs typeface="Calibri" panose="020F0502020204030204" pitchFamily="34" charset="0"/>
              </a:rPr>
              <a:t>You can count the number of rows (excluding headers) for total records and the number of columns for total fields.</a:t>
            </a:r>
          </a:p>
        </p:txBody>
      </p:sp>
    </p:spTree>
    <p:extLst>
      <p:ext uri="{BB962C8B-B14F-4D97-AF65-F5344CB8AC3E}">
        <p14:creationId xmlns:p14="http://schemas.microsoft.com/office/powerpoint/2010/main" val="3612594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881342A-B23C-7CA5-E34F-A14E1888FA6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C5B168-6A7A-6056-A1B1-519F10389C3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3781BFC-F990-4738-497A-75624D21E7C2}"/>
              </a:ext>
            </a:extLst>
          </p:cNvPr>
          <p:cNvSpPr>
            <a:spLocks noGrp="1"/>
          </p:cNvSpPr>
          <p:nvPr>
            <p:ph type="sldNum" sz="quarter" idx="4"/>
          </p:nvPr>
        </p:nvSpPr>
        <p:spPr/>
        <p:txBody>
          <a:bodyPr/>
          <a:lstStyle/>
          <a:p>
            <a:fld id="{16A89BA3-132D-40E1-AAB4-CDCD0A14C216}" type="slidenum">
              <a:rPr lang="en-AU" smtClean="0"/>
              <a:pPr/>
              <a:t>72</a:t>
            </a:fld>
            <a:r>
              <a:rPr lang="en-AU"/>
              <a:t>  |</a:t>
            </a:r>
            <a:endParaRPr lang="en-AU" dirty="0"/>
          </a:p>
        </p:txBody>
      </p:sp>
      <p:sp>
        <p:nvSpPr>
          <p:cNvPr id="9" name="Text Placeholder 3">
            <a:extLst>
              <a:ext uri="{FF2B5EF4-FFF2-40B4-BE49-F238E27FC236}">
                <a16:creationId xmlns:a16="http://schemas.microsoft.com/office/drawing/2014/main" id="{9A7D6A73-5C48-7B5C-731B-43980CE3041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94FE9EB5-ADD5-F6BC-B944-6186E1BD28F1}"/>
              </a:ext>
            </a:extLst>
          </p:cNvPr>
          <p:cNvSpPr txBox="1"/>
          <p:nvPr/>
        </p:nvSpPr>
        <p:spPr>
          <a:xfrm>
            <a:off x="0" y="578068"/>
            <a:ext cx="9144000" cy="3903504"/>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2. Problem when listing by city &amp; how to fix it (</a:t>
            </a:r>
            <a:r>
              <a:rPr lang="en-US" sz="2800" b="1" dirty="0">
                <a:highlight>
                  <a:srgbClr val="FFFF00"/>
                </a:highlight>
                <a:latin typeface="Calibri" panose="020F0502020204030204" pitchFamily="34" charset="0"/>
                <a:cs typeface="Calibri" panose="020F0502020204030204" pitchFamily="34" charset="0"/>
              </a:rPr>
              <a:t>3 min</a:t>
            </a:r>
            <a:r>
              <a:rPr lang="en-US" sz="2800" b="1" dirty="0">
                <a:latin typeface="Calibri" panose="020F0502020204030204" pitchFamily="34" charset="0"/>
                <a:cs typeface="Calibri" panose="020F0502020204030204" pitchFamily="34" charset="0"/>
              </a:rPr>
              <a:t>)</a:t>
            </a:r>
          </a:p>
          <a:p>
            <a:pPr>
              <a:lnSpc>
                <a:spcPct val="150000"/>
              </a:lnSpc>
              <a:buNone/>
            </a:pPr>
            <a:r>
              <a:rPr lang="en-US" sz="2800" b="1" dirty="0">
                <a:latin typeface="Calibri" panose="020F0502020204030204" pitchFamily="34" charset="0"/>
                <a:cs typeface="Calibri" panose="020F0502020204030204" pitchFamily="34" charset="0"/>
              </a:rPr>
              <a:t>Problem:</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City is stored inside the MANAGER_ADDRESS field together with street, state, and ZIP code.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Because all address parts are combined in one field, the database cannot easily sort or filter by city.</a:t>
            </a:r>
          </a:p>
        </p:txBody>
      </p:sp>
      <p:pic>
        <p:nvPicPr>
          <p:cNvPr id="6" name="Picture 5">
            <a:extLst>
              <a:ext uri="{FF2B5EF4-FFF2-40B4-BE49-F238E27FC236}">
                <a16:creationId xmlns:a16="http://schemas.microsoft.com/office/drawing/2014/main" id="{BDC43BA3-3610-D051-A899-EDFC7626FAF3}"/>
              </a:ext>
            </a:extLst>
          </p:cNvPr>
          <p:cNvPicPr>
            <a:picLocks noChangeAspect="1"/>
          </p:cNvPicPr>
          <p:nvPr/>
        </p:nvPicPr>
        <p:blipFill>
          <a:blip r:embed="rId3"/>
          <a:stretch>
            <a:fillRect/>
          </a:stretch>
        </p:blipFill>
        <p:spPr>
          <a:xfrm>
            <a:off x="162493" y="4552718"/>
            <a:ext cx="8819014" cy="1886606"/>
          </a:xfrm>
          <a:prstGeom prst="rect">
            <a:avLst/>
          </a:prstGeom>
        </p:spPr>
      </p:pic>
    </p:spTree>
    <p:extLst>
      <p:ext uri="{BB962C8B-B14F-4D97-AF65-F5344CB8AC3E}">
        <p14:creationId xmlns:p14="http://schemas.microsoft.com/office/powerpoint/2010/main" val="31674557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7FA4834-02E0-0846-907D-F3271E339B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14B3A6F-114A-2B5F-DB04-FBF183471D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94072F3-0880-29C3-87E7-CA18D37AC2EC}"/>
              </a:ext>
            </a:extLst>
          </p:cNvPr>
          <p:cNvSpPr>
            <a:spLocks noGrp="1"/>
          </p:cNvSpPr>
          <p:nvPr>
            <p:ph type="sldNum" sz="quarter" idx="4"/>
          </p:nvPr>
        </p:nvSpPr>
        <p:spPr/>
        <p:txBody>
          <a:bodyPr/>
          <a:lstStyle/>
          <a:p>
            <a:fld id="{16A89BA3-132D-40E1-AAB4-CDCD0A14C216}" type="slidenum">
              <a:rPr lang="en-AU" smtClean="0"/>
              <a:pPr/>
              <a:t>73</a:t>
            </a:fld>
            <a:r>
              <a:rPr lang="en-AU"/>
              <a:t>  |</a:t>
            </a:r>
            <a:endParaRPr lang="en-AU" dirty="0"/>
          </a:p>
        </p:txBody>
      </p:sp>
      <p:sp>
        <p:nvSpPr>
          <p:cNvPr id="9" name="Text Placeholder 3">
            <a:extLst>
              <a:ext uri="{FF2B5EF4-FFF2-40B4-BE49-F238E27FC236}">
                <a16:creationId xmlns:a16="http://schemas.microsoft.com/office/drawing/2014/main" id="{C99321E5-A935-F5BE-8827-DECA7CC5BB31}"/>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859E14C-827A-6828-A334-74D848793582}"/>
              </a:ext>
            </a:extLst>
          </p:cNvPr>
          <p:cNvSpPr txBox="1"/>
          <p:nvPr/>
        </p:nvSpPr>
        <p:spPr>
          <a:xfrm>
            <a:off x="0" y="463138"/>
            <a:ext cx="9144000"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Solution:</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Break MANAGER_ADDRESS into separate fields: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STREET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CITY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STATE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ZIP_CODE</a:t>
            </a:r>
          </a:p>
          <a:p>
            <a:pPr>
              <a:lnSpc>
                <a:spcPct val="150000"/>
              </a:lnSpc>
            </a:pPr>
            <a:r>
              <a:rPr lang="en-US" sz="2800" dirty="0">
                <a:latin typeface="Calibri" panose="020F0502020204030204" pitchFamily="34" charset="0"/>
                <a:cs typeface="Calibri" panose="020F0502020204030204" pitchFamily="34" charset="0"/>
              </a:rPr>
              <a:t>This makes it easy to sort or list records by city.</a:t>
            </a:r>
          </a:p>
        </p:txBody>
      </p:sp>
      <p:pic>
        <p:nvPicPr>
          <p:cNvPr id="6" name="Picture 5">
            <a:extLst>
              <a:ext uri="{FF2B5EF4-FFF2-40B4-BE49-F238E27FC236}">
                <a16:creationId xmlns:a16="http://schemas.microsoft.com/office/drawing/2014/main" id="{82043FD4-6C17-BD52-4161-06E2FE1E6688}"/>
              </a:ext>
            </a:extLst>
          </p:cNvPr>
          <p:cNvPicPr>
            <a:picLocks noChangeAspect="1"/>
          </p:cNvPicPr>
          <p:nvPr/>
        </p:nvPicPr>
        <p:blipFill>
          <a:blip r:embed="rId3"/>
          <a:stretch>
            <a:fillRect/>
          </a:stretch>
        </p:blipFill>
        <p:spPr>
          <a:xfrm>
            <a:off x="162493" y="4971394"/>
            <a:ext cx="8819014" cy="1886606"/>
          </a:xfrm>
          <a:prstGeom prst="rect">
            <a:avLst/>
          </a:prstGeom>
        </p:spPr>
      </p:pic>
    </p:spTree>
    <p:extLst>
      <p:ext uri="{BB962C8B-B14F-4D97-AF65-F5344CB8AC3E}">
        <p14:creationId xmlns:p14="http://schemas.microsoft.com/office/powerpoint/2010/main" val="32905670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C49004-1FA0-56C1-4493-36713A9BE8C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F5E053B-CA2A-4919-A5D1-396615FC8E7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D5E703C-8BCC-B783-73E6-112F0341F867}"/>
              </a:ext>
            </a:extLst>
          </p:cNvPr>
          <p:cNvSpPr>
            <a:spLocks noGrp="1"/>
          </p:cNvSpPr>
          <p:nvPr>
            <p:ph type="sldNum" sz="quarter" idx="4"/>
          </p:nvPr>
        </p:nvSpPr>
        <p:spPr/>
        <p:txBody>
          <a:bodyPr/>
          <a:lstStyle/>
          <a:p>
            <a:fld id="{16A89BA3-132D-40E1-AAB4-CDCD0A14C216}" type="slidenum">
              <a:rPr lang="en-AU" smtClean="0"/>
              <a:pPr/>
              <a:t>74</a:t>
            </a:fld>
            <a:r>
              <a:rPr lang="en-AU"/>
              <a:t>  |</a:t>
            </a:r>
            <a:endParaRPr lang="en-AU" dirty="0"/>
          </a:p>
        </p:txBody>
      </p:sp>
      <p:sp>
        <p:nvSpPr>
          <p:cNvPr id="9" name="Text Placeholder 3">
            <a:extLst>
              <a:ext uri="{FF2B5EF4-FFF2-40B4-BE49-F238E27FC236}">
                <a16:creationId xmlns:a16="http://schemas.microsoft.com/office/drawing/2014/main" id="{B066010E-C0F3-656F-0D8F-84E19DDB83D2}"/>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8101CF06-2537-424F-7133-E1F589B5B921}"/>
              </a:ext>
            </a:extLst>
          </p:cNvPr>
          <p:cNvSpPr txBox="1"/>
          <p:nvPr/>
        </p:nvSpPr>
        <p:spPr>
          <a:xfrm>
            <a:off x="0" y="463138"/>
            <a:ext cx="9144000" cy="1964512"/>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3. If you wanted to produce a listing of the file contents by last name, area code, city, state, or zip code, how </a:t>
            </a:r>
            <a:r>
              <a:rPr lang="en-US" sz="2800" dirty="0" err="1">
                <a:latin typeface="Calibri" panose="020F0502020204030204" pitchFamily="34" charset="0"/>
                <a:cs typeface="Calibri" panose="020F0502020204030204" pitchFamily="34" charset="0"/>
              </a:rPr>
              <a:t>wouldyou</a:t>
            </a:r>
            <a:r>
              <a:rPr lang="en-US" sz="2800" dirty="0">
                <a:latin typeface="Calibri" panose="020F0502020204030204" pitchFamily="34" charset="0"/>
                <a:cs typeface="Calibri" panose="020F0502020204030204" pitchFamily="34" charset="0"/>
              </a:rPr>
              <a:t> alter the file structure?</a:t>
            </a:r>
          </a:p>
        </p:txBody>
      </p:sp>
      <p:pic>
        <p:nvPicPr>
          <p:cNvPr id="6" name="Picture 5">
            <a:extLst>
              <a:ext uri="{FF2B5EF4-FFF2-40B4-BE49-F238E27FC236}">
                <a16:creationId xmlns:a16="http://schemas.microsoft.com/office/drawing/2014/main" id="{21225CB7-98F9-5E4D-4523-70A0D326645A}"/>
              </a:ext>
            </a:extLst>
          </p:cNvPr>
          <p:cNvPicPr>
            <a:picLocks noChangeAspect="1"/>
          </p:cNvPicPr>
          <p:nvPr/>
        </p:nvPicPr>
        <p:blipFill>
          <a:blip r:embed="rId3"/>
          <a:stretch>
            <a:fillRect/>
          </a:stretch>
        </p:blipFill>
        <p:spPr>
          <a:xfrm>
            <a:off x="0" y="4508256"/>
            <a:ext cx="8819014" cy="1886606"/>
          </a:xfrm>
          <a:prstGeom prst="rect">
            <a:avLst/>
          </a:prstGeom>
        </p:spPr>
      </p:pic>
    </p:spTree>
    <p:extLst>
      <p:ext uri="{BB962C8B-B14F-4D97-AF65-F5344CB8AC3E}">
        <p14:creationId xmlns:p14="http://schemas.microsoft.com/office/powerpoint/2010/main" val="53350390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4884962-0562-AD48-AAF9-10F18285FA6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D867320-D0F9-53AB-3700-ED9306D0FC8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A1851AA-D1AE-12BB-B5B9-2EC50161FE03}"/>
              </a:ext>
            </a:extLst>
          </p:cNvPr>
          <p:cNvSpPr>
            <a:spLocks noGrp="1"/>
          </p:cNvSpPr>
          <p:nvPr>
            <p:ph type="sldNum" sz="quarter" idx="4"/>
          </p:nvPr>
        </p:nvSpPr>
        <p:spPr/>
        <p:txBody>
          <a:bodyPr/>
          <a:lstStyle/>
          <a:p>
            <a:fld id="{16A89BA3-132D-40E1-AAB4-CDCD0A14C216}" type="slidenum">
              <a:rPr lang="en-AU" smtClean="0"/>
              <a:pPr/>
              <a:t>75</a:t>
            </a:fld>
            <a:r>
              <a:rPr lang="en-AU"/>
              <a:t>  |</a:t>
            </a:r>
            <a:endParaRPr lang="en-AU" dirty="0"/>
          </a:p>
        </p:txBody>
      </p:sp>
      <p:sp>
        <p:nvSpPr>
          <p:cNvPr id="9" name="Text Placeholder 3">
            <a:extLst>
              <a:ext uri="{FF2B5EF4-FFF2-40B4-BE49-F238E27FC236}">
                <a16:creationId xmlns:a16="http://schemas.microsoft.com/office/drawing/2014/main" id="{E1AAA43D-995D-B765-663E-CCC5A5B130AF}"/>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7F58DFB4-D35E-98F7-4A6F-6BB84D433E42}"/>
              </a:ext>
            </a:extLst>
          </p:cNvPr>
          <p:cNvSpPr txBox="1"/>
          <p:nvPr/>
        </p:nvSpPr>
        <p:spPr>
          <a:xfrm>
            <a:off x="0" y="463138"/>
            <a:ext cx="9144000" cy="4549835"/>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Changes needed to list by last name, area code, city, state, or zip code</a:t>
            </a:r>
          </a:p>
          <a:p>
            <a:pPr>
              <a:lnSpc>
                <a:spcPct val="150000"/>
              </a:lnSpc>
            </a:pPr>
            <a:r>
              <a:rPr lang="en-US" sz="2800" dirty="0">
                <a:latin typeface="Calibri" panose="020F0502020204030204" pitchFamily="34" charset="0"/>
                <a:cs typeface="Calibri" panose="020F0502020204030204" pitchFamily="34" charset="0"/>
              </a:rPr>
              <a:t>Currently:</a:t>
            </a:r>
          </a:p>
          <a:p>
            <a:pPr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Manager name is stored as one field (first and last name together).</a:t>
            </a:r>
          </a:p>
          <a:p>
            <a:pPr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Phone number is stored as one field (including area code).</a:t>
            </a:r>
          </a:p>
          <a:p>
            <a:pPr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Address is stored as one field.</a:t>
            </a:r>
          </a:p>
        </p:txBody>
      </p:sp>
      <p:pic>
        <p:nvPicPr>
          <p:cNvPr id="6" name="Picture 5">
            <a:extLst>
              <a:ext uri="{FF2B5EF4-FFF2-40B4-BE49-F238E27FC236}">
                <a16:creationId xmlns:a16="http://schemas.microsoft.com/office/drawing/2014/main" id="{E81012F2-DDB5-3199-FC76-8DDD9B9FEBE5}"/>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62373282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DAF74B-7761-EC96-11DB-1776CDB1567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709353-4626-00C2-E9A7-A5B95871F9C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59FD513-F991-D5C5-7DFB-F6BEC754DCC9}"/>
              </a:ext>
            </a:extLst>
          </p:cNvPr>
          <p:cNvSpPr>
            <a:spLocks noGrp="1"/>
          </p:cNvSpPr>
          <p:nvPr>
            <p:ph type="sldNum" sz="quarter" idx="4"/>
          </p:nvPr>
        </p:nvSpPr>
        <p:spPr/>
        <p:txBody>
          <a:bodyPr/>
          <a:lstStyle/>
          <a:p>
            <a:fld id="{16A89BA3-132D-40E1-AAB4-CDCD0A14C216}" type="slidenum">
              <a:rPr lang="en-AU" smtClean="0"/>
              <a:pPr/>
              <a:t>76</a:t>
            </a:fld>
            <a:r>
              <a:rPr lang="en-AU"/>
              <a:t>  |</a:t>
            </a:r>
            <a:endParaRPr lang="en-AU" dirty="0"/>
          </a:p>
        </p:txBody>
      </p:sp>
      <p:sp>
        <p:nvSpPr>
          <p:cNvPr id="9" name="Text Placeholder 3">
            <a:extLst>
              <a:ext uri="{FF2B5EF4-FFF2-40B4-BE49-F238E27FC236}">
                <a16:creationId xmlns:a16="http://schemas.microsoft.com/office/drawing/2014/main" id="{94D6C4B9-DF45-70A3-BDBC-F3A7712983B0}"/>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E63C9EAB-2667-74AB-4BD5-B5BC65F08690}"/>
              </a:ext>
            </a:extLst>
          </p:cNvPr>
          <p:cNvSpPr txBox="1"/>
          <p:nvPr/>
        </p:nvSpPr>
        <p:spPr>
          <a:xfrm>
            <a:off x="0" y="882149"/>
            <a:ext cx="9144000" cy="4072269"/>
          </a:xfrm>
          <a:prstGeom prst="rect">
            <a:avLst/>
          </a:prstGeom>
          <a:noFill/>
        </p:spPr>
        <p:txBody>
          <a:bodyPr wrap="square">
            <a:spAutoFit/>
          </a:bodyPr>
          <a:lstStyle/>
          <a:p>
            <a:pPr>
              <a:lnSpc>
                <a:spcPct val="150000"/>
              </a:lnSpc>
            </a:pPr>
            <a:r>
              <a:rPr lang="en-US" sz="2500" dirty="0">
                <a:latin typeface="Calibri" panose="020F0502020204030204" pitchFamily="34" charset="0"/>
                <a:cs typeface="Calibri" panose="020F0502020204030204" pitchFamily="34" charset="0"/>
              </a:rPr>
              <a:t>To allow sorting/listing by those items, split fields into smaller parts:</a:t>
            </a:r>
          </a:p>
          <a:p>
            <a:pPr marL="342900"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Split PROJECT_MANAGER into:</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FIRST_NAME</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LAST_NAME</a:t>
            </a:r>
          </a:p>
          <a:p>
            <a:pPr marL="342900"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Split MANAGER_PHONE into:</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AREA_CODE</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PHONE_NUMBER</a:t>
            </a:r>
          </a:p>
        </p:txBody>
      </p:sp>
      <p:pic>
        <p:nvPicPr>
          <p:cNvPr id="2" name="Picture 1">
            <a:extLst>
              <a:ext uri="{FF2B5EF4-FFF2-40B4-BE49-F238E27FC236}">
                <a16:creationId xmlns:a16="http://schemas.microsoft.com/office/drawing/2014/main" id="{9DB0D0A6-590C-F0F6-8B98-2742728BBC5D}"/>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427558779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5B49CD3-0797-C8F0-8A51-729C2932FDA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D9120D1-48E5-02E2-9C42-B21BF36A574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D21308B-34D0-F37B-39ED-469595467372}"/>
              </a:ext>
            </a:extLst>
          </p:cNvPr>
          <p:cNvSpPr>
            <a:spLocks noGrp="1"/>
          </p:cNvSpPr>
          <p:nvPr>
            <p:ph type="sldNum" sz="quarter" idx="4"/>
          </p:nvPr>
        </p:nvSpPr>
        <p:spPr/>
        <p:txBody>
          <a:bodyPr/>
          <a:lstStyle/>
          <a:p>
            <a:fld id="{16A89BA3-132D-40E1-AAB4-CDCD0A14C216}" type="slidenum">
              <a:rPr lang="en-AU" smtClean="0"/>
              <a:pPr/>
              <a:t>77</a:t>
            </a:fld>
            <a:r>
              <a:rPr lang="en-AU"/>
              <a:t>  |</a:t>
            </a:r>
            <a:endParaRPr lang="en-AU" dirty="0"/>
          </a:p>
        </p:txBody>
      </p:sp>
      <p:sp>
        <p:nvSpPr>
          <p:cNvPr id="9" name="Text Placeholder 3">
            <a:extLst>
              <a:ext uri="{FF2B5EF4-FFF2-40B4-BE49-F238E27FC236}">
                <a16:creationId xmlns:a16="http://schemas.microsoft.com/office/drawing/2014/main" id="{A72639D4-6183-212B-BF11-A4516F2F2E7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75DCA86-4919-BC84-4198-96E200F7625A}"/>
              </a:ext>
            </a:extLst>
          </p:cNvPr>
          <p:cNvSpPr txBox="1"/>
          <p:nvPr/>
        </p:nvSpPr>
        <p:spPr>
          <a:xfrm>
            <a:off x="0" y="882149"/>
            <a:ext cx="9144000" cy="349518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Split MANAGER_ADDRESS into:</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STREET</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CITY</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STATE</a:t>
            </a:r>
          </a:p>
          <a:p>
            <a:pPr marL="800100" lvl="1" indent="-342900">
              <a:lnSpc>
                <a:spcPct val="150000"/>
              </a:lnSpc>
              <a:buFont typeface="Arial" panose="020B0604020202020204" pitchFamily="34" charset="0"/>
              <a:buChar char="•"/>
            </a:pPr>
            <a:r>
              <a:rPr lang="en-US" sz="2500" dirty="0">
                <a:latin typeface="Calibri" panose="020F0502020204030204" pitchFamily="34" charset="0"/>
                <a:cs typeface="Calibri" panose="020F0502020204030204" pitchFamily="34" charset="0"/>
              </a:rPr>
              <a:t>ZIP_CODE</a:t>
            </a:r>
          </a:p>
          <a:p>
            <a:pPr>
              <a:lnSpc>
                <a:spcPct val="150000"/>
              </a:lnSpc>
            </a:pPr>
            <a:r>
              <a:rPr lang="en-US" sz="2500" dirty="0">
                <a:latin typeface="Calibri" panose="020F0502020204030204" pitchFamily="34" charset="0"/>
                <a:cs typeface="Calibri" panose="020F0502020204030204" pitchFamily="34" charset="0"/>
              </a:rPr>
              <a:t>This structure makes sorting and searching much easier.</a:t>
            </a:r>
          </a:p>
        </p:txBody>
      </p:sp>
      <p:pic>
        <p:nvPicPr>
          <p:cNvPr id="2" name="Picture 1">
            <a:extLst>
              <a:ext uri="{FF2B5EF4-FFF2-40B4-BE49-F238E27FC236}">
                <a16:creationId xmlns:a16="http://schemas.microsoft.com/office/drawing/2014/main" id="{75CFC639-ADD9-D7D9-301B-551B41BE2ED2}"/>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205119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524BA48-1343-CE70-EAF6-0A752800199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57F023B-711B-D3AB-D4BB-8A43B20CA6A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95EE430-6CBE-CCD7-AE92-898CC807E388}"/>
              </a:ext>
            </a:extLst>
          </p:cNvPr>
          <p:cNvSpPr>
            <a:spLocks noGrp="1"/>
          </p:cNvSpPr>
          <p:nvPr>
            <p:ph type="sldNum" sz="quarter" idx="4"/>
          </p:nvPr>
        </p:nvSpPr>
        <p:spPr/>
        <p:txBody>
          <a:bodyPr/>
          <a:lstStyle/>
          <a:p>
            <a:fld id="{16A89BA3-132D-40E1-AAB4-CDCD0A14C216}" type="slidenum">
              <a:rPr lang="en-AU" smtClean="0"/>
              <a:pPr/>
              <a:t>78</a:t>
            </a:fld>
            <a:r>
              <a:rPr lang="en-AU"/>
              <a:t>  |</a:t>
            </a:r>
            <a:endParaRPr lang="en-AU" dirty="0"/>
          </a:p>
        </p:txBody>
      </p:sp>
      <p:sp>
        <p:nvSpPr>
          <p:cNvPr id="9" name="Text Placeholder 3">
            <a:extLst>
              <a:ext uri="{FF2B5EF4-FFF2-40B4-BE49-F238E27FC236}">
                <a16:creationId xmlns:a16="http://schemas.microsoft.com/office/drawing/2014/main" id="{2269E821-5CA3-653B-154C-D902547B5972}"/>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F4023AB2-FE4C-2744-E8A5-810D04D12051}"/>
              </a:ext>
            </a:extLst>
          </p:cNvPr>
          <p:cNvSpPr txBox="1"/>
          <p:nvPr/>
        </p:nvSpPr>
        <p:spPr>
          <a:xfrm>
            <a:off x="0" y="550544"/>
            <a:ext cx="9144000" cy="1318181"/>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4. What data redundancies do you detect? How could those redundancies lead to anomalies?</a:t>
            </a:r>
          </a:p>
        </p:txBody>
      </p:sp>
      <p:pic>
        <p:nvPicPr>
          <p:cNvPr id="2" name="Picture 1">
            <a:extLst>
              <a:ext uri="{FF2B5EF4-FFF2-40B4-BE49-F238E27FC236}">
                <a16:creationId xmlns:a16="http://schemas.microsoft.com/office/drawing/2014/main" id="{1E60D9B8-E651-8E02-644C-56DA463CDDAD}"/>
              </a:ext>
            </a:extLst>
          </p:cNvPr>
          <p:cNvPicPr>
            <a:picLocks noChangeAspect="1"/>
          </p:cNvPicPr>
          <p:nvPr/>
        </p:nvPicPr>
        <p:blipFill>
          <a:blip r:embed="rId3"/>
          <a:stretch>
            <a:fillRect/>
          </a:stretch>
        </p:blipFill>
        <p:spPr>
          <a:xfrm>
            <a:off x="0" y="4971394"/>
            <a:ext cx="8819014" cy="1886606"/>
          </a:xfrm>
          <a:prstGeom prst="rect">
            <a:avLst/>
          </a:prstGeom>
        </p:spPr>
      </p:pic>
      <p:sp>
        <p:nvSpPr>
          <p:cNvPr id="7" name="TextBox 6">
            <a:extLst>
              <a:ext uri="{FF2B5EF4-FFF2-40B4-BE49-F238E27FC236}">
                <a16:creationId xmlns:a16="http://schemas.microsoft.com/office/drawing/2014/main" id="{06A73D0B-9A14-21E1-E305-F69AE3514CFA}"/>
              </a:ext>
            </a:extLst>
          </p:cNvPr>
          <p:cNvSpPr txBox="1"/>
          <p:nvPr/>
        </p:nvSpPr>
        <p:spPr>
          <a:xfrm>
            <a:off x="0" y="2002215"/>
            <a:ext cx="8986344" cy="2610843"/>
          </a:xfrm>
          <a:prstGeom prst="rect">
            <a:avLst/>
          </a:prstGeom>
          <a:noFill/>
        </p:spPr>
        <p:txBody>
          <a:bodyPr wrap="square">
            <a:spAutoFit/>
          </a:bodyPr>
          <a:lstStyle/>
          <a:p>
            <a:pPr>
              <a:lnSpc>
                <a:spcPct val="150000"/>
              </a:lnSpc>
              <a:buNone/>
            </a:pPr>
            <a:r>
              <a:rPr lang="en-US" sz="2800" b="1" dirty="0">
                <a:latin typeface="Calibri" panose="020F0502020204030204" pitchFamily="34" charset="0"/>
                <a:cs typeface="Calibri" panose="020F0502020204030204" pitchFamily="34" charset="0"/>
              </a:rPr>
              <a:t>4. Data redundancies and possible anomalies</a:t>
            </a:r>
          </a:p>
          <a:p>
            <a:pPr>
              <a:lnSpc>
                <a:spcPct val="150000"/>
              </a:lnSpc>
              <a:buNone/>
            </a:pPr>
            <a:r>
              <a:rPr lang="en-US" sz="2800" b="1" dirty="0">
                <a:latin typeface="Calibri" panose="020F0502020204030204" pitchFamily="34" charset="0"/>
                <a:cs typeface="Calibri" panose="020F0502020204030204" pitchFamily="34" charset="0"/>
              </a:rPr>
              <a:t>Redundancies found:</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Some managers appear more than once (e.g., Holly B. Parker, George F. </a:t>
            </a:r>
            <a:r>
              <a:rPr lang="en-US" sz="2800" dirty="0" err="1">
                <a:latin typeface="Calibri" panose="020F0502020204030204" pitchFamily="34" charset="0"/>
                <a:cs typeface="Calibri" panose="020F0502020204030204" pitchFamily="34" charset="0"/>
              </a:rPr>
              <a:t>Dorts</a:t>
            </a:r>
            <a:r>
              <a:rPr lang="en-US" sz="28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97436850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371F401-F1B2-12CE-7918-380D83ECDAD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31B3643-0BA1-F9EE-83E4-4948B3C6F2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BB5426C-ADC2-78B2-5A78-193F9332BF40}"/>
              </a:ext>
            </a:extLst>
          </p:cNvPr>
          <p:cNvSpPr>
            <a:spLocks noGrp="1"/>
          </p:cNvSpPr>
          <p:nvPr>
            <p:ph type="sldNum" sz="quarter" idx="4"/>
          </p:nvPr>
        </p:nvSpPr>
        <p:spPr/>
        <p:txBody>
          <a:bodyPr/>
          <a:lstStyle/>
          <a:p>
            <a:fld id="{16A89BA3-132D-40E1-AAB4-CDCD0A14C216}" type="slidenum">
              <a:rPr lang="en-AU" smtClean="0"/>
              <a:pPr/>
              <a:t>79</a:t>
            </a:fld>
            <a:r>
              <a:rPr lang="en-AU"/>
              <a:t>  |</a:t>
            </a:r>
            <a:endParaRPr lang="en-AU" dirty="0"/>
          </a:p>
        </p:txBody>
      </p:sp>
      <p:sp>
        <p:nvSpPr>
          <p:cNvPr id="9" name="Text Placeholder 3">
            <a:extLst>
              <a:ext uri="{FF2B5EF4-FFF2-40B4-BE49-F238E27FC236}">
                <a16:creationId xmlns:a16="http://schemas.microsoft.com/office/drawing/2014/main" id="{00797E2D-3D8F-6DED-1236-28B243F6406C}"/>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7F36B71B-FB4C-AE43-B62C-2C6114DA9691}"/>
              </a:ext>
            </a:extLst>
          </p:cNvPr>
          <p:cNvSpPr txBox="1"/>
          <p:nvPr/>
        </p:nvSpPr>
        <p:spPr>
          <a:xfrm>
            <a:off x="0" y="550544"/>
            <a:ext cx="9144000" cy="1318181"/>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4. What data redundancies do you detect? How could those redundancies lead to anomalies?</a:t>
            </a:r>
          </a:p>
        </p:txBody>
      </p:sp>
      <p:pic>
        <p:nvPicPr>
          <p:cNvPr id="2" name="Picture 1">
            <a:extLst>
              <a:ext uri="{FF2B5EF4-FFF2-40B4-BE49-F238E27FC236}">
                <a16:creationId xmlns:a16="http://schemas.microsoft.com/office/drawing/2014/main" id="{B2B62D95-52D1-9368-1E64-1F5DF5DEB2DA}"/>
              </a:ext>
            </a:extLst>
          </p:cNvPr>
          <p:cNvPicPr>
            <a:picLocks noChangeAspect="1"/>
          </p:cNvPicPr>
          <p:nvPr/>
        </p:nvPicPr>
        <p:blipFill>
          <a:blip r:embed="rId3"/>
          <a:stretch>
            <a:fillRect/>
          </a:stretch>
        </p:blipFill>
        <p:spPr>
          <a:xfrm>
            <a:off x="0" y="4971394"/>
            <a:ext cx="8819014" cy="1886606"/>
          </a:xfrm>
          <a:prstGeom prst="rect">
            <a:avLst/>
          </a:prstGeom>
        </p:spPr>
      </p:pic>
      <p:sp>
        <p:nvSpPr>
          <p:cNvPr id="7" name="TextBox 6">
            <a:extLst>
              <a:ext uri="{FF2B5EF4-FFF2-40B4-BE49-F238E27FC236}">
                <a16:creationId xmlns:a16="http://schemas.microsoft.com/office/drawing/2014/main" id="{F281032C-4296-413C-9349-179EF859E05E}"/>
              </a:ext>
            </a:extLst>
          </p:cNvPr>
          <p:cNvSpPr txBox="1"/>
          <p:nvPr/>
        </p:nvSpPr>
        <p:spPr>
          <a:xfrm>
            <a:off x="0" y="2002215"/>
            <a:ext cx="8986344" cy="1318181"/>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Their phone numbers and addresses are repeated in multiple records.</a:t>
            </a:r>
          </a:p>
        </p:txBody>
      </p:sp>
    </p:spTree>
    <p:extLst>
      <p:ext uri="{BB962C8B-B14F-4D97-AF65-F5344CB8AC3E}">
        <p14:creationId xmlns:p14="http://schemas.microsoft.com/office/powerpoint/2010/main" val="212078307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DD6426F-77B2-A136-ED68-349CC4E3C63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197F1A0-8BB8-B101-5314-823834E4BC4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6BED1CB-EFC5-5910-D9FE-DF947CCA219C}"/>
              </a:ext>
            </a:extLst>
          </p:cNvPr>
          <p:cNvSpPr>
            <a:spLocks noGrp="1"/>
          </p:cNvSpPr>
          <p:nvPr>
            <p:ph type="sldNum" sz="quarter" idx="4"/>
          </p:nvPr>
        </p:nvSpPr>
        <p:spPr/>
        <p:txBody>
          <a:bodyPr/>
          <a:lstStyle/>
          <a:p>
            <a:fld id="{16A89BA3-132D-40E1-AAB4-CDCD0A14C216}" type="slidenum">
              <a:rPr lang="en-AU" smtClean="0"/>
              <a:pPr/>
              <a:t>80</a:t>
            </a:fld>
            <a:r>
              <a:rPr lang="en-AU"/>
              <a:t>  |</a:t>
            </a:r>
            <a:endParaRPr lang="en-AU" dirty="0"/>
          </a:p>
        </p:txBody>
      </p:sp>
      <p:sp>
        <p:nvSpPr>
          <p:cNvPr id="9" name="Text Placeholder 3">
            <a:extLst>
              <a:ext uri="{FF2B5EF4-FFF2-40B4-BE49-F238E27FC236}">
                <a16:creationId xmlns:a16="http://schemas.microsoft.com/office/drawing/2014/main" id="{D065A2D8-4807-8E51-688A-4AD6DE2F7AD9}"/>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F4A10818-04F7-A648-2593-3EF7E1FD7864}"/>
              </a:ext>
            </a:extLst>
          </p:cNvPr>
          <p:cNvSpPr txBox="1"/>
          <p:nvPr/>
        </p:nvSpPr>
        <p:spPr>
          <a:xfrm>
            <a:off x="0" y="550544"/>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Problems caused (anomalies):</a:t>
            </a:r>
          </a:p>
          <a:p>
            <a:pPr marL="45720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Update anomaly: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If a manager changes phone number, you must update it in several records. If you miss one, data becomes inconsistent.</a:t>
            </a:r>
          </a:p>
        </p:txBody>
      </p:sp>
      <p:pic>
        <p:nvPicPr>
          <p:cNvPr id="2" name="Picture 1">
            <a:extLst>
              <a:ext uri="{FF2B5EF4-FFF2-40B4-BE49-F238E27FC236}">
                <a16:creationId xmlns:a16="http://schemas.microsoft.com/office/drawing/2014/main" id="{D3089AAC-856D-AC52-BE3D-5416889B0CA2}"/>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5116268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866EFF5-45ED-1859-CD35-013C8CB395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3A7A9FF-7ED6-554D-631C-1CFD2DE4194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7D8B06D-2467-E2A0-9355-7582E156E5D1}"/>
              </a:ext>
            </a:extLst>
          </p:cNvPr>
          <p:cNvSpPr>
            <a:spLocks noGrp="1"/>
          </p:cNvSpPr>
          <p:nvPr>
            <p:ph type="sldNum" sz="quarter" idx="4"/>
          </p:nvPr>
        </p:nvSpPr>
        <p:spPr/>
        <p:txBody>
          <a:bodyPr/>
          <a:lstStyle/>
          <a:p>
            <a:fld id="{16A89BA3-132D-40E1-AAB4-CDCD0A14C216}" type="slidenum">
              <a:rPr lang="en-AU" smtClean="0"/>
              <a:pPr/>
              <a:t>81</a:t>
            </a:fld>
            <a:r>
              <a:rPr lang="en-AU"/>
              <a:t>  |</a:t>
            </a:r>
            <a:endParaRPr lang="en-AU" dirty="0"/>
          </a:p>
        </p:txBody>
      </p:sp>
      <p:sp>
        <p:nvSpPr>
          <p:cNvPr id="9" name="Text Placeholder 3">
            <a:extLst>
              <a:ext uri="{FF2B5EF4-FFF2-40B4-BE49-F238E27FC236}">
                <a16:creationId xmlns:a16="http://schemas.microsoft.com/office/drawing/2014/main" id="{86F8AC9B-7859-5DA6-3FE1-812DA2987529}"/>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880F8339-7E0B-53B0-1C0B-8A21FDE0D827}"/>
              </a:ext>
            </a:extLst>
          </p:cNvPr>
          <p:cNvSpPr txBox="1"/>
          <p:nvPr/>
        </p:nvSpPr>
        <p:spPr>
          <a:xfrm>
            <a:off x="0" y="550544"/>
            <a:ext cx="9144000"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Insertion anomaly: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You cannot add a new manager unless they are assigned to a project.</a:t>
            </a:r>
          </a:p>
          <a:p>
            <a:pPr marL="457200"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Deletion anomaly: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If you delete the last project of a manager, you lose all information about that manager.</a:t>
            </a:r>
          </a:p>
        </p:txBody>
      </p:sp>
      <p:pic>
        <p:nvPicPr>
          <p:cNvPr id="2" name="Picture 1">
            <a:extLst>
              <a:ext uri="{FF2B5EF4-FFF2-40B4-BE49-F238E27FC236}">
                <a16:creationId xmlns:a16="http://schemas.microsoft.com/office/drawing/2014/main" id="{BCFF479F-3F68-77AE-B807-09E1EC6B04E0}"/>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1334466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5FFBC30-E101-7A82-D978-2C00971F242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FF2018-15EB-9B51-BED3-7F40418E0E7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B7CD73-A522-4292-CA1A-6DDAD007F026}"/>
              </a:ext>
            </a:extLst>
          </p:cNvPr>
          <p:cNvSpPr>
            <a:spLocks noGrp="1"/>
          </p:cNvSpPr>
          <p:nvPr>
            <p:ph type="sldNum" sz="quarter" idx="4"/>
          </p:nvPr>
        </p:nvSpPr>
        <p:spPr/>
        <p:txBody>
          <a:bodyPr/>
          <a:lstStyle/>
          <a:p>
            <a:fld id="{16A89BA3-132D-40E1-AAB4-CDCD0A14C216}" type="slidenum">
              <a:rPr lang="en-AU" smtClean="0"/>
              <a:pPr/>
              <a:t>82</a:t>
            </a:fld>
            <a:r>
              <a:rPr lang="en-AU"/>
              <a:t>  |</a:t>
            </a:r>
            <a:endParaRPr lang="en-AU" dirty="0"/>
          </a:p>
        </p:txBody>
      </p:sp>
      <p:sp>
        <p:nvSpPr>
          <p:cNvPr id="9" name="Text Placeholder 3">
            <a:extLst>
              <a:ext uri="{FF2B5EF4-FFF2-40B4-BE49-F238E27FC236}">
                <a16:creationId xmlns:a16="http://schemas.microsoft.com/office/drawing/2014/main" id="{E7FD04F0-3AF4-A1D7-5FFE-E76486E88979}"/>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04664E81-14CB-BED1-19B4-FFAED325450F}"/>
              </a:ext>
            </a:extLst>
          </p:cNvPr>
          <p:cNvSpPr txBox="1"/>
          <p:nvPr/>
        </p:nvSpPr>
        <p:spPr>
          <a:xfrm>
            <a:off x="0" y="550544"/>
            <a:ext cx="9144000"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5. Serious data redundancy problems</a:t>
            </a:r>
          </a:p>
          <a:p>
            <a:pPr>
              <a:lnSpc>
                <a:spcPct val="150000"/>
              </a:lnSpc>
            </a:pPr>
            <a:r>
              <a:rPr lang="en-US" sz="2800" dirty="0">
                <a:latin typeface="Calibri" panose="020F0502020204030204" pitchFamily="34" charset="0"/>
                <a:cs typeface="Calibri" panose="020F0502020204030204" pitchFamily="34" charset="0"/>
              </a:rPr>
              <a:t>The main problem is that manager information is stored repeatedly for every project.</a:t>
            </a:r>
          </a:p>
          <a:p>
            <a:pPr>
              <a:lnSpc>
                <a:spcPct val="150000"/>
              </a:lnSpc>
            </a:pPr>
            <a:r>
              <a:rPr lang="en-US" sz="2800" dirty="0">
                <a:latin typeface="Calibri" panose="020F0502020204030204" pitchFamily="34" charset="0"/>
                <a:cs typeface="Calibri" panose="020F0502020204030204" pitchFamily="34" charset="0"/>
              </a:rPr>
              <a:t>This means: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Manager data depends on the manager, not on the project.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But it is stored inside the project record.</a:t>
            </a:r>
          </a:p>
        </p:txBody>
      </p:sp>
      <p:pic>
        <p:nvPicPr>
          <p:cNvPr id="2" name="Picture 1">
            <a:extLst>
              <a:ext uri="{FF2B5EF4-FFF2-40B4-BE49-F238E27FC236}">
                <a16:creationId xmlns:a16="http://schemas.microsoft.com/office/drawing/2014/main" id="{186AC483-61CA-8D94-C209-C3D9377F3057}"/>
              </a:ext>
            </a:extLst>
          </p:cNvPr>
          <p:cNvPicPr>
            <a:picLocks noChangeAspect="1"/>
          </p:cNvPicPr>
          <p:nvPr/>
        </p:nvPicPr>
        <p:blipFill>
          <a:blip r:embed="rId3"/>
          <a:stretch>
            <a:fillRect/>
          </a:stretch>
        </p:blipFill>
        <p:spPr>
          <a:xfrm>
            <a:off x="0" y="4971394"/>
            <a:ext cx="8819014" cy="1886606"/>
          </a:xfrm>
          <a:prstGeom prst="rect">
            <a:avLst/>
          </a:prstGeom>
        </p:spPr>
      </p:pic>
    </p:spTree>
    <p:extLst>
      <p:ext uri="{BB962C8B-B14F-4D97-AF65-F5344CB8AC3E}">
        <p14:creationId xmlns:p14="http://schemas.microsoft.com/office/powerpoint/2010/main" val="25884748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812BB85-CA41-5C08-8FBE-8A49BE5C78E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560556F-23FE-D47D-AD8C-9964B6F44B8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D45B7C9-2892-DA21-FB1E-8554BEEB9518}"/>
              </a:ext>
            </a:extLst>
          </p:cNvPr>
          <p:cNvSpPr>
            <a:spLocks noGrp="1"/>
          </p:cNvSpPr>
          <p:nvPr>
            <p:ph type="sldNum" sz="quarter" idx="4"/>
          </p:nvPr>
        </p:nvSpPr>
        <p:spPr/>
        <p:txBody>
          <a:bodyPr/>
          <a:lstStyle/>
          <a:p>
            <a:fld id="{16A89BA3-132D-40E1-AAB4-CDCD0A14C216}" type="slidenum">
              <a:rPr lang="en-AU" smtClean="0"/>
              <a:pPr/>
              <a:t>83</a:t>
            </a:fld>
            <a:r>
              <a:rPr lang="en-AU"/>
              <a:t>  |</a:t>
            </a:r>
            <a:endParaRPr lang="en-AU" dirty="0"/>
          </a:p>
        </p:txBody>
      </p:sp>
      <p:sp>
        <p:nvSpPr>
          <p:cNvPr id="9" name="Text Placeholder 3">
            <a:extLst>
              <a:ext uri="{FF2B5EF4-FFF2-40B4-BE49-F238E27FC236}">
                <a16:creationId xmlns:a16="http://schemas.microsoft.com/office/drawing/2014/main" id="{EEE88682-3573-8825-7B52-E5A4DE973BDD}"/>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181DDAA1-DCEC-05FC-2C22-62A293D830F5}"/>
              </a:ext>
            </a:extLst>
          </p:cNvPr>
          <p:cNvSpPr txBox="1"/>
          <p:nvPr/>
        </p:nvSpPr>
        <p:spPr>
          <a:xfrm>
            <a:off x="0" y="550544"/>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This creates: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Repeated storage of the same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High risk of inconsistent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Wasted storage space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anomalies (update, insert, delete problems)</a:t>
            </a:r>
          </a:p>
        </p:txBody>
      </p:sp>
      <p:pic>
        <p:nvPicPr>
          <p:cNvPr id="2" name="Picture 1">
            <a:extLst>
              <a:ext uri="{FF2B5EF4-FFF2-40B4-BE49-F238E27FC236}">
                <a16:creationId xmlns:a16="http://schemas.microsoft.com/office/drawing/2014/main" id="{11F1D2D6-7D9A-DF74-A32A-E9FAE6C25B7A}"/>
              </a:ext>
            </a:extLst>
          </p:cNvPr>
          <p:cNvPicPr>
            <a:picLocks noChangeAspect="1"/>
          </p:cNvPicPr>
          <p:nvPr/>
        </p:nvPicPr>
        <p:blipFill>
          <a:blip r:embed="rId3"/>
          <a:stretch>
            <a:fillRect/>
          </a:stretch>
        </p:blipFill>
        <p:spPr>
          <a:xfrm>
            <a:off x="0" y="3972911"/>
            <a:ext cx="8819014" cy="1886606"/>
          </a:xfrm>
          <a:prstGeom prst="rect">
            <a:avLst/>
          </a:prstGeom>
        </p:spPr>
      </p:pic>
    </p:spTree>
    <p:extLst>
      <p:ext uri="{BB962C8B-B14F-4D97-AF65-F5344CB8AC3E}">
        <p14:creationId xmlns:p14="http://schemas.microsoft.com/office/powerpoint/2010/main" val="21930324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2DE8971-C01F-F56F-65FE-A582F8B2C81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1CCED90-F16D-735D-A4E8-D105C94B228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F059318-78A7-096D-2F23-F7ADEC923E21}"/>
              </a:ext>
            </a:extLst>
          </p:cNvPr>
          <p:cNvSpPr>
            <a:spLocks noGrp="1"/>
          </p:cNvSpPr>
          <p:nvPr>
            <p:ph type="sldNum" sz="quarter" idx="4"/>
          </p:nvPr>
        </p:nvSpPr>
        <p:spPr/>
        <p:txBody>
          <a:bodyPr/>
          <a:lstStyle/>
          <a:p>
            <a:fld id="{16A89BA3-132D-40E1-AAB4-CDCD0A14C216}" type="slidenum">
              <a:rPr lang="en-AU" smtClean="0"/>
              <a:pPr/>
              <a:t>84</a:t>
            </a:fld>
            <a:r>
              <a:rPr lang="en-AU"/>
              <a:t>  |</a:t>
            </a:r>
            <a:endParaRPr lang="en-AU" dirty="0"/>
          </a:p>
        </p:txBody>
      </p:sp>
      <p:sp>
        <p:nvSpPr>
          <p:cNvPr id="9" name="Text Placeholder 3">
            <a:extLst>
              <a:ext uri="{FF2B5EF4-FFF2-40B4-BE49-F238E27FC236}">
                <a16:creationId xmlns:a16="http://schemas.microsoft.com/office/drawing/2014/main" id="{1DF8445E-855D-C436-9FA2-9AC587CA2B1F}"/>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D8DA2B7D-A8E6-D6E4-273B-ED39574C21DC}"/>
              </a:ext>
            </a:extLst>
          </p:cNvPr>
          <p:cNvSpPr txBox="1"/>
          <p:nvPr/>
        </p:nvSpPr>
        <p:spPr>
          <a:xfrm>
            <a:off x="0" y="550544"/>
            <a:ext cx="9144000" cy="390350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Better structure: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Create two separate tables:</a:t>
            </a:r>
          </a:p>
          <a:p>
            <a:pPr marL="51435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PROJECT table</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PROJECT_CODE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PROJECT_BID_PRICE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MANAGER_ID</a:t>
            </a:r>
          </a:p>
        </p:txBody>
      </p:sp>
      <p:pic>
        <p:nvPicPr>
          <p:cNvPr id="2" name="Picture 1">
            <a:extLst>
              <a:ext uri="{FF2B5EF4-FFF2-40B4-BE49-F238E27FC236}">
                <a16:creationId xmlns:a16="http://schemas.microsoft.com/office/drawing/2014/main" id="{B28F437D-9259-69F9-9E97-8E74B966D6B1}"/>
              </a:ext>
            </a:extLst>
          </p:cNvPr>
          <p:cNvPicPr>
            <a:picLocks noChangeAspect="1"/>
          </p:cNvPicPr>
          <p:nvPr/>
        </p:nvPicPr>
        <p:blipFill>
          <a:blip r:embed="rId3"/>
          <a:stretch>
            <a:fillRect/>
          </a:stretch>
        </p:blipFill>
        <p:spPr>
          <a:xfrm>
            <a:off x="0" y="4454048"/>
            <a:ext cx="8819014" cy="1886606"/>
          </a:xfrm>
          <a:prstGeom prst="rect">
            <a:avLst/>
          </a:prstGeom>
        </p:spPr>
      </p:pic>
    </p:spTree>
    <p:extLst>
      <p:ext uri="{BB962C8B-B14F-4D97-AF65-F5344CB8AC3E}">
        <p14:creationId xmlns:p14="http://schemas.microsoft.com/office/powerpoint/2010/main" val="29427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E5175BF-424C-E1EA-B79A-AED9AC4127A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6F67D5C-A68E-A624-81E5-03150A78CAF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B47682A-207F-9AD7-C735-19774C6C8FEA}"/>
              </a:ext>
            </a:extLst>
          </p:cNvPr>
          <p:cNvSpPr>
            <a:spLocks noGrp="1"/>
          </p:cNvSpPr>
          <p:nvPr>
            <p:ph type="sldNum" sz="quarter" idx="4"/>
          </p:nvPr>
        </p:nvSpPr>
        <p:spPr/>
        <p:txBody>
          <a:bodyPr/>
          <a:lstStyle/>
          <a:p>
            <a:fld id="{16A89BA3-132D-40E1-AAB4-CDCD0A14C216}" type="slidenum">
              <a:rPr lang="en-AU" smtClean="0"/>
              <a:pPr/>
              <a:t>85</a:t>
            </a:fld>
            <a:r>
              <a:rPr lang="en-AU"/>
              <a:t>  |</a:t>
            </a:r>
            <a:endParaRPr lang="en-AU" dirty="0"/>
          </a:p>
        </p:txBody>
      </p:sp>
      <p:sp>
        <p:nvSpPr>
          <p:cNvPr id="9" name="Text Placeholder 3">
            <a:extLst>
              <a:ext uri="{FF2B5EF4-FFF2-40B4-BE49-F238E27FC236}">
                <a16:creationId xmlns:a16="http://schemas.microsoft.com/office/drawing/2014/main" id="{A733715A-E0F7-11D7-C77B-CF367C5CF3A7}"/>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04EB6815-2109-6161-CCBA-E0AC7990A0B6}"/>
              </a:ext>
            </a:extLst>
          </p:cNvPr>
          <p:cNvSpPr txBox="1"/>
          <p:nvPr/>
        </p:nvSpPr>
        <p:spPr>
          <a:xfrm>
            <a:off x="0" y="550544"/>
            <a:ext cx="9144000" cy="4619854"/>
          </a:xfrm>
          <a:prstGeom prst="rect">
            <a:avLst/>
          </a:prstGeom>
          <a:noFill/>
        </p:spPr>
        <p:txBody>
          <a:bodyPr wrap="square">
            <a:spAutoFit/>
          </a:bodyPr>
          <a:lstStyle/>
          <a:p>
            <a:pPr>
              <a:lnSpc>
                <a:spcPct val="150000"/>
              </a:lnSpc>
            </a:pPr>
            <a:r>
              <a:rPr lang="en-US" b="1" dirty="0">
                <a:latin typeface="Calibri" panose="020F0502020204030204" pitchFamily="34" charset="0"/>
                <a:cs typeface="Calibri" panose="020F0502020204030204" pitchFamily="34" charset="0"/>
              </a:rPr>
              <a:t>2. MANAGER table</a:t>
            </a:r>
            <a:endParaRPr lang="en-US" dirty="0">
              <a:latin typeface="Calibri" panose="020F0502020204030204" pitchFamily="34" charset="0"/>
              <a:cs typeface="Calibri" panose="020F0502020204030204" pitchFamily="34" charset="0"/>
            </a:endParaRP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MANAGER_ID</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FIRST_NAME</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LAST_NAME</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AREA_CODE</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PHONE_NUMBER</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STREET</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CITY</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STATE</a:t>
            </a:r>
          </a:p>
          <a:p>
            <a:pPr marL="742950" lvl="1" indent="-285750">
              <a:lnSpc>
                <a:spcPct val="150000"/>
              </a:lnSpc>
              <a:buFont typeface="Arial" panose="020B0604020202020204" pitchFamily="34" charset="0"/>
              <a:buChar char="•"/>
            </a:pPr>
            <a:r>
              <a:rPr lang="en-US" dirty="0">
                <a:latin typeface="Calibri" panose="020F0502020204030204" pitchFamily="34" charset="0"/>
                <a:cs typeface="Calibri" panose="020F0502020204030204" pitchFamily="34" charset="0"/>
              </a:rPr>
              <a:t>ZIP_CODE</a:t>
            </a:r>
          </a:p>
          <a:p>
            <a:pPr>
              <a:lnSpc>
                <a:spcPct val="150000"/>
              </a:lnSpc>
            </a:pPr>
            <a:r>
              <a:rPr lang="en-US" dirty="0">
                <a:latin typeface="Calibri" panose="020F0502020204030204" pitchFamily="34" charset="0"/>
                <a:cs typeface="Calibri" panose="020F0502020204030204" pitchFamily="34" charset="0"/>
              </a:rPr>
              <a:t>This removes redundancy and improves data integrity.</a:t>
            </a:r>
          </a:p>
        </p:txBody>
      </p:sp>
      <p:pic>
        <p:nvPicPr>
          <p:cNvPr id="2" name="Picture 1">
            <a:extLst>
              <a:ext uri="{FF2B5EF4-FFF2-40B4-BE49-F238E27FC236}">
                <a16:creationId xmlns:a16="http://schemas.microsoft.com/office/drawing/2014/main" id="{A3FF081E-39EC-17FC-F5B4-3368777FEE9B}"/>
              </a:ext>
            </a:extLst>
          </p:cNvPr>
          <p:cNvPicPr>
            <a:picLocks noChangeAspect="1"/>
          </p:cNvPicPr>
          <p:nvPr/>
        </p:nvPicPr>
        <p:blipFill>
          <a:blip r:embed="rId3"/>
          <a:stretch>
            <a:fillRect/>
          </a:stretch>
        </p:blipFill>
        <p:spPr>
          <a:xfrm>
            <a:off x="0" y="5097484"/>
            <a:ext cx="8229600" cy="1760516"/>
          </a:xfrm>
          <a:prstGeom prst="rect">
            <a:avLst/>
          </a:prstGeom>
        </p:spPr>
      </p:pic>
    </p:spTree>
    <p:extLst>
      <p:ext uri="{BB962C8B-B14F-4D97-AF65-F5344CB8AC3E}">
        <p14:creationId xmlns:p14="http://schemas.microsoft.com/office/powerpoint/2010/main" val="277166141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DF3ED2F-8821-8E57-8908-75B5430E0A6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F3AF5AC-D8CE-951E-B7D5-7B641CB7393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0B4D606-9F22-D2CF-2AA2-B7990BAA15A0}"/>
              </a:ext>
            </a:extLst>
          </p:cNvPr>
          <p:cNvSpPr>
            <a:spLocks noGrp="1"/>
          </p:cNvSpPr>
          <p:nvPr>
            <p:ph type="sldNum" sz="quarter" idx="4"/>
          </p:nvPr>
        </p:nvSpPr>
        <p:spPr/>
        <p:txBody>
          <a:bodyPr/>
          <a:lstStyle/>
          <a:p>
            <a:fld id="{16A89BA3-132D-40E1-AAB4-CDCD0A14C216}" type="slidenum">
              <a:rPr lang="en-AU" smtClean="0"/>
              <a:pPr/>
              <a:t>86</a:t>
            </a:fld>
            <a:r>
              <a:rPr lang="en-AU"/>
              <a:t>  |</a:t>
            </a:r>
            <a:endParaRPr lang="en-AU" dirty="0"/>
          </a:p>
        </p:txBody>
      </p:sp>
      <p:sp>
        <p:nvSpPr>
          <p:cNvPr id="9" name="Text Placeholder 3">
            <a:extLst>
              <a:ext uri="{FF2B5EF4-FFF2-40B4-BE49-F238E27FC236}">
                <a16:creationId xmlns:a16="http://schemas.microsoft.com/office/drawing/2014/main" id="{AB9DF19C-07F1-94E2-6A33-99BB5835D814}"/>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4329CBE0-093B-F58A-4A42-A86D96BB191C}"/>
              </a:ext>
            </a:extLst>
          </p:cNvPr>
          <p:cNvGraphicFramePr>
            <a:graphicFrameLocks noGrp="1"/>
          </p:cNvGraphicFramePr>
          <p:nvPr>
            <p:extLst>
              <p:ext uri="{D42A27DB-BD31-4B8C-83A1-F6EECF244321}">
                <p14:modId xmlns:p14="http://schemas.microsoft.com/office/powerpoint/2010/main" val="4136666315"/>
              </p:ext>
            </p:extLst>
          </p:nvPr>
        </p:nvGraphicFramePr>
        <p:xfrm>
          <a:off x="0" y="1165603"/>
          <a:ext cx="9084623" cy="4597530"/>
        </p:xfrm>
        <a:graphic>
          <a:graphicData uri="http://schemas.openxmlformats.org/drawingml/2006/table">
            <a:tbl>
              <a:tblPr>
                <a:tableStyleId>{ED083AE6-46FA-4A59-8FB0-9F97EB10719F}</a:tableStyleId>
              </a:tblPr>
              <a:tblGrid>
                <a:gridCol w="4275117">
                  <a:extLst>
                    <a:ext uri="{9D8B030D-6E8A-4147-A177-3AD203B41FA5}">
                      <a16:colId xmlns:a16="http://schemas.microsoft.com/office/drawing/2014/main" val="134740051"/>
                    </a:ext>
                  </a:extLst>
                </a:gridCol>
                <a:gridCol w="4809506">
                  <a:extLst>
                    <a:ext uri="{9D8B030D-6E8A-4147-A177-3AD203B41FA5}">
                      <a16:colId xmlns:a16="http://schemas.microsoft.com/office/drawing/2014/main" val="1943944466"/>
                    </a:ext>
                  </a:extLst>
                </a:gridCol>
              </a:tblGrid>
              <a:tr h="0">
                <a:tc>
                  <a:txBody>
                    <a:bodyPr/>
                    <a:lstStyle/>
                    <a:p>
                      <a:pPr>
                        <a:lnSpc>
                          <a:spcPct val="150000"/>
                        </a:lnSpc>
                      </a:pPr>
                      <a:r>
                        <a:rPr lang="en-US" sz="2400" dirty="0">
                          <a:latin typeface="Calibri" panose="020F0502020204030204" pitchFamily="34" charset="0"/>
                          <a:cs typeface="Calibri" panose="020F0502020204030204" pitchFamily="34" charset="0"/>
                        </a:rPr>
                        <a:t>Don’t do this</a:t>
                      </a:r>
                    </a:p>
                  </a:txBody>
                  <a:tcPr anchor="ctr">
                    <a:solidFill>
                      <a:schemeClr val="bg1"/>
                    </a:solidFill>
                  </a:tcPr>
                </a:tc>
                <a:tc>
                  <a:txBody>
                    <a:bodyPr/>
                    <a:lstStyle/>
                    <a:p>
                      <a:pPr>
                        <a:lnSpc>
                          <a:spcPct val="150000"/>
                        </a:lnSpc>
                      </a:pPr>
                      <a:r>
                        <a:rPr lang="en-US" sz="2400" dirty="0">
                          <a:latin typeface="Calibri" panose="020F0502020204030204" pitchFamily="34" charset="0"/>
                          <a:cs typeface="Calibri" panose="020F0502020204030204" pitchFamily="34" charset="0"/>
                        </a:rPr>
                        <a:t>Instead, do this</a:t>
                      </a:r>
                    </a:p>
                  </a:txBody>
                  <a:tcPr anchor="ctr">
                    <a:solidFill>
                      <a:schemeClr val="bg1"/>
                    </a:solidFill>
                  </a:tcPr>
                </a:tc>
                <a:extLst>
                  <a:ext uri="{0D108BD9-81ED-4DB2-BD59-A6C34878D82A}">
                    <a16:rowId xmlns:a16="http://schemas.microsoft.com/office/drawing/2014/main" val="1915539121"/>
                  </a:ext>
                </a:extLst>
              </a:tr>
              <a:tr h="0">
                <a:tc>
                  <a:txBody>
                    <a:bodyPr/>
                    <a:lstStyle/>
                    <a:p>
                      <a:pPr>
                        <a:lnSpc>
                          <a:spcPct val="150000"/>
                        </a:lnSpc>
                      </a:pPr>
                      <a:r>
                        <a:rPr lang="en-US" sz="2400">
                          <a:latin typeface="Calibri" panose="020F0502020204030204" pitchFamily="34" charset="0"/>
                          <a:cs typeface="Calibri" panose="020F0502020204030204" pitchFamily="34" charset="0"/>
                        </a:rPr>
                        <a:t>Don’t submit screenshots as answers</a:t>
                      </a:r>
                    </a:p>
                  </a:txBody>
                  <a:tcPr anchor="ctr">
                    <a:solidFill>
                      <a:schemeClr val="bg1"/>
                    </a:solidFill>
                  </a:tcPr>
                </a:tc>
                <a:tc>
                  <a:txBody>
                    <a:bodyPr/>
                    <a:lstStyle/>
                    <a:p>
                      <a:pPr>
                        <a:lnSpc>
                          <a:spcPct val="150000"/>
                        </a:lnSpc>
                      </a:pPr>
                      <a:r>
                        <a:rPr lang="en-US" sz="2400" dirty="0">
                          <a:latin typeface="Calibri" panose="020F0502020204030204" pitchFamily="34" charset="0"/>
                          <a:cs typeface="Calibri" panose="020F0502020204030204" pitchFamily="34" charset="0"/>
                        </a:rPr>
                        <a:t>Write clear text answers in Word</a:t>
                      </a:r>
                    </a:p>
                  </a:txBody>
                  <a:tcPr anchor="ctr">
                    <a:solidFill>
                      <a:schemeClr val="bg1"/>
                    </a:solidFill>
                  </a:tcPr>
                </a:tc>
                <a:extLst>
                  <a:ext uri="{0D108BD9-81ED-4DB2-BD59-A6C34878D82A}">
                    <a16:rowId xmlns:a16="http://schemas.microsoft.com/office/drawing/2014/main" val="221172207"/>
                  </a:ext>
                </a:extLst>
              </a:tr>
              <a:tr h="0">
                <a:tc>
                  <a:txBody>
                    <a:bodyPr/>
                    <a:lstStyle/>
                    <a:p>
                      <a:pPr>
                        <a:lnSpc>
                          <a:spcPct val="150000"/>
                        </a:lnSpc>
                      </a:pPr>
                      <a:r>
                        <a:rPr lang="en-US" sz="2400">
                          <a:latin typeface="Calibri" panose="020F0502020204030204" pitchFamily="34" charset="0"/>
                          <a:cs typeface="Calibri" panose="020F0502020204030204" pitchFamily="34" charset="0"/>
                        </a:rPr>
                        <a:t>Don’t leave questions blank</a:t>
                      </a:r>
                    </a:p>
                  </a:txBody>
                  <a:tcPr anchor="ctr">
                    <a:solidFill>
                      <a:schemeClr val="bg1"/>
                    </a:solidFill>
                  </a:tcPr>
                </a:tc>
                <a:tc>
                  <a:txBody>
                    <a:bodyPr/>
                    <a:lstStyle/>
                    <a:p>
                      <a:pPr>
                        <a:lnSpc>
                          <a:spcPct val="150000"/>
                        </a:lnSpc>
                      </a:pPr>
                      <a:r>
                        <a:rPr lang="en-US" sz="2400" dirty="0">
                          <a:latin typeface="Calibri" panose="020F0502020204030204" pitchFamily="34" charset="0"/>
                          <a:cs typeface="Calibri" panose="020F0502020204030204" pitchFamily="34" charset="0"/>
                        </a:rPr>
                        <a:t>Attempt all required questions</a:t>
                      </a:r>
                    </a:p>
                  </a:txBody>
                  <a:tcPr anchor="ctr">
                    <a:solidFill>
                      <a:schemeClr val="bg1"/>
                    </a:solidFill>
                  </a:tcPr>
                </a:tc>
                <a:extLst>
                  <a:ext uri="{0D108BD9-81ED-4DB2-BD59-A6C34878D82A}">
                    <a16:rowId xmlns:a16="http://schemas.microsoft.com/office/drawing/2014/main" val="1455387623"/>
                  </a:ext>
                </a:extLst>
              </a:tr>
              <a:tr h="0">
                <a:tc>
                  <a:txBody>
                    <a:bodyPr/>
                    <a:lstStyle/>
                    <a:p>
                      <a:pPr>
                        <a:lnSpc>
                          <a:spcPct val="150000"/>
                        </a:lnSpc>
                      </a:pPr>
                      <a:r>
                        <a:rPr lang="en-US" sz="2400">
                          <a:latin typeface="Calibri" panose="020F0502020204030204" pitchFamily="34" charset="0"/>
                          <a:cs typeface="Calibri" panose="020F0502020204030204" pitchFamily="34" charset="0"/>
                        </a:rPr>
                        <a:t>Don’t copy exact wording without thinking</a:t>
                      </a:r>
                    </a:p>
                  </a:txBody>
                  <a:tcPr anchor="ctr">
                    <a:solidFill>
                      <a:schemeClr val="bg1"/>
                    </a:solidFill>
                  </a:tcPr>
                </a:tc>
                <a:tc>
                  <a:txBody>
                    <a:bodyPr/>
                    <a:lstStyle/>
                    <a:p>
                      <a:pPr>
                        <a:lnSpc>
                          <a:spcPct val="150000"/>
                        </a:lnSpc>
                      </a:pPr>
                      <a:r>
                        <a:rPr lang="en-US" sz="2400">
                          <a:latin typeface="Calibri" panose="020F0502020204030204" pitchFamily="34" charset="0"/>
                          <a:cs typeface="Calibri" panose="020F0502020204030204" pitchFamily="34" charset="0"/>
                        </a:rPr>
                        <a:t>Use your own understanding</a:t>
                      </a:r>
                    </a:p>
                  </a:txBody>
                  <a:tcPr anchor="ctr">
                    <a:solidFill>
                      <a:schemeClr val="bg1"/>
                    </a:solidFill>
                  </a:tcPr>
                </a:tc>
                <a:extLst>
                  <a:ext uri="{0D108BD9-81ED-4DB2-BD59-A6C34878D82A}">
                    <a16:rowId xmlns:a16="http://schemas.microsoft.com/office/drawing/2014/main" val="832983663"/>
                  </a:ext>
                </a:extLst>
              </a:tr>
              <a:tr h="0">
                <a:tc>
                  <a:txBody>
                    <a:bodyPr/>
                    <a:lstStyle/>
                    <a:p>
                      <a:pPr>
                        <a:lnSpc>
                          <a:spcPct val="150000"/>
                        </a:lnSpc>
                      </a:pPr>
                      <a:r>
                        <a:rPr lang="en-US" sz="2400" dirty="0">
                          <a:latin typeface="Calibri" panose="020F0502020204030204" pitchFamily="34" charset="0"/>
                          <a:cs typeface="Calibri" panose="020F0502020204030204" pitchFamily="34" charset="0"/>
                        </a:rPr>
                        <a:t>Don’t </a:t>
                      </a:r>
                      <a:r>
                        <a:rPr lang="en-US" sz="2400">
                          <a:latin typeface="Calibri" panose="020F0502020204030204" pitchFamily="34" charset="0"/>
                          <a:cs typeface="Calibri" panose="020F0502020204030204" pitchFamily="34" charset="0"/>
                        </a:rPr>
                        <a:t>upload after due date</a:t>
                      </a:r>
                      <a:endParaRPr lang="en-US" sz="2400" dirty="0">
                        <a:latin typeface="Calibri" panose="020F0502020204030204" pitchFamily="34" charset="0"/>
                        <a:cs typeface="Calibri" panose="020F0502020204030204" pitchFamily="34" charset="0"/>
                      </a:endParaRPr>
                    </a:p>
                  </a:txBody>
                  <a:tcPr anchor="ctr">
                    <a:solidFill>
                      <a:schemeClr val="bg1"/>
                    </a:solidFill>
                  </a:tcPr>
                </a:tc>
                <a:tc>
                  <a:txBody>
                    <a:bodyPr/>
                    <a:lstStyle/>
                    <a:p>
                      <a:pPr>
                        <a:lnSpc>
                          <a:spcPct val="150000"/>
                        </a:lnSpc>
                      </a:pPr>
                      <a:r>
                        <a:rPr lang="en-US" sz="2400">
                          <a:latin typeface="Calibri" panose="020F0502020204030204" pitchFamily="34" charset="0"/>
                          <a:cs typeface="Calibri" panose="020F0502020204030204" pitchFamily="34" charset="0"/>
                        </a:rPr>
                        <a:t>Submit early to avoid technical issues</a:t>
                      </a:r>
                    </a:p>
                  </a:txBody>
                  <a:tcPr anchor="ctr">
                    <a:solidFill>
                      <a:schemeClr val="bg1"/>
                    </a:solidFill>
                  </a:tcPr>
                </a:tc>
                <a:extLst>
                  <a:ext uri="{0D108BD9-81ED-4DB2-BD59-A6C34878D82A}">
                    <a16:rowId xmlns:a16="http://schemas.microsoft.com/office/drawing/2014/main" val="4158756761"/>
                  </a:ext>
                </a:extLst>
              </a:tr>
              <a:tr h="0">
                <a:tc>
                  <a:txBody>
                    <a:bodyPr/>
                    <a:lstStyle/>
                    <a:p>
                      <a:pPr>
                        <a:lnSpc>
                          <a:spcPct val="150000"/>
                        </a:lnSpc>
                      </a:pPr>
                      <a:r>
                        <a:rPr lang="en-US" sz="2400">
                          <a:latin typeface="Calibri" panose="020F0502020204030204" pitchFamily="34" charset="0"/>
                          <a:cs typeface="Calibri" panose="020F0502020204030204" pitchFamily="34" charset="0"/>
                        </a:rPr>
                        <a:t>Don’t email the file</a:t>
                      </a:r>
                    </a:p>
                  </a:txBody>
                  <a:tcPr anchor="ctr">
                    <a:solidFill>
                      <a:schemeClr val="bg1"/>
                    </a:solidFill>
                  </a:tcPr>
                </a:tc>
                <a:tc>
                  <a:txBody>
                    <a:bodyPr/>
                    <a:lstStyle/>
                    <a:p>
                      <a:pPr>
                        <a:lnSpc>
                          <a:spcPct val="150000"/>
                        </a:lnSpc>
                      </a:pPr>
                      <a:r>
                        <a:rPr lang="en-US" sz="2400" dirty="0">
                          <a:latin typeface="Calibri" panose="020F0502020204030204" pitchFamily="34" charset="0"/>
                          <a:cs typeface="Calibri" panose="020F0502020204030204" pitchFamily="34" charset="0"/>
                        </a:rPr>
                        <a:t>Submit </a:t>
                      </a:r>
                      <a:r>
                        <a:rPr lang="en-US" sz="2400" b="0" dirty="0">
                          <a:latin typeface="Calibri" panose="020F0502020204030204" pitchFamily="34" charset="0"/>
                          <a:cs typeface="Calibri" panose="020F0502020204030204" pitchFamily="34" charset="0"/>
                        </a:rPr>
                        <a:t>only via Canvas</a:t>
                      </a:r>
                    </a:p>
                  </a:txBody>
                  <a:tcPr anchor="ctr">
                    <a:solidFill>
                      <a:schemeClr val="bg1"/>
                    </a:solidFill>
                  </a:tcPr>
                </a:tc>
                <a:extLst>
                  <a:ext uri="{0D108BD9-81ED-4DB2-BD59-A6C34878D82A}">
                    <a16:rowId xmlns:a16="http://schemas.microsoft.com/office/drawing/2014/main" val="2851136440"/>
                  </a:ext>
                </a:extLst>
              </a:tr>
            </a:tbl>
          </a:graphicData>
        </a:graphic>
      </p:graphicFrame>
      <p:sp>
        <p:nvSpPr>
          <p:cNvPr id="5" name="Rectangle 1">
            <a:extLst>
              <a:ext uri="{FF2B5EF4-FFF2-40B4-BE49-F238E27FC236}">
                <a16:creationId xmlns:a16="http://schemas.microsoft.com/office/drawing/2014/main" id="{F200D648-BC2F-2520-C43A-B900F41D6B8C}"/>
              </a:ext>
            </a:extLst>
          </p:cNvPr>
          <p:cNvSpPr>
            <a:spLocks noChangeArrowheads="1"/>
          </p:cNvSpPr>
          <p:nvPr/>
        </p:nvSpPr>
        <p:spPr bwMode="auto">
          <a:xfrm>
            <a:off x="0" y="626324"/>
            <a:ext cx="25473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What to AVOID:</a:t>
            </a:r>
          </a:p>
        </p:txBody>
      </p:sp>
    </p:spTree>
    <p:extLst>
      <p:ext uri="{BB962C8B-B14F-4D97-AF65-F5344CB8AC3E}">
        <p14:creationId xmlns:p14="http://schemas.microsoft.com/office/powerpoint/2010/main" val="1563721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87AAA-CDD7-14D9-F3F2-7750965A9F05}"/>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5669F4BD-7260-8C96-81B2-B35F9DA1CF5A}"/>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dirty="0"/>
              <a:pPr marL="28575" defTabSz="685800">
                <a:spcBef>
                  <a:spcPts val="4"/>
                </a:spcBef>
              </a:pPr>
              <a:t>87</a:t>
            </a:fld>
            <a:r>
              <a:rPr spc="176" dirty="0"/>
              <a:t> </a:t>
            </a:r>
            <a:r>
              <a:rPr dirty="0"/>
              <a:t>|</a:t>
            </a:r>
            <a:r>
              <a:rPr spc="300" dirty="0"/>
              <a:t> </a:t>
            </a:r>
            <a:r>
              <a:rPr dirty="0"/>
              <a:t>Faculty</a:t>
            </a:r>
            <a:r>
              <a:rPr spc="-11" dirty="0"/>
              <a:t> </a:t>
            </a:r>
            <a:r>
              <a:rPr dirty="0"/>
              <a:t>of</a:t>
            </a:r>
            <a:r>
              <a:rPr spc="-15" dirty="0"/>
              <a:t> </a:t>
            </a:r>
            <a:r>
              <a:rPr dirty="0"/>
              <a:t>Business</a:t>
            </a:r>
            <a:r>
              <a:rPr spc="-15" dirty="0"/>
              <a:t> </a:t>
            </a:r>
            <a:r>
              <a:rPr dirty="0"/>
              <a:t>and</a:t>
            </a:r>
            <a:r>
              <a:rPr spc="-15" dirty="0"/>
              <a:t> </a:t>
            </a:r>
            <a:r>
              <a:rPr dirty="0"/>
              <a:t>Law</a:t>
            </a:r>
            <a:r>
              <a:rPr spc="-11" dirty="0"/>
              <a:t> </a:t>
            </a:r>
            <a:r>
              <a:rPr dirty="0"/>
              <a:t>|</a:t>
            </a:r>
            <a:r>
              <a:rPr spc="-11" dirty="0"/>
              <a:t> </a:t>
            </a:r>
            <a:r>
              <a:rPr dirty="0"/>
              <a:t>Peter</a:t>
            </a:r>
            <a:r>
              <a:rPr spc="-8" dirty="0"/>
              <a:t> </a:t>
            </a:r>
            <a:r>
              <a:rPr dirty="0"/>
              <a:t>Faber</a:t>
            </a:r>
            <a:r>
              <a:rPr spc="-11" dirty="0"/>
              <a:t> </a:t>
            </a:r>
            <a:r>
              <a:rPr dirty="0"/>
              <a:t>Business</a:t>
            </a:r>
            <a:r>
              <a:rPr spc="-11" dirty="0"/>
              <a:t> </a:t>
            </a:r>
            <a:r>
              <a:rPr spc="-8" dirty="0"/>
              <a:t>School</a:t>
            </a:r>
          </a:p>
        </p:txBody>
      </p:sp>
      <p:sp>
        <p:nvSpPr>
          <p:cNvPr id="2" name="Rectangle 1">
            <a:extLst>
              <a:ext uri="{FF2B5EF4-FFF2-40B4-BE49-F238E27FC236}">
                <a16:creationId xmlns:a16="http://schemas.microsoft.com/office/drawing/2014/main" id="{AC5375A7-EFFE-CBBB-27C1-753C2CBECADF}"/>
              </a:ext>
            </a:extLst>
          </p:cNvPr>
          <p:cNvSpPr>
            <a:spLocks noChangeArrowheads="1"/>
          </p:cNvSpPr>
          <p:nvPr/>
        </p:nvSpPr>
        <p:spPr bwMode="auto">
          <a:xfrm>
            <a:off x="0" y="1811955"/>
            <a:ext cx="9144000" cy="32340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p>
            <a:pPr marL="342900" indent="-342900" defTabSz="685800" eaLnBrk="0" fontAlgn="base" hangingPunct="0">
              <a:lnSpc>
                <a:spcPct val="150000"/>
              </a:lnSpc>
              <a:spcBef>
                <a:spcPct val="0"/>
              </a:spcBef>
              <a:spcAft>
                <a:spcPct val="0"/>
              </a:spcAft>
              <a:buFont typeface="Arial" panose="020B0604020202020204" pitchFamily="34" charset="0"/>
              <a:buChar char="•"/>
            </a:pPr>
            <a:r>
              <a:rPr lang="en-US" sz="2800" dirty="0">
                <a:solidFill>
                  <a:prstClr val="black"/>
                </a:solidFill>
                <a:latin typeface="Calibri"/>
              </a:rPr>
              <a:t>These guidelines are designed to support your learning and help you apply necessary techniques effectively. Please do the remaining problems and follow the instructions based on Canvas. If you have any questions, feel free to ask—I’m happy to help!</a:t>
            </a:r>
          </a:p>
        </p:txBody>
      </p:sp>
      <p:sp>
        <p:nvSpPr>
          <p:cNvPr id="4" name="object 2">
            <a:extLst>
              <a:ext uri="{FF2B5EF4-FFF2-40B4-BE49-F238E27FC236}">
                <a16:creationId xmlns:a16="http://schemas.microsoft.com/office/drawing/2014/main" id="{2EA3DD23-80EE-0261-9214-F4FC0F567A4A}"/>
              </a:ext>
            </a:extLst>
          </p:cNvPr>
          <p:cNvSpPr txBox="1">
            <a:spLocks/>
          </p:cNvSpPr>
          <p:nvPr/>
        </p:nvSpPr>
        <p:spPr>
          <a:xfrm>
            <a:off x="0" y="0"/>
            <a:ext cx="7240979" cy="994503"/>
          </a:xfrm>
          <a:prstGeom prst="rect">
            <a:avLst/>
          </a:prstGeom>
          <a:noFill/>
        </p:spPr>
        <p:txBody>
          <a:bodyPr vert="horz" wrap="square" lIns="0" tIns="9525" rIns="0" bIns="0" rtlCol="0">
            <a:spAutoFit/>
          </a:bodyPr>
          <a:lstStyle>
            <a:lvl1pPr>
              <a:defRPr sz="2900" b="1" i="0">
                <a:solidFill>
                  <a:srgbClr val="3D3935"/>
                </a:solidFill>
                <a:latin typeface="Arial"/>
                <a:ea typeface="+mj-ea"/>
                <a:cs typeface="Arial"/>
              </a:defRPr>
            </a:lvl1pPr>
          </a:lstStyle>
          <a:p>
            <a:pPr marL="9525" defTabSz="685800">
              <a:spcBef>
                <a:spcPts val="75"/>
              </a:spcBef>
            </a:pPr>
            <a:r>
              <a:rPr lang="en-US" sz="3200" kern="0" spc="-8" dirty="0"/>
              <a:t>Submission of Tutorials &amp; Assessments</a:t>
            </a:r>
          </a:p>
        </p:txBody>
      </p:sp>
    </p:spTree>
    <p:extLst>
      <p:ext uri="{BB962C8B-B14F-4D97-AF65-F5344CB8AC3E}">
        <p14:creationId xmlns:p14="http://schemas.microsoft.com/office/powerpoint/2010/main" val="291898377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26944-4E29-FE71-266E-1B182F8DE243}"/>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4F961B1A-8AE6-CB50-877B-F14E41110C98}"/>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dirty="0"/>
              <a:pPr marL="28575" defTabSz="685800">
                <a:spcBef>
                  <a:spcPts val="4"/>
                </a:spcBef>
              </a:pPr>
              <a:t>88</a:t>
            </a:fld>
            <a:r>
              <a:rPr spc="176" dirty="0"/>
              <a:t> </a:t>
            </a:r>
            <a:r>
              <a:rPr dirty="0"/>
              <a:t>|</a:t>
            </a:r>
            <a:r>
              <a:rPr spc="300" dirty="0"/>
              <a:t> </a:t>
            </a:r>
            <a:r>
              <a:rPr dirty="0"/>
              <a:t>Faculty</a:t>
            </a:r>
            <a:r>
              <a:rPr spc="-11" dirty="0"/>
              <a:t> </a:t>
            </a:r>
            <a:r>
              <a:rPr dirty="0"/>
              <a:t>of</a:t>
            </a:r>
            <a:r>
              <a:rPr spc="-15" dirty="0"/>
              <a:t> </a:t>
            </a:r>
            <a:r>
              <a:rPr dirty="0"/>
              <a:t>Business</a:t>
            </a:r>
            <a:r>
              <a:rPr spc="-15" dirty="0"/>
              <a:t> </a:t>
            </a:r>
            <a:r>
              <a:rPr dirty="0"/>
              <a:t>and</a:t>
            </a:r>
            <a:r>
              <a:rPr spc="-15" dirty="0"/>
              <a:t> </a:t>
            </a:r>
            <a:r>
              <a:rPr dirty="0"/>
              <a:t>Law</a:t>
            </a:r>
            <a:r>
              <a:rPr spc="-11" dirty="0"/>
              <a:t> </a:t>
            </a:r>
            <a:r>
              <a:rPr dirty="0"/>
              <a:t>|</a:t>
            </a:r>
            <a:r>
              <a:rPr spc="-11" dirty="0"/>
              <a:t> </a:t>
            </a:r>
            <a:r>
              <a:rPr dirty="0"/>
              <a:t>Peter</a:t>
            </a:r>
            <a:r>
              <a:rPr spc="-8" dirty="0"/>
              <a:t> </a:t>
            </a:r>
            <a:r>
              <a:rPr dirty="0"/>
              <a:t>Faber</a:t>
            </a:r>
            <a:r>
              <a:rPr spc="-11" dirty="0"/>
              <a:t> </a:t>
            </a:r>
            <a:r>
              <a:rPr dirty="0"/>
              <a:t>Business</a:t>
            </a:r>
            <a:r>
              <a:rPr spc="-11" dirty="0"/>
              <a:t> </a:t>
            </a:r>
            <a:r>
              <a:rPr spc="-8" dirty="0"/>
              <a:t>School</a:t>
            </a:r>
          </a:p>
        </p:txBody>
      </p:sp>
      <p:sp>
        <p:nvSpPr>
          <p:cNvPr id="4" name="object 2">
            <a:extLst>
              <a:ext uri="{FF2B5EF4-FFF2-40B4-BE49-F238E27FC236}">
                <a16:creationId xmlns:a16="http://schemas.microsoft.com/office/drawing/2014/main" id="{F808BCA2-E475-76A3-74B9-22D99B1495C3}"/>
              </a:ext>
            </a:extLst>
          </p:cNvPr>
          <p:cNvSpPr txBox="1">
            <a:spLocks/>
          </p:cNvSpPr>
          <p:nvPr/>
        </p:nvSpPr>
        <p:spPr>
          <a:xfrm>
            <a:off x="0" y="0"/>
            <a:ext cx="7240979" cy="994503"/>
          </a:xfrm>
          <a:prstGeom prst="rect">
            <a:avLst/>
          </a:prstGeom>
          <a:noFill/>
        </p:spPr>
        <p:txBody>
          <a:bodyPr vert="horz" wrap="square" lIns="0" tIns="9525" rIns="0" bIns="0" rtlCol="0">
            <a:spAutoFit/>
          </a:bodyPr>
          <a:lstStyle>
            <a:lvl1pPr>
              <a:defRPr sz="2900" b="1" i="0">
                <a:solidFill>
                  <a:srgbClr val="3D3935"/>
                </a:solidFill>
                <a:latin typeface="Arial"/>
                <a:ea typeface="+mj-ea"/>
                <a:cs typeface="Arial"/>
              </a:defRPr>
            </a:lvl1pPr>
          </a:lstStyle>
          <a:p>
            <a:pPr marL="9525" defTabSz="685800">
              <a:spcBef>
                <a:spcPts val="75"/>
              </a:spcBef>
            </a:pPr>
            <a:r>
              <a:rPr lang="en-US" sz="3200" kern="0" spc="-8" dirty="0"/>
              <a:t>Submission of Tutorials &amp; Assessments</a:t>
            </a:r>
          </a:p>
        </p:txBody>
      </p:sp>
      <p:pic>
        <p:nvPicPr>
          <p:cNvPr id="6" name="Picture 5">
            <a:extLst>
              <a:ext uri="{FF2B5EF4-FFF2-40B4-BE49-F238E27FC236}">
                <a16:creationId xmlns:a16="http://schemas.microsoft.com/office/drawing/2014/main" id="{A4A3D8FE-5E62-5241-D6E0-DD1713215DA5}"/>
              </a:ext>
            </a:extLst>
          </p:cNvPr>
          <p:cNvPicPr>
            <a:picLocks noChangeAspect="1"/>
          </p:cNvPicPr>
          <p:nvPr/>
        </p:nvPicPr>
        <p:blipFill>
          <a:blip r:embed="rId2"/>
          <a:srcRect l="33792" t="20932" r="10116" b="22465"/>
          <a:stretch>
            <a:fillRect/>
          </a:stretch>
        </p:blipFill>
        <p:spPr>
          <a:xfrm>
            <a:off x="0" y="1072054"/>
            <a:ext cx="9144000" cy="5190343"/>
          </a:xfrm>
          <a:prstGeom prst="rect">
            <a:avLst/>
          </a:prstGeom>
        </p:spPr>
      </p:pic>
    </p:spTree>
    <p:extLst>
      <p:ext uri="{BB962C8B-B14F-4D97-AF65-F5344CB8AC3E}">
        <p14:creationId xmlns:p14="http://schemas.microsoft.com/office/powerpoint/2010/main" val="113508567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8469C-8386-C7D2-36AE-D1792C6C9F97}"/>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B91E4008-E27A-8B85-524F-E5B0D854C6C9}"/>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dirty="0"/>
              <a:pPr marL="28575" defTabSz="685800">
                <a:spcBef>
                  <a:spcPts val="4"/>
                </a:spcBef>
              </a:pPr>
              <a:t>89</a:t>
            </a:fld>
            <a:r>
              <a:rPr spc="176" dirty="0"/>
              <a:t> </a:t>
            </a:r>
            <a:r>
              <a:rPr dirty="0"/>
              <a:t>|</a:t>
            </a:r>
            <a:r>
              <a:rPr spc="300" dirty="0"/>
              <a:t> </a:t>
            </a:r>
            <a:r>
              <a:rPr dirty="0"/>
              <a:t>Faculty</a:t>
            </a:r>
            <a:r>
              <a:rPr spc="-11" dirty="0"/>
              <a:t> </a:t>
            </a:r>
            <a:r>
              <a:rPr dirty="0"/>
              <a:t>of</a:t>
            </a:r>
            <a:r>
              <a:rPr spc="-15" dirty="0"/>
              <a:t> </a:t>
            </a:r>
            <a:r>
              <a:rPr dirty="0"/>
              <a:t>Business</a:t>
            </a:r>
            <a:r>
              <a:rPr spc="-15" dirty="0"/>
              <a:t> </a:t>
            </a:r>
            <a:r>
              <a:rPr dirty="0"/>
              <a:t>and</a:t>
            </a:r>
            <a:r>
              <a:rPr spc="-15" dirty="0"/>
              <a:t> </a:t>
            </a:r>
            <a:r>
              <a:rPr dirty="0"/>
              <a:t>Law</a:t>
            </a:r>
            <a:r>
              <a:rPr spc="-11" dirty="0"/>
              <a:t> </a:t>
            </a:r>
            <a:r>
              <a:rPr dirty="0"/>
              <a:t>|</a:t>
            </a:r>
            <a:r>
              <a:rPr spc="-11" dirty="0"/>
              <a:t> </a:t>
            </a:r>
            <a:r>
              <a:rPr dirty="0"/>
              <a:t>Peter</a:t>
            </a:r>
            <a:r>
              <a:rPr spc="-8" dirty="0"/>
              <a:t> </a:t>
            </a:r>
            <a:r>
              <a:rPr dirty="0"/>
              <a:t>Faber</a:t>
            </a:r>
            <a:r>
              <a:rPr spc="-11" dirty="0"/>
              <a:t> </a:t>
            </a:r>
            <a:r>
              <a:rPr dirty="0"/>
              <a:t>Business</a:t>
            </a:r>
            <a:r>
              <a:rPr spc="-11" dirty="0"/>
              <a:t> </a:t>
            </a:r>
            <a:r>
              <a:rPr spc="-8" dirty="0"/>
              <a:t>School</a:t>
            </a:r>
          </a:p>
        </p:txBody>
      </p:sp>
      <p:sp>
        <p:nvSpPr>
          <p:cNvPr id="4" name="object 2">
            <a:extLst>
              <a:ext uri="{FF2B5EF4-FFF2-40B4-BE49-F238E27FC236}">
                <a16:creationId xmlns:a16="http://schemas.microsoft.com/office/drawing/2014/main" id="{2C0A8B7F-8D5D-7404-2C55-302330582319}"/>
              </a:ext>
            </a:extLst>
          </p:cNvPr>
          <p:cNvSpPr txBox="1">
            <a:spLocks/>
          </p:cNvSpPr>
          <p:nvPr/>
        </p:nvSpPr>
        <p:spPr>
          <a:xfrm>
            <a:off x="0" y="0"/>
            <a:ext cx="7240979" cy="502061"/>
          </a:xfrm>
          <a:prstGeom prst="rect">
            <a:avLst/>
          </a:prstGeom>
          <a:noFill/>
        </p:spPr>
        <p:txBody>
          <a:bodyPr vert="horz" wrap="square" lIns="0" tIns="9525" rIns="0" bIns="0" rtlCol="0">
            <a:spAutoFit/>
          </a:bodyPr>
          <a:lstStyle>
            <a:lvl1pPr>
              <a:defRPr sz="2900" b="1" i="0">
                <a:solidFill>
                  <a:srgbClr val="3D3935"/>
                </a:solidFill>
                <a:latin typeface="Arial"/>
                <a:ea typeface="+mj-ea"/>
                <a:cs typeface="Arial"/>
              </a:defRPr>
            </a:lvl1pPr>
          </a:lstStyle>
          <a:p>
            <a:pPr marL="9525" defTabSz="685800">
              <a:spcBef>
                <a:spcPts val="75"/>
              </a:spcBef>
            </a:pPr>
            <a:r>
              <a:rPr lang="en-US" sz="3200" kern="0" spc="-8" dirty="0"/>
              <a:t>Resources</a:t>
            </a:r>
          </a:p>
        </p:txBody>
      </p:sp>
      <p:sp>
        <p:nvSpPr>
          <p:cNvPr id="10" name="TextBox 9">
            <a:extLst>
              <a:ext uri="{FF2B5EF4-FFF2-40B4-BE49-F238E27FC236}">
                <a16:creationId xmlns:a16="http://schemas.microsoft.com/office/drawing/2014/main" id="{9CB16571-1FA9-45A4-93DE-14F04B76EEA2}"/>
              </a:ext>
            </a:extLst>
          </p:cNvPr>
          <p:cNvSpPr txBox="1"/>
          <p:nvPr/>
        </p:nvSpPr>
        <p:spPr>
          <a:xfrm>
            <a:off x="0" y="5873166"/>
            <a:ext cx="9144000" cy="646331"/>
          </a:xfrm>
          <a:prstGeom prst="rect">
            <a:avLst/>
          </a:prstGeom>
          <a:noFill/>
        </p:spPr>
        <p:txBody>
          <a:bodyPr wrap="square">
            <a:spAutoFit/>
          </a:bodyPr>
          <a:lstStyle/>
          <a:p>
            <a:r>
              <a:rPr lang="en-US" dirty="0">
                <a:hlinkClick r:id="rId2"/>
              </a:rPr>
              <a:t>https://github.com/FarshidKeivanian</a:t>
            </a:r>
          </a:p>
          <a:p>
            <a:r>
              <a:rPr lang="en-US" dirty="0">
                <a:hlinkClick r:id="rId2"/>
              </a:rPr>
              <a:t>https://github.com/FarshidKeivanian/Sessions_DATA-AND-INFORMATION-MANAGEMENT</a:t>
            </a:r>
            <a:r>
              <a:rPr lang="en-US" dirty="0"/>
              <a:t> </a:t>
            </a:r>
          </a:p>
        </p:txBody>
      </p:sp>
      <p:pic>
        <p:nvPicPr>
          <p:cNvPr id="3" name="Picture 2">
            <a:extLst>
              <a:ext uri="{FF2B5EF4-FFF2-40B4-BE49-F238E27FC236}">
                <a16:creationId xmlns:a16="http://schemas.microsoft.com/office/drawing/2014/main" id="{A83C12DF-38C5-9663-8E17-313EF71FAB2B}"/>
              </a:ext>
            </a:extLst>
          </p:cNvPr>
          <p:cNvPicPr>
            <a:picLocks noChangeAspect="1"/>
          </p:cNvPicPr>
          <p:nvPr/>
        </p:nvPicPr>
        <p:blipFill>
          <a:blip r:embed="rId3"/>
          <a:srcRect b="7344"/>
          <a:stretch>
            <a:fillRect/>
          </a:stretch>
        </p:blipFill>
        <p:spPr>
          <a:xfrm>
            <a:off x="0" y="1070285"/>
            <a:ext cx="9144000" cy="4765784"/>
          </a:xfrm>
          <a:prstGeom prst="rect">
            <a:avLst/>
          </a:prstGeom>
        </p:spPr>
      </p:pic>
    </p:spTree>
    <p:extLst>
      <p:ext uri="{BB962C8B-B14F-4D97-AF65-F5344CB8AC3E}">
        <p14:creationId xmlns:p14="http://schemas.microsoft.com/office/powerpoint/2010/main" val="412860311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0" y="0"/>
            <a:ext cx="9144000" cy="577517"/>
          </a:xfrm>
        </p:spPr>
        <p:txBody>
          <a:bodyPr>
            <a:normAutofit/>
          </a:bodyPr>
          <a:lstStyle/>
          <a:p>
            <a:r>
              <a:rPr lang="en-US" sz="2900" dirty="0">
                <a:solidFill>
                  <a:schemeClr val="tx1"/>
                </a:solidFill>
                <a:latin typeface="Arial" panose="020B0604020202020204" pitchFamily="34" charset="0"/>
                <a:cs typeface="Arial" panose="020B0604020202020204" pitchFamily="34" charset="0"/>
              </a:rPr>
              <a:t>Let’s Answer Your Questions</a:t>
            </a:r>
            <a:endParaRPr lang="en-AU" sz="2900" dirty="0">
              <a:solidFill>
                <a:schemeClr val="tx1"/>
              </a:solidFill>
              <a:latin typeface="Arial" panose="020B0604020202020204" pitchFamily="34" charset="0"/>
              <a:cs typeface="Arial" panose="020B060402020202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9244"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6727" y="3429000"/>
            <a:ext cx="9144000" cy="3257174"/>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Canvas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Canvas 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206930" y="142034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4630429" y="1594466"/>
            <a:ext cx="4513571" cy="4543576"/>
          </a:xfrm>
          <a:prstGeom prst="rect">
            <a:avLst/>
          </a:prstGeom>
        </p:spPr>
        <p:txBody>
          <a:bodyPr vert="horz" lIns="68580" tIns="34290" rIns="68580" bIns="34290" rtlCol="0" anchor="t">
            <a:noAutofit/>
          </a:bodyPr>
          <a:lstStyle/>
          <a:p>
            <a:pPr lvl="0" defTabSz="685800">
              <a:lnSpc>
                <a:spcPct val="150000"/>
              </a:lnSpc>
              <a:spcAft>
                <a:spcPts val="450"/>
              </a:spcAft>
              <a:defRPr/>
            </a:pPr>
            <a:r>
              <a:rPr lang="en-US" sz="2400" spc="-20" dirty="0">
                <a:latin typeface="Calibri" panose="020F0502020204030204" pitchFamily="34" charset="0"/>
                <a:cs typeface="Calibri" panose="020F0502020204030204" pitchFamily="34" charset="0"/>
              </a:rPr>
              <a:t>Happy Learning and Bright Futures Ahead!</a:t>
            </a:r>
          </a:p>
          <a:p>
            <a:pPr lvl="0" defTabSz="685800">
              <a:lnSpc>
                <a:spcPct val="150000"/>
              </a:lnSpc>
              <a:spcAft>
                <a:spcPts val="450"/>
              </a:spcAft>
              <a:defRPr/>
            </a:pPr>
            <a:r>
              <a:rPr kumimoji="0" lang="en-US" sz="2400" b="1"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Stay Connected:</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hlinkClick r:id="rId3"/>
              </a:rPr>
              <a:t>linkedin.com/in/farshid-keivanian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hlinkClick r:id="rId4"/>
              </a:rPr>
              <a:t>github.com/FarshidKeivanian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400" b="0" i="1"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Education is the most powerful weapon you can use to change the world. </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0" y="-238865"/>
            <a:ext cx="6920865" cy="708399"/>
          </a:xfrm>
          <a:prstGeom prst="rect">
            <a:avLst/>
          </a:prstGeom>
        </p:spPr>
        <p:txBody>
          <a:bodyPr vert="horz" wrap="square" lIns="0" tIns="259588" rIns="0" bIns="0" rtlCol="0">
            <a:spAutoFit/>
          </a:bodyPr>
          <a:lstStyle/>
          <a:p>
            <a:pPr marL="123825">
              <a:lnSpc>
                <a:spcPct val="100000"/>
              </a:lnSpc>
              <a:spcBef>
                <a:spcPts val="100"/>
              </a:spcBef>
            </a:pPr>
            <a:r>
              <a:rPr lang="en-US" sz="2900" spc="-20" dirty="0"/>
              <a:t>Thank You</a:t>
            </a:r>
            <a:endParaRPr sz="2900" spc="-20" dirty="0"/>
          </a:p>
        </p:txBody>
      </p:sp>
    </p:spTree>
    <p:extLst>
      <p:ext uri="{BB962C8B-B14F-4D97-AF65-F5344CB8AC3E}">
        <p14:creationId xmlns:p14="http://schemas.microsoft.com/office/powerpoint/2010/main" val="238215110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CDC8B17FFF79F46AB892AACDE15F09D" ma:contentTypeVersion="1" ma:contentTypeDescription="Create a new document." ma:contentTypeScope="" ma:versionID="a5ba99c893f738a110fead59b8aec548">
  <xsd:schema xmlns:xsd="http://www.w3.org/2001/XMLSchema" xmlns:xs="http://www.w3.org/2001/XMLSchema" xmlns:p="http://schemas.microsoft.com/office/2006/metadata/properties" targetNamespace="http://schemas.microsoft.com/office/2006/metadata/properties" ma:root="true" ma:fieldsID="6c96ba11fc0b0f11135d6dc28d8a2f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19D6D79-91EF-4340-8C3D-E484566A2E2F}">
  <ds:schemaRefs>
    <ds:schemaRef ds:uri="http://purl.org/dc/dcmitype/"/>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2.xml><?xml version="1.0" encoding="utf-8"?>
<ds:datastoreItem xmlns:ds="http://schemas.openxmlformats.org/officeDocument/2006/customXml" ds:itemID="{05866CA7-3031-48D4-BC56-8127880CD39C}">
  <ds:schemaRefs>
    <ds:schemaRef ds:uri="http://schemas.microsoft.com/sharepoint/v3/contenttype/forms"/>
  </ds:schemaRefs>
</ds:datastoreItem>
</file>

<file path=customXml/itemProps3.xml><?xml version="1.0" encoding="utf-8"?>
<ds:datastoreItem xmlns:ds="http://schemas.openxmlformats.org/officeDocument/2006/customXml" ds:itemID="{4360E499-BA5F-475B-94B4-A8CCAB2763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PPT_Template_4_3_V2.potx</Template>
  <TotalTime>2499</TotalTime>
  <Words>4161</Words>
  <Application>Microsoft Office PowerPoint</Application>
  <PresentationFormat>On-screen Show (4:3)</PresentationFormat>
  <Paragraphs>1275</Paragraphs>
  <Slides>91</Slides>
  <Notes>82</Notes>
  <HiddenSlides>0</HiddenSlides>
  <MMClips>0</MMClips>
  <ScaleCrop>false</ScaleCrop>
  <HeadingPairs>
    <vt:vector size="8" baseType="variant">
      <vt:variant>
        <vt:lpstr>Fonts Used</vt:lpstr>
      </vt:variant>
      <vt:variant>
        <vt:i4>3</vt:i4>
      </vt:variant>
      <vt:variant>
        <vt:lpstr>Theme</vt:lpstr>
      </vt:variant>
      <vt:variant>
        <vt:i4>2</vt:i4>
      </vt:variant>
      <vt:variant>
        <vt:lpstr>Embedded OLE Servers</vt:lpstr>
      </vt:variant>
      <vt:variant>
        <vt:i4>1</vt:i4>
      </vt:variant>
      <vt:variant>
        <vt:lpstr>Slide Titles</vt:lpstr>
      </vt:variant>
      <vt:variant>
        <vt:i4>91</vt:i4>
      </vt:variant>
    </vt:vector>
  </HeadingPairs>
  <TitlesOfParts>
    <vt:vector size="97" baseType="lpstr">
      <vt:lpstr>Arial</vt:lpstr>
      <vt:lpstr>Calibri</vt:lpstr>
      <vt:lpstr>Wingdings</vt:lpstr>
      <vt:lpstr>ACU Presentation</vt:lpstr>
      <vt:lpstr>1_Office Theme</vt:lpstr>
      <vt:lpstr>think-cell Slide</vt:lpstr>
      <vt:lpstr>Database Concepts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311</cp:revision>
  <cp:lastPrinted>2017-08-03T04:07:41Z</cp:lastPrinted>
  <dcterms:created xsi:type="dcterms:W3CDTF">2017-05-11T09:33:32Z</dcterms:created>
  <dcterms:modified xsi:type="dcterms:W3CDTF">2026-03-03T00:50:09Z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0x0101007CDC8B17FFF79F46AB892AACDE15F09D</vt:lpwstr>
  </property>
</Properties>
</file>