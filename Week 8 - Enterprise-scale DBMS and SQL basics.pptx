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9" r:id="rId5"/>
  </p:sldMasterIdLst>
  <p:notesMasterIdLst>
    <p:notesMasterId r:id="rId130"/>
  </p:notesMasterIdLst>
  <p:sldIdLst>
    <p:sldId id="421" r:id="rId6"/>
    <p:sldId id="258" r:id="rId7"/>
    <p:sldId id="2674" r:id="rId8"/>
    <p:sldId id="2960" r:id="rId9"/>
    <p:sldId id="2961" r:id="rId10"/>
    <p:sldId id="2963" r:id="rId11"/>
    <p:sldId id="2964" r:id="rId12"/>
    <p:sldId id="3096" r:id="rId13"/>
    <p:sldId id="3097" r:id="rId14"/>
    <p:sldId id="3098" r:id="rId15"/>
    <p:sldId id="3099" r:id="rId16"/>
    <p:sldId id="3100" r:id="rId17"/>
    <p:sldId id="3101" r:id="rId18"/>
    <p:sldId id="2966" r:id="rId19"/>
    <p:sldId id="2965" r:id="rId20"/>
    <p:sldId id="2976" r:id="rId21"/>
    <p:sldId id="2967" r:id="rId22"/>
    <p:sldId id="2977" r:id="rId23"/>
    <p:sldId id="2978" r:id="rId24"/>
    <p:sldId id="2979" r:id="rId25"/>
    <p:sldId id="2980" r:id="rId26"/>
    <p:sldId id="2968" r:id="rId27"/>
    <p:sldId id="2985" r:id="rId28"/>
    <p:sldId id="2986" r:id="rId29"/>
    <p:sldId id="2984" r:id="rId30"/>
    <p:sldId id="2969" r:id="rId31"/>
    <p:sldId id="2971" r:id="rId32"/>
    <p:sldId id="3020" r:id="rId33"/>
    <p:sldId id="3021" r:id="rId34"/>
    <p:sldId id="3022" r:id="rId35"/>
    <p:sldId id="2970" r:id="rId36"/>
    <p:sldId id="2972" r:id="rId37"/>
    <p:sldId id="2973" r:id="rId38"/>
    <p:sldId id="2987" r:id="rId39"/>
    <p:sldId id="2988" r:id="rId40"/>
    <p:sldId id="3023" r:id="rId41"/>
    <p:sldId id="2989" r:id="rId42"/>
    <p:sldId id="2990" r:id="rId43"/>
    <p:sldId id="2991" r:id="rId44"/>
    <p:sldId id="2992" r:id="rId45"/>
    <p:sldId id="2993" r:id="rId46"/>
    <p:sldId id="2994" r:id="rId47"/>
    <p:sldId id="2995" r:id="rId48"/>
    <p:sldId id="2996" r:id="rId49"/>
    <p:sldId id="2997" r:id="rId50"/>
    <p:sldId id="2998" r:id="rId51"/>
    <p:sldId id="3000" r:id="rId52"/>
    <p:sldId id="3001" r:id="rId53"/>
    <p:sldId id="3002" r:id="rId54"/>
    <p:sldId id="3003" r:id="rId55"/>
    <p:sldId id="3024" r:id="rId56"/>
    <p:sldId id="3004" r:id="rId57"/>
    <p:sldId id="3025" r:id="rId58"/>
    <p:sldId id="3005" r:id="rId59"/>
    <p:sldId id="3006" r:id="rId60"/>
    <p:sldId id="3026" r:id="rId61"/>
    <p:sldId id="3027" r:id="rId62"/>
    <p:sldId id="3028" r:id="rId63"/>
    <p:sldId id="3029" r:id="rId64"/>
    <p:sldId id="3030" r:id="rId65"/>
    <p:sldId id="3031" r:id="rId66"/>
    <p:sldId id="3032" r:id="rId67"/>
    <p:sldId id="3033" r:id="rId68"/>
    <p:sldId id="3034" r:id="rId69"/>
    <p:sldId id="3035" r:id="rId70"/>
    <p:sldId id="3036" r:id="rId71"/>
    <p:sldId id="3038" r:id="rId72"/>
    <p:sldId id="3039" r:id="rId73"/>
    <p:sldId id="3040" r:id="rId74"/>
    <p:sldId id="3041" r:id="rId75"/>
    <p:sldId id="3042" r:id="rId76"/>
    <p:sldId id="3043" r:id="rId77"/>
    <p:sldId id="3044" r:id="rId78"/>
    <p:sldId id="3045" r:id="rId79"/>
    <p:sldId id="3047" r:id="rId80"/>
    <p:sldId id="3048" r:id="rId81"/>
    <p:sldId id="3049" r:id="rId82"/>
    <p:sldId id="3050" r:id="rId83"/>
    <p:sldId id="3051" r:id="rId84"/>
    <p:sldId id="3052" r:id="rId85"/>
    <p:sldId id="3074" r:id="rId86"/>
    <p:sldId id="3075" r:id="rId87"/>
    <p:sldId id="3076" r:id="rId88"/>
    <p:sldId id="3073" r:id="rId89"/>
    <p:sldId id="3077" r:id="rId90"/>
    <p:sldId id="3053" r:id="rId91"/>
    <p:sldId id="3054" r:id="rId92"/>
    <p:sldId id="3079" r:id="rId93"/>
    <p:sldId id="3078" r:id="rId94"/>
    <p:sldId id="3055" r:id="rId95"/>
    <p:sldId id="3056" r:id="rId96"/>
    <p:sldId id="3060" r:id="rId97"/>
    <p:sldId id="3057" r:id="rId98"/>
    <p:sldId id="3082" r:id="rId99"/>
    <p:sldId id="3081" r:id="rId100"/>
    <p:sldId id="3083" r:id="rId101"/>
    <p:sldId id="3059" r:id="rId102"/>
    <p:sldId id="3061" r:id="rId103"/>
    <p:sldId id="3062" r:id="rId104"/>
    <p:sldId id="3063" r:id="rId105"/>
    <p:sldId id="3085" r:id="rId106"/>
    <p:sldId id="3086" r:id="rId107"/>
    <p:sldId id="3087" r:id="rId108"/>
    <p:sldId id="3088" r:id="rId109"/>
    <p:sldId id="3089" r:id="rId110"/>
    <p:sldId id="3090" r:id="rId111"/>
    <p:sldId id="3084" r:id="rId112"/>
    <p:sldId id="3064" r:id="rId113"/>
    <p:sldId id="3065" r:id="rId114"/>
    <p:sldId id="3066" r:id="rId115"/>
    <p:sldId id="3067" r:id="rId116"/>
    <p:sldId id="3068" r:id="rId117"/>
    <p:sldId id="3092" r:id="rId118"/>
    <p:sldId id="3093" r:id="rId119"/>
    <p:sldId id="3094" r:id="rId120"/>
    <p:sldId id="3095" r:id="rId121"/>
    <p:sldId id="3071" r:id="rId122"/>
    <p:sldId id="3072" r:id="rId123"/>
    <p:sldId id="3018" r:id="rId124"/>
    <p:sldId id="3019" r:id="rId125"/>
    <p:sldId id="2981" r:id="rId126"/>
    <p:sldId id="2982" r:id="rId127"/>
    <p:sldId id="2983" r:id="rId128"/>
    <p:sldId id="350" r:id="rId129"/>
  </p:sldIdLst>
  <p:sldSz cx="9144000" cy="6858000" type="screen4x3"/>
  <p:notesSz cx="6805613" cy="9939338"/>
  <p:custDataLst>
    <p:tags r:id="rId1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3935"/>
    <a:srgbClr val="F2120C"/>
    <a:srgbClr val="8C857B"/>
    <a:srgbClr val="3C1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0" autoAdjust="0"/>
    <p:restoredTop sz="94694"/>
  </p:normalViewPr>
  <p:slideViewPr>
    <p:cSldViewPr snapToGrid="0">
      <p:cViewPr varScale="1">
        <p:scale>
          <a:sx n="70" d="100"/>
          <a:sy n="70" d="100"/>
        </p:scale>
        <p:origin x="968" y="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63" Type="http://schemas.openxmlformats.org/officeDocument/2006/relationships/slide" Target="slides/slide58.xml"/><Relationship Id="rId84" Type="http://schemas.openxmlformats.org/officeDocument/2006/relationships/slide" Target="slides/slide79.xml"/><Relationship Id="rId16" Type="http://schemas.openxmlformats.org/officeDocument/2006/relationships/slide" Target="slides/slide11.xml"/><Relationship Id="rId107" Type="http://schemas.openxmlformats.org/officeDocument/2006/relationships/slide" Target="slides/slide102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102" Type="http://schemas.openxmlformats.org/officeDocument/2006/relationships/slide" Target="slides/slide97.xml"/><Relationship Id="rId123" Type="http://schemas.openxmlformats.org/officeDocument/2006/relationships/slide" Target="slides/slide118.xml"/><Relationship Id="rId128" Type="http://schemas.openxmlformats.org/officeDocument/2006/relationships/slide" Target="slides/slide123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5.xml"/><Relationship Id="rId95" Type="http://schemas.openxmlformats.org/officeDocument/2006/relationships/slide" Target="slides/slide9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113" Type="http://schemas.openxmlformats.org/officeDocument/2006/relationships/slide" Target="slides/slide108.xml"/><Relationship Id="rId118" Type="http://schemas.openxmlformats.org/officeDocument/2006/relationships/slide" Target="slides/slide113.xml"/><Relationship Id="rId134" Type="http://schemas.openxmlformats.org/officeDocument/2006/relationships/theme" Target="theme/theme1.xml"/><Relationship Id="rId80" Type="http://schemas.openxmlformats.org/officeDocument/2006/relationships/slide" Target="slides/slide75.xml"/><Relationship Id="rId85" Type="http://schemas.openxmlformats.org/officeDocument/2006/relationships/slide" Target="slides/slide8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59" Type="http://schemas.openxmlformats.org/officeDocument/2006/relationships/slide" Target="slides/slide54.xml"/><Relationship Id="rId103" Type="http://schemas.openxmlformats.org/officeDocument/2006/relationships/slide" Target="slides/slide98.xml"/><Relationship Id="rId108" Type="http://schemas.openxmlformats.org/officeDocument/2006/relationships/slide" Target="slides/slide103.xml"/><Relationship Id="rId124" Type="http://schemas.openxmlformats.org/officeDocument/2006/relationships/slide" Target="slides/slide119.xml"/><Relationship Id="rId129" Type="http://schemas.openxmlformats.org/officeDocument/2006/relationships/slide" Target="slides/slide124.xml"/><Relationship Id="rId54" Type="http://schemas.openxmlformats.org/officeDocument/2006/relationships/slide" Target="slides/slide49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91" Type="http://schemas.openxmlformats.org/officeDocument/2006/relationships/slide" Target="slides/slide86.xml"/><Relationship Id="rId96" Type="http://schemas.openxmlformats.org/officeDocument/2006/relationships/slide" Target="slides/slide9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49" Type="http://schemas.openxmlformats.org/officeDocument/2006/relationships/slide" Target="slides/slide44.xml"/><Relationship Id="rId114" Type="http://schemas.openxmlformats.org/officeDocument/2006/relationships/slide" Target="slides/slide109.xml"/><Relationship Id="rId119" Type="http://schemas.openxmlformats.org/officeDocument/2006/relationships/slide" Target="slides/slide114.xml"/><Relationship Id="rId44" Type="http://schemas.openxmlformats.org/officeDocument/2006/relationships/slide" Target="slides/slide39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81" Type="http://schemas.openxmlformats.org/officeDocument/2006/relationships/slide" Target="slides/slide76.xml"/><Relationship Id="rId86" Type="http://schemas.openxmlformats.org/officeDocument/2006/relationships/slide" Target="slides/slide81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109" Type="http://schemas.openxmlformats.org/officeDocument/2006/relationships/slide" Target="slides/slide10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97" Type="http://schemas.openxmlformats.org/officeDocument/2006/relationships/slide" Target="slides/slide92.xml"/><Relationship Id="rId104" Type="http://schemas.openxmlformats.org/officeDocument/2006/relationships/slide" Target="slides/slide99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92" Type="http://schemas.openxmlformats.org/officeDocument/2006/relationships/slide" Target="slides/slide87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87" Type="http://schemas.openxmlformats.org/officeDocument/2006/relationships/slide" Target="slides/slide82.xml"/><Relationship Id="rId110" Type="http://schemas.openxmlformats.org/officeDocument/2006/relationships/slide" Target="slides/slide105.xml"/><Relationship Id="rId115" Type="http://schemas.openxmlformats.org/officeDocument/2006/relationships/slide" Target="slides/slide110.xml"/><Relationship Id="rId131" Type="http://schemas.openxmlformats.org/officeDocument/2006/relationships/tags" Target="tags/tag1.xml"/><Relationship Id="rId61" Type="http://schemas.openxmlformats.org/officeDocument/2006/relationships/slide" Target="slides/slide56.xml"/><Relationship Id="rId82" Type="http://schemas.openxmlformats.org/officeDocument/2006/relationships/slide" Target="slides/slide77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56" Type="http://schemas.openxmlformats.org/officeDocument/2006/relationships/slide" Target="slides/slide51.xml"/><Relationship Id="rId77" Type="http://schemas.openxmlformats.org/officeDocument/2006/relationships/slide" Target="slides/slide72.xml"/><Relationship Id="rId100" Type="http://schemas.openxmlformats.org/officeDocument/2006/relationships/slide" Target="slides/slide95.xml"/><Relationship Id="rId105" Type="http://schemas.openxmlformats.org/officeDocument/2006/relationships/slide" Target="slides/slide100.xml"/><Relationship Id="rId126" Type="http://schemas.openxmlformats.org/officeDocument/2006/relationships/slide" Target="slides/slide12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93" Type="http://schemas.openxmlformats.org/officeDocument/2006/relationships/slide" Target="slides/slide88.xml"/><Relationship Id="rId98" Type="http://schemas.openxmlformats.org/officeDocument/2006/relationships/slide" Target="slides/slide93.xml"/><Relationship Id="rId121" Type="http://schemas.openxmlformats.org/officeDocument/2006/relationships/slide" Target="slides/slide116.xml"/><Relationship Id="rId3" Type="http://schemas.openxmlformats.org/officeDocument/2006/relationships/customXml" Target="../customXml/item3.xml"/><Relationship Id="rId25" Type="http://schemas.openxmlformats.org/officeDocument/2006/relationships/slide" Target="slides/slide20.xml"/><Relationship Id="rId46" Type="http://schemas.openxmlformats.org/officeDocument/2006/relationships/slide" Target="slides/slide41.xml"/><Relationship Id="rId67" Type="http://schemas.openxmlformats.org/officeDocument/2006/relationships/slide" Target="slides/slide62.xml"/><Relationship Id="rId116" Type="http://schemas.openxmlformats.org/officeDocument/2006/relationships/slide" Target="slides/slide11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62" Type="http://schemas.openxmlformats.org/officeDocument/2006/relationships/slide" Target="slides/slide57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111" Type="http://schemas.openxmlformats.org/officeDocument/2006/relationships/slide" Target="slides/slide106.xml"/><Relationship Id="rId132" Type="http://schemas.openxmlformats.org/officeDocument/2006/relationships/presProps" Target="presProps.xml"/><Relationship Id="rId15" Type="http://schemas.openxmlformats.org/officeDocument/2006/relationships/slide" Target="slides/slide10.xml"/><Relationship Id="rId36" Type="http://schemas.openxmlformats.org/officeDocument/2006/relationships/slide" Target="slides/slide31.xml"/><Relationship Id="rId57" Type="http://schemas.openxmlformats.org/officeDocument/2006/relationships/slide" Target="slides/slide52.xml"/><Relationship Id="rId106" Type="http://schemas.openxmlformats.org/officeDocument/2006/relationships/slide" Target="slides/slide101.xml"/><Relationship Id="rId127" Type="http://schemas.openxmlformats.org/officeDocument/2006/relationships/slide" Target="slides/slide12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52" Type="http://schemas.openxmlformats.org/officeDocument/2006/relationships/slide" Target="slides/slide47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1" Type="http://schemas.openxmlformats.org/officeDocument/2006/relationships/slide" Target="slides/slide96.xml"/><Relationship Id="rId122" Type="http://schemas.openxmlformats.org/officeDocument/2006/relationships/slide" Target="slides/slide11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68" Type="http://schemas.openxmlformats.org/officeDocument/2006/relationships/slide" Target="slides/slide63.xml"/><Relationship Id="rId89" Type="http://schemas.openxmlformats.org/officeDocument/2006/relationships/slide" Target="slides/slide84.xml"/><Relationship Id="rId112" Type="http://schemas.openxmlformats.org/officeDocument/2006/relationships/slide" Target="slides/slide107.xml"/><Relationship Id="rId13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27/04/2026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98A5C1-1CB9-4F08-9AE0-90C38B1EBB9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64807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D0C3409-D902-FCEC-29B0-0516CC92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95181B0-9F54-1B5B-CE2D-5280A315DA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DD3E02-DB95-F9E8-7171-9F53A3D00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49A7C2-50CD-CDF4-12C9-F1A66E877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464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69180EA-C3E7-5C40-4261-5A8324619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E698DAF-7F21-CABB-E468-2DBD7ED6D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02C2EC2-EDD9-C2E8-5DD1-FCF9DBED42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92ED6B7-7802-4AD5-7EC5-22ECC5DE7E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710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5784AFD-862F-802E-75E7-7FFFE8C7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2F6F1EB-3642-C0AB-395A-ADFD96C1F6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3DDDE1C-9D91-477C-863A-0602FCE0B5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6EB5A94-7C0E-57FF-568A-0AE4079D67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63335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3EFA3FE-EA08-10A7-44BC-5D7EB4F5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2A4E631-BEE6-B782-026E-7144B9E74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66CFEBA-E77F-75ED-2D55-82FAB9A8C1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EBCA1A3-EC55-6F00-0DCC-99B28FCCF44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850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43B5631-CB5E-D8DF-32E9-791B3E69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25D755D-AE6E-7930-96DB-7372CFA48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B6B997E-AB54-2F8A-7337-2CF217D31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A6C30AC-02CB-D43A-D166-F778D86B4D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1858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30B271E-9B70-C58F-5663-43F7BA27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C6200C2-F129-EAA7-4E70-B5F011C13D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210FFA4-E7C0-04DB-F9FB-5C22A3D4E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3D1F6FB-0D66-387E-83DE-D21F999B4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71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B934214-5DB6-4380-9B77-57A83058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ED6BD88-C176-A1DF-0275-9C699D98AA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01B936D-044A-CC32-F2B6-457D0C4A6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83BB778-C3F8-575B-308D-8E2D1E2CC1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2368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10A2D96-B827-2BCF-2586-9AB84E4A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DE76126-DEF0-6CC2-F706-8B90CC522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76E8F29-E60D-E8B7-313D-B23326C1D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FFD019D-33E2-3755-A144-419D72518E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179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CA96332-D43F-9B04-1E31-7E83DDEEF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FD92071-1CE2-13FB-6597-A6C9CF319D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6C29292-3CFF-68B2-70DD-CE7456D1DB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B6C54AB-651B-7CFF-F938-1ECC15DC21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3206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A9AAAC9-DB2B-0ED5-BE78-0174AE69F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3B2195-655A-6DB0-30CB-BD10D871A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18F3D7B-B93F-35EF-9C63-53FECCF84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8A41DFE-B6CE-9445-648E-1BB6063AA5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9964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BE5ECBE-560B-1835-ED0A-DD01ED13F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1BDEBA7-EEF1-623A-67FD-ABD399BF9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25D776E-C7F2-9560-0D49-75C6E3FCE4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BF77E12-BF1C-953A-8B3C-13BEC933D5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444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4DE4F3A-BF4B-DA82-66EE-A6C4DAACE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A2C47E2-C34C-60DA-DFE1-1D1F85F6E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138B8D6-0FD3-E896-10CF-F3DD355552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B4B2FD6-444C-773E-9FC0-558414E9AF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8763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700260C-46AB-A7FE-5EFD-C7419EC5C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AE245F1-18D9-AECD-2975-12544349E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0AE7F77-8F10-9B5B-8C7E-170F29A356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C001A06-FE93-06E3-65FD-C3EDD08C4D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268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5ADA683-F141-7631-34CC-AA2EAB245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513BF67-42F3-E571-F5E5-9354C5198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5A383F3-87E2-257A-C8EF-8EA10FB15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8C96761-2CEF-29F9-79B5-39164F8BA87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6394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BEB14DA-C318-B2C8-994E-96EA36A5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71D133E-E036-C1F4-24DD-876BC60EE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6F60032-0144-323C-1F9D-082FFD085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94223E4-6C6B-B867-9C1E-B9EB10E56E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2627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C657C5C-171E-E61D-65DD-910E94C8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8EC39BC-8C59-D762-C7AE-582D3F0761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CE492F8-0577-2CD9-2405-C753A441E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CDDB302-205C-C050-F557-248BA10296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347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0D3E975-4032-520D-2D4C-C9A5E7919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0D7DF55-8C15-4802-4EFF-EF1A0D0547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A933781-17DD-3BF0-C0B5-612247C999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9C88AC6-E44F-7048-6B73-7369E8BC41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9627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66E518-575B-3103-42DD-1228210E8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7F0FAF4-5593-9CF6-451F-5367EEB896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F0BBF78-164A-77F0-A4AE-C77E6BCA9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ACC677E-A918-7145-B9FC-B0B3FABC9C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6188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BB65EB3-8975-CB53-9020-91F5C6DD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2F2EBE3-D73B-0A6F-80B1-C86200C8A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7C37D2E-40CF-6DEF-B9A0-8A4930FEF1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14F52DC-27D6-56DB-5945-24DF8BEF16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76601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CE48C1E-4F9D-A0C6-F6F9-55A55CCFA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5F6AEDA-B0F3-50B9-3DB8-F495C6B27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DDBD6D1-D86F-D4CF-304F-5AE5E93E1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2D4F5E9-A252-EB5A-7D4E-ADCE4E922B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90148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FFF0D5C-3BC3-EEC9-28A3-E1734F22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445CC94-EF3C-A6CC-8C8B-F4645A7386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87D1DC2-05F8-B0AB-ED9F-C786A9F1D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7449940-5445-AE2E-AB74-DB025449F9B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030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ECB07E3-1C51-82F3-235B-8D9C15125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C0C467B-AC27-A8DC-9175-53420A5BF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07759A2-55F5-7BC9-ED32-1EA1EE9FA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840AFF9-A2B8-1044-1EF2-7D5A3AF9C8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56944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4DDECE2-2C03-6D0D-7451-4AD87CF2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746AA02-44F0-E41C-8C34-0C7E413EE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C6DF3DA-5601-6BB4-ADB8-0C2E64FC1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5492648-6074-1426-5629-8D50B61CBA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044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598D6E3-4B16-9693-AD97-FBB80C77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18882AE-6383-26E3-CE64-DAC6C5AFA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C48F445-475E-58F6-C3E7-FFB5A3707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C2B828A-5942-8518-8D11-C369E461760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63836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62A1D49-DADF-8F86-303B-F05C851D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6D22595-AB4B-3B4E-757B-0ABAD0CAB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4053A39-9DCE-C944-65FF-B1962546D8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2A6B19F-633C-F1AF-B8CC-FE4782CF42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966809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971EBDC-3F3A-78DA-A7B4-1AAB8ECC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075EEC8-1560-1D69-57E1-FA694761A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A12A764-CBAB-AE2E-EBB3-D9ECBB922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97E275F-B5E7-96BD-40BD-7E361B6078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58732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8BA5225-9C9E-2677-7E21-BB9DCC92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E4BD025-1522-2645-E207-B53EA0D28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3EDE31A-B192-4B1F-211B-18C732D66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2D2A903-8644-B2C4-50C5-5419521286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3305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D82582-C809-7AC2-6DA4-6010333C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9263861-A45F-8694-30BA-CEDE1344F8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0516086-4447-9941-4289-0A156BFA1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D53461A-28C3-744B-60E2-F3FB3AB4C7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0164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64D277D-1CAF-CAC8-4534-1E872C1EA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D1C7522-C0D3-DF03-9A9C-5E8695B248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29C4195-B449-56A3-0C75-9028A57F4F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5BCD006-3A5C-4A61-E179-B1A72CE4D7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9804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4FE7259-D9DA-D3EA-A77F-B5ADF3B56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265E317-FAC8-C601-AB18-3FC7F97DB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4D6CC2F-2032-310F-2C07-2EF2F15B42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CD4145F-BB56-E44D-2139-578194F660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61499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5FE82A2-686F-E960-3351-C0D17448C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60B6854-E8FD-D157-4A9C-DDA202A551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1793B14-0E68-8DE2-C206-BC80A52DB7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5DEE078-B538-9664-FCDD-012E7877C8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73208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76595C2-3CF4-DB83-6DB0-C9D76B7E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41023EE-9634-8644-5412-E5E17471C1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217FCAC-7CD9-4C4E-9AAA-387B045E37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E758F8A-20D9-8159-E849-AFF6FA29E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1853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8665AA1-BF41-0457-BD81-2DB1EBF41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EA142FC-F1BE-A394-817A-E505E44031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284EAF6-B0CB-5357-4381-7737E9C08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7FC5188-1097-9089-21A9-DB8F3C42A9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1354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D8BF520-5898-097A-3615-D57A434D5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0AB247-1960-E0DC-1773-646E76B2AC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2EDFA76-D67A-C464-6FC4-EA3BABF67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8F76214-8FBF-59A8-57F0-E12AF8A51C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1270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9EEEA9B-9C28-C742-523F-A237CDD1C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4CA6232-1A70-C37E-F238-CD525227F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B4E4685-EAC6-B243-AD51-0F7C1C40A0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EAF69F1-13E0-62A9-0EE6-61C2C92B42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97765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740EEE9-BDA9-311D-EFAA-E2FB1FC7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9AAF76A-65AA-B161-F723-7B2F89D2EF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5F8C625-3842-A029-540F-B70A7F1C4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E315700-B9A3-FDF5-A155-DAC3F64B4B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000675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DB76D08-A6B4-6CC0-1CFE-9E102B483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05401E8-DF02-ADDD-5569-05E35C302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AC4D75E-63C4-6122-3D76-F09B79A6A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5E69496-BFD4-DA9D-11D5-F50B1AE31F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1962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329D099-8CC2-F5EF-0446-0390FC082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5FA2564-332C-61B5-8569-8F0F87FF96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D54D034-075B-BC56-FB28-BE2B6811D6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8F650AC-12D4-4234-0745-A7D6B7F3B4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68976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073584F-702C-2675-6CBB-D253E945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ECF8B72-D2E5-A7B9-89AA-95D22DC8C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E0EEE49-0D55-DE37-93A6-86E17A46DD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10F8CA1-73FC-BB44-5E12-18ED33D6AC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574487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455DFA9-245A-D0FB-0761-9DD1534E5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4A3B3B4-1F32-0C0B-474F-B833E8E2BE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458660C-1370-6BCE-4F8A-E2E0276310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5D0884A-3316-C5F8-0CB6-B752019F55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21587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CC2FB77-BC96-6292-068E-2FDDA54C0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0FF0CB0-5DA9-8B1D-C68A-3BA0B6D0E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9CC9DF2-800A-DA43-0381-CA9C74B9BF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107A5C0-C591-3D08-671C-3469A20329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893942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CF96033-6A31-65FD-1866-F10F40948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AE94586-40B1-EE72-C361-3E7406FC8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0DB5915-8E38-C947-7FCA-3789DC2DAB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2E6C1ED-AA7C-BB8D-C886-9F4A09358E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4706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2534946-577E-650C-BE36-89196C630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E329511-7DC2-B940-76B4-F053E91EF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5CF3440-406C-B180-D4A8-D2C9808B3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CC3F74D-0C83-A1B9-2DC8-34DAF45787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803670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320B196-913A-5259-8F22-2A1EDA0F6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7203724-1FED-DD01-1D50-02B014189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E4DC8E1-D042-5A17-B824-264B751C48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9E49A75-68FC-211B-F7C4-F210CBBB306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470955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2D2918F-0CAA-DA04-1C9E-E2128CF2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119B013-898D-9537-62BF-2DDF02DFA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F5D6E2A-A95E-5F3C-BBE8-60C53F557E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ECAF750-4070-5504-0279-BE36D30584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85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3E4326B-9397-4C52-66A5-6F2D0CA3E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F3D16C6-BBED-EC88-5B9F-6415F0D6EE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451897E-302F-C7F7-B340-930DC3B43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9B3FF64-AE93-B87F-48E1-4C3D79A7D1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22725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E53E435-3A10-E433-C3E3-F6833B77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E978636-FDC5-24E8-F2ED-73F98645C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B1E60DE-898F-5A3A-8BB7-ED9E293D68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1BEFEE1-7EE8-0E70-347C-1031AC0AB09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6000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237F7EF-9771-0111-ABA1-E437B4BA1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F830768-EC66-B6EB-85DD-65547680F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AA7E55E-5ACC-06AC-F426-90C400F22F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8C824DD-8262-D7D3-F891-52A8941BD3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4505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BF87950-C636-8B28-2ECD-7FB72E78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29184D7-1F1D-5EE0-115E-9A6E9F8082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A8D6565-5BF4-E430-8A9B-4389CF51E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E3D9E4B-09FA-7CC5-909C-D4C8B9942E8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66388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80DE1EC-472A-203E-44A3-B639EB2E5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115F9BB-7D98-ED27-7F87-6BB46B9F5D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D38A0CF-C3DF-188D-4CEA-1DE389A2F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D3D3118-B743-379F-38BE-4990EC0DE9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035488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3E7C5C3-44C4-BD69-D740-054158A93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0554158-4238-EF7C-5E7B-81052F893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F315E96-E2D5-4DAE-6B22-B0F49890BC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4AA4B02-437B-CCCA-B191-5842A39A2E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11958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6A41E7B-8CC2-8AAC-432C-147A7541C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1979523-7585-B856-D7F1-30281DAE5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080A87B-A6EA-AF96-B900-476CDABDD2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0197BF4-6DB3-637F-8D81-6BDE83AD065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223424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B8E68D5-CA8E-ECF1-3B74-1E5FA542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73D75AF-F41D-501F-DB00-B03F3DF518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6B8D573-A775-E9DB-FBF1-C680860B3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EE66AD1-6509-BC2D-B004-AE18B06548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15433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5D20F7A-800E-9C92-0012-8BB0B574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71CEFCB-43B9-20FB-6482-80BF43747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C6A99C8-F07B-0E92-7957-A80CFC47F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7984140-6521-2E92-A57A-45AFE74995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14014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D62B347-C6D2-C659-6AC4-37AC54F57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CC52359-AE77-0388-137F-A47174CB9F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2C34C90-E6FA-5EE5-F8B7-C02144978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F78FBDE-6D4A-023A-AE44-BF8FBB4F19D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88495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55DF64F-F88C-D7E3-3753-FA225803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DD64D9C-D9DB-DD56-DD04-5D3883F5A2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8B48770-6059-8B99-2E13-C3F688E99F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3D2D8B1-4B3C-B6E5-41DF-5E0BB89547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22131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269966E-B0B4-569D-E570-0C8A24E6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EDBFB39-BCC9-DDF0-4F60-8B5686271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1BA48E4-5CDC-D8C7-1F43-896EF5C88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F3B8E88-C384-8E7A-2655-9D68AEB264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630977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2D042E2-9EF0-3792-3D9B-0D894B31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69D3134-3EAE-59D2-9EB8-850E19264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F21B648-8FE9-BF4C-59BC-454176BE9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AC460A6-1C20-69CE-A0FE-5DA848B2F8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4151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4D539EE-E0C2-E492-5C94-70967DCE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2633D0D-23EA-B4C8-896D-ADA3FABBEF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6E60377-0586-8233-DE04-9633E6A4A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DC43983-C675-2388-5991-F9127A8E4E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37822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F1C6947-6979-AD6A-82B6-5AEBB4E4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05C2849-0707-DB81-8147-21E4DFDC4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77BE679-718D-9783-F679-BBDA32881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120F092-B5A8-2980-8080-C97673D464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96582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C815865-1D4D-2A31-8265-36C3624F1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442BCCE-CB23-4068-EB9A-03FECD0038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B527566-9A5E-5FC8-C3A5-9E28028EF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C6D2314-CBCF-7CDE-0DB1-6E2DAF7956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107080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4848D31-3D98-4E7E-4C1C-BB74FC077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633990F-5334-FD5C-7569-6C0545764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C63B4A4-9C79-9D10-CC11-087EBAAA3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23D1B2C-35FC-C82F-3531-923D67F705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10386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B3689F2-6940-88C1-1DE9-62B71BC39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8961989-5317-A129-6407-71A1BA5A9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FFBD45A-6916-89D8-686E-CAB240EE26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0801FE1-287C-A4E3-B69D-6423D5B490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540571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891BC88-7A9D-B914-592F-170E2BF1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712DE62-D9D3-BFA7-33FF-1D9ED44A7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6E11C01-CFA0-38CD-2500-2F828DC857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4AF440A-327B-0B92-C5A2-6B116595952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579781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D3DF9BB-A1D3-095B-1075-E46D92A2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A8CBB92-6DF1-AC52-0725-01A7A8C6C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4C6B598-F9F1-67E7-71AF-AB2296CF2E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EA1919B-5EA8-611E-1E76-04DF7A50FB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278792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AED1AD6-62E7-3305-DC49-2A1876893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64E097D-E7FF-33E5-A6AB-D246228C0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8DE2078-821E-F511-94B5-FFF5D8739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5221DB42-4090-B271-B2C5-F839D9038C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803888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3824EF1-C303-A58A-610D-394429538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2B4182A-D79C-4304-302E-9BBE7D73A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30219AF-18B3-8328-FFA3-363885C58F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F544088-D01A-45A3-7E17-048445F214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854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A48E1AE-0DD4-ADF5-A9FD-5832302A0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E3E7266-1951-6BB9-608C-253C62D1C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BBC77A0-C0F2-72F0-FC30-0B35C91C75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C4460C5-89D3-BE0C-EFEA-09DE4F1623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63274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D05EE27-3BD4-A4B6-4A12-E2DB355BA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E187688-8C42-9CE9-C9D5-7711243316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BF62BFA-E8AD-FAAC-2FFB-50864DFFA2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FE636F8-857D-ED0F-9E79-92601F2317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832227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AA24DCE-8492-EE4C-9AEC-422492513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2F39ECE-6FB4-58F4-8355-BCDA15363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A8A6E62-B091-A593-AC2C-30CF03883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6C69679-BB9A-F75E-C0F7-877A915F10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65003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ACFA4F4-892F-45E9-BE3A-A2305624E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E6B4E90-79AD-EDD9-B7FC-7B4CB3B0D1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21136F2-5641-DAA9-11E8-A18CA201F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F2F9631-0A2F-A957-5E58-E6BCB7C7C5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9584510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319D98E-A1BB-A5CA-3664-27A9832C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F614DED-4A0E-B296-5E40-99DAF8E07E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9841E25-E5FB-4C69-07B7-C39D495F2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B76EEC0-3567-C937-C032-2B0739EABA6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84080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A3B4970-D082-8334-AF0E-43634EF2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1B75491-B98B-CAD2-A848-24BD105D5C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4EFA105-C6C1-18D0-2030-375FADE12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F5EC9B6-99A9-8FB3-49EA-F685A321E3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287760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DDD3761-0D7E-FF4C-F2EE-5B334B4BC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601CDD2-42F7-DA76-5308-3E88315FC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70B4ED9-A7E7-85D0-33A6-F8300CF98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CD42BD7-B4D6-8A0A-302F-9F94464935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7853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8BCFE0D-BD30-115F-3E7F-80867DB1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CA70070-04F6-5A2B-6523-F9DB585476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FFCFF5C-DF06-08F1-1075-32F1B8EC6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3B8B16F-2253-4E34-4132-2A7AA2296C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9010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D817480-41E1-1810-6F6E-EDE31716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49F8CD6-5D43-DC5A-8FB6-CDE35744BB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498437A-CC01-417E-E42A-893314564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57185BA-BF67-4B66-2055-63C4842B7BC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35062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C4F5DCA-5FA8-8A6B-B920-7C1DA88E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7DC265B-619D-8F25-7EEB-3AF532C2F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BDDF9E5-CD0C-51C2-520F-286598042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025DA8D-F741-D9A4-CF00-86E8554F29D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371258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018A816-A722-EE02-D4BA-333CBC40D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7419E82-DA90-CFA5-5822-C6BE688D90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3CB1CCD-CBD9-E945-51E3-03FBB1120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427F845-4818-1628-B78B-E4DA15A841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800020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D11E2A1-1661-0F53-9920-220FF3F1E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4C00BD2-8A02-3C5F-3AC7-EB12D70A8D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DC2E347-C045-2F38-D810-D6199D7CE6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E19DFED-8E93-5631-2F4A-B5E085421C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53571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0EFE77B-A355-6A22-B389-52F39C4F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BFAD78E-A2A3-87F4-1BA0-449703157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AA946B7-16BE-1572-37E2-CFF365143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81C48A0-9784-7E65-9569-E55D3745A9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811234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4EA49F0-415E-D3D2-F96A-8F663371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B41A823-4F15-D3A3-6DE2-DEB30E084C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1992C30-E394-A075-9F18-12EC716D8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359DE88-C86C-D2FC-DA3B-25F434DED2C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13565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464D593-A8AB-0EF8-B747-C4FF3DA1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4C00E8E-FF68-C475-21CC-627ADA24E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A2EBD67-9E8F-2247-DA42-17AC8901DC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1AA5256-10FC-8838-728C-69A6078FE0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876612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406E540-BDF8-7130-2E7F-B195F4ED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83B503F-0731-9809-00FD-13F2D10B3B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190B61B-CF4F-9443-B077-67767BBB2E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99774A3-29C4-8F95-F7D4-4D0367F875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46029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FBCCD20-583C-F1B2-9BFF-6C7D5B9F3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1528749-6549-237F-019B-2A3B4D9F4A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161D6F3-3055-CE2E-B425-9E566471F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91D0217-8907-F777-0379-DDAF038368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785382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2D1FCAA-C6A5-352B-D60D-96741DCDE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0431F7E-D370-FE90-AACE-4BD89EAC81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181D937-C353-089E-0D97-053D8301A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3403A82-4AF3-7251-AB50-C0CB58E560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86273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8095809-00E5-437A-F187-474DDD327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B1C48F4-924D-1029-6C6E-DB0EB7889C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E26D4EC-3A47-AC37-A242-95A0DED46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4407B68-DB2F-2790-F276-8F7314F658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196846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D040920-7DD3-AC8F-4620-35B89039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63395C1-C6E4-D975-7337-02FC717CB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411B74F-8362-72BD-986C-1FB29A754B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BCD75B7-9925-F496-EF29-54C9286F00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26234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3594617-3AF1-A9B7-FE49-DC3137D4B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072946D-D76C-B986-06FA-682BF0D24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53B5602-24A2-6CC1-3D89-6DFBA16C18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84D0486-2774-847A-D1F5-04C480F885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27384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27A7DC0-268F-3BBD-3788-A1EDC5780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C032186-089B-EFA2-17BE-B5B2134D2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F12FC38-4688-819F-C955-2DC97B4660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2E776CE-37A6-DC1D-C0B5-9DE65D37B8B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131254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154ACAA-AAAB-B0EA-9A7E-7FB50CD2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638F80A-3B9A-9F0D-F529-FE482B25B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DCC8C3F-E2C8-41AC-4DC3-3FDA6A6C42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6F54497-D10B-C8B9-7CB9-FA7F201D38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746039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7202EBE-437B-B138-216C-6F0E5CCEF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8393FCA-C12F-B4B0-5F1F-0DA87C82AA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4D5E740-3995-AF8A-83DC-7BA9CE797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7EAB6C6-23A4-2FAE-2E47-E8090F40BB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6399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E0F0C64-599D-D3F9-AF04-2EBD371A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1D71AEB-16EE-8D0F-DEEB-C6BE107D17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2C4F65D-40DB-F8F4-D824-1B93A365F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B9B9F61-9D13-5C44-A567-328D3FF4C3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438029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8DDBAB9-888E-DE7E-8C4C-24059CA6F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AF3A9AF-D18E-A012-492A-96628C41A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905FF674-70A9-1D3C-3636-D5C5F98849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EB9B2A9-9308-7B3C-F4BF-BAB0EE2E33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804069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F47386A-17BC-0467-5BFD-8A146229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CEB139F-1C67-6E79-3C54-7BB3CA5AB2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0B6388C-9C89-EEE1-38BC-67518AB242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E7D48D9-CBCE-5F5A-0079-BA878AFE4F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862997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7BF4307-9F54-47EA-6F9B-9787D957A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406B206-6334-5A50-F98E-201AAB2974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D6D06E8-9D7F-FCAC-C192-41A083AF05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D218CF7-EBC5-8A55-133A-E1B8F6E6D6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054754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30AE77A-6C0D-A57B-F755-1540BD3B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15B4110-4134-1706-8FD8-EB40BAE77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1B0DAAB-5472-4A68-0BFD-A0E5E84D32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C2F8562-89E1-160D-47DF-A6F9D85027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2250808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499AA7B-CEFC-4C16-A323-9CD98D6E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9026A3E-0495-B539-EEFC-FD333C7C0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2A1D66F-1F69-5556-52B7-7CEE1AB452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C9E53A2-5D79-E522-A309-EBA9A05D3D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50156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A17231B-A55F-F6E2-EF69-9E4EF091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5C52FA7-2932-D2DF-3A9E-9FDC28E1D5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6285289-4AEE-74E0-4B36-60376D04C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9A0877C-7805-F03D-A961-678DB87979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808003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592B020-C695-1757-91BD-38A7F143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616A54C-0477-57A7-6F05-C7408770F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EEC6B70-3F64-0DBC-11C4-85734B0A3B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244A098-15A9-B3E2-1021-ED02A072D7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518043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FD64B19-0F4D-2151-7E61-AB0AAC0FE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3766E8B-8EBB-2D6B-67BF-8CC333D3F5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B2168A5-199E-2161-993F-5643E66CED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A942E68-94C1-4756-7793-745EB2F534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88742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6284053-62D2-A488-AE48-6E45A62F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B3DFF39-A0AF-7FFA-E7F4-4D1B97887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F82E86C-DD15-ADAB-85F5-6DBD78E70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4395826-F017-B9EF-EB1F-BD8AFC5489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6061289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B7CD98D-88AF-C515-38AF-ABDB87B1B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8A27B4E-C6C3-3E40-9D58-CC80ADF5F9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86154B0-0FE0-974B-91AE-86901BD9E2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1730724-5829-4174-3BAC-C514F760D6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83076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F0AF933-C92A-9C98-C667-42FFDCAD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9033D12-6AC5-EDF6-3226-AE24073C98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6B2DDA2-73F6-D2F4-9BE9-1AB4431DA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DBD2AE9-8A0F-97BC-EB17-2BCBA349BC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542838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3B03593-0C21-1C10-AD47-11950A0EA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6DB6517-B8A4-C672-1493-BF10D6AD8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EE20890-2383-4658-E4C6-41FEC7715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4B4C43A-5395-9B43-0596-6569BC975F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827803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EC25379-5838-63D4-EC27-38ACD88DB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CD94475-AAD4-3D91-3E19-EC8828C873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C1FDE54-C9F8-4C7A-24A3-1BCE7096C2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B809F7F-EC63-ADE9-2F7C-51AE34C335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19298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A881DD9-D1D1-A9BD-0195-064D8039D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90C7BD7-380F-72BA-E14D-6CA5AAF33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795DE4F4-7893-F570-1851-868AE9DB6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A4CC6BD-A488-6439-ADB0-F4013D6B80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231178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44BFF12-0C83-D3C4-0952-588475239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856E5C1-63B8-E5B2-E34B-CC7FA32C64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ADA5A82-6FB8-1A56-2914-64E4901DC9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B353D7D-25E9-A85D-51B5-35900F91BE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5500703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4EA70F6-AF4C-C201-36E7-4CAFCE71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7E96BA8-5B84-9257-5D53-1C80BE8CF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524AC78-6DBA-8450-F956-36BF8CB9D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42BD28C-EA82-ADA2-ECA4-DD145BB2AF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963076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FDD043B-E7D8-672B-2CC5-8FBC9EFF7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137ADB9-1297-36F8-37E2-3EAEB978BA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6605553-D788-46AC-F942-70335EB6B5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5D1A009-A769-2A1E-BB8F-956E25C76E4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112492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341BD1A-C08D-4319-A7D8-11CE2E6A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DF647EA-7244-441F-B82D-270181B91B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E03E836-49D7-D500-F5DA-785216728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0929827-336A-E7EB-9CC2-42D3C46B3BE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9474062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E7CB9DA-FF16-6A11-67FE-A44A8F68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DDFB7CF-1213-BC1E-43FC-DE9B3ADCF1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55CE929-13C8-2297-4186-5A8F9C438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86C5641-45B8-ACFD-82D5-14C85E3363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91986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35D49D6-4B94-7AD4-F268-3AE1620F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9B4D287B-3478-89D7-2EBE-9A4A2FC2E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AE09DF9-08F0-95EF-3C8F-FDD8AF0A1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1ACC573-0FD3-CAA0-CBFD-1841897C72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4160737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D83E8218-398B-A75B-5DBC-2AEEC7ACE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2E0644C-6B8A-17C4-DB52-5DBBDC167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03177CC-4776-9307-19A6-D1A4E474D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0154AF3-08D4-98A4-661E-29E6AEBDF9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44334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59565FD-C214-68A1-822A-E44F8AEAE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A6AF3BC1-AE6D-B3F9-CD55-019028BF1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5A9CF3C-8055-AFE5-321A-BE03ED21E7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8ABC0FD-35D0-3FC9-5D2A-E7CEA70E34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686426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B551D3E-80CD-A012-063D-5099ECC99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10687BC-F08A-E658-A80B-EE097F462A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0D5BC1D8-4D64-2498-5B47-96B097F1C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EE68148-6894-FC81-007E-C407DE8A48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61819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945B2558-923D-5621-D67D-9AB5FD60E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7332F3E-B575-D3BF-92E8-E83CFB47B5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73349D2-4FBE-BDA1-D853-63FCC59E5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A33FEDB-A072-1DF1-2443-41EC7FA4FB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355585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292625DD-0304-F796-275C-258307FEE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F39746B-F1E3-30FA-A48A-47C0A6572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1BCDBDB-9EFA-4DF5-90A4-878F316D7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375A510-64A7-F3D4-CDB3-AC104F4C5E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56147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876F46A-C9C9-5D90-1B45-2F00EC12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CAB3DD66-C892-C3D1-3D61-686B49BF4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DDE0C60-C07D-FE75-9846-CA5D2BC18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9A2ABE79-B2F3-D7C6-706C-B8804F116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7898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20FD28A-E337-0EBD-CD9F-5034AC77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E536D74-0BF2-7613-D222-A0E9A4C78F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7BAA04A-E651-4280-B56E-F972FE5FDE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9A3700E-68B2-A9F7-CAC9-ADC6A00B1B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66050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D02BCF5-2363-FC50-6F98-685CC8D9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E66749B-33C9-5580-189C-D8CE8FE89E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43EBE56-5680-61FE-02E3-8B7BFDA41A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6C641A9-872D-2770-0A96-D45E218A12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534083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DD87072-326D-EC52-8062-53F9430E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23686D9-0491-3299-37ED-1F8055D4DB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B152064A-29F6-8691-E115-5D95A6C046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2EC7774F-40C4-567C-245A-B4E6A52C44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56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596" y="713233"/>
            <a:ext cx="3767469" cy="334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19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8411246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19291"/>
          </a:xfrm>
        </p:spPr>
        <p:txBody>
          <a:bodyPr lIns="0" tIns="0" rIns="0" bIns="0"/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03556647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93803120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68727114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766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image" Target="../media/image1.emf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5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6" imgW="347" imgH="348" progId="TCLayout.ActiveDocument.1">
                  <p:embed/>
                </p:oleObj>
              </mc:Choice>
              <mc:Fallback>
                <p:oleObj name="think-cell Slide" r:id="rId86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88" y="0"/>
            <a:ext cx="5027930" cy="454025"/>
          </a:xfrm>
          <a:custGeom>
            <a:avLst/>
            <a:gdLst/>
            <a:ahLst/>
            <a:cxnLst/>
            <a:rect l="l" t="t" r="r" b="b"/>
            <a:pathLst>
              <a:path w="5027930" h="454025">
                <a:moveTo>
                  <a:pt x="5027591" y="0"/>
                </a:moveTo>
                <a:lnTo>
                  <a:pt x="0" y="0"/>
                </a:lnTo>
                <a:lnTo>
                  <a:pt x="0" y="454025"/>
                </a:lnTo>
                <a:lnTo>
                  <a:pt x="4570413" y="454025"/>
                </a:lnTo>
                <a:lnTo>
                  <a:pt x="5027591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/>
        </p:nvSpPr>
        <p:spPr>
          <a:xfrm>
            <a:off x="4572001" y="6397624"/>
            <a:ext cx="4570730" cy="457200"/>
          </a:xfrm>
          <a:custGeom>
            <a:avLst/>
            <a:gdLst/>
            <a:ahLst/>
            <a:cxnLst/>
            <a:rect l="l" t="t" r="r" b="b"/>
            <a:pathLst>
              <a:path w="4570730" h="457200">
                <a:moveTo>
                  <a:pt x="4570412" y="0"/>
                </a:moveTo>
                <a:lnTo>
                  <a:pt x="460375" y="0"/>
                </a:lnTo>
                <a:lnTo>
                  <a:pt x="0" y="457199"/>
                </a:lnTo>
                <a:lnTo>
                  <a:pt x="4570412" y="457199"/>
                </a:lnTo>
                <a:lnTo>
                  <a:pt x="4570412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9338" y="365127"/>
            <a:ext cx="1374775" cy="485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15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542608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msle.learnondemand.net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5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5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5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5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5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5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5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5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5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5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5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5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5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5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5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336332"/>
            <a:ext cx="4373370" cy="1702676"/>
          </a:xfrm>
        </p:spPr>
        <p:txBody>
          <a:bodyPr/>
          <a:lstStyle/>
          <a:p>
            <a:r>
              <a:rPr lang="en-US" sz="3400" dirty="0"/>
              <a:t>Enterprise-scale DBMS and SQL basics</a:t>
            </a:r>
            <a:endParaRPr lang="en-AU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EDDFE-62E7-4B7A-B286-FF3EA6C17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288" y="3893642"/>
            <a:ext cx="3867150" cy="447675"/>
          </a:xfrm>
        </p:spPr>
        <p:txBody>
          <a:bodyPr/>
          <a:lstStyle/>
          <a:p>
            <a:r>
              <a:rPr lang="en-AU" sz="2000" b="1" dirty="0"/>
              <a:t>Week 8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46AD0-6036-4879-B5D7-F60847E3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8C77-E952-41E0-8B40-BAC1771F8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4796BC-CEFD-189B-E9D1-5A9CBE8BAF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Week 8 Outline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E6214-3988-BA86-3529-05DB78221CDF}"/>
              </a:ext>
            </a:extLst>
          </p:cNvPr>
          <p:cNvSpPr txBox="1"/>
          <p:nvPr/>
        </p:nvSpPr>
        <p:spPr>
          <a:xfrm>
            <a:off x="11875" y="528318"/>
            <a:ext cx="912024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Introduction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Enterprise-scale DBMS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Cloud Models (IaaS, PaaS, SaaS)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Provisioning Azure SQL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SQL Basics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Security in Azure – RBAC (Role-Based Access Control)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Week 8 Tutorial Activity (Step-by-Step)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Review &amp; Reflection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Discussion &amp; Role-Play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C55C3C-1C70-4B05-DCEF-7BC51078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9A7F4-72EE-787C-9315-6B43A6FF7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7ED2A-D90D-9FF9-7659-CD0E5643E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F5CC17E-1EEA-6DF1-8B95-4FFA28C844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Introduction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573C5-EDA9-F7CB-5DAD-074958321411}"/>
              </a:ext>
            </a:extLst>
          </p:cNvPr>
          <p:cNvSpPr txBox="1"/>
          <p:nvPr/>
        </p:nvSpPr>
        <p:spPr>
          <a:xfrm>
            <a:off x="0" y="667974"/>
            <a:ext cx="9120249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This week, we move from small-scale (like Access) to enterprise-scale databases (like SQL Server &amp; Azure SQL).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Analogy: </a:t>
            </a:r>
            <a:r>
              <a:rPr lang="en-US" altLang="en-US" sz="2800" i="1" dirty="0">
                <a:latin typeface="Calibir"/>
              </a:rPr>
              <a:t>Think of Access like a family car (good for small trips), and Azure SQL like a train network (handles thousands of passengers daily).</a:t>
            </a:r>
            <a:endParaRPr lang="en-US" altLang="en-US" sz="2800" dirty="0">
              <a:latin typeface="Calibir"/>
            </a:endParaRP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By the end, you should:</a:t>
            </a:r>
          </a:p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Understand enterprise DBMS basics.</a:t>
            </a:r>
          </a:p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Provision a relational database in Azure.</a:t>
            </a:r>
          </a:p>
          <a:p>
            <a:pPr marL="971550" lvl="1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dirty="0">
                <a:latin typeface="Calibir"/>
              </a:rPr>
              <a:t>Write simple SQL queries.</a:t>
            </a:r>
          </a:p>
        </p:txBody>
      </p:sp>
    </p:spTree>
    <p:extLst>
      <p:ext uri="{BB962C8B-B14F-4D97-AF65-F5344CB8AC3E}">
        <p14:creationId xmlns:p14="http://schemas.microsoft.com/office/powerpoint/2010/main" val="222865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0648D3A-8620-5F76-DC2F-4C71D6C3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13CA6-DEC5-BF3D-3569-2E4BB8189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F29D6-C253-56F4-C4C4-00B4C2F3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465657E-A48A-17F3-3D5F-68A5424887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Enterprise-scale DBMS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5940E5-DA51-4947-EA8D-7F9FAF9A6EFC}"/>
              </a:ext>
            </a:extLst>
          </p:cNvPr>
          <p:cNvSpPr txBox="1"/>
          <p:nvPr/>
        </p:nvSpPr>
        <p:spPr>
          <a:xfrm>
            <a:off x="0" y="667974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Enterprise DBMS = handles very large data, many users, high security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Used in banks, airlines, hospitals, universities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MS Access → simple, desktop-based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Azure SQL → cloud-based, scalable</a:t>
            </a:r>
          </a:p>
        </p:txBody>
      </p:sp>
    </p:spTree>
    <p:extLst>
      <p:ext uri="{BB962C8B-B14F-4D97-AF65-F5344CB8AC3E}">
        <p14:creationId xmlns:p14="http://schemas.microsoft.com/office/powerpoint/2010/main" val="2083931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C0437D1-DC5B-247D-C778-239279FE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04E63-5460-4943-8F3D-FB6D9FFE2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C1F66-66A2-DBC0-4B3B-C2B5CB9A07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9B22711-A867-E454-10F8-682E6424068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Enterprise-scale DBMS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F4BF70-E6AE-5D8E-0DE6-B2678CB2A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851104"/>
              </p:ext>
            </p:extLst>
          </p:nvPr>
        </p:nvGraphicFramePr>
        <p:xfrm>
          <a:off x="628650" y="1192003"/>
          <a:ext cx="7886700" cy="524256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9471834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168201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797093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Feature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MS Access (Small-scale)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Azure SQL (Enterprise)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758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Data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Small (MBs–GBs)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Huge (TBs–PBs)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517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Users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1–10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1000s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011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Basic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Advanced (RBAC + encryption)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491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One-time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Subscription (monthly)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672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Example (Aus)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Café loyalty program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Qantas booking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37880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226A050-42A1-06B7-1FB7-86C9E510F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2876"/>
            <a:ext cx="284571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Comparison Table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412237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332D40D-1DBD-760F-F5F8-3A2AD172E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7FE8B-1E99-F498-04B2-4D68AA563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D2C93-67BD-8EF8-AE05-7640E6B9D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AA4E717-1304-0FA0-530A-F968FA06C7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Enterprise-scale DBMS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5FB19-59E4-3D01-CE3C-C384BB4C1584}"/>
              </a:ext>
            </a:extLst>
          </p:cNvPr>
          <p:cNvSpPr txBox="1"/>
          <p:nvPr/>
        </p:nvSpPr>
        <p:spPr>
          <a:xfrm>
            <a:off x="0" y="796867"/>
            <a:ext cx="9144000" cy="5431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Calibir"/>
              </a:rPr>
              <a:t>Access DB:</a:t>
            </a:r>
            <a:r>
              <a:rPr lang="en-US" sz="2600" dirty="0">
                <a:latin typeface="Calibir"/>
              </a:rPr>
              <a:t> You’ll see the file size is small and usually only supports a handful of users.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Calibir"/>
              </a:rPr>
              <a:t>Scaling to Woolworths:</a:t>
            </a:r>
            <a:r>
              <a:rPr lang="en-US" sz="2600" dirty="0">
                <a:latin typeface="Calibir"/>
              </a:rPr>
              <a:t> Problems would include slow performance, frequent crashes, limited security, and no ability to handle thousands of users or massive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b="1" dirty="0">
                <a:latin typeface="Calibir"/>
              </a:rPr>
              <a:t>Discussion point:</a:t>
            </a:r>
            <a:r>
              <a:rPr lang="en-US" sz="2600" dirty="0">
                <a:latin typeface="Calibir"/>
              </a:rPr>
              <a:t> Woolworths would never run on Access because it needs a system that can handle millions of transactions daily, strict security, and high availability — things only enterprise systems like Azure SQL or Oracle can provide.</a:t>
            </a:r>
          </a:p>
        </p:txBody>
      </p:sp>
    </p:spTree>
    <p:extLst>
      <p:ext uri="{BB962C8B-B14F-4D97-AF65-F5344CB8AC3E}">
        <p14:creationId xmlns:p14="http://schemas.microsoft.com/office/powerpoint/2010/main" val="67841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EBDBEF8-ED3C-3DE7-8B5A-EE26DD8C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27AFB-36BA-2C06-DA3A-9541D2D0E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EE572-C282-14F5-CF81-1F31E78D5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81AAA97-38AA-F8B3-8866-E3C7A1E2F2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22358-E558-0038-01DC-4E75D47E5463}"/>
              </a:ext>
            </a:extLst>
          </p:cNvPr>
          <p:cNvSpPr txBox="1"/>
          <p:nvPr/>
        </p:nvSpPr>
        <p:spPr>
          <a:xfrm>
            <a:off x="0" y="1477248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IaaS, PaaS, SaaS – Simple Explanation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IaaS:</a:t>
            </a:r>
            <a:r>
              <a:rPr lang="en-US" sz="2800" dirty="0">
                <a:latin typeface="Calibir"/>
              </a:rPr>
              <a:t> You rent a server. You manage everything yourself.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PaaS:</a:t>
            </a:r>
            <a:r>
              <a:rPr lang="en-US" sz="2800" dirty="0">
                <a:latin typeface="Calibir"/>
              </a:rPr>
              <a:t> You get a managed platform. Example: </a:t>
            </a:r>
            <a:r>
              <a:rPr lang="en-US" sz="2800" b="1" dirty="0">
                <a:latin typeface="Calibir"/>
              </a:rPr>
              <a:t>Azure SQL</a:t>
            </a:r>
            <a:r>
              <a:rPr lang="en-US" sz="2800" dirty="0">
                <a:latin typeface="Calibir"/>
              </a:rPr>
              <a:t> (Microsoft handles backups &amp; security).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SaaS:</a:t>
            </a:r>
            <a:r>
              <a:rPr lang="en-US" sz="2800" dirty="0">
                <a:latin typeface="Calibir"/>
              </a:rPr>
              <a:t> Software delivered to you, ready to use. Example: </a:t>
            </a:r>
            <a:r>
              <a:rPr lang="en-US" sz="2800" b="1" dirty="0">
                <a:latin typeface="Calibir"/>
              </a:rPr>
              <a:t>Gmail, Office 365</a:t>
            </a:r>
            <a:r>
              <a:rPr 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9033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E534BD2-85FC-960E-14CF-4F267D79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ED90D7-09C7-9CBD-6BF5-2C04A431D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ADDDF-E2DE-2742-CE00-EE18345420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225FBA-D8CA-87CA-C61F-BA722A6BFE3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9F120E-3A96-2836-E8DE-812D70371B16}"/>
              </a:ext>
            </a:extLst>
          </p:cNvPr>
          <p:cNvSpPr txBox="1"/>
          <p:nvPr/>
        </p:nvSpPr>
        <p:spPr>
          <a:xfrm>
            <a:off x="0" y="1477248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IaaS = Infrastructure as a Service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PaaS = Platform as a Service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SaaS = Software as a Service </a:t>
            </a:r>
          </a:p>
        </p:txBody>
      </p:sp>
    </p:spTree>
    <p:extLst>
      <p:ext uri="{BB962C8B-B14F-4D97-AF65-F5344CB8AC3E}">
        <p14:creationId xmlns:p14="http://schemas.microsoft.com/office/powerpoint/2010/main" val="2308773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D8A0F58-5CCA-4595-FD81-11697694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0FFDD7-B2B8-E701-1B7A-5A96582EE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600D02-15FC-586F-2CA2-CD2E4790A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2C5E841-18D2-82A2-A968-34E3A409A4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6CF06-ABB8-8FD5-3135-27E2C0CEB20D}"/>
              </a:ext>
            </a:extLst>
          </p:cNvPr>
          <p:cNvSpPr txBox="1"/>
          <p:nvPr/>
        </p:nvSpPr>
        <p:spPr>
          <a:xfrm>
            <a:off x="0" y="1477248"/>
            <a:ext cx="9144000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IaaS (Infrastructure as a Service)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rent the basic building blocks (servers, storage, network)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You control almost everything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manage: OS, apps, data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Provider manages: hardware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Think: “I get the computer, I do the rest”</a:t>
            </a:r>
          </a:p>
        </p:txBody>
      </p:sp>
    </p:spTree>
    <p:extLst>
      <p:ext uri="{BB962C8B-B14F-4D97-AF65-F5344CB8AC3E}">
        <p14:creationId xmlns:p14="http://schemas.microsoft.com/office/powerpoint/2010/main" val="420238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2ADDEA1-3D52-373B-5899-778370F8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241B29-88FF-079D-0167-A9A917EB84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6BA0F-A8A4-92C3-BC2C-559A26B49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4F4E0E4-B16C-79B7-121F-63CDB21836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8FE89F-8ADD-9533-FCCA-8F186789E148}"/>
              </a:ext>
            </a:extLst>
          </p:cNvPr>
          <p:cNvSpPr txBox="1"/>
          <p:nvPr/>
        </p:nvSpPr>
        <p:spPr>
          <a:xfrm>
            <a:off x="0" y="1477248"/>
            <a:ext cx="9144000" cy="32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PaaS (Platform as a Service)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get a ready-made environment to build/run apps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manage: your app + data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Provider manages: OS, runtime, updates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Think: “I just build my app”</a:t>
            </a:r>
          </a:p>
        </p:txBody>
      </p:sp>
    </p:spTree>
    <p:extLst>
      <p:ext uri="{BB962C8B-B14F-4D97-AF65-F5344CB8AC3E}">
        <p14:creationId xmlns:p14="http://schemas.microsoft.com/office/powerpoint/2010/main" val="399662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858603E-99BB-0A9F-3CF7-15A5D0509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45AB18-8DA5-37D3-50BD-C93C8CB23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3121D-95D3-301C-6295-50D920603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429CF2C-CE37-E844-8AB0-735FA22535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12EF1-57D4-0BC1-2C60-E72B39CFA02A}"/>
              </a:ext>
            </a:extLst>
          </p:cNvPr>
          <p:cNvSpPr txBox="1"/>
          <p:nvPr/>
        </p:nvSpPr>
        <p:spPr>
          <a:xfrm>
            <a:off x="0" y="1477248"/>
            <a:ext cx="9144000" cy="32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SaaS (Software as a Service)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just use the software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manage: nothing technical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Provider manages: everything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Think: “I just use it”</a:t>
            </a:r>
          </a:p>
        </p:txBody>
      </p:sp>
    </p:spTree>
    <p:extLst>
      <p:ext uri="{BB962C8B-B14F-4D97-AF65-F5344CB8AC3E}">
        <p14:creationId xmlns:p14="http://schemas.microsoft.com/office/powerpoint/2010/main" val="403127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FD6DCCF-E258-852E-5DBB-5A2AF2BE8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94163-6644-FFD9-6A5A-FC1CC46F5B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322B6-5492-3A94-6598-A7B8A1F54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9F0AB4A-AB03-C52A-1ECA-73B759A4B8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514F94-8723-7C1D-5B70-70706B3358A6}"/>
              </a:ext>
            </a:extLst>
          </p:cNvPr>
          <p:cNvSpPr txBox="1"/>
          <p:nvPr/>
        </p:nvSpPr>
        <p:spPr>
          <a:xfrm>
            <a:off x="0" y="1477248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Easy memory trick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IaaS → Infrastructure → lowest level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PaaS → Platform → middle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SaaS → Software → highest (user level)</a:t>
            </a:r>
          </a:p>
        </p:txBody>
      </p:sp>
    </p:spTree>
    <p:extLst>
      <p:ext uri="{BB962C8B-B14F-4D97-AF65-F5344CB8AC3E}">
        <p14:creationId xmlns:p14="http://schemas.microsoft.com/office/powerpoint/2010/main" val="77765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AB96C32-A0F9-B116-8EB0-533F38CD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7D36A-AC74-4CB0-8CD5-8907712FB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7DA3B-F2CA-6DF9-979A-EE7210B9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8FAD461-D9DD-C729-2CC8-1113285ECB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58176E-7825-4989-9FD8-91E2382C8DDE}"/>
              </a:ext>
            </a:extLst>
          </p:cNvPr>
          <p:cNvSpPr txBox="1"/>
          <p:nvPr/>
        </p:nvSpPr>
        <p:spPr>
          <a:xfrm>
            <a:off x="0" y="1477248"/>
            <a:ext cx="9144000" cy="1961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IaaS = control everything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PaaS = build apps only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SaaS = just use the software</a:t>
            </a:r>
          </a:p>
        </p:txBody>
      </p:sp>
    </p:spTree>
    <p:extLst>
      <p:ext uri="{BB962C8B-B14F-4D97-AF65-F5344CB8AC3E}">
        <p14:creationId xmlns:p14="http://schemas.microsoft.com/office/powerpoint/2010/main" val="3725081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3CF1D04-6C22-4268-48CE-15766D41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80B9E7-B922-4E5A-6E82-FB7E4C83E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7186C-1BC5-C836-4F3E-2832B3AE5F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980EC4-874E-D2AE-5A60-42EC421BE7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B1CE1-947D-00BC-C22F-D2F1AB537D90}"/>
              </a:ext>
            </a:extLst>
          </p:cNvPr>
          <p:cNvSpPr txBox="1"/>
          <p:nvPr/>
        </p:nvSpPr>
        <p:spPr>
          <a:xfrm>
            <a:off x="0" y="1477248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IaaS =</a:t>
            </a:r>
            <a:r>
              <a:rPr lang="en-US" sz="2800" dirty="0">
                <a:latin typeface="Calibir"/>
              </a:rPr>
              <a:t> renting a block of land &amp; building your own house.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PaaS =</a:t>
            </a:r>
            <a:r>
              <a:rPr lang="en-US" sz="2800" dirty="0">
                <a:latin typeface="Calibir"/>
              </a:rPr>
              <a:t> renting an apartment with services included.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Calibir"/>
              </a:rPr>
              <a:t>SaaS =</a:t>
            </a:r>
            <a:r>
              <a:rPr lang="en-US" sz="2800" dirty="0">
                <a:latin typeface="Calibir"/>
              </a:rPr>
              <a:t> Airbnb – just move in and use it, no management.</a:t>
            </a:r>
          </a:p>
        </p:txBody>
      </p:sp>
    </p:spTree>
    <p:extLst>
      <p:ext uri="{BB962C8B-B14F-4D97-AF65-F5344CB8AC3E}">
        <p14:creationId xmlns:p14="http://schemas.microsoft.com/office/powerpoint/2010/main" val="3076992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06B82EF-4799-BC44-05E6-EC66C0D6D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5316F9-A075-FEF8-259F-AACD1F223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EB038-AB73-84C6-1547-597D0A1879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B935E36-368B-1CFB-2731-DCB9888D0A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Cloud Models (IaaS, PaaS, SaaS)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265B0E-413C-8AEB-61F6-9DF0D44FE936}"/>
              </a:ext>
            </a:extLst>
          </p:cNvPr>
          <p:cNvSpPr txBox="1"/>
          <p:nvPr/>
        </p:nvSpPr>
        <p:spPr>
          <a:xfrm>
            <a:off x="0" y="796867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Discussion Question)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Classify these: Office 365, Azure SQL, Google Drive → IaaS, PaaS, SaaS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Model Answer: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Office 365 → SaaS (ready-to-use software)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Azure SQL → PaaS (managed database platform)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Google Drive → SaaS (software/storage service you just use)</a:t>
            </a:r>
          </a:p>
        </p:txBody>
      </p:sp>
    </p:spTree>
    <p:extLst>
      <p:ext uri="{BB962C8B-B14F-4D97-AF65-F5344CB8AC3E}">
        <p14:creationId xmlns:p14="http://schemas.microsoft.com/office/powerpoint/2010/main" val="95342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A6C708C-791F-8B1D-9F75-E591B0CBF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2F958E1-CC5B-5769-0C9A-B999C54E74CF}"/>
              </a:ext>
            </a:extLst>
          </p:cNvPr>
          <p:cNvSpPr txBox="1"/>
          <p:nvPr/>
        </p:nvSpPr>
        <p:spPr>
          <a:xfrm>
            <a:off x="0" y="246023"/>
            <a:ext cx="9144000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Provisioning = setting up a cloud service.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Azure SQL steps (overview):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Choose subscription (student/</a:t>
            </a:r>
            <a:r>
              <a:rPr lang="en-US" sz="2800" dirty="0" err="1">
                <a:latin typeface="Calibir"/>
              </a:rPr>
              <a:t>edu</a:t>
            </a:r>
            <a:r>
              <a:rPr lang="en-US" sz="2800" dirty="0">
                <a:latin typeface="Calibir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Pick/create a resource group.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Database name = </a:t>
            </a:r>
            <a:r>
              <a:rPr lang="en-US" sz="2800" dirty="0" err="1">
                <a:latin typeface="Calibir"/>
              </a:rPr>
              <a:t>StudentIDName</a:t>
            </a:r>
            <a:r>
              <a:rPr lang="en-US" sz="2800" dirty="0">
                <a:latin typeface="Calibir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Admin login + password.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Region = </a:t>
            </a:r>
            <a:r>
              <a:rPr lang="en-US" sz="2800" i="1" dirty="0">
                <a:latin typeface="Calibir"/>
              </a:rPr>
              <a:t>Australia East (Sydney)</a:t>
            </a:r>
            <a:r>
              <a:rPr lang="en-US" sz="2800" dirty="0">
                <a:latin typeface="Calibir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DB Name: A00127870_SajanDB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Resource Group: StudentRG2025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98124-802D-52E1-EDEB-24999BD17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9868D-5B07-6D53-D31C-CB9C8976B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1AAC9AE-2BFF-9E3F-7236-7F4E82C9D6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Provisioning Azure SQL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787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021F381-0079-2C9D-0FD0-60DC56FB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1AFBB0-EB9E-B5C8-4A55-0720B3E1D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2B4B8-A24D-D14D-CE9A-1F8C5903F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CC44E-AAFD-0E86-3D4C-FEA014AFA646}"/>
              </a:ext>
            </a:extLst>
          </p:cNvPr>
          <p:cNvSpPr txBox="1"/>
          <p:nvPr/>
        </p:nvSpPr>
        <p:spPr>
          <a:xfrm>
            <a:off x="0" y="1015503"/>
            <a:ext cx="9144000" cy="58424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SQL = Structured Query Language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common language all databases understand.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use it to ask for information.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Example Queries</a:t>
            </a:r>
            <a:endParaRPr lang="en-US" sz="2800" dirty="0">
              <a:latin typeface="Calibir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SELECT * FROM Customers; → shows </a:t>
            </a:r>
            <a:r>
              <a:rPr lang="en-US" sz="2800" i="1" dirty="0">
                <a:latin typeface="Calibir"/>
              </a:rPr>
              <a:t>all</a:t>
            </a:r>
            <a:r>
              <a:rPr lang="en-US" sz="2800" dirty="0">
                <a:latin typeface="Calibir"/>
              </a:rPr>
              <a:t> details of all customers.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SELECT FirstName, LastName FROM Employees WHERE Department='IT'; → shows only names of employees in IT.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B4B8B90-37B4-4BD4-5376-4ACCE6F371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SQL Basics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992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0EC2E5E-AEAA-2E85-7C74-73904333B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5E45A-89AD-80F8-C9BE-EB5D1A0DC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88727-B85B-F658-7EB5-4E50231CC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D787F2-5B5C-9EB8-05C2-20377B9CA4B5}"/>
              </a:ext>
            </a:extLst>
          </p:cNvPr>
          <p:cNvSpPr txBox="1"/>
          <p:nvPr/>
        </p:nvSpPr>
        <p:spPr>
          <a:xfrm>
            <a:off x="0" y="1015503"/>
            <a:ext cx="9144000" cy="32571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SQL is like ordering food in a restaurant: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You ask (query) → “I want a pizza.”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The kitchen (database) prepares and delivers your order.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2DF3307-E37B-5886-7755-8F9A8C4A88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SQL Basics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0031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096CCE2-A924-DCA7-D1CF-1DD75A7C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FD1D9-F7FB-9562-569D-A6A9B16CC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28774-90E5-7307-63A8-36E5C64AD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3C059-361B-1C93-7A03-3ADACFFD0706}"/>
              </a:ext>
            </a:extLst>
          </p:cNvPr>
          <p:cNvSpPr txBox="1"/>
          <p:nvPr/>
        </p:nvSpPr>
        <p:spPr>
          <a:xfrm>
            <a:off x="0" y="1015503"/>
            <a:ext cx="9144000" cy="39035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Security Principal = Who → e.g., user, student, staff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Role = What they can do → read, write, delete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Scope = Where → database, table, or resource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A bank teller can </a:t>
            </a:r>
            <a:r>
              <a:rPr lang="en-US" sz="2800" i="1" dirty="0">
                <a:latin typeface="Calibir"/>
              </a:rPr>
              <a:t>view customer accounts</a:t>
            </a:r>
            <a:r>
              <a:rPr lang="en-US" sz="2800" dirty="0">
                <a:latin typeface="Calibir"/>
              </a:rPr>
              <a:t> but cannot </a:t>
            </a:r>
            <a:r>
              <a:rPr lang="en-US" sz="2800" i="1" dirty="0">
                <a:latin typeface="Calibir"/>
              </a:rPr>
              <a:t>change system passwords</a:t>
            </a:r>
            <a:r>
              <a:rPr lang="en-US" sz="2800" dirty="0">
                <a:latin typeface="Calibir"/>
              </a:rPr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A64DCC5-A401-74CF-40D0-4EC325F22E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515922" cy="1015504"/>
          </a:xfrm>
        </p:spPr>
        <p:txBody>
          <a:bodyPr>
            <a:noAutofit/>
          </a:bodyPr>
          <a:lstStyle/>
          <a:p>
            <a:r>
              <a:rPr lang="en-US" sz="3200" dirty="0"/>
              <a:t>Security in Azure – RBAC (Role-Based Access Control)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761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2B3BD14-F390-58F9-B32E-29269B3D3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1E55EB-572F-7876-5765-9EDE610E4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EB0AE-5342-3CEA-B786-8ADFAC677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434B55-B74B-91B1-9B9B-F197A518D23F}"/>
              </a:ext>
            </a:extLst>
          </p:cNvPr>
          <p:cNvSpPr txBox="1"/>
          <p:nvPr/>
        </p:nvSpPr>
        <p:spPr>
          <a:xfrm>
            <a:off x="0" y="1015503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Hands-on Debate</a:t>
            </a:r>
            <a:br>
              <a:rPr lang="en-US" sz="2800" dirty="0">
                <a:latin typeface="Calibir"/>
              </a:rPr>
            </a:br>
            <a:r>
              <a:rPr lang="en-US" sz="2800" i="1" dirty="0">
                <a:latin typeface="Calibir"/>
              </a:rPr>
              <a:t>Question:</a:t>
            </a:r>
            <a:r>
              <a:rPr lang="en-US" sz="2800" dirty="0">
                <a:latin typeface="Calibir"/>
              </a:rPr>
              <a:t> Should students have full admin rights on Uni DBs?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Answer: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No — giving students full admin rights is risky. They might: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Accidentally delete or change important data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Access private information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Cause security or system issues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94ACEE7-2197-2E6A-B6FD-51ADFCFF5E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515922" cy="1015504"/>
          </a:xfrm>
        </p:spPr>
        <p:txBody>
          <a:bodyPr>
            <a:noAutofit/>
          </a:bodyPr>
          <a:lstStyle/>
          <a:p>
            <a:r>
              <a:rPr lang="en-US" sz="3200" dirty="0"/>
              <a:t>Security in Azure – RBAC (Role-Based Access Control)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23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00DBD0E-69B3-9C06-E4F3-7918BBC25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38CB1-1483-0B51-81A3-C911D1229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84D17-F4E9-743A-8E2C-D533BD1480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6D544-21C6-4F90-20A7-6F56E2761C7F}"/>
              </a:ext>
            </a:extLst>
          </p:cNvPr>
          <p:cNvSpPr txBox="1"/>
          <p:nvPr/>
        </p:nvSpPr>
        <p:spPr>
          <a:xfrm>
            <a:off x="0" y="1015503"/>
            <a:ext cx="9144000" cy="26108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Better approach: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Students should only get the role and scope they need (e.g., read-only access for learning).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Admin rights stay with IT staff to keep the system safe.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4B7F5E-ACB5-1CA6-F0A2-226ABF9BB2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515922" cy="1015504"/>
          </a:xfrm>
        </p:spPr>
        <p:txBody>
          <a:bodyPr>
            <a:noAutofit/>
          </a:bodyPr>
          <a:lstStyle/>
          <a:p>
            <a:r>
              <a:rPr lang="en-US" sz="3200" dirty="0"/>
              <a:t>Security in Azure – RBAC (Role-Based Access Control)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303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692F556-4A78-6AB0-AA7B-553068855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A0439-A4C3-6AD6-FAD7-3EE1235F0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4141B-7260-16E1-C9EE-417F6AC56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470423-212E-5002-FDB1-62075B86CBAF}"/>
              </a:ext>
            </a:extLst>
          </p:cNvPr>
          <p:cNvSpPr txBox="1"/>
          <p:nvPr/>
        </p:nvSpPr>
        <p:spPr>
          <a:xfrm>
            <a:off x="-8314" y="716754"/>
            <a:ext cx="6958361" cy="13154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Week 8+ uses Virtual Lab in browser, no install needed.</a:t>
            </a:r>
            <a:endParaRPr lang="en-US" sz="2600" dirty="0">
              <a:latin typeface="Calibir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82FCDCF-350B-D62A-1759-A2128952A7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54CE2661-992E-6523-53CC-DDEC605DD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314" y="2032179"/>
            <a:ext cx="9144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Topic: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Exploring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Azure SQL Database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Focus: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How to create (provision), secure, and query a cloud database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070611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4CDD622-4FC3-45D5-1A6C-54F4F4E3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43815A-62B9-7BC2-E88D-030AC109A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20162-CD5C-444C-99B7-B9C90C805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DB6A29-42DE-A7C3-8385-F727F17DEB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689A67-83C0-9D5C-A0BC-628A9A9F7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477248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Why important?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Real-world companies use cloud DBs (banks, airlines, supermarkets)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Same SQL language works in Access </a:t>
            </a:r>
            <a:r>
              <a:rPr lang="en-US" altLang="en-US" sz="2800" i="1" dirty="0">
                <a:latin typeface="Calibir"/>
              </a:rPr>
              <a:t>and</a:t>
            </a:r>
            <a:r>
              <a:rPr lang="en-US" altLang="en-US" sz="2800" dirty="0">
                <a:latin typeface="Calibir"/>
              </a:rPr>
              <a:t> Azure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Learn how to scale from small desktop DBs → enterprise cloud systems</a:t>
            </a:r>
          </a:p>
        </p:txBody>
      </p:sp>
    </p:spTree>
    <p:extLst>
      <p:ext uri="{BB962C8B-B14F-4D97-AF65-F5344CB8AC3E}">
        <p14:creationId xmlns:p14="http://schemas.microsoft.com/office/powerpoint/2010/main" val="208123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AAE0F21-7FFA-306A-C76B-25D1BE75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2A2C4E-8814-1E3D-65B7-271479541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BD0CA-4C0C-F7EC-7615-2F276D4F55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6D5A304-D07C-590D-0202-1AFCB07679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7267E6D-B1EA-0022-0089-8E2A3E5BA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7974"/>
            <a:ext cx="9144000" cy="584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Learning Goals for Week 8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Understand how to provision an Azure SQL Database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Practice SQL queries in the cloud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Compare Access vs Azure results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Apply security basics (RBAC roles &amp; scope)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Analogy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Running queries in Access is like using a calculator.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Running queries in Azure is like using a supercomputer that many people can share safely.</a:t>
            </a:r>
          </a:p>
        </p:txBody>
      </p:sp>
    </p:spTree>
    <p:extLst>
      <p:ext uri="{BB962C8B-B14F-4D97-AF65-F5344CB8AC3E}">
        <p14:creationId xmlns:p14="http://schemas.microsoft.com/office/powerpoint/2010/main" val="2026182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0660180-C222-1C0E-972D-3D88A9D4F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45A6B1-8B80-DB67-9023-1B2F212A7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A225C-DA99-BC7A-E7E6-1795A09120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40C5FD-988D-4753-DC88-3C6402DBE469}"/>
              </a:ext>
            </a:extLst>
          </p:cNvPr>
          <p:cNvSpPr txBox="1"/>
          <p:nvPr/>
        </p:nvSpPr>
        <p:spPr>
          <a:xfrm>
            <a:off x="0" y="826289"/>
            <a:ext cx="6958361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Go to </a:t>
            </a:r>
            <a:r>
              <a:rPr lang="en-US" sz="2800" dirty="0">
                <a:latin typeface="Calibir"/>
                <a:hlinkClick r:id="rId3"/>
              </a:rPr>
              <a:t>https://msle.learnondemand.net/</a:t>
            </a:r>
            <a:endParaRPr lang="en-US" sz="2800" dirty="0">
              <a:latin typeface="Calibir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FEF29E-E553-F396-FF4A-DC7E74AA1C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15480-5E60-B12D-3600-734E22923A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16" b="22221"/>
          <a:stretch>
            <a:fillRect/>
          </a:stretch>
        </p:blipFill>
        <p:spPr>
          <a:xfrm>
            <a:off x="0" y="1660791"/>
            <a:ext cx="9144000" cy="354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9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B4B3C99-773F-D93A-E106-B8206DAD3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2E2A84-6FC5-D270-6994-E15368ED9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3BECF-E77A-8113-D0ED-7C81AB7E49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E87601-8431-4FE0-DF22-0FA2253C49F6}"/>
              </a:ext>
            </a:extLst>
          </p:cNvPr>
          <p:cNvSpPr txBox="1"/>
          <p:nvPr/>
        </p:nvSpPr>
        <p:spPr>
          <a:xfrm>
            <a:off x="0" y="604807"/>
            <a:ext cx="9144000" cy="6304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 Register with key: </a:t>
            </a:r>
            <a:r>
              <a:rPr lang="en-US" altLang="en-US" sz="2600" dirty="0">
                <a:highlight>
                  <a:srgbClr val="FFFF00"/>
                </a:highlight>
                <a:latin typeface="Calibir"/>
              </a:rPr>
              <a:t>39595D4F29DCCDC7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619BDE-E79E-2F77-94C8-266A2E4AAD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3820C7-2434-92DD-B7D7-8A3719D1DF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17" b="39268"/>
          <a:stretch>
            <a:fillRect/>
          </a:stretch>
        </p:blipFill>
        <p:spPr>
          <a:xfrm>
            <a:off x="0" y="1235236"/>
            <a:ext cx="9144000" cy="259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333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70E4995-418E-9ED9-9AF4-8457551B4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6E405-60CE-5E91-64E7-E765ECC28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D42B9-7D77-0901-E963-68CCCF4FC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6E4E-53FB-6B28-65D4-1B46B3A3F0B0}"/>
              </a:ext>
            </a:extLst>
          </p:cNvPr>
          <p:cNvSpPr txBox="1"/>
          <p:nvPr/>
        </p:nvSpPr>
        <p:spPr>
          <a:xfrm>
            <a:off x="0" y="604807"/>
            <a:ext cx="9144000" cy="6304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Fill the form</a:t>
            </a:r>
            <a:endParaRPr lang="en-US" altLang="en-US" sz="2600" dirty="0">
              <a:highlight>
                <a:srgbClr val="FFFF00"/>
              </a:highlight>
              <a:latin typeface="Calibir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12FB324-BA9B-4A55-EE0F-E015A7FF3C0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9A873D-ABB6-F4F7-E620-21A7C9AA66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4" b="9134"/>
          <a:stretch>
            <a:fillRect/>
          </a:stretch>
        </p:blipFill>
        <p:spPr>
          <a:xfrm>
            <a:off x="0" y="1326015"/>
            <a:ext cx="9144000" cy="420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95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85937B1-D57B-0FEF-40C9-9BAB64F1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DA9A4-F7F2-71AF-4CA4-1BF8B30163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2E1A2-7FB2-A8A6-4F22-E9323412C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7472EC-45A5-C1AC-6119-44A90D6307F3}"/>
              </a:ext>
            </a:extLst>
          </p:cNvPr>
          <p:cNvSpPr txBox="1"/>
          <p:nvPr/>
        </p:nvSpPr>
        <p:spPr>
          <a:xfrm>
            <a:off x="0" y="604807"/>
            <a:ext cx="9144000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highlight>
                  <a:srgbClr val="FFFF00"/>
                </a:highlight>
                <a:latin typeface="Calibir"/>
              </a:rPr>
              <a:t>If already registered and you want to log in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C8CE659-6094-5CED-99D1-FE3E8F5F93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66419-0FBE-2468-D8FE-0927B08B692E}"/>
              </a:ext>
            </a:extLst>
          </p:cNvPr>
          <p:cNvSpPr txBox="1"/>
          <p:nvPr/>
        </p:nvSpPr>
        <p:spPr>
          <a:xfrm>
            <a:off x="0" y="1325036"/>
            <a:ext cx="914400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On the popup (as in your screenshot), choose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Skillable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Account</a:t>
            </a:r>
            <a:r>
              <a:rPr lang="en-US" sz="2800" dirty="0">
                <a:latin typeface="Calibir"/>
              </a:rPr>
              <a:t>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Enter the username/email and password you created when you first registered with the key.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Once logged in, you’ll see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your training dashboard →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then launch Explore Azure 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SQL Database.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53A05C-23D6-EE71-AC47-157B7926D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83" t="36054" r="36322" b="24108"/>
          <a:stretch>
            <a:fillRect/>
          </a:stretch>
        </p:blipFill>
        <p:spPr>
          <a:xfrm>
            <a:off x="5181600" y="3816642"/>
            <a:ext cx="3962400" cy="3041358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2FEAA7-DCCF-7FCE-AAAE-74B2118B8199}"/>
              </a:ext>
            </a:extLst>
          </p:cNvPr>
          <p:cNvSpPr/>
          <p:nvPr/>
        </p:nvSpPr>
        <p:spPr>
          <a:xfrm>
            <a:off x="5286703" y="5875283"/>
            <a:ext cx="3731173" cy="69429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7525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C4B13F1-8006-751B-6256-2E6EA564A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0560C8-505B-0D9E-92B6-5432E4D13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BC23A-0D88-B887-93F9-9CD807532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63DBAB1-50B4-1B8A-E73E-D1DC3A3DC7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C7B63-FACA-7370-9B51-7AF7958ACE16}"/>
              </a:ext>
            </a:extLst>
          </p:cNvPr>
          <p:cNvSpPr txBox="1"/>
          <p:nvPr/>
        </p:nvSpPr>
        <p:spPr>
          <a:xfrm>
            <a:off x="0" y="1325036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2800" dirty="0">
                <a:latin typeface="Calibir"/>
              </a:rPr>
              <a:t>Don’t pick Microsoft Account or Entra ID unless your lab instructions specifically require it — those are for enterprise logins.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6D3C3C-EBC7-BCD9-0A8B-34CFADBC00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483" t="36054" r="36322" b="24108"/>
          <a:stretch>
            <a:fillRect/>
          </a:stretch>
        </p:blipFill>
        <p:spPr>
          <a:xfrm>
            <a:off x="5181600" y="3816642"/>
            <a:ext cx="3962400" cy="304135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7C4369-8114-93D2-C741-85A11A8AECF5}"/>
              </a:ext>
            </a:extLst>
          </p:cNvPr>
          <p:cNvSpPr/>
          <p:nvPr/>
        </p:nvSpPr>
        <p:spPr>
          <a:xfrm>
            <a:off x="5286703" y="5875283"/>
            <a:ext cx="3731173" cy="69429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2B2FB-4912-C2AA-7D08-139BC120FFE3}"/>
              </a:ext>
            </a:extLst>
          </p:cNvPr>
          <p:cNvSpPr txBox="1"/>
          <p:nvPr/>
        </p:nvSpPr>
        <p:spPr>
          <a:xfrm>
            <a:off x="0" y="604807"/>
            <a:ext cx="9144000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highlight>
                  <a:srgbClr val="FFFF00"/>
                </a:highlight>
                <a:latin typeface="Calibir"/>
              </a:rPr>
              <a:t>If already registered and you want to log in</a:t>
            </a:r>
          </a:p>
        </p:txBody>
      </p:sp>
    </p:spTree>
    <p:extLst>
      <p:ext uri="{BB962C8B-B14F-4D97-AF65-F5344CB8AC3E}">
        <p14:creationId xmlns:p14="http://schemas.microsoft.com/office/powerpoint/2010/main" val="176954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BA0F7C-BED2-1A10-AD77-A3A0467F3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DEE1EE-F734-8BDD-363A-BB10BF495D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FC96E-5D3D-5846-1621-EAB73004A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B97B283-CADB-D7D5-63A3-95FFB836EF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5D358-04BB-B3AC-02FF-5A88CBB044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948"/>
          <a:stretch>
            <a:fillRect/>
          </a:stretch>
        </p:blipFill>
        <p:spPr>
          <a:xfrm>
            <a:off x="0" y="811320"/>
            <a:ext cx="9144000" cy="427179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E613094-7CC7-CF78-572F-EBC068480027}"/>
              </a:ext>
            </a:extLst>
          </p:cNvPr>
          <p:cNvSpPr/>
          <p:nvPr/>
        </p:nvSpPr>
        <p:spPr>
          <a:xfrm>
            <a:off x="1002182" y="3490372"/>
            <a:ext cx="1192378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5BBE3E-4C5A-4578-83E3-4594D04B97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284" r="59247" b="41159"/>
          <a:stretch>
            <a:fillRect/>
          </a:stretch>
        </p:blipFill>
        <p:spPr>
          <a:xfrm>
            <a:off x="0" y="5379431"/>
            <a:ext cx="3726426" cy="116020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AC8D17E-750B-F482-C0D6-84C7DB3F2036}"/>
              </a:ext>
            </a:extLst>
          </p:cNvPr>
          <p:cNvCxnSpPr>
            <a:stCxn id="8" idx="2"/>
            <a:endCxn id="12" idx="3"/>
          </p:cNvCxnSpPr>
          <p:nvPr/>
        </p:nvCxnSpPr>
        <p:spPr>
          <a:xfrm rot="5400000">
            <a:off x="3711005" y="5098539"/>
            <a:ext cx="876417" cy="845574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BF7AC0D-46B2-5A4D-D4BE-037FF8632D4D}"/>
              </a:ext>
            </a:extLst>
          </p:cNvPr>
          <p:cNvSpPr txBox="1"/>
          <p:nvPr/>
        </p:nvSpPr>
        <p:spPr>
          <a:xfrm>
            <a:off x="832757" y="5886516"/>
            <a:ext cx="2173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highlight>
                  <a:srgbClr val="FFFF00"/>
                </a:highlight>
                <a:latin typeface="Calibir"/>
              </a:rPr>
              <a:t>39595D4F29DCCDC7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367DF0-FCE5-2F6C-B2D1-22B1F548FCE8}"/>
              </a:ext>
            </a:extLst>
          </p:cNvPr>
          <p:cNvSpPr txBox="1"/>
          <p:nvPr/>
        </p:nvSpPr>
        <p:spPr>
          <a:xfrm>
            <a:off x="1" y="604807"/>
            <a:ext cx="6872748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highlight>
                  <a:srgbClr val="FFFF00"/>
                </a:highlight>
                <a:latin typeface="Calibir"/>
              </a:rPr>
              <a:t>If already registered and you want to log in</a:t>
            </a:r>
          </a:p>
        </p:txBody>
      </p:sp>
    </p:spTree>
    <p:extLst>
      <p:ext uri="{BB962C8B-B14F-4D97-AF65-F5344CB8AC3E}">
        <p14:creationId xmlns:p14="http://schemas.microsoft.com/office/powerpoint/2010/main" val="32803107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6D1511E-430F-5932-DE78-B2E42FE7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B923C3-17FE-6F19-EA8B-936B30643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605F2-5F68-2022-E3E1-4E6C73455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108AE6-0F62-CCA6-42D3-A426C8B51273}"/>
              </a:ext>
            </a:extLst>
          </p:cNvPr>
          <p:cNvSpPr txBox="1"/>
          <p:nvPr/>
        </p:nvSpPr>
        <p:spPr>
          <a:xfrm>
            <a:off x="0" y="604807"/>
            <a:ext cx="7246374" cy="123059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View Agreement </a:t>
            </a:r>
            <a:r>
              <a:rPr lang="en-US" altLang="en-US" sz="2600" dirty="0">
                <a:highlight>
                  <a:srgbClr val="FFFF00"/>
                </a:highlight>
                <a:latin typeface="Calibir"/>
              </a:rPr>
              <a:t>(either you just registered or logged in, you will see this page)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3192253-224A-8D12-E35A-7DAAB51561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494E96-6784-57D5-CB5A-BED3ABD6B6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15" b="8266"/>
          <a:stretch>
            <a:fillRect/>
          </a:stretch>
        </p:blipFill>
        <p:spPr>
          <a:xfrm>
            <a:off x="766557" y="1829395"/>
            <a:ext cx="7610886" cy="3601250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90310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EC53948-5EC8-4A15-8377-D5662C20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06C364-AE2D-1EA1-C99B-0969B82BC9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B1E07-E89D-3202-D3D3-A07743DE1D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E618E-2286-199B-757F-94B552663405}"/>
              </a:ext>
            </a:extLst>
          </p:cNvPr>
          <p:cNvSpPr txBox="1"/>
          <p:nvPr/>
        </p:nvSpPr>
        <p:spPr>
          <a:xfrm>
            <a:off x="0" y="604807"/>
            <a:ext cx="9144000" cy="6304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Accept the license (Agree)</a:t>
            </a:r>
            <a:r>
              <a:rPr lang="fa-IR" altLang="en-US" sz="2600" dirty="0">
                <a:latin typeface="Calibir"/>
              </a:rPr>
              <a:t> </a:t>
            </a:r>
            <a:endParaRPr lang="en-US" altLang="en-US" sz="2600" dirty="0">
              <a:latin typeface="Calibir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BE09D8B-A06A-1AF6-FF9F-6BAA6EF531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4FAB6-E1DB-EED0-A303-D5CB254061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757" t="36450" r="36341" b="20193"/>
          <a:stretch>
            <a:fillRect/>
          </a:stretch>
        </p:blipFill>
        <p:spPr>
          <a:xfrm>
            <a:off x="1611537" y="1325036"/>
            <a:ext cx="5920926" cy="4996092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08076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33DD0B0-9236-7D8C-881C-7EF4975D1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B3EE9F-6340-E43A-8EDB-66DBF3FD3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5AC9B-1255-D14D-7887-3F68C1ED2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9C6E1-3B1B-DB4D-8FE2-96CA4599E97C}"/>
              </a:ext>
            </a:extLst>
          </p:cNvPr>
          <p:cNvSpPr txBox="1"/>
          <p:nvPr/>
        </p:nvSpPr>
        <p:spPr>
          <a:xfrm>
            <a:off x="0" y="604807"/>
            <a:ext cx="9144000" cy="30310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Launch the lab “Explore Azure SQL Database”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Use the lab’s Azure username/password to sign in to the Azure Portal.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600" dirty="0">
                <a:latin typeface="Calibir"/>
              </a:rPr>
              <a:t>Click Start → Open Azure Portal and sign in with those credentials.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A5783F7-5B18-169D-E734-3586505EB9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F5474-82D5-619E-F2F0-EA8C3A74D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35" b="23441"/>
          <a:stretch>
            <a:fillRect/>
          </a:stretch>
        </p:blipFill>
        <p:spPr>
          <a:xfrm>
            <a:off x="373566" y="3642635"/>
            <a:ext cx="8396868" cy="312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0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19A4016-F389-0AC1-C93F-1CFA9BFFD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65FC7-D7DA-C93D-8110-D6CB1D9EE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EB874-E7D3-CA92-B8DC-C9E6EDFE2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8DCD27D-58E1-1768-EC33-05A37BC6EE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342BA1-D74B-6403-3D63-F5FCAF8216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32"/>
          <a:stretch>
            <a:fillRect/>
          </a:stretch>
        </p:blipFill>
        <p:spPr>
          <a:xfrm>
            <a:off x="0" y="1103471"/>
            <a:ext cx="9144000" cy="480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56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D25DB20-8AF7-B4C3-F083-02B9FE245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098770-99BC-D3EF-085F-40AE63384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927FA-3891-9F4E-E079-9AA591B3E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A4F4DB8-90A7-C6A0-A9FB-3AF9315586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B8D99-897F-B437-168C-170B4DD48467}"/>
              </a:ext>
            </a:extLst>
          </p:cNvPr>
          <p:cNvSpPr txBox="1"/>
          <p:nvPr/>
        </p:nvSpPr>
        <p:spPr>
          <a:xfrm>
            <a:off x="0" y="2335281"/>
            <a:ext cx="9065942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Follow the on-screen instructions in the right-hand side window of the virtual lab to log in and complete the tasks as instructed</a:t>
            </a:r>
            <a:endParaRPr lang="en-US" sz="2800" dirty="0">
              <a:solidFill>
                <a:srgbClr val="3D3935"/>
              </a:solidFill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800760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2B96316-8C4F-598F-852C-7A157BAE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0DA72-A2D5-2E40-EFEA-29E79E4F4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41BD9D-0FC1-3924-8F2E-6E3731CA2F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DC2C559-3DA7-5618-8352-02074D84A8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D7E15-230B-6749-BD2B-FF816B3AB8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98"/>
          <a:stretch>
            <a:fillRect/>
          </a:stretch>
        </p:blipFill>
        <p:spPr>
          <a:xfrm>
            <a:off x="0" y="1257149"/>
            <a:ext cx="9144000" cy="47629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E15CBD-F861-A6D1-1C6D-FB8E7B558BAF}"/>
              </a:ext>
            </a:extLst>
          </p:cNvPr>
          <p:cNvSpPr txBox="1"/>
          <p:nvPr/>
        </p:nvSpPr>
        <p:spPr>
          <a:xfrm>
            <a:off x="78058" y="624468"/>
            <a:ext cx="594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on Password and Press Enter</a:t>
            </a:r>
          </a:p>
        </p:txBody>
      </p:sp>
    </p:spTree>
    <p:extLst>
      <p:ext uri="{BB962C8B-B14F-4D97-AF65-F5344CB8AC3E}">
        <p14:creationId xmlns:p14="http://schemas.microsoft.com/office/powerpoint/2010/main" val="2460749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836E082-4C8F-69EB-9C80-26B53B15C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6B9F7-963D-952D-F2DF-A1A8C59D46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4951E-36A8-263D-DC7D-89A265A9CD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5A0D7E8-4A90-07D4-D894-F22DAABAD3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208487-9C7A-68DD-638B-AA238E0D711C}"/>
              </a:ext>
            </a:extLst>
          </p:cNvPr>
          <p:cNvSpPr txBox="1"/>
          <p:nvPr/>
        </p:nvSpPr>
        <p:spPr>
          <a:xfrm>
            <a:off x="78058" y="624468"/>
            <a:ext cx="594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Start and Go to Edge Browser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C4F3DE-A2DA-0A9F-21F6-053F60C8CF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2755"/>
          <a:stretch>
            <a:fillRect/>
          </a:stretch>
        </p:blipFill>
        <p:spPr>
          <a:xfrm>
            <a:off x="498929" y="1257148"/>
            <a:ext cx="7490383" cy="434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10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4E27CA6-D888-DFA4-817B-6D136256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B13746-0E38-193B-802D-13BBA1BD0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CF69B-DF97-1776-701A-0A53092BD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9391A80-ED50-1E9E-0C83-ECA02AB56C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130BCA-22A3-4671-D632-F86BDD78D123}"/>
              </a:ext>
            </a:extLst>
          </p:cNvPr>
          <p:cNvSpPr txBox="1"/>
          <p:nvPr/>
        </p:nvSpPr>
        <p:spPr>
          <a:xfrm>
            <a:off x="78058" y="624468"/>
            <a:ext cx="7382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on Website (Portal); it is on right sidebar</a:t>
            </a:r>
          </a:p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You will see this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5A476-4D42-421E-2389-F710066861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29"/>
          <a:stretch>
            <a:fillRect/>
          </a:stretch>
        </p:blipFill>
        <p:spPr>
          <a:xfrm>
            <a:off x="925551" y="1622429"/>
            <a:ext cx="7292898" cy="419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783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19E515F-7685-05FA-317D-0E5FE84EC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6BCEAE-1473-8D71-514B-9C36C3F20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B070D-5D22-6990-628E-D51154956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781D2F1-8AD7-34DB-E7C3-CF9BE04863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BF7B43-C31B-00DF-364E-2B1C0546B39B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Press Enter; you will see this page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BC59C9-7625-3F1B-C564-EDA589CE02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908"/>
          <a:stretch>
            <a:fillRect/>
          </a:stretch>
        </p:blipFill>
        <p:spPr>
          <a:xfrm>
            <a:off x="0" y="1257149"/>
            <a:ext cx="9144000" cy="427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64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BA47582-7FAD-37DF-10D1-C7506ECC5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517C3-AB47-0473-5D40-7433B0AC8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CD71B-B1C8-8FB3-ECC0-7E3BDADBC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A9A58B-D415-8850-994B-D60499397E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DE61F-959E-4F7F-269A-20059D3ACB2C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on User and Pass (on right sidebar) to log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74A838-ED1B-C153-8E30-FB836599E4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3" t="-13252" r="-463" b="13252"/>
          <a:stretch>
            <a:fillRect/>
          </a:stretch>
        </p:blipFill>
        <p:spPr>
          <a:xfrm>
            <a:off x="758283" y="624468"/>
            <a:ext cx="7627434" cy="506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273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D77BF24-A23C-A34E-AE9F-938CCA80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B070A-9EC1-DAE8-8FE5-EA8E6D056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60332-0055-D39C-0EF5-8C4A4F86F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68D806B-E189-5694-21FC-FB46B77A12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62C75-865B-4D20-7B3C-A0BA37F618C5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Yes then you see this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C495BF-7774-EB47-3097-27F589BBB7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603"/>
          <a:stretch>
            <a:fillRect/>
          </a:stretch>
        </p:blipFill>
        <p:spPr>
          <a:xfrm>
            <a:off x="1037063" y="1257149"/>
            <a:ext cx="7069874" cy="415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847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3988ABF-B711-96CB-D649-9D54BBE74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2E9BF1-BA47-9871-15FC-83E80D29E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E93CD-112D-8DF6-E81A-A49B6B111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271F008-4D2D-80D0-69FA-82BA808335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2E1BC-75FA-6A4C-E47C-309565D27BCA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Cancel this for 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68B72D-3B05-A2BC-4E8D-AA2AD1F1B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173"/>
          <a:stretch>
            <a:fillRect/>
          </a:stretch>
        </p:blipFill>
        <p:spPr>
          <a:xfrm>
            <a:off x="78058" y="1257150"/>
            <a:ext cx="9144000" cy="4363066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C8BAEC-B5D8-22D0-9AF1-CBC691490953}"/>
              </a:ext>
            </a:extLst>
          </p:cNvPr>
          <p:cNvSpPr/>
          <p:nvPr/>
        </p:nvSpPr>
        <p:spPr>
          <a:xfrm>
            <a:off x="1976284" y="4493342"/>
            <a:ext cx="1750142" cy="66859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318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5D34D56-8A4B-84B4-8D3D-09FC9940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ED2A1E-C6A2-4E3F-44A9-67108CF00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F6595-35E6-60B6-55BC-1AE3AF802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C10B6AF-02B4-5D19-5460-4D73F6B823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1E85D-1494-F72E-63AC-DC13D118AC93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Create a Resource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3AE9A-351A-45A1-6BAF-B4A175B08D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186"/>
          <a:stretch>
            <a:fillRect/>
          </a:stretch>
        </p:blipFill>
        <p:spPr>
          <a:xfrm>
            <a:off x="1003610" y="1359839"/>
            <a:ext cx="7136780" cy="4115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043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E14DC2A-D720-EB6F-0258-7C8667C4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4B7F9E-27C9-76BA-F750-1042C5E4B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ADD49-F531-AAB5-38B4-661548A22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5A2037A-3E32-16BA-B638-E0DB883B0E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CD708-5704-FFAD-D8DC-5186934246B5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Search for Azure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036477-74A2-E06D-E858-E6185E9306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554"/>
          <a:stretch>
            <a:fillRect/>
          </a:stretch>
        </p:blipFill>
        <p:spPr>
          <a:xfrm>
            <a:off x="1294410" y="1422992"/>
            <a:ext cx="6555180" cy="460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688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5294C7A-BDAC-775F-D500-DCAFD712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BEFF21-C495-9567-703D-BCA4CA1839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15576-5A0D-5BC3-9011-7A5943E95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D4C09F9-7531-1A65-03B0-D49204728A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F84EB7-4795-A478-C1E8-8EC794893905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Azure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074CD9-5C5F-005B-8BFA-3CF7BDCA03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064"/>
          <a:stretch>
            <a:fillRect/>
          </a:stretch>
        </p:blipFill>
        <p:spPr>
          <a:xfrm>
            <a:off x="832757" y="1369759"/>
            <a:ext cx="7739314" cy="441772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A24E530-F1E9-0297-82C3-DD1C0A1C8846}"/>
              </a:ext>
            </a:extLst>
          </p:cNvPr>
          <p:cNvSpPr/>
          <p:nvPr/>
        </p:nvSpPr>
        <p:spPr>
          <a:xfrm>
            <a:off x="2486722" y="3077737"/>
            <a:ext cx="1583473" cy="19960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366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15422F7-60A1-6F21-3686-0E34EC760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015B8FB-EFC1-C9EA-DA21-668551E05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779"/>
          <a:stretch>
            <a:fillRect/>
          </a:stretch>
        </p:blipFill>
        <p:spPr>
          <a:xfrm>
            <a:off x="1189703" y="1257149"/>
            <a:ext cx="6764594" cy="479386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BDE9B-4E46-E970-0289-FED272A78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51C81-04ED-27C6-4FDD-EFCD8E583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9E3914B-25DC-694D-2896-A62A030DA6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728D6-06D2-DCAF-194A-FA200ED899AE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Create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C15E9E-178F-A228-240C-DD202F89B8F8}"/>
              </a:ext>
            </a:extLst>
          </p:cNvPr>
          <p:cNvSpPr/>
          <p:nvPr/>
        </p:nvSpPr>
        <p:spPr>
          <a:xfrm>
            <a:off x="2480772" y="4975123"/>
            <a:ext cx="1117834" cy="40204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450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AA76EE9-5AEF-60A9-8F1A-64AFE363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5FF0BF-F053-AC94-EAC9-4673164387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AEEA-D949-8276-EE76-F1862D0A01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FB1A77F-8DAA-4C4B-5CE6-1AB88C12C0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BBDA2-0FC2-150D-AB97-A24A979A1962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Ensure it is single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0B5E9-036C-91B9-CC34-F391CC0727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149"/>
          <a:stretch>
            <a:fillRect/>
          </a:stretch>
        </p:blipFill>
        <p:spPr>
          <a:xfrm>
            <a:off x="1140542" y="1279576"/>
            <a:ext cx="7020232" cy="4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911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72078B2-6243-7D2B-39EA-4C5EAB1F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204B67-0ABC-565A-69BA-3DB1C11F52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958"/>
          <a:stretch>
            <a:fillRect/>
          </a:stretch>
        </p:blipFill>
        <p:spPr>
          <a:xfrm>
            <a:off x="498929" y="1071595"/>
            <a:ext cx="8118088" cy="469358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00E46-8D1A-7083-F0DB-A869592A0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8B0EA-D4B7-545A-F5B4-399D3026DC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081B22-B391-EF41-814B-A7E71DEA48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6C93C-35E5-5012-CDEF-EB75D98887A2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Click Create SQL Database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50ECE2-AB7B-88E4-39F7-68F8D36B278D}"/>
              </a:ext>
            </a:extLst>
          </p:cNvPr>
          <p:cNvSpPr/>
          <p:nvPr/>
        </p:nvSpPr>
        <p:spPr>
          <a:xfrm>
            <a:off x="3924795" y="4995746"/>
            <a:ext cx="1427790" cy="33453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223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90BF40D-8440-359D-3EBF-1E2F6917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C4B0FA-3602-80D9-175F-0889A5262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969E8-2BB8-7765-E76F-32ED8ADF4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1007538-C7CB-B983-2044-028CA70FF1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47D17-5771-6381-FA64-B979E4D79815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Resource – Type: RG1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C7EA96-40AD-CC06-21FD-C263C3C8BF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15461"/>
          <a:stretch>
            <a:fillRect/>
          </a:stretch>
        </p:blipFill>
        <p:spPr>
          <a:xfrm>
            <a:off x="0" y="1372259"/>
            <a:ext cx="9144000" cy="434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332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705DBBA-1313-5928-0C1A-BEB1E0D6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9DFE16-152B-BFEE-E1CD-1051E04AA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6255B-BDE6-F111-A0E4-A18C19F84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3308251-6F90-C08E-7E75-10A1DCB023B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B15E66-3A53-A16D-914A-AC1FC7A15309}"/>
              </a:ext>
            </a:extLst>
          </p:cNvPr>
          <p:cNvSpPr txBox="1"/>
          <p:nvPr/>
        </p:nvSpPr>
        <p:spPr>
          <a:xfrm>
            <a:off x="78058" y="624468"/>
            <a:ext cx="7382108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In step 3, use your Student </a:t>
            </a:r>
            <a:r>
              <a:rPr lang="en-US" sz="2800" dirty="0" err="1">
                <a:highlight>
                  <a:srgbClr val="FFFF00"/>
                </a:highlight>
                <a:latin typeface="Calibir"/>
              </a:rPr>
              <a:t>ID+name</a:t>
            </a:r>
            <a:r>
              <a:rPr lang="en-US" sz="2800" dirty="0">
                <a:highlight>
                  <a:srgbClr val="FFFF00"/>
                </a:highlight>
                <a:latin typeface="Calibir"/>
              </a:rPr>
              <a:t> as the "database name". </a:t>
            </a:r>
            <a:r>
              <a:rPr lang="en-US" sz="2800" dirty="0">
                <a:latin typeface="Calibir"/>
              </a:rPr>
              <a:t>(I chose the default one)</a:t>
            </a:r>
            <a:endParaRPr lang="en-US" sz="2800" dirty="0">
              <a:solidFill>
                <a:srgbClr val="3D3935"/>
              </a:solidFill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4BD85E-8812-BB3F-5A7D-4B4E0A3387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22"/>
          <a:stretch>
            <a:fillRect/>
          </a:stretch>
        </p:blipFill>
        <p:spPr>
          <a:xfrm>
            <a:off x="832757" y="1942649"/>
            <a:ext cx="7694342" cy="442997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9FA136-32AE-08A1-3554-E2F534AFDE13}"/>
              </a:ext>
            </a:extLst>
          </p:cNvPr>
          <p:cNvSpPr/>
          <p:nvPr/>
        </p:nvSpPr>
        <p:spPr>
          <a:xfrm>
            <a:off x="2877268" y="4767632"/>
            <a:ext cx="3346551" cy="227156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9024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AA97881-AADF-5AF2-629A-FCCCB40E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326A10-862C-EFF0-E3F9-47C8C473D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6D3D3-001E-5D76-54F9-53F47A95A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B40F08D-D854-38AB-E088-BA585DC49C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42CEDD-B157-DE89-991B-E00B1E5B3F12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Server: Create new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5D68FF-4CA6-E1DA-D8CA-3186D41C66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22"/>
          <a:stretch>
            <a:fillRect/>
          </a:stretch>
        </p:blipFill>
        <p:spPr>
          <a:xfrm>
            <a:off x="724829" y="1257149"/>
            <a:ext cx="7694342" cy="442997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06D9BE-F965-B1F6-E957-C3EAE210A3B2}"/>
              </a:ext>
            </a:extLst>
          </p:cNvPr>
          <p:cNvSpPr/>
          <p:nvPr/>
        </p:nvSpPr>
        <p:spPr>
          <a:xfrm>
            <a:off x="2631688" y="4593408"/>
            <a:ext cx="959005" cy="24622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CF6A97-3284-97A0-7E60-3774DC272C7A}"/>
              </a:ext>
            </a:extLst>
          </p:cNvPr>
          <p:cNvSpPr txBox="1"/>
          <p:nvPr/>
        </p:nvSpPr>
        <p:spPr>
          <a:xfrm>
            <a:off x="0" y="5522402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solidFill>
                  <a:srgbClr val="252320"/>
                </a:solidFill>
                <a:effectLst/>
                <a:highlight>
                  <a:srgbClr val="FFFF00"/>
                </a:highlight>
                <a:latin typeface="Calibir"/>
              </a:rPr>
              <a:t>Make sure to use the resource group/server name and region provided on the right-hand side window.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802638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921684-51A4-89A2-536E-181DF227B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B1287-0DFD-FD5B-5E9F-8026EF2F5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62F43-FB51-DA09-6D25-35B7FB225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FE7292-EE22-BB0E-B108-35A5C8A002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73799-4F43-5A39-6ADC-5D379CE1E96E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For the location, scroll down to find (US) West 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B2F148-83A3-2B84-C11E-9CE0444233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28"/>
          <a:stretch>
            <a:fillRect/>
          </a:stretch>
        </p:blipFill>
        <p:spPr>
          <a:xfrm>
            <a:off x="0" y="1257149"/>
            <a:ext cx="9144000" cy="4288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B63671-AF86-8149-E84F-42C7A67295B9}"/>
              </a:ext>
            </a:extLst>
          </p:cNvPr>
          <p:cNvSpPr txBox="1"/>
          <p:nvPr/>
        </p:nvSpPr>
        <p:spPr>
          <a:xfrm>
            <a:off x="0" y="5522402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0" dirty="0">
                <a:solidFill>
                  <a:srgbClr val="252320"/>
                </a:solidFill>
                <a:effectLst/>
                <a:highlight>
                  <a:srgbClr val="FFFF00"/>
                </a:highlight>
                <a:latin typeface="Calibir"/>
              </a:rPr>
              <a:t>Make sure to use the resource group/server name and region provided on the right-hand side window.</a:t>
            </a:r>
            <a:endParaRPr lang="en-US" sz="2800" dirty="0">
              <a:highlight>
                <a:srgbClr val="FFFF00"/>
              </a:highlight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352799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EDFDD0E-E40A-38D1-CDE0-0EB7A99D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9E26C-C8F1-3643-0866-A5D5B74FA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5BF3A-AAD3-64F8-6B83-6FBAFFB8FC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FE5ED8-F4A6-FF93-F265-2082C9B4D6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F9DED-F2E5-0A7C-1716-9AEEDF9EB971}"/>
              </a:ext>
            </a:extLst>
          </p:cNvPr>
          <p:cNvSpPr txBox="1"/>
          <p:nvPr/>
        </p:nvSpPr>
        <p:spPr>
          <a:xfrm>
            <a:off x="78058" y="624468"/>
            <a:ext cx="738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latin typeface="Calibir"/>
              </a:rPr>
              <a:t>Use SQL Authentication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104D20-1740-7A8E-3187-59D28893BC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881"/>
          <a:stretch>
            <a:fillRect/>
          </a:stretch>
        </p:blipFill>
        <p:spPr>
          <a:xfrm>
            <a:off x="0" y="1380470"/>
            <a:ext cx="9144000" cy="4275189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920CB2-28AB-7EC4-FD0D-667DE9A8308E}"/>
              </a:ext>
            </a:extLst>
          </p:cNvPr>
          <p:cNvSpPr/>
          <p:nvPr/>
        </p:nvSpPr>
        <p:spPr>
          <a:xfrm>
            <a:off x="1543665" y="4748981"/>
            <a:ext cx="1858296" cy="137651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977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386A51B-A93A-429D-B27B-7B23CD038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2E073-BB1C-F6B7-FF90-557B8C1BF2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0DA79-7F84-C405-8FBD-475E0A3C61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3A983CA-792D-9BB8-9F1D-08733C9F6B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9C748-6DF2-EDF7-49DE-C4B6D12BC04B}"/>
              </a:ext>
            </a:extLst>
          </p:cNvPr>
          <p:cNvSpPr txBox="1"/>
          <p:nvPr/>
        </p:nvSpPr>
        <p:spPr>
          <a:xfrm>
            <a:off x="78058" y="624468"/>
            <a:ext cx="9065942" cy="1964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Enter Your name as Server name and set a password (You will need it later) e.g., I typed </a:t>
            </a:r>
            <a:r>
              <a:rPr lang="en-US" sz="2800" dirty="0" err="1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Farshid.Keivanian</a:t>
            </a:r>
            <a:endParaRPr lang="en-US" sz="2800" dirty="0">
              <a:solidFill>
                <a:srgbClr val="3D3935"/>
              </a:solidFill>
              <a:highlight>
                <a:srgbClr val="FFFF00"/>
              </a:highlight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Click 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8716F-24DD-7A32-1FA9-F62DA82203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82"/>
          <a:stretch>
            <a:fillRect/>
          </a:stretch>
        </p:blipFill>
        <p:spPr>
          <a:xfrm>
            <a:off x="1418064" y="2810107"/>
            <a:ext cx="6431526" cy="370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1689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59D06F5-69DE-01A1-4828-12F5993F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F7FB4-D274-D7A2-5A3B-60F9A022A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21CB7-D633-B8F7-02DE-690C14AE2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E67DFB3-5103-EFE0-8A69-933C371F66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0604BA-C16E-9601-40D8-2ED7C718585F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Please follow the instructions on the right sidebar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57D95C-577A-366D-368E-66D8CFE59E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73"/>
          <a:stretch>
            <a:fillRect/>
          </a:stretch>
        </p:blipFill>
        <p:spPr>
          <a:xfrm>
            <a:off x="0" y="1405780"/>
            <a:ext cx="9144000" cy="426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917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C554CF8-0A2B-FAB3-44BB-778658B2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515EA-9B27-8921-F959-9086AD7A5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2E113-BEC5-B4D3-67F6-81CA2E4D9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B03E4AF-FDB1-4237-A6D6-70D5529B03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5ADDD-5E35-3B21-487E-1CE06719C125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Choose Locally-redundant backup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EA733-1B35-8AD6-64D0-0C9F4FBD7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90"/>
          <a:stretch>
            <a:fillRect/>
          </a:stretch>
        </p:blipFill>
        <p:spPr>
          <a:xfrm>
            <a:off x="0" y="1372258"/>
            <a:ext cx="9144000" cy="428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061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52E499A-5582-3563-5AED-E3ABE9C53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3F9A8-C65C-6968-E25E-AD13B29BAB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3F070-E832-8DAE-2D4B-1CA4065E1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24D3DC4-1B6A-C189-2F51-18FDBA28CD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055FC1-E66D-0705-5D4F-E79C8EDC5571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Click Next: Networking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36CD92-0BE1-3224-8D88-DE3B32043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397"/>
          <a:stretch>
            <a:fillRect/>
          </a:stretch>
        </p:blipFill>
        <p:spPr>
          <a:xfrm>
            <a:off x="0" y="1529101"/>
            <a:ext cx="9144000" cy="440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84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5287FDA-DE27-AA2D-7441-E29C7300E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A6DAD-1D90-2B67-719A-95356D885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64CCC-AB00-D59A-8153-15ACE2AE7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97E5171-20F6-1913-9844-EC0CFA869F7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517162-778F-D252-D7B7-10FCB72263AD}"/>
              </a:ext>
            </a:extLst>
          </p:cNvPr>
          <p:cNvSpPr txBox="1"/>
          <p:nvPr/>
        </p:nvSpPr>
        <p:spPr>
          <a:xfrm>
            <a:off x="78058" y="624468"/>
            <a:ext cx="7382108" cy="2520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Select Public endpoint, and Yes for both firewall options </a:t>
            </a:r>
            <a:r>
              <a:rPr lang="en-US" sz="2700" dirty="0">
                <a:latin typeface="Calibir"/>
              </a:rPr>
              <a:t> to allow access to your database server from Azure services and your current client IP address.</a:t>
            </a:r>
            <a:endParaRPr lang="en-US" sz="2700" dirty="0">
              <a:solidFill>
                <a:srgbClr val="3D3935"/>
              </a:solidFill>
              <a:latin typeface="Calibi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0EB7B0-2C6E-295F-5CEA-AA5809AF79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321"/>
          <a:stretch>
            <a:fillRect/>
          </a:stretch>
        </p:blipFill>
        <p:spPr>
          <a:xfrm>
            <a:off x="1636769" y="2491338"/>
            <a:ext cx="5870462" cy="413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872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4FFB6FD-9B25-0535-A96A-5A695030E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4A0F3-55E4-A248-D986-FCA32E355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BB7C5-2167-182B-59FA-15538C418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5D82770-DA74-4CAB-6C43-4BD16DD325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AB1592-14A0-5BF4-F510-95DCE8EDC9EC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Click on Next: Security 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0CDAA4-08B2-7679-526E-DFB85EA267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904"/>
          <a:stretch>
            <a:fillRect/>
          </a:stretch>
        </p:blipFill>
        <p:spPr>
          <a:xfrm>
            <a:off x="0" y="1704588"/>
            <a:ext cx="9144000" cy="4376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6607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76CE6F7-9359-9FEA-CE35-168067FF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691BC-5E9A-1578-1A7C-77F70F7F3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B9527-6052-3713-A709-599C48C471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19190AA-13CF-E2A0-2C51-907A85D9CC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7F0BB1-A402-8C5A-5261-7659C1986215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Microsoft Defender: Not Now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E2944-BFC9-328D-6968-9C406043BF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17"/>
          <a:stretch>
            <a:fillRect/>
          </a:stretch>
        </p:blipFill>
        <p:spPr>
          <a:xfrm>
            <a:off x="0" y="1720354"/>
            <a:ext cx="9144000" cy="434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550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18BDBA0-546E-C57C-87EF-140B36274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07C5E9-BD64-58EE-082D-7E12B4D66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A7944-25C5-EFF5-DECC-4ECBB1F6D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62C653D-485C-4FD5-16A3-8681269899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04250-2C4B-324A-0F04-FD56E61538AF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Next: Additional Settings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A616F8-DFBE-DFCE-9BA5-C5DA494BB1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291"/>
          <a:stretch>
            <a:fillRect/>
          </a:stretch>
        </p:blipFill>
        <p:spPr>
          <a:xfrm>
            <a:off x="0" y="1592974"/>
            <a:ext cx="9144000" cy="440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1915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B57EE61-4CF0-E8B6-ECC0-EDE3B8B6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B2468-6098-BE68-BA64-5F4E0012F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D57F6-2091-3FB0-DCA2-032045CCE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7848A9B-5199-89A0-7DF8-7A11666CD9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34821-BFDE-C467-2061-5FD45C3AE75B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Choose Sample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62C175-4193-8F69-81E8-6727740065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214"/>
          <a:stretch>
            <a:fillRect/>
          </a:stretch>
        </p:blipFill>
        <p:spPr>
          <a:xfrm>
            <a:off x="4876800" y="1866243"/>
            <a:ext cx="4267200" cy="29396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67BC24-82B0-1F86-49BE-B16365DF50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0000" b="17765"/>
          <a:stretch>
            <a:fillRect/>
          </a:stretch>
        </p:blipFill>
        <p:spPr>
          <a:xfrm>
            <a:off x="0" y="1866243"/>
            <a:ext cx="4572000" cy="422975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BF81E93-1D38-02E0-2909-ACAD9D1AE0B3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4572000" y="4805855"/>
            <a:ext cx="2438400" cy="590635"/>
          </a:xfrm>
          <a:prstGeom prst="bentConnector2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400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33F6140-70FF-DE9E-AEB9-9A6C101F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22260-7DEA-E3B0-F593-D44F298785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78C4B-E1B4-2477-78A8-F978B0814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A0CE13B-86E9-E076-E8A9-20480275E6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41D72C-168B-FC6F-FEAB-2AF0A530BA8E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Review and Create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D040EB-53E9-DC0D-D4E3-6265A228B2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970"/>
          <a:stretch>
            <a:fillRect/>
          </a:stretch>
        </p:blipFill>
        <p:spPr>
          <a:xfrm>
            <a:off x="1061545" y="1275608"/>
            <a:ext cx="7020910" cy="507870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774926-2BBE-7C57-DD8E-DDC5AD466A16}"/>
              </a:ext>
            </a:extLst>
          </p:cNvPr>
          <p:cNvSpPr/>
          <p:nvPr/>
        </p:nvSpPr>
        <p:spPr>
          <a:xfrm>
            <a:off x="1387366" y="5570483"/>
            <a:ext cx="1240220" cy="462455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923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CD9A05A-C847-0561-7DF9-7A0E9906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5CE848-B4FF-152A-C85B-43241B94F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863E3-1BE2-7CE9-817F-B85FEEA36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A183FA-271F-3E1A-3F54-AA49082E61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ED8EE-1339-3836-0362-B9EF072AEE94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Create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B69F8E-FFD4-651E-61A2-BECB9C76F6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351"/>
          <a:stretch>
            <a:fillRect/>
          </a:stretch>
        </p:blipFill>
        <p:spPr>
          <a:xfrm>
            <a:off x="947057" y="1275608"/>
            <a:ext cx="7168056" cy="4988202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0EA96E-6C90-4E0F-BEF8-E9532B4F487A}"/>
              </a:ext>
            </a:extLst>
          </p:cNvPr>
          <p:cNvSpPr/>
          <p:nvPr/>
        </p:nvSpPr>
        <p:spPr>
          <a:xfrm>
            <a:off x="1282262" y="5749870"/>
            <a:ext cx="777766" cy="28306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435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CD1F130-E6FD-4B79-283D-20FB052A6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F4B261-D65F-6ED0-0064-AB9B70AEE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17C43-76EF-A981-E23D-D44F6C263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7C7821A-44A3-F303-3F63-C461A698D4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85E812-2540-2927-9F62-471FEF3A9B00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Wait for deployment to complete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17D317-063A-B105-4FB8-756AB25F86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53"/>
          <a:stretch>
            <a:fillRect/>
          </a:stretch>
        </p:blipFill>
        <p:spPr>
          <a:xfrm>
            <a:off x="893379" y="1385069"/>
            <a:ext cx="7357242" cy="498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9473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4652247-119D-6E99-B5ED-35147312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98AF8-2954-6A6E-16BA-0D58B3449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2BABE-F2A8-031C-AFA7-63E0C8A17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EC97DC3-4FE4-7F10-B845-D32A0CD5EB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BFBF39-0D98-51F5-9BCF-C2CD1D81212E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Go to the Resource that was deployed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F5D8A-3FD9-A1F6-F220-F0E39D7094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273"/>
          <a:stretch>
            <a:fillRect/>
          </a:stretch>
        </p:blipFill>
        <p:spPr>
          <a:xfrm>
            <a:off x="1148576" y="1480683"/>
            <a:ext cx="6846848" cy="482471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34F325-D081-776F-5E60-5CC144C0E45B}"/>
              </a:ext>
            </a:extLst>
          </p:cNvPr>
          <p:cNvSpPr/>
          <p:nvPr/>
        </p:nvSpPr>
        <p:spPr>
          <a:xfrm>
            <a:off x="3757961" y="5296830"/>
            <a:ext cx="1137425" cy="43073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6732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81BF05D-FA3F-AC5A-6FC0-97692C22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BBA35A-77EE-81B3-DF24-009A518F7C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721"/>
          <a:stretch>
            <a:fillRect/>
          </a:stretch>
        </p:blipFill>
        <p:spPr>
          <a:xfrm>
            <a:off x="0" y="1466408"/>
            <a:ext cx="9144000" cy="4283462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36E16-6901-38BD-7BFE-1C0A91748D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16E29-41A3-B586-9566-11BB30B6C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42BA41A-2790-CC72-7ABD-3358D62576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4EE620-7E20-E45D-3CCD-C3CE90F9DDB2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Click on Query Editor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A73A24-C2EC-70C3-DCBE-22909E598720}"/>
              </a:ext>
            </a:extLst>
          </p:cNvPr>
          <p:cNvSpPr/>
          <p:nvPr/>
        </p:nvSpPr>
        <p:spPr>
          <a:xfrm>
            <a:off x="78058" y="3451303"/>
            <a:ext cx="1505415" cy="20629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8733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7AE4A7E-0A44-DA3E-426E-F3CBEA85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A7AAF-9D0C-421F-52D8-B195590BA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3A53D-FC35-FBA5-05B6-4658A57FD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81A2082-5EA9-9BB4-0AAC-9F02E2C15B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24DF3F-10AE-E397-9858-312247B5CB87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Sign-in using administration log 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4E792-2E44-C7BF-DD2F-2B452196CA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318"/>
          <a:stretch>
            <a:fillRect/>
          </a:stretch>
        </p:blipFill>
        <p:spPr>
          <a:xfrm>
            <a:off x="894138" y="1385069"/>
            <a:ext cx="7538224" cy="51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5560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6758E25-381C-69C5-333F-9A77CA7EA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67D885-013F-FD45-272D-8AD04ABB4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BDCD8-08D4-6698-BCEC-159F3BCED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3CD912F-E9ED-DC6A-C9E4-57AE468C1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0A1F84-8B02-8679-50D0-A114E248FEF2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Here is Query Editor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CE7B9D-F530-12F1-48E7-424096409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664"/>
          <a:stretch>
            <a:fillRect/>
          </a:stretch>
        </p:blipFill>
        <p:spPr>
          <a:xfrm>
            <a:off x="1106129" y="1489974"/>
            <a:ext cx="6931742" cy="480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976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828776C-844A-7CC2-3FD0-0A38C8DF3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9BDD7-1235-977C-066B-9476BBA54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F9D02-7F5A-DB34-8367-05A4B9BF2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37D0D0-04C2-3E03-E707-2D312A6729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BBC52-7E23-5A88-A6DE-B9FA0961F8BD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Expand Tables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580B09-7CAF-77F1-0B97-0D38886CBB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62"/>
          <a:stretch>
            <a:fillRect/>
          </a:stretch>
        </p:blipFill>
        <p:spPr>
          <a:xfrm>
            <a:off x="958645" y="1385069"/>
            <a:ext cx="7226710" cy="495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965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C7CFABE-E862-2950-B776-1A01F366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2986B-7ADA-EA8F-0FE2-B8EF134D9E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CBE47-D178-7804-F0F4-3166C50635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CE2CC20-22C2-6F8D-5AC3-76222A9BDA7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C3137-1E89-8500-AF30-FF8F3A03272E}"/>
              </a:ext>
            </a:extLst>
          </p:cNvPr>
          <p:cNvSpPr txBox="1"/>
          <p:nvPr/>
        </p:nvSpPr>
        <p:spPr>
          <a:xfrm>
            <a:off x="78058" y="624468"/>
            <a:ext cx="7382108" cy="651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Click on &lt;&lt;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D35F4-8CC6-D334-848B-15EA041366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868"/>
          <a:stretch>
            <a:fillRect/>
          </a:stretch>
        </p:blipFill>
        <p:spPr>
          <a:xfrm>
            <a:off x="988142" y="1275608"/>
            <a:ext cx="7167716" cy="495792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19518A-8F64-8638-B2E8-309457AB9CF8}"/>
              </a:ext>
            </a:extLst>
          </p:cNvPr>
          <p:cNvSpPr/>
          <p:nvPr/>
        </p:nvSpPr>
        <p:spPr>
          <a:xfrm>
            <a:off x="6828503" y="3642852"/>
            <a:ext cx="631663" cy="41295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091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D2468C4-033E-455E-6419-0B2DAA2F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C7FDA-A072-9028-8FE4-9598A1D4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C011-15E5-38FC-DAD8-D740DA378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D24A02A-50F0-7128-AA45-42F8823D7E5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657FB3-3053-8A2D-BEEE-EFA78AC20863}"/>
              </a:ext>
            </a:extLst>
          </p:cNvPr>
          <p:cNvSpPr txBox="1"/>
          <p:nvPr/>
        </p:nvSpPr>
        <p:spPr>
          <a:xfrm>
            <a:off x="78058" y="624468"/>
            <a:ext cx="7382108" cy="1897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Step 12 – Take a screenshot) In the Query 1, enter the following code: (</a:t>
            </a:r>
            <a:r>
              <a:rPr lang="en-US" sz="27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Click on Type on right side panel</a:t>
            </a:r>
            <a:r>
              <a:rPr lang="en-US" sz="2700" dirty="0">
                <a:solidFill>
                  <a:srgbClr val="3D3935"/>
                </a:solidFill>
                <a:latin typeface="Calibir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A887C-446B-53FC-3155-172860FEF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33"/>
          <a:stretch>
            <a:fillRect/>
          </a:stretch>
        </p:blipFill>
        <p:spPr>
          <a:xfrm>
            <a:off x="1091381" y="1858353"/>
            <a:ext cx="6961238" cy="469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498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BB4C9AF-78B5-980F-FD94-6BBCE0582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4D41AA-98B5-7825-7057-55715C271C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1D7DD-4BDA-D5B2-17EA-40ED4DA87C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57B5BC4-0CDA-F5F3-E9EC-78021D14DE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9E932A-7EF4-4F67-FDFF-E3A8BC6DD202}"/>
              </a:ext>
            </a:extLst>
          </p:cNvPr>
          <p:cNvSpPr txBox="1"/>
          <p:nvPr/>
        </p:nvSpPr>
        <p:spPr>
          <a:xfrm>
            <a:off x="78058" y="624468"/>
            <a:ext cx="7382108" cy="1274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700" dirty="0">
                <a:solidFill>
                  <a:srgbClr val="3D3935"/>
                </a:solidFill>
                <a:latin typeface="Calibir"/>
              </a:rPr>
              <a:t>Step 12 – Take a screenshot) Shift + Enter (Or click </a:t>
            </a:r>
            <a:r>
              <a:rPr lang="en-US" sz="27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Run</a:t>
            </a:r>
            <a:r>
              <a:rPr lang="en-US" sz="2700" dirty="0">
                <a:solidFill>
                  <a:srgbClr val="3D3935"/>
                </a:solidFill>
                <a:latin typeface="Calibir"/>
              </a:rPr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4BF45F-DDC2-61E9-9E85-78E58A0DF5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309"/>
          <a:stretch>
            <a:fillRect/>
          </a:stretch>
        </p:blipFill>
        <p:spPr>
          <a:xfrm>
            <a:off x="973394" y="1343670"/>
            <a:ext cx="7197212" cy="4777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2793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4B30581-FF2C-4221-157C-A50F3C68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36F9BC-6E80-952E-9151-B0C7F3D412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8ACB0-2330-559F-E194-2E45409FD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96BFE3A-BF7E-5D06-954E-1BD8080BCB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58CABA-3B5E-3701-1DBB-85D6C5EC34D3}"/>
              </a:ext>
            </a:extLst>
          </p:cNvPr>
          <p:cNvSpPr txBox="1"/>
          <p:nvPr/>
        </p:nvSpPr>
        <p:spPr>
          <a:xfrm>
            <a:off x="78058" y="624468"/>
            <a:ext cx="7382108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Step 12 – Take a screenshot) It will show all columns for all rows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2FD31F-ABE6-7963-9C15-98C6DAE4FB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757"/>
          <a:stretch>
            <a:fillRect/>
          </a:stretch>
        </p:blipFill>
        <p:spPr>
          <a:xfrm>
            <a:off x="1683834" y="2052110"/>
            <a:ext cx="6107116" cy="418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39754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4F63CB8-83A1-31AE-DA2F-F6024CD7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3B16AE-104C-A73F-9EF9-5DCA2EE1AE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985FA-B0C5-6F12-696B-720549C9C1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12558BB-0728-4925-4ED9-880F03B64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9CA937-BE13-7973-08C8-26A5E835341A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Select All and remove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34A557-0DB7-CEE5-836A-81DF607514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742"/>
          <a:stretch>
            <a:fillRect/>
          </a:stretch>
        </p:blipFill>
        <p:spPr>
          <a:xfrm>
            <a:off x="0" y="1272915"/>
            <a:ext cx="5442155" cy="25180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7246A5-66AD-2962-4CD2-63A1C87DE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7742"/>
          <a:stretch>
            <a:fillRect/>
          </a:stretch>
        </p:blipFill>
        <p:spPr>
          <a:xfrm>
            <a:off x="0" y="4055806"/>
            <a:ext cx="6056155" cy="2802193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9230A6E3-00BB-0C01-A9AC-98330ACA40DC}"/>
              </a:ext>
            </a:extLst>
          </p:cNvPr>
          <p:cNvCxnSpPr>
            <a:cxnSpLocks/>
            <a:stCxn id="6" idx="3"/>
            <a:endCxn id="10" idx="3"/>
          </p:cNvCxnSpPr>
          <p:nvPr/>
        </p:nvCxnSpPr>
        <p:spPr>
          <a:xfrm>
            <a:off x="5442155" y="2531962"/>
            <a:ext cx="614000" cy="2924941"/>
          </a:xfrm>
          <a:prstGeom prst="bentConnector3">
            <a:avLst>
              <a:gd name="adj1" fmla="val 137231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43417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5DEB722-B19F-A090-7D82-DB9AE388D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F3808-C45A-1388-F867-8E7BA8253F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9D31F-E6E5-6321-8F86-D424348C8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314DE6-BE3E-BE60-2E8E-3A5DFFA67C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4BC52-4B3F-73C1-5F62-085BB4B9BA16}"/>
              </a:ext>
            </a:extLst>
          </p:cNvPr>
          <p:cNvSpPr txBox="1"/>
          <p:nvPr/>
        </p:nvSpPr>
        <p:spPr>
          <a:xfrm>
            <a:off x="78058" y="624468"/>
            <a:ext cx="7382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13 – Take a screenshot) Click on Type to enter this Query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B7E197-B9E0-FF10-F71C-45085DEAE4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455"/>
          <a:stretch>
            <a:fillRect/>
          </a:stretch>
        </p:blipFill>
        <p:spPr>
          <a:xfrm>
            <a:off x="0" y="1638915"/>
            <a:ext cx="9144000" cy="424569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9E7425-FDA0-1890-80F7-F8A3E4EEE0FC}"/>
              </a:ext>
            </a:extLst>
          </p:cNvPr>
          <p:cNvSpPr/>
          <p:nvPr/>
        </p:nvSpPr>
        <p:spPr>
          <a:xfrm>
            <a:off x="7108723" y="3170903"/>
            <a:ext cx="740867" cy="44245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42610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E7E2DF7-46C5-7F57-86FA-10660A1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36B6B52-0C88-BA97-AFB1-E5BD41D9E6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182"/>
          <a:stretch>
            <a:fillRect/>
          </a:stretch>
        </p:blipFill>
        <p:spPr>
          <a:xfrm>
            <a:off x="498929" y="1414015"/>
            <a:ext cx="7664336" cy="521956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C49895-C9F8-B0A3-871C-93C226EDC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660B6-6F53-78A6-39C8-22D83D486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AC227AC-9550-14E9-240E-83F7C43F9E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586AFA-001B-5A01-BCB0-887DE61C499C}"/>
              </a:ext>
            </a:extLst>
          </p:cNvPr>
          <p:cNvSpPr txBox="1"/>
          <p:nvPr/>
        </p:nvSpPr>
        <p:spPr>
          <a:xfrm>
            <a:off x="78058" y="624468"/>
            <a:ext cx="7382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13 – Take a screenshot) You will see the results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ABB741-EDD5-5F23-E016-B15A426A118E}"/>
              </a:ext>
            </a:extLst>
          </p:cNvPr>
          <p:cNvSpPr/>
          <p:nvPr/>
        </p:nvSpPr>
        <p:spPr>
          <a:xfrm>
            <a:off x="3183928" y="4675239"/>
            <a:ext cx="5127315" cy="195834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900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73D9CB7-DF98-5D0B-0589-5112B7181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A1200-D3A8-4627-3FDE-2D6DEBEFD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0AC4-FEB8-7C89-3BEE-FB1910290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F0575DB-DC7E-5D85-D74E-C4C1582C40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42D1AF-52FB-0F38-602A-7036FF6BB7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018"/>
          <a:stretch>
            <a:fillRect/>
          </a:stretch>
        </p:blipFill>
        <p:spPr>
          <a:xfrm>
            <a:off x="1165123" y="1383583"/>
            <a:ext cx="6813754" cy="37636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2D9A42-0643-957D-1AF6-DB7C7517539A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latin typeface="Calibir"/>
              </a:rPr>
              <a:t>Select all and remove them</a:t>
            </a:r>
          </a:p>
        </p:txBody>
      </p:sp>
    </p:spTree>
    <p:extLst>
      <p:ext uri="{BB962C8B-B14F-4D97-AF65-F5344CB8AC3E}">
        <p14:creationId xmlns:p14="http://schemas.microsoft.com/office/powerpoint/2010/main" val="227338001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FC10C3D-48DA-D135-5961-13EA716F6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B85DBA-9BD0-E57F-BF16-A627065EE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BA245-8B67-C868-9F02-3351BB36AF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09057C3-172C-F1E7-5F9E-B8B9A2A2F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ADE21-7FE1-7C79-42B8-EA70098EA387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14 – Take a screenshot) Click Type and Run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EEB24-5A24-464B-EE8D-30185E3FF4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205"/>
          <a:stretch>
            <a:fillRect/>
          </a:stretch>
        </p:blipFill>
        <p:spPr>
          <a:xfrm>
            <a:off x="1071490" y="1434788"/>
            <a:ext cx="7001020" cy="493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81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2A8AA51-5DD4-1912-A10A-FB19A564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D32E0-6B49-A21A-3DCA-3ED00382E2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8D6F6-4111-E5EF-3F16-CA975C900F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2805B23-04B2-06EB-29B1-7E6B93D8F1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5A2D0-7F6E-7799-4D8B-3CD2B14357DA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14 – Take a screenshot) Click Type and Run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E9DB50-D26C-8699-E235-272F0EAE9538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91FA6-307F-F7A3-CCB6-C1EBAA9B4E0B}"/>
              </a:ext>
            </a:extLst>
          </p:cNvPr>
          <p:cNvSpPr txBox="1"/>
          <p:nvPr/>
        </p:nvSpPr>
        <p:spPr>
          <a:xfrm>
            <a:off x="0" y="4097086"/>
            <a:ext cx="9144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this query is doing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 is combining two tables to show product details along with their category names.</a:t>
            </a:r>
          </a:p>
        </p:txBody>
      </p:sp>
    </p:spTree>
    <p:extLst>
      <p:ext uri="{BB962C8B-B14F-4D97-AF65-F5344CB8AC3E}">
        <p14:creationId xmlns:p14="http://schemas.microsoft.com/office/powerpoint/2010/main" val="14798608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9FD78D1-DAF9-C0C3-484D-9C7904A1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434FE-EA83-D763-F9D0-87634300B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88796-7E55-6E2D-1FB4-F486609D4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2F0A906-8A01-6F88-53D1-25C2B52709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66086A-4A8C-7258-14DC-9E617B52A060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14 – Take a screenshot) Click Type and Run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E5165-32D0-5516-94F9-EEC9AF114926}"/>
              </a:ext>
            </a:extLst>
          </p:cNvPr>
          <p:cNvSpPr txBox="1"/>
          <p:nvPr/>
        </p:nvSpPr>
        <p:spPr>
          <a:xfrm>
            <a:off x="0" y="1296319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The two tables involved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1. Product table (</a:t>
            </a:r>
            <a:r>
              <a:rPr lang="en-US" sz="2800" b="1" dirty="0" err="1">
                <a:latin typeface="Calibir"/>
              </a:rPr>
              <a:t>SalesLT.Product</a:t>
            </a:r>
            <a:r>
              <a:rPr lang="en-US" sz="2800" b="1" dirty="0">
                <a:latin typeface="Calibir"/>
              </a:rPr>
              <a:t>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4171BB4-5860-9363-C0B4-120E39D442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229845"/>
              </p:ext>
            </p:extLst>
          </p:nvPr>
        </p:nvGraphicFramePr>
        <p:xfrm>
          <a:off x="498929" y="2993821"/>
          <a:ext cx="7886700" cy="24993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34266134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12196774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45200790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660190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ProductID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Name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ProductCategoryID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ListPrice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18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Bike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414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Helmet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5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Gloves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Calibir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922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999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E66D7EF-2A1C-77A4-3EEB-10111BFB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20BAF4-406D-5E21-0433-D729039EB7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6A0B4-7E8B-4C15-63FD-DCF80B751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25B6827-0192-BD17-0B0B-90A5BA3B37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28B75F-8E99-A336-03E9-2D12AD5AC105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14 – Take a screenshot) Click Type and Run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2426CE-4E71-208D-00C2-DFC11900B813}"/>
              </a:ext>
            </a:extLst>
          </p:cNvPr>
          <p:cNvSpPr txBox="1"/>
          <p:nvPr/>
        </p:nvSpPr>
        <p:spPr>
          <a:xfrm>
            <a:off x="0" y="1296319"/>
            <a:ext cx="9144000" cy="66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ir"/>
              </a:rPr>
              <a:t>2. Category table (</a:t>
            </a:r>
            <a:r>
              <a:rPr lang="en-US" sz="2800" b="1" dirty="0" err="1">
                <a:latin typeface="Calibir"/>
              </a:rPr>
              <a:t>SalesLT.ProductCategory</a:t>
            </a:r>
            <a:r>
              <a:rPr lang="en-US" sz="2800" b="1" dirty="0">
                <a:latin typeface="Calibir"/>
              </a:rPr>
              <a:t>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C7D266C-1CCE-7A92-FA09-E3CB8678D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960106"/>
              </p:ext>
            </p:extLst>
          </p:nvPr>
        </p:nvGraphicFramePr>
        <p:xfrm>
          <a:off x="628650" y="2570818"/>
          <a:ext cx="7886700" cy="199605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505329735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395084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 err="1">
                          <a:latin typeface="Calibir"/>
                        </a:rPr>
                        <a:t>ProductCategoryID</a:t>
                      </a:r>
                      <a:endParaRPr lang="en-US" sz="2800" dirty="0">
                        <a:latin typeface="Calibir"/>
                      </a:endParaRP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Name</a:t>
                      </a:r>
                    </a:p>
                  </a:txBody>
                  <a:tcPr anchor="ctr">
                    <a:solidFill>
                      <a:schemeClr val="accent4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860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Vehicles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70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>
                          <a:latin typeface="Calibir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800" dirty="0">
                          <a:latin typeface="Calibir"/>
                        </a:rPr>
                        <a:t>Accessories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70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892076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434693D-6E2C-6422-7EF2-9ED116E3F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264B7-3526-5624-A378-DFC102711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7B6A0-D166-B663-090D-C6CF65DFC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903374F-270C-D473-DDD0-E1794BC7420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C0871A-0C95-1B4B-BD48-D4C2F8B9074D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14 – Take a screenshot) Click Type and Run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6F7E6-2390-A560-43EF-14395C8CE84E}"/>
              </a:ext>
            </a:extLst>
          </p:cNvPr>
          <p:cNvSpPr txBox="1"/>
          <p:nvPr/>
        </p:nvSpPr>
        <p:spPr>
          <a:xfrm>
            <a:off x="0" y="1296319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INNER JOIN does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 matches rows from both tables where: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p.ProductCategoryID</a:t>
            </a:r>
            <a:r>
              <a:rPr lang="en-US" sz="2800" dirty="0">
                <a:latin typeface="Calibir"/>
              </a:rPr>
              <a:t> = </a:t>
            </a:r>
            <a:r>
              <a:rPr lang="en-US" sz="2800" dirty="0" err="1">
                <a:latin typeface="Calibir"/>
              </a:rPr>
              <a:t>c.ProductCategoryID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simple words: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Find the category ID in the Product table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Match it with the same ID in the Category table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Combine the information into one row</a:t>
            </a:r>
          </a:p>
        </p:txBody>
      </p:sp>
    </p:spTree>
    <p:extLst>
      <p:ext uri="{BB962C8B-B14F-4D97-AF65-F5344CB8AC3E}">
        <p14:creationId xmlns:p14="http://schemas.microsoft.com/office/powerpoint/2010/main" val="18794524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44BF808-6A46-EF67-D5A8-A5CF1E61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0ADF16-F89D-633F-B9B7-C760B023F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EAD-4F6D-5B70-A73E-30A0D6D58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AC2AC8C-4436-726B-18AA-D5A506F2FC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3361A6-9F3F-D1BC-88EA-2D353B61D983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14 – Take a screenshot) Click Type and Run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6B3DA2-8769-8545-919E-4C22467798DB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47F5A1-A310-054F-EA02-BBCCA8E6848B}"/>
              </a:ext>
            </a:extLst>
          </p:cNvPr>
          <p:cNvSpPr txBox="1"/>
          <p:nvPr/>
        </p:nvSpPr>
        <p:spPr>
          <a:xfrm>
            <a:off x="0" y="4097086"/>
            <a:ext cx="9144000" cy="25790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Choose these columns: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Product ID 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Product name (renamed as ProductName) 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Category name (from the other table) 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Price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72C096-6BC8-E7D6-131F-84A61EE4967F}"/>
              </a:ext>
            </a:extLst>
          </p:cNvPr>
          <p:cNvSpPr/>
          <p:nvPr/>
        </p:nvSpPr>
        <p:spPr>
          <a:xfrm>
            <a:off x="0" y="1296319"/>
            <a:ext cx="7849590" cy="175659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856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02B4332-30E5-37BD-1E2A-5CE39249F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2AD09-52C0-4788-5FB1-44C2B96854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E6DBA-84A8-5F3D-6162-B34874BE3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1D7F129-940F-C6D3-8833-414D56A6DF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4FB741-F8D0-BD4F-CCFA-819EDEAB1BBC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Step 14 – Take a screenshot) Click Type and Run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10958-8B8B-2D3F-5018-4813235726B8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B1A79-2B34-C7A0-4E2C-B6C7B8F93EDE}"/>
              </a:ext>
            </a:extLst>
          </p:cNvPr>
          <p:cNvSpPr txBox="1"/>
          <p:nvPr/>
        </p:nvSpPr>
        <p:spPr>
          <a:xfrm>
            <a:off x="0" y="4097086"/>
            <a:ext cx="9144000" cy="281461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Calibir"/>
              </a:rPr>
              <a:t>We are asking the database to show these columns: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p.ProductID</a:t>
            </a:r>
            <a:r>
              <a:rPr lang="en-US" sz="2000" dirty="0">
                <a:latin typeface="Calibir"/>
              </a:rPr>
              <a:t> → the product’s ID number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p.Name</a:t>
            </a:r>
            <a:r>
              <a:rPr lang="en-US" sz="2000" dirty="0">
                <a:latin typeface="Calibir"/>
              </a:rPr>
              <a:t> AS ProductName → the product’s name (renamed to ProductName so it’s clearer)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c.Name</a:t>
            </a:r>
            <a:r>
              <a:rPr lang="en-US" sz="2000" dirty="0">
                <a:latin typeface="Calibir"/>
              </a:rPr>
              <a:t> AS Category → the category name (renamed to Category)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libir"/>
              </a:rPr>
              <a:t>p.ListPrice</a:t>
            </a:r>
            <a:r>
              <a:rPr lang="en-US" sz="2000" dirty="0">
                <a:latin typeface="Calibir"/>
              </a:rPr>
              <a:t> → the product’s price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CF59FD-374C-D777-D8A7-79BBEFD47CBC}"/>
              </a:ext>
            </a:extLst>
          </p:cNvPr>
          <p:cNvSpPr/>
          <p:nvPr/>
        </p:nvSpPr>
        <p:spPr>
          <a:xfrm>
            <a:off x="0" y="1296319"/>
            <a:ext cx="7849590" cy="1756597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825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A68AB3F-BE68-529D-BBDF-ABE4111C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570102-ED33-9BDB-9EB6-0D0ACBDA5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17692-E5A5-C0D8-6310-D8159E20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30F21B4-D6BB-2FBD-94BD-8C690704FB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62793-FFB3-BDB6-4297-1FF1409D9BBB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E38114-7D1E-5DCD-7AA6-EDAA07A86184}"/>
              </a:ext>
            </a:extLst>
          </p:cNvPr>
          <p:cNvSpPr txBox="1"/>
          <p:nvPr/>
        </p:nvSpPr>
        <p:spPr>
          <a:xfrm>
            <a:off x="0" y="4097086"/>
            <a:ext cx="9144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Start with the Product table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Give it a short name p (alias)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Look in the Product table (short name = p).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656C27-B77E-4B19-F551-457904DB11C3}"/>
              </a:ext>
            </a:extLst>
          </p:cNvPr>
          <p:cNvSpPr/>
          <p:nvPr/>
        </p:nvSpPr>
        <p:spPr>
          <a:xfrm>
            <a:off x="0" y="3038168"/>
            <a:ext cx="7849590" cy="37608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6650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C2B2EFB-BF34-25BD-6779-7CDAD68C3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A9D261-908D-F4CD-C0C6-F4192B47C3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BCC46-4C6E-4647-2CB6-C8725BF76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05ED098-4E70-72B1-5F44-9B623E431E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9E38A-D861-B2C1-93E7-8863584A338E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601493-B32B-EED1-1110-B3A65DB46DE6}"/>
              </a:ext>
            </a:extLst>
          </p:cNvPr>
          <p:cNvSpPr txBox="1"/>
          <p:nvPr/>
        </p:nvSpPr>
        <p:spPr>
          <a:xfrm>
            <a:off x="0" y="4097086"/>
            <a:ext cx="9144000" cy="131529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Bring in the Category table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Give it alias c</a:t>
            </a:r>
            <a:endParaRPr lang="en-US" sz="2500" dirty="0">
              <a:latin typeface="Calibir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DA6CF6C-A33B-A239-5919-1089946DCF64}"/>
              </a:ext>
            </a:extLst>
          </p:cNvPr>
          <p:cNvSpPr/>
          <p:nvPr/>
        </p:nvSpPr>
        <p:spPr>
          <a:xfrm>
            <a:off x="0" y="3373821"/>
            <a:ext cx="7849590" cy="34684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2119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A308D4B-1147-A96C-7EA2-8E312E55C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1D1686-3F06-7E0F-0E86-300ABB9579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2DA6F-6355-781C-AA62-1FC0F0E00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DA966D5-F47F-855C-5317-666D9B2FE3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D806AF-D663-DAFB-3CE9-FB33013F62B7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7BCB0-7A25-87A2-EDC0-9267DDC7362B}"/>
              </a:ext>
            </a:extLst>
          </p:cNvPr>
          <p:cNvSpPr txBox="1"/>
          <p:nvPr/>
        </p:nvSpPr>
        <p:spPr>
          <a:xfrm>
            <a:off x="0" y="4097086"/>
            <a:ext cx="9144000" cy="67185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Match rows where both tables have the same category ID</a:t>
            </a:r>
            <a:endParaRPr lang="en-US" sz="2500" dirty="0">
              <a:latin typeface="Calibir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FF9F544-F9AD-D039-B588-ACE74BD4DCA2}"/>
              </a:ext>
            </a:extLst>
          </p:cNvPr>
          <p:cNvSpPr/>
          <p:nvPr/>
        </p:nvSpPr>
        <p:spPr>
          <a:xfrm>
            <a:off x="0" y="3710152"/>
            <a:ext cx="7849590" cy="386934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52368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993DC97-73B2-90E9-83C4-27AA02542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DA4164-3DE4-7442-D3EB-C689C3141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EAB0D-90F2-1C3E-8109-894C4B8BD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2A9BE18-FFBB-82E9-7F7D-3E9C5C4D707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DD8E8-8916-D794-2C27-ECC0BA337D43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218A3-4F40-001B-1365-A7115D54568F}"/>
              </a:ext>
            </a:extLst>
          </p:cNvPr>
          <p:cNvSpPr txBox="1"/>
          <p:nvPr/>
        </p:nvSpPr>
        <p:spPr>
          <a:xfrm>
            <a:off x="0" y="4097086"/>
            <a:ext cx="9144000" cy="23410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Combine the Product table (p) with the </a:t>
            </a:r>
            <a:r>
              <a:rPr lang="en-US" sz="2500" dirty="0" err="1">
                <a:latin typeface="Calibir"/>
              </a:rPr>
              <a:t>ProductCategory</a:t>
            </a:r>
            <a:r>
              <a:rPr lang="en-US" sz="2500" dirty="0">
                <a:latin typeface="Calibir"/>
              </a:rPr>
              <a:t> table (c).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INNER JOIN means: only show rows where the </a:t>
            </a:r>
            <a:r>
              <a:rPr lang="en-US" sz="2500" dirty="0" err="1">
                <a:latin typeface="Calibir"/>
              </a:rPr>
              <a:t>ProductCategoryID</a:t>
            </a:r>
            <a:r>
              <a:rPr lang="en-US" sz="2500" dirty="0">
                <a:latin typeface="Calibir"/>
              </a:rPr>
              <a:t> matches in both tables.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This lets us see each product together with its category name.</a:t>
            </a:r>
          </a:p>
        </p:txBody>
      </p:sp>
    </p:spTree>
    <p:extLst>
      <p:ext uri="{BB962C8B-B14F-4D97-AF65-F5344CB8AC3E}">
        <p14:creationId xmlns:p14="http://schemas.microsoft.com/office/powerpoint/2010/main" val="44483083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7D26747-DD1F-AE2A-34F5-881733DC9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2CDDBE-B1C1-2D56-6A2D-AB91775FD5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B6B26-F4DA-CEF3-016B-1E7D6EA90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165959-CA68-1768-E745-673D918FEA4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4B7BA-D01F-DD26-65C9-7DCFA8C31F8A}"/>
              </a:ext>
            </a:extLst>
          </p:cNvPr>
          <p:cNvSpPr txBox="1"/>
          <p:nvPr/>
        </p:nvSpPr>
        <p:spPr>
          <a:xfrm>
            <a:off x="0" y="1296319"/>
            <a:ext cx="7849590" cy="280076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ProductName,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c.Name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Category,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p.ListPrice</a:t>
            </a:r>
            <a:endParaRPr lang="en-US" sz="2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p</a:t>
            </a:r>
          </a:p>
          <a:p>
            <a:pPr>
              <a:buNone/>
            </a:pP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SalesLT.ProductCategory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 </a:t>
            </a:r>
          </a:p>
          <a:p>
            <a:pPr>
              <a:buNone/>
            </a:pP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c.ProductCategoryID</a:t>
            </a:r>
            <a:r>
              <a:rPr lang="en-US" sz="2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9507CF-6979-166D-3932-4F4602204B8B}"/>
              </a:ext>
            </a:extLst>
          </p:cNvPr>
          <p:cNvSpPr txBox="1"/>
          <p:nvPr/>
        </p:nvSpPr>
        <p:spPr>
          <a:xfrm>
            <a:off x="0" y="4097086"/>
            <a:ext cx="9144000" cy="13154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summary, show me each product, its price, and the name of its category by matching the category IDs from both tables.</a:t>
            </a:r>
          </a:p>
        </p:txBody>
      </p:sp>
    </p:spTree>
    <p:extLst>
      <p:ext uri="{BB962C8B-B14F-4D97-AF65-F5344CB8AC3E}">
        <p14:creationId xmlns:p14="http://schemas.microsoft.com/office/powerpoint/2010/main" val="183922793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626451B-E776-1186-5428-D97A12BEB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E045A-59C0-DB06-BB72-EC05FB786A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E0EDB-8C30-CE78-24D7-52E27EF80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CA81307-D0AD-DC56-8E02-62D8FE099C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59D55A-1A86-4AC1-DD48-2D7981D8B027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New Query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72A94-8C33-FB31-C24B-49D00733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585"/>
          <a:stretch>
            <a:fillRect/>
          </a:stretch>
        </p:blipFill>
        <p:spPr>
          <a:xfrm>
            <a:off x="947057" y="1405780"/>
            <a:ext cx="7249886" cy="4736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664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0582AD-BA6C-A919-535F-27BD76D69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EB4720-9EAA-E571-A981-9E42FE5825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8C972-9FC2-A366-29F2-77566DBCA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AFE3DEC-A331-C2FE-B2D1-D15A1FD8E3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2A3D7-80E7-A418-69D3-C03C4F0F84E6}"/>
              </a:ext>
            </a:extLst>
          </p:cNvPr>
          <p:cNvSpPr txBox="1"/>
          <p:nvPr/>
        </p:nvSpPr>
        <p:spPr>
          <a:xfrm>
            <a:off x="159174" y="752167"/>
            <a:ext cx="8825652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252320"/>
                </a:solidFill>
                <a:effectLst/>
                <a:latin typeface="Calibir"/>
              </a:rPr>
              <a:t>Query 1: Write a new query to retrieve the CustomerID, Title, last name, and Company Name of Customers whose Customer ID is in the following list: ( 1, 3, 5, 20, 45), sorted by Customer last name in reverse alphabetical order.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3B5-F4B2-5A18-4C15-1C0D34C884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48" t="19462" r="17742" b="36675"/>
          <a:stretch>
            <a:fillRect/>
          </a:stretch>
        </p:blipFill>
        <p:spPr>
          <a:xfrm>
            <a:off x="1659193" y="4131842"/>
            <a:ext cx="5825613" cy="225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28253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5B0025F-2647-CB15-3B29-FE0099C52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AFE39-36E6-8BDD-06D5-6EC305EF68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BC7D5-F032-5BD9-2FCA-024CE94A0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ABC56DE-5C06-D35D-47A6-2946011254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10062-6D2A-D350-3D2B-649DC3B02D21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Query 1 – Take a screenshot) Type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856FC-EC8E-E9EA-E1B8-2D20D92579E7}"/>
              </a:ext>
            </a:extLst>
          </p:cNvPr>
          <p:cNvSpPr txBox="1"/>
          <p:nvPr/>
        </p:nvSpPr>
        <p:spPr>
          <a:xfrm>
            <a:off x="78058" y="1651819"/>
            <a:ext cx="9065942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CustomerID, Title, LastName,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CompanyName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SalesLT.Customer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LastName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367355-883A-6349-B8B0-EF4BB69DAC70}"/>
              </a:ext>
            </a:extLst>
          </p:cNvPr>
          <p:cNvSpPr txBox="1"/>
          <p:nvPr/>
        </p:nvSpPr>
        <p:spPr>
          <a:xfrm>
            <a:off x="1" y="3362812"/>
            <a:ext cx="9065941" cy="349518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SELECT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Choose these columns: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Calibir"/>
              </a:rPr>
              <a:t>CustomerID</a:t>
            </a:r>
            <a:r>
              <a:rPr lang="en-US" sz="2500" dirty="0">
                <a:latin typeface="Calibir"/>
              </a:rPr>
              <a:t> 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Title 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LastName </a:t>
            </a:r>
          </a:p>
          <a:p>
            <a:pPr marL="630238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Calibir"/>
              </a:rPr>
              <a:t>CompanyName</a:t>
            </a:r>
            <a:endParaRPr lang="en-US" sz="25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1065510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FC37D0B-F8C4-FB19-7747-69AD6793E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FB9CC-2EE7-B125-6A4C-AD1213C9A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AAEFF-80F7-9AB5-CB8C-C46EA3E62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407E557-BBDE-CF2C-2823-4360BC40EE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B6BA83-CCD4-039A-A868-110874F2948D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Query 1 – Take a screenshot) Type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958AEE-2479-2C0D-7776-21A8A4050728}"/>
              </a:ext>
            </a:extLst>
          </p:cNvPr>
          <p:cNvSpPr txBox="1"/>
          <p:nvPr/>
        </p:nvSpPr>
        <p:spPr>
          <a:xfrm>
            <a:off x="78058" y="1651819"/>
            <a:ext cx="9065942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CustomerID, Title, LastName,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CompanyName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SalesLT.Customer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LastName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A3AB2B-891B-DF5F-4F0C-7E3C13FFCD1C}"/>
              </a:ext>
            </a:extLst>
          </p:cNvPr>
          <p:cNvSpPr txBox="1"/>
          <p:nvPr/>
        </p:nvSpPr>
        <p:spPr>
          <a:xfrm>
            <a:off x="78057" y="3473245"/>
            <a:ext cx="906594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WHERE </a:t>
            </a:r>
            <a:r>
              <a:rPr lang="en-US" sz="2800" dirty="0" err="1">
                <a:latin typeface="Calibir"/>
              </a:rPr>
              <a:t>CustomerID</a:t>
            </a:r>
            <a:r>
              <a:rPr lang="en-US" sz="2800" dirty="0">
                <a:latin typeface="Calibir"/>
              </a:rPr>
              <a:t> IN (1, 3, 5, 20, 45)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means: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Only include customers with these IDs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Ignore all others</a:t>
            </a:r>
          </a:p>
        </p:txBody>
      </p:sp>
    </p:spTree>
    <p:extLst>
      <p:ext uri="{BB962C8B-B14F-4D97-AF65-F5344CB8AC3E}">
        <p14:creationId xmlns:p14="http://schemas.microsoft.com/office/powerpoint/2010/main" val="9459604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89F5C5F-3267-1962-1B8A-92220F5D6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FD6D7-76C4-6E7B-46B0-2B650021D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ED963-9E4C-C7F0-C282-B63690723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164D39-EDDB-B934-48D0-CA941F2081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5B4A7-E71E-2459-5F44-C65EF2A0D824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Query 1 – Take a screenshot) Type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5B094D-B1ED-6D66-DB6D-61EB77FB1A80}"/>
              </a:ext>
            </a:extLst>
          </p:cNvPr>
          <p:cNvSpPr txBox="1"/>
          <p:nvPr/>
        </p:nvSpPr>
        <p:spPr>
          <a:xfrm>
            <a:off x="78058" y="1651819"/>
            <a:ext cx="9065942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CustomerID, Title, LastName,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CompanyName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SalesLT.Customer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LastName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B92478-9DD0-4BBF-4551-9D8FD12EE519}"/>
              </a:ext>
            </a:extLst>
          </p:cNvPr>
          <p:cNvSpPr txBox="1"/>
          <p:nvPr/>
        </p:nvSpPr>
        <p:spPr>
          <a:xfrm>
            <a:off x="78057" y="3473245"/>
            <a:ext cx="906594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Selected rows with </a:t>
            </a:r>
            <a:r>
              <a:rPr lang="en-US" sz="2800" dirty="0" err="1">
                <a:latin typeface="Calibir"/>
              </a:rPr>
              <a:t>CustomerID</a:t>
            </a:r>
            <a:r>
              <a:rPr lang="en-US" sz="2800" dirty="0">
                <a:latin typeface="Calibir"/>
              </a:rPr>
              <a:t>: 1, 3, 5, 20, 45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ORDER BY LastName DESC;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Sort by LastName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DESC = descending (Z → A)</a:t>
            </a:r>
          </a:p>
        </p:txBody>
      </p:sp>
    </p:spTree>
    <p:extLst>
      <p:ext uri="{BB962C8B-B14F-4D97-AF65-F5344CB8AC3E}">
        <p14:creationId xmlns:p14="http://schemas.microsoft.com/office/powerpoint/2010/main" val="237973459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9CC5D6E-E1BE-2F91-5C83-D0540E71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9137D-1DAD-F825-47E1-4FF34F3B4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38CF1-72EB-92B3-3B59-C67BF3366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AC14B29-F9F4-E044-C7A8-8AD03B8C44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F490F6-B00D-8D98-32EB-952C4F9EA9EE}"/>
              </a:ext>
            </a:extLst>
          </p:cNvPr>
          <p:cNvSpPr txBox="1"/>
          <p:nvPr/>
        </p:nvSpPr>
        <p:spPr>
          <a:xfrm>
            <a:off x="78058" y="624468"/>
            <a:ext cx="7382108" cy="671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Query 1 – Take a screenshot) Type this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E2A2A-70AF-959C-DCE4-9BB41E188DE9}"/>
              </a:ext>
            </a:extLst>
          </p:cNvPr>
          <p:cNvSpPr txBox="1"/>
          <p:nvPr/>
        </p:nvSpPr>
        <p:spPr>
          <a:xfrm>
            <a:off x="78058" y="1651819"/>
            <a:ext cx="9065942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CustomerID, Title, LastName,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CompanyName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SalesLT.Customer</a:t>
            </a:r>
            <a:endParaRPr lang="en-US" sz="2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CustomerID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LastName </a:t>
            </a:r>
            <a:r>
              <a:rPr lang="en-US" sz="2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01AB93-72E2-49EF-CCD3-626BB6F16DC8}"/>
              </a:ext>
            </a:extLst>
          </p:cNvPr>
          <p:cNvSpPr txBox="1"/>
          <p:nvPr/>
        </p:nvSpPr>
        <p:spPr>
          <a:xfrm>
            <a:off x="78057" y="3473245"/>
            <a:ext cx="9065941" cy="1315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summary, show specific customers (IDs 1, 3, 5, 20, 45) and sort them by last name in reverse alphabetical order.</a:t>
            </a:r>
          </a:p>
        </p:txBody>
      </p:sp>
    </p:spTree>
    <p:extLst>
      <p:ext uri="{BB962C8B-B14F-4D97-AF65-F5344CB8AC3E}">
        <p14:creationId xmlns:p14="http://schemas.microsoft.com/office/powerpoint/2010/main" val="287789589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D0B3948-56FD-EF9F-262B-B4B4EE4C9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D9021F-535D-24DA-7626-F42ED818B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8B9FE-D05F-536C-F2E5-C5882D2C0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60C4BAC-4C60-C64E-646F-9AD3C0CAF3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67F30-F741-7439-D1C2-61E71F8F2060}"/>
              </a:ext>
            </a:extLst>
          </p:cNvPr>
          <p:cNvSpPr txBox="1"/>
          <p:nvPr/>
        </p:nvSpPr>
        <p:spPr>
          <a:xfrm>
            <a:off x="78058" y="624468"/>
            <a:ext cx="7382108" cy="1318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3D3935"/>
                </a:solidFill>
                <a:highlight>
                  <a:srgbClr val="FFFF00"/>
                </a:highlight>
                <a:latin typeface="Calibir"/>
              </a:rPr>
              <a:t>Query 1 – Take a screenshot) Run and See the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D6777-89A5-2DD1-9CE3-38737186CE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903" b="18029"/>
          <a:stretch>
            <a:fillRect/>
          </a:stretch>
        </p:blipFill>
        <p:spPr>
          <a:xfrm>
            <a:off x="1902541" y="1508260"/>
            <a:ext cx="5338918" cy="472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1754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018415E-5955-1D95-8B36-754F115F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9224AB-DA7B-BDD4-4615-424597328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0D720-4B29-2250-65A4-D5F483860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1650085-A698-0568-7329-D030E970F3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580AC4-CFF3-E319-4ABE-51C50032C793}"/>
              </a:ext>
            </a:extLst>
          </p:cNvPr>
          <p:cNvSpPr txBox="1"/>
          <p:nvPr/>
        </p:nvSpPr>
        <p:spPr>
          <a:xfrm>
            <a:off x="159174" y="752167"/>
            <a:ext cx="8825652" cy="5626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Query 2: </a:t>
            </a:r>
            <a:r>
              <a:rPr lang="en-US" sz="2200" dirty="0">
                <a:latin typeface="Calibir"/>
              </a:rPr>
              <a:t>Write a new query to retrieve a list of sales order revisions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The </a:t>
            </a:r>
            <a:r>
              <a:rPr lang="en-US" sz="2200" dirty="0" err="1">
                <a:latin typeface="Calibir"/>
              </a:rPr>
              <a:t>SalesLT.SalesOrderHeader</a:t>
            </a:r>
            <a:r>
              <a:rPr lang="en-US" sz="2200" dirty="0">
                <a:latin typeface="Calibir"/>
              </a:rPr>
              <a:t> table contains records of sales orders. You have been asked to retrieve data for a report that shows: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The sales order number and revision number in the format () – for example, SO71774 (2).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The order date converted to ANSI standard </a:t>
            </a:r>
            <a:r>
              <a:rPr lang="en-US" sz="2200" i="1" dirty="0">
                <a:latin typeface="Calibir"/>
              </a:rPr>
              <a:t>102</a:t>
            </a:r>
            <a:r>
              <a:rPr lang="en-US" sz="2200" dirty="0">
                <a:latin typeface="Calibir"/>
              </a:rPr>
              <a:t> format (</a:t>
            </a:r>
            <a:r>
              <a:rPr lang="en-US" sz="2200" i="1" dirty="0">
                <a:latin typeface="Calibir"/>
              </a:rPr>
              <a:t>yyyy.mm.dd</a:t>
            </a:r>
            <a:r>
              <a:rPr lang="en-US" sz="2200" dirty="0">
                <a:latin typeface="Calibir"/>
              </a:rPr>
              <a:t> – for example, </a:t>
            </a:r>
            <a:r>
              <a:rPr lang="en-US" sz="2200" i="1" dirty="0">
                <a:latin typeface="Calibir"/>
              </a:rPr>
              <a:t>2015.01.31</a:t>
            </a:r>
            <a:r>
              <a:rPr lang="en-US" sz="2200" dirty="0">
                <a:latin typeface="Calibir"/>
              </a:rPr>
              <a:t>).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Hint: Use the STR function to convert the number data type to String.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Calibir"/>
              </a:rPr>
              <a:t>Take a screenshot showing both the SQL code of the query and its results.</a:t>
            </a:r>
          </a:p>
        </p:txBody>
      </p:sp>
    </p:spTree>
    <p:extLst>
      <p:ext uri="{BB962C8B-B14F-4D97-AF65-F5344CB8AC3E}">
        <p14:creationId xmlns:p14="http://schemas.microsoft.com/office/powerpoint/2010/main" val="8180815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E5A5124-8C98-F2BD-D2D7-D96E961A3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A1DE1-53FC-E6FA-EDE7-468184D6D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C826F-E4B7-8CEC-0889-403302237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2D6B018-C32E-8F2E-A1A0-C475893EBD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3BCB55-1892-C0C2-52FE-72DF5CF5A251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CA47BF-F307-4B6A-573D-22A8475008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29" b="17455"/>
          <a:stretch>
            <a:fillRect/>
          </a:stretch>
        </p:blipFill>
        <p:spPr>
          <a:xfrm>
            <a:off x="0" y="3315194"/>
            <a:ext cx="9144000" cy="3318387"/>
          </a:xfrm>
          <a:prstGeom prst="rect">
            <a:avLst/>
          </a:prstGeom>
        </p:spPr>
      </p:pic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408DB797-9B5F-7B4C-3B2E-5B95099795F0}"/>
              </a:ext>
            </a:extLst>
          </p:cNvPr>
          <p:cNvCxnSpPr>
            <a:cxnSpLocks/>
            <a:endCxn id="10" idx="0"/>
          </p:cNvCxnSpPr>
          <p:nvPr/>
        </p:nvCxnSpPr>
        <p:spPr>
          <a:xfrm rot="5400000">
            <a:off x="4542905" y="2548680"/>
            <a:ext cx="795610" cy="737419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65050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2C3C4A4-4CCD-63DB-E189-C219B594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CF631C-22C7-003F-9983-A9BF53C45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7679-EA2D-6BA8-F649-FD106645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1D5CFC9-4946-7E08-EE72-879938EBF4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37BAC2-B92B-D846-1141-C33BB1884DD9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1B502B-2972-6CA3-55F4-86987647A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8" y="2842749"/>
            <a:ext cx="9144000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this query does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It:</a:t>
            </a:r>
          </a:p>
          <a:p>
            <a:pPr marL="771525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Combines order number + revision number into one column </a:t>
            </a:r>
          </a:p>
          <a:p>
            <a:pPr marL="771525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Formats the date into a specific style (YYYY.MM.DD)</a:t>
            </a:r>
          </a:p>
        </p:txBody>
      </p:sp>
    </p:spTree>
    <p:extLst>
      <p:ext uri="{BB962C8B-B14F-4D97-AF65-F5344CB8AC3E}">
        <p14:creationId xmlns:p14="http://schemas.microsoft.com/office/powerpoint/2010/main" val="113677402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2EEC431-27F5-08B6-9CCA-6CC253178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04442-1B35-F1FB-DC53-818EFA039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A2BF2-DE58-9582-10D1-CB1B7377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5B6CBBC-5DCE-0791-FC97-A728ADA555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99102-7912-8451-B485-05F71F6C4778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94E4C4-432C-982A-8D54-355046F90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3275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1: Creating Order + Revision</a:t>
            </a:r>
          </a:p>
          <a:p>
            <a:pPr>
              <a:lnSpc>
                <a:spcPct val="150000"/>
              </a:lnSpc>
            </a:pPr>
            <a:r>
              <a:rPr lang="en-US" sz="2800" dirty="0" err="1">
                <a:latin typeface="Calibir"/>
              </a:rPr>
              <a:t>SalesOrderNumber</a:t>
            </a:r>
            <a:r>
              <a:rPr lang="en-US" sz="2800" dirty="0">
                <a:latin typeface="Calibir"/>
              </a:rPr>
              <a:t> + ' (' + STR(</a:t>
            </a:r>
            <a:r>
              <a:rPr lang="en-US" sz="2800" dirty="0" err="1">
                <a:latin typeface="Calibir"/>
              </a:rPr>
              <a:t>RevisionNumber</a:t>
            </a:r>
            <a:r>
              <a:rPr lang="en-US" sz="2800" dirty="0">
                <a:latin typeface="Calibir"/>
              </a:rPr>
              <a:t>) + ')' AS </a:t>
            </a:r>
            <a:r>
              <a:rPr lang="en-US" sz="2800" dirty="0" err="1">
                <a:latin typeface="Calibir"/>
              </a:rPr>
              <a:t>Order_Revision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What’s happening: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Take </a:t>
            </a:r>
            <a:r>
              <a:rPr lang="en-US" sz="2800" dirty="0" err="1">
                <a:latin typeface="Calibir"/>
              </a:rPr>
              <a:t>SalesOrderNumber</a:t>
            </a:r>
            <a:r>
              <a:rPr lang="en-US" sz="2800" dirty="0">
                <a:latin typeface="Calibir"/>
              </a:rPr>
              <a:t> → e.g. SO123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" ("</a:t>
            </a:r>
          </a:p>
        </p:txBody>
      </p:sp>
    </p:spTree>
    <p:extLst>
      <p:ext uri="{BB962C8B-B14F-4D97-AF65-F5344CB8AC3E}">
        <p14:creationId xmlns:p14="http://schemas.microsoft.com/office/powerpoint/2010/main" val="177154529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7B8C64B-FDF5-2911-13A6-5089C293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81B35-0A2D-327C-D88D-2700946771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4BA4D-0A37-B8BB-3ED9-D1C4D6FF45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339A212-E105-3CFE-22CD-9897BBABA2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4AF8D-1D43-21FD-E957-444F4C352BC8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065374-2F68-2B85-B60A-9FD05D0FF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9584"/>
            <a:ext cx="9144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Convert </a:t>
            </a:r>
            <a:r>
              <a:rPr lang="en-US" sz="2800" dirty="0" err="1">
                <a:latin typeface="Calibir"/>
              </a:rPr>
              <a:t>RevisionNumber</a:t>
            </a:r>
            <a:r>
              <a:rPr lang="en-US" sz="2800" dirty="0">
                <a:latin typeface="Calibir"/>
              </a:rPr>
              <a:t> (number → text) using STR()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Add ")" </a:t>
            </a:r>
          </a:p>
        </p:txBody>
      </p:sp>
    </p:spTree>
    <p:extLst>
      <p:ext uri="{BB962C8B-B14F-4D97-AF65-F5344CB8AC3E}">
        <p14:creationId xmlns:p14="http://schemas.microsoft.com/office/powerpoint/2010/main" val="180847499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D8C4CC7-1217-6503-6E62-9C9D0DC4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C8DF1-5F4F-8CF2-6040-7A5877B5A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755DB7-A5FB-E06B-C93A-D7D72D085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3027C7F-2DD4-3180-1DDE-E6F11980E0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96F1F-B3E3-604C-986C-0D5B521C0624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D1480A-9511-5ED1-5E3C-8528BC3CA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9584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Formatting the date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CONVERT(varchar(10), </a:t>
            </a:r>
            <a:r>
              <a:rPr lang="en-US" sz="2800" dirty="0" err="1">
                <a:latin typeface="Calibir"/>
              </a:rPr>
              <a:t>OrderDate</a:t>
            </a:r>
            <a:r>
              <a:rPr lang="en-US" sz="2800" dirty="0">
                <a:latin typeface="Calibir"/>
              </a:rPr>
              <a:t>, 102) AS </a:t>
            </a:r>
            <a:r>
              <a:rPr lang="en-US" sz="2800" dirty="0" err="1">
                <a:latin typeface="Calibir"/>
              </a:rPr>
              <a:t>OrderDate_YYYYMMDD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This means: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Convert the date into text (varchar)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format 102</a:t>
            </a:r>
          </a:p>
        </p:txBody>
      </p:sp>
    </p:spTree>
    <p:extLst>
      <p:ext uri="{BB962C8B-B14F-4D97-AF65-F5344CB8AC3E}">
        <p14:creationId xmlns:p14="http://schemas.microsoft.com/office/powerpoint/2010/main" val="160556502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3FD6A9B-0A03-CB3F-9592-E4253BAB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E70C2-E901-8B17-BBE4-5633D6ED9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617B9-CED1-265A-9213-71740F89C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1283656-3BED-8D63-8F78-1CEE57A2F0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5F04B-24BD-7C54-C9CD-836C0498D5F9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77DC69-0BFC-D4EF-230C-B9846F814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9584"/>
            <a:ext cx="9144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Format 102 =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YYYY.MM.DD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2026-04-20 → 2026.04.20</a:t>
            </a:r>
          </a:p>
        </p:txBody>
      </p:sp>
    </p:spTree>
    <p:extLst>
      <p:ext uri="{BB962C8B-B14F-4D97-AF65-F5344CB8AC3E}">
        <p14:creationId xmlns:p14="http://schemas.microsoft.com/office/powerpoint/2010/main" val="278328837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1773E2E-B493-3343-D99F-B64B82CED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2A73C-1639-2EE7-2004-CA2E2EC71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D9F57-8A17-8F45-333D-7496C2337C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94ACAA-DB3B-982E-6803-7250BF47FD2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6AB9D-C7C2-A650-10C5-331B4B82DF37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95D7D7-59ED-3A00-EF51-6F7CF5835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63275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First column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Join order number and revision number into one string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Second column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Change the date into a readable text format (YYYY.MM.DD)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FROM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Get data from the </a:t>
            </a:r>
            <a:r>
              <a:rPr lang="en-US" sz="2800" dirty="0" err="1">
                <a:latin typeface="Calibir"/>
              </a:rPr>
              <a:t>SalesOrderHeader</a:t>
            </a:r>
            <a:r>
              <a:rPr lang="en-US" sz="2800" dirty="0">
                <a:latin typeface="Calibir"/>
              </a:rPr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42818766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DEADFBD-51FC-7191-51D1-D61654FB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AA9E5-E216-119C-E5ED-B99B8FAB5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8DBF5-1410-F1F8-9E5C-A92D71F89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BA0D77C-9035-E199-0D93-166B31D5B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F775CF-222D-5DDC-0570-65375BCECB6D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5CA3B1-C816-96BB-539F-9CB06BDD4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9584"/>
            <a:ext cx="9144000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 summary, show each order as ‘</a:t>
            </a:r>
            <a:r>
              <a:rPr lang="en-US" sz="2800" dirty="0" err="1">
                <a:latin typeface="Calibir"/>
              </a:rPr>
              <a:t>OrderNumber</a:t>
            </a:r>
            <a:r>
              <a:rPr lang="en-US" sz="2800" dirty="0">
                <a:latin typeface="Calibir"/>
              </a:rPr>
              <a:t> (Revision)’ and display the date in YYYY.MM.DD format.</a:t>
            </a:r>
          </a:p>
        </p:txBody>
      </p:sp>
    </p:spTree>
    <p:extLst>
      <p:ext uri="{BB962C8B-B14F-4D97-AF65-F5344CB8AC3E}">
        <p14:creationId xmlns:p14="http://schemas.microsoft.com/office/powerpoint/2010/main" val="87363041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981A6FD-9BD7-19A8-2189-297789141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0FE87-1BA5-503F-8660-9C9B64B3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64B60F-984C-2C96-C6FD-FFDDBCB2D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67E0A82-8B1D-4099-D350-837313ABC9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39A61-D0C0-EEE0-E5DE-FC52E5FD3347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F45D73-43BE-F70A-6FF1-92A6DEA8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8" y="2519584"/>
            <a:ext cx="91440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SalesOrderNumber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+ ' (' + STR(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RevisionNumber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) + ')':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Joins the order number with the revision number.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Example: SO71774 (2).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STR() changes the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RevisionNumber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 (a number) into text so it can be joined.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Renamed as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Order_Revision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ir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97146669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F9115E8-DD48-8443-4A18-C354E468C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85CA71-110F-0CAE-5371-5F7E3C52E0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CA412A-9673-1EED-9F9A-0FC055CDB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2182C9C-8DE6-67E7-EDF8-516EC396B8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22AAA-A24C-BB66-7EC8-449CA5E805B8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1DE1CD-F1D3-58C6-7088-C381275D1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9584"/>
            <a:ext cx="9144000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CONVERT(varchar(10), </a:t>
            </a:r>
            <a:r>
              <a:rPr lang="en-US" altLang="en-US" sz="2800" b="1" dirty="0" err="1">
                <a:latin typeface="Calibir"/>
              </a:rPr>
              <a:t>OrderDate</a:t>
            </a:r>
            <a:r>
              <a:rPr lang="en-US" altLang="en-US" sz="2800" b="1" dirty="0">
                <a:latin typeface="Calibir"/>
              </a:rPr>
              <a:t>, 102):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Converts the date into the format yyyy.mm.dd.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Example: 2015.01.31.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Renamed as </a:t>
            </a:r>
            <a:r>
              <a:rPr lang="en-US" altLang="en-US" sz="2800" dirty="0" err="1">
                <a:latin typeface="Calibir"/>
              </a:rPr>
              <a:t>OrderDate_YYYYMMDD</a:t>
            </a:r>
            <a:r>
              <a:rPr lang="en-US" altLang="en-US" sz="2800" dirty="0">
                <a:latin typeface="Calibi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315345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EDF340A-5CDA-7AA8-390D-FB3345E5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46465-B7F1-008C-284C-D9774FBFE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5DEB56-4F3B-19E4-A4AA-AB81A2D7C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AD1B9D-D812-3717-3FA7-4BD0E68329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C3879-ABDC-592D-8079-8C3808DF20DD}"/>
              </a:ext>
            </a:extLst>
          </p:cNvPr>
          <p:cNvSpPr txBox="1"/>
          <p:nvPr/>
        </p:nvSpPr>
        <p:spPr>
          <a:xfrm>
            <a:off x="0" y="899653"/>
            <a:ext cx="9144000" cy="1619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SalesOrderNumber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('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+ STR(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RevisionNumber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7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')'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Order_Revision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CONVERT(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7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102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OrderDate_YYYYMMDD</a:t>
            </a:r>
            <a:endParaRPr lang="en-US" sz="17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7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SalesLT.SalesOrderHeader</a:t>
            </a:r>
            <a:r>
              <a:rPr lang="en-US" sz="17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6222E-7029-D0A6-E5D6-474AE00C4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19584"/>
            <a:ext cx="9144000" cy="196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FROM </a:t>
            </a:r>
            <a:r>
              <a:rPr lang="en-US" altLang="en-US" sz="2800" b="1" dirty="0" err="1">
                <a:latin typeface="Calibir"/>
              </a:rPr>
              <a:t>SalesLT.SalesOrderHeader</a:t>
            </a:r>
            <a:r>
              <a:rPr lang="en-US" altLang="en-US" sz="2800" b="1" dirty="0">
                <a:latin typeface="Calibir"/>
              </a:rPr>
              <a:t>: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Tells SQL to pull the data from the </a:t>
            </a:r>
            <a:r>
              <a:rPr lang="en-US" altLang="en-US" sz="2800" dirty="0" err="1">
                <a:latin typeface="Calibir"/>
              </a:rPr>
              <a:t>SalesLT.SalesOrderHeader</a:t>
            </a:r>
            <a:r>
              <a:rPr lang="en-US" altLang="en-US" sz="2800" dirty="0">
                <a:latin typeface="Calibir"/>
              </a:rPr>
              <a:t> table.</a:t>
            </a:r>
          </a:p>
        </p:txBody>
      </p:sp>
    </p:spTree>
    <p:extLst>
      <p:ext uri="{BB962C8B-B14F-4D97-AF65-F5344CB8AC3E}">
        <p14:creationId xmlns:p14="http://schemas.microsoft.com/office/powerpoint/2010/main" val="160764008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63A57CDA-77A8-417D-C57B-FDE7380C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AF839B-D980-EC97-4BDB-82367A7D42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3FD82-A858-E0DD-08A5-56B775DAA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679AEDB-B3D1-602D-B70D-E6883CDC899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28B078-27AA-864A-BD05-9EC54C9A07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936" b="16595"/>
          <a:stretch>
            <a:fillRect/>
          </a:stretch>
        </p:blipFill>
        <p:spPr>
          <a:xfrm>
            <a:off x="2145889" y="515007"/>
            <a:ext cx="4852219" cy="42899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386063E-4E9E-FCD2-A2BA-13227797AC80}"/>
              </a:ext>
            </a:extLst>
          </p:cNvPr>
          <p:cNvSpPr txBox="1"/>
          <p:nvPr/>
        </p:nvSpPr>
        <p:spPr>
          <a:xfrm>
            <a:off x="-1" y="4669069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Calibir"/>
              </a:rPr>
              <a:t>The result should be two columns: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ir"/>
              </a:rPr>
              <a:t>_</a:t>
            </a:r>
            <a:r>
              <a:rPr lang="en-US" sz="2800" dirty="0" err="1">
                <a:latin typeface="Calibir"/>
              </a:rPr>
              <a:t>YYYYMOrder_Revision</a:t>
            </a:r>
            <a:r>
              <a:rPr lang="en-US" sz="2800" dirty="0">
                <a:latin typeface="Calibir"/>
              </a:rPr>
              <a:t> (e.g., SO71774 (2))</a:t>
            </a:r>
          </a:p>
          <a:p>
            <a:pPr marL="971550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latin typeface="Calibir"/>
              </a:rPr>
              <a:t>OrderDateMDD</a:t>
            </a:r>
            <a:r>
              <a:rPr lang="en-US" sz="2800" dirty="0">
                <a:latin typeface="Calibir"/>
              </a:rPr>
              <a:t> (e.g., 2015.01.31)</a:t>
            </a:r>
          </a:p>
        </p:txBody>
      </p:sp>
    </p:spTree>
    <p:extLst>
      <p:ext uri="{BB962C8B-B14F-4D97-AF65-F5344CB8AC3E}">
        <p14:creationId xmlns:p14="http://schemas.microsoft.com/office/powerpoint/2010/main" val="335193844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F368576-51A8-FA79-93B3-0AF279035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608848-54DD-ED0A-2D9E-FF8C57573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2433E5-B47A-DCD3-8A68-749DF7298B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E2BB95B-8921-3C0E-5F6D-4094E769F7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33FF67-4317-C281-4002-C37D1A44A84C}"/>
              </a:ext>
            </a:extLst>
          </p:cNvPr>
          <p:cNvSpPr txBox="1"/>
          <p:nvPr/>
        </p:nvSpPr>
        <p:spPr>
          <a:xfrm>
            <a:off x="0" y="834488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Query 3: </a:t>
            </a:r>
            <a:r>
              <a:rPr lang="en-US" sz="2800" dirty="0">
                <a:latin typeface="Calibir"/>
              </a:rPr>
              <a:t>Write a new query to retrieve the top 10 most expensive products in the database.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1275E3-2901-4ED8-6B36-E4381DA033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06" b="16595"/>
          <a:stretch>
            <a:fillRect/>
          </a:stretch>
        </p:blipFill>
        <p:spPr>
          <a:xfrm>
            <a:off x="0" y="2472150"/>
            <a:ext cx="9144000" cy="38935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8BD330-38C3-2DB8-8ADB-1E8332D068B3}"/>
              </a:ext>
            </a:extLst>
          </p:cNvPr>
          <p:cNvSpPr/>
          <p:nvPr/>
        </p:nvSpPr>
        <p:spPr>
          <a:xfrm>
            <a:off x="1814052" y="6023512"/>
            <a:ext cx="4188129" cy="111817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6400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F5EE049-6EAB-8604-C693-1B801186F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C5988-3A15-CCA4-F0B5-1726A5BBE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E5080-E898-C623-9B54-11EA4D96C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F47D2BC-AF71-0F8D-EA70-0FC27DA4FD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0D9BAC-109D-F25F-5D29-43B9187D4905}"/>
              </a:ext>
            </a:extLst>
          </p:cNvPr>
          <p:cNvSpPr txBox="1"/>
          <p:nvPr/>
        </p:nvSpPr>
        <p:spPr>
          <a:xfrm>
            <a:off x="0" y="834488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Query 3 – Take a screenshot: </a:t>
            </a:r>
            <a:r>
              <a:rPr lang="en-US" sz="2800" dirty="0">
                <a:latin typeface="Calibir"/>
              </a:rPr>
              <a:t>Write a new query to retrieve the top 10 most expensive products in the database.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2573F2-0C4C-FDCE-26A6-5A011040B634}"/>
              </a:ext>
            </a:extLst>
          </p:cNvPr>
          <p:cNvSpPr txBox="1"/>
          <p:nvPr/>
        </p:nvSpPr>
        <p:spPr>
          <a:xfrm>
            <a:off x="0" y="3318537"/>
            <a:ext cx="9143999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TOP (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Name,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 NOT NULL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72F32E5-2778-834B-C135-1C35B8789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9641" y="2472150"/>
            <a:ext cx="5444359" cy="261084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this query does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It shows the 10 most expensive products (that actually have a price).</a:t>
            </a:r>
          </a:p>
        </p:txBody>
      </p:sp>
    </p:spTree>
    <p:extLst>
      <p:ext uri="{BB962C8B-B14F-4D97-AF65-F5344CB8AC3E}">
        <p14:creationId xmlns:p14="http://schemas.microsoft.com/office/powerpoint/2010/main" val="129088777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1C05AC85-2471-EEA2-AFCF-7F26A404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C49E43-5722-C615-0EE6-9BB27179C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8E4E-8998-DAA7-E3DD-E6B4F70F7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27931C-252C-7EA4-260F-7F6554F3760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507BE-A5CD-FE52-CD5D-BAB0F33345F8}"/>
              </a:ext>
            </a:extLst>
          </p:cNvPr>
          <p:cNvSpPr txBox="1"/>
          <p:nvPr/>
        </p:nvSpPr>
        <p:spPr>
          <a:xfrm>
            <a:off x="0" y="834488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Query 3 – Take a screenshot: </a:t>
            </a:r>
            <a:r>
              <a:rPr lang="en-US" sz="2800" dirty="0">
                <a:latin typeface="Calibir"/>
              </a:rPr>
              <a:t>Write a new query to retrieve the top 10 most expensive products in the database.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C1D01-89BC-53B4-F8C7-F246F62A1729}"/>
              </a:ext>
            </a:extLst>
          </p:cNvPr>
          <p:cNvSpPr txBox="1"/>
          <p:nvPr/>
        </p:nvSpPr>
        <p:spPr>
          <a:xfrm>
            <a:off x="0" y="3318537"/>
            <a:ext cx="9143999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TOP (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Name,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 NOT NULL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5EDADA7-B654-8BFA-DF4E-F5A07A81A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714" y="2208650"/>
            <a:ext cx="3804745" cy="464935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b="1" dirty="0">
                <a:latin typeface="Calibir"/>
              </a:rPr>
              <a:t>Step 1: WHERE clause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WHERE </a:t>
            </a:r>
            <a:r>
              <a:rPr lang="en-US" sz="2500" dirty="0" err="1">
                <a:latin typeface="Calibir"/>
              </a:rPr>
              <a:t>ListPrice</a:t>
            </a:r>
            <a:r>
              <a:rPr lang="en-US" sz="2500" dirty="0">
                <a:latin typeface="Calibir"/>
              </a:rPr>
              <a:t> IS NOT NULL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This means:</a:t>
            </a:r>
          </a:p>
          <a:p>
            <a:pPr marL="6302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Ignore products with no price (NULL) </a:t>
            </a:r>
          </a:p>
          <a:p>
            <a:pPr marL="6302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Only keep products that have a price</a:t>
            </a:r>
          </a:p>
        </p:txBody>
      </p:sp>
    </p:spTree>
    <p:extLst>
      <p:ext uri="{BB962C8B-B14F-4D97-AF65-F5344CB8AC3E}">
        <p14:creationId xmlns:p14="http://schemas.microsoft.com/office/powerpoint/2010/main" val="68922162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E3069AF-2DFB-B43B-DEF0-5AF2DC10F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46B400-E3EC-5D36-AE36-611AB30D5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627FC-EEAC-44BB-C535-1AC22C663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5A64C06-3C84-05D8-A2A3-8A6E604A44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2E3CE4-74A4-CA47-766C-CA32A2FD396E}"/>
              </a:ext>
            </a:extLst>
          </p:cNvPr>
          <p:cNvSpPr txBox="1"/>
          <p:nvPr/>
        </p:nvSpPr>
        <p:spPr>
          <a:xfrm>
            <a:off x="0" y="834488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Query 3 – Take a screenshot: </a:t>
            </a:r>
            <a:r>
              <a:rPr lang="en-US" sz="2800" dirty="0">
                <a:latin typeface="Calibir"/>
              </a:rPr>
              <a:t>Write a new query to retrieve the top 10 most expensive products in the database.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A5DDB-463E-BD50-2274-AB9CCAC8B13B}"/>
              </a:ext>
            </a:extLst>
          </p:cNvPr>
          <p:cNvSpPr txBox="1"/>
          <p:nvPr/>
        </p:nvSpPr>
        <p:spPr>
          <a:xfrm>
            <a:off x="0" y="3318537"/>
            <a:ext cx="9143999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TOP (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Name,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 NOT NULL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3B0C229-664B-3A1A-9660-209A43839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714" y="2954496"/>
            <a:ext cx="3804745" cy="390350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ORDER BY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ORDER BY </a:t>
            </a:r>
            <a:r>
              <a:rPr lang="en-US" sz="2800" dirty="0" err="1">
                <a:latin typeface="Calibir"/>
              </a:rPr>
              <a:t>ListPrice</a:t>
            </a:r>
            <a:r>
              <a:rPr lang="en-US" sz="2800" dirty="0">
                <a:latin typeface="Calibir"/>
              </a:rPr>
              <a:t> DESC;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Sort by price: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DESC = highest → lowest</a:t>
            </a:r>
          </a:p>
        </p:txBody>
      </p:sp>
    </p:spTree>
    <p:extLst>
      <p:ext uri="{BB962C8B-B14F-4D97-AF65-F5344CB8AC3E}">
        <p14:creationId xmlns:p14="http://schemas.microsoft.com/office/powerpoint/2010/main" val="224752880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CBCB414-DCB6-8BAB-DF2F-8AC198BC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38E12-AACB-F8CE-D67F-F13E85C5E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00D3E-94BA-ACDD-FFC7-9CDB3A302B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E039E6E-B973-5789-4B6C-CE3E1290B4B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86029-D11B-329D-A7E6-A4DDA96BE429}"/>
              </a:ext>
            </a:extLst>
          </p:cNvPr>
          <p:cNvSpPr txBox="1"/>
          <p:nvPr/>
        </p:nvSpPr>
        <p:spPr>
          <a:xfrm>
            <a:off x="0" y="834488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Query 3 – Take a screenshot: </a:t>
            </a:r>
            <a:r>
              <a:rPr lang="en-US" sz="2800" dirty="0">
                <a:latin typeface="Calibir"/>
              </a:rPr>
              <a:t>Write a new query to retrieve the top 10 most expensive products in the database.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DE3926-7F6A-4881-9CD1-7601AA4B25CC}"/>
              </a:ext>
            </a:extLst>
          </p:cNvPr>
          <p:cNvSpPr txBox="1"/>
          <p:nvPr/>
        </p:nvSpPr>
        <p:spPr>
          <a:xfrm>
            <a:off x="0" y="3318537"/>
            <a:ext cx="9143999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TOP (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Name,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 NOT NULL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D3B2E2E-1627-7EA0-8802-72853F9EC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9255" y="2208650"/>
            <a:ext cx="3804745" cy="464935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Step 3: TOP (10)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Calibir"/>
              </a:rPr>
              <a:t>SELECT TOP (10)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Only show the first 10 rows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Since we sorted highest first, this gives: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Top 10 most expensive products</a:t>
            </a:r>
          </a:p>
        </p:txBody>
      </p:sp>
    </p:spTree>
    <p:extLst>
      <p:ext uri="{BB962C8B-B14F-4D97-AF65-F5344CB8AC3E}">
        <p14:creationId xmlns:p14="http://schemas.microsoft.com/office/powerpoint/2010/main" val="66274278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EF76DFC6-E7F9-1879-F257-C3476C462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BDCB2-E28A-7B1C-DFA1-441D1054E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4BCD-2FA4-0263-55C3-C3088845B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85D4125-E057-ACEE-ECD7-0999C5BB33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7255F1-946B-84B4-5494-C849F60DED7D}"/>
              </a:ext>
            </a:extLst>
          </p:cNvPr>
          <p:cNvSpPr txBox="1"/>
          <p:nvPr/>
        </p:nvSpPr>
        <p:spPr>
          <a:xfrm>
            <a:off x="0" y="834488"/>
            <a:ext cx="91440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FF00"/>
                </a:highlight>
                <a:latin typeface="Calibir"/>
              </a:rPr>
              <a:t>Query 3 – Take a screenshot: </a:t>
            </a:r>
            <a:r>
              <a:rPr lang="en-US" sz="2800" dirty="0">
                <a:latin typeface="Calibir"/>
              </a:rPr>
              <a:t>Write a new query to retrieve the top 10 most expensive products in the database.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147DD8-A7FA-DCFB-F37C-168BE6C10BEA}"/>
              </a:ext>
            </a:extLst>
          </p:cNvPr>
          <p:cNvSpPr txBox="1"/>
          <p:nvPr/>
        </p:nvSpPr>
        <p:spPr>
          <a:xfrm>
            <a:off x="0" y="3318537"/>
            <a:ext cx="9143999" cy="310854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TOP (</a:t>
            </a:r>
            <a:r>
              <a:rPr lang="en-US" sz="28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ProductID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Name, </a:t>
            </a:r>
          </a:p>
          <a:p>
            <a:pPr>
              <a:buNone/>
            </a:pP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SalesLT.Product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IS NOT NULL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ORDER BY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ListPrice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DESC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81CDB02-4117-1055-A827-56C0D907C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714" y="1739804"/>
            <a:ext cx="3804745" cy="51181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SELECT TOP (10)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Only show the first 10 results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WHERE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Ignore products with no price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ORDER BY DESC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Sort from most expensive to cheapest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Calibir"/>
              </a:rPr>
              <a:t>One-line summary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Calibir"/>
              </a:rPr>
              <a:t>Show the 10 most expensive products that have a price.</a:t>
            </a:r>
          </a:p>
        </p:txBody>
      </p:sp>
    </p:spTree>
    <p:extLst>
      <p:ext uri="{BB962C8B-B14F-4D97-AF65-F5344CB8AC3E}">
        <p14:creationId xmlns:p14="http://schemas.microsoft.com/office/powerpoint/2010/main" val="324439320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0D57A24-28C3-C36B-0E5A-D2DC8B26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F54ED4-4265-5D94-76E3-C9935E985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78643-F850-9A7F-24B1-2F8C1A13B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98C0341-7924-B797-0744-FB6DB30DCF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C76C5-8E7D-B98C-E997-C42D622E41B3}"/>
              </a:ext>
            </a:extLst>
          </p:cNvPr>
          <p:cNvSpPr txBox="1"/>
          <p:nvPr/>
        </p:nvSpPr>
        <p:spPr>
          <a:xfrm>
            <a:off x="0" y="834488"/>
            <a:ext cx="91440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results lists the 10 most expensive products in the database, starting with the highest price at the top. (Take a screenshot)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AB948-4C27-5ED8-7E00-3953472C2C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814"/>
          <a:stretch>
            <a:fillRect/>
          </a:stretch>
        </p:blipFill>
        <p:spPr>
          <a:xfrm>
            <a:off x="2341756" y="2149913"/>
            <a:ext cx="6802244" cy="470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1346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7F4475DF-8E14-3BD3-6C73-4AFCF620E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7A2B0-F099-325B-BA20-D85C540CF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F8D15-9DE4-72E9-0E82-BB68D79E6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1A0BED1-FD31-956F-2F2E-A67A652951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2A58C-026E-BEC3-972B-B0E576726C55}"/>
              </a:ext>
            </a:extLst>
          </p:cNvPr>
          <p:cNvSpPr txBox="1"/>
          <p:nvPr/>
        </p:nvSpPr>
        <p:spPr>
          <a:xfrm>
            <a:off x="0" y="834488"/>
            <a:ext cx="914400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Submit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Paste the screenshots of completing steps 12, 13 and 14, Query 1, Query 2, and Query 3 (6 screenshots) in a single Word/pdf file and submit using </a:t>
            </a:r>
            <a:r>
              <a:rPr lang="en-US" sz="2800" dirty="0">
                <a:solidFill>
                  <a:srgbClr val="3D3935"/>
                </a:solidFill>
                <a:latin typeface="Calibir"/>
              </a:rPr>
              <a:t>the assignment module 8 submission link. </a:t>
            </a:r>
            <a:r>
              <a:rPr lang="en-US" sz="2800" dirty="0" err="1">
                <a:latin typeface="Calibir"/>
              </a:rPr>
              <a:t>The</a:t>
            </a:r>
            <a:r>
              <a:rPr lang="en-US" sz="2800" dirty="0">
                <a:latin typeface="Calibir"/>
              </a:rPr>
              <a:t> screenshots must show both the SQL code of the query and its results.</a:t>
            </a:r>
          </a:p>
        </p:txBody>
      </p:sp>
    </p:spTree>
    <p:extLst>
      <p:ext uri="{BB962C8B-B14F-4D97-AF65-F5344CB8AC3E}">
        <p14:creationId xmlns:p14="http://schemas.microsoft.com/office/powerpoint/2010/main" val="130940103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B2ACE71-96C1-68A7-0BC7-A03C0AA5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EB5997-F44C-E2CF-9EDE-241668A3B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1874A-A4BD-D3BA-CB6E-4468F392D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9D02AE-F8C8-63EC-59FB-4CFDAD09E6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3887C-522F-E3FE-838B-43D6184601EB}"/>
              </a:ext>
            </a:extLst>
          </p:cNvPr>
          <p:cNvSpPr txBox="1"/>
          <p:nvPr/>
        </p:nvSpPr>
        <p:spPr>
          <a:xfrm>
            <a:off x="0" y="1012666"/>
            <a:ext cx="9144000" cy="519616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Quick fixes (common issues)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“Customers table not found” → Use the right name: </a:t>
            </a:r>
            <a:r>
              <a:rPr lang="en-US" sz="2800" dirty="0" err="1">
                <a:latin typeface="Calibir"/>
              </a:rPr>
              <a:t>SalesLT.Customer</a:t>
            </a:r>
            <a:r>
              <a:rPr lang="en-US" sz="2800" dirty="0">
                <a:latin typeface="Calibir"/>
              </a:rPr>
              <a:t> (not Customers)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Login fails in Query editor → Add your client IP in Networking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No sample tables → You likely missed </a:t>
            </a:r>
            <a:r>
              <a:rPr lang="en-US" sz="2800" dirty="0" err="1">
                <a:latin typeface="Calibir"/>
              </a:rPr>
              <a:t>AdventureWorksLT</a:t>
            </a:r>
            <a:r>
              <a:rPr lang="en-US" sz="2800" dirty="0">
                <a:latin typeface="Calibir"/>
              </a:rPr>
              <a:t>; use SELECT 1; or create a simple table to test</a:t>
            </a:r>
          </a:p>
        </p:txBody>
      </p:sp>
    </p:spTree>
    <p:extLst>
      <p:ext uri="{BB962C8B-B14F-4D97-AF65-F5344CB8AC3E}">
        <p14:creationId xmlns:p14="http://schemas.microsoft.com/office/powerpoint/2010/main" val="381647552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32D1BFF-C03D-B97B-D347-5F1660B22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713AA7-6E84-01FE-0ABE-963DB77B0F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D5230-182B-D57B-BC0B-A6E9D0841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D9F5A35-F5FF-8D92-B89E-6051DB92695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Week 8 Tutorial Activity (Step-by-Step)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C0E491-3DDA-ECDF-51FC-6871B82BD16E}"/>
              </a:ext>
            </a:extLst>
          </p:cNvPr>
          <p:cNvSpPr txBox="1"/>
          <p:nvPr/>
        </p:nvSpPr>
        <p:spPr>
          <a:xfrm>
            <a:off x="0" y="1012666"/>
            <a:ext cx="9144000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What the answers should show (in words)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Q1: Only those 5 </a:t>
            </a:r>
            <a:r>
              <a:rPr lang="en-US" sz="2800" dirty="0" err="1">
                <a:latin typeface="Calibir"/>
              </a:rPr>
              <a:t>CustomerIDs</a:t>
            </a:r>
            <a:r>
              <a:rPr lang="en-US" sz="2800" dirty="0">
                <a:latin typeface="Calibir"/>
              </a:rPr>
              <a:t>, sorted by LastName descending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Q2: Orders with their </a:t>
            </a:r>
            <a:r>
              <a:rPr lang="en-US" sz="2800" dirty="0" err="1">
                <a:latin typeface="Calibir"/>
              </a:rPr>
              <a:t>RevisionNumber</a:t>
            </a:r>
            <a:r>
              <a:rPr lang="en-US" sz="2800" dirty="0">
                <a:latin typeface="Calibir"/>
              </a:rPr>
              <a:t> (and a neat date), or a count per revision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Q3: The 10 highest </a:t>
            </a:r>
            <a:r>
              <a:rPr lang="en-US" sz="2800" dirty="0" err="1">
                <a:latin typeface="Calibir"/>
              </a:rPr>
              <a:t>ListPrice</a:t>
            </a:r>
            <a:r>
              <a:rPr lang="en-US" sz="2800" dirty="0">
                <a:latin typeface="Calibir"/>
              </a:rPr>
              <a:t> products, from most to less expensive</a:t>
            </a:r>
          </a:p>
        </p:txBody>
      </p:sp>
    </p:spTree>
    <p:extLst>
      <p:ext uri="{BB962C8B-B14F-4D97-AF65-F5344CB8AC3E}">
        <p14:creationId xmlns:p14="http://schemas.microsoft.com/office/powerpoint/2010/main" val="355926942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328CE5C-B1EC-C48C-E87D-7A63136B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1F32E4-52A2-6EBF-8038-D9C9F0CBF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73592-3D1A-D07B-C5CF-811486F23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6FED0-E9C8-AF9A-680B-B4D342E046F0}"/>
              </a:ext>
            </a:extLst>
          </p:cNvPr>
          <p:cNvSpPr txBox="1"/>
          <p:nvPr/>
        </p:nvSpPr>
        <p:spPr>
          <a:xfrm>
            <a:off x="0" y="604807"/>
            <a:ext cx="7237141" cy="45498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What did we learn?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Difference: Access vs Azure SQL.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Provision DBs in the cloud.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Write SQL queries.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Calibir"/>
              </a:rPr>
              <a:t>Why important?</a:t>
            </a:r>
            <a:endParaRPr lang="en-US" altLang="en-US" sz="2800" dirty="0">
              <a:latin typeface="Calibir"/>
            </a:endParaRP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Skills → Azure Fundamentals Certification.</a:t>
            </a:r>
          </a:p>
          <a:p>
            <a:pPr marL="914400" lvl="1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Calibir"/>
              </a:rPr>
              <a:t>Real jobs in data engineering, DB admin.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1046F60-7C24-8ED6-E088-3883076CCF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Review &amp; Reflection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33108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81E391A-AB6B-6EA9-F948-0AE7121E8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4580FE-66BB-7797-4D0B-47D1FA61E0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88CB2-F7EF-BD00-DEEF-0A54906CE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78596-D160-676E-A81C-69B23B7E0FC1}"/>
              </a:ext>
            </a:extLst>
          </p:cNvPr>
          <p:cNvSpPr txBox="1"/>
          <p:nvPr/>
        </p:nvSpPr>
        <p:spPr>
          <a:xfrm>
            <a:off x="0" y="604807"/>
            <a:ext cx="9144000" cy="58424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Calibir"/>
              </a:rPr>
              <a:t>Q:</a:t>
            </a:r>
            <a:r>
              <a:rPr lang="en-US" altLang="en-US" sz="2800" dirty="0">
                <a:latin typeface="Calibir"/>
              </a:rPr>
              <a:t> Why can’t Woolworths or Qantas run their operations on MS Access?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A:</a:t>
            </a:r>
            <a:r>
              <a:rPr lang="en-US" altLang="en-US" sz="2800" dirty="0">
                <a:latin typeface="Calibir"/>
              </a:rPr>
              <a:t> Access can’t handle thousands of concurrent users &amp; terabytes of data.</a:t>
            </a:r>
          </a:p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800" b="1" dirty="0">
                <a:latin typeface="Calibir"/>
              </a:rPr>
              <a:t>Q:</a:t>
            </a:r>
            <a:r>
              <a:rPr lang="en-US" altLang="en-US" sz="2800" dirty="0">
                <a:latin typeface="Calibir"/>
              </a:rPr>
              <a:t> Debate: Should Australian universities keep data on campus servers or move to Azure Cloud?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534988" algn="l"/>
              </a:tabLst>
            </a:pPr>
            <a:r>
              <a:rPr lang="en-US" altLang="en-US" sz="2800" b="1" dirty="0">
                <a:latin typeface="Calibir"/>
              </a:rPr>
              <a:t>	For:</a:t>
            </a:r>
            <a:r>
              <a:rPr lang="en-US" altLang="en-US" sz="2800" dirty="0">
                <a:latin typeface="Calibir"/>
              </a:rPr>
              <a:t> Cloud = secure, scalable, cheaper long-term.</a:t>
            </a:r>
            <a:br>
              <a:rPr lang="en-US" altLang="en-US" sz="2800" dirty="0">
                <a:latin typeface="Calibir"/>
              </a:rPr>
            </a:br>
            <a:r>
              <a:rPr lang="en-US" altLang="en-US" sz="2800" dirty="0">
                <a:latin typeface="Calibir"/>
              </a:rPr>
              <a:t>	</a:t>
            </a:r>
            <a:r>
              <a:rPr lang="en-US" altLang="en-US" sz="2800" b="1" dirty="0">
                <a:latin typeface="Calibir"/>
              </a:rPr>
              <a:t>Against:</a:t>
            </a:r>
            <a:r>
              <a:rPr lang="en-US" altLang="en-US" sz="2800" dirty="0">
                <a:latin typeface="Calibir"/>
              </a:rPr>
              <a:t> Privacy risks, ongoing cost, internet 	dependency.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AB50FC7-49C5-AE83-1947-F0102662B1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Discussion &amp; Role-Play Questions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227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7FBE049-EC08-E989-4910-A29134191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7D8BC-F643-39F3-074C-E51D060E3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67574-63E0-9FB3-15CE-BEB7C968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4137C-2DD6-6A13-BB12-381F0C8F4B32}"/>
              </a:ext>
            </a:extLst>
          </p:cNvPr>
          <p:cNvSpPr txBox="1"/>
          <p:nvPr/>
        </p:nvSpPr>
        <p:spPr>
          <a:xfrm>
            <a:off x="0" y="604807"/>
            <a:ext cx="9144000" cy="196451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514350" lvl="0" indent="-5143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en-US" altLang="en-US" sz="2800" b="1" dirty="0">
                <a:latin typeface="Calibir"/>
              </a:rPr>
              <a:t>Q:</a:t>
            </a:r>
            <a:r>
              <a:rPr lang="en-US" altLang="en-US" sz="2800" dirty="0">
                <a:latin typeface="Calibir"/>
              </a:rPr>
              <a:t> If Azure SQL is PaaS, what control do we lose vs IaaS?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latin typeface="Calibir"/>
              </a:rPr>
              <a:t>	A:</a:t>
            </a:r>
            <a:r>
              <a:rPr lang="en-US" altLang="en-US" sz="2800" dirty="0">
                <a:latin typeface="Calibir"/>
              </a:rPr>
              <a:t> We lose full control of the server (patching, OS-level 	settings).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CAE7B1E-AC61-C208-C82E-14733D2169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15008"/>
          </a:xfrm>
        </p:spPr>
        <p:txBody>
          <a:bodyPr>
            <a:noAutofit/>
          </a:bodyPr>
          <a:lstStyle/>
          <a:p>
            <a:r>
              <a:rPr lang="en-US" sz="3200" dirty="0"/>
              <a:t>Discussion &amp; Role-Play Questions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522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AE2E-97E0-BDCA-618B-720FE1F7F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3548F9-A26E-1B74-C2A0-A0350AC21E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3827"/>
            <a:ext cx="6553200" cy="50206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lang="en-US" sz="3200" dirty="0"/>
              <a:t>Thank You</a:t>
            </a:r>
            <a:endParaRPr sz="3200" spc="-8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5BD2D9-AABA-65D7-AD99-6F5B8666F07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76" rIns="0" bIns="0" rtlCol="0">
            <a:spAutoFit/>
          </a:bodyPr>
          <a:lstStyle/>
          <a:p>
            <a:pPr marL="28575" defTabSz="685800">
              <a:spcBef>
                <a:spcPts val="4"/>
              </a:spcBef>
            </a:pPr>
            <a:fld id="{81D60167-4931-47E6-BA6A-407CBD079E47}" type="slidenum">
              <a:rPr kern="0" dirty="0"/>
              <a:pPr marL="28575" defTabSz="685800">
                <a:spcBef>
                  <a:spcPts val="4"/>
                </a:spcBef>
              </a:pPr>
              <a:t>124</a:t>
            </a:fld>
            <a:r>
              <a:rPr kern="0" spc="176" dirty="0"/>
              <a:t> </a:t>
            </a:r>
            <a:r>
              <a:rPr kern="0" dirty="0"/>
              <a:t>|</a:t>
            </a:r>
            <a:r>
              <a:rPr kern="0" spc="300" dirty="0"/>
              <a:t> </a:t>
            </a:r>
            <a:r>
              <a:rPr kern="0" dirty="0"/>
              <a:t>Faculty</a:t>
            </a:r>
            <a:r>
              <a:rPr kern="0" spc="-11" dirty="0"/>
              <a:t> </a:t>
            </a:r>
            <a:r>
              <a:rPr kern="0" dirty="0"/>
              <a:t>of</a:t>
            </a:r>
            <a:r>
              <a:rPr kern="0" spc="-15" dirty="0"/>
              <a:t> </a:t>
            </a:r>
            <a:r>
              <a:rPr kern="0" dirty="0"/>
              <a:t>Business</a:t>
            </a:r>
            <a:r>
              <a:rPr kern="0" spc="-15" dirty="0"/>
              <a:t> </a:t>
            </a:r>
            <a:r>
              <a:rPr kern="0" dirty="0"/>
              <a:t>and</a:t>
            </a:r>
            <a:r>
              <a:rPr kern="0" spc="-15" dirty="0"/>
              <a:t> </a:t>
            </a:r>
            <a:r>
              <a:rPr kern="0" dirty="0"/>
              <a:t>Law</a:t>
            </a:r>
            <a:r>
              <a:rPr kern="0" spc="-11" dirty="0"/>
              <a:t> </a:t>
            </a:r>
            <a:r>
              <a:rPr kern="0" dirty="0"/>
              <a:t>|</a:t>
            </a:r>
            <a:r>
              <a:rPr kern="0" spc="-11" dirty="0"/>
              <a:t> </a:t>
            </a:r>
            <a:r>
              <a:rPr kern="0" dirty="0"/>
              <a:t>Peter</a:t>
            </a:r>
            <a:r>
              <a:rPr kern="0" spc="-8" dirty="0"/>
              <a:t> </a:t>
            </a:r>
            <a:r>
              <a:rPr kern="0" dirty="0"/>
              <a:t>Faber</a:t>
            </a:r>
            <a:r>
              <a:rPr kern="0" spc="-11" dirty="0"/>
              <a:t> </a:t>
            </a:r>
            <a:r>
              <a:rPr kern="0" dirty="0"/>
              <a:t>Business</a:t>
            </a:r>
            <a:r>
              <a:rPr kern="0" spc="-11" dirty="0"/>
              <a:t> </a:t>
            </a:r>
            <a:r>
              <a:rPr kern="0" spc="-8" dirty="0"/>
              <a:t>School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C5F5B67-D420-B363-36D0-076510E9FACF}"/>
              </a:ext>
            </a:extLst>
          </p:cNvPr>
          <p:cNvSpPr txBox="1"/>
          <p:nvPr/>
        </p:nvSpPr>
        <p:spPr>
          <a:xfrm>
            <a:off x="154858" y="1214061"/>
            <a:ext cx="5808821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i="1" kern="0" dirty="0">
                <a:solidFill>
                  <a:prstClr val="black"/>
                </a:solidFill>
                <a:latin typeface="Calibri"/>
                <a:cs typeface="Arial"/>
              </a:rPr>
              <a:t>Have a Great Learning Day!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D47354F-B664-DD16-78CE-61C2CA4253AA}"/>
              </a:ext>
            </a:extLst>
          </p:cNvPr>
          <p:cNvSpPr txBox="1"/>
          <p:nvPr/>
        </p:nvSpPr>
        <p:spPr>
          <a:xfrm>
            <a:off x="154858" y="1720357"/>
            <a:ext cx="8074742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kern="0" dirty="0">
                <a:solidFill>
                  <a:prstClr val="black"/>
                </a:solidFill>
                <a:latin typeface="Calibri"/>
              </a:rPr>
              <a:t>Feel free to reach out with any questions!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6A8C491-6C04-81E4-0F77-7812ABB2A303}"/>
              </a:ext>
            </a:extLst>
          </p:cNvPr>
          <p:cNvSpPr txBox="1"/>
          <p:nvPr/>
        </p:nvSpPr>
        <p:spPr>
          <a:xfrm>
            <a:off x="154858" y="2226653"/>
            <a:ext cx="5808821" cy="491000"/>
          </a:xfrm>
          <a:prstGeom prst="rect">
            <a:avLst/>
          </a:prstGeom>
        </p:spPr>
        <p:txBody>
          <a:bodyPr vert="horz" wrap="square" lIns="0" tIns="59531" rIns="0" bIns="0" rtlCol="0">
            <a:spAutoFit/>
          </a:bodyPr>
          <a:lstStyle/>
          <a:p>
            <a:pPr marL="342424" indent="-332899" defTabSz="685800">
              <a:spcBef>
                <a:spcPts val="469"/>
              </a:spcBef>
              <a:buClr>
                <a:srgbClr val="F2120C"/>
              </a:buClr>
              <a:buSzPct val="75000"/>
              <a:buFont typeface="Arial"/>
              <a:buChar char="•"/>
              <a:tabLst>
                <a:tab pos="342424" algn="l"/>
              </a:tabLst>
            </a:pPr>
            <a:r>
              <a:rPr lang="en-US" sz="2800" kern="0" dirty="0">
                <a:solidFill>
                  <a:prstClr val="black"/>
                </a:solidFill>
                <a:latin typeface="Calibri"/>
              </a:rPr>
              <a:t>Dr. Farshid Keivanian</a:t>
            </a:r>
            <a:endParaRPr sz="2800" kern="0" dirty="0">
              <a:solidFill>
                <a:prstClr val="black"/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37682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4800</TotalTime>
  <Words>6598</Words>
  <Application>Microsoft Office PowerPoint</Application>
  <PresentationFormat>On-screen Show (4:3)</PresentationFormat>
  <Paragraphs>1756</Paragraphs>
  <Slides>124</Slides>
  <Notes>123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31" baseType="lpstr">
      <vt:lpstr>Arial</vt:lpstr>
      <vt:lpstr>Calibir</vt:lpstr>
      <vt:lpstr>Calibri</vt:lpstr>
      <vt:lpstr>Consolas</vt:lpstr>
      <vt:lpstr>ACU Presentation</vt:lpstr>
      <vt:lpstr>1_Office Theme</vt:lpstr>
      <vt:lpstr>think-cell Slide</vt:lpstr>
      <vt:lpstr>Enterprise-scale DBMS and SQL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1146</cp:revision>
  <cp:lastPrinted>2017-08-03T04:07:41Z</cp:lastPrinted>
  <dcterms:created xsi:type="dcterms:W3CDTF">2017-05-11T09:33:32Z</dcterms:created>
  <dcterms:modified xsi:type="dcterms:W3CDTF">2026-04-27T10:10:15Z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