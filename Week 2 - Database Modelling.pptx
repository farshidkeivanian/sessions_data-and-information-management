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  <p:sldMasterId id="2147483769" r:id="rId5"/>
  </p:sldMasterIdLst>
  <p:notesMasterIdLst>
    <p:notesMasterId r:id="rId97"/>
  </p:notesMasterIdLst>
  <p:sldIdLst>
    <p:sldId id="421" r:id="rId6"/>
    <p:sldId id="925" r:id="rId7"/>
    <p:sldId id="258" r:id="rId8"/>
    <p:sldId id="1086" r:id="rId9"/>
    <p:sldId id="1087" r:id="rId10"/>
    <p:sldId id="1088" r:id="rId11"/>
    <p:sldId id="1089" r:id="rId12"/>
    <p:sldId id="1090" r:id="rId13"/>
    <p:sldId id="1091" r:id="rId14"/>
    <p:sldId id="1092" r:id="rId15"/>
    <p:sldId id="1093" r:id="rId16"/>
    <p:sldId id="1094" r:id="rId17"/>
    <p:sldId id="1095" r:id="rId18"/>
    <p:sldId id="1096" r:id="rId19"/>
    <p:sldId id="1097" r:id="rId20"/>
    <p:sldId id="1098" r:id="rId21"/>
    <p:sldId id="1099" r:id="rId22"/>
    <p:sldId id="1100" r:id="rId23"/>
    <p:sldId id="1101" r:id="rId24"/>
    <p:sldId id="1102" r:id="rId25"/>
    <p:sldId id="1103" r:id="rId26"/>
    <p:sldId id="2518" r:id="rId27"/>
    <p:sldId id="1104" r:id="rId28"/>
    <p:sldId id="2519" r:id="rId29"/>
    <p:sldId id="2574" r:id="rId30"/>
    <p:sldId id="2577" r:id="rId31"/>
    <p:sldId id="2575" r:id="rId32"/>
    <p:sldId id="2578" r:id="rId33"/>
    <p:sldId id="2579" r:id="rId34"/>
    <p:sldId id="2580" r:id="rId35"/>
    <p:sldId id="2512" r:id="rId36"/>
    <p:sldId id="2520" r:id="rId37"/>
    <p:sldId id="2521" r:id="rId38"/>
    <p:sldId id="2522" r:id="rId39"/>
    <p:sldId id="2523" r:id="rId40"/>
    <p:sldId id="2524" r:id="rId41"/>
    <p:sldId id="2526" r:id="rId42"/>
    <p:sldId id="2527" r:id="rId43"/>
    <p:sldId id="2525" r:id="rId44"/>
    <p:sldId id="1081" r:id="rId45"/>
    <p:sldId id="2542" r:id="rId46"/>
    <p:sldId id="2543" r:id="rId47"/>
    <p:sldId id="2544" r:id="rId48"/>
    <p:sldId id="2581" r:id="rId49"/>
    <p:sldId id="2576" r:id="rId50"/>
    <p:sldId id="2582" r:id="rId51"/>
    <p:sldId id="2545" r:id="rId52"/>
    <p:sldId id="2608" r:id="rId53"/>
    <p:sldId id="2587" r:id="rId54"/>
    <p:sldId id="2584" r:id="rId55"/>
    <p:sldId id="2585" r:id="rId56"/>
    <p:sldId id="2586" r:id="rId57"/>
    <p:sldId id="2588" r:id="rId58"/>
    <p:sldId id="2589" r:id="rId59"/>
    <p:sldId id="2590" r:id="rId60"/>
    <p:sldId id="2591" r:id="rId61"/>
    <p:sldId id="2592" r:id="rId62"/>
    <p:sldId id="2593" r:id="rId63"/>
    <p:sldId id="2594" r:id="rId64"/>
    <p:sldId id="2595" r:id="rId65"/>
    <p:sldId id="2596" r:id="rId66"/>
    <p:sldId id="2597" r:id="rId67"/>
    <p:sldId id="2598" r:id="rId68"/>
    <p:sldId id="2599" r:id="rId69"/>
    <p:sldId id="2600" r:id="rId70"/>
    <p:sldId id="2601" r:id="rId71"/>
    <p:sldId id="2602" r:id="rId72"/>
    <p:sldId id="2603" r:id="rId73"/>
    <p:sldId id="2604" r:id="rId74"/>
    <p:sldId id="2605" r:id="rId75"/>
    <p:sldId id="2606" r:id="rId76"/>
    <p:sldId id="2607" r:id="rId77"/>
    <p:sldId id="2583" r:id="rId78"/>
    <p:sldId id="2546" r:id="rId79"/>
    <p:sldId id="2547" r:id="rId80"/>
    <p:sldId id="2548" r:id="rId81"/>
    <p:sldId id="2549" r:id="rId82"/>
    <p:sldId id="2550" r:id="rId83"/>
    <p:sldId id="2551" r:id="rId84"/>
    <p:sldId id="2552" r:id="rId85"/>
    <p:sldId id="2553" r:id="rId86"/>
    <p:sldId id="2556" r:id="rId87"/>
    <p:sldId id="2565" r:id="rId88"/>
    <p:sldId id="2568" r:id="rId89"/>
    <p:sldId id="2567" r:id="rId90"/>
    <p:sldId id="2571" r:id="rId91"/>
    <p:sldId id="2570" r:id="rId92"/>
    <p:sldId id="2566" r:id="rId93"/>
    <p:sldId id="1084" r:id="rId94"/>
    <p:sldId id="1817" r:id="rId95"/>
    <p:sldId id="1850" r:id="rId96"/>
  </p:sldIdLst>
  <p:sldSz cx="9144000" cy="6858000" type="screen4x3"/>
  <p:notesSz cx="6805613" cy="9939338"/>
  <p:custDataLst>
    <p:tags r:id="rId9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120C"/>
    <a:srgbClr val="3C1053"/>
    <a:srgbClr val="3D3935"/>
    <a:srgbClr val="8C857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30" autoAdjust="0"/>
    <p:restoredTop sz="94694"/>
  </p:normalViewPr>
  <p:slideViewPr>
    <p:cSldViewPr snapToGrid="0">
      <p:cViewPr varScale="1">
        <p:scale>
          <a:sx n="70" d="100"/>
          <a:sy n="70" d="100"/>
        </p:scale>
        <p:origin x="1677" y="8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slide" Target="slides/slide58.xml"/><Relationship Id="rId68" Type="http://schemas.openxmlformats.org/officeDocument/2006/relationships/slide" Target="slides/slide63.xml"/><Relationship Id="rId84" Type="http://schemas.openxmlformats.org/officeDocument/2006/relationships/slide" Target="slides/slide79.xml"/><Relationship Id="rId89" Type="http://schemas.openxmlformats.org/officeDocument/2006/relationships/slide" Target="slides/slide84.xml"/><Relationship Id="rId16" Type="http://schemas.openxmlformats.org/officeDocument/2006/relationships/slide" Target="slides/slide11.xml"/><Relationship Id="rId11" Type="http://schemas.openxmlformats.org/officeDocument/2006/relationships/slide" Target="slides/slide6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74" Type="http://schemas.openxmlformats.org/officeDocument/2006/relationships/slide" Target="slides/slide69.xml"/><Relationship Id="rId79" Type="http://schemas.openxmlformats.org/officeDocument/2006/relationships/slide" Target="slides/slide74.xml"/><Relationship Id="rId102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90" Type="http://schemas.openxmlformats.org/officeDocument/2006/relationships/slide" Target="slides/slide85.xml"/><Relationship Id="rId95" Type="http://schemas.openxmlformats.org/officeDocument/2006/relationships/slide" Target="slides/slide90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64" Type="http://schemas.openxmlformats.org/officeDocument/2006/relationships/slide" Target="slides/slide59.xml"/><Relationship Id="rId69" Type="http://schemas.openxmlformats.org/officeDocument/2006/relationships/slide" Target="slides/slide64.xml"/><Relationship Id="rId80" Type="http://schemas.openxmlformats.org/officeDocument/2006/relationships/slide" Target="slides/slide75.xml"/><Relationship Id="rId85" Type="http://schemas.openxmlformats.org/officeDocument/2006/relationships/slide" Target="slides/slide80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67" Type="http://schemas.openxmlformats.org/officeDocument/2006/relationships/slide" Target="slides/slide62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slide" Target="slides/slide57.xml"/><Relationship Id="rId70" Type="http://schemas.openxmlformats.org/officeDocument/2006/relationships/slide" Target="slides/slide65.xml"/><Relationship Id="rId75" Type="http://schemas.openxmlformats.org/officeDocument/2006/relationships/slide" Target="slides/slide70.xml"/><Relationship Id="rId83" Type="http://schemas.openxmlformats.org/officeDocument/2006/relationships/slide" Target="slides/slide78.xml"/><Relationship Id="rId88" Type="http://schemas.openxmlformats.org/officeDocument/2006/relationships/slide" Target="slides/slide83.xml"/><Relationship Id="rId91" Type="http://schemas.openxmlformats.org/officeDocument/2006/relationships/slide" Target="slides/slide86.xml"/><Relationship Id="rId96" Type="http://schemas.openxmlformats.org/officeDocument/2006/relationships/slide" Target="slides/slide9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slide" Target="slides/slide60.xml"/><Relationship Id="rId73" Type="http://schemas.openxmlformats.org/officeDocument/2006/relationships/slide" Target="slides/slide68.xml"/><Relationship Id="rId78" Type="http://schemas.openxmlformats.org/officeDocument/2006/relationships/slide" Target="slides/slide73.xml"/><Relationship Id="rId81" Type="http://schemas.openxmlformats.org/officeDocument/2006/relationships/slide" Target="slides/slide76.xml"/><Relationship Id="rId86" Type="http://schemas.openxmlformats.org/officeDocument/2006/relationships/slide" Target="slides/slide81.xml"/><Relationship Id="rId94" Type="http://schemas.openxmlformats.org/officeDocument/2006/relationships/slide" Target="slides/slide89.xml"/><Relationship Id="rId99" Type="http://schemas.openxmlformats.org/officeDocument/2006/relationships/presProps" Target="presProps.xml"/><Relationship Id="rId10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76" Type="http://schemas.openxmlformats.org/officeDocument/2006/relationships/slide" Target="slides/slide71.xml"/><Relationship Id="rId97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71" Type="http://schemas.openxmlformats.org/officeDocument/2006/relationships/slide" Target="slides/slide66.xml"/><Relationship Id="rId92" Type="http://schemas.openxmlformats.org/officeDocument/2006/relationships/slide" Target="slides/slide87.xml"/><Relationship Id="rId2" Type="http://schemas.openxmlformats.org/officeDocument/2006/relationships/customXml" Target="../customXml/item2.xml"/><Relationship Id="rId29" Type="http://schemas.openxmlformats.org/officeDocument/2006/relationships/slide" Target="slides/slide24.xml"/><Relationship Id="rId24" Type="http://schemas.openxmlformats.org/officeDocument/2006/relationships/slide" Target="slides/slide19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66" Type="http://schemas.openxmlformats.org/officeDocument/2006/relationships/slide" Target="slides/slide61.xml"/><Relationship Id="rId87" Type="http://schemas.openxmlformats.org/officeDocument/2006/relationships/slide" Target="slides/slide82.xml"/><Relationship Id="rId61" Type="http://schemas.openxmlformats.org/officeDocument/2006/relationships/slide" Target="slides/slide56.xml"/><Relationship Id="rId82" Type="http://schemas.openxmlformats.org/officeDocument/2006/relationships/slide" Target="slides/slide77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56" Type="http://schemas.openxmlformats.org/officeDocument/2006/relationships/slide" Target="slides/slide51.xml"/><Relationship Id="rId77" Type="http://schemas.openxmlformats.org/officeDocument/2006/relationships/slide" Target="slides/slide72.xml"/><Relationship Id="rId100" Type="http://schemas.openxmlformats.org/officeDocument/2006/relationships/viewProps" Target="viewProps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72" Type="http://schemas.openxmlformats.org/officeDocument/2006/relationships/slide" Target="slides/slide67.xml"/><Relationship Id="rId93" Type="http://schemas.openxmlformats.org/officeDocument/2006/relationships/slide" Target="slides/slide88.xml"/><Relationship Id="rId98" Type="http://schemas.openxmlformats.org/officeDocument/2006/relationships/tags" Target="tags/tag1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4939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69E031-7821-4947-9A91-EC03C15F7566}" type="datetimeFigureOut">
              <a:rPr lang="en-AU" smtClean="0"/>
              <a:t>7/03/2026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6813" y="1243013"/>
            <a:ext cx="4471987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562" y="4783307"/>
            <a:ext cx="5444490" cy="3913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4939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98A5C1-1CB9-4F08-9AE0-90C38B1EBB9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52559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3E7ABAAC-5D8E-1C18-3F88-335D9C334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D48C1850-F9BD-A4A5-D072-058FE505B6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1BD30937-6FE3-7295-92F7-D80E0294EC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F33D77E7-EA99-A08D-AD57-3AA6854A045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46806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506925B8-4132-2167-51F3-27D574B48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384799F9-0429-807B-677D-6378E1FBB7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000AD792-56A7-0281-BB7B-9A79CF9379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C496E076-009E-9C91-A8FA-9383B208AC8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90781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697F462D-E1FB-2AF8-3653-6999AA7CC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7727BF04-80A2-E440-0834-E6F8C86BA3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BDFF3696-628E-C84A-B8B2-219F9F6FEA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238F863C-5951-10AA-2BAE-D54459C9F44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853690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E7485039-0AC4-E7A6-C7F9-1D66F71EC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E03801CF-BC9D-9098-25B3-88620D7CF5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DEB78279-028E-E7C1-BB15-268EE17440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845C3CBF-B25C-4EB5-16FB-937E46CE0EA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096551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BAA09900-1CC7-C756-8ECA-444B931BE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E28D8FF5-7FDF-CDD8-62B8-C9B38A61B3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2CF45FEF-05B5-7745-8D41-F96494AB75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8E1FCB70-BA96-86F8-0FD3-C7249AB2EB8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3126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D5B5EF25-04AD-ABC4-693F-BE9241EF0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B79446F1-4BF6-9B16-B078-259BDBE3C9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EFCF45D8-6B24-3F18-BEF7-EB1DF5D407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A83C82C3-8C61-ECC8-BA9A-FBDA16E91EC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357046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15DEDADC-BBC0-52B4-32BF-487EC409A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C8626811-A750-56DD-2FFD-50B1EF19CD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726533F3-532B-B172-6E3C-0560A5EF85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58349C60-450A-E485-C9A0-5B4C5232A98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65297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A83E248F-8C14-AB7E-055E-4A882C4A6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4F2F142C-02CA-2F29-046D-D33EA99680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963209E2-FA22-7236-A0D8-4D47FF5B65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9310BA18-311A-AAC9-CFC4-DC3A2823FE8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490265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973AA0D0-4C40-0EC4-491C-5F03B5D0A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B2831FA1-1411-336A-BFB7-84F9EC0C83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0A8B8907-C444-26AB-1B7C-F54331484D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A036B1EF-5521-0302-BEC0-5975B8587D2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70428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4FE5A690-2417-BACE-6436-73AF7240E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EA405A33-7E6F-D649-62F3-4721303B56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145C5851-FAEA-147F-7280-18E6C6B828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DB02337F-7A00-77D5-DE13-DD80A889979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077108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5A088082-D95C-76BF-4517-5E250B593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88E3DA18-9EBB-9C36-E26E-57CDF9B591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E36E7FC9-B375-1F7B-2634-8D00E90DB8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50C867FA-F469-6EEC-B554-D51E785F409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159233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680AF1CE-803C-EAA6-9E12-53A0C0904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87A57A7C-6FBB-6855-7E41-E57CD2B4B8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96FE19AE-88DE-9D66-D099-8D977C2BBC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CDC1C585-92DF-7C45-DD17-0B69736AE36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687582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F8FC322B-CC06-5847-DE46-880A1BA59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8036583F-A496-F170-8BC3-1329070239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97972520-9A2D-1A59-D6B3-5395408C32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1198C740-D49A-7E35-4C26-A823C6A121F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763702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29C9E33A-EA42-137B-1ACE-019E91132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9B84F12B-5BAF-D525-6033-9B4784C69D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AB316979-515E-E9D1-5A1D-703560C295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CA3902E0-A7CE-2E9A-981B-213A3039E6F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588913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686FBD53-DF8A-B186-BE84-D1E8E6767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A9E7D5F1-58C6-CB6E-4F4B-17D8A60A26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EE3F937F-A532-915B-37A6-856938BE30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BA82365F-0A8F-358A-75DA-56997DD7B0E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9752391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1A2FD7D9-31F3-D5A7-7B45-BB5393524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4A4111BA-27D0-7A45-E778-FA7D36E822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00A68994-C8FE-FC04-7202-902CB43E79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40AC36A5-D71B-5976-F78D-BAFDFD69FB7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8148965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CF3A0941-8823-9F8C-8999-D46A3AED8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0B6C1F5E-F855-5E17-A477-AC24C7632A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EC5AFB80-E5B8-0CD4-A71B-E0B413EA4A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5B178D4A-FC3D-6258-D849-3D67414BE7F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0087815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25EA5985-1D8E-E1F8-F3FF-007D6D712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9E99F897-E9B5-0381-3C70-C83C5D9C1E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3C6EABB7-8F09-CC3E-F38D-F47E9334A5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B839BF29-61B1-419A-2BA2-5B5660A22DC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1491859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F8D91-6191-D01F-5CE2-6AC590525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00D699-9F5E-7C23-8126-154FD132A6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450C57-6BF3-4816-53D8-A6F89DE488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0DB442-1F79-C334-2C45-B4C4C57E50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ED24F3-C88E-4C15-8193-4E111B80EC59}" type="slidenum">
              <a:rPr lang="en-AU" smtClean="0"/>
              <a:t>22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6519676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FBB27BC0-B86F-12D5-200C-E1DE53446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94B81700-D09E-680D-CFFD-2E6FB9A241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2F99AA73-E513-042F-EFA9-334468A79E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F67A631A-A23B-1D55-BC1C-0B9AFDFCCDA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4269464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66A9499E-4C9E-D6BE-90DA-AFE53368B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8F8747BA-6478-6251-FA72-B30D47D16D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8D8CEF7A-A09E-F777-7654-D555C79547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C0917FF9-82A2-09F8-1690-E3D7E8F286C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1691681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368AB757-C7DF-C9DA-108C-A53D8A27B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7053F1FC-98BC-A82E-FB37-50DA5B92A5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A8F06801-020E-9B75-0FB3-A8970649A4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3D4B77F9-C45E-AB64-3FEC-2DEBABEA3C5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3079368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FC1A9790-8088-0DD6-7A07-A3EB0E02C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61E0D5C5-F0F8-876C-5478-5E9463BD9C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A80A614D-6279-AE4A-4C1E-B7DEA3CF2D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89C77EA0-C22E-8627-3897-440CE512DCE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0576881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5D9DE0FA-4504-8558-1D02-0330F07DA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239AA7ED-A91B-A895-4539-11A6394322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5499FDD4-7FFC-5504-189A-0F2A7BE0E1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4052EF6C-0A92-CF60-92E3-25B1DAAC15F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7663744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7FE84AF3-DA58-DE72-A3D7-62DA484D1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10F591AD-BAFC-16C1-59B3-62ACCF3AD2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C72BE7DA-DC8D-49C2-FDA3-3320AE92B8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75E6CFC6-129D-8649-7CEB-23ADF203693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6120756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59C22291-9D22-2F96-64F6-23A137E20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7C8FDC01-F86B-ECB2-9274-827C063723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B82CCC7C-E7BB-F3DE-A2E3-BD8A4D3642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FC4287DC-3AFF-C77C-314A-E235B860F0E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8479614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949BB368-D952-B59E-DF08-FF9C9C704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F59F385F-6E54-DD13-7551-CB723A850A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F13CC28C-65A0-97FE-48E3-9386534895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8E363057-C745-CAFF-03FF-BE61556948D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3348670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0CF3C4-C7DD-566A-FEA0-52618EBEC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0A2754-DF9F-2483-DA12-B5A5EDA7D4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B90C5E-3235-BF38-43C3-8D817CC9E7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750F20-E764-D2A4-CC8F-0501189529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ED24F3-C88E-4C15-8193-4E111B80EC59}" type="slidenum">
              <a:rPr lang="en-AU" smtClean="0"/>
              <a:t>31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006613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5AEFB-7859-3AD7-DE19-86989E6B4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AE065E-21D3-D0CA-CE54-A2946D4921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DD8588-A0CD-DECC-F7D1-2EBB6A7A15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8334FF-C6C1-A5DB-FBCA-38D743B5A5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ED24F3-C88E-4C15-8193-4E111B80EC59}" type="slidenum">
              <a:rPr lang="en-AU" smtClean="0"/>
              <a:t>32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2054970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39BB4-8D66-B69A-460D-40CC257BA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404C34-A678-2D5C-87AF-856F0CB252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91A909-F310-8B91-EF2A-8F68B482CE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55CD46-46A2-E45B-5856-E6EC3C01F4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ED24F3-C88E-4C15-8193-4E111B80EC59}" type="slidenum">
              <a:rPr lang="en-AU" smtClean="0"/>
              <a:t>33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4371569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39BB4-8D66-B69A-460D-40CC257BA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404C34-A678-2D5C-87AF-856F0CB252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91A909-F310-8B91-EF2A-8F68B482CE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55CD46-46A2-E45B-5856-E6EC3C01F4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ED24F3-C88E-4C15-8193-4E111B80EC59}" type="slidenum">
              <a:rPr lang="en-AU" smtClean="0"/>
              <a:t>34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4651794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3B22E-1008-E322-BE75-AD879ED0E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13438C-7050-0005-71C4-0893869F52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E23C95-289D-A018-0967-637BE128EC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32421C-F761-C2BB-7656-90CFAECF47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ED24F3-C88E-4C15-8193-4E111B80EC59}" type="slidenum">
              <a:rPr lang="en-AU" smtClean="0"/>
              <a:t>35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3277560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58F96-0045-84EE-ECBA-D9EE1E478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E5094B-9C41-B30D-23DD-020E06E28F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80204A-487B-CA4A-ABA5-05BBA23F2A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DD2A34-9CBD-9144-4D1C-3757EF2CB5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ED24F3-C88E-4C15-8193-4E111B80EC59}" type="slidenum">
              <a:rPr lang="en-AU" smtClean="0"/>
              <a:t>36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6391774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6CD91-84DF-570B-DFCC-4C06C1403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B7EF47-18AF-873F-55EF-8CB83BF47E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0185B5-FFF4-D546-AB1C-F5EB6040F2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5F147F-A48F-C4D6-F9A7-A8C1BD8C18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ED24F3-C88E-4C15-8193-4E111B80EC59}" type="slidenum">
              <a:rPr lang="en-AU" smtClean="0"/>
              <a:t>37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436743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7AB79B-06F1-AE9B-5A04-971D3973A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5FB461-38C9-D98E-CDF5-508EE67B9B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8BE195-FF9F-816A-FCD6-BACCCD89AD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075439-6CA8-ECD7-22B7-AEABA21D51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ED24F3-C88E-4C15-8193-4E111B80EC59}" type="slidenum">
              <a:rPr lang="en-AU" smtClean="0"/>
              <a:t>38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9190496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BF1D7-6D97-EBE1-090F-A74AB9597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0A0145-EE51-1E84-B247-A1C1DEF13C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061880-D929-CABA-BB46-6780EEE54E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B96705-C11B-8D76-DFCB-59EBDC3D9F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ED24F3-C88E-4C15-8193-4E111B80EC59}" type="slidenum">
              <a:rPr lang="en-AU" smtClean="0"/>
              <a:t>39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6818137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1376D6E4-2683-B2E3-5672-928B76C8B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615E447F-6D0B-A9DE-F29A-3FCEC8736D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4A651046-90F3-CD9D-8F30-43924AE91D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049D9090-A93B-9770-F651-92D7BFA7127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5789807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36F7B820-EDF6-FE4C-21D8-AA7361E66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B554F40B-969F-1CDA-BC1D-CDF09FF016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08F8C201-B111-F7E0-1330-9A1124DC90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455B18FA-6353-32B5-29E6-D3B7C78C30A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9508137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779E5135-AB0F-B115-EFC4-8C938964C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25556078-FA9A-A4E7-57E3-2209E152A5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7E7C041E-160D-95DD-3953-F5049319AA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28221F79-37BA-E64C-14D4-046F887B356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7953740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10F29F17-A23A-E8A8-7AA2-2E1353B78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B7D0B880-171F-EF4F-0F2E-5C46C4BD8C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58238027-FAF3-1D1C-9C0E-842202D17F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2233AFE4-9C42-1472-EEDE-73EBF2E0A67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5534588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ABCDD89D-471C-01D8-6946-E6FCBAD1D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F21BCC8B-83FC-20EA-EEB3-633FA15C36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48BB950A-7A82-2E75-670E-E79C8256B5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BC6EE9F5-F994-7798-B042-218CCBB9385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3384923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F17CBD15-BD25-35E2-E513-F4B3173FF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5A464D0C-AC06-302F-4CCF-25F1E9F07E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A9AA581C-60EF-4217-3CC6-90B6CE97F9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8E5BCACB-76DD-5DC4-50A6-CCD2A3216CB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7862725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322BFB74-7EEE-DE41-793A-B7FF6DB7C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8B98A4AA-EA90-5725-4D4B-5F3926F653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4D5D5932-731D-A409-787D-329ABD1BEC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EBD4FBF6-B588-18F9-A3A3-17EE8E6C31A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4683379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A58D404F-E2CF-FB3B-ED00-EAAAE23B2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CE03A8ED-462E-E28C-6EE4-DBDF12ACB9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624EA635-DD83-685C-CF65-2D2BB5450C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BF2493C8-A9C5-9AA5-9C6B-A725F9DC58D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8452716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9567F657-6D19-1E0D-026B-11D7C4C36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E9A2A110-C8D5-7E8F-39EC-4844C5E27B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63639C0C-325C-1264-8A3B-8E1DC4BDBF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B5FE0F01-2164-D511-5E06-9320EB5785C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597434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19889A6C-9829-455B-B970-938CC4FD9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6AE3B0FD-6BB4-B9A1-5392-AB31BD3CBC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9A051E25-225D-B46D-6E4F-3BFE861B4F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E7614695-88BF-96ED-3771-C32DDE2AC95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0648234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41758FBB-41CD-71C7-B5CE-89DD013B1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B12541E3-BA4E-0B24-1804-D541C98BB6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12ACC96A-D66F-501B-2C5F-D0FFD7AE9D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B78F0553-2238-9882-B988-BC584867473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9658339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5B41C253-8001-CA9A-C0B2-12A4103F7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477EA84B-3A01-51F9-413B-F3BF08B20A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665FED2F-CB46-5C47-3FF7-AC921DCE39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73C7E5D3-E407-A38E-3140-56752202346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18741954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21C09134-F9EB-C5F9-DB3B-CCF89BB8C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E780578B-C876-AB76-CE14-8803ED94A1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532B3217-AAEE-8E7B-943A-3593774BF4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58D07962-A8F6-F0A5-74EF-B17FFDFC49A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79708873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F7AE431D-0711-39FA-CDDF-68FAE33AE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E05D9E9E-FF24-FC52-F69C-ACDB69FA77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42C5A24D-31FA-7EC5-AFA1-99EBD0C2A3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9D86A72C-644E-6B69-FED4-70CA0BE68DC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11063760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D3583BCC-98C0-91F4-E111-7251A7D97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B9FE0509-DA20-C18A-0BA8-37260B1F8F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517CA7D2-A2FE-623F-E527-B1E113B4AB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928E3EC3-8361-4B37-3FFD-908F7C0BE95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85812822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1168CCE2-7E62-4348-61B4-A0A50D2B1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687252F1-76FB-3C5D-A76D-4F8998247B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7697DD20-C5B6-A2A5-285F-C34C1B5C44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87A998BB-D75B-2065-12DE-3705D20CB66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04924863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0AE1EACF-F88D-0085-471C-DADE52C1C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D4208274-85D5-6977-F964-47FA23B143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7DB3FCA3-CD67-9602-BCC2-531A87E06C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1759C9C3-1CF5-66AD-A9FC-541DE2D3D7D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42432664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4856309C-ECD1-7813-D92C-F6BC5FC94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EFA9853E-7DA4-1765-EF86-AC84A606AB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542E5690-06CA-A6CA-3CB5-E037920E8E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6AE5292A-9AA5-A598-C2A8-8AA56A3D9C1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99557174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71BA74DA-FF58-BBD9-7204-719822E1D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759D24AF-FF86-BAB4-9B22-95296DCB24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78373D27-8D6C-34BA-9F12-614CF32294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FEDF9B95-9997-FCFC-64E2-CEAD28B70E9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83816700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7F4D5D3A-51D3-B6F2-DAA6-17707847D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33A452EA-783D-A35C-0C51-03E5D40DCE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17098E39-6024-C0C1-13F1-1B711C568D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0AF723DA-51D7-BC81-AF48-D47964D0A4E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6282702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B7F1DF1C-09D2-9D37-7A59-920E436F0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6AF0592A-D455-6C47-0FD7-DE6215E118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8408A8E6-E4EE-E96D-3BC2-0E21ACE04E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23A229D1-5D57-B6AE-270C-9BA8E8496C7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58337059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5E89B756-8DE7-8B04-A787-A58F4CA9D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CA897E76-55A6-C792-14AA-5A6BAAE174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8A49FFD2-EBD4-769C-57E3-5F1AE0F929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5B8D943A-F3E5-C865-C219-30518143641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90864995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D3FBDF19-2722-7834-6192-326C85D82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BC5F00D2-0FD2-5D7B-B08A-9E9B3B412C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4FB5CA52-8509-BFE1-3792-F9A7268EEC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B537F356-61DF-CC38-9C49-784EB8BF30D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59466457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A4377A56-A015-2498-375E-29EF88E37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0E043592-1115-9037-3EBB-801627E457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B26B9E0A-E638-B1E4-B108-1D7B31773D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F388655F-0D1E-2594-2A03-AC676F8A13B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58045385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528A5A8E-1D1C-8F2C-63C8-0D2C15A40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79790854-237E-A52E-97F5-89EE30E101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DAE429B7-6108-8A4A-056B-9B254C90EE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AF138171-DC83-C430-7884-7030E0C045F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0830762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3CD8E6EA-8C86-4796-D109-7721E8B6F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C943A7B4-170D-3835-2EC0-5026A421EE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08E9E46A-ABE2-5F31-3A36-FCF407E7E3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DA6523F4-8BEB-0805-BBFC-3BD6961AC52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22657574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441788AF-3550-9090-D076-90AC4CBF2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74BB62A4-0DD2-A7A6-AC49-5678BC32FE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B76459B3-C669-0AD1-B623-60514F9D44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F34D0700-871D-5726-3B24-2520042F34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46016717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E147FA2A-A9DF-4E15-2D03-9AFEA50E2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A0C47E5B-E1AE-E0A4-A2AB-8F2FCC7375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834233FD-ADFB-613A-FC00-D903E45C07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4D938E55-C7D5-FBCF-1E74-55D16D5FF47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98120905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F52D2423-2FD2-ACA8-0377-8A5346B45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9100AD44-43CC-2F1A-16CA-F063521C11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78DDCBEB-7666-652F-44CE-F015B2C0BC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7B8B8355-742F-35D1-269C-6C9462FABE4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21967285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94766A13-AC4D-C9CC-4420-B9CB94FB7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7C84D1F7-587C-61CE-0C71-7983AC38DF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A4032723-26B5-27FB-0ADE-0DEA79E5B0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ED4F6FFA-20F2-2BF3-FFA9-289E130906C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7515363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8660ADB2-CDEA-DB8E-BFB5-8979179F3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18D41B3D-D899-A28F-D7E9-0626CBA03A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5E2BD168-56FB-FB56-473E-C08DF545C9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D05B3579-897F-3F58-436B-35F423C7EDC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0671738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499EE61D-DB2D-7B9C-6194-CFD76B1B8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8D6B8728-27B4-E5B9-9A5E-24F7CDAAE0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93B5CFD2-974F-EAB9-9046-30FC2A4FA6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70979F59-E285-9C3B-FC6F-D6228B97CD7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37322176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C8E4E9AA-1874-C294-C91E-B281EE25F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08B1D548-942A-E918-FA7A-979AAE9E5F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02E6A65D-02EF-ABBA-BDAA-3CE5E8D382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E0DCC691-7824-74E9-FF0F-5F08CB98F6B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30972083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1CAFA6E4-BB0B-D2B1-DD9D-5C38AAB86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BDA41F76-4306-2DC7-800E-A7B60D909D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E18AFEEE-3453-0586-FBE5-4C6FA2D48B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C332E5D7-AFE8-6359-1FBE-28B4807C514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53681739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D623DE67-F95F-863E-FFF4-FE07DE149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43EADBBA-B725-DCEF-275E-47E85C52CC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C420D939-6045-5B3D-9E74-F5A91F1D42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45B5ECB9-D580-6FA2-DD6E-2E5549D0452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045375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0F021758-BCEE-5A81-4BEC-FB5720BE3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5B4401E9-005C-5D12-81C4-22B2326EC4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04E4B690-98A8-C56E-48FD-A9F577B969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15D5B2CB-D70A-63FD-7544-F161ED8428B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58167275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F258A196-A9AF-94B5-E000-B40D71534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0CF2A56F-9005-124D-B42D-4FA434DC70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75414C5C-49A9-C780-F9A4-70E4E511B2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974C9E54-EE7D-FBD6-2662-3F82884AD67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96042224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36698269-1E62-8BA0-3783-D1418CF11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E5EC79E0-101E-64C5-7A9D-BE9E8855FC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35E1A2C2-929B-DA46-9D1E-5CE4E2C711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1F33B303-B687-3717-F93A-DF862170F28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2576386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36698269-1E62-8BA0-3783-D1418CF11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E5EC79E0-101E-64C5-7A9D-BE9E8855FC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35E1A2C2-929B-DA46-9D1E-5CE4E2C711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1F33B303-B687-3717-F93A-DF862170F28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83770643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FA2B3708-D65B-4D7C-1887-23A3FA460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0982CD0E-CCAD-6F2E-F362-6485987B6F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74FD180D-7699-941D-1326-40E6D190B5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48E4F36C-8347-9884-8B97-026D792E60A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93900795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A9AB390D-27CF-81BA-5433-5C70E4DCF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FD438D3A-8275-73F3-AEB7-F0B421A7AF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8B9219B4-378E-655C-4EA7-2697C659BC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1AE91BC5-B7F8-A9CF-59BD-4EA3AA6E2A7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9029477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79BB4FA0-BE56-4D8F-9137-765454711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47A26ECF-FD9E-A4AE-1926-0DE5836E99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F2FE57B7-5D9F-F9C5-FE34-16857094FF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5A66B013-F600-20FD-F805-262D7111B40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27744326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4C906D6D-9739-25FE-31F9-E991D46FC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08E37636-66AF-7BC9-4322-DBF02FCCFD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F8CF4BF2-99C0-5924-2FD2-730E4CB065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6408CD2F-0625-3729-6A82-00C6DDA5277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06140713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AF7A2909-E22A-78AF-B1D0-25277C3C4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F8CA9A69-EEC3-80F3-1E2D-14AF795D99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3B6BB418-531C-7EA1-639E-3DFDBC5BD0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49B802F4-F393-4FFF-47A0-4B985CE84FF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72064523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C6DB672A-1BFC-AF54-5350-19040C603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1459E298-4004-0F55-D7F0-353F2FB0BF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CDA7EFF8-F446-9D59-D99B-CAAC785DAF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8CA644D5-8F88-682F-79D6-9E110A58DBB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66810735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78AD3013-EBFF-BEAF-99A5-C17DE65F9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E3FFE827-1E12-169B-0DC7-6955019D9C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1377BAC4-4816-7DA9-D1E9-23400C68D8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65135845-6CCC-60B5-61D7-023FA156B78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73341664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28E0E45D-E5C5-87BF-1DB0-B9339589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F9F04832-BF4C-1FDC-EE33-9B6AC9A34B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FFA64FC3-39AB-3F70-30CC-CBEF85F8E1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121AD42C-4A6D-B735-0FDE-04CAC160686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45916165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104ABB41-79AF-6297-ED5B-D694BD289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540DB0E1-FB7A-BB0C-AD55-2B8825CC3D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4AE45D39-98D9-556C-0F2F-952D8A789F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EF5FBE96-A887-0F6F-D638-6E840932908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2111686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EFEA5949-89EA-325A-8E79-8D5829FC7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77285E08-573B-DF5E-81CE-0DB9C6BD23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C2E04875-F22F-08FE-9E08-E34E881C2A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9BBA8256-5E6C-F2F9-DD2F-DA01B66DE91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592768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/>
          <p:cNvSpPr/>
          <p:nvPr userDrawn="1"/>
        </p:nvSpPr>
        <p:spPr>
          <a:xfrm>
            <a:off x="0" y="-3175"/>
            <a:ext cx="9142413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grpSp>
        <p:nvGrpSpPr>
          <p:cNvPr id="5" name="Group 4"/>
          <p:cNvGrpSpPr>
            <a:grpSpLocks noChangeAspect="1"/>
          </p:cNvGrpSpPr>
          <p:nvPr userDrawn="1"/>
        </p:nvGrpSpPr>
        <p:grpSpPr bwMode="auto">
          <a:xfrm>
            <a:off x="0" y="0"/>
            <a:ext cx="9144227" cy="6858000"/>
            <a:chOff x="5" y="0"/>
            <a:chExt cx="5750" cy="4320"/>
          </a:xfrm>
        </p:grpSpPr>
        <p:sp>
          <p:nvSpPr>
            <p:cNvPr id="6" name="AutoShape 3"/>
            <p:cNvSpPr>
              <a:spLocks noChangeAspect="1" noChangeArrowheads="1" noTextEdit="1"/>
            </p:cNvSpPr>
            <p:nvPr userDrawn="1"/>
          </p:nvSpPr>
          <p:spPr bwMode="auto">
            <a:xfrm>
              <a:off x="5" y="0"/>
              <a:ext cx="5750" cy="4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Freeform 5"/>
            <p:cNvSpPr>
              <a:spLocks/>
            </p:cNvSpPr>
            <p:nvPr userDrawn="1"/>
          </p:nvSpPr>
          <p:spPr bwMode="auto">
            <a:xfrm>
              <a:off x="5" y="288"/>
              <a:ext cx="2875" cy="1871"/>
            </a:xfrm>
            <a:custGeom>
              <a:avLst/>
              <a:gdLst>
                <a:gd name="T0" fmla="*/ 2875 w 2875"/>
                <a:gd name="T1" fmla="*/ 0 h 1871"/>
                <a:gd name="T2" fmla="*/ 2875 w 2875"/>
                <a:gd name="T3" fmla="*/ 1871 h 1871"/>
                <a:gd name="T4" fmla="*/ 0 w 2875"/>
                <a:gd name="T5" fmla="*/ 1871 h 1871"/>
                <a:gd name="T6" fmla="*/ 0 w 2875"/>
                <a:gd name="T7" fmla="*/ 0 h 1871"/>
                <a:gd name="T8" fmla="*/ 2875 w 2875"/>
                <a:gd name="T9" fmla="*/ 0 h 1871"/>
                <a:gd name="T10" fmla="*/ 2875 w 2875"/>
                <a:gd name="T11" fmla="*/ 0 h 18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75" h="1871">
                  <a:moveTo>
                    <a:pt x="2875" y="0"/>
                  </a:moveTo>
                  <a:lnTo>
                    <a:pt x="2875" y="1871"/>
                  </a:lnTo>
                  <a:lnTo>
                    <a:pt x="0" y="1871"/>
                  </a:lnTo>
                  <a:lnTo>
                    <a:pt x="0" y="0"/>
                  </a:lnTo>
                  <a:lnTo>
                    <a:pt x="2875" y="0"/>
                  </a:lnTo>
                  <a:lnTo>
                    <a:pt x="2875" y="0"/>
                  </a:lnTo>
                  <a:close/>
                </a:path>
              </a:pathLst>
            </a:custGeom>
            <a:solidFill>
              <a:srgbClr val="3D3935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2880" y="2159"/>
              <a:ext cx="2875" cy="2159"/>
            </a:xfrm>
            <a:custGeom>
              <a:avLst/>
              <a:gdLst>
                <a:gd name="T0" fmla="*/ 2875 w 2875"/>
                <a:gd name="T1" fmla="*/ 0 h 2159"/>
                <a:gd name="T2" fmla="*/ 2875 w 2875"/>
                <a:gd name="T3" fmla="*/ 1869 h 2159"/>
                <a:gd name="T4" fmla="*/ 290 w 2875"/>
                <a:gd name="T5" fmla="*/ 1869 h 2159"/>
                <a:gd name="T6" fmla="*/ 0 w 2875"/>
                <a:gd name="T7" fmla="*/ 2159 h 2159"/>
                <a:gd name="T8" fmla="*/ 0 w 2875"/>
                <a:gd name="T9" fmla="*/ 0 h 2159"/>
                <a:gd name="T10" fmla="*/ 2875 w 2875"/>
                <a:gd name="T11" fmla="*/ 0 h 2159"/>
                <a:gd name="T12" fmla="*/ 2875 w 2875"/>
                <a:gd name="T13" fmla="*/ 0 h 2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75" h="2159">
                  <a:moveTo>
                    <a:pt x="2875" y="0"/>
                  </a:moveTo>
                  <a:lnTo>
                    <a:pt x="2875" y="1869"/>
                  </a:lnTo>
                  <a:lnTo>
                    <a:pt x="290" y="1869"/>
                  </a:lnTo>
                  <a:lnTo>
                    <a:pt x="0" y="2159"/>
                  </a:lnTo>
                  <a:lnTo>
                    <a:pt x="0" y="0"/>
                  </a:lnTo>
                  <a:lnTo>
                    <a:pt x="2875" y="0"/>
                  </a:lnTo>
                  <a:lnTo>
                    <a:pt x="2875" y="0"/>
                  </a:lnTo>
                  <a:close/>
                </a:path>
              </a:pathLst>
            </a:custGeom>
            <a:solidFill>
              <a:srgbClr val="F2120D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5" y="2159"/>
              <a:ext cx="2875" cy="2155"/>
            </a:xfrm>
            <a:custGeom>
              <a:avLst/>
              <a:gdLst>
                <a:gd name="T0" fmla="*/ 2875 w 2875"/>
                <a:gd name="T1" fmla="*/ 0 h 2155"/>
                <a:gd name="T2" fmla="*/ 2875 w 2875"/>
                <a:gd name="T3" fmla="*/ 2155 h 2155"/>
                <a:gd name="T4" fmla="*/ 0 w 2875"/>
                <a:gd name="T5" fmla="*/ 2155 h 2155"/>
                <a:gd name="T6" fmla="*/ 0 w 2875"/>
                <a:gd name="T7" fmla="*/ 0 h 2155"/>
                <a:gd name="T8" fmla="*/ 2875 w 2875"/>
                <a:gd name="T9" fmla="*/ 0 h 2155"/>
                <a:gd name="T10" fmla="*/ 2875 w 2875"/>
                <a:gd name="T11" fmla="*/ 0 h 2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75" h="2155">
                  <a:moveTo>
                    <a:pt x="2875" y="0"/>
                  </a:moveTo>
                  <a:lnTo>
                    <a:pt x="2875" y="2155"/>
                  </a:lnTo>
                  <a:lnTo>
                    <a:pt x="0" y="2155"/>
                  </a:lnTo>
                  <a:lnTo>
                    <a:pt x="0" y="0"/>
                  </a:lnTo>
                  <a:lnTo>
                    <a:pt x="2875" y="0"/>
                  </a:lnTo>
                  <a:lnTo>
                    <a:pt x="2875" y="0"/>
                  </a:lnTo>
                  <a:close/>
                </a:path>
              </a:pathLst>
            </a:custGeom>
            <a:solidFill>
              <a:srgbClr val="8C857B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Freeform 8"/>
            <p:cNvSpPr>
              <a:spLocks/>
            </p:cNvSpPr>
            <p:nvPr userDrawn="1"/>
          </p:nvSpPr>
          <p:spPr bwMode="auto">
            <a:xfrm>
              <a:off x="2880" y="-2"/>
              <a:ext cx="2875" cy="2161"/>
            </a:xfrm>
            <a:custGeom>
              <a:avLst/>
              <a:gdLst>
                <a:gd name="T0" fmla="*/ 2875 w 2875"/>
                <a:gd name="T1" fmla="*/ 0 h 2161"/>
                <a:gd name="T2" fmla="*/ 2875 w 2875"/>
                <a:gd name="T3" fmla="*/ 2161 h 2161"/>
                <a:gd name="T4" fmla="*/ 0 w 2875"/>
                <a:gd name="T5" fmla="*/ 2161 h 2161"/>
                <a:gd name="T6" fmla="*/ 0 w 2875"/>
                <a:gd name="T7" fmla="*/ 290 h 2161"/>
                <a:gd name="T8" fmla="*/ 290 w 2875"/>
                <a:gd name="T9" fmla="*/ 0 h 2161"/>
                <a:gd name="T10" fmla="*/ 2875 w 2875"/>
                <a:gd name="T11" fmla="*/ 0 h 2161"/>
                <a:gd name="T12" fmla="*/ 2875 w 2875"/>
                <a:gd name="T13" fmla="*/ 0 h 2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75" h="2161">
                  <a:moveTo>
                    <a:pt x="2875" y="0"/>
                  </a:moveTo>
                  <a:lnTo>
                    <a:pt x="2875" y="2161"/>
                  </a:lnTo>
                  <a:lnTo>
                    <a:pt x="0" y="2161"/>
                  </a:lnTo>
                  <a:lnTo>
                    <a:pt x="0" y="290"/>
                  </a:lnTo>
                  <a:lnTo>
                    <a:pt x="290" y="0"/>
                  </a:lnTo>
                  <a:lnTo>
                    <a:pt x="2875" y="0"/>
                  </a:lnTo>
                  <a:lnTo>
                    <a:pt x="2875" y="0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Freeform 9"/>
            <p:cNvSpPr>
              <a:spLocks/>
            </p:cNvSpPr>
            <p:nvPr userDrawn="1"/>
          </p:nvSpPr>
          <p:spPr bwMode="auto">
            <a:xfrm>
              <a:off x="4659" y="234"/>
              <a:ext cx="182" cy="233"/>
            </a:xfrm>
            <a:custGeom>
              <a:avLst/>
              <a:gdLst>
                <a:gd name="T0" fmla="*/ 91 w 91"/>
                <a:gd name="T1" fmla="*/ 0 h 117"/>
                <a:gd name="T2" fmla="*/ 91 w 91"/>
                <a:gd name="T3" fmla="*/ 51 h 117"/>
                <a:gd name="T4" fmla="*/ 46 w 91"/>
                <a:gd name="T5" fmla="*/ 117 h 117"/>
                <a:gd name="T6" fmla="*/ 0 w 91"/>
                <a:gd name="T7" fmla="*/ 51 h 117"/>
                <a:gd name="T8" fmla="*/ 0 w 91"/>
                <a:gd name="T9" fmla="*/ 0 h 117"/>
                <a:gd name="T10" fmla="*/ 91 w 91"/>
                <a:gd name="T11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1" h="117">
                  <a:moveTo>
                    <a:pt x="91" y="0"/>
                  </a:moveTo>
                  <a:cubicBezTo>
                    <a:pt x="91" y="51"/>
                    <a:pt x="91" y="51"/>
                    <a:pt x="91" y="51"/>
                  </a:cubicBezTo>
                  <a:cubicBezTo>
                    <a:pt x="91" y="77"/>
                    <a:pt x="74" y="105"/>
                    <a:pt x="46" y="117"/>
                  </a:cubicBezTo>
                  <a:cubicBezTo>
                    <a:pt x="18" y="105"/>
                    <a:pt x="0" y="77"/>
                    <a:pt x="0" y="5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91" y="0"/>
                    <a:pt x="91" y="0"/>
                    <a:pt x="91" y="0"/>
                  </a:cubicBezTo>
                  <a:close/>
                </a:path>
              </a:pathLst>
            </a:custGeom>
            <a:solidFill>
              <a:srgbClr val="E2231A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Freeform 10"/>
            <p:cNvSpPr>
              <a:spLocks/>
            </p:cNvSpPr>
            <p:nvPr userDrawn="1"/>
          </p:nvSpPr>
          <p:spPr bwMode="auto">
            <a:xfrm>
              <a:off x="4693" y="262"/>
              <a:ext cx="114" cy="149"/>
            </a:xfrm>
            <a:custGeom>
              <a:avLst/>
              <a:gdLst>
                <a:gd name="T0" fmla="*/ 0 w 114"/>
                <a:gd name="T1" fmla="*/ 74 h 149"/>
                <a:gd name="T2" fmla="*/ 58 w 114"/>
                <a:gd name="T3" fmla="*/ 0 h 149"/>
                <a:gd name="T4" fmla="*/ 114 w 114"/>
                <a:gd name="T5" fmla="*/ 74 h 149"/>
                <a:gd name="T6" fmla="*/ 58 w 114"/>
                <a:gd name="T7" fmla="*/ 149 h 149"/>
                <a:gd name="T8" fmla="*/ 0 w 114"/>
                <a:gd name="T9" fmla="*/ 74 h 149"/>
                <a:gd name="T10" fmla="*/ 0 w 114"/>
                <a:gd name="T11" fmla="*/ 74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4" h="149">
                  <a:moveTo>
                    <a:pt x="0" y="74"/>
                  </a:moveTo>
                  <a:lnTo>
                    <a:pt x="58" y="0"/>
                  </a:lnTo>
                  <a:lnTo>
                    <a:pt x="114" y="74"/>
                  </a:lnTo>
                  <a:lnTo>
                    <a:pt x="58" y="149"/>
                  </a:lnTo>
                  <a:lnTo>
                    <a:pt x="0" y="74"/>
                  </a:lnTo>
                  <a:lnTo>
                    <a:pt x="0" y="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Freeform 11"/>
            <p:cNvSpPr>
              <a:spLocks/>
            </p:cNvSpPr>
            <p:nvPr userDrawn="1"/>
          </p:nvSpPr>
          <p:spPr bwMode="auto">
            <a:xfrm>
              <a:off x="4709" y="294"/>
              <a:ext cx="82" cy="97"/>
            </a:xfrm>
            <a:custGeom>
              <a:avLst/>
              <a:gdLst>
                <a:gd name="T0" fmla="*/ 18 w 41"/>
                <a:gd name="T1" fmla="*/ 26 h 49"/>
                <a:gd name="T2" fmla="*/ 21 w 41"/>
                <a:gd name="T3" fmla="*/ 49 h 49"/>
                <a:gd name="T4" fmla="*/ 21 w 41"/>
                <a:gd name="T5" fmla="*/ 49 h 49"/>
                <a:gd name="T6" fmla="*/ 21 w 41"/>
                <a:gd name="T7" fmla="*/ 49 h 49"/>
                <a:gd name="T8" fmla="*/ 23 w 41"/>
                <a:gd name="T9" fmla="*/ 26 h 49"/>
                <a:gd name="T10" fmla="*/ 23 w 41"/>
                <a:gd name="T11" fmla="*/ 24 h 49"/>
                <a:gd name="T12" fmla="*/ 32 w 41"/>
                <a:gd name="T13" fmla="*/ 24 h 49"/>
                <a:gd name="T14" fmla="*/ 32 w 41"/>
                <a:gd name="T15" fmla="*/ 25 h 49"/>
                <a:gd name="T16" fmla="*/ 35 w 41"/>
                <a:gd name="T17" fmla="*/ 28 h 49"/>
                <a:gd name="T18" fmla="*/ 37 w 41"/>
                <a:gd name="T19" fmla="*/ 25 h 49"/>
                <a:gd name="T20" fmla="*/ 37 w 41"/>
                <a:gd name="T21" fmla="*/ 24 h 49"/>
                <a:gd name="T22" fmla="*/ 38 w 41"/>
                <a:gd name="T23" fmla="*/ 24 h 49"/>
                <a:gd name="T24" fmla="*/ 41 w 41"/>
                <a:gd name="T25" fmla="*/ 21 h 49"/>
                <a:gd name="T26" fmla="*/ 38 w 41"/>
                <a:gd name="T27" fmla="*/ 19 h 49"/>
                <a:gd name="T28" fmla="*/ 37 w 41"/>
                <a:gd name="T29" fmla="*/ 19 h 49"/>
                <a:gd name="T30" fmla="*/ 37 w 41"/>
                <a:gd name="T31" fmla="*/ 18 h 49"/>
                <a:gd name="T32" fmla="*/ 35 w 41"/>
                <a:gd name="T33" fmla="*/ 15 h 49"/>
                <a:gd name="T34" fmla="*/ 32 w 41"/>
                <a:gd name="T35" fmla="*/ 18 h 49"/>
                <a:gd name="T36" fmla="*/ 32 w 41"/>
                <a:gd name="T37" fmla="*/ 19 h 49"/>
                <a:gd name="T38" fmla="*/ 23 w 41"/>
                <a:gd name="T39" fmla="*/ 19 h 49"/>
                <a:gd name="T40" fmla="*/ 23 w 41"/>
                <a:gd name="T41" fmla="*/ 9 h 49"/>
                <a:gd name="T42" fmla="*/ 24 w 41"/>
                <a:gd name="T43" fmla="*/ 9 h 49"/>
                <a:gd name="T44" fmla="*/ 27 w 41"/>
                <a:gd name="T45" fmla="*/ 6 h 49"/>
                <a:gd name="T46" fmla="*/ 24 w 41"/>
                <a:gd name="T47" fmla="*/ 3 h 49"/>
                <a:gd name="T48" fmla="*/ 23 w 41"/>
                <a:gd name="T49" fmla="*/ 3 h 49"/>
                <a:gd name="T50" fmla="*/ 23 w 41"/>
                <a:gd name="T51" fmla="*/ 3 h 49"/>
                <a:gd name="T52" fmla="*/ 21 w 41"/>
                <a:gd name="T53" fmla="*/ 0 h 49"/>
                <a:gd name="T54" fmla="*/ 18 w 41"/>
                <a:gd name="T55" fmla="*/ 3 h 49"/>
                <a:gd name="T56" fmla="*/ 18 w 41"/>
                <a:gd name="T57" fmla="*/ 3 h 49"/>
                <a:gd name="T58" fmla="*/ 17 w 41"/>
                <a:gd name="T59" fmla="*/ 3 h 49"/>
                <a:gd name="T60" fmla="*/ 14 w 41"/>
                <a:gd name="T61" fmla="*/ 6 h 49"/>
                <a:gd name="T62" fmla="*/ 17 w 41"/>
                <a:gd name="T63" fmla="*/ 9 h 49"/>
                <a:gd name="T64" fmla="*/ 18 w 41"/>
                <a:gd name="T65" fmla="*/ 9 h 49"/>
                <a:gd name="T66" fmla="*/ 18 w 41"/>
                <a:gd name="T67" fmla="*/ 19 h 49"/>
                <a:gd name="T68" fmla="*/ 18 w 41"/>
                <a:gd name="T69" fmla="*/ 19 h 49"/>
                <a:gd name="T70" fmla="*/ 10 w 41"/>
                <a:gd name="T71" fmla="*/ 19 h 49"/>
                <a:gd name="T72" fmla="*/ 10 w 41"/>
                <a:gd name="T73" fmla="*/ 18 h 49"/>
                <a:gd name="T74" fmla="*/ 7 w 41"/>
                <a:gd name="T75" fmla="*/ 15 h 49"/>
                <a:gd name="T76" fmla="*/ 4 w 41"/>
                <a:gd name="T77" fmla="*/ 18 h 49"/>
                <a:gd name="T78" fmla="*/ 4 w 41"/>
                <a:gd name="T79" fmla="*/ 19 h 49"/>
                <a:gd name="T80" fmla="*/ 4 w 41"/>
                <a:gd name="T81" fmla="*/ 19 h 49"/>
                <a:gd name="T82" fmla="*/ 0 w 41"/>
                <a:gd name="T83" fmla="*/ 21 h 49"/>
                <a:gd name="T84" fmla="*/ 4 w 41"/>
                <a:gd name="T85" fmla="*/ 24 h 49"/>
                <a:gd name="T86" fmla="*/ 4 w 41"/>
                <a:gd name="T87" fmla="*/ 24 h 49"/>
                <a:gd name="T88" fmla="*/ 4 w 41"/>
                <a:gd name="T89" fmla="*/ 25 h 49"/>
                <a:gd name="T90" fmla="*/ 7 w 41"/>
                <a:gd name="T91" fmla="*/ 28 h 49"/>
                <a:gd name="T92" fmla="*/ 10 w 41"/>
                <a:gd name="T93" fmla="*/ 25 h 49"/>
                <a:gd name="T94" fmla="*/ 10 w 41"/>
                <a:gd name="T95" fmla="*/ 24 h 49"/>
                <a:gd name="T96" fmla="*/ 18 w 41"/>
                <a:gd name="T97" fmla="*/ 24 h 49"/>
                <a:gd name="T98" fmla="*/ 18 w 41"/>
                <a:gd name="T99" fmla="*/ 26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41" h="49">
                  <a:moveTo>
                    <a:pt x="18" y="26"/>
                  </a:moveTo>
                  <a:cubicBezTo>
                    <a:pt x="18" y="36"/>
                    <a:pt x="20" y="48"/>
                    <a:pt x="21" y="49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48"/>
                    <a:pt x="23" y="36"/>
                    <a:pt x="23" y="26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32" y="24"/>
                    <a:pt x="32" y="24"/>
                    <a:pt x="32" y="24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2" y="26"/>
                    <a:pt x="33" y="28"/>
                    <a:pt x="35" y="28"/>
                  </a:cubicBezTo>
                  <a:cubicBezTo>
                    <a:pt x="36" y="28"/>
                    <a:pt x="37" y="26"/>
                    <a:pt x="37" y="25"/>
                  </a:cubicBezTo>
                  <a:cubicBezTo>
                    <a:pt x="37" y="24"/>
                    <a:pt x="37" y="24"/>
                    <a:pt x="37" y="24"/>
                  </a:cubicBezTo>
                  <a:cubicBezTo>
                    <a:pt x="38" y="24"/>
                    <a:pt x="38" y="24"/>
                    <a:pt x="38" y="24"/>
                  </a:cubicBezTo>
                  <a:cubicBezTo>
                    <a:pt x="39" y="24"/>
                    <a:pt x="41" y="23"/>
                    <a:pt x="41" y="21"/>
                  </a:cubicBezTo>
                  <a:cubicBezTo>
                    <a:pt x="41" y="20"/>
                    <a:pt x="39" y="19"/>
                    <a:pt x="38" y="19"/>
                  </a:cubicBezTo>
                  <a:cubicBezTo>
                    <a:pt x="37" y="19"/>
                    <a:pt x="37" y="19"/>
                    <a:pt x="37" y="19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7" y="17"/>
                    <a:pt x="36" y="15"/>
                    <a:pt x="35" y="15"/>
                  </a:cubicBezTo>
                  <a:cubicBezTo>
                    <a:pt x="33" y="15"/>
                    <a:pt x="32" y="17"/>
                    <a:pt x="32" y="18"/>
                  </a:cubicBezTo>
                  <a:cubicBezTo>
                    <a:pt x="32" y="19"/>
                    <a:pt x="32" y="19"/>
                    <a:pt x="32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25" y="9"/>
                    <a:pt x="27" y="8"/>
                    <a:pt x="27" y="6"/>
                  </a:cubicBezTo>
                  <a:cubicBezTo>
                    <a:pt x="27" y="5"/>
                    <a:pt x="25" y="3"/>
                    <a:pt x="24" y="3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3" y="1"/>
                    <a:pt x="22" y="0"/>
                    <a:pt x="21" y="0"/>
                  </a:cubicBezTo>
                  <a:cubicBezTo>
                    <a:pt x="19" y="0"/>
                    <a:pt x="18" y="1"/>
                    <a:pt x="18" y="3"/>
                  </a:cubicBezTo>
                  <a:cubicBezTo>
                    <a:pt x="18" y="3"/>
                    <a:pt x="18" y="3"/>
                    <a:pt x="18" y="3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6" y="3"/>
                    <a:pt x="14" y="5"/>
                    <a:pt x="14" y="6"/>
                  </a:cubicBezTo>
                  <a:cubicBezTo>
                    <a:pt x="14" y="8"/>
                    <a:pt x="16" y="9"/>
                    <a:pt x="17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17"/>
                    <a:pt x="8" y="15"/>
                    <a:pt x="7" y="15"/>
                  </a:cubicBezTo>
                  <a:cubicBezTo>
                    <a:pt x="5" y="15"/>
                    <a:pt x="4" y="17"/>
                    <a:pt x="4" y="18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2" y="19"/>
                    <a:pt x="0" y="20"/>
                    <a:pt x="0" y="21"/>
                  </a:cubicBezTo>
                  <a:cubicBezTo>
                    <a:pt x="0" y="23"/>
                    <a:pt x="2" y="24"/>
                    <a:pt x="4" y="24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4" y="26"/>
                    <a:pt x="5" y="28"/>
                    <a:pt x="7" y="28"/>
                  </a:cubicBezTo>
                  <a:cubicBezTo>
                    <a:pt x="8" y="28"/>
                    <a:pt x="10" y="26"/>
                    <a:pt x="10" y="25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8" y="24"/>
                    <a:pt x="18" y="24"/>
                    <a:pt x="18" y="24"/>
                  </a:cubicBezTo>
                  <a:cubicBezTo>
                    <a:pt x="18" y="26"/>
                    <a:pt x="18" y="26"/>
                    <a:pt x="18" y="26"/>
                  </a:cubicBezTo>
                  <a:close/>
                </a:path>
              </a:pathLst>
            </a:custGeom>
            <a:solidFill>
              <a:srgbClr val="E2231A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Freeform 12"/>
            <p:cNvSpPr>
              <a:spLocks noEditPoints="1"/>
            </p:cNvSpPr>
            <p:nvPr userDrawn="1"/>
          </p:nvSpPr>
          <p:spPr bwMode="auto">
            <a:xfrm>
              <a:off x="4659" y="503"/>
              <a:ext cx="34" cy="32"/>
            </a:xfrm>
            <a:custGeom>
              <a:avLst/>
              <a:gdLst>
                <a:gd name="T0" fmla="*/ 20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6 w 34"/>
                <a:gd name="T7" fmla="*/ 32 h 32"/>
                <a:gd name="T8" fmla="*/ 10 w 34"/>
                <a:gd name="T9" fmla="*/ 26 h 32"/>
                <a:gd name="T10" fmla="*/ 26 w 34"/>
                <a:gd name="T11" fmla="*/ 26 h 32"/>
                <a:gd name="T12" fmla="*/ 30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20 w 34"/>
                <a:gd name="T19" fmla="*/ 0 h 32"/>
                <a:gd name="T20" fmla="*/ 20 w 34"/>
                <a:gd name="T21" fmla="*/ 0 h 32"/>
                <a:gd name="T22" fmla="*/ 24 w 34"/>
                <a:gd name="T23" fmla="*/ 20 h 32"/>
                <a:gd name="T24" fmla="*/ 12 w 34"/>
                <a:gd name="T25" fmla="*/ 20 h 32"/>
                <a:gd name="T26" fmla="*/ 18 w 34"/>
                <a:gd name="T27" fmla="*/ 6 h 32"/>
                <a:gd name="T28" fmla="*/ 24 w 34"/>
                <a:gd name="T29" fmla="*/ 20 h 32"/>
                <a:gd name="T30" fmla="*/ 24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20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10" y="26"/>
                  </a:lnTo>
                  <a:lnTo>
                    <a:pt x="26" y="26"/>
                  </a:lnTo>
                  <a:lnTo>
                    <a:pt x="30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20" y="0"/>
                  </a:lnTo>
                  <a:close/>
                  <a:moveTo>
                    <a:pt x="24" y="20"/>
                  </a:moveTo>
                  <a:lnTo>
                    <a:pt x="12" y="20"/>
                  </a:lnTo>
                  <a:lnTo>
                    <a:pt x="18" y="6"/>
                  </a:lnTo>
                  <a:lnTo>
                    <a:pt x="24" y="20"/>
                  </a:lnTo>
                  <a:lnTo>
                    <a:pt x="24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Freeform 13"/>
            <p:cNvSpPr>
              <a:spLocks/>
            </p:cNvSpPr>
            <p:nvPr userDrawn="1"/>
          </p:nvSpPr>
          <p:spPr bwMode="auto">
            <a:xfrm>
              <a:off x="4695" y="503"/>
              <a:ext cx="28" cy="32"/>
            </a:xfrm>
            <a:custGeom>
              <a:avLst/>
              <a:gdLst>
                <a:gd name="T0" fmla="*/ 11 w 14"/>
                <a:gd name="T1" fmla="*/ 9 h 16"/>
                <a:gd name="T2" fmla="*/ 7 w 14"/>
                <a:gd name="T3" fmla="*/ 14 h 16"/>
                <a:gd name="T4" fmla="*/ 3 w 14"/>
                <a:gd name="T5" fmla="*/ 9 h 16"/>
                <a:gd name="T6" fmla="*/ 3 w 14"/>
                <a:gd name="T7" fmla="*/ 0 h 16"/>
                <a:gd name="T8" fmla="*/ 0 w 14"/>
                <a:gd name="T9" fmla="*/ 0 h 16"/>
                <a:gd name="T10" fmla="*/ 0 w 14"/>
                <a:gd name="T11" fmla="*/ 9 h 16"/>
                <a:gd name="T12" fmla="*/ 7 w 14"/>
                <a:gd name="T13" fmla="*/ 16 h 16"/>
                <a:gd name="T14" fmla="*/ 14 w 14"/>
                <a:gd name="T15" fmla="*/ 9 h 16"/>
                <a:gd name="T16" fmla="*/ 14 w 14"/>
                <a:gd name="T17" fmla="*/ 0 h 16"/>
                <a:gd name="T18" fmla="*/ 11 w 14"/>
                <a:gd name="T19" fmla="*/ 0 h 16"/>
                <a:gd name="T20" fmla="*/ 11 w 14"/>
                <a:gd name="T21" fmla="*/ 9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" h="16">
                  <a:moveTo>
                    <a:pt x="11" y="9"/>
                  </a:moveTo>
                  <a:cubicBezTo>
                    <a:pt x="11" y="12"/>
                    <a:pt x="9" y="14"/>
                    <a:pt x="7" y="14"/>
                  </a:cubicBezTo>
                  <a:cubicBezTo>
                    <a:pt x="5" y="14"/>
                    <a:pt x="3" y="12"/>
                    <a:pt x="3" y="9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4" y="16"/>
                    <a:pt x="7" y="16"/>
                  </a:cubicBezTo>
                  <a:cubicBezTo>
                    <a:pt x="10" y="16"/>
                    <a:pt x="14" y="14"/>
                    <a:pt x="14" y="9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9"/>
                    <a:pt x="11" y="9"/>
                    <a:pt x="11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Freeform 14"/>
            <p:cNvSpPr>
              <a:spLocks/>
            </p:cNvSpPr>
            <p:nvPr userDrawn="1"/>
          </p:nvSpPr>
          <p:spPr bwMode="auto">
            <a:xfrm>
              <a:off x="4729" y="501"/>
              <a:ext cx="26" cy="34"/>
            </a:xfrm>
            <a:custGeom>
              <a:avLst/>
              <a:gdLst>
                <a:gd name="T0" fmla="*/ 7 w 13"/>
                <a:gd name="T1" fmla="*/ 7 h 17"/>
                <a:gd name="T2" fmla="*/ 3 w 13"/>
                <a:gd name="T3" fmla="*/ 5 h 17"/>
                <a:gd name="T4" fmla="*/ 7 w 13"/>
                <a:gd name="T5" fmla="*/ 3 h 17"/>
                <a:gd name="T6" fmla="*/ 11 w 13"/>
                <a:gd name="T7" fmla="*/ 5 h 17"/>
                <a:gd name="T8" fmla="*/ 11 w 13"/>
                <a:gd name="T9" fmla="*/ 5 h 17"/>
                <a:gd name="T10" fmla="*/ 13 w 13"/>
                <a:gd name="T11" fmla="*/ 4 h 17"/>
                <a:gd name="T12" fmla="*/ 13 w 13"/>
                <a:gd name="T13" fmla="*/ 3 h 17"/>
                <a:gd name="T14" fmla="*/ 7 w 13"/>
                <a:gd name="T15" fmla="*/ 0 h 17"/>
                <a:gd name="T16" fmla="*/ 2 w 13"/>
                <a:gd name="T17" fmla="*/ 2 h 17"/>
                <a:gd name="T18" fmla="*/ 0 w 13"/>
                <a:gd name="T19" fmla="*/ 5 h 17"/>
                <a:gd name="T20" fmla="*/ 7 w 13"/>
                <a:gd name="T21" fmla="*/ 10 h 17"/>
                <a:gd name="T22" fmla="*/ 11 w 13"/>
                <a:gd name="T23" fmla="*/ 12 h 17"/>
                <a:gd name="T24" fmla="*/ 7 w 13"/>
                <a:gd name="T25" fmla="*/ 15 h 17"/>
                <a:gd name="T26" fmla="*/ 2 w 13"/>
                <a:gd name="T27" fmla="*/ 12 h 17"/>
                <a:gd name="T28" fmla="*/ 2 w 13"/>
                <a:gd name="T29" fmla="*/ 12 h 17"/>
                <a:gd name="T30" fmla="*/ 0 w 13"/>
                <a:gd name="T31" fmla="*/ 13 h 17"/>
                <a:gd name="T32" fmla="*/ 0 w 13"/>
                <a:gd name="T33" fmla="*/ 14 h 17"/>
                <a:gd name="T34" fmla="*/ 7 w 13"/>
                <a:gd name="T35" fmla="*/ 17 h 17"/>
                <a:gd name="T36" fmla="*/ 13 w 13"/>
                <a:gd name="T37" fmla="*/ 12 h 17"/>
                <a:gd name="T38" fmla="*/ 7 w 13"/>
                <a:gd name="T39" fmla="*/ 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3" h="17">
                  <a:moveTo>
                    <a:pt x="7" y="7"/>
                  </a:moveTo>
                  <a:cubicBezTo>
                    <a:pt x="5" y="7"/>
                    <a:pt x="3" y="6"/>
                    <a:pt x="3" y="5"/>
                  </a:cubicBezTo>
                  <a:cubicBezTo>
                    <a:pt x="3" y="4"/>
                    <a:pt x="5" y="3"/>
                    <a:pt x="7" y="3"/>
                  </a:cubicBezTo>
                  <a:cubicBezTo>
                    <a:pt x="9" y="3"/>
                    <a:pt x="10" y="3"/>
                    <a:pt x="11" y="5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2" y="1"/>
                    <a:pt x="10" y="0"/>
                    <a:pt x="7" y="0"/>
                  </a:cubicBezTo>
                  <a:cubicBezTo>
                    <a:pt x="5" y="0"/>
                    <a:pt x="3" y="1"/>
                    <a:pt x="2" y="2"/>
                  </a:cubicBezTo>
                  <a:cubicBezTo>
                    <a:pt x="1" y="3"/>
                    <a:pt x="0" y="4"/>
                    <a:pt x="0" y="5"/>
                  </a:cubicBezTo>
                  <a:cubicBezTo>
                    <a:pt x="0" y="9"/>
                    <a:pt x="4" y="9"/>
                    <a:pt x="7" y="10"/>
                  </a:cubicBezTo>
                  <a:cubicBezTo>
                    <a:pt x="9" y="10"/>
                    <a:pt x="11" y="11"/>
                    <a:pt x="11" y="12"/>
                  </a:cubicBezTo>
                  <a:cubicBezTo>
                    <a:pt x="11" y="15"/>
                    <a:pt x="8" y="15"/>
                    <a:pt x="7" y="15"/>
                  </a:cubicBezTo>
                  <a:cubicBezTo>
                    <a:pt x="5" y="15"/>
                    <a:pt x="3" y="14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" y="16"/>
                    <a:pt x="3" y="17"/>
                    <a:pt x="7" y="17"/>
                  </a:cubicBezTo>
                  <a:cubicBezTo>
                    <a:pt x="10" y="17"/>
                    <a:pt x="13" y="16"/>
                    <a:pt x="13" y="12"/>
                  </a:cubicBezTo>
                  <a:cubicBezTo>
                    <a:pt x="13" y="9"/>
                    <a:pt x="10" y="8"/>
                    <a:pt x="7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Freeform 15"/>
            <p:cNvSpPr>
              <a:spLocks/>
            </p:cNvSpPr>
            <p:nvPr userDrawn="1"/>
          </p:nvSpPr>
          <p:spPr bwMode="auto">
            <a:xfrm>
              <a:off x="4759" y="503"/>
              <a:ext cx="26" cy="32"/>
            </a:xfrm>
            <a:custGeom>
              <a:avLst/>
              <a:gdLst>
                <a:gd name="T0" fmla="*/ 0 w 26"/>
                <a:gd name="T1" fmla="*/ 4 h 32"/>
                <a:gd name="T2" fmla="*/ 10 w 26"/>
                <a:gd name="T3" fmla="*/ 4 h 32"/>
                <a:gd name="T4" fmla="*/ 10 w 26"/>
                <a:gd name="T5" fmla="*/ 32 h 32"/>
                <a:gd name="T6" fmla="*/ 16 w 26"/>
                <a:gd name="T7" fmla="*/ 32 h 32"/>
                <a:gd name="T8" fmla="*/ 16 w 26"/>
                <a:gd name="T9" fmla="*/ 4 h 32"/>
                <a:gd name="T10" fmla="*/ 26 w 26"/>
                <a:gd name="T11" fmla="*/ 4 h 32"/>
                <a:gd name="T12" fmla="*/ 26 w 26"/>
                <a:gd name="T13" fmla="*/ 0 h 32"/>
                <a:gd name="T14" fmla="*/ 0 w 26"/>
                <a:gd name="T15" fmla="*/ 0 h 32"/>
                <a:gd name="T16" fmla="*/ 0 w 26"/>
                <a:gd name="T17" fmla="*/ 4 h 32"/>
                <a:gd name="T18" fmla="*/ 0 w 26"/>
                <a:gd name="T19" fmla="*/ 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" h="32">
                  <a:moveTo>
                    <a:pt x="0" y="4"/>
                  </a:moveTo>
                  <a:lnTo>
                    <a:pt x="10" y="4"/>
                  </a:lnTo>
                  <a:lnTo>
                    <a:pt x="10" y="32"/>
                  </a:lnTo>
                  <a:lnTo>
                    <a:pt x="16" y="32"/>
                  </a:lnTo>
                  <a:lnTo>
                    <a:pt x="16" y="4"/>
                  </a:lnTo>
                  <a:lnTo>
                    <a:pt x="26" y="4"/>
                  </a:lnTo>
                  <a:lnTo>
                    <a:pt x="26" y="0"/>
                  </a:lnTo>
                  <a:lnTo>
                    <a:pt x="0" y="0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Freeform 16"/>
            <p:cNvSpPr>
              <a:spLocks noEditPoints="1"/>
            </p:cNvSpPr>
            <p:nvPr userDrawn="1"/>
          </p:nvSpPr>
          <p:spPr bwMode="auto">
            <a:xfrm>
              <a:off x="4791" y="503"/>
              <a:ext cx="28" cy="32"/>
            </a:xfrm>
            <a:custGeom>
              <a:avLst/>
              <a:gdLst>
                <a:gd name="T0" fmla="*/ 13 w 14"/>
                <a:gd name="T1" fmla="*/ 5 h 16"/>
                <a:gd name="T2" fmla="*/ 7 w 14"/>
                <a:gd name="T3" fmla="*/ 0 h 16"/>
                <a:gd name="T4" fmla="*/ 0 w 14"/>
                <a:gd name="T5" fmla="*/ 0 h 16"/>
                <a:gd name="T6" fmla="*/ 0 w 14"/>
                <a:gd name="T7" fmla="*/ 16 h 16"/>
                <a:gd name="T8" fmla="*/ 2 w 14"/>
                <a:gd name="T9" fmla="*/ 16 h 16"/>
                <a:gd name="T10" fmla="*/ 2 w 14"/>
                <a:gd name="T11" fmla="*/ 10 h 16"/>
                <a:gd name="T12" fmla="*/ 6 w 14"/>
                <a:gd name="T13" fmla="*/ 10 h 16"/>
                <a:gd name="T14" fmla="*/ 10 w 14"/>
                <a:gd name="T15" fmla="*/ 16 h 16"/>
                <a:gd name="T16" fmla="*/ 14 w 14"/>
                <a:gd name="T17" fmla="*/ 16 h 16"/>
                <a:gd name="T18" fmla="*/ 8 w 14"/>
                <a:gd name="T19" fmla="*/ 10 h 16"/>
                <a:gd name="T20" fmla="*/ 13 w 14"/>
                <a:gd name="T21" fmla="*/ 5 h 16"/>
                <a:gd name="T22" fmla="*/ 2 w 14"/>
                <a:gd name="T23" fmla="*/ 2 h 16"/>
                <a:gd name="T24" fmla="*/ 7 w 14"/>
                <a:gd name="T25" fmla="*/ 2 h 16"/>
                <a:gd name="T26" fmla="*/ 10 w 14"/>
                <a:gd name="T27" fmla="*/ 5 h 16"/>
                <a:gd name="T28" fmla="*/ 7 w 14"/>
                <a:gd name="T29" fmla="*/ 8 h 16"/>
                <a:gd name="T30" fmla="*/ 2 w 14"/>
                <a:gd name="T31" fmla="*/ 8 h 16"/>
                <a:gd name="T32" fmla="*/ 2 w 14"/>
                <a:gd name="T33" fmla="*/ 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4" h="16">
                  <a:moveTo>
                    <a:pt x="13" y="5"/>
                  </a:moveTo>
                  <a:cubicBezTo>
                    <a:pt x="13" y="2"/>
                    <a:pt x="11" y="0"/>
                    <a:pt x="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8" y="10"/>
                    <a:pt x="8" y="10"/>
                    <a:pt x="8" y="10"/>
                  </a:cubicBezTo>
                  <a:cubicBezTo>
                    <a:pt x="11" y="10"/>
                    <a:pt x="13" y="8"/>
                    <a:pt x="13" y="5"/>
                  </a:cubicBezTo>
                  <a:close/>
                  <a:moveTo>
                    <a:pt x="2" y="2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9" y="2"/>
                    <a:pt x="10" y="4"/>
                    <a:pt x="10" y="5"/>
                  </a:cubicBezTo>
                  <a:cubicBezTo>
                    <a:pt x="10" y="6"/>
                    <a:pt x="9" y="8"/>
                    <a:pt x="7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2"/>
                    <a:pt x="2" y="2"/>
                    <a:pt x="2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Freeform 17"/>
            <p:cNvSpPr>
              <a:spLocks noEditPoints="1"/>
            </p:cNvSpPr>
            <p:nvPr userDrawn="1"/>
          </p:nvSpPr>
          <p:spPr bwMode="auto">
            <a:xfrm>
              <a:off x="4821" y="503"/>
              <a:ext cx="34" cy="32"/>
            </a:xfrm>
            <a:custGeom>
              <a:avLst/>
              <a:gdLst>
                <a:gd name="T0" fmla="*/ 18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4 w 34"/>
                <a:gd name="T7" fmla="*/ 32 h 32"/>
                <a:gd name="T8" fmla="*/ 8 w 34"/>
                <a:gd name="T9" fmla="*/ 26 h 32"/>
                <a:gd name="T10" fmla="*/ 24 w 34"/>
                <a:gd name="T11" fmla="*/ 26 h 32"/>
                <a:gd name="T12" fmla="*/ 28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18 w 34"/>
                <a:gd name="T19" fmla="*/ 0 h 32"/>
                <a:gd name="T20" fmla="*/ 18 w 34"/>
                <a:gd name="T21" fmla="*/ 0 h 32"/>
                <a:gd name="T22" fmla="*/ 22 w 34"/>
                <a:gd name="T23" fmla="*/ 20 h 32"/>
                <a:gd name="T24" fmla="*/ 10 w 34"/>
                <a:gd name="T25" fmla="*/ 20 h 32"/>
                <a:gd name="T26" fmla="*/ 16 w 34"/>
                <a:gd name="T27" fmla="*/ 6 h 32"/>
                <a:gd name="T28" fmla="*/ 22 w 34"/>
                <a:gd name="T29" fmla="*/ 20 h 32"/>
                <a:gd name="T30" fmla="*/ 22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18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8" y="26"/>
                  </a:lnTo>
                  <a:lnTo>
                    <a:pt x="24" y="26"/>
                  </a:lnTo>
                  <a:lnTo>
                    <a:pt x="28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18" y="0"/>
                  </a:lnTo>
                  <a:lnTo>
                    <a:pt x="18" y="0"/>
                  </a:lnTo>
                  <a:close/>
                  <a:moveTo>
                    <a:pt x="22" y="20"/>
                  </a:moveTo>
                  <a:lnTo>
                    <a:pt x="10" y="20"/>
                  </a:lnTo>
                  <a:lnTo>
                    <a:pt x="16" y="6"/>
                  </a:lnTo>
                  <a:lnTo>
                    <a:pt x="22" y="20"/>
                  </a:lnTo>
                  <a:lnTo>
                    <a:pt x="22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Freeform 18"/>
            <p:cNvSpPr>
              <a:spLocks/>
            </p:cNvSpPr>
            <p:nvPr userDrawn="1"/>
          </p:nvSpPr>
          <p:spPr bwMode="auto">
            <a:xfrm>
              <a:off x="4859" y="503"/>
              <a:ext cx="22" cy="32"/>
            </a:xfrm>
            <a:custGeom>
              <a:avLst/>
              <a:gdLst>
                <a:gd name="T0" fmla="*/ 6 w 22"/>
                <a:gd name="T1" fmla="*/ 0 h 32"/>
                <a:gd name="T2" fmla="*/ 0 w 22"/>
                <a:gd name="T3" fmla="*/ 0 h 32"/>
                <a:gd name="T4" fmla="*/ 0 w 22"/>
                <a:gd name="T5" fmla="*/ 32 h 32"/>
                <a:gd name="T6" fmla="*/ 22 w 22"/>
                <a:gd name="T7" fmla="*/ 32 h 32"/>
                <a:gd name="T8" fmla="*/ 22 w 22"/>
                <a:gd name="T9" fmla="*/ 28 h 32"/>
                <a:gd name="T10" fmla="*/ 6 w 22"/>
                <a:gd name="T11" fmla="*/ 28 h 32"/>
                <a:gd name="T12" fmla="*/ 6 w 22"/>
                <a:gd name="T13" fmla="*/ 0 h 32"/>
                <a:gd name="T14" fmla="*/ 6 w 22"/>
                <a:gd name="T1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" h="32">
                  <a:moveTo>
                    <a:pt x="6" y="0"/>
                  </a:moveTo>
                  <a:lnTo>
                    <a:pt x="0" y="0"/>
                  </a:lnTo>
                  <a:lnTo>
                    <a:pt x="0" y="32"/>
                  </a:lnTo>
                  <a:lnTo>
                    <a:pt x="22" y="32"/>
                  </a:lnTo>
                  <a:lnTo>
                    <a:pt x="22" y="28"/>
                  </a:lnTo>
                  <a:lnTo>
                    <a:pt x="6" y="28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Freeform 19"/>
            <p:cNvSpPr>
              <a:spLocks/>
            </p:cNvSpPr>
            <p:nvPr userDrawn="1"/>
          </p:nvSpPr>
          <p:spPr bwMode="auto">
            <a:xfrm>
              <a:off x="4887" y="503"/>
              <a:ext cx="4" cy="32"/>
            </a:xfrm>
            <a:custGeom>
              <a:avLst/>
              <a:gdLst>
                <a:gd name="T0" fmla="*/ 0 w 4"/>
                <a:gd name="T1" fmla="*/ 32 h 32"/>
                <a:gd name="T2" fmla="*/ 4 w 4"/>
                <a:gd name="T3" fmla="*/ 32 h 32"/>
                <a:gd name="T4" fmla="*/ 4 w 4"/>
                <a:gd name="T5" fmla="*/ 0 h 32"/>
                <a:gd name="T6" fmla="*/ 0 w 4"/>
                <a:gd name="T7" fmla="*/ 0 h 32"/>
                <a:gd name="T8" fmla="*/ 0 w 4"/>
                <a:gd name="T9" fmla="*/ 32 h 32"/>
                <a:gd name="T10" fmla="*/ 0 w 4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32">
                  <a:moveTo>
                    <a:pt x="0" y="32"/>
                  </a:moveTo>
                  <a:lnTo>
                    <a:pt x="4" y="32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Freeform 20"/>
            <p:cNvSpPr>
              <a:spLocks noEditPoints="1"/>
            </p:cNvSpPr>
            <p:nvPr userDrawn="1"/>
          </p:nvSpPr>
          <p:spPr bwMode="auto">
            <a:xfrm>
              <a:off x="4897" y="503"/>
              <a:ext cx="33" cy="32"/>
            </a:xfrm>
            <a:custGeom>
              <a:avLst/>
              <a:gdLst>
                <a:gd name="T0" fmla="*/ 19 w 33"/>
                <a:gd name="T1" fmla="*/ 0 h 32"/>
                <a:gd name="T2" fmla="*/ 13 w 33"/>
                <a:gd name="T3" fmla="*/ 0 h 32"/>
                <a:gd name="T4" fmla="*/ 0 w 33"/>
                <a:gd name="T5" fmla="*/ 32 h 32"/>
                <a:gd name="T6" fmla="*/ 6 w 33"/>
                <a:gd name="T7" fmla="*/ 32 h 32"/>
                <a:gd name="T8" fmla="*/ 7 w 33"/>
                <a:gd name="T9" fmla="*/ 26 h 32"/>
                <a:gd name="T10" fmla="*/ 25 w 33"/>
                <a:gd name="T11" fmla="*/ 26 h 32"/>
                <a:gd name="T12" fmla="*/ 27 w 33"/>
                <a:gd name="T13" fmla="*/ 32 h 32"/>
                <a:gd name="T14" fmla="*/ 33 w 33"/>
                <a:gd name="T15" fmla="*/ 32 h 32"/>
                <a:gd name="T16" fmla="*/ 19 w 33"/>
                <a:gd name="T17" fmla="*/ 0 h 32"/>
                <a:gd name="T18" fmla="*/ 19 w 33"/>
                <a:gd name="T19" fmla="*/ 0 h 32"/>
                <a:gd name="T20" fmla="*/ 19 w 33"/>
                <a:gd name="T21" fmla="*/ 0 h 32"/>
                <a:gd name="T22" fmla="*/ 23 w 33"/>
                <a:gd name="T23" fmla="*/ 20 h 32"/>
                <a:gd name="T24" fmla="*/ 9 w 33"/>
                <a:gd name="T25" fmla="*/ 20 h 32"/>
                <a:gd name="T26" fmla="*/ 17 w 33"/>
                <a:gd name="T27" fmla="*/ 6 h 32"/>
                <a:gd name="T28" fmla="*/ 23 w 33"/>
                <a:gd name="T29" fmla="*/ 20 h 32"/>
                <a:gd name="T30" fmla="*/ 23 w 33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3" h="32">
                  <a:moveTo>
                    <a:pt x="19" y="0"/>
                  </a:moveTo>
                  <a:lnTo>
                    <a:pt x="13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7" y="26"/>
                  </a:lnTo>
                  <a:lnTo>
                    <a:pt x="25" y="26"/>
                  </a:lnTo>
                  <a:lnTo>
                    <a:pt x="27" y="32"/>
                  </a:lnTo>
                  <a:lnTo>
                    <a:pt x="33" y="32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19" y="0"/>
                  </a:lnTo>
                  <a:close/>
                  <a:moveTo>
                    <a:pt x="23" y="20"/>
                  </a:moveTo>
                  <a:lnTo>
                    <a:pt x="9" y="20"/>
                  </a:lnTo>
                  <a:lnTo>
                    <a:pt x="17" y="6"/>
                  </a:lnTo>
                  <a:lnTo>
                    <a:pt x="23" y="20"/>
                  </a:lnTo>
                  <a:lnTo>
                    <a:pt x="23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Freeform 21"/>
            <p:cNvSpPr>
              <a:spLocks/>
            </p:cNvSpPr>
            <p:nvPr userDrawn="1"/>
          </p:nvSpPr>
          <p:spPr bwMode="auto">
            <a:xfrm>
              <a:off x="4936" y="503"/>
              <a:ext cx="26" cy="32"/>
            </a:xfrm>
            <a:custGeom>
              <a:avLst/>
              <a:gdLst>
                <a:gd name="T0" fmla="*/ 22 w 26"/>
                <a:gd name="T1" fmla="*/ 22 h 32"/>
                <a:gd name="T2" fmla="*/ 2 w 26"/>
                <a:gd name="T3" fmla="*/ 0 h 32"/>
                <a:gd name="T4" fmla="*/ 0 w 26"/>
                <a:gd name="T5" fmla="*/ 0 h 32"/>
                <a:gd name="T6" fmla="*/ 0 w 26"/>
                <a:gd name="T7" fmla="*/ 32 h 32"/>
                <a:gd name="T8" fmla="*/ 4 w 26"/>
                <a:gd name="T9" fmla="*/ 32 h 32"/>
                <a:gd name="T10" fmla="*/ 4 w 26"/>
                <a:gd name="T11" fmla="*/ 10 h 32"/>
                <a:gd name="T12" fmla="*/ 22 w 26"/>
                <a:gd name="T13" fmla="*/ 32 h 32"/>
                <a:gd name="T14" fmla="*/ 26 w 26"/>
                <a:gd name="T15" fmla="*/ 32 h 32"/>
                <a:gd name="T16" fmla="*/ 26 w 26"/>
                <a:gd name="T17" fmla="*/ 0 h 32"/>
                <a:gd name="T18" fmla="*/ 22 w 26"/>
                <a:gd name="T19" fmla="*/ 0 h 32"/>
                <a:gd name="T20" fmla="*/ 22 w 26"/>
                <a:gd name="T21" fmla="*/ 22 h 32"/>
                <a:gd name="T22" fmla="*/ 22 w 26"/>
                <a:gd name="T23" fmla="*/ 2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6" h="32">
                  <a:moveTo>
                    <a:pt x="22" y="22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4" y="10"/>
                  </a:lnTo>
                  <a:lnTo>
                    <a:pt x="22" y="32"/>
                  </a:lnTo>
                  <a:lnTo>
                    <a:pt x="26" y="32"/>
                  </a:lnTo>
                  <a:lnTo>
                    <a:pt x="26" y="0"/>
                  </a:lnTo>
                  <a:lnTo>
                    <a:pt x="22" y="0"/>
                  </a:lnTo>
                  <a:lnTo>
                    <a:pt x="22" y="22"/>
                  </a:lnTo>
                  <a:lnTo>
                    <a:pt x="22" y="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Freeform 22"/>
            <p:cNvSpPr>
              <a:spLocks/>
            </p:cNvSpPr>
            <p:nvPr userDrawn="1"/>
          </p:nvSpPr>
          <p:spPr bwMode="auto">
            <a:xfrm>
              <a:off x="4986" y="501"/>
              <a:ext cx="30" cy="34"/>
            </a:xfrm>
            <a:custGeom>
              <a:avLst/>
              <a:gdLst>
                <a:gd name="T0" fmla="*/ 13 w 15"/>
                <a:gd name="T1" fmla="*/ 13 h 17"/>
                <a:gd name="T2" fmla="*/ 9 w 15"/>
                <a:gd name="T3" fmla="*/ 15 h 17"/>
                <a:gd name="T4" fmla="*/ 3 w 15"/>
                <a:gd name="T5" fmla="*/ 9 h 17"/>
                <a:gd name="T6" fmla="*/ 9 w 15"/>
                <a:gd name="T7" fmla="*/ 3 h 17"/>
                <a:gd name="T8" fmla="*/ 13 w 15"/>
                <a:gd name="T9" fmla="*/ 5 h 17"/>
                <a:gd name="T10" fmla="*/ 13 w 15"/>
                <a:gd name="T11" fmla="*/ 5 h 17"/>
                <a:gd name="T12" fmla="*/ 15 w 15"/>
                <a:gd name="T13" fmla="*/ 3 h 17"/>
                <a:gd name="T14" fmla="*/ 15 w 15"/>
                <a:gd name="T15" fmla="*/ 3 h 17"/>
                <a:gd name="T16" fmla="*/ 9 w 15"/>
                <a:gd name="T17" fmla="*/ 0 h 17"/>
                <a:gd name="T18" fmla="*/ 2 w 15"/>
                <a:gd name="T19" fmla="*/ 3 h 17"/>
                <a:gd name="T20" fmla="*/ 0 w 15"/>
                <a:gd name="T21" fmla="*/ 9 h 17"/>
                <a:gd name="T22" fmla="*/ 9 w 15"/>
                <a:gd name="T23" fmla="*/ 17 h 17"/>
                <a:gd name="T24" fmla="*/ 15 w 15"/>
                <a:gd name="T25" fmla="*/ 15 h 17"/>
                <a:gd name="T26" fmla="*/ 15 w 15"/>
                <a:gd name="T27" fmla="*/ 15 h 17"/>
                <a:gd name="T28" fmla="*/ 13 w 15"/>
                <a:gd name="T29" fmla="*/ 13 h 17"/>
                <a:gd name="T30" fmla="*/ 13 w 15"/>
                <a:gd name="T31" fmla="*/ 13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" h="17">
                  <a:moveTo>
                    <a:pt x="13" y="13"/>
                  </a:moveTo>
                  <a:cubicBezTo>
                    <a:pt x="12" y="14"/>
                    <a:pt x="10" y="15"/>
                    <a:pt x="9" y="15"/>
                  </a:cubicBezTo>
                  <a:cubicBezTo>
                    <a:pt x="4" y="15"/>
                    <a:pt x="3" y="12"/>
                    <a:pt x="3" y="9"/>
                  </a:cubicBezTo>
                  <a:cubicBezTo>
                    <a:pt x="3" y="6"/>
                    <a:pt x="4" y="3"/>
                    <a:pt x="9" y="3"/>
                  </a:cubicBezTo>
                  <a:cubicBezTo>
                    <a:pt x="10" y="3"/>
                    <a:pt x="12" y="3"/>
                    <a:pt x="13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3" y="1"/>
                    <a:pt x="11" y="0"/>
                    <a:pt x="9" y="0"/>
                  </a:cubicBezTo>
                  <a:cubicBezTo>
                    <a:pt x="6" y="0"/>
                    <a:pt x="4" y="1"/>
                    <a:pt x="2" y="3"/>
                  </a:cubicBezTo>
                  <a:cubicBezTo>
                    <a:pt x="1" y="4"/>
                    <a:pt x="0" y="7"/>
                    <a:pt x="0" y="9"/>
                  </a:cubicBezTo>
                  <a:cubicBezTo>
                    <a:pt x="0" y="13"/>
                    <a:pt x="3" y="17"/>
                    <a:pt x="9" y="17"/>
                  </a:cubicBezTo>
                  <a:cubicBezTo>
                    <a:pt x="11" y="17"/>
                    <a:pt x="13" y="16"/>
                    <a:pt x="15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Freeform 23"/>
            <p:cNvSpPr>
              <a:spLocks noEditPoints="1"/>
            </p:cNvSpPr>
            <p:nvPr userDrawn="1"/>
          </p:nvSpPr>
          <p:spPr bwMode="auto">
            <a:xfrm>
              <a:off x="5018" y="503"/>
              <a:ext cx="34" cy="32"/>
            </a:xfrm>
            <a:custGeom>
              <a:avLst/>
              <a:gdLst>
                <a:gd name="T0" fmla="*/ 20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6 w 34"/>
                <a:gd name="T7" fmla="*/ 32 h 32"/>
                <a:gd name="T8" fmla="*/ 8 w 34"/>
                <a:gd name="T9" fmla="*/ 26 h 32"/>
                <a:gd name="T10" fmla="*/ 26 w 34"/>
                <a:gd name="T11" fmla="*/ 26 h 32"/>
                <a:gd name="T12" fmla="*/ 28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20 w 34"/>
                <a:gd name="T19" fmla="*/ 0 h 32"/>
                <a:gd name="T20" fmla="*/ 20 w 34"/>
                <a:gd name="T21" fmla="*/ 0 h 32"/>
                <a:gd name="T22" fmla="*/ 24 w 34"/>
                <a:gd name="T23" fmla="*/ 20 h 32"/>
                <a:gd name="T24" fmla="*/ 10 w 34"/>
                <a:gd name="T25" fmla="*/ 20 h 32"/>
                <a:gd name="T26" fmla="*/ 16 w 34"/>
                <a:gd name="T27" fmla="*/ 6 h 32"/>
                <a:gd name="T28" fmla="*/ 24 w 34"/>
                <a:gd name="T29" fmla="*/ 20 h 32"/>
                <a:gd name="T30" fmla="*/ 24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20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8" y="26"/>
                  </a:lnTo>
                  <a:lnTo>
                    <a:pt x="26" y="26"/>
                  </a:lnTo>
                  <a:lnTo>
                    <a:pt x="28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20" y="0"/>
                  </a:lnTo>
                  <a:close/>
                  <a:moveTo>
                    <a:pt x="24" y="20"/>
                  </a:moveTo>
                  <a:lnTo>
                    <a:pt x="10" y="20"/>
                  </a:lnTo>
                  <a:lnTo>
                    <a:pt x="16" y="6"/>
                  </a:lnTo>
                  <a:lnTo>
                    <a:pt x="24" y="20"/>
                  </a:lnTo>
                  <a:lnTo>
                    <a:pt x="24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Freeform 24"/>
            <p:cNvSpPr>
              <a:spLocks/>
            </p:cNvSpPr>
            <p:nvPr userDrawn="1"/>
          </p:nvSpPr>
          <p:spPr bwMode="auto">
            <a:xfrm>
              <a:off x="5050" y="503"/>
              <a:ext cx="28" cy="32"/>
            </a:xfrm>
            <a:custGeom>
              <a:avLst/>
              <a:gdLst>
                <a:gd name="T0" fmla="*/ 0 w 28"/>
                <a:gd name="T1" fmla="*/ 4 h 32"/>
                <a:gd name="T2" fmla="*/ 12 w 28"/>
                <a:gd name="T3" fmla="*/ 4 h 32"/>
                <a:gd name="T4" fmla="*/ 12 w 28"/>
                <a:gd name="T5" fmla="*/ 32 h 32"/>
                <a:gd name="T6" fmla="*/ 16 w 28"/>
                <a:gd name="T7" fmla="*/ 32 h 32"/>
                <a:gd name="T8" fmla="*/ 16 w 28"/>
                <a:gd name="T9" fmla="*/ 4 h 32"/>
                <a:gd name="T10" fmla="*/ 28 w 28"/>
                <a:gd name="T11" fmla="*/ 4 h 32"/>
                <a:gd name="T12" fmla="*/ 28 w 28"/>
                <a:gd name="T13" fmla="*/ 0 h 32"/>
                <a:gd name="T14" fmla="*/ 0 w 28"/>
                <a:gd name="T15" fmla="*/ 0 h 32"/>
                <a:gd name="T16" fmla="*/ 0 w 28"/>
                <a:gd name="T17" fmla="*/ 4 h 32"/>
                <a:gd name="T18" fmla="*/ 0 w 28"/>
                <a:gd name="T19" fmla="*/ 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" h="32">
                  <a:moveTo>
                    <a:pt x="0" y="4"/>
                  </a:moveTo>
                  <a:lnTo>
                    <a:pt x="12" y="4"/>
                  </a:lnTo>
                  <a:lnTo>
                    <a:pt x="12" y="32"/>
                  </a:lnTo>
                  <a:lnTo>
                    <a:pt x="16" y="32"/>
                  </a:lnTo>
                  <a:lnTo>
                    <a:pt x="16" y="4"/>
                  </a:lnTo>
                  <a:lnTo>
                    <a:pt x="28" y="4"/>
                  </a:lnTo>
                  <a:lnTo>
                    <a:pt x="28" y="0"/>
                  </a:lnTo>
                  <a:lnTo>
                    <a:pt x="0" y="0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Freeform 25"/>
            <p:cNvSpPr>
              <a:spLocks/>
            </p:cNvSpPr>
            <p:nvPr userDrawn="1"/>
          </p:nvSpPr>
          <p:spPr bwMode="auto">
            <a:xfrm>
              <a:off x="5082" y="503"/>
              <a:ext cx="28" cy="32"/>
            </a:xfrm>
            <a:custGeom>
              <a:avLst/>
              <a:gdLst>
                <a:gd name="T0" fmla="*/ 22 w 28"/>
                <a:gd name="T1" fmla="*/ 12 h 32"/>
                <a:gd name="T2" fmla="*/ 6 w 28"/>
                <a:gd name="T3" fmla="*/ 12 h 32"/>
                <a:gd name="T4" fmla="*/ 6 w 28"/>
                <a:gd name="T5" fmla="*/ 0 h 32"/>
                <a:gd name="T6" fmla="*/ 0 w 28"/>
                <a:gd name="T7" fmla="*/ 0 h 32"/>
                <a:gd name="T8" fmla="*/ 0 w 28"/>
                <a:gd name="T9" fmla="*/ 32 h 32"/>
                <a:gd name="T10" fmla="*/ 6 w 28"/>
                <a:gd name="T11" fmla="*/ 32 h 32"/>
                <a:gd name="T12" fmla="*/ 6 w 28"/>
                <a:gd name="T13" fmla="*/ 18 h 32"/>
                <a:gd name="T14" fmla="*/ 22 w 28"/>
                <a:gd name="T15" fmla="*/ 18 h 32"/>
                <a:gd name="T16" fmla="*/ 22 w 28"/>
                <a:gd name="T17" fmla="*/ 32 h 32"/>
                <a:gd name="T18" fmla="*/ 28 w 28"/>
                <a:gd name="T19" fmla="*/ 32 h 32"/>
                <a:gd name="T20" fmla="*/ 28 w 28"/>
                <a:gd name="T21" fmla="*/ 0 h 32"/>
                <a:gd name="T22" fmla="*/ 22 w 28"/>
                <a:gd name="T23" fmla="*/ 0 h 32"/>
                <a:gd name="T24" fmla="*/ 22 w 28"/>
                <a:gd name="T25" fmla="*/ 12 h 32"/>
                <a:gd name="T26" fmla="*/ 22 w 28"/>
                <a:gd name="T27" fmla="*/ 1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" h="32">
                  <a:moveTo>
                    <a:pt x="22" y="12"/>
                  </a:moveTo>
                  <a:lnTo>
                    <a:pt x="6" y="1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6" y="18"/>
                  </a:lnTo>
                  <a:lnTo>
                    <a:pt x="22" y="18"/>
                  </a:lnTo>
                  <a:lnTo>
                    <a:pt x="22" y="32"/>
                  </a:lnTo>
                  <a:lnTo>
                    <a:pt x="28" y="32"/>
                  </a:lnTo>
                  <a:lnTo>
                    <a:pt x="28" y="0"/>
                  </a:lnTo>
                  <a:lnTo>
                    <a:pt x="22" y="0"/>
                  </a:lnTo>
                  <a:lnTo>
                    <a:pt x="22" y="12"/>
                  </a:lnTo>
                  <a:lnTo>
                    <a:pt x="22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Freeform 26"/>
            <p:cNvSpPr>
              <a:spLocks noEditPoints="1"/>
            </p:cNvSpPr>
            <p:nvPr userDrawn="1"/>
          </p:nvSpPr>
          <p:spPr bwMode="auto">
            <a:xfrm>
              <a:off x="5116" y="501"/>
              <a:ext cx="32" cy="34"/>
            </a:xfrm>
            <a:custGeom>
              <a:avLst/>
              <a:gdLst>
                <a:gd name="T0" fmla="*/ 8 w 16"/>
                <a:gd name="T1" fmla="*/ 0 h 17"/>
                <a:gd name="T2" fmla="*/ 0 w 16"/>
                <a:gd name="T3" fmla="*/ 9 h 17"/>
                <a:gd name="T4" fmla="*/ 8 w 16"/>
                <a:gd name="T5" fmla="*/ 17 h 17"/>
                <a:gd name="T6" fmla="*/ 16 w 16"/>
                <a:gd name="T7" fmla="*/ 9 h 17"/>
                <a:gd name="T8" fmla="*/ 8 w 16"/>
                <a:gd name="T9" fmla="*/ 0 h 17"/>
                <a:gd name="T10" fmla="*/ 8 w 16"/>
                <a:gd name="T11" fmla="*/ 15 h 17"/>
                <a:gd name="T12" fmla="*/ 2 w 16"/>
                <a:gd name="T13" fmla="*/ 9 h 17"/>
                <a:gd name="T14" fmla="*/ 8 w 16"/>
                <a:gd name="T15" fmla="*/ 3 h 17"/>
                <a:gd name="T16" fmla="*/ 14 w 16"/>
                <a:gd name="T17" fmla="*/ 9 h 17"/>
                <a:gd name="T18" fmla="*/ 8 w 16"/>
                <a:gd name="T19" fmla="*/ 15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" h="17">
                  <a:moveTo>
                    <a:pt x="8" y="0"/>
                  </a:moveTo>
                  <a:cubicBezTo>
                    <a:pt x="3" y="0"/>
                    <a:pt x="0" y="4"/>
                    <a:pt x="0" y="9"/>
                  </a:cubicBezTo>
                  <a:cubicBezTo>
                    <a:pt x="0" y="13"/>
                    <a:pt x="2" y="17"/>
                    <a:pt x="8" y="17"/>
                  </a:cubicBezTo>
                  <a:cubicBezTo>
                    <a:pt x="14" y="17"/>
                    <a:pt x="16" y="13"/>
                    <a:pt x="16" y="9"/>
                  </a:cubicBezTo>
                  <a:cubicBezTo>
                    <a:pt x="16" y="5"/>
                    <a:pt x="14" y="0"/>
                    <a:pt x="8" y="0"/>
                  </a:cubicBezTo>
                  <a:close/>
                  <a:moveTo>
                    <a:pt x="8" y="15"/>
                  </a:moveTo>
                  <a:cubicBezTo>
                    <a:pt x="4" y="15"/>
                    <a:pt x="2" y="12"/>
                    <a:pt x="2" y="9"/>
                  </a:cubicBezTo>
                  <a:cubicBezTo>
                    <a:pt x="2" y="6"/>
                    <a:pt x="4" y="3"/>
                    <a:pt x="8" y="3"/>
                  </a:cubicBezTo>
                  <a:cubicBezTo>
                    <a:pt x="12" y="3"/>
                    <a:pt x="14" y="6"/>
                    <a:pt x="14" y="9"/>
                  </a:cubicBezTo>
                  <a:cubicBezTo>
                    <a:pt x="14" y="12"/>
                    <a:pt x="12" y="15"/>
                    <a:pt x="8" y="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Freeform 27"/>
            <p:cNvSpPr>
              <a:spLocks/>
            </p:cNvSpPr>
            <p:nvPr userDrawn="1"/>
          </p:nvSpPr>
          <p:spPr bwMode="auto">
            <a:xfrm>
              <a:off x="5154" y="503"/>
              <a:ext cx="22" cy="32"/>
            </a:xfrm>
            <a:custGeom>
              <a:avLst/>
              <a:gdLst>
                <a:gd name="T0" fmla="*/ 6 w 22"/>
                <a:gd name="T1" fmla="*/ 0 h 32"/>
                <a:gd name="T2" fmla="*/ 0 w 22"/>
                <a:gd name="T3" fmla="*/ 0 h 32"/>
                <a:gd name="T4" fmla="*/ 0 w 22"/>
                <a:gd name="T5" fmla="*/ 32 h 32"/>
                <a:gd name="T6" fmla="*/ 22 w 22"/>
                <a:gd name="T7" fmla="*/ 32 h 32"/>
                <a:gd name="T8" fmla="*/ 22 w 22"/>
                <a:gd name="T9" fmla="*/ 28 h 32"/>
                <a:gd name="T10" fmla="*/ 6 w 22"/>
                <a:gd name="T11" fmla="*/ 28 h 32"/>
                <a:gd name="T12" fmla="*/ 6 w 22"/>
                <a:gd name="T13" fmla="*/ 0 h 32"/>
                <a:gd name="T14" fmla="*/ 6 w 22"/>
                <a:gd name="T1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" h="32">
                  <a:moveTo>
                    <a:pt x="6" y="0"/>
                  </a:moveTo>
                  <a:lnTo>
                    <a:pt x="0" y="0"/>
                  </a:lnTo>
                  <a:lnTo>
                    <a:pt x="0" y="32"/>
                  </a:lnTo>
                  <a:lnTo>
                    <a:pt x="22" y="32"/>
                  </a:lnTo>
                  <a:lnTo>
                    <a:pt x="22" y="28"/>
                  </a:lnTo>
                  <a:lnTo>
                    <a:pt x="6" y="28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Freeform 28"/>
            <p:cNvSpPr>
              <a:spLocks/>
            </p:cNvSpPr>
            <p:nvPr userDrawn="1"/>
          </p:nvSpPr>
          <p:spPr bwMode="auto">
            <a:xfrm>
              <a:off x="5182" y="503"/>
              <a:ext cx="4" cy="32"/>
            </a:xfrm>
            <a:custGeom>
              <a:avLst/>
              <a:gdLst>
                <a:gd name="T0" fmla="*/ 0 w 4"/>
                <a:gd name="T1" fmla="*/ 32 h 32"/>
                <a:gd name="T2" fmla="*/ 4 w 4"/>
                <a:gd name="T3" fmla="*/ 32 h 32"/>
                <a:gd name="T4" fmla="*/ 4 w 4"/>
                <a:gd name="T5" fmla="*/ 0 h 32"/>
                <a:gd name="T6" fmla="*/ 0 w 4"/>
                <a:gd name="T7" fmla="*/ 0 h 32"/>
                <a:gd name="T8" fmla="*/ 0 w 4"/>
                <a:gd name="T9" fmla="*/ 32 h 32"/>
                <a:gd name="T10" fmla="*/ 0 w 4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32">
                  <a:moveTo>
                    <a:pt x="0" y="32"/>
                  </a:moveTo>
                  <a:lnTo>
                    <a:pt x="4" y="32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" name="Freeform 29"/>
            <p:cNvSpPr>
              <a:spLocks/>
            </p:cNvSpPr>
            <p:nvPr userDrawn="1"/>
          </p:nvSpPr>
          <p:spPr bwMode="auto">
            <a:xfrm>
              <a:off x="5192" y="501"/>
              <a:ext cx="30" cy="34"/>
            </a:xfrm>
            <a:custGeom>
              <a:avLst/>
              <a:gdLst>
                <a:gd name="T0" fmla="*/ 13 w 15"/>
                <a:gd name="T1" fmla="*/ 13 h 17"/>
                <a:gd name="T2" fmla="*/ 9 w 15"/>
                <a:gd name="T3" fmla="*/ 15 h 17"/>
                <a:gd name="T4" fmla="*/ 3 w 15"/>
                <a:gd name="T5" fmla="*/ 9 h 17"/>
                <a:gd name="T6" fmla="*/ 9 w 15"/>
                <a:gd name="T7" fmla="*/ 3 h 17"/>
                <a:gd name="T8" fmla="*/ 13 w 15"/>
                <a:gd name="T9" fmla="*/ 5 h 17"/>
                <a:gd name="T10" fmla="*/ 13 w 15"/>
                <a:gd name="T11" fmla="*/ 5 h 17"/>
                <a:gd name="T12" fmla="*/ 15 w 15"/>
                <a:gd name="T13" fmla="*/ 3 h 17"/>
                <a:gd name="T14" fmla="*/ 15 w 15"/>
                <a:gd name="T15" fmla="*/ 3 h 17"/>
                <a:gd name="T16" fmla="*/ 9 w 15"/>
                <a:gd name="T17" fmla="*/ 0 h 17"/>
                <a:gd name="T18" fmla="*/ 3 w 15"/>
                <a:gd name="T19" fmla="*/ 3 h 17"/>
                <a:gd name="T20" fmla="*/ 0 w 15"/>
                <a:gd name="T21" fmla="*/ 9 h 17"/>
                <a:gd name="T22" fmla="*/ 9 w 15"/>
                <a:gd name="T23" fmla="*/ 17 h 17"/>
                <a:gd name="T24" fmla="*/ 15 w 15"/>
                <a:gd name="T25" fmla="*/ 15 h 17"/>
                <a:gd name="T26" fmla="*/ 15 w 15"/>
                <a:gd name="T27" fmla="*/ 15 h 17"/>
                <a:gd name="T28" fmla="*/ 13 w 15"/>
                <a:gd name="T29" fmla="*/ 13 h 17"/>
                <a:gd name="T30" fmla="*/ 13 w 15"/>
                <a:gd name="T31" fmla="*/ 13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" h="17">
                  <a:moveTo>
                    <a:pt x="13" y="13"/>
                  </a:moveTo>
                  <a:cubicBezTo>
                    <a:pt x="12" y="14"/>
                    <a:pt x="10" y="15"/>
                    <a:pt x="9" y="15"/>
                  </a:cubicBezTo>
                  <a:cubicBezTo>
                    <a:pt x="5" y="15"/>
                    <a:pt x="3" y="12"/>
                    <a:pt x="3" y="9"/>
                  </a:cubicBezTo>
                  <a:cubicBezTo>
                    <a:pt x="3" y="6"/>
                    <a:pt x="5" y="3"/>
                    <a:pt x="9" y="3"/>
                  </a:cubicBezTo>
                  <a:cubicBezTo>
                    <a:pt x="10" y="3"/>
                    <a:pt x="12" y="3"/>
                    <a:pt x="13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3" y="1"/>
                    <a:pt x="11" y="0"/>
                    <a:pt x="9" y="0"/>
                  </a:cubicBezTo>
                  <a:cubicBezTo>
                    <a:pt x="6" y="0"/>
                    <a:pt x="4" y="1"/>
                    <a:pt x="3" y="3"/>
                  </a:cubicBezTo>
                  <a:cubicBezTo>
                    <a:pt x="1" y="4"/>
                    <a:pt x="0" y="7"/>
                    <a:pt x="0" y="9"/>
                  </a:cubicBezTo>
                  <a:cubicBezTo>
                    <a:pt x="0" y="13"/>
                    <a:pt x="3" y="17"/>
                    <a:pt x="9" y="17"/>
                  </a:cubicBezTo>
                  <a:cubicBezTo>
                    <a:pt x="11" y="17"/>
                    <a:pt x="13" y="16"/>
                    <a:pt x="15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" name="Freeform 30"/>
            <p:cNvSpPr>
              <a:spLocks/>
            </p:cNvSpPr>
            <p:nvPr userDrawn="1"/>
          </p:nvSpPr>
          <p:spPr bwMode="auto">
            <a:xfrm>
              <a:off x="5244" y="503"/>
              <a:ext cx="26" cy="32"/>
            </a:xfrm>
            <a:custGeom>
              <a:avLst/>
              <a:gdLst>
                <a:gd name="T0" fmla="*/ 11 w 13"/>
                <a:gd name="T1" fmla="*/ 9 h 16"/>
                <a:gd name="T2" fmla="*/ 7 w 13"/>
                <a:gd name="T3" fmla="*/ 14 h 16"/>
                <a:gd name="T4" fmla="*/ 2 w 13"/>
                <a:gd name="T5" fmla="*/ 9 h 16"/>
                <a:gd name="T6" fmla="*/ 2 w 13"/>
                <a:gd name="T7" fmla="*/ 0 h 16"/>
                <a:gd name="T8" fmla="*/ 0 w 13"/>
                <a:gd name="T9" fmla="*/ 0 h 16"/>
                <a:gd name="T10" fmla="*/ 0 w 13"/>
                <a:gd name="T11" fmla="*/ 9 h 16"/>
                <a:gd name="T12" fmla="*/ 7 w 13"/>
                <a:gd name="T13" fmla="*/ 16 h 16"/>
                <a:gd name="T14" fmla="*/ 13 w 13"/>
                <a:gd name="T15" fmla="*/ 9 h 16"/>
                <a:gd name="T16" fmla="*/ 13 w 13"/>
                <a:gd name="T17" fmla="*/ 0 h 16"/>
                <a:gd name="T18" fmla="*/ 11 w 13"/>
                <a:gd name="T19" fmla="*/ 0 h 16"/>
                <a:gd name="T20" fmla="*/ 11 w 13"/>
                <a:gd name="T21" fmla="*/ 9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3" h="16">
                  <a:moveTo>
                    <a:pt x="11" y="9"/>
                  </a:moveTo>
                  <a:cubicBezTo>
                    <a:pt x="11" y="12"/>
                    <a:pt x="9" y="14"/>
                    <a:pt x="7" y="14"/>
                  </a:cubicBezTo>
                  <a:cubicBezTo>
                    <a:pt x="5" y="14"/>
                    <a:pt x="2" y="12"/>
                    <a:pt x="2" y="9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3" y="16"/>
                    <a:pt x="7" y="16"/>
                  </a:cubicBezTo>
                  <a:cubicBezTo>
                    <a:pt x="10" y="16"/>
                    <a:pt x="13" y="14"/>
                    <a:pt x="13" y="9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9"/>
                    <a:pt x="11" y="9"/>
                    <a:pt x="11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" name="Freeform 31"/>
            <p:cNvSpPr>
              <a:spLocks/>
            </p:cNvSpPr>
            <p:nvPr userDrawn="1"/>
          </p:nvSpPr>
          <p:spPr bwMode="auto">
            <a:xfrm>
              <a:off x="5280" y="503"/>
              <a:ext cx="26" cy="32"/>
            </a:xfrm>
            <a:custGeom>
              <a:avLst/>
              <a:gdLst>
                <a:gd name="T0" fmla="*/ 20 w 26"/>
                <a:gd name="T1" fmla="*/ 22 h 32"/>
                <a:gd name="T2" fmla="*/ 2 w 26"/>
                <a:gd name="T3" fmla="*/ 0 h 32"/>
                <a:gd name="T4" fmla="*/ 0 w 26"/>
                <a:gd name="T5" fmla="*/ 0 h 32"/>
                <a:gd name="T6" fmla="*/ 0 w 26"/>
                <a:gd name="T7" fmla="*/ 32 h 32"/>
                <a:gd name="T8" fmla="*/ 4 w 26"/>
                <a:gd name="T9" fmla="*/ 32 h 32"/>
                <a:gd name="T10" fmla="*/ 4 w 26"/>
                <a:gd name="T11" fmla="*/ 10 h 32"/>
                <a:gd name="T12" fmla="*/ 22 w 26"/>
                <a:gd name="T13" fmla="*/ 32 h 32"/>
                <a:gd name="T14" fmla="*/ 26 w 26"/>
                <a:gd name="T15" fmla="*/ 32 h 32"/>
                <a:gd name="T16" fmla="*/ 26 w 26"/>
                <a:gd name="T17" fmla="*/ 0 h 32"/>
                <a:gd name="T18" fmla="*/ 20 w 26"/>
                <a:gd name="T19" fmla="*/ 0 h 32"/>
                <a:gd name="T20" fmla="*/ 20 w 26"/>
                <a:gd name="T21" fmla="*/ 22 h 32"/>
                <a:gd name="T22" fmla="*/ 20 w 26"/>
                <a:gd name="T23" fmla="*/ 2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6" h="32">
                  <a:moveTo>
                    <a:pt x="20" y="22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4" y="10"/>
                  </a:lnTo>
                  <a:lnTo>
                    <a:pt x="22" y="32"/>
                  </a:lnTo>
                  <a:lnTo>
                    <a:pt x="26" y="32"/>
                  </a:lnTo>
                  <a:lnTo>
                    <a:pt x="26" y="0"/>
                  </a:lnTo>
                  <a:lnTo>
                    <a:pt x="20" y="0"/>
                  </a:lnTo>
                  <a:lnTo>
                    <a:pt x="20" y="22"/>
                  </a:lnTo>
                  <a:lnTo>
                    <a:pt x="20" y="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" name="Freeform 32"/>
            <p:cNvSpPr>
              <a:spLocks/>
            </p:cNvSpPr>
            <p:nvPr userDrawn="1"/>
          </p:nvSpPr>
          <p:spPr bwMode="auto">
            <a:xfrm>
              <a:off x="5314" y="503"/>
              <a:ext cx="6" cy="32"/>
            </a:xfrm>
            <a:custGeom>
              <a:avLst/>
              <a:gdLst>
                <a:gd name="T0" fmla="*/ 0 w 6"/>
                <a:gd name="T1" fmla="*/ 32 h 32"/>
                <a:gd name="T2" fmla="*/ 6 w 6"/>
                <a:gd name="T3" fmla="*/ 32 h 32"/>
                <a:gd name="T4" fmla="*/ 6 w 6"/>
                <a:gd name="T5" fmla="*/ 0 h 32"/>
                <a:gd name="T6" fmla="*/ 0 w 6"/>
                <a:gd name="T7" fmla="*/ 0 h 32"/>
                <a:gd name="T8" fmla="*/ 0 w 6"/>
                <a:gd name="T9" fmla="*/ 32 h 32"/>
                <a:gd name="T10" fmla="*/ 0 w 6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32">
                  <a:moveTo>
                    <a:pt x="0" y="32"/>
                  </a:moveTo>
                  <a:lnTo>
                    <a:pt x="6" y="3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" name="Freeform 33"/>
            <p:cNvSpPr>
              <a:spLocks/>
            </p:cNvSpPr>
            <p:nvPr userDrawn="1"/>
          </p:nvSpPr>
          <p:spPr bwMode="auto">
            <a:xfrm>
              <a:off x="5326" y="503"/>
              <a:ext cx="32" cy="32"/>
            </a:xfrm>
            <a:custGeom>
              <a:avLst/>
              <a:gdLst>
                <a:gd name="T0" fmla="*/ 6 w 32"/>
                <a:gd name="T1" fmla="*/ 0 h 32"/>
                <a:gd name="T2" fmla="*/ 0 w 32"/>
                <a:gd name="T3" fmla="*/ 0 h 32"/>
                <a:gd name="T4" fmla="*/ 12 w 32"/>
                <a:gd name="T5" fmla="*/ 32 h 32"/>
                <a:gd name="T6" fmla="*/ 18 w 32"/>
                <a:gd name="T7" fmla="*/ 32 h 32"/>
                <a:gd name="T8" fmla="*/ 32 w 32"/>
                <a:gd name="T9" fmla="*/ 0 h 32"/>
                <a:gd name="T10" fmla="*/ 26 w 32"/>
                <a:gd name="T11" fmla="*/ 0 h 32"/>
                <a:gd name="T12" fmla="*/ 16 w 32"/>
                <a:gd name="T13" fmla="*/ 26 h 32"/>
                <a:gd name="T14" fmla="*/ 6 w 32"/>
                <a:gd name="T15" fmla="*/ 0 h 32"/>
                <a:gd name="T16" fmla="*/ 6 w 32"/>
                <a:gd name="T17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" h="32">
                  <a:moveTo>
                    <a:pt x="6" y="0"/>
                  </a:moveTo>
                  <a:lnTo>
                    <a:pt x="0" y="0"/>
                  </a:lnTo>
                  <a:lnTo>
                    <a:pt x="12" y="32"/>
                  </a:lnTo>
                  <a:lnTo>
                    <a:pt x="18" y="32"/>
                  </a:lnTo>
                  <a:lnTo>
                    <a:pt x="32" y="0"/>
                  </a:lnTo>
                  <a:lnTo>
                    <a:pt x="26" y="0"/>
                  </a:lnTo>
                  <a:lnTo>
                    <a:pt x="16" y="26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Freeform 34"/>
            <p:cNvSpPr>
              <a:spLocks/>
            </p:cNvSpPr>
            <p:nvPr userDrawn="1"/>
          </p:nvSpPr>
          <p:spPr bwMode="auto">
            <a:xfrm>
              <a:off x="5362" y="503"/>
              <a:ext cx="24" cy="32"/>
            </a:xfrm>
            <a:custGeom>
              <a:avLst/>
              <a:gdLst>
                <a:gd name="T0" fmla="*/ 6 w 24"/>
                <a:gd name="T1" fmla="*/ 18 h 32"/>
                <a:gd name="T2" fmla="*/ 24 w 24"/>
                <a:gd name="T3" fmla="*/ 18 h 32"/>
                <a:gd name="T4" fmla="*/ 24 w 24"/>
                <a:gd name="T5" fmla="*/ 12 h 32"/>
                <a:gd name="T6" fmla="*/ 6 w 24"/>
                <a:gd name="T7" fmla="*/ 12 h 32"/>
                <a:gd name="T8" fmla="*/ 6 w 24"/>
                <a:gd name="T9" fmla="*/ 4 h 32"/>
                <a:gd name="T10" fmla="*/ 24 w 24"/>
                <a:gd name="T11" fmla="*/ 4 h 32"/>
                <a:gd name="T12" fmla="*/ 24 w 24"/>
                <a:gd name="T13" fmla="*/ 0 h 32"/>
                <a:gd name="T14" fmla="*/ 0 w 24"/>
                <a:gd name="T15" fmla="*/ 0 h 32"/>
                <a:gd name="T16" fmla="*/ 0 w 24"/>
                <a:gd name="T17" fmla="*/ 32 h 32"/>
                <a:gd name="T18" fmla="*/ 24 w 24"/>
                <a:gd name="T19" fmla="*/ 32 h 32"/>
                <a:gd name="T20" fmla="*/ 24 w 24"/>
                <a:gd name="T21" fmla="*/ 26 h 32"/>
                <a:gd name="T22" fmla="*/ 6 w 24"/>
                <a:gd name="T23" fmla="*/ 26 h 32"/>
                <a:gd name="T24" fmla="*/ 6 w 24"/>
                <a:gd name="T25" fmla="*/ 18 h 32"/>
                <a:gd name="T26" fmla="*/ 6 w 24"/>
                <a:gd name="T27" fmla="*/ 18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" h="32">
                  <a:moveTo>
                    <a:pt x="6" y="18"/>
                  </a:moveTo>
                  <a:lnTo>
                    <a:pt x="24" y="18"/>
                  </a:lnTo>
                  <a:lnTo>
                    <a:pt x="24" y="12"/>
                  </a:lnTo>
                  <a:lnTo>
                    <a:pt x="6" y="12"/>
                  </a:lnTo>
                  <a:lnTo>
                    <a:pt x="6" y="4"/>
                  </a:lnTo>
                  <a:lnTo>
                    <a:pt x="24" y="4"/>
                  </a:lnTo>
                  <a:lnTo>
                    <a:pt x="2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24" y="32"/>
                  </a:lnTo>
                  <a:lnTo>
                    <a:pt x="24" y="26"/>
                  </a:lnTo>
                  <a:lnTo>
                    <a:pt x="6" y="26"/>
                  </a:lnTo>
                  <a:lnTo>
                    <a:pt x="6" y="18"/>
                  </a:lnTo>
                  <a:lnTo>
                    <a:pt x="6" y="1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" name="Freeform 35"/>
            <p:cNvSpPr>
              <a:spLocks noEditPoints="1"/>
            </p:cNvSpPr>
            <p:nvPr userDrawn="1"/>
          </p:nvSpPr>
          <p:spPr bwMode="auto">
            <a:xfrm>
              <a:off x="5394" y="503"/>
              <a:ext cx="28" cy="32"/>
            </a:xfrm>
            <a:custGeom>
              <a:avLst/>
              <a:gdLst>
                <a:gd name="T0" fmla="*/ 13 w 14"/>
                <a:gd name="T1" fmla="*/ 5 h 16"/>
                <a:gd name="T2" fmla="*/ 7 w 14"/>
                <a:gd name="T3" fmla="*/ 0 h 16"/>
                <a:gd name="T4" fmla="*/ 0 w 14"/>
                <a:gd name="T5" fmla="*/ 0 h 16"/>
                <a:gd name="T6" fmla="*/ 0 w 14"/>
                <a:gd name="T7" fmla="*/ 16 h 16"/>
                <a:gd name="T8" fmla="*/ 2 w 14"/>
                <a:gd name="T9" fmla="*/ 16 h 16"/>
                <a:gd name="T10" fmla="*/ 2 w 14"/>
                <a:gd name="T11" fmla="*/ 10 h 16"/>
                <a:gd name="T12" fmla="*/ 6 w 14"/>
                <a:gd name="T13" fmla="*/ 10 h 16"/>
                <a:gd name="T14" fmla="*/ 11 w 14"/>
                <a:gd name="T15" fmla="*/ 16 h 16"/>
                <a:gd name="T16" fmla="*/ 14 w 14"/>
                <a:gd name="T17" fmla="*/ 16 h 16"/>
                <a:gd name="T18" fmla="*/ 9 w 14"/>
                <a:gd name="T19" fmla="*/ 10 h 16"/>
                <a:gd name="T20" fmla="*/ 13 w 14"/>
                <a:gd name="T21" fmla="*/ 5 h 16"/>
                <a:gd name="T22" fmla="*/ 2 w 14"/>
                <a:gd name="T23" fmla="*/ 2 h 16"/>
                <a:gd name="T24" fmla="*/ 7 w 14"/>
                <a:gd name="T25" fmla="*/ 2 h 16"/>
                <a:gd name="T26" fmla="*/ 10 w 14"/>
                <a:gd name="T27" fmla="*/ 5 h 16"/>
                <a:gd name="T28" fmla="*/ 7 w 14"/>
                <a:gd name="T29" fmla="*/ 8 h 16"/>
                <a:gd name="T30" fmla="*/ 2 w 14"/>
                <a:gd name="T31" fmla="*/ 8 h 16"/>
                <a:gd name="T32" fmla="*/ 2 w 14"/>
                <a:gd name="T33" fmla="*/ 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4" h="16">
                  <a:moveTo>
                    <a:pt x="13" y="5"/>
                  </a:moveTo>
                  <a:cubicBezTo>
                    <a:pt x="13" y="2"/>
                    <a:pt x="11" y="0"/>
                    <a:pt x="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11" y="10"/>
                    <a:pt x="13" y="8"/>
                    <a:pt x="13" y="5"/>
                  </a:cubicBezTo>
                  <a:close/>
                  <a:moveTo>
                    <a:pt x="2" y="2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9" y="2"/>
                    <a:pt x="10" y="4"/>
                    <a:pt x="10" y="5"/>
                  </a:cubicBezTo>
                  <a:cubicBezTo>
                    <a:pt x="10" y="6"/>
                    <a:pt x="9" y="8"/>
                    <a:pt x="7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2"/>
                    <a:pt x="2" y="2"/>
                    <a:pt x="2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Freeform 36"/>
            <p:cNvSpPr>
              <a:spLocks/>
            </p:cNvSpPr>
            <p:nvPr userDrawn="1"/>
          </p:nvSpPr>
          <p:spPr bwMode="auto">
            <a:xfrm>
              <a:off x="5424" y="501"/>
              <a:ext cx="28" cy="34"/>
            </a:xfrm>
            <a:custGeom>
              <a:avLst/>
              <a:gdLst>
                <a:gd name="T0" fmla="*/ 8 w 14"/>
                <a:gd name="T1" fmla="*/ 7 h 17"/>
                <a:gd name="T2" fmla="*/ 4 w 14"/>
                <a:gd name="T3" fmla="*/ 5 h 17"/>
                <a:gd name="T4" fmla="*/ 7 w 14"/>
                <a:gd name="T5" fmla="*/ 3 h 17"/>
                <a:gd name="T6" fmla="*/ 12 w 14"/>
                <a:gd name="T7" fmla="*/ 5 h 17"/>
                <a:gd name="T8" fmla="*/ 12 w 14"/>
                <a:gd name="T9" fmla="*/ 5 h 17"/>
                <a:gd name="T10" fmla="*/ 14 w 14"/>
                <a:gd name="T11" fmla="*/ 4 h 17"/>
                <a:gd name="T12" fmla="*/ 14 w 14"/>
                <a:gd name="T13" fmla="*/ 3 h 17"/>
                <a:gd name="T14" fmla="*/ 7 w 14"/>
                <a:gd name="T15" fmla="*/ 0 h 17"/>
                <a:gd name="T16" fmla="*/ 2 w 14"/>
                <a:gd name="T17" fmla="*/ 2 h 17"/>
                <a:gd name="T18" fmla="*/ 1 w 14"/>
                <a:gd name="T19" fmla="*/ 5 h 17"/>
                <a:gd name="T20" fmla="*/ 7 w 14"/>
                <a:gd name="T21" fmla="*/ 10 h 17"/>
                <a:gd name="T22" fmla="*/ 12 w 14"/>
                <a:gd name="T23" fmla="*/ 12 h 17"/>
                <a:gd name="T24" fmla="*/ 7 w 14"/>
                <a:gd name="T25" fmla="*/ 15 h 17"/>
                <a:gd name="T26" fmla="*/ 3 w 14"/>
                <a:gd name="T27" fmla="*/ 12 h 17"/>
                <a:gd name="T28" fmla="*/ 2 w 14"/>
                <a:gd name="T29" fmla="*/ 12 h 17"/>
                <a:gd name="T30" fmla="*/ 0 w 14"/>
                <a:gd name="T31" fmla="*/ 13 h 17"/>
                <a:gd name="T32" fmla="*/ 0 w 14"/>
                <a:gd name="T33" fmla="*/ 14 h 17"/>
                <a:gd name="T34" fmla="*/ 7 w 14"/>
                <a:gd name="T35" fmla="*/ 17 h 17"/>
                <a:gd name="T36" fmla="*/ 14 w 14"/>
                <a:gd name="T37" fmla="*/ 12 h 17"/>
                <a:gd name="T38" fmla="*/ 8 w 14"/>
                <a:gd name="T39" fmla="*/ 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" h="17">
                  <a:moveTo>
                    <a:pt x="8" y="7"/>
                  </a:moveTo>
                  <a:cubicBezTo>
                    <a:pt x="5" y="7"/>
                    <a:pt x="4" y="6"/>
                    <a:pt x="4" y="5"/>
                  </a:cubicBezTo>
                  <a:cubicBezTo>
                    <a:pt x="4" y="4"/>
                    <a:pt x="5" y="3"/>
                    <a:pt x="7" y="3"/>
                  </a:cubicBezTo>
                  <a:cubicBezTo>
                    <a:pt x="9" y="3"/>
                    <a:pt x="11" y="3"/>
                    <a:pt x="12" y="5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2" y="1"/>
                    <a:pt x="10" y="0"/>
                    <a:pt x="7" y="0"/>
                  </a:cubicBezTo>
                  <a:cubicBezTo>
                    <a:pt x="6" y="0"/>
                    <a:pt x="3" y="1"/>
                    <a:pt x="2" y="2"/>
                  </a:cubicBezTo>
                  <a:cubicBezTo>
                    <a:pt x="1" y="3"/>
                    <a:pt x="1" y="4"/>
                    <a:pt x="1" y="5"/>
                  </a:cubicBezTo>
                  <a:cubicBezTo>
                    <a:pt x="1" y="9"/>
                    <a:pt x="5" y="9"/>
                    <a:pt x="7" y="10"/>
                  </a:cubicBezTo>
                  <a:cubicBezTo>
                    <a:pt x="10" y="10"/>
                    <a:pt x="12" y="11"/>
                    <a:pt x="12" y="12"/>
                  </a:cubicBezTo>
                  <a:cubicBezTo>
                    <a:pt x="12" y="15"/>
                    <a:pt x="8" y="15"/>
                    <a:pt x="7" y="15"/>
                  </a:cubicBezTo>
                  <a:cubicBezTo>
                    <a:pt x="6" y="15"/>
                    <a:pt x="4" y="14"/>
                    <a:pt x="3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2" y="16"/>
                    <a:pt x="4" y="17"/>
                    <a:pt x="7" y="17"/>
                  </a:cubicBezTo>
                  <a:cubicBezTo>
                    <a:pt x="11" y="17"/>
                    <a:pt x="14" y="16"/>
                    <a:pt x="14" y="12"/>
                  </a:cubicBezTo>
                  <a:cubicBezTo>
                    <a:pt x="14" y="9"/>
                    <a:pt x="11" y="8"/>
                    <a:pt x="8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" name="Freeform 37"/>
            <p:cNvSpPr>
              <a:spLocks/>
            </p:cNvSpPr>
            <p:nvPr userDrawn="1"/>
          </p:nvSpPr>
          <p:spPr bwMode="auto">
            <a:xfrm>
              <a:off x="5458" y="503"/>
              <a:ext cx="6" cy="32"/>
            </a:xfrm>
            <a:custGeom>
              <a:avLst/>
              <a:gdLst>
                <a:gd name="T0" fmla="*/ 0 w 6"/>
                <a:gd name="T1" fmla="*/ 32 h 32"/>
                <a:gd name="T2" fmla="*/ 6 w 6"/>
                <a:gd name="T3" fmla="*/ 32 h 32"/>
                <a:gd name="T4" fmla="*/ 6 w 6"/>
                <a:gd name="T5" fmla="*/ 0 h 32"/>
                <a:gd name="T6" fmla="*/ 0 w 6"/>
                <a:gd name="T7" fmla="*/ 0 h 32"/>
                <a:gd name="T8" fmla="*/ 0 w 6"/>
                <a:gd name="T9" fmla="*/ 32 h 32"/>
                <a:gd name="T10" fmla="*/ 0 w 6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32">
                  <a:moveTo>
                    <a:pt x="0" y="32"/>
                  </a:moveTo>
                  <a:lnTo>
                    <a:pt x="6" y="3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" name="Freeform 38"/>
            <p:cNvSpPr>
              <a:spLocks/>
            </p:cNvSpPr>
            <p:nvPr userDrawn="1"/>
          </p:nvSpPr>
          <p:spPr bwMode="auto">
            <a:xfrm>
              <a:off x="5470" y="503"/>
              <a:ext cx="53" cy="32"/>
            </a:xfrm>
            <a:custGeom>
              <a:avLst/>
              <a:gdLst>
                <a:gd name="T0" fmla="*/ 29 w 53"/>
                <a:gd name="T1" fmla="*/ 0 h 32"/>
                <a:gd name="T2" fmla="*/ 0 w 53"/>
                <a:gd name="T3" fmla="*/ 0 h 32"/>
                <a:gd name="T4" fmla="*/ 0 w 53"/>
                <a:gd name="T5" fmla="*/ 4 h 32"/>
                <a:gd name="T6" fmla="*/ 9 w 53"/>
                <a:gd name="T7" fmla="*/ 4 h 32"/>
                <a:gd name="T8" fmla="*/ 9 w 53"/>
                <a:gd name="T9" fmla="*/ 32 h 32"/>
                <a:gd name="T10" fmla="*/ 15 w 53"/>
                <a:gd name="T11" fmla="*/ 32 h 32"/>
                <a:gd name="T12" fmla="*/ 15 w 53"/>
                <a:gd name="T13" fmla="*/ 4 h 32"/>
                <a:gd name="T14" fmla="*/ 25 w 53"/>
                <a:gd name="T15" fmla="*/ 4 h 32"/>
                <a:gd name="T16" fmla="*/ 35 w 53"/>
                <a:gd name="T17" fmla="*/ 18 h 32"/>
                <a:gd name="T18" fmla="*/ 35 w 53"/>
                <a:gd name="T19" fmla="*/ 32 h 32"/>
                <a:gd name="T20" fmla="*/ 41 w 53"/>
                <a:gd name="T21" fmla="*/ 32 h 32"/>
                <a:gd name="T22" fmla="*/ 41 w 53"/>
                <a:gd name="T23" fmla="*/ 18 h 32"/>
                <a:gd name="T24" fmla="*/ 53 w 53"/>
                <a:gd name="T25" fmla="*/ 0 h 32"/>
                <a:gd name="T26" fmla="*/ 53 w 53"/>
                <a:gd name="T27" fmla="*/ 0 h 32"/>
                <a:gd name="T28" fmla="*/ 53 w 53"/>
                <a:gd name="T29" fmla="*/ 0 h 32"/>
                <a:gd name="T30" fmla="*/ 47 w 53"/>
                <a:gd name="T31" fmla="*/ 0 h 32"/>
                <a:gd name="T32" fmla="*/ 37 w 53"/>
                <a:gd name="T33" fmla="*/ 14 h 32"/>
                <a:gd name="T34" fmla="*/ 29 w 53"/>
                <a:gd name="T35" fmla="*/ 0 h 32"/>
                <a:gd name="T36" fmla="*/ 29 w 53"/>
                <a:gd name="T37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3" h="32">
                  <a:moveTo>
                    <a:pt x="29" y="0"/>
                  </a:moveTo>
                  <a:lnTo>
                    <a:pt x="0" y="0"/>
                  </a:lnTo>
                  <a:lnTo>
                    <a:pt x="0" y="4"/>
                  </a:lnTo>
                  <a:lnTo>
                    <a:pt x="9" y="4"/>
                  </a:lnTo>
                  <a:lnTo>
                    <a:pt x="9" y="32"/>
                  </a:lnTo>
                  <a:lnTo>
                    <a:pt x="15" y="32"/>
                  </a:lnTo>
                  <a:lnTo>
                    <a:pt x="15" y="4"/>
                  </a:lnTo>
                  <a:lnTo>
                    <a:pt x="25" y="4"/>
                  </a:lnTo>
                  <a:lnTo>
                    <a:pt x="35" y="18"/>
                  </a:lnTo>
                  <a:lnTo>
                    <a:pt x="35" y="32"/>
                  </a:lnTo>
                  <a:lnTo>
                    <a:pt x="41" y="32"/>
                  </a:lnTo>
                  <a:lnTo>
                    <a:pt x="41" y="18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47" y="0"/>
                  </a:lnTo>
                  <a:lnTo>
                    <a:pt x="37" y="14"/>
                  </a:lnTo>
                  <a:lnTo>
                    <a:pt x="29" y="0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" name="Freeform 39"/>
            <p:cNvSpPr>
              <a:spLocks/>
            </p:cNvSpPr>
            <p:nvPr userDrawn="1"/>
          </p:nvSpPr>
          <p:spPr bwMode="auto">
            <a:xfrm>
              <a:off x="5340" y="234"/>
              <a:ext cx="183" cy="229"/>
            </a:xfrm>
            <a:custGeom>
              <a:avLst/>
              <a:gdLst>
                <a:gd name="T0" fmla="*/ 92 w 92"/>
                <a:gd name="T1" fmla="*/ 0 h 115"/>
                <a:gd name="T2" fmla="*/ 92 w 92"/>
                <a:gd name="T3" fmla="*/ 71 h 115"/>
                <a:gd name="T4" fmla="*/ 49 w 92"/>
                <a:gd name="T5" fmla="*/ 115 h 115"/>
                <a:gd name="T6" fmla="*/ 0 w 92"/>
                <a:gd name="T7" fmla="*/ 70 h 115"/>
                <a:gd name="T8" fmla="*/ 0 w 92"/>
                <a:gd name="T9" fmla="*/ 0 h 115"/>
                <a:gd name="T10" fmla="*/ 22 w 92"/>
                <a:gd name="T11" fmla="*/ 0 h 115"/>
                <a:gd name="T12" fmla="*/ 22 w 92"/>
                <a:gd name="T13" fmla="*/ 72 h 115"/>
                <a:gd name="T14" fmla="*/ 50 w 92"/>
                <a:gd name="T15" fmla="*/ 105 h 115"/>
                <a:gd name="T16" fmla="*/ 79 w 92"/>
                <a:gd name="T17" fmla="*/ 73 h 115"/>
                <a:gd name="T18" fmla="*/ 79 w 92"/>
                <a:gd name="T19" fmla="*/ 0 h 115"/>
                <a:gd name="T20" fmla="*/ 92 w 92"/>
                <a:gd name="T21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2" h="115">
                  <a:moveTo>
                    <a:pt x="92" y="0"/>
                  </a:moveTo>
                  <a:cubicBezTo>
                    <a:pt x="92" y="71"/>
                    <a:pt x="92" y="71"/>
                    <a:pt x="92" y="71"/>
                  </a:cubicBezTo>
                  <a:cubicBezTo>
                    <a:pt x="92" y="109"/>
                    <a:pt x="62" y="115"/>
                    <a:pt x="49" y="115"/>
                  </a:cubicBezTo>
                  <a:cubicBezTo>
                    <a:pt x="25" y="115"/>
                    <a:pt x="0" y="107"/>
                    <a:pt x="0" y="7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72"/>
                    <a:pt x="22" y="72"/>
                    <a:pt x="22" y="72"/>
                  </a:cubicBezTo>
                  <a:cubicBezTo>
                    <a:pt x="22" y="93"/>
                    <a:pt x="32" y="105"/>
                    <a:pt x="50" y="105"/>
                  </a:cubicBezTo>
                  <a:cubicBezTo>
                    <a:pt x="66" y="105"/>
                    <a:pt x="79" y="95"/>
                    <a:pt x="79" y="73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92" y="0"/>
                    <a:pt x="92" y="0"/>
                    <a:pt x="9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" name="Freeform 40"/>
            <p:cNvSpPr>
              <a:spLocks/>
            </p:cNvSpPr>
            <p:nvPr userDrawn="1"/>
          </p:nvSpPr>
          <p:spPr bwMode="auto">
            <a:xfrm>
              <a:off x="5096" y="230"/>
              <a:ext cx="212" cy="233"/>
            </a:xfrm>
            <a:custGeom>
              <a:avLst/>
              <a:gdLst>
                <a:gd name="T0" fmla="*/ 61 w 106"/>
                <a:gd name="T1" fmla="*/ 117 h 117"/>
                <a:gd name="T2" fmla="*/ 0 w 106"/>
                <a:gd name="T3" fmla="*/ 60 h 117"/>
                <a:gd name="T4" fmla="*/ 63 w 106"/>
                <a:gd name="T5" fmla="*/ 0 h 117"/>
                <a:gd name="T6" fmla="*/ 97 w 106"/>
                <a:gd name="T7" fmla="*/ 13 h 117"/>
                <a:gd name="T8" fmla="*/ 106 w 106"/>
                <a:gd name="T9" fmla="*/ 28 h 117"/>
                <a:gd name="T10" fmla="*/ 94 w 106"/>
                <a:gd name="T11" fmla="*/ 39 h 117"/>
                <a:gd name="T12" fmla="*/ 83 w 106"/>
                <a:gd name="T13" fmla="*/ 28 h 117"/>
                <a:gd name="T14" fmla="*/ 86 w 106"/>
                <a:gd name="T15" fmla="*/ 20 h 117"/>
                <a:gd name="T16" fmla="*/ 63 w 106"/>
                <a:gd name="T17" fmla="*/ 10 h 117"/>
                <a:gd name="T18" fmla="*/ 21 w 106"/>
                <a:gd name="T19" fmla="*/ 58 h 117"/>
                <a:gd name="T20" fmla="*/ 65 w 106"/>
                <a:gd name="T21" fmla="*/ 108 h 117"/>
                <a:gd name="T22" fmla="*/ 102 w 106"/>
                <a:gd name="T23" fmla="*/ 93 h 117"/>
                <a:gd name="T24" fmla="*/ 106 w 106"/>
                <a:gd name="T25" fmla="*/ 99 h 117"/>
                <a:gd name="T26" fmla="*/ 61 w 106"/>
                <a:gd name="T27" fmla="*/ 117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6" h="117">
                  <a:moveTo>
                    <a:pt x="61" y="117"/>
                  </a:moveTo>
                  <a:cubicBezTo>
                    <a:pt x="23" y="117"/>
                    <a:pt x="0" y="91"/>
                    <a:pt x="0" y="60"/>
                  </a:cubicBezTo>
                  <a:cubicBezTo>
                    <a:pt x="0" y="29"/>
                    <a:pt x="24" y="0"/>
                    <a:pt x="63" y="0"/>
                  </a:cubicBezTo>
                  <a:cubicBezTo>
                    <a:pt x="74" y="0"/>
                    <a:pt x="88" y="4"/>
                    <a:pt x="97" y="13"/>
                  </a:cubicBezTo>
                  <a:cubicBezTo>
                    <a:pt x="102" y="16"/>
                    <a:pt x="106" y="23"/>
                    <a:pt x="106" y="28"/>
                  </a:cubicBezTo>
                  <a:cubicBezTo>
                    <a:pt x="106" y="34"/>
                    <a:pt x="101" y="39"/>
                    <a:pt x="94" y="39"/>
                  </a:cubicBezTo>
                  <a:cubicBezTo>
                    <a:pt x="88" y="39"/>
                    <a:pt x="83" y="34"/>
                    <a:pt x="83" y="28"/>
                  </a:cubicBezTo>
                  <a:cubicBezTo>
                    <a:pt x="83" y="25"/>
                    <a:pt x="84" y="22"/>
                    <a:pt x="86" y="20"/>
                  </a:cubicBezTo>
                  <a:cubicBezTo>
                    <a:pt x="81" y="14"/>
                    <a:pt x="71" y="10"/>
                    <a:pt x="63" y="10"/>
                  </a:cubicBezTo>
                  <a:cubicBezTo>
                    <a:pt x="36" y="10"/>
                    <a:pt x="21" y="35"/>
                    <a:pt x="21" y="58"/>
                  </a:cubicBezTo>
                  <a:cubicBezTo>
                    <a:pt x="21" y="85"/>
                    <a:pt x="38" y="108"/>
                    <a:pt x="65" y="108"/>
                  </a:cubicBezTo>
                  <a:cubicBezTo>
                    <a:pt x="79" y="108"/>
                    <a:pt x="90" y="102"/>
                    <a:pt x="102" y="93"/>
                  </a:cubicBezTo>
                  <a:cubicBezTo>
                    <a:pt x="106" y="99"/>
                    <a:pt x="106" y="99"/>
                    <a:pt x="106" y="99"/>
                  </a:cubicBezTo>
                  <a:cubicBezTo>
                    <a:pt x="94" y="111"/>
                    <a:pt x="77" y="117"/>
                    <a:pt x="61" y="1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Freeform 41"/>
            <p:cNvSpPr>
              <a:spLocks noEditPoints="1"/>
            </p:cNvSpPr>
            <p:nvPr userDrawn="1"/>
          </p:nvSpPr>
          <p:spPr bwMode="auto">
            <a:xfrm>
              <a:off x="4885" y="234"/>
              <a:ext cx="207" cy="225"/>
            </a:xfrm>
            <a:custGeom>
              <a:avLst/>
              <a:gdLst>
                <a:gd name="T0" fmla="*/ 163 w 207"/>
                <a:gd name="T1" fmla="*/ 225 h 225"/>
                <a:gd name="T2" fmla="*/ 207 w 207"/>
                <a:gd name="T3" fmla="*/ 225 h 225"/>
                <a:gd name="T4" fmla="*/ 119 w 207"/>
                <a:gd name="T5" fmla="*/ 0 h 225"/>
                <a:gd name="T6" fmla="*/ 85 w 207"/>
                <a:gd name="T7" fmla="*/ 0 h 225"/>
                <a:gd name="T8" fmla="*/ 0 w 207"/>
                <a:gd name="T9" fmla="*/ 225 h 225"/>
                <a:gd name="T10" fmla="*/ 21 w 207"/>
                <a:gd name="T11" fmla="*/ 225 h 225"/>
                <a:gd name="T12" fmla="*/ 47 w 207"/>
                <a:gd name="T13" fmla="*/ 161 h 225"/>
                <a:gd name="T14" fmla="*/ 139 w 207"/>
                <a:gd name="T15" fmla="*/ 161 h 225"/>
                <a:gd name="T16" fmla="*/ 163 w 207"/>
                <a:gd name="T17" fmla="*/ 225 h 225"/>
                <a:gd name="T18" fmla="*/ 163 w 207"/>
                <a:gd name="T19" fmla="*/ 225 h 225"/>
                <a:gd name="T20" fmla="*/ 53 w 207"/>
                <a:gd name="T21" fmla="*/ 141 h 225"/>
                <a:gd name="T22" fmla="*/ 93 w 207"/>
                <a:gd name="T23" fmla="*/ 36 h 225"/>
                <a:gd name="T24" fmla="*/ 133 w 207"/>
                <a:gd name="T25" fmla="*/ 141 h 225"/>
                <a:gd name="T26" fmla="*/ 53 w 207"/>
                <a:gd name="T27" fmla="*/ 141 h 225"/>
                <a:gd name="T28" fmla="*/ 53 w 207"/>
                <a:gd name="T29" fmla="*/ 14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07" h="225">
                  <a:moveTo>
                    <a:pt x="163" y="225"/>
                  </a:moveTo>
                  <a:lnTo>
                    <a:pt x="207" y="225"/>
                  </a:lnTo>
                  <a:lnTo>
                    <a:pt x="119" y="0"/>
                  </a:lnTo>
                  <a:lnTo>
                    <a:pt x="85" y="0"/>
                  </a:lnTo>
                  <a:lnTo>
                    <a:pt x="0" y="225"/>
                  </a:lnTo>
                  <a:lnTo>
                    <a:pt x="21" y="225"/>
                  </a:lnTo>
                  <a:lnTo>
                    <a:pt x="47" y="161"/>
                  </a:lnTo>
                  <a:lnTo>
                    <a:pt x="139" y="161"/>
                  </a:lnTo>
                  <a:lnTo>
                    <a:pt x="163" y="225"/>
                  </a:lnTo>
                  <a:lnTo>
                    <a:pt x="163" y="225"/>
                  </a:lnTo>
                  <a:close/>
                  <a:moveTo>
                    <a:pt x="53" y="141"/>
                  </a:moveTo>
                  <a:lnTo>
                    <a:pt x="93" y="36"/>
                  </a:lnTo>
                  <a:lnTo>
                    <a:pt x="133" y="141"/>
                  </a:lnTo>
                  <a:lnTo>
                    <a:pt x="53" y="141"/>
                  </a:lnTo>
                  <a:lnTo>
                    <a:pt x="53" y="14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003513" y="1366463"/>
            <a:ext cx="3770617" cy="1137024"/>
          </a:xfrm>
        </p:spPr>
        <p:txBody>
          <a:bodyPr anchor="b">
            <a:normAutofit/>
          </a:bodyPr>
          <a:lstStyle>
            <a:lvl1pPr algn="l">
              <a:defRPr sz="386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003513" y="2503487"/>
            <a:ext cx="3770617" cy="599309"/>
          </a:xfrm>
        </p:spPr>
        <p:txBody>
          <a:bodyPr anchor="b">
            <a:noAutofit/>
          </a:bodyPr>
          <a:lstStyle>
            <a:lvl1pPr marL="0" indent="0" algn="l">
              <a:buNone/>
              <a:defRPr sz="1863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Subheading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5003800" y="3944938"/>
            <a:ext cx="3770313" cy="294882"/>
          </a:xfrm>
        </p:spPr>
        <p:txBody>
          <a:bodyPr>
            <a:normAutofit/>
          </a:bodyPr>
          <a:lstStyle>
            <a:lvl1pPr marL="0" indent="0">
              <a:buNone/>
              <a:defRPr sz="1597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AU" dirty="0"/>
              <a:t>Presenter Name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5003800" y="4239820"/>
            <a:ext cx="3770313" cy="328773"/>
          </a:xfrm>
        </p:spPr>
        <p:txBody>
          <a:bodyPr>
            <a:normAutofit/>
          </a:bodyPr>
          <a:lstStyle>
            <a:lvl1pPr marL="0" indent="0">
              <a:buNone/>
              <a:defRPr sz="1597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AU" dirty="0"/>
              <a:t>Date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2"/>
          </p:nvPr>
        </p:nvSpPr>
        <p:spPr>
          <a:xfrm>
            <a:off x="0" y="469901"/>
            <a:ext cx="4565649" cy="2952750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Drag picture to placeholder or click icon to add</a:t>
            </a:r>
            <a:endParaRPr lang="en-AU" dirty="0"/>
          </a:p>
        </p:txBody>
      </p:sp>
      <p:sp>
        <p:nvSpPr>
          <p:cNvPr id="13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0" y="3422650"/>
            <a:ext cx="4565649" cy="3435349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Drag picture to placeholder or click icon to add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77774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co-brand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/>
          <p:cNvSpPr/>
          <p:nvPr userDrawn="1"/>
        </p:nvSpPr>
        <p:spPr>
          <a:xfrm>
            <a:off x="0" y="-3175"/>
            <a:ext cx="9142413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873125" y="2658154"/>
            <a:ext cx="3867150" cy="580346"/>
          </a:xfrm>
        </p:spPr>
        <p:txBody>
          <a:bodyPr anchor="b">
            <a:noAutofit/>
          </a:bodyPr>
          <a:lstStyle>
            <a:lvl1pPr>
              <a:defRPr sz="3860" b="1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Heading</a:t>
            </a:r>
            <a:endParaRPr lang="en-AU" dirty="0"/>
          </a:p>
        </p:txBody>
      </p:sp>
      <p:sp>
        <p:nvSpPr>
          <p:cNvPr id="7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873125" y="3652838"/>
            <a:ext cx="3867150" cy="447675"/>
          </a:xfrm>
        </p:spPr>
        <p:txBody>
          <a:bodyPr anchor="b">
            <a:noAutofit/>
          </a:bodyPr>
          <a:lstStyle>
            <a:lvl1pPr marL="0" indent="0" algn="l">
              <a:buNone/>
              <a:defRPr sz="1863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Subheading</a:t>
            </a:r>
          </a:p>
        </p:txBody>
      </p:sp>
      <p:sp>
        <p:nvSpPr>
          <p:cNvPr id="8" name="Text Placeholder 7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873125" y="5316538"/>
            <a:ext cx="3770313" cy="294882"/>
          </a:xfrm>
        </p:spPr>
        <p:txBody>
          <a:bodyPr>
            <a:normAutofit/>
          </a:bodyPr>
          <a:lstStyle>
            <a:lvl1pPr marL="0" indent="0">
              <a:buNone/>
              <a:defRPr sz="1597" b="1" baseline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AU" dirty="0"/>
              <a:t>Presenter Name</a:t>
            </a:r>
          </a:p>
        </p:txBody>
      </p:sp>
      <p:sp>
        <p:nvSpPr>
          <p:cNvPr id="9" name="Text Placeholder 7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873125" y="5611420"/>
            <a:ext cx="3770313" cy="328773"/>
          </a:xfrm>
        </p:spPr>
        <p:txBody>
          <a:bodyPr>
            <a:normAutofit/>
          </a:bodyPr>
          <a:lstStyle>
            <a:lvl1pPr marL="0" indent="0">
              <a:buNone/>
              <a:defRPr sz="1597" baseline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AU" dirty="0"/>
              <a:t>Date</a:t>
            </a:r>
          </a:p>
        </p:txBody>
      </p:sp>
      <p:sp>
        <p:nvSpPr>
          <p:cNvPr id="44" name="Picture Placeholder 85"/>
          <p:cNvSpPr>
            <a:spLocks noGrp="1"/>
          </p:cNvSpPr>
          <p:nvPr userDrawn="1">
            <p:ph type="pic" sz="quarter" idx="13" hasCustomPrompt="1"/>
          </p:nvPr>
        </p:nvSpPr>
        <p:spPr>
          <a:xfrm>
            <a:off x="6639194" y="2653276"/>
            <a:ext cx="1766125" cy="502731"/>
          </a:xfrm>
        </p:spPr>
        <p:txBody>
          <a:bodyPr/>
          <a:lstStyle>
            <a:lvl1pPr marL="0" indent="0">
              <a:buNone/>
              <a:defRPr sz="120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Drag co-branded logo to placeholder or click icon to add</a:t>
            </a:r>
            <a:endParaRPr lang="en-AU" dirty="0"/>
          </a:p>
        </p:txBody>
      </p:sp>
      <p:grpSp>
        <p:nvGrpSpPr>
          <p:cNvPr id="45" name="Group 44"/>
          <p:cNvGrpSpPr/>
          <p:nvPr userDrawn="1"/>
        </p:nvGrpSpPr>
        <p:grpSpPr>
          <a:xfrm>
            <a:off x="7401258" y="6092825"/>
            <a:ext cx="1374019" cy="484188"/>
            <a:chOff x="7401258" y="365125"/>
            <a:chExt cx="1374019" cy="484188"/>
          </a:xfrm>
        </p:grpSpPr>
        <p:sp>
          <p:nvSpPr>
            <p:cNvPr id="46" name="Freeform 7"/>
            <p:cNvSpPr>
              <a:spLocks/>
            </p:cNvSpPr>
            <p:nvPr userDrawn="1"/>
          </p:nvSpPr>
          <p:spPr bwMode="auto">
            <a:xfrm>
              <a:off x="7401258" y="371475"/>
              <a:ext cx="289435" cy="369888"/>
            </a:xfrm>
            <a:custGeom>
              <a:avLst/>
              <a:gdLst>
                <a:gd name="T0" fmla="*/ 91 w 91"/>
                <a:gd name="T1" fmla="*/ 0 h 117"/>
                <a:gd name="T2" fmla="*/ 91 w 91"/>
                <a:gd name="T3" fmla="*/ 51 h 117"/>
                <a:gd name="T4" fmla="*/ 46 w 91"/>
                <a:gd name="T5" fmla="*/ 117 h 117"/>
                <a:gd name="T6" fmla="*/ 0 w 91"/>
                <a:gd name="T7" fmla="*/ 51 h 117"/>
                <a:gd name="T8" fmla="*/ 0 w 91"/>
                <a:gd name="T9" fmla="*/ 0 h 117"/>
                <a:gd name="T10" fmla="*/ 91 w 91"/>
                <a:gd name="T11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1" h="117">
                  <a:moveTo>
                    <a:pt x="91" y="0"/>
                  </a:moveTo>
                  <a:cubicBezTo>
                    <a:pt x="91" y="51"/>
                    <a:pt x="91" y="51"/>
                    <a:pt x="91" y="51"/>
                  </a:cubicBezTo>
                  <a:cubicBezTo>
                    <a:pt x="91" y="77"/>
                    <a:pt x="74" y="105"/>
                    <a:pt x="46" y="117"/>
                  </a:cubicBezTo>
                  <a:cubicBezTo>
                    <a:pt x="18" y="105"/>
                    <a:pt x="0" y="77"/>
                    <a:pt x="0" y="5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91" y="0"/>
                    <a:pt x="91" y="0"/>
                    <a:pt x="91" y="0"/>
                  </a:cubicBezTo>
                  <a:close/>
                </a:path>
              </a:pathLst>
            </a:custGeom>
            <a:solidFill>
              <a:srgbClr val="E2231A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Freeform 8"/>
            <p:cNvSpPr>
              <a:spLocks/>
            </p:cNvSpPr>
            <p:nvPr userDrawn="1"/>
          </p:nvSpPr>
          <p:spPr bwMode="auto">
            <a:xfrm>
              <a:off x="7455328" y="415925"/>
              <a:ext cx="181294" cy="236538"/>
            </a:xfrm>
            <a:custGeom>
              <a:avLst/>
              <a:gdLst>
                <a:gd name="T0" fmla="*/ 0 w 114"/>
                <a:gd name="T1" fmla="*/ 74 h 149"/>
                <a:gd name="T2" fmla="*/ 58 w 114"/>
                <a:gd name="T3" fmla="*/ 0 h 149"/>
                <a:gd name="T4" fmla="*/ 114 w 114"/>
                <a:gd name="T5" fmla="*/ 74 h 149"/>
                <a:gd name="T6" fmla="*/ 58 w 114"/>
                <a:gd name="T7" fmla="*/ 149 h 149"/>
                <a:gd name="T8" fmla="*/ 0 w 114"/>
                <a:gd name="T9" fmla="*/ 74 h 149"/>
                <a:gd name="T10" fmla="*/ 0 w 114"/>
                <a:gd name="T11" fmla="*/ 74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4" h="149">
                  <a:moveTo>
                    <a:pt x="0" y="74"/>
                  </a:moveTo>
                  <a:lnTo>
                    <a:pt x="58" y="0"/>
                  </a:lnTo>
                  <a:lnTo>
                    <a:pt x="114" y="74"/>
                  </a:lnTo>
                  <a:lnTo>
                    <a:pt x="58" y="149"/>
                  </a:lnTo>
                  <a:lnTo>
                    <a:pt x="0" y="74"/>
                  </a:lnTo>
                  <a:lnTo>
                    <a:pt x="0" y="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" name="Freeform 9"/>
            <p:cNvSpPr>
              <a:spLocks/>
            </p:cNvSpPr>
            <p:nvPr userDrawn="1"/>
          </p:nvSpPr>
          <p:spPr bwMode="auto">
            <a:xfrm>
              <a:off x="7480773" y="466725"/>
              <a:ext cx="130405" cy="153988"/>
            </a:xfrm>
            <a:custGeom>
              <a:avLst/>
              <a:gdLst>
                <a:gd name="T0" fmla="*/ 18 w 41"/>
                <a:gd name="T1" fmla="*/ 26 h 49"/>
                <a:gd name="T2" fmla="*/ 21 w 41"/>
                <a:gd name="T3" fmla="*/ 49 h 49"/>
                <a:gd name="T4" fmla="*/ 21 w 41"/>
                <a:gd name="T5" fmla="*/ 49 h 49"/>
                <a:gd name="T6" fmla="*/ 21 w 41"/>
                <a:gd name="T7" fmla="*/ 49 h 49"/>
                <a:gd name="T8" fmla="*/ 23 w 41"/>
                <a:gd name="T9" fmla="*/ 26 h 49"/>
                <a:gd name="T10" fmla="*/ 23 w 41"/>
                <a:gd name="T11" fmla="*/ 24 h 49"/>
                <a:gd name="T12" fmla="*/ 32 w 41"/>
                <a:gd name="T13" fmla="*/ 24 h 49"/>
                <a:gd name="T14" fmla="*/ 32 w 41"/>
                <a:gd name="T15" fmla="*/ 25 h 49"/>
                <a:gd name="T16" fmla="*/ 35 w 41"/>
                <a:gd name="T17" fmla="*/ 28 h 49"/>
                <a:gd name="T18" fmla="*/ 37 w 41"/>
                <a:gd name="T19" fmla="*/ 25 h 49"/>
                <a:gd name="T20" fmla="*/ 37 w 41"/>
                <a:gd name="T21" fmla="*/ 24 h 49"/>
                <a:gd name="T22" fmla="*/ 38 w 41"/>
                <a:gd name="T23" fmla="*/ 24 h 49"/>
                <a:gd name="T24" fmla="*/ 41 w 41"/>
                <a:gd name="T25" fmla="*/ 21 h 49"/>
                <a:gd name="T26" fmla="*/ 38 w 41"/>
                <a:gd name="T27" fmla="*/ 19 h 49"/>
                <a:gd name="T28" fmla="*/ 37 w 41"/>
                <a:gd name="T29" fmla="*/ 19 h 49"/>
                <a:gd name="T30" fmla="*/ 37 w 41"/>
                <a:gd name="T31" fmla="*/ 18 h 49"/>
                <a:gd name="T32" fmla="*/ 35 w 41"/>
                <a:gd name="T33" fmla="*/ 15 h 49"/>
                <a:gd name="T34" fmla="*/ 32 w 41"/>
                <a:gd name="T35" fmla="*/ 18 h 49"/>
                <a:gd name="T36" fmla="*/ 32 w 41"/>
                <a:gd name="T37" fmla="*/ 19 h 49"/>
                <a:gd name="T38" fmla="*/ 23 w 41"/>
                <a:gd name="T39" fmla="*/ 19 h 49"/>
                <a:gd name="T40" fmla="*/ 23 w 41"/>
                <a:gd name="T41" fmla="*/ 9 h 49"/>
                <a:gd name="T42" fmla="*/ 24 w 41"/>
                <a:gd name="T43" fmla="*/ 9 h 49"/>
                <a:gd name="T44" fmla="*/ 27 w 41"/>
                <a:gd name="T45" fmla="*/ 6 h 49"/>
                <a:gd name="T46" fmla="*/ 24 w 41"/>
                <a:gd name="T47" fmla="*/ 3 h 49"/>
                <a:gd name="T48" fmla="*/ 23 w 41"/>
                <a:gd name="T49" fmla="*/ 3 h 49"/>
                <a:gd name="T50" fmla="*/ 23 w 41"/>
                <a:gd name="T51" fmla="*/ 3 h 49"/>
                <a:gd name="T52" fmla="*/ 21 w 41"/>
                <a:gd name="T53" fmla="*/ 0 h 49"/>
                <a:gd name="T54" fmla="*/ 18 w 41"/>
                <a:gd name="T55" fmla="*/ 3 h 49"/>
                <a:gd name="T56" fmla="*/ 18 w 41"/>
                <a:gd name="T57" fmla="*/ 3 h 49"/>
                <a:gd name="T58" fmla="*/ 17 w 41"/>
                <a:gd name="T59" fmla="*/ 3 h 49"/>
                <a:gd name="T60" fmla="*/ 14 w 41"/>
                <a:gd name="T61" fmla="*/ 6 h 49"/>
                <a:gd name="T62" fmla="*/ 17 w 41"/>
                <a:gd name="T63" fmla="*/ 9 h 49"/>
                <a:gd name="T64" fmla="*/ 18 w 41"/>
                <a:gd name="T65" fmla="*/ 9 h 49"/>
                <a:gd name="T66" fmla="*/ 18 w 41"/>
                <a:gd name="T67" fmla="*/ 19 h 49"/>
                <a:gd name="T68" fmla="*/ 18 w 41"/>
                <a:gd name="T69" fmla="*/ 19 h 49"/>
                <a:gd name="T70" fmla="*/ 10 w 41"/>
                <a:gd name="T71" fmla="*/ 19 h 49"/>
                <a:gd name="T72" fmla="*/ 10 w 41"/>
                <a:gd name="T73" fmla="*/ 18 h 49"/>
                <a:gd name="T74" fmla="*/ 7 w 41"/>
                <a:gd name="T75" fmla="*/ 15 h 49"/>
                <a:gd name="T76" fmla="*/ 4 w 41"/>
                <a:gd name="T77" fmla="*/ 18 h 49"/>
                <a:gd name="T78" fmla="*/ 4 w 41"/>
                <a:gd name="T79" fmla="*/ 19 h 49"/>
                <a:gd name="T80" fmla="*/ 4 w 41"/>
                <a:gd name="T81" fmla="*/ 19 h 49"/>
                <a:gd name="T82" fmla="*/ 0 w 41"/>
                <a:gd name="T83" fmla="*/ 21 h 49"/>
                <a:gd name="T84" fmla="*/ 4 w 41"/>
                <a:gd name="T85" fmla="*/ 24 h 49"/>
                <a:gd name="T86" fmla="*/ 4 w 41"/>
                <a:gd name="T87" fmla="*/ 24 h 49"/>
                <a:gd name="T88" fmla="*/ 4 w 41"/>
                <a:gd name="T89" fmla="*/ 25 h 49"/>
                <a:gd name="T90" fmla="*/ 7 w 41"/>
                <a:gd name="T91" fmla="*/ 28 h 49"/>
                <a:gd name="T92" fmla="*/ 10 w 41"/>
                <a:gd name="T93" fmla="*/ 25 h 49"/>
                <a:gd name="T94" fmla="*/ 10 w 41"/>
                <a:gd name="T95" fmla="*/ 24 h 49"/>
                <a:gd name="T96" fmla="*/ 18 w 41"/>
                <a:gd name="T97" fmla="*/ 24 h 49"/>
                <a:gd name="T98" fmla="*/ 18 w 41"/>
                <a:gd name="T99" fmla="*/ 26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41" h="49">
                  <a:moveTo>
                    <a:pt x="18" y="26"/>
                  </a:moveTo>
                  <a:cubicBezTo>
                    <a:pt x="18" y="36"/>
                    <a:pt x="20" y="48"/>
                    <a:pt x="21" y="49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48"/>
                    <a:pt x="23" y="36"/>
                    <a:pt x="23" y="26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32" y="24"/>
                    <a:pt x="32" y="24"/>
                    <a:pt x="32" y="24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2" y="26"/>
                    <a:pt x="33" y="28"/>
                    <a:pt x="35" y="28"/>
                  </a:cubicBezTo>
                  <a:cubicBezTo>
                    <a:pt x="36" y="28"/>
                    <a:pt x="37" y="26"/>
                    <a:pt x="37" y="25"/>
                  </a:cubicBezTo>
                  <a:cubicBezTo>
                    <a:pt x="37" y="24"/>
                    <a:pt x="37" y="24"/>
                    <a:pt x="37" y="24"/>
                  </a:cubicBezTo>
                  <a:cubicBezTo>
                    <a:pt x="38" y="24"/>
                    <a:pt x="38" y="24"/>
                    <a:pt x="38" y="24"/>
                  </a:cubicBezTo>
                  <a:cubicBezTo>
                    <a:pt x="39" y="24"/>
                    <a:pt x="41" y="23"/>
                    <a:pt x="41" y="21"/>
                  </a:cubicBezTo>
                  <a:cubicBezTo>
                    <a:pt x="41" y="20"/>
                    <a:pt x="39" y="19"/>
                    <a:pt x="38" y="19"/>
                  </a:cubicBezTo>
                  <a:cubicBezTo>
                    <a:pt x="37" y="19"/>
                    <a:pt x="37" y="19"/>
                    <a:pt x="37" y="19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7" y="17"/>
                    <a:pt x="36" y="15"/>
                    <a:pt x="35" y="15"/>
                  </a:cubicBezTo>
                  <a:cubicBezTo>
                    <a:pt x="33" y="15"/>
                    <a:pt x="32" y="17"/>
                    <a:pt x="32" y="18"/>
                  </a:cubicBezTo>
                  <a:cubicBezTo>
                    <a:pt x="32" y="19"/>
                    <a:pt x="32" y="19"/>
                    <a:pt x="32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25" y="9"/>
                    <a:pt x="27" y="8"/>
                    <a:pt x="27" y="6"/>
                  </a:cubicBezTo>
                  <a:cubicBezTo>
                    <a:pt x="27" y="5"/>
                    <a:pt x="25" y="3"/>
                    <a:pt x="24" y="3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3" y="1"/>
                    <a:pt x="22" y="0"/>
                    <a:pt x="21" y="0"/>
                  </a:cubicBezTo>
                  <a:cubicBezTo>
                    <a:pt x="19" y="0"/>
                    <a:pt x="18" y="1"/>
                    <a:pt x="18" y="3"/>
                  </a:cubicBezTo>
                  <a:cubicBezTo>
                    <a:pt x="18" y="3"/>
                    <a:pt x="18" y="3"/>
                    <a:pt x="18" y="3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6" y="3"/>
                    <a:pt x="14" y="5"/>
                    <a:pt x="14" y="6"/>
                  </a:cubicBezTo>
                  <a:cubicBezTo>
                    <a:pt x="14" y="8"/>
                    <a:pt x="16" y="9"/>
                    <a:pt x="17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17"/>
                    <a:pt x="8" y="15"/>
                    <a:pt x="7" y="15"/>
                  </a:cubicBezTo>
                  <a:cubicBezTo>
                    <a:pt x="5" y="15"/>
                    <a:pt x="4" y="17"/>
                    <a:pt x="4" y="18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2" y="19"/>
                    <a:pt x="0" y="20"/>
                    <a:pt x="0" y="21"/>
                  </a:cubicBezTo>
                  <a:cubicBezTo>
                    <a:pt x="0" y="23"/>
                    <a:pt x="2" y="24"/>
                    <a:pt x="4" y="24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4" y="26"/>
                    <a:pt x="5" y="28"/>
                    <a:pt x="7" y="28"/>
                  </a:cubicBezTo>
                  <a:cubicBezTo>
                    <a:pt x="8" y="28"/>
                    <a:pt x="10" y="26"/>
                    <a:pt x="10" y="25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8" y="24"/>
                    <a:pt x="18" y="24"/>
                    <a:pt x="18" y="24"/>
                  </a:cubicBezTo>
                  <a:cubicBezTo>
                    <a:pt x="18" y="26"/>
                    <a:pt x="18" y="26"/>
                    <a:pt x="18" y="26"/>
                  </a:cubicBezTo>
                  <a:close/>
                </a:path>
              </a:pathLst>
            </a:custGeom>
            <a:solidFill>
              <a:srgbClr val="E2231A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Freeform 10"/>
            <p:cNvSpPr>
              <a:spLocks noEditPoints="1"/>
            </p:cNvSpPr>
            <p:nvPr userDrawn="1"/>
          </p:nvSpPr>
          <p:spPr bwMode="auto">
            <a:xfrm>
              <a:off x="7401258" y="798513"/>
              <a:ext cx="54070" cy="50800"/>
            </a:xfrm>
            <a:custGeom>
              <a:avLst/>
              <a:gdLst>
                <a:gd name="T0" fmla="*/ 20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6 w 34"/>
                <a:gd name="T7" fmla="*/ 32 h 32"/>
                <a:gd name="T8" fmla="*/ 10 w 34"/>
                <a:gd name="T9" fmla="*/ 26 h 32"/>
                <a:gd name="T10" fmla="*/ 26 w 34"/>
                <a:gd name="T11" fmla="*/ 26 h 32"/>
                <a:gd name="T12" fmla="*/ 30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20 w 34"/>
                <a:gd name="T19" fmla="*/ 0 h 32"/>
                <a:gd name="T20" fmla="*/ 20 w 34"/>
                <a:gd name="T21" fmla="*/ 0 h 32"/>
                <a:gd name="T22" fmla="*/ 24 w 34"/>
                <a:gd name="T23" fmla="*/ 20 h 32"/>
                <a:gd name="T24" fmla="*/ 12 w 34"/>
                <a:gd name="T25" fmla="*/ 20 h 32"/>
                <a:gd name="T26" fmla="*/ 18 w 34"/>
                <a:gd name="T27" fmla="*/ 6 h 32"/>
                <a:gd name="T28" fmla="*/ 24 w 34"/>
                <a:gd name="T29" fmla="*/ 20 h 32"/>
                <a:gd name="T30" fmla="*/ 24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20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10" y="26"/>
                  </a:lnTo>
                  <a:lnTo>
                    <a:pt x="26" y="26"/>
                  </a:lnTo>
                  <a:lnTo>
                    <a:pt x="30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20" y="0"/>
                  </a:lnTo>
                  <a:close/>
                  <a:moveTo>
                    <a:pt x="24" y="20"/>
                  </a:moveTo>
                  <a:lnTo>
                    <a:pt x="12" y="20"/>
                  </a:lnTo>
                  <a:lnTo>
                    <a:pt x="18" y="6"/>
                  </a:lnTo>
                  <a:lnTo>
                    <a:pt x="24" y="20"/>
                  </a:lnTo>
                  <a:lnTo>
                    <a:pt x="24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" name="Freeform 11"/>
            <p:cNvSpPr>
              <a:spLocks/>
            </p:cNvSpPr>
            <p:nvPr userDrawn="1"/>
          </p:nvSpPr>
          <p:spPr bwMode="auto">
            <a:xfrm>
              <a:off x="7458509" y="798513"/>
              <a:ext cx="44528" cy="50800"/>
            </a:xfrm>
            <a:custGeom>
              <a:avLst/>
              <a:gdLst>
                <a:gd name="T0" fmla="*/ 11 w 14"/>
                <a:gd name="T1" fmla="*/ 9 h 16"/>
                <a:gd name="T2" fmla="*/ 7 w 14"/>
                <a:gd name="T3" fmla="*/ 14 h 16"/>
                <a:gd name="T4" fmla="*/ 3 w 14"/>
                <a:gd name="T5" fmla="*/ 9 h 16"/>
                <a:gd name="T6" fmla="*/ 3 w 14"/>
                <a:gd name="T7" fmla="*/ 0 h 16"/>
                <a:gd name="T8" fmla="*/ 0 w 14"/>
                <a:gd name="T9" fmla="*/ 0 h 16"/>
                <a:gd name="T10" fmla="*/ 0 w 14"/>
                <a:gd name="T11" fmla="*/ 9 h 16"/>
                <a:gd name="T12" fmla="*/ 7 w 14"/>
                <a:gd name="T13" fmla="*/ 16 h 16"/>
                <a:gd name="T14" fmla="*/ 14 w 14"/>
                <a:gd name="T15" fmla="*/ 9 h 16"/>
                <a:gd name="T16" fmla="*/ 14 w 14"/>
                <a:gd name="T17" fmla="*/ 0 h 16"/>
                <a:gd name="T18" fmla="*/ 11 w 14"/>
                <a:gd name="T19" fmla="*/ 0 h 16"/>
                <a:gd name="T20" fmla="*/ 11 w 14"/>
                <a:gd name="T21" fmla="*/ 9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" h="16">
                  <a:moveTo>
                    <a:pt x="11" y="9"/>
                  </a:moveTo>
                  <a:cubicBezTo>
                    <a:pt x="11" y="12"/>
                    <a:pt x="9" y="14"/>
                    <a:pt x="7" y="14"/>
                  </a:cubicBezTo>
                  <a:cubicBezTo>
                    <a:pt x="5" y="14"/>
                    <a:pt x="3" y="12"/>
                    <a:pt x="3" y="9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4" y="16"/>
                    <a:pt x="7" y="16"/>
                  </a:cubicBezTo>
                  <a:cubicBezTo>
                    <a:pt x="10" y="16"/>
                    <a:pt x="14" y="14"/>
                    <a:pt x="14" y="9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9"/>
                    <a:pt x="11" y="9"/>
                    <a:pt x="11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" name="Freeform 12"/>
            <p:cNvSpPr>
              <a:spLocks/>
            </p:cNvSpPr>
            <p:nvPr userDrawn="1"/>
          </p:nvSpPr>
          <p:spPr bwMode="auto">
            <a:xfrm>
              <a:off x="7512579" y="795338"/>
              <a:ext cx="41348" cy="53975"/>
            </a:xfrm>
            <a:custGeom>
              <a:avLst/>
              <a:gdLst>
                <a:gd name="T0" fmla="*/ 7 w 13"/>
                <a:gd name="T1" fmla="*/ 7 h 17"/>
                <a:gd name="T2" fmla="*/ 3 w 13"/>
                <a:gd name="T3" fmla="*/ 5 h 17"/>
                <a:gd name="T4" fmla="*/ 7 w 13"/>
                <a:gd name="T5" fmla="*/ 3 h 17"/>
                <a:gd name="T6" fmla="*/ 11 w 13"/>
                <a:gd name="T7" fmla="*/ 5 h 17"/>
                <a:gd name="T8" fmla="*/ 11 w 13"/>
                <a:gd name="T9" fmla="*/ 5 h 17"/>
                <a:gd name="T10" fmla="*/ 13 w 13"/>
                <a:gd name="T11" fmla="*/ 4 h 17"/>
                <a:gd name="T12" fmla="*/ 13 w 13"/>
                <a:gd name="T13" fmla="*/ 3 h 17"/>
                <a:gd name="T14" fmla="*/ 7 w 13"/>
                <a:gd name="T15" fmla="*/ 0 h 17"/>
                <a:gd name="T16" fmla="*/ 2 w 13"/>
                <a:gd name="T17" fmla="*/ 2 h 17"/>
                <a:gd name="T18" fmla="*/ 0 w 13"/>
                <a:gd name="T19" fmla="*/ 5 h 17"/>
                <a:gd name="T20" fmla="*/ 7 w 13"/>
                <a:gd name="T21" fmla="*/ 10 h 17"/>
                <a:gd name="T22" fmla="*/ 11 w 13"/>
                <a:gd name="T23" fmla="*/ 12 h 17"/>
                <a:gd name="T24" fmla="*/ 7 w 13"/>
                <a:gd name="T25" fmla="*/ 15 h 17"/>
                <a:gd name="T26" fmla="*/ 2 w 13"/>
                <a:gd name="T27" fmla="*/ 12 h 17"/>
                <a:gd name="T28" fmla="*/ 2 w 13"/>
                <a:gd name="T29" fmla="*/ 12 h 17"/>
                <a:gd name="T30" fmla="*/ 0 w 13"/>
                <a:gd name="T31" fmla="*/ 13 h 17"/>
                <a:gd name="T32" fmla="*/ 0 w 13"/>
                <a:gd name="T33" fmla="*/ 14 h 17"/>
                <a:gd name="T34" fmla="*/ 7 w 13"/>
                <a:gd name="T35" fmla="*/ 17 h 17"/>
                <a:gd name="T36" fmla="*/ 13 w 13"/>
                <a:gd name="T37" fmla="*/ 12 h 17"/>
                <a:gd name="T38" fmla="*/ 7 w 13"/>
                <a:gd name="T39" fmla="*/ 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3" h="17">
                  <a:moveTo>
                    <a:pt x="7" y="7"/>
                  </a:moveTo>
                  <a:cubicBezTo>
                    <a:pt x="5" y="7"/>
                    <a:pt x="3" y="6"/>
                    <a:pt x="3" y="5"/>
                  </a:cubicBezTo>
                  <a:cubicBezTo>
                    <a:pt x="3" y="4"/>
                    <a:pt x="5" y="3"/>
                    <a:pt x="7" y="3"/>
                  </a:cubicBezTo>
                  <a:cubicBezTo>
                    <a:pt x="9" y="3"/>
                    <a:pt x="10" y="3"/>
                    <a:pt x="11" y="5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2" y="1"/>
                    <a:pt x="10" y="0"/>
                    <a:pt x="7" y="0"/>
                  </a:cubicBezTo>
                  <a:cubicBezTo>
                    <a:pt x="5" y="0"/>
                    <a:pt x="3" y="1"/>
                    <a:pt x="2" y="2"/>
                  </a:cubicBezTo>
                  <a:cubicBezTo>
                    <a:pt x="1" y="3"/>
                    <a:pt x="0" y="4"/>
                    <a:pt x="0" y="5"/>
                  </a:cubicBezTo>
                  <a:cubicBezTo>
                    <a:pt x="0" y="9"/>
                    <a:pt x="4" y="9"/>
                    <a:pt x="7" y="10"/>
                  </a:cubicBezTo>
                  <a:cubicBezTo>
                    <a:pt x="9" y="10"/>
                    <a:pt x="11" y="11"/>
                    <a:pt x="11" y="12"/>
                  </a:cubicBezTo>
                  <a:cubicBezTo>
                    <a:pt x="11" y="15"/>
                    <a:pt x="8" y="15"/>
                    <a:pt x="7" y="15"/>
                  </a:cubicBezTo>
                  <a:cubicBezTo>
                    <a:pt x="5" y="15"/>
                    <a:pt x="3" y="14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" y="16"/>
                    <a:pt x="3" y="17"/>
                    <a:pt x="7" y="17"/>
                  </a:cubicBezTo>
                  <a:cubicBezTo>
                    <a:pt x="10" y="17"/>
                    <a:pt x="13" y="16"/>
                    <a:pt x="13" y="12"/>
                  </a:cubicBezTo>
                  <a:cubicBezTo>
                    <a:pt x="13" y="9"/>
                    <a:pt x="10" y="8"/>
                    <a:pt x="7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Freeform 13"/>
            <p:cNvSpPr>
              <a:spLocks/>
            </p:cNvSpPr>
            <p:nvPr userDrawn="1"/>
          </p:nvSpPr>
          <p:spPr bwMode="auto">
            <a:xfrm>
              <a:off x="7560288" y="798513"/>
              <a:ext cx="41348" cy="50800"/>
            </a:xfrm>
            <a:custGeom>
              <a:avLst/>
              <a:gdLst>
                <a:gd name="T0" fmla="*/ 0 w 26"/>
                <a:gd name="T1" fmla="*/ 4 h 32"/>
                <a:gd name="T2" fmla="*/ 10 w 26"/>
                <a:gd name="T3" fmla="*/ 4 h 32"/>
                <a:gd name="T4" fmla="*/ 10 w 26"/>
                <a:gd name="T5" fmla="*/ 32 h 32"/>
                <a:gd name="T6" fmla="*/ 16 w 26"/>
                <a:gd name="T7" fmla="*/ 32 h 32"/>
                <a:gd name="T8" fmla="*/ 16 w 26"/>
                <a:gd name="T9" fmla="*/ 4 h 32"/>
                <a:gd name="T10" fmla="*/ 26 w 26"/>
                <a:gd name="T11" fmla="*/ 4 h 32"/>
                <a:gd name="T12" fmla="*/ 26 w 26"/>
                <a:gd name="T13" fmla="*/ 0 h 32"/>
                <a:gd name="T14" fmla="*/ 0 w 26"/>
                <a:gd name="T15" fmla="*/ 0 h 32"/>
                <a:gd name="T16" fmla="*/ 0 w 26"/>
                <a:gd name="T17" fmla="*/ 4 h 32"/>
                <a:gd name="T18" fmla="*/ 0 w 26"/>
                <a:gd name="T19" fmla="*/ 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" h="32">
                  <a:moveTo>
                    <a:pt x="0" y="4"/>
                  </a:moveTo>
                  <a:lnTo>
                    <a:pt x="10" y="4"/>
                  </a:lnTo>
                  <a:lnTo>
                    <a:pt x="10" y="32"/>
                  </a:lnTo>
                  <a:lnTo>
                    <a:pt x="16" y="32"/>
                  </a:lnTo>
                  <a:lnTo>
                    <a:pt x="16" y="4"/>
                  </a:lnTo>
                  <a:lnTo>
                    <a:pt x="26" y="4"/>
                  </a:lnTo>
                  <a:lnTo>
                    <a:pt x="26" y="0"/>
                  </a:lnTo>
                  <a:lnTo>
                    <a:pt x="0" y="0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" name="Freeform 14"/>
            <p:cNvSpPr>
              <a:spLocks noEditPoints="1"/>
            </p:cNvSpPr>
            <p:nvPr userDrawn="1"/>
          </p:nvSpPr>
          <p:spPr bwMode="auto">
            <a:xfrm>
              <a:off x="7611177" y="798513"/>
              <a:ext cx="44528" cy="50800"/>
            </a:xfrm>
            <a:custGeom>
              <a:avLst/>
              <a:gdLst>
                <a:gd name="T0" fmla="*/ 13 w 14"/>
                <a:gd name="T1" fmla="*/ 5 h 16"/>
                <a:gd name="T2" fmla="*/ 7 w 14"/>
                <a:gd name="T3" fmla="*/ 0 h 16"/>
                <a:gd name="T4" fmla="*/ 0 w 14"/>
                <a:gd name="T5" fmla="*/ 0 h 16"/>
                <a:gd name="T6" fmla="*/ 0 w 14"/>
                <a:gd name="T7" fmla="*/ 16 h 16"/>
                <a:gd name="T8" fmla="*/ 2 w 14"/>
                <a:gd name="T9" fmla="*/ 16 h 16"/>
                <a:gd name="T10" fmla="*/ 2 w 14"/>
                <a:gd name="T11" fmla="*/ 10 h 16"/>
                <a:gd name="T12" fmla="*/ 6 w 14"/>
                <a:gd name="T13" fmla="*/ 10 h 16"/>
                <a:gd name="T14" fmla="*/ 10 w 14"/>
                <a:gd name="T15" fmla="*/ 16 h 16"/>
                <a:gd name="T16" fmla="*/ 14 w 14"/>
                <a:gd name="T17" fmla="*/ 16 h 16"/>
                <a:gd name="T18" fmla="*/ 8 w 14"/>
                <a:gd name="T19" fmla="*/ 10 h 16"/>
                <a:gd name="T20" fmla="*/ 13 w 14"/>
                <a:gd name="T21" fmla="*/ 5 h 16"/>
                <a:gd name="T22" fmla="*/ 2 w 14"/>
                <a:gd name="T23" fmla="*/ 2 h 16"/>
                <a:gd name="T24" fmla="*/ 7 w 14"/>
                <a:gd name="T25" fmla="*/ 2 h 16"/>
                <a:gd name="T26" fmla="*/ 10 w 14"/>
                <a:gd name="T27" fmla="*/ 5 h 16"/>
                <a:gd name="T28" fmla="*/ 7 w 14"/>
                <a:gd name="T29" fmla="*/ 8 h 16"/>
                <a:gd name="T30" fmla="*/ 2 w 14"/>
                <a:gd name="T31" fmla="*/ 8 h 16"/>
                <a:gd name="T32" fmla="*/ 2 w 14"/>
                <a:gd name="T33" fmla="*/ 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4" h="16">
                  <a:moveTo>
                    <a:pt x="13" y="5"/>
                  </a:moveTo>
                  <a:cubicBezTo>
                    <a:pt x="13" y="2"/>
                    <a:pt x="11" y="0"/>
                    <a:pt x="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8" y="10"/>
                    <a:pt x="8" y="10"/>
                    <a:pt x="8" y="10"/>
                  </a:cubicBezTo>
                  <a:cubicBezTo>
                    <a:pt x="11" y="10"/>
                    <a:pt x="13" y="8"/>
                    <a:pt x="13" y="5"/>
                  </a:cubicBezTo>
                  <a:close/>
                  <a:moveTo>
                    <a:pt x="2" y="2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9" y="2"/>
                    <a:pt x="10" y="4"/>
                    <a:pt x="10" y="5"/>
                  </a:cubicBezTo>
                  <a:cubicBezTo>
                    <a:pt x="10" y="6"/>
                    <a:pt x="9" y="8"/>
                    <a:pt x="7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2"/>
                    <a:pt x="2" y="2"/>
                    <a:pt x="2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" name="Freeform 15"/>
            <p:cNvSpPr>
              <a:spLocks noEditPoints="1"/>
            </p:cNvSpPr>
            <p:nvPr userDrawn="1"/>
          </p:nvSpPr>
          <p:spPr bwMode="auto">
            <a:xfrm>
              <a:off x="7658886" y="798513"/>
              <a:ext cx="54070" cy="50800"/>
            </a:xfrm>
            <a:custGeom>
              <a:avLst/>
              <a:gdLst>
                <a:gd name="T0" fmla="*/ 18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4 w 34"/>
                <a:gd name="T7" fmla="*/ 32 h 32"/>
                <a:gd name="T8" fmla="*/ 8 w 34"/>
                <a:gd name="T9" fmla="*/ 26 h 32"/>
                <a:gd name="T10" fmla="*/ 24 w 34"/>
                <a:gd name="T11" fmla="*/ 26 h 32"/>
                <a:gd name="T12" fmla="*/ 28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18 w 34"/>
                <a:gd name="T19" fmla="*/ 0 h 32"/>
                <a:gd name="T20" fmla="*/ 18 w 34"/>
                <a:gd name="T21" fmla="*/ 0 h 32"/>
                <a:gd name="T22" fmla="*/ 22 w 34"/>
                <a:gd name="T23" fmla="*/ 20 h 32"/>
                <a:gd name="T24" fmla="*/ 10 w 34"/>
                <a:gd name="T25" fmla="*/ 20 h 32"/>
                <a:gd name="T26" fmla="*/ 16 w 34"/>
                <a:gd name="T27" fmla="*/ 6 h 32"/>
                <a:gd name="T28" fmla="*/ 22 w 34"/>
                <a:gd name="T29" fmla="*/ 20 h 32"/>
                <a:gd name="T30" fmla="*/ 22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18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8" y="26"/>
                  </a:lnTo>
                  <a:lnTo>
                    <a:pt x="24" y="26"/>
                  </a:lnTo>
                  <a:lnTo>
                    <a:pt x="28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18" y="0"/>
                  </a:lnTo>
                  <a:lnTo>
                    <a:pt x="18" y="0"/>
                  </a:lnTo>
                  <a:close/>
                  <a:moveTo>
                    <a:pt x="22" y="20"/>
                  </a:moveTo>
                  <a:lnTo>
                    <a:pt x="10" y="20"/>
                  </a:lnTo>
                  <a:lnTo>
                    <a:pt x="16" y="6"/>
                  </a:lnTo>
                  <a:lnTo>
                    <a:pt x="22" y="20"/>
                  </a:lnTo>
                  <a:lnTo>
                    <a:pt x="22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" name="Freeform 16"/>
            <p:cNvSpPr>
              <a:spLocks/>
            </p:cNvSpPr>
            <p:nvPr userDrawn="1"/>
          </p:nvSpPr>
          <p:spPr bwMode="auto">
            <a:xfrm>
              <a:off x="7719318" y="798513"/>
              <a:ext cx="34987" cy="50800"/>
            </a:xfrm>
            <a:custGeom>
              <a:avLst/>
              <a:gdLst>
                <a:gd name="T0" fmla="*/ 6 w 22"/>
                <a:gd name="T1" fmla="*/ 0 h 32"/>
                <a:gd name="T2" fmla="*/ 0 w 22"/>
                <a:gd name="T3" fmla="*/ 0 h 32"/>
                <a:gd name="T4" fmla="*/ 0 w 22"/>
                <a:gd name="T5" fmla="*/ 32 h 32"/>
                <a:gd name="T6" fmla="*/ 22 w 22"/>
                <a:gd name="T7" fmla="*/ 32 h 32"/>
                <a:gd name="T8" fmla="*/ 22 w 22"/>
                <a:gd name="T9" fmla="*/ 28 h 32"/>
                <a:gd name="T10" fmla="*/ 6 w 22"/>
                <a:gd name="T11" fmla="*/ 28 h 32"/>
                <a:gd name="T12" fmla="*/ 6 w 22"/>
                <a:gd name="T13" fmla="*/ 0 h 32"/>
                <a:gd name="T14" fmla="*/ 6 w 22"/>
                <a:gd name="T1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" h="32">
                  <a:moveTo>
                    <a:pt x="6" y="0"/>
                  </a:moveTo>
                  <a:lnTo>
                    <a:pt x="0" y="0"/>
                  </a:lnTo>
                  <a:lnTo>
                    <a:pt x="0" y="32"/>
                  </a:lnTo>
                  <a:lnTo>
                    <a:pt x="22" y="32"/>
                  </a:lnTo>
                  <a:lnTo>
                    <a:pt x="22" y="28"/>
                  </a:lnTo>
                  <a:lnTo>
                    <a:pt x="6" y="28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" name="Freeform 17"/>
            <p:cNvSpPr>
              <a:spLocks/>
            </p:cNvSpPr>
            <p:nvPr userDrawn="1"/>
          </p:nvSpPr>
          <p:spPr bwMode="auto">
            <a:xfrm>
              <a:off x="7763846" y="798513"/>
              <a:ext cx="6361" cy="50800"/>
            </a:xfrm>
            <a:custGeom>
              <a:avLst/>
              <a:gdLst>
                <a:gd name="T0" fmla="*/ 0 w 4"/>
                <a:gd name="T1" fmla="*/ 32 h 32"/>
                <a:gd name="T2" fmla="*/ 4 w 4"/>
                <a:gd name="T3" fmla="*/ 32 h 32"/>
                <a:gd name="T4" fmla="*/ 4 w 4"/>
                <a:gd name="T5" fmla="*/ 0 h 32"/>
                <a:gd name="T6" fmla="*/ 0 w 4"/>
                <a:gd name="T7" fmla="*/ 0 h 32"/>
                <a:gd name="T8" fmla="*/ 0 w 4"/>
                <a:gd name="T9" fmla="*/ 32 h 32"/>
                <a:gd name="T10" fmla="*/ 0 w 4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32">
                  <a:moveTo>
                    <a:pt x="0" y="32"/>
                  </a:moveTo>
                  <a:lnTo>
                    <a:pt x="4" y="32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" name="Freeform 18"/>
            <p:cNvSpPr>
              <a:spLocks noEditPoints="1"/>
            </p:cNvSpPr>
            <p:nvPr userDrawn="1"/>
          </p:nvSpPr>
          <p:spPr bwMode="auto">
            <a:xfrm>
              <a:off x="7779749" y="798513"/>
              <a:ext cx="52480" cy="50800"/>
            </a:xfrm>
            <a:custGeom>
              <a:avLst/>
              <a:gdLst>
                <a:gd name="T0" fmla="*/ 19 w 33"/>
                <a:gd name="T1" fmla="*/ 0 h 32"/>
                <a:gd name="T2" fmla="*/ 13 w 33"/>
                <a:gd name="T3" fmla="*/ 0 h 32"/>
                <a:gd name="T4" fmla="*/ 0 w 33"/>
                <a:gd name="T5" fmla="*/ 32 h 32"/>
                <a:gd name="T6" fmla="*/ 6 w 33"/>
                <a:gd name="T7" fmla="*/ 32 h 32"/>
                <a:gd name="T8" fmla="*/ 7 w 33"/>
                <a:gd name="T9" fmla="*/ 26 h 32"/>
                <a:gd name="T10" fmla="*/ 25 w 33"/>
                <a:gd name="T11" fmla="*/ 26 h 32"/>
                <a:gd name="T12" fmla="*/ 27 w 33"/>
                <a:gd name="T13" fmla="*/ 32 h 32"/>
                <a:gd name="T14" fmla="*/ 33 w 33"/>
                <a:gd name="T15" fmla="*/ 32 h 32"/>
                <a:gd name="T16" fmla="*/ 19 w 33"/>
                <a:gd name="T17" fmla="*/ 0 h 32"/>
                <a:gd name="T18" fmla="*/ 19 w 33"/>
                <a:gd name="T19" fmla="*/ 0 h 32"/>
                <a:gd name="T20" fmla="*/ 19 w 33"/>
                <a:gd name="T21" fmla="*/ 0 h 32"/>
                <a:gd name="T22" fmla="*/ 23 w 33"/>
                <a:gd name="T23" fmla="*/ 20 h 32"/>
                <a:gd name="T24" fmla="*/ 9 w 33"/>
                <a:gd name="T25" fmla="*/ 20 h 32"/>
                <a:gd name="T26" fmla="*/ 17 w 33"/>
                <a:gd name="T27" fmla="*/ 6 h 32"/>
                <a:gd name="T28" fmla="*/ 23 w 33"/>
                <a:gd name="T29" fmla="*/ 20 h 32"/>
                <a:gd name="T30" fmla="*/ 23 w 33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3" h="32">
                  <a:moveTo>
                    <a:pt x="19" y="0"/>
                  </a:moveTo>
                  <a:lnTo>
                    <a:pt x="13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7" y="26"/>
                  </a:lnTo>
                  <a:lnTo>
                    <a:pt x="25" y="26"/>
                  </a:lnTo>
                  <a:lnTo>
                    <a:pt x="27" y="32"/>
                  </a:lnTo>
                  <a:lnTo>
                    <a:pt x="33" y="32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19" y="0"/>
                  </a:lnTo>
                  <a:close/>
                  <a:moveTo>
                    <a:pt x="23" y="20"/>
                  </a:moveTo>
                  <a:lnTo>
                    <a:pt x="9" y="20"/>
                  </a:lnTo>
                  <a:lnTo>
                    <a:pt x="17" y="6"/>
                  </a:lnTo>
                  <a:lnTo>
                    <a:pt x="23" y="20"/>
                  </a:lnTo>
                  <a:lnTo>
                    <a:pt x="23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" name="Freeform 19"/>
            <p:cNvSpPr>
              <a:spLocks/>
            </p:cNvSpPr>
            <p:nvPr userDrawn="1"/>
          </p:nvSpPr>
          <p:spPr bwMode="auto">
            <a:xfrm>
              <a:off x="7841771" y="798513"/>
              <a:ext cx="41348" cy="50800"/>
            </a:xfrm>
            <a:custGeom>
              <a:avLst/>
              <a:gdLst>
                <a:gd name="T0" fmla="*/ 22 w 26"/>
                <a:gd name="T1" fmla="*/ 22 h 32"/>
                <a:gd name="T2" fmla="*/ 2 w 26"/>
                <a:gd name="T3" fmla="*/ 0 h 32"/>
                <a:gd name="T4" fmla="*/ 0 w 26"/>
                <a:gd name="T5" fmla="*/ 0 h 32"/>
                <a:gd name="T6" fmla="*/ 0 w 26"/>
                <a:gd name="T7" fmla="*/ 32 h 32"/>
                <a:gd name="T8" fmla="*/ 4 w 26"/>
                <a:gd name="T9" fmla="*/ 32 h 32"/>
                <a:gd name="T10" fmla="*/ 4 w 26"/>
                <a:gd name="T11" fmla="*/ 10 h 32"/>
                <a:gd name="T12" fmla="*/ 22 w 26"/>
                <a:gd name="T13" fmla="*/ 32 h 32"/>
                <a:gd name="T14" fmla="*/ 26 w 26"/>
                <a:gd name="T15" fmla="*/ 32 h 32"/>
                <a:gd name="T16" fmla="*/ 26 w 26"/>
                <a:gd name="T17" fmla="*/ 0 h 32"/>
                <a:gd name="T18" fmla="*/ 22 w 26"/>
                <a:gd name="T19" fmla="*/ 0 h 32"/>
                <a:gd name="T20" fmla="*/ 22 w 26"/>
                <a:gd name="T21" fmla="*/ 22 h 32"/>
                <a:gd name="T22" fmla="*/ 22 w 26"/>
                <a:gd name="T23" fmla="*/ 2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6" h="32">
                  <a:moveTo>
                    <a:pt x="22" y="22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4" y="10"/>
                  </a:lnTo>
                  <a:lnTo>
                    <a:pt x="22" y="32"/>
                  </a:lnTo>
                  <a:lnTo>
                    <a:pt x="26" y="32"/>
                  </a:lnTo>
                  <a:lnTo>
                    <a:pt x="26" y="0"/>
                  </a:lnTo>
                  <a:lnTo>
                    <a:pt x="22" y="0"/>
                  </a:lnTo>
                  <a:lnTo>
                    <a:pt x="22" y="22"/>
                  </a:lnTo>
                  <a:lnTo>
                    <a:pt x="22" y="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" name="Freeform 20"/>
            <p:cNvSpPr>
              <a:spLocks/>
            </p:cNvSpPr>
            <p:nvPr userDrawn="1"/>
          </p:nvSpPr>
          <p:spPr bwMode="auto">
            <a:xfrm>
              <a:off x="7921286" y="795338"/>
              <a:ext cx="47709" cy="53975"/>
            </a:xfrm>
            <a:custGeom>
              <a:avLst/>
              <a:gdLst>
                <a:gd name="T0" fmla="*/ 13 w 15"/>
                <a:gd name="T1" fmla="*/ 13 h 17"/>
                <a:gd name="T2" fmla="*/ 9 w 15"/>
                <a:gd name="T3" fmla="*/ 15 h 17"/>
                <a:gd name="T4" fmla="*/ 3 w 15"/>
                <a:gd name="T5" fmla="*/ 9 h 17"/>
                <a:gd name="T6" fmla="*/ 9 w 15"/>
                <a:gd name="T7" fmla="*/ 3 h 17"/>
                <a:gd name="T8" fmla="*/ 13 w 15"/>
                <a:gd name="T9" fmla="*/ 5 h 17"/>
                <a:gd name="T10" fmla="*/ 13 w 15"/>
                <a:gd name="T11" fmla="*/ 5 h 17"/>
                <a:gd name="T12" fmla="*/ 15 w 15"/>
                <a:gd name="T13" fmla="*/ 3 h 17"/>
                <a:gd name="T14" fmla="*/ 15 w 15"/>
                <a:gd name="T15" fmla="*/ 3 h 17"/>
                <a:gd name="T16" fmla="*/ 9 w 15"/>
                <a:gd name="T17" fmla="*/ 0 h 17"/>
                <a:gd name="T18" fmla="*/ 2 w 15"/>
                <a:gd name="T19" fmla="*/ 3 h 17"/>
                <a:gd name="T20" fmla="*/ 0 w 15"/>
                <a:gd name="T21" fmla="*/ 9 h 17"/>
                <a:gd name="T22" fmla="*/ 9 w 15"/>
                <a:gd name="T23" fmla="*/ 17 h 17"/>
                <a:gd name="T24" fmla="*/ 15 w 15"/>
                <a:gd name="T25" fmla="*/ 15 h 17"/>
                <a:gd name="T26" fmla="*/ 15 w 15"/>
                <a:gd name="T27" fmla="*/ 15 h 17"/>
                <a:gd name="T28" fmla="*/ 13 w 15"/>
                <a:gd name="T29" fmla="*/ 13 h 17"/>
                <a:gd name="T30" fmla="*/ 13 w 15"/>
                <a:gd name="T31" fmla="*/ 13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" h="17">
                  <a:moveTo>
                    <a:pt x="13" y="13"/>
                  </a:moveTo>
                  <a:cubicBezTo>
                    <a:pt x="12" y="14"/>
                    <a:pt x="10" y="15"/>
                    <a:pt x="9" y="15"/>
                  </a:cubicBezTo>
                  <a:cubicBezTo>
                    <a:pt x="4" y="15"/>
                    <a:pt x="3" y="12"/>
                    <a:pt x="3" y="9"/>
                  </a:cubicBezTo>
                  <a:cubicBezTo>
                    <a:pt x="3" y="6"/>
                    <a:pt x="4" y="3"/>
                    <a:pt x="9" y="3"/>
                  </a:cubicBezTo>
                  <a:cubicBezTo>
                    <a:pt x="10" y="3"/>
                    <a:pt x="12" y="3"/>
                    <a:pt x="13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3" y="1"/>
                    <a:pt x="11" y="0"/>
                    <a:pt x="9" y="0"/>
                  </a:cubicBezTo>
                  <a:cubicBezTo>
                    <a:pt x="6" y="0"/>
                    <a:pt x="4" y="1"/>
                    <a:pt x="2" y="3"/>
                  </a:cubicBezTo>
                  <a:cubicBezTo>
                    <a:pt x="1" y="4"/>
                    <a:pt x="0" y="7"/>
                    <a:pt x="0" y="9"/>
                  </a:cubicBezTo>
                  <a:cubicBezTo>
                    <a:pt x="0" y="13"/>
                    <a:pt x="3" y="17"/>
                    <a:pt x="9" y="17"/>
                  </a:cubicBezTo>
                  <a:cubicBezTo>
                    <a:pt x="11" y="17"/>
                    <a:pt x="13" y="16"/>
                    <a:pt x="15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" name="Freeform 21"/>
            <p:cNvSpPr>
              <a:spLocks noEditPoints="1"/>
            </p:cNvSpPr>
            <p:nvPr userDrawn="1"/>
          </p:nvSpPr>
          <p:spPr bwMode="auto">
            <a:xfrm>
              <a:off x="7972176" y="798513"/>
              <a:ext cx="54070" cy="50800"/>
            </a:xfrm>
            <a:custGeom>
              <a:avLst/>
              <a:gdLst>
                <a:gd name="T0" fmla="*/ 20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6 w 34"/>
                <a:gd name="T7" fmla="*/ 32 h 32"/>
                <a:gd name="T8" fmla="*/ 8 w 34"/>
                <a:gd name="T9" fmla="*/ 26 h 32"/>
                <a:gd name="T10" fmla="*/ 26 w 34"/>
                <a:gd name="T11" fmla="*/ 26 h 32"/>
                <a:gd name="T12" fmla="*/ 28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20 w 34"/>
                <a:gd name="T19" fmla="*/ 0 h 32"/>
                <a:gd name="T20" fmla="*/ 20 w 34"/>
                <a:gd name="T21" fmla="*/ 0 h 32"/>
                <a:gd name="T22" fmla="*/ 24 w 34"/>
                <a:gd name="T23" fmla="*/ 20 h 32"/>
                <a:gd name="T24" fmla="*/ 10 w 34"/>
                <a:gd name="T25" fmla="*/ 20 h 32"/>
                <a:gd name="T26" fmla="*/ 16 w 34"/>
                <a:gd name="T27" fmla="*/ 6 h 32"/>
                <a:gd name="T28" fmla="*/ 24 w 34"/>
                <a:gd name="T29" fmla="*/ 20 h 32"/>
                <a:gd name="T30" fmla="*/ 24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20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8" y="26"/>
                  </a:lnTo>
                  <a:lnTo>
                    <a:pt x="26" y="26"/>
                  </a:lnTo>
                  <a:lnTo>
                    <a:pt x="28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20" y="0"/>
                  </a:lnTo>
                  <a:close/>
                  <a:moveTo>
                    <a:pt x="24" y="20"/>
                  </a:moveTo>
                  <a:lnTo>
                    <a:pt x="10" y="20"/>
                  </a:lnTo>
                  <a:lnTo>
                    <a:pt x="16" y="6"/>
                  </a:lnTo>
                  <a:lnTo>
                    <a:pt x="24" y="20"/>
                  </a:lnTo>
                  <a:lnTo>
                    <a:pt x="24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" name="Freeform 22"/>
            <p:cNvSpPr>
              <a:spLocks/>
            </p:cNvSpPr>
            <p:nvPr userDrawn="1"/>
          </p:nvSpPr>
          <p:spPr bwMode="auto">
            <a:xfrm>
              <a:off x="8023065" y="798513"/>
              <a:ext cx="44528" cy="50800"/>
            </a:xfrm>
            <a:custGeom>
              <a:avLst/>
              <a:gdLst>
                <a:gd name="T0" fmla="*/ 0 w 28"/>
                <a:gd name="T1" fmla="*/ 4 h 32"/>
                <a:gd name="T2" fmla="*/ 12 w 28"/>
                <a:gd name="T3" fmla="*/ 4 h 32"/>
                <a:gd name="T4" fmla="*/ 12 w 28"/>
                <a:gd name="T5" fmla="*/ 32 h 32"/>
                <a:gd name="T6" fmla="*/ 16 w 28"/>
                <a:gd name="T7" fmla="*/ 32 h 32"/>
                <a:gd name="T8" fmla="*/ 16 w 28"/>
                <a:gd name="T9" fmla="*/ 4 h 32"/>
                <a:gd name="T10" fmla="*/ 28 w 28"/>
                <a:gd name="T11" fmla="*/ 4 h 32"/>
                <a:gd name="T12" fmla="*/ 28 w 28"/>
                <a:gd name="T13" fmla="*/ 0 h 32"/>
                <a:gd name="T14" fmla="*/ 0 w 28"/>
                <a:gd name="T15" fmla="*/ 0 h 32"/>
                <a:gd name="T16" fmla="*/ 0 w 28"/>
                <a:gd name="T17" fmla="*/ 4 h 32"/>
                <a:gd name="T18" fmla="*/ 0 w 28"/>
                <a:gd name="T19" fmla="*/ 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" h="32">
                  <a:moveTo>
                    <a:pt x="0" y="4"/>
                  </a:moveTo>
                  <a:lnTo>
                    <a:pt x="12" y="4"/>
                  </a:lnTo>
                  <a:lnTo>
                    <a:pt x="12" y="32"/>
                  </a:lnTo>
                  <a:lnTo>
                    <a:pt x="16" y="32"/>
                  </a:lnTo>
                  <a:lnTo>
                    <a:pt x="16" y="4"/>
                  </a:lnTo>
                  <a:lnTo>
                    <a:pt x="28" y="4"/>
                  </a:lnTo>
                  <a:lnTo>
                    <a:pt x="28" y="0"/>
                  </a:lnTo>
                  <a:lnTo>
                    <a:pt x="0" y="0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" name="Freeform 23"/>
            <p:cNvSpPr>
              <a:spLocks/>
            </p:cNvSpPr>
            <p:nvPr userDrawn="1"/>
          </p:nvSpPr>
          <p:spPr bwMode="auto">
            <a:xfrm>
              <a:off x="8073955" y="798513"/>
              <a:ext cx="44528" cy="50800"/>
            </a:xfrm>
            <a:custGeom>
              <a:avLst/>
              <a:gdLst>
                <a:gd name="T0" fmla="*/ 22 w 28"/>
                <a:gd name="T1" fmla="*/ 12 h 32"/>
                <a:gd name="T2" fmla="*/ 6 w 28"/>
                <a:gd name="T3" fmla="*/ 12 h 32"/>
                <a:gd name="T4" fmla="*/ 6 w 28"/>
                <a:gd name="T5" fmla="*/ 0 h 32"/>
                <a:gd name="T6" fmla="*/ 0 w 28"/>
                <a:gd name="T7" fmla="*/ 0 h 32"/>
                <a:gd name="T8" fmla="*/ 0 w 28"/>
                <a:gd name="T9" fmla="*/ 32 h 32"/>
                <a:gd name="T10" fmla="*/ 6 w 28"/>
                <a:gd name="T11" fmla="*/ 32 h 32"/>
                <a:gd name="T12" fmla="*/ 6 w 28"/>
                <a:gd name="T13" fmla="*/ 18 h 32"/>
                <a:gd name="T14" fmla="*/ 22 w 28"/>
                <a:gd name="T15" fmla="*/ 18 h 32"/>
                <a:gd name="T16" fmla="*/ 22 w 28"/>
                <a:gd name="T17" fmla="*/ 32 h 32"/>
                <a:gd name="T18" fmla="*/ 28 w 28"/>
                <a:gd name="T19" fmla="*/ 32 h 32"/>
                <a:gd name="T20" fmla="*/ 28 w 28"/>
                <a:gd name="T21" fmla="*/ 0 h 32"/>
                <a:gd name="T22" fmla="*/ 22 w 28"/>
                <a:gd name="T23" fmla="*/ 0 h 32"/>
                <a:gd name="T24" fmla="*/ 22 w 28"/>
                <a:gd name="T25" fmla="*/ 12 h 32"/>
                <a:gd name="T26" fmla="*/ 22 w 28"/>
                <a:gd name="T27" fmla="*/ 1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" h="32">
                  <a:moveTo>
                    <a:pt x="22" y="12"/>
                  </a:moveTo>
                  <a:lnTo>
                    <a:pt x="6" y="1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6" y="18"/>
                  </a:lnTo>
                  <a:lnTo>
                    <a:pt x="22" y="18"/>
                  </a:lnTo>
                  <a:lnTo>
                    <a:pt x="22" y="32"/>
                  </a:lnTo>
                  <a:lnTo>
                    <a:pt x="28" y="32"/>
                  </a:lnTo>
                  <a:lnTo>
                    <a:pt x="28" y="0"/>
                  </a:lnTo>
                  <a:lnTo>
                    <a:pt x="22" y="0"/>
                  </a:lnTo>
                  <a:lnTo>
                    <a:pt x="22" y="12"/>
                  </a:lnTo>
                  <a:lnTo>
                    <a:pt x="22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" name="Freeform 24"/>
            <p:cNvSpPr>
              <a:spLocks noEditPoints="1"/>
            </p:cNvSpPr>
            <p:nvPr userDrawn="1"/>
          </p:nvSpPr>
          <p:spPr bwMode="auto">
            <a:xfrm>
              <a:off x="8128025" y="795338"/>
              <a:ext cx="50890" cy="53975"/>
            </a:xfrm>
            <a:custGeom>
              <a:avLst/>
              <a:gdLst>
                <a:gd name="T0" fmla="*/ 8 w 16"/>
                <a:gd name="T1" fmla="*/ 0 h 17"/>
                <a:gd name="T2" fmla="*/ 0 w 16"/>
                <a:gd name="T3" fmla="*/ 9 h 17"/>
                <a:gd name="T4" fmla="*/ 8 w 16"/>
                <a:gd name="T5" fmla="*/ 17 h 17"/>
                <a:gd name="T6" fmla="*/ 16 w 16"/>
                <a:gd name="T7" fmla="*/ 9 h 17"/>
                <a:gd name="T8" fmla="*/ 8 w 16"/>
                <a:gd name="T9" fmla="*/ 0 h 17"/>
                <a:gd name="T10" fmla="*/ 8 w 16"/>
                <a:gd name="T11" fmla="*/ 15 h 17"/>
                <a:gd name="T12" fmla="*/ 2 w 16"/>
                <a:gd name="T13" fmla="*/ 9 h 17"/>
                <a:gd name="T14" fmla="*/ 8 w 16"/>
                <a:gd name="T15" fmla="*/ 3 h 17"/>
                <a:gd name="T16" fmla="*/ 14 w 16"/>
                <a:gd name="T17" fmla="*/ 9 h 17"/>
                <a:gd name="T18" fmla="*/ 8 w 16"/>
                <a:gd name="T19" fmla="*/ 15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" h="17">
                  <a:moveTo>
                    <a:pt x="8" y="0"/>
                  </a:moveTo>
                  <a:cubicBezTo>
                    <a:pt x="3" y="0"/>
                    <a:pt x="0" y="4"/>
                    <a:pt x="0" y="9"/>
                  </a:cubicBezTo>
                  <a:cubicBezTo>
                    <a:pt x="0" y="13"/>
                    <a:pt x="2" y="17"/>
                    <a:pt x="8" y="17"/>
                  </a:cubicBezTo>
                  <a:cubicBezTo>
                    <a:pt x="14" y="17"/>
                    <a:pt x="16" y="13"/>
                    <a:pt x="16" y="9"/>
                  </a:cubicBezTo>
                  <a:cubicBezTo>
                    <a:pt x="16" y="5"/>
                    <a:pt x="14" y="0"/>
                    <a:pt x="8" y="0"/>
                  </a:cubicBezTo>
                  <a:close/>
                  <a:moveTo>
                    <a:pt x="8" y="15"/>
                  </a:moveTo>
                  <a:cubicBezTo>
                    <a:pt x="4" y="15"/>
                    <a:pt x="2" y="12"/>
                    <a:pt x="2" y="9"/>
                  </a:cubicBezTo>
                  <a:cubicBezTo>
                    <a:pt x="2" y="6"/>
                    <a:pt x="4" y="3"/>
                    <a:pt x="8" y="3"/>
                  </a:cubicBezTo>
                  <a:cubicBezTo>
                    <a:pt x="12" y="3"/>
                    <a:pt x="14" y="6"/>
                    <a:pt x="14" y="9"/>
                  </a:cubicBezTo>
                  <a:cubicBezTo>
                    <a:pt x="14" y="12"/>
                    <a:pt x="12" y="15"/>
                    <a:pt x="8" y="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" name="Freeform 25"/>
            <p:cNvSpPr>
              <a:spLocks/>
            </p:cNvSpPr>
            <p:nvPr userDrawn="1"/>
          </p:nvSpPr>
          <p:spPr bwMode="auto">
            <a:xfrm>
              <a:off x="8188456" y="798513"/>
              <a:ext cx="34987" cy="50800"/>
            </a:xfrm>
            <a:custGeom>
              <a:avLst/>
              <a:gdLst>
                <a:gd name="T0" fmla="*/ 6 w 22"/>
                <a:gd name="T1" fmla="*/ 0 h 32"/>
                <a:gd name="T2" fmla="*/ 0 w 22"/>
                <a:gd name="T3" fmla="*/ 0 h 32"/>
                <a:gd name="T4" fmla="*/ 0 w 22"/>
                <a:gd name="T5" fmla="*/ 32 h 32"/>
                <a:gd name="T6" fmla="*/ 22 w 22"/>
                <a:gd name="T7" fmla="*/ 32 h 32"/>
                <a:gd name="T8" fmla="*/ 22 w 22"/>
                <a:gd name="T9" fmla="*/ 28 h 32"/>
                <a:gd name="T10" fmla="*/ 6 w 22"/>
                <a:gd name="T11" fmla="*/ 28 h 32"/>
                <a:gd name="T12" fmla="*/ 6 w 22"/>
                <a:gd name="T13" fmla="*/ 0 h 32"/>
                <a:gd name="T14" fmla="*/ 6 w 22"/>
                <a:gd name="T1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" h="32">
                  <a:moveTo>
                    <a:pt x="6" y="0"/>
                  </a:moveTo>
                  <a:lnTo>
                    <a:pt x="0" y="0"/>
                  </a:lnTo>
                  <a:lnTo>
                    <a:pt x="0" y="32"/>
                  </a:lnTo>
                  <a:lnTo>
                    <a:pt x="22" y="32"/>
                  </a:lnTo>
                  <a:lnTo>
                    <a:pt x="22" y="28"/>
                  </a:lnTo>
                  <a:lnTo>
                    <a:pt x="6" y="28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" name="Freeform 26"/>
            <p:cNvSpPr>
              <a:spLocks/>
            </p:cNvSpPr>
            <p:nvPr userDrawn="1"/>
          </p:nvSpPr>
          <p:spPr bwMode="auto">
            <a:xfrm>
              <a:off x="8232985" y="798513"/>
              <a:ext cx="6361" cy="50800"/>
            </a:xfrm>
            <a:custGeom>
              <a:avLst/>
              <a:gdLst>
                <a:gd name="T0" fmla="*/ 0 w 4"/>
                <a:gd name="T1" fmla="*/ 32 h 32"/>
                <a:gd name="T2" fmla="*/ 4 w 4"/>
                <a:gd name="T3" fmla="*/ 32 h 32"/>
                <a:gd name="T4" fmla="*/ 4 w 4"/>
                <a:gd name="T5" fmla="*/ 0 h 32"/>
                <a:gd name="T6" fmla="*/ 0 w 4"/>
                <a:gd name="T7" fmla="*/ 0 h 32"/>
                <a:gd name="T8" fmla="*/ 0 w 4"/>
                <a:gd name="T9" fmla="*/ 32 h 32"/>
                <a:gd name="T10" fmla="*/ 0 w 4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32">
                  <a:moveTo>
                    <a:pt x="0" y="32"/>
                  </a:moveTo>
                  <a:lnTo>
                    <a:pt x="4" y="32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" name="Freeform 27"/>
            <p:cNvSpPr>
              <a:spLocks/>
            </p:cNvSpPr>
            <p:nvPr userDrawn="1"/>
          </p:nvSpPr>
          <p:spPr bwMode="auto">
            <a:xfrm>
              <a:off x="8248888" y="795338"/>
              <a:ext cx="47709" cy="53975"/>
            </a:xfrm>
            <a:custGeom>
              <a:avLst/>
              <a:gdLst>
                <a:gd name="T0" fmla="*/ 13 w 15"/>
                <a:gd name="T1" fmla="*/ 13 h 17"/>
                <a:gd name="T2" fmla="*/ 9 w 15"/>
                <a:gd name="T3" fmla="*/ 15 h 17"/>
                <a:gd name="T4" fmla="*/ 3 w 15"/>
                <a:gd name="T5" fmla="*/ 9 h 17"/>
                <a:gd name="T6" fmla="*/ 9 w 15"/>
                <a:gd name="T7" fmla="*/ 3 h 17"/>
                <a:gd name="T8" fmla="*/ 13 w 15"/>
                <a:gd name="T9" fmla="*/ 5 h 17"/>
                <a:gd name="T10" fmla="*/ 13 w 15"/>
                <a:gd name="T11" fmla="*/ 5 h 17"/>
                <a:gd name="T12" fmla="*/ 15 w 15"/>
                <a:gd name="T13" fmla="*/ 3 h 17"/>
                <a:gd name="T14" fmla="*/ 15 w 15"/>
                <a:gd name="T15" fmla="*/ 3 h 17"/>
                <a:gd name="T16" fmla="*/ 9 w 15"/>
                <a:gd name="T17" fmla="*/ 0 h 17"/>
                <a:gd name="T18" fmla="*/ 3 w 15"/>
                <a:gd name="T19" fmla="*/ 3 h 17"/>
                <a:gd name="T20" fmla="*/ 0 w 15"/>
                <a:gd name="T21" fmla="*/ 9 h 17"/>
                <a:gd name="T22" fmla="*/ 9 w 15"/>
                <a:gd name="T23" fmla="*/ 17 h 17"/>
                <a:gd name="T24" fmla="*/ 15 w 15"/>
                <a:gd name="T25" fmla="*/ 15 h 17"/>
                <a:gd name="T26" fmla="*/ 15 w 15"/>
                <a:gd name="T27" fmla="*/ 15 h 17"/>
                <a:gd name="T28" fmla="*/ 13 w 15"/>
                <a:gd name="T29" fmla="*/ 13 h 17"/>
                <a:gd name="T30" fmla="*/ 13 w 15"/>
                <a:gd name="T31" fmla="*/ 13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" h="17">
                  <a:moveTo>
                    <a:pt x="13" y="13"/>
                  </a:moveTo>
                  <a:cubicBezTo>
                    <a:pt x="12" y="14"/>
                    <a:pt x="10" y="15"/>
                    <a:pt x="9" y="15"/>
                  </a:cubicBezTo>
                  <a:cubicBezTo>
                    <a:pt x="5" y="15"/>
                    <a:pt x="3" y="12"/>
                    <a:pt x="3" y="9"/>
                  </a:cubicBezTo>
                  <a:cubicBezTo>
                    <a:pt x="3" y="6"/>
                    <a:pt x="5" y="3"/>
                    <a:pt x="9" y="3"/>
                  </a:cubicBezTo>
                  <a:cubicBezTo>
                    <a:pt x="10" y="3"/>
                    <a:pt x="12" y="3"/>
                    <a:pt x="13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3" y="1"/>
                    <a:pt x="11" y="0"/>
                    <a:pt x="9" y="0"/>
                  </a:cubicBezTo>
                  <a:cubicBezTo>
                    <a:pt x="6" y="0"/>
                    <a:pt x="4" y="1"/>
                    <a:pt x="3" y="3"/>
                  </a:cubicBezTo>
                  <a:cubicBezTo>
                    <a:pt x="1" y="4"/>
                    <a:pt x="0" y="7"/>
                    <a:pt x="0" y="9"/>
                  </a:cubicBezTo>
                  <a:cubicBezTo>
                    <a:pt x="0" y="13"/>
                    <a:pt x="3" y="17"/>
                    <a:pt x="9" y="17"/>
                  </a:cubicBezTo>
                  <a:cubicBezTo>
                    <a:pt x="11" y="17"/>
                    <a:pt x="13" y="16"/>
                    <a:pt x="15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" name="Freeform 28"/>
            <p:cNvSpPr>
              <a:spLocks/>
            </p:cNvSpPr>
            <p:nvPr userDrawn="1"/>
          </p:nvSpPr>
          <p:spPr bwMode="auto">
            <a:xfrm>
              <a:off x="8331584" y="798513"/>
              <a:ext cx="41348" cy="50800"/>
            </a:xfrm>
            <a:custGeom>
              <a:avLst/>
              <a:gdLst>
                <a:gd name="T0" fmla="*/ 11 w 13"/>
                <a:gd name="T1" fmla="*/ 9 h 16"/>
                <a:gd name="T2" fmla="*/ 7 w 13"/>
                <a:gd name="T3" fmla="*/ 14 h 16"/>
                <a:gd name="T4" fmla="*/ 2 w 13"/>
                <a:gd name="T5" fmla="*/ 9 h 16"/>
                <a:gd name="T6" fmla="*/ 2 w 13"/>
                <a:gd name="T7" fmla="*/ 0 h 16"/>
                <a:gd name="T8" fmla="*/ 0 w 13"/>
                <a:gd name="T9" fmla="*/ 0 h 16"/>
                <a:gd name="T10" fmla="*/ 0 w 13"/>
                <a:gd name="T11" fmla="*/ 9 h 16"/>
                <a:gd name="T12" fmla="*/ 7 w 13"/>
                <a:gd name="T13" fmla="*/ 16 h 16"/>
                <a:gd name="T14" fmla="*/ 13 w 13"/>
                <a:gd name="T15" fmla="*/ 9 h 16"/>
                <a:gd name="T16" fmla="*/ 13 w 13"/>
                <a:gd name="T17" fmla="*/ 0 h 16"/>
                <a:gd name="T18" fmla="*/ 11 w 13"/>
                <a:gd name="T19" fmla="*/ 0 h 16"/>
                <a:gd name="T20" fmla="*/ 11 w 13"/>
                <a:gd name="T21" fmla="*/ 9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3" h="16">
                  <a:moveTo>
                    <a:pt x="11" y="9"/>
                  </a:moveTo>
                  <a:cubicBezTo>
                    <a:pt x="11" y="12"/>
                    <a:pt x="9" y="14"/>
                    <a:pt x="7" y="14"/>
                  </a:cubicBezTo>
                  <a:cubicBezTo>
                    <a:pt x="5" y="14"/>
                    <a:pt x="2" y="12"/>
                    <a:pt x="2" y="9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3" y="16"/>
                    <a:pt x="7" y="16"/>
                  </a:cubicBezTo>
                  <a:cubicBezTo>
                    <a:pt x="10" y="16"/>
                    <a:pt x="13" y="14"/>
                    <a:pt x="13" y="9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9"/>
                    <a:pt x="11" y="9"/>
                    <a:pt x="11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" name="Freeform 29"/>
            <p:cNvSpPr>
              <a:spLocks/>
            </p:cNvSpPr>
            <p:nvPr userDrawn="1"/>
          </p:nvSpPr>
          <p:spPr bwMode="auto">
            <a:xfrm>
              <a:off x="8388834" y="798513"/>
              <a:ext cx="41348" cy="50800"/>
            </a:xfrm>
            <a:custGeom>
              <a:avLst/>
              <a:gdLst>
                <a:gd name="T0" fmla="*/ 20 w 26"/>
                <a:gd name="T1" fmla="*/ 22 h 32"/>
                <a:gd name="T2" fmla="*/ 2 w 26"/>
                <a:gd name="T3" fmla="*/ 0 h 32"/>
                <a:gd name="T4" fmla="*/ 0 w 26"/>
                <a:gd name="T5" fmla="*/ 0 h 32"/>
                <a:gd name="T6" fmla="*/ 0 w 26"/>
                <a:gd name="T7" fmla="*/ 32 h 32"/>
                <a:gd name="T8" fmla="*/ 4 w 26"/>
                <a:gd name="T9" fmla="*/ 32 h 32"/>
                <a:gd name="T10" fmla="*/ 4 w 26"/>
                <a:gd name="T11" fmla="*/ 10 h 32"/>
                <a:gd name="T12" fmla="*/ 22 w 26"/>
                <a:gd name="T13" fmla="*/ 32 h 32"/>
                <a:gd name="T14" fmla="*/ 26 w 26"/>
                <a:gd name="T15" fmla="*/ 32 h 32"/>
                <a:gd name="T16" fmla="*/ 26 w 26"/>
                <a:gd name="T17" fmla="*/ 0 h 32"/>
                <a:gd name="T18" fmla="*/ 20 w 26"/>
                <a:gd name="T19" fmla="*/ 0 h 32"/>
                <a:gd name="T20" fmla="*/ 20 w 26"/>
                <a:gd name="T21" fmla="*/ 22 h 32"/>
                <a:gd name="T22" fmla="*/ 20 w 26"/>
                <a:gd name="T23" fmla="*/ 2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6" h="32">
                  <a:moveTo>
                    <a:pt x="20" y="22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4" y="10"/>
                  </a:lnTo>
                  <a:lnTo>
                    <a:pt x="22" y="32"/>
                  </a:lnTo>
                  <a:lnTo>
                    <a:pt x="26" y="32"/>
                  </a:lnTo>
                  <a:lnTo>
                    <a:pt x="26" y="0"/>
                  </a:lnTo>
                  <a:lnTo>
                    <a:pt x="20" y="0"/>
                  </a:lnTo>
                  <a:lnTo>
                    <a:pt x="20" y="22"/>
                  </a:lnTo>
                  <a:lnTo>
                    <a:pt x="20" y="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" name="Freeform 30"/>
            <p:cNvSpPr>
              <a:spLocks/>
            </p:cNvSpPr>
            <p:nvPr userDrawn="1"/>
          </p:nvSpPr>
          <p:spPr bwMode="auto">
            <a:xfrm>
              <a:off x="8442905" y="798513"/>
              <a:ext cx="9542" cy="50800"/>
            </a:xfrm>
            <a:custGeom>
              <a:avLst/>
              <a:gdLst>
                <a:gd name="T0" fmla="*/ 0 w 6"/>
                <a:gd name="T1" fmla="*/ 32 h 32"/>
                <a:gd name="T2" fmla="*/ 6 w 6"/>
                <a:gd name="T3" fmla="*/ 32 h 32"/>
                <a:gd name="T4" fmla="*/ 6 w 6"/>
                <a:gd name="T5" fmla="*/ 0 h 32"/>
                <a:gd name="T6" fmla="*/ 0 w 6"/>
                <a:gd name="T7" fmla="*/ 0 h 32"/>
                <a:gd name="T8" fmla="*/ 0 w 6"/>
                <a:gd name="T9" fmla="*/ 32 h 32"/>
                <a:gd name="T10" fmla="*/ 0 w 6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32">
                  <a:moveTo>
                    <a:pt x="0" y="32"/>
                  </a:moveTo>
                  <a:lnTo>
                    <a:pt x="6" y="3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" name="Freeform 31"/>
            <p:cNvSpPr>
              <a:spLocks/>
            </p:cNvSpPr>
            <p:nvPr userDrawn="1"/>
          </p:nvSpPr>
          <p:spPr bwMode="auto">
            <a:xfrm>
              <a:off x="8461988" y="798513"/>
              <a:ext cx="50890" cy="50800"/>
            </a:xfrm>
            <a:custGeom>
              <a:avLst/>
              <a:gdLst>
                <a:gd name="T0" fmla="*/ 6 w 32"/>
                <a:gd name="T1" fmla="*/ 0 h 32"/>
                <a:gd name="T2" fmla="*/ 0 w 32"/>
                <a:gd name="T3" fmla="*/ 0 h 32"/>
                <a:gd name="T4" fmla="*/ 12 w 32"/>
                <a:gd name="T5" fmla="*/ 32 h 32"/>
                <a:gd name="T6" fmla="*/ 18 w 32"/>
                <a:gd name="T7" fmla="*/ 32 h 32"/>
                <a:gd name="T8" fmla="*/ 32 w 32"/>
                <a:gd name="T9" fmla="*/ 0 h 32"/>
                <a:gd name="T10" fmla="*/ 26 w 32"/>
                <a:gd name="T11" fmla="*/ 0 h 32"/>
                <a:gd name="T12" fmla="*/ 16 w 32"/>
                <a:gd name="T13" fmla="*/ 26 h 32"/>
                <a:gd name="T14" fmla="*/ 6 w 32"/>
                <a:gd name="T15" fmla="*/ 0 h 32"/>
                <a:gd name="T16" fmla="*/ 6 w 32"/>
                <a:gd name="T17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" h="32">
                  <a:moveTo>
                    <a:pt x="6" y="0"/>
                  </a:moveTo>
                  <a:lnTo>
                    <a:pt x="0" y="0"/>
                  </a:lnTo>
                  <a:lnTo>
                    <a:pt x="12" y="32"/>
                  </a:lnTo>
                  <a:lnTo>
                    <a:pt x="18" y="32"/>
                  </a:lnTo>
                  <a:lnTo>
                    <a:pt x="32" y="0"/>
                  </a:lnTo>
                  <a:lnTo>
                    <a:pt x="26" y="0"/>
                  </a:lnTo>
                  <a:lnTo>
                    <a:pt x="16" y="26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" name="Freeform 32"/>
            <p:cNvSpPr>
              <a:spLocks/>
            </p:cNvSpPr>
            <p:nvPr userDrawn="1"/>
          </p:nvSpPr>
          <p:spPr bwMode="auto">
            <a:xfrm>
              <a:off x="8519239" y="798513"/>
              <a:ext cx="38167" cy="50800"/>
            </a:xfrm>
            <a:custGeom>
              <a:avLst/>
              <a:gdLst>
                <a:gd name="T0" fmla="*/ 6 w 24"/>
                <a:gd name="T1" fmla="*/ 18 h 32"/>
                <a:gd name="T2" fmla="*/ 24 w 24"/>
                <a:gd name="T3" fmla="*/ 18 h 32"/>
                <a:gd name="T4" fmla="*/ 24 w 24"/>
                <a:gd name="T5" fmla="*/ 12 h 32"/>
                <a:gd name="T6" fmla="*/ 6 w 24"/>
                <a:gd name="T7" fmla="*/ 12 h 32"/>
                <a:gd name="T8" fmla="*/ 6 w 24"/>
                <a:gd name="T9" fmla="*/ 4 h 32"/>
                <a:gd name="T10" fmla="*/ 24 w 24"/>
                <a:gd name="T11" fmla="*/ 4 h 32"/>
                <a:gd name="T12" fmla="*/ 24 w 24"/>
                <a:gd name="T13" fmla="*/ 0 h 32"/>
                <a:gd name="T14" fmla="*/ 0 w 24"/>
                <a:gd name="T15" fmla="*/ 0 h 32"/>
                <a:gd name="T16" fmla="*/ 0 w 24"/>
                <a:gd name="T17" fmla="*/ 32 h 32"/>
                <a:gd name="T18" fmla="*/ 24 w 24"/>
                <a:gd name="T19" fmla="*/ 32 h 32"/>
                <a:gd name="T20" fmla="*/ 24 w 24"/>
                <a:gd name="T21" fmla="*/ 26 h 32"/>
                <a:gd name="T22" fmla="*/ 6 w 24"/>
                <a:gd name="T23" fmla="*/ 26 h 32"/>
                <a:gd name="T24" fmla="*/ 6 w 24"/>
                <a:gd name="T25" fmla="*/ 18 h 32"/>
                <a:gd name="T26" fmla="*/ 6 w 24"/>
                <a:gd name="T27" fmla="*/ 18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" h="32">
                  <a:moveTo>
                    <a:pt x="6" y="18"/>
                  </a:moveTo>
                  <a:lnTo>
                    <a:pt x="24" y="18"/>
                  </a:lnTo>
                  <a:lnTo>
                    <a:pt x="24" y="12"/>
                  </a:lnTo>
                  <a:lnTo>
                    <a:pt x="6" y="12"/>
                  </a:lnTo>
                  <a:lnTo>
                    <a:pt x="6" y="4"/>
                  </a:lnTo>
                  <a:lnTo>
                    <a:pt x="24" y="4"/>
                  </a:lnTo>
                  <a:lnTo>
                    <a:pt x="2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24" y="32"/>
                  </a:lnTo>
                  <a:lnTo>
                    <a:pt x="24" y="26"/>
                  </a:lnTo>
                  <a:lnTo>
                    <a:pt x="6" y="26"/>
                  </a:lnTo>
                  <a:lnTo>
                    <a:pt x="6" y="18"/>
                  </a:lnTo>
                  <a:lnTo>
                    <a:pt x="6" y="1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" name="Freeform 33"/>
            <p:cNvSpPr>
              <a:spLocks noEditPoints="1"/>
            </p:cNvSpPr>
            <p:nvPr userDrawn="1"/>
          </p:nvSpPr>
          <p:spPr bwMode="auto">
            <a:xfrm>
              <a:off x="8570129" y="798513"/>
              <a:ext cx="44528" cy="50800"/>
            </a:xfrm>
            <a:custGeom>
              <a:avLst/>
              <a:gdLst>
                <a:gd name="T0" fmla="*/ 13 w 14"/>
                <a:gd name="T1" fmla="*/ 5 h 16"/>
                <a:gd name="T2" fmla="*/ 7 w 14"/>
                <a:gd name="T3" fmla="*/ 0 h 16"/>
                <a:gd name="T4" fmla="*/ 0 w 14"/>
                <a:gd name="T5" fmla="*/ 0 h 16"/>
                <a:gd name="T6" fmla="*/ 0 w 14"/>
                <a:gd name="T7" fmla="*/ 16 h 16"/>
                <a:gd name="T8" fmla="*/ 2 w 14"/>
                <a:gd name="T9" fmla="*/ 16 h 16"/>
                <a:gd name="T10" fmla="*/ 2 w 14"/>
                <a:gd name="T11" fmla="*/ 10 h 16"/>
                <a:gd name="T12" fmla="*/ 6 w 14"/>
                <a:gd name="T13" fmla="*/ 10 h 16"/>
                <a:gd name="T14" fmla="*/ 11 w 14"/>
                <a:gd name="T15" fmla="*/ 16 h 16"/>
                <a:gd name="T16" fmla="*/ 14 w 14"/>
                <a:gd name="T17" fmla="*/ 16 h 16"/>
                <a:gd name="T18" fmla="*/ 9 w 14"/>
                <a:gd name="T19" fmla="*/ 10 h 16"/>
                <a:gd name="T20" fmla="*/ 13 w 14"/>
                <a:gd name="T21" fmla="*/ 5 h 16"/>
                <a:gd name="T22" fmla="*/ 2 w 14"/>
                <a:gd name="T23" fmla="*/ 2 h 16"/>
                <a:gd name="T24" fmla="*/ 7 w 14"/>
                <a:gd name="T25" fmla="*/ 2 h 16"/>
                <a:gd name="T26" fmla="*/ 10 w 14"/>
                <a:gd name="T27" fmla="*/ 5 h 16"/>
                <a:gd name="T28" fmla="*/ 7 w 14"/>
                <a:gd name="T29" fmla="*/ 8 h 16"/>
                <a:gd name="T30" fmla="*/ 2 w 14"/>
                <a:gd name="T31" fmla="*/ 8 h 16"/>
                <a:gd name="T32" fmla="*/ 2 w 14"/>
                <a:gd name="T33" fmla="*/ 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4" h="16">
                  <a:moveTo>
                    <a:pt x="13" y="5"/>
                  </a:moveTo>
                  <a:cubicBezTo>
                    <a:pt x="13" y="2"/>
                    <a:pt x="11" y="0"/>
                    <a:pt x="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11" y="10"/>
                    <a:pt x="13" y="8"/>
                    <a:pt x="13" y="5"/>
                  </a:cubicBezTo>
                  <a:close/>
                  <a:moveTo>
                    <a:pt x="2" y="2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9" y="2"/>
                    <a:pt x="10" y="4"/>
                    <a:pt x="10" y="5"/>
                  </a:cubicBezTo>
                  <a:cubicBezTo>
                    <a:pt x="10" y="6"/>
                    <a:pt x="9" y="8"/>
                    <a:pt x="7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2"/>
                    <a:pt x="2" y="2"/>
                    <a:pt x="2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" name="Freeform 34"/>
            <p:cNvSpPr>
              <a:spLocks/>
            </p:cNvSpPr>
            <p:nvPr userDrawn="1"/>
          </p:nvSpPr>
          <p:spPr bwMode="auto">
            <a:xfrm>
              <a:off x="8617838" y="795338"/>
              <a:ext cx="44528" cy="53975"/>
            </a:xfrm>
            <a:custGeom>
              <a:avLst/>
              <a:gdLst>
                <a:gd name="T0" fmla="*/ 8 w 14"/>
                <a:gd name="T1" fmla="*/ 7 h 17"/>
                <a:gd name="T2" fmla="*/ 4 w 14"/>
                <a:gd name="T3" fmla="*/ 5 h 17"/>
                <a:gd name="T4" fmla="*/ 7 w 14"/>
                <a:gd name="T5" fmla="*/ 3 h 17"/>
                <a:gd name="T6" fmla="*/ 12 w 14"/>
                <a:gd name="T7" fmla="*/ 5 h 17"/>
                <a:gd name="T8" fmla="*/ 12 w 14"/>
                <a:gd name="T9" fmla="*/ 5 h 17"/>
                <a:gd name="T10" fmla="*/ 14 w 14"/>
                <a:gd name="T11" fmla="*/ 4 h 17"/>
                <a:gd name="T12" fmla="*/ 14 w 14"/>
                <a:gd name="T13" fmla="*/ 3 h 17"/>
                <a:gd name="T14" fmla="*/ 7 w 14"/>
                <a:gd name="T15" fmla="*/ 0 h 17"/>
                <a:gd name="T16" fmla="*/ 2 w 14"/>
                <a:gd name="T17" fmla="*/ 2 h 17"/>
                <a:gd name="T18" fmla="*/ 1 w 14"/>
                <a:gd name="T19" fmla="*/ 5 h 17"/>
                <a:gd name="T20" fmla="*/ 7 w 14"/>
                <a:gd name="T21" fmla="*/ 10 h 17"/>
                <a:gd name="T22" fmla="*/ 12 w 14"/>
                <a:gd name="T23" fmla="*/ 12 h 17"/>
                <a:gd name="T24" fmla="*/ 7 w 14"/>
                <a:gd name="T25" fmla="*/ 15 h 17"/>
                <a:gd name="T26" fmla="*/ 3 w 14"/>
                <a:gd name="T27" fmla="*/ 12 h 17"/>
                <a:gd name="T28" fmla="*/ 2 w 14"/>
                <a:gd name="T29" fmla="*/ 12 h 17"/>
                <a:gd name="T30" fmla="*/ 0 w 14"/>
                <a:gd name="T31" fmla="*/ 13 h 17"/>
                <a:gd name="T32" fmla="*/ 0 w 14"/>
                <a:gd name="T33" fmla="*/ 14 h 17"/>
                <a:gd name="T34" fmla="*/ 7 w 14"/>
                <a:gd name="T35" fmla="*/ 17 h 17"/>
                <a:gd name="T36" fmla="*/ 14 w 14"/>
                <a:gd name="T37" fmla="*/ 12 h 17"/>
                <a:gd name="T38" fmla="*/ 8 w 14"/>
                <a:gd name="T39" fmla="*/ 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" h="17">
                  <a:moveTo>
                    <a:pt x="8" y="7"/>
                  </a:moveTo>
                  <a:cubicBezTo>
                    <a:pt x="5" y="7"/>
                    <a:pt x="4" y="6"/>
                    <a:pt x="4" y="5"/>
                  </a:cubicBezTo>
                  <a:cubicBezTo>
                    <a:pt x="4" y="4"/>
                    <a:pt x="5" y="3"/>
                    <a:pt x="7" y="3"/>
                  </a:cubicBezTo>
                  <a:cubicBezTo>
                    <a:pt x="9" y="3"/>
                    <a:pt x="11" y="3"/>
                    <a:pt x="12" y="5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2" y="1"/>
                    <a:pt x="10" y="0"/>
                    <a:pt x="7" y="0"/>
                  </a:cubicBezTo>
                  <a:cubicBezTo>
                    <a:pt x="6" y="0"/>
                    <a:pt x="3" y="1"/>
                    <a:pt x="2" y="2"/>
                  </a:cubicBezTo>
                  <a:cubicBezTo>
                    <a:pt x="1" y="3"/>
                    <a:pt x="1" y="4"/>
                    <a:pt x="1" y="5"/>
                  </a:cubicBezTo>
                  <a:cubicBezTo>
                    <a:pt x="1" y="9"/>
                    <a:pt x="5" y="9"/>
                    <a:pt x="7" y="10"/>
                  </a:cubicBezTo>
                  <a:cubicBezTo>
                    <a:pt x="10" y="10"/>
                    <a:pt x="12" y="11"/>
                    <a:pt x="12" y="12"/>
                  </a:cubicBezTo>
                  <a:cubicBezTo>
                    <a:pt x="12" y="15"/>
                    <a:pt x="8" y="15"/>
                    <a:pt x="7" y="15"/>
                  </a:cubicBezTo>
                  <a:cubicBezTo>
                    <a:pt x="6" y="15"/>
                    <a:pt x="4" y="14"/>
                    <a:pt x="3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2" y="16"/>
                    <a:pt x="4" y="17"/>
                    <a:pt x="7" y="17"/>
                  </a:cubicBezTo>
                  <a:cubicBezTo>
                    <a:pt x="11" y="17"/>
                    <a:pt x="14" y="16"/>
                    <a:pt x="14" y="12"/>
                  </a:cubicBezTo>
                  <a:cubicBezTo>
                    <a:pt x="14" y="9"/>
                    <a:pt x="11" y="8"/>
                    <a:pt x="8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" name="Freeform 35"/>
            <p:cNvSpPr>
              <a:spLocks/>
            </p:cNvSpPr>
            <p:nvPr userDrawn="1"/>
          </p:nvSpPr>
          <p:spPr bwMode="auto">
            <a:xfrm>
              <a:off x="8671908" y="798513"/>
              <a:ext cx="9542" cy="50800"/>
            </a:xfrm>
            <a:custGeom>
              <a:avLst/>
              <a:gdLst>
                <a:gd name="T0" fmla="*/ 0 w 6"/>
                <a:gd name="T1" fmla="*/ 32 h 32"/>
                <a:gd name="T2" fmla="*/ 6 w 6"/>
                <a:gd name="T3" fmla="*/ 32 h 32"/>
                <a:gd name="T4" fmla="*/ 6 w 6"/>
                <a:gd name="T5" fmla="*/ 0 h 32"/>
                <a:gd name="T6" fmla="*/ 0 w 6"/>
                <a:gd name="T7" fmla="*/ 0 h 32"/>
                <a:gd name="T8" fmla="*/ 0 w 6"/>
                <a:gd name="T9" fmla="*/ 32 h 32"/>
                <a:gd name="T10" fmla="*/ 0 w 6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32">
                  <a:moveTo>
                    <a:pt x="0" y="32"/>
                  </a:moveTo>
                  <a:lnTo>
                    <a:pt x="6" y="3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" name="Freeform 36"/>
            <p:cNvSpPr>
              <a:spLocks/>
            </p:cNvSpPr>
            <p:nvPr userDrawn="1"/>
          </p:nvSpPr>
          <p:spPr bwMode="auto">
            <a:xfrm>
              <a:off x="8690991" y="798513"/>
              <a:ext cx="84286" cy="50800"/>
            </a:xfrm>
            <a:custGeom>
              <a:avLst/>
              <a:gdLst>
                <a:gd name="T0" fmla="*/ 29 w 53"/>
                <a:gd name="T1" fmla="*/ 0 h 32"/>
                <a:gd name="T2" fmla="*/ 0 w 53"/>
                <a:gd name="T3" fmla="*/ 0 h 32"/>
                <a:gd name="T4" fmla="*/ 0 w 53"/>
                <a:gd name="T5" fmla="*/ 4 h 32"/>
                <a:gd name="T6" fmla="*/ 9 w 53"/>
                <a:gd name="T7" fmla="*/ 4 h 32"/>
                <a:gd name="T8" fmla="*/ 9 w 53"/>
                <a:gd name="T9" fmla="*/ 32 h 32"/>
                <a:gd name="T10" fmla="*/ 15 w 53"/>
                <a:gd name="T11" fmla="*/ 32 h 32"/>
                <a:gd name="T12" fmla="*/ 15 w 53"/>
                <a:gd name="T13" fmla="*/ 4 h 32"/>
                <a:gd name="T14" fmla="*/ 25 w 53"/>
                <a:gd name="T15" fmla="*/ 4 h 32"/>
                <a:gd name="T16" fmla="*/ 35 w 53"/>
                <a:gd name="T17" fmla="*/ 18 h 32"/>
                <a:gd name="T18" fmla="*/ 35 w 53"/>
                <a:gd name="T19" fmla="*/ 32 h 32"/>
                <a:gd name="T20" fmla="*/ 41 w 53"/>
                <a:gd name="T21" fmla="*/ 32 h 32"/>
                <a:gd name="T22" fmla="*/ 41 w 53"/>
                <a:gd name="T23" fmla="*/ 18 h 32"/>
                <a:gd name="T24" fmla="*/ 53 w 53"/>
                <a:gd name="T25" fmla="*/ 0 h 32"/>
                <a:gd name="T26" fmla="*/ 53 w 53"/>
                <a:gd name="T27" fmla="*/ 0 h 32"/>
                <a:gd name="T28" fmla="*/ 53 w 53"/>
                <a:gd name="T29" fmla="*/ 0 h 32"/>
                <a:gd name="T30" fmla="*/ 47 w 53"/>
                <a:gd name="T31" fmla="*/ 0 h 32"/>
                <a:gd name="T32" fmla="*/ 37 w 53"/>
                <a:gd name="T33" fmla="*/ 14 h 32"/>
                <a:gd name="T34" fmla="*/ 29 w 53"/>
                <a:gd name="T35" fmla="*/ 0 h 32"/>
                <a:gd name="T36" fmla="*/ 29 w 53"/>
                <a:gd name="T37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3" h="32">
                  <a:moveTo>
                    <a:pt x="29" y="0"/>
                  </a:moveTo>
                  <a:lnTo>
                    <a:pt x="0" y="0"/>
                  </a:lnTo>
                  <a:lnTo>
                    <a:pt x="0" y="4"/>
                  </a:lnTo>
                  <a:lnTo>
                    <a:pt x="9" y="4"/>
                  </a:lnTo>
                  <a:lnTo>
                    <a:pt x="9" y="32"/>
                  </a:lnTo>
                  <a:lnTo>
                    <a:pt x="15" y="32"/>
                  </a:lnTo>
                  <a:lnTo>
                    <a:pt x="15" y="4"/>
                  </a:lnTo>
                  <a:lnTo>
                    <a:pt x="25" y="4"/>
                  </a:lnTo>
                  <a:lnTo>
                    <a:pt x="35" y="18"/>
                  </a:lnTo>
                  <a:lnTo>
                    <a:pt x="35" y="32"/>
                  </a:lnTo>
                  <a:lnTo>
                    <a:pt x="41" y="32"/>
                  </a:lnTo>
                  <a:lnTo>
                    <a:pt x="41" y="18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47" y="0"/>
                  </a:lnTo>
                  <a:lnTo>
                    <a:pt x="37" y="14"/>
                  </a:lnTo>
                  <a:lnTo>
                    <a:pt x="29" y="0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" name="Freeform 37"/>
            <p:cNvSpPr>
              <a:spLocks/>
            </p:cNvSpPr>
            <p:nvPr userDrawn="1"/>
          </p:nvSpPr>
          <p:spPr bwMode="auto">
            <a:xfrm>
              <a:off x="8484252" y="371475"/>
              <a:ext cx="291025" cy="363538"/>
            </a:xfrm>
            <a:custGeom>
              <a:avLst/>
              <a:gdLst>
                <a:gd name="T0" fmla="*/ 92 w 92"/>
                <a:gd name="T1" fmla="*/ 0 h 115"/>
                <a:gd name="T2" fmla="*/ 92 w 92"/>
                <a:gd name="T3" fmla="*/ 71 h 115"/>
                <a:gd name="T4" fmla="*/ 49 w 92"/>
                <a:gd name="T5" fmla="*/ 115 h 115"/>
                <a:gd name="T6" fmla="*/ 0 w 92"/>
                <a:gd name="T7" fmla="*/ 70 h 115"/>
                <a:gd name="T8" fmla="*/ 0 w 92"/>
                <a:gd name="T9" fmla="*/ 0 h 115"/>
                <a:gd name="T10" fmla="*/ 22 w 92"/>
                <a:gd name="T11" fmla="*/ 0 h 115"/>
                <a:gd name="T12" fmla="*/ 22 w 92"/>
                <a:gd name="T13" fmla="*/ 72 h 115"/>
                <a:gd name="T14" fmla="*/ 50 w 92"/>
                <a:gd name="T15" fmla="*/ 105 h 115"/>
                <a:gd name="T16" fmla="*/ 79 w 92"/>
                <a:gd name="T17" fmla="*/ 73 h 115"/>
                <a:gd name="T18" fmla="*/ 79 w 92"/>
                <a:gd name="T19" fmla="*/ 0 h 115"/>
                <a:gd name="T20" fmla="*/ 92 w 92"/>
                <a:gd name="T21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2" h="115">
                  <a:moveTo>
                    <a:pt x="92" y="0"/>
                  </a:moveTo>
                  <a:cubicBezTo>
                    <a:pt x="92" y="71"/>
                    <a:pt x="92" y="71"/>
                    <a:pt x="92" y="71"/>
                  </a:cubicBezTo>
                  <a:cubicBezTo>
                    <a:pt x="92" y="109"/>
                    <a:pt x="62" y="115"/>
                    <a:pt x="49" y="115"/>
                  </a:cubicBezTo>
                  <a:cubicBezTo>
                    <a:pt x="25" y="115"/>
                    <a:pt x="0" y="107"/>
                    <a:pt x="0" y="7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72"/>
                    <a:pt x="22" y="72"/>
                    <a:pt x="22" y="72"/>
                  </a:cubicBezTo>
                  <a:cubicBezTo>
                    <a:pt x="22" y="93"/>
                    <a:pt x="32" y="105"/>
                    <a:pt x="50" y="105"/>
                  </a:cubicBezTo>
                  <a:cubicBezTo>
                    <a:pt x="66" y="105"/>
                    <a:pt x="79" y="95"/>
                    <a:pt x="79" y="73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92" y="0"/>
                    <a:pt x="92" y="0"/>
                    <a:pt x="9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" name="Freeform 38"/>
            <p:cNvSpPr>
              <a:spLocks/>
            </p:cNvSpPr>
            <p:nvPr userDrawn="1"/>
          </p:nvSpPr>
          <p:spPr bwMode="auto">
            <a:xfrm>
              <a:off x="8096219" y="365125"/>
              <a:ext cx="337144" cy="369888"/>
            </a:xfrm>
            <a:custGeom>
              <a:avLst/>
              <a:gdLst>
                <a:gd name="T0" fmla="*/ 61 w 106"/>
                <a:gd name="T1" fmla="*/ 117 h 117"/>
                <a:gd name="T2" fmla="*/ 0 w 106"/>
                <a:gd name="T3" fmla="*/ 60 h 117"/>
                <a:gd name="T4" fmla="*/ 63 w 106"/>
                <a:gd name="T5" fmla="*/ 0 h 117"/>
                <a:gd name="T6" fmla="*/ 97 w 106"/>
                <a:gd name="T7" fmla="*/ 13 h 117"/>
                <a:gd name="T8" fmla="*/ 106 w 106"/>
                <a:gd name="T9" fmla="*/ 28 h 117"/>
                <a:gd name="T10" fmla="*/ 94 w 106"/>
                <a:gd name="T11" fmla="*/ 39 h 117"/>
                <a:gd name="T12" fmla="*/ 83 w 106"/>
                <a:gd name="T13" fmla="*/ 28 h 117"/>
                <a:gd name="T14" fmla="*/ 86 w 106"/>
                <a:gd name="T15" fmla="*/ 20 h 117"/>
                <a:gd name="T16" fmla="*/ 63 w 106"/>
                <a:gd name="T17" fmla="*/ 10 h 117"/>
                <a:gd name="T18" fmla="*/ 21 w 106"/>
                <a:gd name="T19" fmla="*/ 58 h 117"/>
                <a:gd name="T20" fmla="*/ 65 w 106"/>
                <a:gd name="T21" fmla="*/ 108 h 117"/>
                <a:gd name="T22" fmla="*/ 102 w 106"/>
                <a:gd name="T23" fmla="*/ 93 h 117"/>
                <a:gd name="T24" fmla="*/ 106 w 106"/>
                <a:gd name="T25" fmla="*/ 99 h 117"/>
                <a:gd name="T26" fmla="*/ 61 w 106"/>
                <a:gd name="T27" fmla="*/ 117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6" h="117">
                  <a:moveTo>
                    <a:pt x="61" y="117"/>
                  </a:moveTo>
                  <a:cubicBezTo>
                    <a:pt x="23" y="117"/>
                    <a:pt x="0" y="91"/>
                    <a:pt x="0" y="60"/>
                  </a:cubicBezTo>
                  <a:cubicBezTo>
                    <a:pt x="0" y="29"/>
                    <a:pt x="24" y="0"/>
                    <a:pt x="63" y="0"/>
                  </a:cubicBezTo>
                  <a:cubicBezTo>
                    <a:pt x="74" y="0"/>
                    <a:pt x="88" y="4"/>
                    <a:pt x="97" y="13"/>
                  </a:cubicBezTo>
                  <a:cubicBezTo>
                    <a:pt x="102" y="16"/>
                    <a:pt x="106" y="23"/>
                    <a:pt x="106" y="28"/>
                  </a:cubicBezTo>
                  <a:cubicBezTo>
                    <a:pt x="106" y="34"/>
                    <a:pt x="101" y="39"/>
                    <a:pt x="94" y="39"/>
                  </a:cubicBezTo>
                  <a:cubicBezTo>
                    <a:pt x="88" y="39"/>
                    <a:pt x="83" y="34"/>
                    <a:pt x="83" y="28"/>
                  </a:cubicBezTo>
                  <a:cubicBezTo>
                    <a:pt x="83" y="25"/>
                    <a:pt x="84" y="22"/>
                    <a:pt x="86" y="20"/>
                  </a:cubicBezTo>
                  <a:cubicBezTo>
                    <a:pt x="81" y="14"/>
                    <a:pt x="71" y="10"/>
                    <a:pt x="63" y="10"/>
                  </a:cubicBezTo>
                  <a:cubicBezTo>
                    <a:pt x="36" y="10"/>
                    <a:pt x="21" y="35"/>
                    <a:pt x="21" y="58"/>
                  </a:cubicBezTo>
                  <a:cubicBezTo>
                    <a:pt x="21" y="85"/>
                    <a:pt x="38" y="108"/>
                    <a:pt x="65" y="108"/>
                  </a:cubicBezTo>
                  <a:cubicBezTo>
                    <a:pt x="79" y="108"/>
                    <a:pt x="90" y="102"/>
                    <a:pt x="102" y="93"/>
                  </a:cubicBezTo>
                  <a:cubicBezTo>
                    <a:pt x="106" y="99"/>
                    <a:pt x="106" y="99"/>
                    <a:pt x="106" y="99"/>
                  </a:cubicBezTo>
                  <a:cubicBezTo>
                    <a:pt x="94" y="111"/>
                    <a:pt x="77" y="117"/>
                    <a:pt x="61" y="1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" name="Freeform 39"/>
            <p:cNvSpPr>
              <a:spLocks noEditPoints="1"/>
            </p:cNvSpPr>
            <p:nvPr userDrawn="1"/>
          </p:nvSpPr>
          <p:spPr bwMode="auto">
            <a:xfrm>
              <a:off x="7760666" y="371475"/>
              <a:ext cx="329192" cy="357188"/>
            </a:xfrm>
            <a:custGeom>
              <a:avLst/>
              <a:gdLst>
                <a:gd name="T0" fmla="*/ 163 w 207"/>
                <a:gd name="T1" fmla="*/ 225 h 225"/>
                <a:gd name="T2" fmla="*/ 207 w 207"/>
                <a:gd name="T3" fmla="*/ 225 h 225"/>
                <a:gd name="T4" fmla="*/ 119 w 207"/>
                <a:gd name="T5" fmla="*/ 0 h 225"/>
                <a:gd name="T6" fmla="*/ 85 w 207"/>
                <a:gd name="T7" fmla="*/ 0 h 225"/>
                <a:gd name="T8" fmla="*/ 0 w 207"/>
                <a:gd name="T9" fmla="*/ 225 h 225"/>
                <a:gd name="T10" fmla="*/ 21 w 207"/>
                <a:gd name="T11" fmla="*/ 225 h 225"/>
                <a:gd name="T12" fmla="*/ 47 w 207"/>
                <a:gd name="T13" fmla="*/ 161 h 225"/>
                <a:gd name="T14" fmla="*/ 139 w 207"/>
                <a:gd name="T15" fmla="*/ 161 h 225"/>
                <a:gd name="T16" fmla="*/ 163 w 207"/>
                <a:gd name="T17" fmla="*/ 225 h 225"/>
                <a:gd name="T18" fmla="*/ 163 w 207"/>
                <a:gd name="T19" fmla="*/ 225 h 225"/>
                <a:gd name="T20" fmla="*/ 53 w 207"/>
                <a:gd name="T21" fmla="*/ 141 h 225"/>
                <a:gd name="T22" fmla="*/ 93 w 207"/>
                <a:gd name="T23" fmla="*/ 36 h 225"/>
                <a:gd name="T24" fmla="*/ 133 w 207"/>
                <a:gd name="T25" fmla="*/ 141 h 225"/>
                <a:gd name="T26" fmla="*/ 53 w 207"/>
                <a:gd name="T27" fmla="*/ 141 h 225"/>
                <a:gd name="T28" fmla="*/ 53 w 207"/>
                <a:gd name="T29" fmla="*/ 14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07" h="225">
                  <a:moveTo>
                    <a:pt x="163" y="225"/>
                  </a:moveTo>
                  <a:lnTo>
                    <a:pt x="207" y="225"/>
                  </a:lnTo>
                  <a:lnTo>
                    <a:pt x="119" y="0"/>
                  </a:lnTo>
                  <a:lnTo>
                    <a:pt x="85" y="0"/>
                  </a:lnTo>
                  <a:lnTo>
                    <a:pt x="0" y="225"/>
                  </a:lnTo>
                  <a:lnTo>
                    <a:pt x="21" y="225"/>
                  </a:lnTo>
                  <a:lnTo>
                    <a:pt x="47" y="161"/>
                  </a:lnTo>
                  <a:lnTo>
                    <a:pt x="139" y="161"/>
                  </a:lnTo>
                  <a:lnTo>
                    <a:pt x="163" y="225"/>
                  </a:lnTo>
                  <a:lnTo>
                    <a:pt x="163" y="225"/>
                  </a:lnTo>
                  <a:close/>
                  <a:moveTo>
                    <a:pt x="53" y="141"/>
                  </a:moveTo>
                  <a:lnTo>
                    <a:pt x="93" y="36"/>
                  </a:lnTo>
                  <a:lnTo>
                    <a:pt x="133" y="141"/>
                  </a:lnTo>
                  <a:lnTo>
                    <a:pt x="53" y="141"/>
                  </a:lnTo>
                  <a:lnTo>
                    <a:pt x="53" y="14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78878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/>
          <p:cNvSpPr/>
          <p:nvPr userDrawn="1"/>
        </p:nvSpPr>
        <p:spPr>
          <a:xfrm>
            <a:off x="0" y="-3175"/>
            <a:ext cx="9142413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5" name="AutoShape 3"/>
          <p:cNvSpPr>
            <a:spLocks noChangeAspect="1" noChangeArrowheads="1" noTextEdit="1"/>
          </p:cNvSpPr>
          <p:nvPr userDrawn="1"/>
        </p:nvSpPr>
        <p:spPr bwMode="auto">
          <a:xfrm>
            <a:off x="0" y="0"/>
            <a:ext cx="9144227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Freeform 5"/>
          <p:cNvSpPr>
            <a:spLocks/>
          </p:cNvSpPr>
          <p:nvPr userDrawn="1"/>
        </p:nvSpPr>
        <p:spPr bwMode="auto">
          <a:xfrm>
            <a:off x="0" y="457200"/>
            <a:ext cx="4572114" cy="6388100"/>
          </a:xfrm>
          <a:custGeom>
            <a:avLst/>
            <a:gdLst>
              <a:gd name="T0" fmla="*/ 2875 w 2875"/>
              <a:gd name="T1" fmla="*/ 0 h 4024"/>
              <a:gd name="T2" fmla="*/ 2875 w 2875"/>
              <a:gd name="T3" fmla="*/ 4024 h 4024"/>
              <a:gd name="T4" fmla="*/ 0 w 2875"/>
              <a:gd name="T5" fmla="*/ 4024 h 4024"/>
              <a:gd name="T6" fmla="*/ 0 w 2875"/>
              <a:gd name="T7" fmla="*/ 0 h 4024"/>
              <a:gd name="T8" fmla="*/ 2875 w 2875"/>
              <a:gd name="T9" fmla="*/ 0 h 4024"/>
              <a:gd name="T10" fmla="*/ 2875 w 2875"/>
              <a:gd name="T11" fmla="*/ 0 h 4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875" h="4024">
                <a:moveTo>
                  <a:pt x="2875" y="0"/>
                </a:moveTo>
                <a:lnTo>
                  <a:pt x="2875" y="4024"/>
                </a:lnTo>
                <a:lnTo>
                  <a:pt x="0" y="4024"/>
                </a:lnTo>
                <a:lnTo>
                  <a:pt x="0" y="0"/>
                </a:lnTo>
                <a:lnTo>
                  <a:pt x="2875" y="0"/>
                </a:lnTo>
                <a:lnTo>
                  <a:pt x="2875" y="0"/>
                </a:lnTo>
                <a:close/>
              </a:path>
            </a:pathLst>
          </a:custGeom>
          <a:solidFill>
            <a:srgbClr val="8C857B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Freeform 6"/>
          <p:cNvSpPr>
            <a:spLocks/>
          </p:cNvSpPr>
          <p:nvPr userDrawn="1"/>
        </p:nvSpPr>
        <p:spPr bwMode="auto">
          <a:xfrm>
            <a:off x="4572114" y="-3175"/>
            <a:ext cx="4572114" cy="6858000"/>
          </a:xfrm>
          <a:custGeom>
            <a:avLst/>
            <a:gdLst>
              <a:gd name="T0" fmla="*/ 2875 w 2875"/>
              <a:gd name="T1" fmla="*/ 0 h 4320"/>
              <a:gd name="T2" fmla="*/ 2875 w 2875"/>
              <a:gd name="T3" fmla="*/ 4030 h 4320"/>
              <a:gd name="T4" fmla="*/ 290 w 2875"/>
              <a:gd name="T5" fmla="*/ 4030 h 4320"/>
              <a:gd name="T6" fmla="*/ 0 w 2875"/>
              <a:gd name="T7" fmla="*/ 4320 h 4320"/>
              <a:gd name="T8" fmla="*/ 0 w 2875"/>
              <a:gd name="T9" fmla="*/ 290 h 4320"/>
              <a:gd name="T10" fmla="*/ 290 w 2875"/>
              <a:gd name="T11" fmla="*/ 0 h 4320"/>
              <a:gd name="T12" fmla="*/ 2875 w 2875"/>
              <a:gd name="T13" fmla="*/ 0 h 4320"/>
              <a:gd name="T14" fmla="*/ 2875 w 2875"/>
              <a:gd name="T15" fmla="*/ 0 h 4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875" h="4320">
                <a:moveTo>
                  <a:pt x="2875" y="0"/>
                </a:moveTo>
                <a:lnTo>
                  <a:pt x="2875" y="4030"/>
                </a:lnTo>
                <a:lnTo>
                  <a:pt x="290" y="4030"/>
                </a:lnTo>
                <a:lnTo>
                  <a:pt x="0" y="4320"/>
                </a:lnTo>
                <a:lnTo>
                  <a:pt x="0" y="290"/>
                </a:lnTo>
                <a:lnTo>
                  <a:pt x="290" y="0"/>
                </a:lnTo>
                <a:lnTo>
                  <a:pt x="2875" y="0"/>
                </a:lnTo>
                <a:lnTo>
                  <a:pt x="2875" y="0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" name="Group 1"/>
          <p:cNvGrpSpPr/>
          <p:nvPr userDrawn="1"/>
        </p:nvGrpSpPr>
        <p:grpSpPr>
          <a:xfrm>
            <a:off x="7401258" y="365125"/>
            <a:ext cx="1374019" cy="484188"/>
            <a:chOff x="7401258" y="365125"/>
            <a:chExt cx="1374019" cy="484188"/>
          </a:xfrm>
        </p:grpSpPr>
        <p:sp>
          <p:nvSpPr>
            <p:cNvPr id="48" name="Freeform 7"/>
            <p:cNvSpPr>
              <a:spLocks/>
            </p:cNvSpPr>
            <p:nvPr userDrawn="1"/>
          </p:nvSpPr>
          <p:spPr bwMode="auto">
            <a:xfrm>
              <a:off x="7401258" y="371475"/>
              <a:ext cx="289435" cy="369888"/>
            </a:xfrm>
            <a:custGeom>
              <a:avLst/>
              <a:gdLst>
                <a:gd name="T0" fmla="*/ 91 w 91"/>
                <a:gd name="T1" fmla="*/ 0 h 117"/>
                <a:gd name="T2" fmla="*/ 91 w 91"/>
                <a:gd name="T3" fmla="*/ 51 h 117"/>
                <a:gd name="T4" fmla="*/ 46 w 91"/>
                <a:gd name="T5" fmla="*/ 117 h 117"/>
                <a:gd name="T6" fmla="*/ 0 w 91"/>
                <a:gd name="T7" fmla="*/ 51 h 117"/>
                <a:gd name="T8" fmla="*/ 0 w 91"/>
                <a:gd name="T9" fmla="*/ 0 h 117"/>
                <a:gd name="T10" fmla="*/ 91 w 91"/>
                <a:gd name="T11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1" h="117">
                  <a:moveTo>
                    <a:pt x="91" y="0"/>
                  </a:moveTo>
                  <a:cubicBezTo>
                    <a:pt x="91" y="51"/>
                    <a:pt x="91" y="51"/>
                    <a:pt x="91" y="51"/>
                  </a:cubicBezTo>
                  <a:cubicBezTo>
                    <a:pt x="91" y="77"/>
                    <a:pt x="74" y="105"/>
                    <a:pt x="46" y="117"/>
                  </a:cubicBezTo>
                  <a:cubicBezTo>
                    <a:pt x="18" y="105"/>
                    <a:pt x="0" y="77"/>
                    <a:pt x="0" y="5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91" y="0"/>
                    <a:pt x="91" y="0"/>
                    <a:pt x="91" y="0"/>
                  </a:cubicBezTo>
                  <a:close/>
                </a:path>
              </a:pathLst>
            </a:custGeom>
            <a:solidFill>
              <a:srgbClr val="E2231A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Freeform 8"/>
            <p:cNvSpPr>
              <a:spLocks/>
            </p:cNvSpPr>
            <p:nvPr userDrawn="1"/>
          </p:nvSpPr>
          <p:spPr bwMode="auto">
            <a:xfrm>
              <a:off x="7455328" y="415925"/>
              <a:ext cx="181294" cy="236538"/>
            </a:xfrm>
            <a:custGeom>
              <a:avLst/>
              <a:gdLst>
                <a:gd name="T0" fmla="*/ 0 w 114"/>
                <a:gd name="T1" fmla="*/ 74 h 149"/>
                <a:gd name="T2" fmla="*/ 58 w 114"/>
                <a:gd name="T3" fmla="*/ 0 h 149"/>
                <a:gd name="T4" fmla="*/ 114 w 114"/>
                <a:gd name="T5" fmla="*/ 74 h 149"/>
                <a:gd name="T6" fmla="*/ 58 w 114"/>
                <a:gd name="T7" fmla="*/ 149 h 149"/>
                <a:gd name="T8" fmla="*/ 0 w 114"/>
                <a:gd name="T9" fmla="*/ 74 h 149"/>
                <a:gd name="T10" fmla="*/ 0 w 114"/>
                <a:gd name="T11" fmla="*/ 74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4" h="149">
                  <a:moveTo>
                    <a:pt x="0" y="74"/>
                  </a:moveTo>
                  <a:lnTo>
                    <a:pt x="58" y="0"/>
                  </a:lnTo>
                  <a:lnTo>
                    <a:pt x="114" y="74"/>
                  </a:lnTo>
                  <a:lnTo>
                    <a:pt x="58" y="149"/>
                  </a:lnTo>
                  <a:lnTo>
                    <a:pt x="0" y="74"/>
                  </a:lnTo>
                  <a:lnTo>
                    <a:pt x="0" y="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" name="Freeform 9"/>
            <p:cNvSpPr>
              <a:spLocks/>
            </p:cNvSpPr>
            <p:nvPr userDrawn="1"/>
          </p:nvSpPr>
          <p:spPr bwMode="auto">
            <a:xfrm>
              <a:off x="7480773" y="466725"/>
              <a:ext cx="130405" cy="153988"/>
            </a:xfrm>
            <a:custGeom>
              <a:avLst/>
              <a:gdLst>
                <a:gd name="T0" fmla="*/ 18 w 41"/>
                <a:gd name="T1" fmla="*/ 26 h 49"/>
                <a:gd name="T2" fmla="*/ 21 w 41"/>
                <a:gd name="T3" fmla="*/ 49 h 49"/>
                <a:gd name="T4" fmla="*/ 21 w 41"/>
                <a:gd name="T5" fmla="*/ 49 h 49"/>
                <a:gd name="T6" fmla="*/ 21 w 41"/>
                <a:gd name="T7" fmla="*/ 49 h 49"/>
                <a:gd name="T8" fmla="*/ 23 w 41"/>
                <a:gd name="T9" fmla="*/ 26 h 49"/>
                <a:gd name="T10" fmla="*/ 23 w 41"/>
                <a:gd name="T11" fmla="*/ 24 h 49"/>
                <a:gd name="T12" fmla="*/ 32 w 41"/>
                <a:gd name="T13" fmla="*/ 24 h 49"/>
                <a:gd name="T14" fmla="*/ 32 w 41"/>
                <a:gd name="T15" fmla="*/ 25 h 49"/>
                <a:gd name="T16" fmla="*/ 35 w 41"/>
                <a:gd name="T17" fmla="*/ 28 h 49"/>
                <a:gd name="T18" fmla="*/ 37 w 41"/>
                <a:gd name="T19" fmla="*/ 25 h 49"/>
                <a:gd name="T20" fmla="*/ 37 w 41"/>
                <a:gd name="T21" fmla="*/ 24 h 49"/>
                <a:gd name="T22" fmla="*/ 38 w 41"/>
                <a:gd name="T23" fmla="*/ 24 h 49"/>
                <a:gd name="T24" fmla="*/ 41 w 41"/>
                <a:gd name="T25" fmla="*/ 21 h 49"/>
                <a:gd name="T26" fmla="*/ 38 w 41"/>
                <a:gd name="T27" fmla="*/ 19 h 49"/>
                <a:gd name="T28" fmla="*/ 37 w 41"/>
                <a:gd name="T29" fmla="*/ 19 h 49"/>
                <a:gd name="T30" fmla="*/ 37 w 41"/>
                <a:gd name="T31" fmla="*/ 18 h 49"/>
                <a:gd name="T32" fmla="*/ 35 w 41"/>
                <a:gd name="T33" fmla="*/ 15 h 49"/>
                <a:gd name="T34" fmla="*/ 32 w 41"/>
                <a:gd name="T35" fmla="*/ 18 h 49"/>
                <a:gd name="T36" fmla="*/ 32 w 41"/>
                <a:gd name="T37" fmla="*/ 19 h 49"/>
                <a:gd name="T38" fmla="*/ 23 w 41"/>
                <a:gd name="T39" fmla="*/ 19 h 49"/>
                <a:gd name="T40" fmla="*/ 23 w 41"/>
                <a:gd name="T41" fmla="*/ 9 h 49"/>
                <a:gd name="T42" fmla="*/ 24 w 41"/>
                <a:gd name="T43" fmla="*/ 9 h 49"/>
                <a:gd name="T44" fmla="*/ 27 w 41"/>
                <a:gd name="T45" fmla="*/ 6 h 49"/>
                <a:gd name="T46" fmla="*/ 24 w 41"/>
                <a:gd name="T47" fmla="*/ 3 h 49"/>
                <a:gd name="T48" fmla="*/ 23 w 41"/>
                <a:gd name="T49" fmla="*/ 3 h 49"/>
                <a:gd name="T50" fmla="*/ 23 w 41"/>
                <a:gd name="T51" fmla="*/ 3 h 49"/>
                <a:gd name="T52" fmla="*/ 21 w 41"/>
                <a:gd name="T53" fmla="*/ 0 h 49"/>
                <a:gd name="T54" fmla="*/ 18 w 41"/>
                <a:gd name="T55" fmla="*/ 3 h 49"/>
                <a:gd name="T56" fmla="*/ 18 w 41"/>
                <a:gd name="T57" fmla="*/ 3 h 49"/>
                <a:gd name="T58" fmla="*/ 17 w 41"/>
                <a:gd name="T59" fmla="*/ 3 h 49"/>
                <a:gd name="T60" fmla="*/ 14 w 41"/>
                <a:gd name="T61" fmla="*/ 6 h 49"/>
                <a:gd name="T62" fmla="*/ 17 w 41"/>
                <a:gd name="T63" fmla="*/ 9 h 49"/>
                <a:gd name="T64" fmla="*/ 18 w 41"/>
                <a:gd name="T65" fmla="*/ 9 h 49"/>
                <a:gd name="T66" fmla="*/ 18 w 41"/>
                <a:gd name="T67" fmla="*/ 19 h 49"/>
                <a:gd name="T68" fmla="*/ 18 w 41"/>
                <a:gd name="T69" fmla="*/ 19 h 49"/>
                <a:gd name="T70" fmla="*/ 10 w 41"/>
                <a:gd name="T71" fmla="*/ 19 h 49"/>
                <a:gd name="T72" fmla="*/ 10 w 41"/>
                <a:gd name="T73" fmla="*/ 18 h 49"/>
                <a:gd name="T74" fmla="*/ 7 w 41"/>
                <a:gd name="T75" fmla="*/ 15 h 49"/>
                <a:gd name="T76" fmla="*/ 4 w 41"/>
                <a:gd name="T77" fmla="*/ 18 h 49"/>
                <a:gd name="T78" fmla="*/ 4 w 41"/>
                <a:gd name="T79" fmla="*/ 19 h 49"/>
                <a:gd name="T80" fmla="*/ 4 w 41"/>
                <a:gd name="T81" fmla="*/ 19 h 49"/>
                <a:gd name="T82" fmla="*/ 0 w 41"/>
                <a:gd name="T83" fmla="*/ 21 h 49"/>
                <a:gd name="T84" fmla="*/ 4 w 41"/>
                <a:gd name="T85" fmla="*/ 24 h 49"/>
                <a:gd name="T86" fmla="*/ 4 w 41"/>
                <a:gd name="T87" fmla="*/ 24 h 49"/>
                <a:gd name="T88" fmla="*/ 4 w 41"/>
                <a:gd name="T89" fmla="*/ 25 h 49"/>
                <a:gd name="T90" fmla="*/ 7 w 41"/>
                <a:gd name="T91" fmla="*/ 28 h 49"/>
                <a:gd name="T92" fmla="*/ 10 w 41"/>
                <a:gd name="T93" fmla="*/ 25 h 49"/>
                <a:gd name="T94" fmla="*/ 10 w 41"/>
                <a:gd name="T95" fmla="*/ 24 h 49"/>
                <a:gd name="T96" fmla="*/ 18 w 41"/>
                <a:gd name="T97" fmla="*/ 24 h 49"/>
                <a:gd name="T98" fmla="*/ 18 w 41"/>
                <a:gd name="T99" fmla="*/ 26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41" h="49">
                  <a:moveTo>
                    <a:pt x="18" y="26"/>
                  </a:moveTo>
                  <a:cubicBezTo>
                    <a:pt x="18" y="36"/>
                    <a:pt x="20" y="48"/>
                    <a:pt x="21" y="49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48"/>
                    <a:pt x="23" y="36"/>
                    <a:pt x="23" y="26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32" y="24"/>
                    <a:pt x="32" y="24"/>
                    <a:pt x="32" y="24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2" y="26"/>
                    <a:pt x="33" y="28"/>
                    <a:pt x="35" y="28"/>
                  </a:cubicBezTo>
                  <a:cubicBezTo>
                    <a:pt x="36" y="28"/>
                    <a:pt x="37" y="26"/>
                    <a:pt x="37" y="25"/>
                  </a:cubicBezTo>
                  <a:cubicBezTo>
                    <a:pt x="37" y="24"/>
                    <a:pt x="37" y="24"/>
                    <a:pt x="37" y="24"/>
                  </a:cubicBezTo>
                  <a:cubicBezTo>
                    <a:pt x="38" y="24"/>
                    <a:pt x="38" y="24"/>
                    <a:pt x="38" y="24"/>
                  </a:cubicBezTo>
                  <a:cubicBezTo>
                    <a:pt x="39" y="24"/>
                    <a:pt x="41" y="23"/>
                    <a:pt x="41" y="21"/>
                  </a:cubicBezTo>
                  <a:cubicBezTo>
                    <a:pt x="41" y="20"/>
                    <a:pt x="39" y="19"/>
                    <a:pt x="38" y="19"/>
                  </a:cubicBezTo>
                  <a:cubicBezTo>
                    <a:pt x="37" y="19"/>
                    <a:pt x="37" y="19"/>
                    <a:pt x="37" y="19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7" y="17"/>
                    <a:pt x="36" y="15"/>
                    <a:pt x="35" y="15"/>
                  </a:cubicBezTo>
                  <a:cubicBezTo>
                    <a:pt x="33" y="15"/>
                    <a:pt x="32" y="17"/>
                    <a:pt x="32" y="18"/>
                  </a:cubicBezTo>
                  <a:cubicBezTo>
                    <a:pt x="32" y="19"/>
                    <a:pt x="32" y="19"/>
                    <a:pt x="32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25" y="9"/>
                    <a:pt x="27" y="8"/>
                    <a:pt x="27" y="6"/>
                  </a:cubicBezTo>
                  <a:cubicBezTo>
                    <a:pt x="27" y="5"/>
                    <a:pt x="25" y="3"/>
                    <a:pt x="24" y="3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3" y="1"/>
                    <a:pt x="22" y="0"/>
                    <a:pt x="21" y="0"/>
                  </a:cubicBezTo>
                  <a:cubicBezTo>
                    <a:pt x="19" y="0"/>
                    <a:pt x="18" y="1"/>
                    <a:pt x="18" y="3"/>
                  </a:cubicBezTo>
                  <a:cubicBezTo>
                    <a:pt x="18" y="3"/>
                    <a:pt x="18" y="3"/>
                    <a:pt x="18" y="3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6" y="3"/>
                    <a:pt x="14" y="5"/>
                    <a:pt x="14" y="6"/>
                  </a:cubicBezTo>
                  <a:cubicBezTo>
                    <a:pt x="14" y="8"/>
                    <a:pt x="16" y="9"/>
                    <a:pt x="17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17"/>
                    <a:pt x="8" y="15"/>
                    <a:pt x="7" y="15"/>
                  </a:cubicBezTo>
                  <a:cubicBezTo>
                    <a:pt x="5" y="15"/>
                    <a:pt x="4" y="17"/>
                    <a:pt x="4" y="18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2" y="19"/>
                    <a:pt x="0" y="20"/>
                    <a:pt x="0" y="21"/>
                  </a:cubicBezTo>
                  <a:cubicBezTo>
                    <a:pt x="0" y="23"/>
                    <a:pt x="2" y="24"/>
                    <a:pt x="4" y="24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4" y="26"/>
                    <a:pt x="5" y="28"/>
                    <a:pt x="7" y="28"/>
                  </a:cubicBezTo>
                  <a:cubicBezTo>
                    <a:pt x="8" y="28"/>
                    <a:pt x="10" y="26"/>
                    <a:pt x="10" y="25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8" y="24"/>
                    <a:pt x="18" y="24"/>
                    <a:pt x="18" y="24"/>
                  </a:cubicBezTo>
                  <a:cubicBezTo>
                    <a:pt x="18" y="26"/>
                    <a:pt x="18" y="26"/>
                    <a:pt x="18" y="26"/>
                  </a:cubicBezTo>
                  <a:close/>
                </a:path>
              </a:pathLst>
            </a:custGeom>
            <a:solidFill>
              <a:srgbClr val="E2231A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" name="Freeform 10"/>
            <p:cNvSpPr>
              <a:spLocks noEditPoints="1"/>
            </p:cNvSpPr>
            <p:nvPr userDrawn="1"/>
          </p:nvSpPr>
          <p:spPr bwMode="auto">
            <a:xfrm>
              <a:off x="7401258" y="798513"/>
              <a:ext cx="54070" cy="50800"/>
            </a:xfrm>
            <a:custGeom>
              <a:avLst/>
              <a:gdLst>
                <a:gd name="T0" fmla="*/ 20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6 w 34"/>
                <a:gd name="T7" fmla="*/ 32 h 32"/>
                <a:gd name="T8" fmla="*/ 10 w 34"/>
                <a:gd name="T9" fmla="*/ 26 h 32"/>
                <a:gd name="T10" fmla="*/ 26 w 34"/>
                <a:gd name="T11" fmla="*/ 26 h 32"/>
                <a:gd name="T12" fmla="*/ 30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20 w 34"/>
                <a:gd name="T19" fmla="*/ 0 h 32"/>
                <a:gd name="T20" fmla="*/ 20 w 34"/>
                <a:gd name="T21" fmla="*/ 0 h 32"/>
                <a:gd name="T22" fmla="*/ 24 w 34"/>
                <a:gd name="T23" fmla="*/ 20 h 32"/>
                <a:gd name="T24" fmla="*/ 12 w 34"/>
                <a:gd name="T25" fmla="*/ 20 h 32"/>
                <a:gd name="T26" fmla="*/ 18 w 34"/>
                <a:gd name="T27" fmla="*/ 6 h 32"/>
                <a:gd name="T28" fmla="*/ 24 w 34"/>
                <a:gd name="T29" fmla="*/ 20 h 32"/>
                <a:gd name="T30" fmla="*/ 24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20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10" y="26"/>
                  </a:lnTo>
                  <a:lnTo>
                    <a:pt x="26" y="26"/>
                  </a:lnTo>
                  <a:lnTo>
                    <a:pt x="30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20" y="0"/>
                  </a:lnTo>
                  <a:close/>
                  <a:moveTo>
                    <a:pt x="24" y="20"/>
                  </a:moveTo>
                  <a:lnTo>
                    <a:pt x="12" y="20"/>
                  </a:lnTo>
                  <a:lnTo>
                    <a:pt x="18" y="6"/>
                  </a:lnTo>
                  <a:lnTo>
                    <a:pt x="24" y="20"/>
                  </a:lnTo>
                  <a:lnTo>
                    <a:pt x="24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Freeform 11"/>
            <p:cNvSpPr>
              <a:spLocks/>
            </p:cNvSpPr>
            <p:nvPr userDrawn="1"/>
          </p:nvSpPr>
          <p:spPr bwMode="auto">
            <a:xfrm>
              <a:off x="7458509" y="798513"/>
              <a:ext cx="44528" cy="50800"/>
            </a:xfrm>
            <a:custGeom>
              <a:avLst/>
              <a:gdLst>
                <a:gd name="T0" fmla="*/ 11 w 14"/>
                <a:gd name="T1" fmla="*/ 9 h 16"/>
                <a:gd name="T2" fmla="*/ 7 w 14"/>
                <a:gd name="T3" fmla="*/ 14 h 16"/>
                <a:gd name="T4" fmla="*/ 3 w 14"/>
                <a:gd name="T5" fmla="*/ 9 h 16"/>
                <a:gd name="T6" fmla="*/ 3 w 14"/>
                <a:gd name="T7" fmla="*/ 0 h 16"/>
                <a:gd name="T8" fmla="*/ 0 w 14"/>
                <a:gd name="T9" fmla="*/ 0 h 16"/>
                <a:gd name="T10" fmla="*/ 0 w 14"/>
                <a:gd name="T11" fmla="*/ 9 h 16"/>
                <a:gd name="T12" fmla="*/ 7 w 14"/>
                <a:gd name="T13" fmla="*/ 16 h 16"/>
                <a:gd name="T14" fmla="*/ 14 w 14"/>
                <a:gd name="T15" fmla="*/ 9 h 16"/>
                <a:gd name="T16" fmla="*/ 14 w 14"/>
                <a:gd name="T17" fmla="*/ 0 h 16"/>
                <a:gd name="T18" fmla="*/ 11 w 14"/>
                <a:gd name="T19" fmla="*/ 0 h 16"/>
                <a:gd name="T20" fmla="*/ 11 w 14"/>
                <a:gd name="T21" fmla="*/ 9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" h="16">
                  <a:moveTo>
                    <a:pt x="11" y="9"/>
                  </a:moveTo>
                  <a:cubicBezTo>
                    <a:pt x="11" y="12"/>
                    <a:pt x="9" y="14"/>
                    <a:pt x="7" y="14"/>
                  </a:cubicBezTo>
                  <a:cubicBezTo>
                    <a:pt x="5" y="14"/>
                    <a:pt x="3" y="12"/>
                    <a:pt x="3" y="9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4" y="16"/>
                    <a:pt x="7" y="16"/>
                  </a:cubicBezTo>
                  <a:cubicBezTo>
                    <a:pt x="10" y="16"/>
                    <a:pt x="14" y="14"/>
                    <a:pt x="14" y="9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9"/>
                    <a:pt x="11" y="9"/>
                    <a:pt x="11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" name="Freeform 12"/>
            <p:cNvSpPr>
              <a:spLocks/>
            </p:cNvSpPr>
            <p:nvPr userDrawn="1"/>
          </p:nvSpPr>
          <p:spPr bwMode="auto">
            <a:xfrm>
              <a:off x="7512579" y="795338"/>
              <a:ext cx="41348" cy="53975"/>
            </a:xfrm>
            <a:custGeom>
              <a:avLst/>
              <a:gdLst>
                <a:gd name="T0" fmla="*/ 7 w 13"/>
                <a:gd name="T1" fmla="*/ 7 h 17"/>
                <a:gd name="T2" fmla="*/ 3 w 13"/>
                <a:gd name="T3" fmla="*/ 5 h 17"/>
                <a:gd name="T4" fmla="*/ 7 w 13"/>
                <a:gd name="T5" fmla="*/ 3 h 17"/>
                <a:gd name="T6" fmla="*/ 11 w 13"/>
                <a:gd name="T7" fmla="*/ 5 h 17"/>
                <a:gd name="T8" fmla="*/ 11 w 13"/>
                <a:gd name="T9" fmla="*/ 5 h 17"/>
                <a:gd name="T10" fmla="*/ 13 w 13"/>
                <a:gd name="T11" fmla="*/ 4 h 17"/>
                <a:gd name="T12" fmla="*/ 13 w 13"/>
                <a:gd name="T13" fmla="*/ 3 h 17"/>
                <a:gd name="T14" fmla="*/ 7 w 13"/>
                <a:gd name="T15" fmla="*/ 0 h 17"/>
                <a:gd name="T16" fmla="*/ 2 w 13"/>
                <a:gd name="T17" fmla="*/ 2 h 17"/>
                <a:gd name="T18" fmla="*/ 0 w 13"/>
                <a:gd name="T19" fmla="*/ 5 h 17"/>
                <a:gd name="T20" fmla="*/ 7 w 13"/>
                <a:gd name="T21" fmla="*/ 10 h 17"/>
                <a:gd name="T22" fmla="*/ 11 w 13"/>
                <a:gd name="T23" fmla="*/ 12 h 17"/>
                <a:gd name="T24" fmla="*/ 7 w 13"/>
                <a:gd name="T25" fmla="*/ 15 h 17"/>
                <a:gd name="T26" fmla="*/ 2 w 13"/>
                <a:gd name="T27" fmla="*/ 12 h 17"/>
                <a:gd name="T28" fmla="*/ 2 w 13"/>
                <a:gd name="T29" fmla="*/ 12 h 17"/>
                <a:gd name="T30" fmla="*/ 0 w 13"/>
                <a:gd name="T31" fmla="*/ 13 h 17"/>
                <a:gd name="T32" fmla="*/ 0 w 13"/>
                <a:gd name="T33" fmla="*/ 14 h 17"/>
                <a:gd name="T34" fmla="*/ 7 w 13"/>
                <a:gd name="T35" fmla="*/ 17 h 17"/>
                <a:gd name="T36" fmla="*/ 13 w 13"/>
                <a:gd name="T37" fmla="*/ 12 h 17"/>
                <a:gd name="T38" fmla="*/ 7 w 13"/>
                <a:gd name="T39" fmla="*/ 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3" h="17">
                  <a:moveTo>
                    <a:pt x="7" y="7"/>
                  </a:moveTo>
                  <a:cubicBezTo>
                    <a:pt x="5" y="7"/>
                    <a:pt x="3" y="6"/>
                    <a:pt x="3" y="5"/>
                  </a:cubicBezTo>
                  <a:cubicBezTo>
                    <a:pt x="3" y="4"/>
                    <a:pt x="5" y="3"/>
                    <a:pt x="7" y="3"/>
                  </a:cubicBezTo>
                  <a:cubicBezTo>
                    <a:pt x="9" y="3"/>
                    <a:pt x="10" y="3"/>
                    <a:pt x="11" y="5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2" y="1"/>
                    <a:pt x="10" y="0"/>
                    <a:pt x="7" y="0"/>
                  </a:cubicBezTo>
                  <a:cubicBezTo>
                    <a:pt x="5" y="0"/>
                    <a:pt x="3" y="1"/>
                    <a:pt x="2" y="2"/>
                  </a:cubicBezTo>
                  <a:cubicBezTo>
                    <a:pt x="1" y="3"/>
                    <a:pt x="0" y="4"/>
                    <a:pt x="0" y="5"/>
                  </a:cubicBezTo>
                  <a:cubicBezTo>
                    <a:pt x="0" y="9"/>
                    <a:pt x="4" y="9"/>
                    <a:pt x="7" y="10"/>
                  </a:cubicBezTo>
                  <a:cubicBezTo>
                    <a:pt x="9" y="10"/>
                    <a:pt x="11" y="11"/>
                    <a:pt x="11" y="12"/>
                  </a:cubicBezTo>
                  <a:cubicBezTo>
                    <a:pt x="11" y="15"/>
                    <a:pt x="8" y="15"/>
                    <a:pt x="7" y="15"/>
                  </a:cubicBezTo>
                  <a:cubicBezTo>
                    <a:pt x="5" y="15"/>
                    <a:pt x="3" y="14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" y="16"/>
                    <a:pt x="3" y="17"/>
                    <a:pt x="7" y="17"/>
                  </a:cubicBezTo>
                  <a:cubicBezTo>
                    <a:pt x="10" y="17"/>
                    <a:pt x="13" y="16"/>
                    <a:pt x="13" y="12"/>
                  </a:cubicBezTo>
                  <a:cubicBezTo>
                    <a:pt x="13" y="9"/>
                    <a:pt x="10" y="8"/>
                    <a:pt x="7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" name="Freeform 13"/>
            <p:cNvSpPr>
              <a:spLocks/>
            </p:cNvSpPr>
            <p:nvPr userDrawn="1"/>
          </p:nvSpPr>
          <p:spPr bwMode="auto">
            <a:xfrm>
              <a:off x="7560288" y="798513"/>
              <a:ext cx="41348" cy="50800"/>
            </a:xfrm>
            <a:custGeom>
              <a:avLst/>
              <a:gdLst>
                <a:gd name="T0" fmla="*/ 0 w 26"/>
                <a:gd name="T1" fmla="*/ 4 h 32"/>
                <a:gd name="T2" fmla="*/ 10 w 26"/>
                <a:gd name="T3" fmla="*/ 4 h 32"/>
                <a:gd name="T4" fmla="*/ 10 w 26"/>
                <a:gd name="T5" fmla="*/ 32 h 32"/>
                <a:gd name="T6" fmla="*/ 16 w 26"/>
                <a:gd name="T7" fmla="*/ 32 h 32"/>
                <a:gd name="T8" fmla="*/ 16 w 26"/>
                <a:gd name="T9" fmla="*/ 4 h 32"/>
                <a:gd name="T10" fmla="*/ 26 w 26"/>
                <a:gd name="T11" fmla="*/ 4 h 32"/>
                <a:gd name="T12" fmla="*/ 26 w 26"/>
                <a:gd name="T13" fmla="*/ 0 h 32"/>
                <a:gd name="T14" fmla="*/ 0 w 26"/>
                <a:gd name="T15" fmla="*/ 0 h 32"/>
                <a:gd name="T16" fmla="*/ 0 w 26"/>
                <a:gd name="T17" fmla="*/ 4 h 32"/>
                <a:gd name="T18" fmla="*/ 0 w 26"/>
                <a:gd name="T19" fmla="*/ 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" h="32">
                  <a:moveTo>
                    <a:pt x="0" y="4"/>
                  </a:moveTo>
                  <a:lnTo>
                    <a:pt x="10" y="4"/>
                  </a:lnTo>
                  <a:lnTo>
                    <a:pt x="10" y="32"/>
                  </a:lnTo>
                  <a:lnTo>
                    <a:pt x="16" y="32"/>
                  </a:lnTo>
                  <a:lnTo>
                    <a:pt x="16" y="4"/>
                  </a:lnTo>
                  <a:lnTo>
                    <a:pt x="26" y="4"/>
                  </a:lnTo>
                  <a:lnTo>
                    <a:pt x="26" y="0"/>
                  </a:lnTo>
                  <a:lnTo>
                    <a:pt x="0" y="0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" name="Freeform 14"/>
            <p:cNvSpPr>
              <a:spLocks noEditPoints="1"/>
            </p:cNvSpPr>
            <p:nvPr userDrawn="1"/>
          </p:nvSpPr>
          <p:spPr bwMode="auto">
            <a:xfrm>
              <a:off x="7611177" y="798513"/>
              <a:ext cx="44528" cy="50800"/>
            </a:xfrm>
            <a:custGeom>
              <a:avLst/>
              <a:gdLst>
                <a:gd name="T0" fmla="*/ 13 w 14"/>
                <a:gd name="T1" fmla="*/ 5 h 16"/>
                <a:gd name="T2" fmla="*/ 7 w 14"/>
                <a:gd name="T3" fmla="*/ 0 h 16"/>
                <a:gd name="T4" fmla="*/ 0 w 14"/>
                <a:gd name="T5" fmla="*/ 0 h 16"/>
                <a:gd name="T6" fmla="*/ 0 w 14"/>
                <a:gd name="T7" fmla="*/ 16 h 16"/>
                <a:gd name="T8" fmla="*/ 2 w 14"/>
                <a:gd name="T9" fmla="*/ 16 h 16"/>
                <a:gd name="T10" fmla="*/ 2 w 14"/>
                <a:gd name="T11" fmla="*/ 10 h 16"/>
                <a:gd name="T12" fmla="*/ 6 w 14"/>
                <a:gd name="T13" fmla="*/ 10 h 16"/>
                <a:gd name="T14" fmla="*/ 10 w 14"/>
                <a:gd name="T15" fmla="*/ 16 h 16"/>
                <a:gd name="T16" fmla="*/ 14 w 14"/>
                <a:gd name="T17" fmla="*/ 16 h 16"/>
                <a:gd name="T18" fmla="*/ 8 w 14"/>
                <a:gd name="T19" fmla="*/ 10 h 16"/>
                <a:gd name="T20" fmla="*/ 13 w 14"/>
                <a:gd name="T21" fmla="*/ 5 h 16"/>
                <a:gd name="T22" fmla="*/ 2 w 14"/>
                <a:gd name="T23" fmla="*/ 2 h 16"/>
                <a:gd name="T24" fmla="*/ 7 w 14"/>
                <a:gd name="T25" fmla="*/ 2 h 16"/>
                <a:gd name="T26" fmla="*/ 10 w 14"/>
                <a:gd name="T27" fmla="*/ 5 h 16"/>
                <a:gd name="T28" fmla="*/ 7 w 14"/>
                <a:gd name="T29" fmla="*/ 8 h 16"/>
                <a:gd name="T30" fmla="*/ 2 w 14"/>
                <a:gd name="T31" fmla="*/ 8 h 16"/>
                <a:gd name="T32" fmla="*/ 2 w 14"/>
                <a:gd name="T33" fmla="*/ 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4" h="16">
                  <a:moveTo>
                    <a:pt x="13" y="5"/>
                  </a:moveTo>
                  <a:cubicBezTo>
                    <a:pt x="13" y="2"/>
                    <a:pt x="11" y="0"/>
                    <a:pt x="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8" y="10"/>
                    <a:pt x="8" y="10"/>
                    <a:pt x="8" y="10"/>
                  </a:cubicBezTo>
                  <a:cubicBezTo>
                    <a:pt x="11" y="10"/>
                    <a:pt x="13" y="8"/>
                    <a:pt x="13" y="5"/>
                  </a:cubicBezTo>
                  <a:close/>
                  <a:moveTo>
                    <a:pt x="2" y="2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9" y="2"/>
                    <a:pt x="10" y="4"/>
                    <a:pt x="10" y="5"/>
                  </a:cubicBezTo>
                  <a:cubicBezTo>
                    <a:pt x="10" y="6"/>
                    <a:pt x="9" y="8"/>
                    <a:pt x="7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2"/>
                    <a:pt x="2" y="2"/>
                    <a:pt x="2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" name="Freeform 15"/>
            <p:cNvSpPr>
              <a:spLocks noEditPoints="1"/>
            </p:cNvSpPr>
            <p:nvPr userDrawn="1"/>
          </p:nvSpPr>
          <p:spPr bwMode="auto">
            <a:xfrm>
              <a:off x="7658886" y="798513"/>
              <a:ext cx="54070" cy="50800"/>
            </a:xfrm>
            <a:custGeom>
              <a:avLst/>
              <a:gdLst>
                <a:gd name="T0" fmla="*/ 18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4 w 34"/>
                <a:gd name="T7" fmla="*/ 32 h 32"/>
                <a:gd name="T8" fmla="*/ 8 w 34"/>
                <a:gd name="T9" fmla="*/ 26 h 32"/>
                <a:gd name="T10" fmla="*/ 24 w 34"/>
                <a:gd name="T11" fmla="*/ 26 h 32"/>
                <a:gd name="T12" fmla="*/ 28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18 w 34"/>
                <a:gd name="T19" fmla="*/ 0 h 32"/>
                <a:gd name="T20" fmla="*/ 18 w 34"/>
                <a:gd name="T21" fmla="*/ 0 h 32"/>
                <a:gd name="T22" fmla="*/ 22 w 34"/>
                <a:gd name="T23" fmla="*/ 20 h 32"/>
                <a:gd name="T24" fmla="*/ 10 w 34"/>
                <a:gd name="T25" fmla="*/ 20 h 32"/>
                <a:gd name="T26" fmla="*/ 16 w 34"/>
                <a:gd name="T27" fmla="*/ 6 h 32"/>
                <a:gd name="T28" fmla="*/ 22 w 34"/>
                <a:gd name="T29" fmla="*/ 20 h 32"/>
                <a:gd name="T30" fmla="*/ 22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18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8" y="26"/>
                  </a:lnTo>
                  <a:lnTo>
                    <a:pt x="24" y="26"/>
                  </a:lnTo>
                  <a:lnTo>
                    <a:pt x="28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18" y="0"/>
                  </a:lnTo>
                  <a:lnTo>
                    <a:pt x="18" y="0"/>
                  </a:lnTo>
                  <a:close/>
                  <a:moveTo>
                    <a:pt x="22" y="20"/>
                  </a:moveTo>
                  <a:lnTo>
                    <a:pt x="10" y="20"/>
                  </a:lnTo>
                  <a:lnTo>
                    <a:pt x="16" y="6"/>
                  </a:lnTo>
                  <a:lnTo>
                    <a:pt x="22" y="20"/>
                  </a:lnTo>
                  <a:lnTo>
                    <a:pt x="22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" name="Freeform 16"/>
            <p:cNvSpPr>
              <a:spLocks/>
            </p:cNvSpPr>
            <p:nvPr userDrawn="1"/>
          </p:nvSpPr>
          <p:spPr bwMode="auto">
            <a:xfrm>
              <a:off x="7719318" y="798513"/>
              <a:ext cx="34987" cy="50800"/>
            </a:xfrm>
            <a:custGeom>
              <a:avLst/>
              <a:gdLst>
                <a:gd name="T0" fmla="*/ 6 w 22"/>
                <a:gd name="T1" fmla="*/ 0 h 32"/>
                <a:gd name="T2" fmla="*/ 0 w 22"/>
                <a:gd name="T3" fmla="*/ 0 h 32"/>
                <a:gd name="T4" fmla="*/ 0 w 22"/>
                <a:gd name="T5" fmla="*/ 32 h 32"/>
                <a:gd name="T6" fmla="*/ 22 w 22"/>
                <a:gd name="T7" fmla="*/ 32 h 32"/>
                <a:gd name="T8" fmla="*/ 22 w 22"/>
                <a:gd name="T9" fmla="*/ 28 h 32"/>
                <a:gd name="T10" fmla="*/ 6 w 22"/>
                <a:gd name="T11" fmla="*/ 28 h 32"/>
                <a:gd name="T12" fmla="*/ 6 w 22"/>
                <a:gd name="T13" fmla="*/ 0 h 32"/>
                <a:gd name="T14" fmla="*/ 6 w 22"/>
                <a:gd name="T1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" h="32">
                  <a:moveTo>
                    <a:pt x="6" y="0"/>
                  </a:moveTo>
                  <a:lnTo>
                    <a:pt x="0" y="0"/>
                  </a:lnTo>
                  <a:lnTo>
                    <a:pt x="0" y="32"/>
                  </a:lnTo>
                  <a:lnTo>
                    <a:pt x="22" y="32"/>
                  </a:lnTo>
                  <a:lnTo>
                    <a:pt x="22" y="28"/>
                  </a:lnTo>
                  <a:lnTo>
                    <a:pt x="6" y="28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" name="Freeform 17"/>
            <p:cNvSpPr>
              <a:spLocks/>
            </p:cNvSpPr>
            <p:nvPr userDrawn="1"/>
          </p:nvSpPr>
          <p:spPr bwMode="auto">
            <a:xfrm>
              <a:off x="7763846" y="798513"/>
              <a:ext cx="6361" cy="50800"/>
            </a:xfrm>
            <a:custGeom>
              <a:avLst/>
              <a:gdLst>
                <a:gd name="T0" fmla="*/ 0 w 4"/>
                <a:gd name="T1" fmla="*/ 32 h 32"/>
                <a:gd name="T2" fmla="*/ 4 w 4"/>
                <a:gd name="T3" fmla="*/ 32 h 32"/>
                <a:gd name="T4" fmla="*/ 4 w 4"/>
                <a:gd name="T5" fmla="*/ 0 h 32"/>
                <a:gd name="T6" fmla="*/ 0 w 4"/>
                <a:gd name="T7" fmla="*/ 0 h 32"/>
                <a:gd name="T8" fmla="*/ 0 w 4"/>
                <a:gd name="T9" fmla="*/ 32 h 32"/>
                <a:gd name="T10" fmla="*/ 0 w 4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32">
                  <a:moveTo>
                    <a:pt x="0" y="32"/>
                  </a:moveTo>
                  <a:lnTo>
                    <a:pt x="4" y="32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" name="Freeform 18"/>
            <p:cNvSpPr>
              <a:spLocks noEditPoints="1"/>
            </p:cNvSpPr>
            <p:nvPr userDrawn="1"/>
          </p:nvSpPr>
          <p:spPr bwMode="auto">
            <a:xfrm>
              <a:off x="7779749" y="798513"/>
              <a:ext cx="52480" cy="50800"/>
            </a:xfrm>
            <a:custGeom>
              <a:avLst/>
              <a:gdLst>
                <a:gd name="T0" fmla="*/ 19 w 33"/>
                <a:gd name="T1" fmla="*/ 0 h 32"/>
                <a:gd name="T2" fmla="*/ 13 w 33"/>
                <a:gd name="T3" fmla="*/ 0 h 32"/>
                <a:gd name="T4" fmla="*/ 0 w 33"/>
                <a:gd name="T5" fmla="*/ 32 h 32"/>
                <a:gd name="T6" fmla="*/ 6 w 33"/>
                <a:gd name="T7" fmla="*/ 32 h 32"/>
                <a:gd name="T8" fmla="*/ 7 w 33"/>
                <a:gd name="T9" fmla="*/ 26 h 32"/>
                <a:gd name="T10" fmla="*/ 25 w 33"/>
                <a:gd name="T11" fmla="*/ 26 h 32"/>
                <a:gd name="T12" fmla="*/ 27 w 33"/>
                <a:gd name="T13" fmla="*/ 32 h 32"/>
                <a:gd name="T14" fmla="*/ 33 w 33"/>
                <a:gd name="T15" fmla="*/ 32 h 32"/>
                <a:gd name="T16" fmla="*/ 19 w 33"/>
                <a:gd name="T17" fmla="*/ 0 h 32"/>
                <a:gd name="T18" fmla="*/ 19 w 33"/>
                <a:gd name="T19" fmla="*/ 0 h 32"/>
                <a:gd name="T20" fmla="*/ 19 w 33"/>
                <a:gd name="T21" fmla="*/ 0 h 32"/>
                <a:gd name="T22" fmla="*/ 23 w 33"/>
                <a:gd name="T23" fmla="*/ 20 h 32"/>
                <a:gd name="T24" fmla="*/ 9 w 33"/>
                <a:gd name="T25" fmla="*/ 20 h 32"/>
                <a:gd name="T26" fmla="*/ 17 w 33"/>
                <a:gd name="T27" fmla="*/ 6 h 32"/>
                <a:gd name="T28" fmla="*/ 23 w 33"/>
                <a:gd name="T29" fmla="*/ 20 h 32"/>
                <a:gd name="T30" fmla="*/ 23 w 33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3" h="32">
                  <a:moveTo>
                    <a:pt x="19" y="0"/>
                  </a:moveTo>
                  <a:lnTo>
                    <a:pt x="13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7" y="26"/>
                  </a:lnTo>
                  <a:lnTo>
                    <a:pt x="25" y="26"/>
                  </a:lnTo>
                  <a:lnTo>
                    <a:pt x="27" y="32"/>
                  </a:lnTo>
                  <a:lnTo>
                    <a:pt x="33" y="32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19" y="0"/>
                  </a:lnTo>
                  <a:close/>
                  <a:moveTo>
                    <a:pt x="23" y="20"/>
                  </a:moveTo>
                  <a:lnTo>
                    <a:pt x="9" y="20"/>
                  </a:lnTo>
                  <a:lnTo>
                    <a:pt x="17" y="6"/>
                  </a:lnTo>
                  <a:lnTo>
                    <a:pt x="23" y="20"/>
                  </a:lnTo>
                  <a:lnTo>
                    <a:pt x="23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" name="Freeform 19"/>
            <p:cNvSpPr>
              <a:spLocks/>
            </p:cNvSpPr>
            <p:nvPr userDrawn="1"/>
          </p:nvSpPr>
          <p:spPr bwMode="auto">
            <a:xfrm>
              <a:off x="7841771" y="798513"/>
              <a:ext cx="41348" cy="50800"/>
            </a:xfrm>
            <a:custGeom>
              <a:avLst/>
              <a:gdLst>
                <a:gd name="T0" fmla="*/ 22 w 26"/>
                <a:gd name="T1" fmla="*/ 22 h 32"/>
                <a:gd name="T2" fmla="*/ 2 w 26"/>
                <a:gd name="T3" fmla="*/ 0 h 32"/>
                <a:gd name="T4" fmla="*/ 0 w 26"/>
                <a:gd name="T5" fmla="*/ 0 h 32"/>
                <a:gd name="T6" fmla="*/ 0 w 26"/>
                <a:gd name="T7" fmla="*/ 32 h 32"/>
                <a:gd name="T8" fmla="*/ 4 w 26"/>
                <a:gd name="T9" fmla="*/ 32 h 32"/>
                <a:gd name="T10" fmla="*/ 4 w 26"/>
                <a:gd name="T11" fmla="*/ 10 h 32"/>
                <a:gd name="T12" fmla="*/ 22 w 26"/>
                <a:gd name="T13" fmla="*/ 32 h 32"/>
                <a:gd name="T14" fmla="*/ 26 w 26"/>
                <a:gd name="T15" fmla="*/ 32 h 32"/>
                <a:gd name="T16" fmla="*/ 26 w 26"/>
                <a:gd name="T17" fmla="*/ 0 h 32"/>
                <a:gd name="T18" fmla="*/ 22 w 26"/>
                <a:gd name="T19" fmla="*/ 0 h 32"/>
                <a:gd name="T20" fmla="*/ 22 w 26"/>
                <a:gd name="T21" fmla="*/ 22 h 32"/>
                <a:gd name="T22" fmla="*/ 22 w 26"/>
                <a:gd name="T23" fmla="*/ 2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6" h="32">
                  <a:moveTo>
                    <a:pt x="22" y="22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4" y="10"/>
                  </a:lnTo>
                  <a:lnTo>
                    <a:pt x="22" y="32"/>
                  </a:lnTo>
                  <a:lnTo>
                    <a:pt x="26" y="32"/>
                  </a:lnTo>
                  <a:lnTo>
                    <a:pt x="26" y="0"/>
                  </a:lnTo>
                  <a:lnTo>
                    <a:pt x="22" y="0"/>
                  </a:lnTo>
                  <a:lnTo>
                    <a:pt x="22" y="22"/>
                  </a:lnTo>
                  <a:lnTo>
                    <a:pt x="22" y="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" name="Freeform 20"/>
            <p:cNvSpPr>
              <a:spLocks/>
            </p:cNvSpPr>
            <p:nvPr userDrawn="1"/>
          </p:nvSpPr>
          <p:spPr bwMode="auto">
            <a:xfrm>
              <a:off x="7921286" y="795338"/>
              <a:ext cx="47709" cy="53975"/>
            </a:xfrm>
            <a:custGeom>
              <a:avLst/>
              <a:gdLst>
                <a:gd name="T0" fmla="*/ 13 w 15"/>
                <a:gd name="T1" fmla="*/ 13 h 17"/>
                <a:gd name="T2" fmla="*/ 9 w 15"/>
                <a:gd name="T3" fmla="*/ 15 h 17"/>
                <a:gd name="T4" fmla="*/ 3 w 15"/>
                <a:gd name="T5" fmla="*/ 9 h 17"/>
                <a:gd name="T6" fmla="*/ 9 w 15"/>
                <a:gd name="T7" fmla="*/ 3 h 17"/>
                <a:gd name="T8" fmla="*/ 13 w 15"/>
                <a:gd name="T9" fmla="*/ 5 h 17"/>
                <a:gd name="T10" fmla="*/ 13 w 15"/>
                <a:gd name="T11" fmla="*/ 5 h 17"/>
                <a:gd name="T12" fmla="*/ 15 w 15"/>
                <a:gd name="T13" fmla="*/ 3 h 17"/>
                <a:gd name="T14" fmla="*/ 15 w 15"/>
                <a:gd name="T15" fmla="*/ 3 h 17"/>
                <a:gd name="T16" fmla="*/ 9 w 15"/>
                <a:gd name="T17" fmla="*/ 0 h 17"/>
                <a:gd name="T18" fmla="*/ 2 w 15"/>
                <a:gd name="T19" fmla="*/ 3 h 17"/>
                <a:gd name="T20" fmla="*/ 0 w 15"/>
                <a:gd name="T21" fmla="*/ 9 h 17"/>
                <a:gd name="T22" fmla="*/ 9 w 15"/>
                <a:gd name="T23" fmla="*/ 17 h 17"/>
                <a:gd name="T24" fmla="*/ 15 w 15"/>
                <a:gd name="T25" fmla="*/ 15 h 17"/>
                <a:gd name="T26" fmla="*/ 15 w 15"/>
                <a:gd name="T27" fmla="*/ 15 h 17"/>
                <a:gd name="T28" fmla="*/ 13 w 15"/>
                <a:gd name="T29" fmla="*/ 13 h 17"/>
                <a:gd name="T30" fmla="*/ 13 w 15"/>
                <a:gd name="T31" fmla="*/ 13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" h="17">
                  <a:moveTo>
                    <a:pt x="13" y="13"/>
                  </a:moveTo>
                  <a:cubicBezTo>
                    <a:pt x="12" y="14"/>
                    <a:pt x="10" y="15"/>
                    <a:pt x="9" y="15"/>
                  </a:cubicBezTo>
                  <a:cubicBezTo>
                    <a:pt x="4" y="15"/>
                    <a:pt x="3" y="12"/>
                    <a:pt x="3" y="9"/>
                  </a:cubicBezTo>
                  <a:cubicBezTo>
                    <a:pt x="3" y="6"/>
                    <a:pt x="4" y="3"/>
                    <a:pt x="9" y="3"/>
                  </a:cubicBezTo>
                  <a:cubicBezTo>
                    <a:pt x="10" y="3"/>
                    <a:pt x="12" y="3"/>
                    <a:pt x="13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3" y="1"/>
                    <a:pt x="11" y="0"/>
                    <a:pt x="9" y="0"/>
                  </a:cubicBezTo>
                  <a:cubicBezTo>
                    <a:pt x="6" y="0"/>
                    <a:pt x="4" y="1"/>
                    <a:pt x="2" y="3"/>
                  </a:cubicBezTo>
                  <a:cubicBezTo>
                    <a:pt x="1" y="4"/>
                    <a:pt x="0" y="7"/>
                    <a:pt x="0" y="9"/>
                  </a:cubicBezTo>
                  <a:cubicBezTo>
                    <a:pt x="0" y="13"/>
                    <a:pt x="3" y="17"/>
                    <a:pt x="9" y="17"/>
                  </a:cubicBezTo>
                  <a:cubicBezTo>
                    <a:pt x="11" y="17"/>
                    <a:pt x="13" y="16"/>
                    <a:pt x="15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" name="Freeform 21"/>
            <p:cNvSpPr>
              <a:spLocks noEditPoints="1"/>
            </p:cNvSpPr>
            <p:nvPr userDrawn="1"/>
          </p:nvSpPr>
          <p:spPr bwMode="auto">
            <a:xfrm>
              <a:off x="7972176" y="798513"/>
              <a:ext cx="54070" cy="50800"/>
            </a:xfrm>
            <a:custGeom>
              <a:avLst/>
              <a:gdLst>
                <a:gd name="T0" fmla="*/ 20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6 w 34"/>
                <a:gd name="T7" fmla="*/ 32 h 32"/>
                <a:gd name="T8" fmla="*/ 8 w 34"/>
                <a:gd name="T9" fmla="*/ 26 h 32"/>
                <a:gd name="T10" fmla="*/ 26 w 34"/>
                <a:gd name="T11" fmla="*/ 26 h 32"/>
                <a:gd name="T12" fmla="*/ 28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20 w 34"/>
                <a:gd name="T19" fmla="*/ 0 h 32"/>
                <a:gd name="T20" fmla="*/ 20 w 34"/>
                <a:gd name="T21" fmla="*/ 0 h 32"/>
                <a:gd name="T22" fmla="*/ 24 w 34"/>
                <a:gd name="T23" fmla="*/ 20 h 32"/>
                <a:gd name="T24" fmla="*/ 10 w 34"/>
                <a:gd name="T25" fmla="*/ 20 h 32"/>
                <a:gd name="T26" fmla="*/ 16 w 34"/>
                <a:gd name="T27" fmla="*/ 6 h 32"/>
                <a:gd name="T28" fmla="*/ 24 w 34"/>
                <a:gd name="T29" fmla="*/ 20 h 32"/>
                <a:gd name="T30" fmla="*/ 24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20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8" y="26"/>
                  </a:lnTo>
                  <a:lnTo>
                    <a:pt x="26" y="26"/>
                  </a:lnTo>
                  <a:lnTo>
                    <a:pt x="28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20" y="0"/>
                  </a:lnTo>
                  <a:close/>
                  <a:moveTo>
                    <a:pt x="24" y="20"/>
                  </a:moveTo>
                  <a:lnTo>
                    <a:pt x="10" y="20"/>
                  </a:lnTo>
                  <a:lnTo>
                    <a:pt x="16" y="6"/>
                  </a:lnTo>
                  <a:lnTo>
                    <a:pt x="24" y="20"/>
                  </a:lnTo>
                  <a:lnTo>
                    <a:pt x="24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" name="Freeform 22"/>
            <p:cNvSpPr>
              <a:spLocks/>
            </p:cNvSpPr>
            <p:nvPr userDrawn="1"/>
          </p:nvSpPr>
          <p:spPr bwMode="auto">
            <a:xfrm>
              <a:off x="8023065" y="798513"/>
              <a:ext cx="44528" cy="50800"/>
            </a:xfrm>
            <a:custGeom>
              <a:avLst/>
              <a:gdLst>
                <a:gd name="T0" fmla="*/ 0 w 28"/>
                <a:gd name="T1" fmla="*/ 4 h 32"/>
                <a:gd name="T2" fmla="*/ 12 w 28"/>
                <a:gd name="T3" fmla="*/ 4 h 32"/>
                <a:gd name="T4" fmla="*/ 12 w 28"/>
                <a:gd name="T5" fmla="*/ 32 h 32"/>
                <a:gd name="T6" fmla="*/ 16 w 28"/>
                <a:gd name="T7" fmla="*/ 32 h 32"/>
                <a:gd name="T8" fmla="*/ 16 w 28"/>
                <a:gd name="T9" fmla="*/ 4 h 32"/>
                <a:gd name="T10" fmla="*/ 28 w 28"/>
                <a:gd name="T11" fmla="*/ 4 h 32"/>
                <a:gd name="T12" fmla="*/ 28 w 28"/>
                <a:gd name="T13" fmla="*/ 0 h 32"/>
                <a:gd name="T14" fmla="*/ 0 w 28"/>
                <a:gd name="T15" fmla="*/ 0 h 32"/>
                <a:gd name="T16" fmla="*/ 0 w 28"/>
                <a:gd name="T17" fmla="*/ 4 h 32"/>
                <a:gd name="T18" fmla="*/ 0 w 28"/>
                <a:gd name="T19" fmla="*/ 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" h="32">
                  <a:moveTo>
                    <a:pt x="0" y="4"/>
                  </a:moveTo>
                  <a:lnTo>
                    <a:pt x="12" y="4"/>
                  </a:lnTo>
                  <a:lnTo>
                    <a:pt x="12" y="32"/>
                  </a:lnTo>
                  <a:lnTo>
                    <a:pt x="16" y="32"/>
                  </a:lnTo>
                  <a:lnTo>
                    <a:pt x="16" y="4"/>
                  </a:lnTo>
                  <a:lnTo>
                    <a:pt x="28" y="4"/>
                  </a:lnTo>
                  <a:lnTo>
                    <a:pt x="28" y="0"/>
                  </a:lnTo>
                  <a:lnTo>
                    <a:pt x="0" y="0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" name="Freeform 23"/>
            <p:cNvSpPr>
              <a:spLocks/>
            </p:cNvSpPr>
            <p:nvPr userDrawn="1"/>
          </p:nvSpPr>
          <p:spPr bwMode="auto">
            <a:xfrm>
              <a:off x="8073955" y="798513"/>
              <a:ext cx="44528" cy="50800"/>
            </a:xfrm>
            <a:custGeom>
              <a:avLst/>
              <a:gdLst>
                <a:gd name="T0" fmla="*/ 22 w 28"/>
                <a:gd name="T1" fmla="*/ 12 h 32"/>
                <a:gd name="T2" fmla="*/ 6 w 28"/>
                <a:gd name="T3" fmla="*/ 12 h 32"/>
                <a:gd name="T4" fmla="*/ 6 w 28"/>
                <a:gd name="T5" fmla="*/ 0 h 32"/>
                <a:gd name="T6" fmla="*/ 0 w 28"/>
                <a:gd name="T7" fmla="*/ 0 h 32"/>
                <a:gd name="T8" fmla="*/ 0 w 28"/>
                <a:gd name="T9" fmla="*/ 32 h 32"/>
                <a:gd name="T10" fmla="*/ 6 w 28"/>
                <a:gd name="T11" fmla="*/ 32 h 32"/>
                <a:gd name="T12" fmla="*/ 6 w 28"/>
                <a:gd name="T13" fmla="*/ 18 h 32"/>
                <a:gd name="T14" fmla="*/ 22 w 28"/>
                <a:gd name="T15" fmla="*/ 18 h 32"/>
                <a:gd name="T16" fmla="*/ 22 w 28"/>
                <a:gd name="T17" fmla="*/ 32 h 32"/>
                <a:gd name="T18" fmla="*/ 28 w 28"/>
                <a:gd name="T19" fmla="*/ 32 h 32"/>
                <a:gd name="T20" fmla="*/ 28 w 28"/>
                <a:gd name="T21" fmla="*/ 0 h 32"/>
                <a:gd name="T22" fmla="*/ 22 w 28"/>
                <a:gd name="T23" fmla="*/ 0 h 32"/>
                <a:gd name="T24" fmla="*/ 22 w 28"/>
                <a:gd name="T25" fmla="*/ 12 h 32"/>
                <a:gd name="T26" fmla="*/ 22 w 28"/>
                <a:gd name="T27" fmla="*/ 1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" h="32">
                  <a:moveTo>
                    <a:pt x="22" y="12"/>
                  </a:moveTo>
                  <a:lnTo>
                    <a:pt x="6" y="1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6" y="18"/>
                  </a:lnTo>
                  <a:lnTo>
                    <a:pt x="22" y="18"/>
                  </a:lnTo>
                  <a:lnTo>
                    <a:pt x="22" y="32"/>
                  </a:lnTo>
                  <a:lnTo>
                    <a:pt x="28" y="32"/>
                  </a:lnTo>
                  <a:lnTo>
                    <a:pt x="28" y="0"/>
                  </a:lnTo>
                  <a:lnTo>
                    <a:pt x="22" y="0"/>
                  </a:lnTo>
                  <a:lnTo>
                    <a:pt x="22" y="12"/>
                  </a:lnTo>
                  <a:lnTo>
                    <a:pt x="22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" name="Freeform 24"/>
            <p:cNvSpPr>
              <a:spLocks noEditPoints="1"/>
            </p:cNvSpPr>
            <p:nvPr userDrawn="1"/>
          </p:nvSpPr>
          <p:spPr bwMode="auto">
            <a:xfrm>
              <a:off x="8128025" y="795338"/>
              <a:ext cx="50890" cy="53975"/>
            </a:xfrm>
            <a:custGeom>
              <a:avLst/>
              <a:gdLst>
                <a:gd name="T0" fmla="*/ 8 w 16"/>
                <a:gd name="T1" fmla="*/ 0 h 17"/>
                <a:gd name="T2" fmla="*/ 0 w 16"/>
                <a:gd name="T3" fmla="*/ 9 h 17"/>
                <a:gd name="T4" fmla="*/ 8 w 16"/>
                <a:gd name="T5" fmla="*/ 17 h 17"/>
                <a:gd name="T6" fmla="*/ 16 w 16"/>
                <a:gd name="T7" fmla="*/ 9 h 17"/>
                <a:gd name="T8" fmla="*/ 8 w 16"/>
                <a:gd name="T9" fmla="*/ 0 h 17"/>
                <a:gd name="T10" fmla="*/ 8 w 16"/>
                <a:gd name="T11" fmla="*/ 15 h 17"/>
                <a:gd name="T12" fmla="*/ 2 w 16"/>
                <a:gd name="T13" fmla="*/ 9 h 17"/>
                <a:gd name="T14" fmla="*/ 8 w 16"/>
                <a:gd name="T15" fmla="*/ 3 h 17"/>
                <a:gd name="T16" fmla="*/ 14 w 16"/>
                <a:gd name="T17" fmla="*/ 9 h 17"/>
                <a:gd name="T18" fmla="*/ 8 w 16"/>
                <a:gd name="T19" fmla="*/ 15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" h="17">
                  <a:moveTo>
                    <a:pt x="8" y="0"/>
                  </a:moveTo>
                  <a:cubicBezTo>
                    <a:pt x="3" y="0"/>
                    <a:pt x="0" y="4"/>
                    <a:pt x="0" y="9"/>
                  </a:cubicBezTo>
                  <a:cubicBezTo>
                    <a:pt x="0" y="13"/>
                    <a:pt x="2" y="17"/>
                    <a:pt x="8" y="17"/>
                  </a:cubicBezTo>
                  <a:cubicBezTo>
                    <a:pt x="14" y="17"/>
                    <a:pt x="16" y="13"/>
                    <a:pt x="16" y="9"/>
                  </a:cubicBezTo>
                  <a:cubicBezTo>
                    <a:pt x="16" y="5"/>
                    <a:pt x="14" y="0"/>
                    <a:pt x="8" y="0"/>
                  </a:cubicBezTo>
                  <a:close/>
                  <a:moveTo>
                    <a:pt x="8" y="15"/>
                  </a:moveTo>
                  <a:cubicBezTo>
                    <a:pt x="4" y="15"/>
                    <a:pt x="2" y="12"/>
                    <a:pt x="2" y="9"/>
                  </a:cubicBezTo>
                  <a:cubicBezTo>
                    <a:pt x="2" y="6"/>
                    <a:pt x="4" y="3"/>
                    <a:pt x="8" y="3"/>
                  </a:cubicBezTo>
                  <a:cubicBezTo>
                    <a:pt x="12" y="3"/>
                    <a:pt x="14" y="6"/>
                    <a:pt x="14" y="9"/>
                  </a:cubicBezTo>
                  <a:cubicBezTo>
                    <a:pt x="14" y="12"/>
                    <a:pt x="12" y="15"/>
                    <a:pt x="8" y="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" name="Freeform 25"/>
            <p:cNvSpPr>
              <a:spLocks/>
            </p:cNvSpPr>
            <p:nvPr userDrawn="1"/>
          </p:nvSpPr>
          <p:spPr bwMode="auto">
            <a:xfrm>
              <a:off x="8188456" y="798513"/>
              <a:ext cx="34987" cy="50800"/>
            </a:xfrm>
            <a:custGeom>
              <a:avLst/>
              <a:gdLst>
                <a:gd name="T0" fmla="*/ 6 w 22"/>
                <a:gd name="T1" fmla="*/ 0 h 32"/>
                <a:gd name="T2" fmla="*/ 0 w 22"/>
                <a:gd name="T3" fmla="*/ 0 h 32"/>
                <a:gd name="T4" fmla="*/ 0 w 22"/>
                <a:gd name="T5" fmla="*/ 32 h 32"/>
                <a:gd name="T6" fmla="*/ 22 w 22"/>
                <a:gd name="T7" fmla="*/ 32 h 32"/>
                <a:gd name="T8" fmla="*/ 22 w 22"/>
                <a:gd name="T9" fmla="*/ 28 h 32"/>
                <a:gd name="T10" fmla="*/ 6 w 22"/>
                <a:gd name="T11" fmla="*/ 28 h 32"/>
                <a:gd name="T12" fmla="*/ 6 w 22"/>
                <a:gd name="T13" fmla="*/ 0 h 32"/>
                <a:gd name="T14" fmla="*/ 6 w 22"/>
                <a:gd name="T1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" h="32">
                  <a:moveTo>
                    <a:pt x="6" y="0"/>
                  </a:moveTo>
                  <a:lnTo>
                    <a:pt x="0" y="0"/>
                  </a:lnTo>
                  <a:lnTo>
                    <a:pt x="0" y="32"/>
                  </a:lnTo>
                  <a:lnTo>
                    <a:pt x="22" y="32"/>
                  </a:lnTo>
                  <a:lnTo>
                    <a:pt x="22" y="28"/>
                  </a:lnTo>
                  <a:lnTo>
                    <a:pt x="6" y="28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" name="Freeform 26"/>
            <p:cNvSpPr>
              <a:spLocks/>
            </p:cNvSpPr>
            <p:nvPr userDrawn="1"/>
          </p:nvSpPr>
          <p:spPr bwMode="auto">
            <a:xfrm>
              <a:off x="8232985" y="798513"/>
              <a:ext cx="6361" cy="50800"/>
            </a:xfrm>
            <a:custGeom>
              <a:avLst/>
              <a:gdLst>
                <a:gd name="T0" fmla="*/ 0 w 4"/>
                <a:gd name="T1" fmla="*/ 32 h 32"/>
                <a:gd name="T2" fmla="*/ 4 w 4"/>
                <a:gd name="T3" fmla="*/ 32 h 32"/>
                <a:gd name="T4" fmla="*/ 4 w 4"/>
                <a:gd name="T5" fmla="*/ 0 h 32"/>
                <a:gd name="T6" fmla="*/ 0 w 4"/>
                <a:gd name="T7" fmla="*/ 0 h 32"/>
                <a:gd name="T8" fmla="*/ 0 w 4"/>
                <a:gd name="T9" fmla="*/ 32 h 32"/>
                <a:gd name="T10" fmla="*/ 0 w 4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32">
                  <a:moveTo>
                    <a:pt x="0" y="32"/>
                  </a:moveTo>
                  <a:lnTo>
                    <a:pt x="4" y="32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" name="Freeform 27"/>
            <p:cNvSpPr>
              <a:spLocks/>
            </p:cNvSpPr>
            <p:nvPr userDrawn="1"/>
          </p:nvSpPr>
          <p:spPr bwMode="auto">
            <a:xfrm>
              <a:off x="8248888" y="795338"/>
              <a:ext cx="47709" cy="53975"/>
            </a:xfrm>
            <a:custGeom>
              <a:avLst/>
              <a:gdLst>
                <a:gd name="T0" fmla="*/ 13 w 15"/>
                <a:gd name="T1" fmla="*/ 13 h 17"/>
                <a:gd name="T2" fmla="*/ 9 w 15"/>
                <a:gd name="T3" fmla="*/ 15 h 17"/>
                <a:gd name="T4" fmla="*/ 3 w 15"/>
                <a:gd name="T5" fmla="*/ 9 h 17"/>
                <a:gd name="T6" fmla="*/ 9 w 15"/>
                <a:gd name="T7" fmla="*/ 3 h 17"/>
                <a:gd name="T8" fmla="*/ 13 w 15"/>
                <a:gd name="T9" fmla="*/ 5 h 17"/>
                <a:gd name="T10" fmla="*/ 13 w 15"/>
                <a:gd name="T11" fmla="*/ 5 h 17"/>
                <a:gd name="T12" fmla="*/ 15 w 15"/>
                <a:gd name="T13" fmla="*/ 3 h 17"/>
                <a:gd name="T14" fmla="*/ 15 w 15"/>
                <a:gd name="T15" fmla="*/ 3 h 17"/>
                <a:gd name="T16" fmla="*/ 9 w 15"/>
                <a:gd name="T17" fmla="*/ 0 h 17"/>
                <a:gd name="T18" fmla="*/ 3 w 15"/>
                <a:gd name="T19" fmla="*/ 3 h 17"/>
                <a:gd name="T20" fmla="*/ 0 w 15"/>
                <a:gd name="T21" fmla="*/ 9 h 17"/>
                <a:gd name="T22" fmla="*/ 9 w 15"/>
                <a:gd name="T23" fmla="*/ 17 h 17"/>
                <a:gd name="T24" fmla="*/ 15 w 15"/>
                <a:gd name="T25" fmla="*/ 15 h 17"/>
                <a:gd name="T26" fmla="*/ 15 w 15"/>
                <a:gd name="T27" fmla="*/ 15 h 17"/>
                <a:gd name="T28" fmla="*/ 13 w 15"/>
                <a:gd name="T29" fmla="*/ 13 h 17"/>
                <a:gd name="T30" fmla="*/ 13 w 15"/>
                <a:gd name="T31" fmla="*/ 13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" h="17">
                  <a:moveTo>
                    <a:pt x="13" y="13"/>
                  </a:moveTo>
                  <a:cubicBezTo>
                    <a:pt x="12" y="14"/>
                    <a:pt x="10" y="15"/>
                    <a:pt x="9" y="15"/>
                  </a:cubicBezTo>
                  <a:cubicBezTo>
                    <a:pt x="5" y="15"/>
                    <a:pt x="3" y="12"/>
                    <a:pt x="3" y="9"/>
                  </a:cubicBezTo>
                  <a:cubicBezTo>
                    <a:pt x="3" y="6"/>
                    <a:pt x="5" y="3"/>
                    <a:pt x="9" y="3"/>
                  </a:cubicBezTo>
                  <a:cubicBezTo>
                    <a:pt x="10" y="3"/>
                    <a:pt x="12" y="3"/>
                    <a:pt x="13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3" y="1"/>
                    <a:pt x="11" y="0"/>
                    <a:pt x="9" y="0"/>
                  </a:cubicBezTo>
                  <a:cubicBezTo>
                    <a:pt x="6" y="0"/>
                    <a:pt x="4" y="1"/>
                    <a:pt x="3" y="3"/>
                  </a:cubicBezTo>
                  <a:cubicBezTo>
                    <a:pt x="1" y="4"/>
                    <a:pt x="0" y="7"/>
                    <a:pt x="0" y="9"/>
                  </a:cubicBezTo>
                  <a:cubicBezTo>
                    <a:pt x="0" y="13"/>
                    <a:pt x="3" y="17"/>
                    <a:pt x="9" y="17"/>
                  </a:cubicBezTo>
                  <a:cubicBezTo>
                    <a:pt x="11" y="17"/>
                    <a:pt x="13" y="16"/>
                    <a:pt x="15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" name="Freeform 28"/>
            <p:cNvSpPr>
              <a:spLocks/>
            </p:cNvSpPr>
            <p:nvPr userDrawn="1"/>
          </p:nvSpPr>
          <p:spPr bwMode="auto">
            <a:xfrm>
              <a:off x="8331584" y="798513"/>
              <a:ext cx="41348" cy="50800"/>
            </a:xfrm>
            <a:custGeom>
              <a:avLst/>
              <a:gdLst>
                <a:gd name="T0" fmla="*/ 11 w 13"/>
                <a:gd name="T1" fmla="*/ 9 h 16"/>
                <a:gd name="T2" fmla="*/ 7 w 13"/>
                <a:gd name="T3" fmla="*/ 14 h 16"/>
                <a:gd name="T4" fmla="*/ 2 w 13"/>
                <a:gd name="T5" fmla="*/ 9 h 16"/>
                <a:gd name="T6" fmla="*/ 2 w 13"/>
                <a:gd name="T7" fmla="*/ 0 h 16"/>
                <a:gd name="T8" fmla="*/ 0 w 13"/>
                <a:gd name="T9" fmla="*/ 0 h 16"/>
                <a:gd name="T10" fmla="*/ 0 w 13"/>
                <a:gd name="T11" fmla="*/ 9 h 16"/>
                <a:gd name="T12" fmla="*/ 7 w 13"/>
                <a:gd name="T13" fmla="*/ 16 h 16"/>
                <a:gd name="T14" fmla="*/ 13 w 13"/>
                <a:gd name="T15" fmla="*/ 9 h 16"/>
                <a:gd name="T16" fmla="*/ 13 w 13"/>
                <a:gd name="T17" fmla="*/ 0 h 16"/>
                <a:gd name="T18" fmla="*/ 11 w 13"/>
                <a:gd name="T19" fmla="*/ 0 h 16"/>
                <a:gd name="T20" fmla="*/ 11 w 13"/>
                <a:gd name="T21" fmla="*/ 9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3" h="16">
                  <a:moveTo>
                    <a:pt x="11" y="9"/>
                  </a:moveTo>
                  <a:cubicBezTo>
                    <a:pt x="11" y="12"/>
                    <a:pt x="9" y="14"/>
                    <a:pt x="7" y="14"/>
                  </a:cubicBezTo>
                  <a:cubicBezTo>
                    <a:pt x="5" y="14"/>
                    <a:pt x="2" y="12"/>
                    <a:pt x="2" y="9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3" y="16"/>
                    <a:pt x="7" y="16"/>
                  </a:cubicBezTo>
                  <a:cubicBezTo>
                    <a:pt x="10" y="16"/>
                    <a:pt x="13" y="14"/>
                    <a:pt x="13" y="9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9"/>
                    <a:pt x="11" y="9"/>
                    <a:pt x="11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" name="Freeform 29"/>
            <p:cNvSpPr>
              <a:spLocks/>
            </p:cNvSpPr>
            <p:nvPr userDrawn="1"/>
          </p:nvSpPr>
          <p:spPr bwMode="auto">
            <a:xfrm>
              <a:off x="8388834" y="798513"/>
              <a:ext cx="41348" cy="50800"/>
            </a:xfrm>
            <a:custGeom>
              <a:avLst/>
              <a:gdLst>
                <a:gd name="T0" fmla="*/ 20 w 26"/>
                <a:gd name="T1" fmla="*/ 22 h 32"/>
                <a:gd name="T2" fmla="*/ 2 w 26"/>
                <a:gd name="T3" fmla="*/ 0 h 32"/>
                <a:gd name="T4" fmla="*/ 0 w 26"/>
                <a:gd name="T5" fmla="*/ 0 h 32"/>
                <a:gd name="T6" fmla="*/ 0 w 26"/>
                <a:gd name="T7" fmla="*/ 32 h 32"/>
                <a:gd name="T8" fmla="*/ 4 w 26"/>
                <a:gd name="T9" fmla="*/ 32 h 32"/>
                <a:gd name="T10" fmla="*/ 4 w 26"/>
                <a:gd name="T11" fmla="*/ 10 h 32"/>
                <a:gd name="T12" fmla="*/ 22 w 26"/>
                <a:gd name="T13" fmla="*/ 32 h 32"/>
                <a:gd name="T14" fmla="*/ 26 w 26"/>
                <a:gd name="T15" fmla="*/ 32 h 32"/>
                <a:gd name="T16" fmla="*/ 26 w 26"/>
                <a:gd name="T17" fmla="*/ 0 h 32"/>
                <a:gd name="T18" fmla="*/ 20 w 26"/>
                <a:gd name="T19" fmla="*/ 0 h 32"/>
                <a:gd name="T20" fmla="*/ 20 w 26"/>
                <a:gd name="T21" fmla="*/ 22 h 32"/>
                <a:gd name="T22" fmla="*/ 20 w 26"/>
                <a:gd name="T23" fmla="*/ 2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6" h="32">
                  <a:moveTo>
                    <a:pt x="20" y="22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4" y="10"/>
                  </a:lnTo>
                  <a:lnTo>
                    <a:pt x="22" y="32"/>
                  </a:lnTo>
                  <a:lnTo>
                    <a:pt x="26" y="32"/>
                  </a:lnTo>
                  <a:lnTo>
                    <a:pt x="26" y="0"/>
                  </a:lnTo>
                  <a:lnTo>
                    <a:pt x="20" y="0"/>
                  </a:lnTo>
                  <a:lnTo>
                    <a:pt x="20" y="22"/>
                  </a:lnTo>
                  <a:lnTo>
                    <a:pt x="20" y="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" name="Freeform 30"/>
            <p:cNvSpPr>
              <a:spLocks/>
            </p:cNvSpPr>
            <p:nvPr userDrawn="1"/>
          </p:nvSpPr>
          <p:spPr bwMode="auto">
            <a:xfrm>
              <a:off x="8442905" y="798513"/>
              <a:ext cx="9542" cy="50800"/>
            </a:xfrm>
            <a:custGeom>
              <a:avLst/>
              <a:gdLst>
                <a:gd name="T0" fmla="*/ 0 w 6"/>
                <a:gd name="T1" fmla="*/ 32 h 32"/>
                <a:gd name="T2" fmla="*/ 6 w 6"/>
                <a:gd name="T3" fmla="*/ 32 h 32"/>
                <a:gd name="T4" fmla="*/ 6 w 6"/>
                <a:gd name="T5" fmla="*/ 0 h 32"/>
                <a:gd name="T6" fmla="*/ 0 w 6"/>
                <a:gd name="T7" fmla="*/ 0 h 32"/>
                <a:gd name="T8" fmla="*/ 0 w 6"/>
                <a:gd name="T9" fmla="*/ 32 h 32"/>
                <a:gd name="T10" fmla="*/ 0 w 6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32">
                  <a:moveTo>
                    <a:pt x="0" y="32"/>
                  </a:moveTo>
                  <a:lnTo>
                    <a:pt x="6" y="3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" name="Freeform 31"/>
            <p:cNvSpPr>
              <a:spLocks/>
            </p:cNvSpPr>
            <p:nvPr userDrawn="1"/>
          </p:nvSpPr>
          <p:spPr bwMode="auto">
            <a:xfrm>
              <a:off x="8461988" y="798513"/>
              <a:ext cx="50890" cy="50800"/>
            </a:xfrm>
            <a:custGeom>
              <a:avLst/>
              <a:gdLst>
                <a:gd name="T0" fmla="*/ 6 w 32"/>
                <a:gd name="T1" fmla="*/ 0 h 32"/>
                <a:gd name="T2" fmla="*/ 0 w 32"/>
                <a:gd name="T3" fmla="*/ 0 h 32"/>
                <a:gd name="T4" fmla="*/ 12 w 32"/>
                <a:gd name="T5" fmla="*/ 32 h 32"/>
                <a:gd name="T6" fmla="*/ 18 w 32"/>
                <a:gd name="T7" fmla="*/ 32 h 32"/>
                <a:gd name="T8" fmla="*/ 32 w 32"/>
                <a:gd name="T9" fmla="*/ 0 h 32"/>
                <a:gd name="T10" fmla="*/ 26 w 32"/>
                <a:gd name="T11" fmla="*/ 0 h 32"/>
                <a:gd name="T12" fmla="*/ 16 w 32"/>
                <a:gd name="T13" fmla="*/ 26 h 32"/>
                <a:gd name="T14" fmla="*/ 6 w 32"/>
                <a:gd name="T15" fmla="*/ 0 h 32"/>
                <a:gd name="T16" fmla="*/ 6 w 32"/>
                <a:gd name="T17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" h="32">
                  <a:moveTo>
                    <a:pt x="6" y="0"/>
                  </a:moveTo>
                  <a:lnTo>
                    <a:pt x="0" y="0"/>
                  </a:lnTo>
                  <a:lnTo>
                    <a:pt x="12" y="32"/>
                  </a:lnTo>
                  <a:lnTo>
                    <a:pt x="18" y="32"/>
                  </a:lnTo>
                  <a:lnTo>
                    <a:pt x="32" y="0"/>
                  </a:lnTo>
                  <a:lnTo>
                    <a:pt x="26" y="0"/>
                  </a:lnTo>
                  <a:lnTo>
                    <a:pt x="16" y="26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" name="Freeform 32"/>
            <p:cNvSpPr>
              <a:spLocks/>
            </p:cNvSpPr>
            <p:nvPr userDrawn="1"/>
          </p:nvSpPr>
          <p:spPr bwMode="auto">
            <a:xfrm>
              <a:off x="8519239" y="798513"/>
              <a:ext cx="38167" cy="50800"/>
            </a:xfrm>
            <a:custGeom>
              <a:avLst/>
              <a:gdLst>
                <a:gd name="T0" fmla="*/ 6 w 24"/>
                <a:gd name="T1" fmla="*/ 18 h 32"/>
                <a:gd name="T2" fmla="*/ 24 w 24"/>
                <a:gd name="T3" fmla="*/ 18 h 32"/>
                <a:gd name="T4" fmla="*/ 24 w 24"/>
                <a:gd name="T5" fmla="*/ 12 h 32"/>
                <a:gd name="T6" fmla="*/ 6 w 24"/>
                <a:gd name="T7" fmla="*/ 12 h 32"/>
                <a:gd name="T8" fmla="*/ 6 w 24"/>
                <a:gd name="T9" fmla="*/ 4 h 32"/>
                <a:gd name="T10" fmla="*/ 24 w 24"/>
                <a:gd name="T11" fmla="*/ 4 h 32"/>
                <a:gd name="T12" fmla="*/ 24 w 24"/>
                <a:gd name="T13" fmla="*/ 0 h 32"/>
                <a:gd name="T14" fmla="*/ 0 w 24"/>
                <a:gd name="T15" fmla="*/ 0 h 32"/>
                <a:gd name="T16" fmla="*/ 0 w 24"/>
                <a:gd name="T17" fmla="*/ 32 h 32"/>
                <a:gd name="T18" fmla="*/ 24 w 24"/>
                <a:gd name="T19" fmla="*/ 32 h 32"/>
                <a:gd name="T20" fmla="*/ 24 w 24"/>
                <a:gd name="T21" fmla="*/ 26 h 32"/>
                <a:gd name="T22" fmla="*/ 6 w 24"/>
                <a:gd name="T23" fmla="*/ 26 h 32"/>
                <a:gd name="T24" fmla="*/ 6 w 24"/>
                <a:gd name="T25" fmla="*/ 18 h 32"/>
                <a:gd name="T26" fmla="*/ 6 w 24"/>
                <a:gd name="T27" fmla="*/ 18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" h="32">
                  <a:moveTo>
                    <a:pt x="6" y="18"/>
                  </a:moveTo>
                  <a:lnTo>
                    <a:pt x="24" y="18"/>
                  </a:lnTo>
                  <a:lnTo>
                    <a:pt x="24" y="12"/>
                  </a:lnTo>
                  <a:lnTo>
                    <a:pt x="6" y="12"/>
                  </a:lnTo>
                  <a:lnTo>
                    <a:pt x="6" y="4"/>
                  </a:lnTo>
                  <a:lnTo>
                    <a:pt x="24" y="4"/>
                  </a:lnTo>
                  <a:lnTo>
                    <a:pt x="2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24" y="32"/>
                  </a:lnTo>
                  <a:lnTo>
                    <a:pt x="24" y="26"/>
                  </a:lnTo>
                  <a:lnTo>
                    <a:pt x="6" y="26"/>
                  </a:lnTo>
                  <a:lnTo>
                    <a:pt x="6" y="18"/>
                  </a:lnTo>
                  <a:lnTo>
                    <a:pt x="6" y="1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" name="Freeform 33"/>
            <p:cNvSpPr>
              <a:spLocks noEditPoints="1"/>
            </p:cNvSpPr>
            <p:nvPr userDrawn="1"/>
          </p:nvSpPr>
          <p:spPr bwMode="auto">
            <a:xfrm>
              <a:off x="8570129" y="798513"/>
              <a:ext cx="44528" cy="50800"/>
            </a:xfrm>
            <a:custGeom>
              <a:avLst/>
              <a:gdLst>
                <a:gd name="T0" fmla="*/ 13 w 14"/>
                <a:gd name="T1" fmla="*/ 5 h 16"/>
                <a:gd name="T2" fmla="*/ 7 w 14"/>
                <a:gd name="T3" fmla="*/ 0 h 16"/>
                <a:gd name="T4" fmla="*/ 0 w 14"/>
                <a:gd name="T5" fmla="*/ 0 h 16"/>
                <a:gd name="T6" fmla="*/ 0 w 14"/>
                <a:gd name="T7" fmla="*/ 16 h 16"/>
                <a:gd name="T8" fmla="*/ 2 w 14"/>
                <a:gd name="T9" fmla="*/ 16 h 16"/>
                <a:gd name="T10" fmla="*/ 2 w 14"/>
                <a:gd name="T11" fmla="*/ 10 h 16"/>
                <a:gd name="T12" fmla="*/ 6 w 14"/>
                <a:gd name="T13" fmla="*/ 10 h 16"/>
                <a:gd name="T14" fmla="*/ 11 w 14"/>
                <a:gd name="T15" fmla="*/ 16 h 16"/>
                <a:gd name="T16" fmla="*/ 14 w 14"/>
                <a:gd name="T17" fmla="*/ 16 h 16"/>
                <a:gd name="T18" fmla="*/ 9 w 14"/>
                <a:gd name="T19" fmla="*/ 10 h 16"/>
                <a:gd name="T20" fmla="*/ 13 w 14"/>
                <a:gd name="T21" fmla="*/ 5 h 16"/>
                <a:gd name="T22" fmla="*/ 2 w 14"/>
                <a:gd name="T23" fmla="*/ 2 h 16"/>
                <a:gd name="T24" fmla="*/ 7 w 14"/>
                <a:gd name="T25" fmla="*/ 2 h 16"/>
                <a:gd name="T26" fmla="*/ 10 w 14"/>
                <a:gd name="T27" fmla="*/ 5 h 16"/>
                <a:gd name="T28" fmla="*/ 7 w 14"/>
                <a:gd name="T29" fmla="*/ 8 h 16"/>
                <a:gd name="T30" fmla="*/ 2 w 14"/>
                <a:gd name="T31" fmla="*/ 8 h 16"/>
                <a:gd name="T32" fmla="*/ 2 w 14"/>
                <a:gd name="T33" fmla="*/ 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4" h="16">
                  <a:moveTo>
                    <a:pt x="13" y="5"/>
                  </a:moveTo>
                  <a:cubicBezTo>
                    <a:pt x="13" y="2"/>
                    <a:pt x="11" y="0"/>
                    <a:pt x="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11" y="10"/>
                    <a:pt x="13" y="8"/>
                    <a:pt x="13" y="5"/>
                  </a:cubicBezTo>
                  <a:close/>
                  <a:moveTo>
                    <a:pt x="2" y="2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9" y="2"/>
                    <a:pt x="10" y="4"/>
                    <a:pt x="10" y="5"/>
                  </a:cubicBezTo>
                  <a:cubicBezTo>
                    <a:pt x="10" y="6"/>
                    <a:pt x="9" y="8"/>
                    <a:pt x="7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2"/>
                    <a:pt x="2" y="2"/>
                    <a:pt x="2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" name="Freeform 34"/>
            <p:cNvSpPr>
              <a:spLocks/>
            </p:cNvSpPr>
            <p:nvPr userDrawn="1"/>
          </p:nvSpPr>
          <p:spPr bwMode="auto">
            <a:xfrm>
              <a:off x="8617838" y="795338"/>
              <a:ext cx="44528" cy="53975"/>
            </a:xfrm>
            <a:custGeom>
              <a:avLst/>
              <a:gdLst>
                <a:gd name="T0" fmla="*/ 8 w 14"/>
                <a:gd name="T1" fmla="*/ 7 h 17"/>
                <a:gd name="T2" fmla="*/ 4 w 14"/>
                <a:gd name="T3" fmla="*/ 5 h 17"/>
                <a:gd name="T4" fmla="*/ 7 w 14"/>
                <a:gd name="T5" fmla="*/ 3 h 17"/>
                <a:gd name="T6" fmla="*/ 12 w 14"/>
                <a:gd name="T7" fmla="*/ 5 h 17"/>
                <a:gd name="T8" fmla="*/ 12 w 14"/>
                <a:gd name="T9" fmla="*/ 5 h 17"/>
                <a:gd name="T10" fmla="*/ 14 w 14"/>
                <a:gd name="T11" fmla="*/ 4 h 17"/>
                <a:gd name="T12" fmla="*/ 14 w 14"/>
                <a:gd name="T13" fmla="*/ 3 h 17"/>
                <a:gd name="T14" fmla="*/ 7 w 14"/>
                <a:gd name="T15" fmla="*/ 0 h 17"/>
                <a:gd name="T16" fmla="*/ 2 w 14"/>
                <a:gd name="T17" fmla="*/ 2 h 17"/>
                <a:gd name="T18" fmla="*/ 1 w 14"/>
                <a:gd name="T19" fmla="*/ 5 h 17"/>
                <a:gd name="T20" fmla="*/ 7 w 14"/>
                <a:gd name="T21" fmla="*/ 10 h 17"/>
                <a:gd name="T22" fmla="*/ 12 w 14"/>
                <a:gd name="T23" fmla="*/ 12 h 17"/>
                <a:gd name="T24" fmla="*/ 7 w 14"/>
                <a:gd name="T25" fmla="*/ 15 h 17"/>
                <a:gd name="T26" fmla="*/ 3 w 14"/>
                <a:gd name="T27" fmla="*/ 12 h 17"/>
                <a:gd name="T28" fmla="*/ 2 w 14"/>
                <a:gd name="T29" fmla="*/ 12 h 17"/>
                <a:gd name="T30" fmla="*/ 0 w 14"/>
                <a:gd name="T31" fmla="*/ 13 h 17"/>
                <a:gd name="T32" fmla="*/ 0 w 14"/>
                <a:gd name="T33" fmla="*/ 14 h 17"/>
                <a:gd name="T34" fmla="*/ 7 w 14"/>
                <a:gd name="T35" fmla="*/ 17 h 17"/>
                <a:gd name="T36" fmla="*/ 14 w 14"/>
                <a:gd name="T37" fmla="*/ 12 h 17"/>
                <a:gd name="T38" fmla="*/ 8 w 14"/>
                <a:gd name="T39" fmla="*/ 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" h="17">
                  <a:moveTo>
                    <a:pt x="8" y="7"/>
                  </a:moveTo>
                  <a:cubicBezTo>
                    <a:pt x="5" y="7"/>
                    <a:pt x="4" y="6"/>
                    <a:pt x="4" y="5"/>
                  </a:cubicBezTo>
                  <a:cubicBezTo>
                    <a:pt x="4" y="4"/>
                    <a:pt x="5" y="3"/>
                    <a:pt x="7" y="3"/>
                  </a:cubicBezTo>
                  <a:cubicBezTo>
                    <a:pt x="9" y="3"/>
                    <a:pt x="11" y="3"/>
                    <a:pt x="12" y="5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2" y="1"/>
                    <a:pt x="10" y="0"/>
                    <a:pt x="7" y="0"/>
                  </a:cubicBezTo>
                  <a:cubicBezTo>
                    <a:pt x="6" y="0"/>
                    <a:pt x="3" y="1"/>
                    <a:pt x="2" y="2"/>
                  </a:cubicBezTo>
                  <a:cubicBezTo>
                    <a:pt x="1" y="3"/>
                    <a:pt x="1" y="4"/>
                    <a:pt x="1" y="5"/>
                  </a:cubicBezTo>
                  <a:cubicBezTo>
                    <a:pt x="1" y="9"/>
                    <a:pt x="5" y="9"/>
                    <a:pt x="7" y="10"/>
                  </a:cubicBezTo>
                  <a:cubicBezTo>
                    <a:pt x="10" y="10"/>
                    <a:pt x="12" y="11"/>
                    <a:pt x="12" y="12"/>
                  </a:cubicBezTo>
                  <a:cubicBezTo>
                    <a:pt x="12" y="15"/>
                    <a:pt x="8" y="15"/>
                    <a:pt x="7" y="15"/>
                  </a:cubicBezTo>
                  <a:cubicBezTo>
                    <a:pt x="6" y="15"/>
                    <a:pt x="4" y="14"/>
                    <a:pt x="3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2" y="16"/>
                    <a:pt x="4" y="17"/>
                    <a:pt x="7" y="17"/>
                  </a:cubicBezTo>
                  <a:cubicBezTo>
                    <a:pt x="11" y="17"/>
                    <a:pt x="14" y="16"/>
                    <a:pt x="14" y="12"/>
                  </a:cubicBezTo>
                  <a:cubicBezTo>
                    <a:pt x="14" y="9"/>
                    <a:pt x="11" y="8"/>
                    <a:pt x="8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" name="Freeform 35"/>
            <p:cNvSpPr>
              <a:spLocks/>
            </p:cNvSpPr>
            <p:nvPr userDrawn="1"/>
          </p:nvSpPr>
          <p:spPr bwMode="auto">
            <a:xfrm>
              <a:off x="8671908" y="798513"/>
              <a:ext cx="9542" cy="50800"/>
            </a:xfrm>
            <a:custGeom>
              <a:avLst/>
              <a:gdLst>
                <a:gd name="T0" fmla="*/ 0 w 6"/>
                <a:gd name="T1" fmla="*/ 32 h 32"/>
                <a:gd name="T2" fmla="*/ 6 w 6"/>
                <a:gd name="T3" fmla="*/ 32 h 32"/>
                <a:gd name="T4" fmla="*/ 6 w 6"/>
                <a:gd name="T5" fmla="*/ 0 h 32"/>
                <a:gd name="T6" fmla="*/ 0 w 6"/>
                <a:gd name="T7" fmla="*/ 0 h 32"/>
                <a:gd name="T8" fmla="*/ 0 w 6"/>
                <a:gd name="T9" fmla="*/ 32 h 32"/>
                <a:gd name="T10" fmla="*/ 0 w 6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32">
                  <a:moveTo>
                    <a:pt x="0" y="32"/>
                  </a:moveTo>
                  <a:lnTo>
                    <a:pt x="6" y="3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" name="Freeform 36"/>
            <p:cNvSpPr>
              <a:spLocks/>
            </p:cNvSpPr>
            <p:nvPr userDrawn="1"/>
          </p:nvSpPr>
          <p:spPr bwMode="auto">
            <a:xfrm>
              <a:off x="8690991" y="798513"/>
              <a:ext cx="84286" cy="50800"/>
            </a:xfrm>
            <a:custGeom>
              <a:avLst/>
              <a:gdLst>
                <a:gd name="T0" fmla="*/ 29 w 53"/>
                <a:gd name="T1" fmla="*/ 0 h 32"/>
                <a:gd name="T2" fmla="*/ 0 w 53"/>
                <a:gd name="T3" fmla="*/ 0 h 32"/>
                <a:gd name="T4" fmla="*/ 0 w 53"/>
                <a:gd name="T5" fmla="*/ 4 h 32"/>
                <a:gd name="T6" fmla="*/ 9 w 53"/>
                <a:gd name="T7" fmla="*/ 4 h 32"/>
                <a:gd name="T8" fmla="*/ 9 w 53"/>
                <a:gd name="T9" fmla="*/ 32 h 32"/>
                <a:gd name="T10" fmla="*/ 15 w 53"/>
                <a:gd name="T11" fmla="*/ 32 h 32"/>
                <a:gd name="T12" fmla="*/ 15 w 53"/>
                <a:gd name="T13" fmla="*/ 4 h 32"/>
                <a:gd name="T14" fmla="*/ 25 w 53"/>
                <a:gd name="T15" fmla="*/ 4 h 32"/>
                <a:gd name="T16" fmla="*/ 35 w 53"/>
                <a:gd name="T17" fmla="*/ 18 h 32"/>
                <a:gd name="T18" fmla="*/ 35 w 53"/>
                <a:gd name="T19" fmla="*/ 32 h 32"/>
                <a:gd name="T20" fmla="*/ 41 w 53"/>
                <a:gd name="T21" fmla="*/ 32 h 32"/>
                <a:gd name="T22" fmla="*/ 41 w 53"/>
                <a:gd name="T23" fmla="*/ 18 h 32"/>
                <a:gd name="T24" fmla="*/ 53 w 53"/>
                <a:gd name="T25" fmla="*/ 0 h 32"/>
                <a:gd name="T26" fmla="*/ 53 w 53"/>
                <a:gd name="T27" fmla="*/ 0 h 32"/>
                <a:gd name="T28" fmla="*/ 53 w 53"/>
                <a:gd name="T29" fmla="*/ 0 h 32"/>
                <a:gd name="T30" fmla="*/ 47 w 53"/>
                <a:gd name="T31" fmla="*/ 0 h 32"/>
                <a:gd name="T32" fmla="*/ 37 w 53"/>
                <a:gd name="T33" fmla="*/ 14 h 32"/>
                <a:gd name="T34" fmla="*/ 29 w 53"/>
                <a:gd name="T35" fmla="*/ 0 h 32"/>
                <a:gd name="T36" fmla="*/ 29 w 53"/>
                <a:gd name="T37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3" h="32">
                  <a:moveTo>
                    <a:pt x="29" y="0"/>
                  </a:moveTo>
                  <a:lnTo>
                    <a:pt x="0" y="0"/>
                  </a:lnTo>
                  <a:lnTo>
                    <a:pt x="0" y="4"/>
                  </a:lnTo>
                  <a:lnTo>
                    <a:pt x="9" y="4"/>
                  </a:lnTo>
                  <a:lnTo>
                    <a:pt x="9" y="32"/>
                  </a:lnTo>
                  <a:lnTo>
                    <a:pt x="15" y="32"/>
                  </a:lnTo>
                  <a:lnTo>
                    <a:pt x="15" y="4"/>
                  </a:lnTo>
                  <a:lnTo>
                    <a:pt x="25" y="4"/>
                  </a:lnTo>
                  <a:lnTo>
                    <a:pt x="35" y="18"/>
                  </a:lnTo>
                  <a:lnTo>
                    <a:pt x="35" y="32"/>
                  </a:lnTo>
                  <a:lnTo>
                    <a:pt x="41" y="32"/>
                  </a:lnTo>
                  <a:lnTo>
                    <a:pt x="41" y="18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47" y="0"/>
                  </a:lnTo>
                  <a:lnTo>
                    <a:pt x="37" y="14"/>
                  </a:lnTo>
                  <a:lnTo>
                    <a:pt x="29" y="0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" name="Freeform 37"/>
            <p:cNvSpPr>
              <a:spLocks/>
            </p:cNvSpPr>
            <p:nvPr userDrawn="1"/>
          </p:nvSpPr>
          <p:spPr bwMode="auto">
            <a:xfrm>
              <a:off x="8484252" y="371475"/>
              <a:ext cx="291025" cy="363538"/>
            </a:xfrm>
            <a:custGeom>
              <a:avLst/>
              <a:gdLst>
                <a:gd name="T0" fmla="*/ 92 w 92"/>
                <a:gd name="T1" fmla="*/ 0 h 115"/>
                <a:gd name="T2" fmla="*/ 92 w 92"/>
                <a:gd name="T3" fmla="*/ 71 h 115"/>
                <a:gd name="T4" fmla="*/ 49 w 92"/>
                <a:gd name="T5" fmla="*/ 115 h 115"/>
                <a:gd name="T6" fmla="*/ 0 w 92"/>
                <a:gd name="T7" fmla="*/ 70 h 115"/>
                <a:gd name="T8" fmla="*/ 0 w 92"/>
                <a:gd name="T9" fmla="*/ 0 h 115"/>
                <a:gd name="T10" fmla="*/ 22 w 92"/>
                <a:gd name="T11" fmla="*/ 0 h 115"/>
                <a:gd name="T12" fmla="*/ 22 w 92"/>
                <a:gd name="T13" fmla="*/ 72 h 115"/>
                <a:gd name="T14" fmla="*/ 50 w 92"/>
                <a:gd name="T15" fmla="*/ 105 h 115"/>
                <a:gd name="T16" fmla="*/ 79 w 92"/>
                <a:gd name="T17" fmla="*/ 73 h 115"/>
                <a:gd name="T18" fmla="*/ 79 w 92"/>
                <a:gd name="T19" fmla="*/ 0 h 115"/>
                <a:gd name="T20" fmla="*/ 92 w 92"/>
                <a:gd name="T21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2" h="115">
                  <a:moveTo>
                    <a:pt x="92" y="0"/>
                  </a:moveTo>
                  <a:cubicBezTo>
                    <a:pt x="92" y="71"/>
                    <a:pt x="92" y="71"/>
                    <a:pt x="92" y="71"/>
                  </a:cubicBezTo>
                  <a:cubicBezTo>
                    <a:pt x="92" y="109"/>
                    <a:pt x="62" y="115"/>
                    <a:pt x="49" y="115"/>
                  </a:cubicBezTo>
                  <a:cubicBezTo>
                    <a:pt x="25" y="115"/>
                    <a:pt x="0" y="107"/>
                    <a:pt x="0" y="7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72"/>
                    <a:pt x="22" y="72"/>
                    <a:pt x="22" y="72"/>
                  </a:cubicBezTo>
                  <a:cubicBezTo>
                    <a:pt x="22" y="93"/>
                    <a:pt x="32" y="105"/>
                    <a:pt x="50" y="105"/>
                  </a:cubicBezTo>
                  <a:cubicBezTo>
                    <a:pt x="66" y="105"/>
                    <a:pt x="79" y="95"/>
                    <a:pt x="79" y="73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92" y="0"/>
                    <a:pt x="92" y="0"/>
                    <a:pt x="9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" name="Freeform 38"/>
            <p:cNvSpPr>
              <a:spLocks/>
            </p:cNvSpPr>
            <p:nvPr userDrawn="1"/>
          </p:nvSpPr>
          <p:spPr bwMode="auto">
            <a:xfrm>
              <a:off x="8096219" y="365125"/>
              <a:ext cx="337144" cy="369888"/>
            </a:xfrm>
            <a:custGeom>
              <a:avLst/>
              <a:gdLst>
                <a:gd name="T0" fmla="*/ 61 w 106"/>
                <a:gd name="T1" fmla="*/ 117 h 117"/>
                <a:gd name="T2" fmla="*/ 0 w 106"/>
                <a:gd name="T3" fmla="*/ 60 h 117"/>
                <a:gd name="T4" fmla="*/ 63 w 106"/>
                <a:gd name="T5" fmla="*/ 0 h 117"/>
                <a:gd name="T6" fmla="*/ 97 w 106"/>
                <a:gd name="T7" fmla="*/ 13 h 117"/>
                <a:gd name="T8" fmla="*/ 106 w 106"/>
                <a:gd name="T9" fmla="*/ 28 h 117"/>
                <a:gd name="T10" fmla="*/ 94 w 106"/>
                <a:gd name="T11" fmla="*/ 39 h 117"/>
                <a:gd name="T12" fmla="*/ 83 w 106"/>
                <a:gd name="T13" fmla="*/ 28 h 117"/>
                <a:gd name="T14" fmla="*/ 86 w 106"/>
                <a:gd name="T15" fmla="*/ 20 h 117"/>
                <a:gd name="T16" fmla="*/ 63 w 106"/>
                <a:gd name="T17" fmla="*/ 10 h 117"/>
                <a:gd name="T18" fmla="*/ 21 w 106"/>
                <a:gd name="T19" fmla="*/ 58 h 117"/>
                <a:gd name="T20" fmla="*/ 65 w 106"/>
                <a:gd name="T21" fmla="*/ 108 h 117"/>
                <a:gd name="T22" fmla="*/ 102 w 106"/>
                <a:gd name="T23" fmla="*/ 93 h 117"/>
                <a:gd name="T24" fmla="*/ 106 w 106"/>
                <a:gd name="T25" fmla="*/ 99 h 117"/>
                <a:gd name="T26" fmla="*/ 61 w 106"/>
                <a:gd name="T27" fmla="*/ 117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6" h="117">
                  <a:moveTo>
                    <a:pt x="61" y="117"/>
                  </a:moveTo>
                  <a:cubicBezTo>
                    <a:pt x="23" y="117"/>
                    <a:pt x="0" y="91"/>
                    <a:pt x="0" y="60"/>
                  </a:cubicBezTo>
                  <a:cubicBezTo>
                    <a:pt x="0" y="29"/>
                    <a:pt x="24" y="0"/>
                    <a:pt x="63" y="0"/>
                  </a:cubicBezTo>
                  <a:cubicBezTo>
                    <a:pt x="74" y="0"/>
                    <a:pt x="88" y="4"/>
                    <a:pt x="97" y="13"/>
                  </a:cubicBezTo>
                  <a:cubicBezTo>
                    <a:pt x="102" y="16"/>
                    <a:pt x="106" y="23"/>
                    <a:pt x="106" y="28"/>
                  </a:cubicBezTo>
                  <a:cubicBezTo>
                    <a:pt x="106" y="34"/>
                    <a:pt x="101" y="39"/>
                    <a:pt x="94" y="39"/>
                  </a:cubicBezTo>
                  <a:cubicBezTo>
                    <a:pt x="88" y="39"/>
                    <a:pt x="83" y="34"/>
                    <a:pt x="83" y="28"/>
                  </a:cubicBezTo>
                  <a:cubicBezTo>
                    <a:pt x="83" y="25"/>
                    <a:pt x="84" y="22"/>
                    <a:pt x="86" y="20"/>
                  </a:cubicBezTo>
                  <a:cubicBezTo>
                    <a:pt x="81" y="14"/>
                    <a:pt x="71" y="10"/>
                    <a:pt x="63" y="10"/>
                  </a:cubicBezTo>
                  <a:cubicBezTo>
                    <a:pt x="36" y="10"/>
                    <a:pt x="21" y="35"/>
                    <a:pt x="21" y="58"/>
                  </a:cubicBezTo>
                  <a:cubicBezTo>
                    <a:pt x="21" y="85"/>
                    <a:pt x="38" y="108"/>
                    <a:pt x="65" y="108"/>
                  </a:cubicBezTo>
                  <a:cubicBezTo>
                    <a:pt x="79" y="108"/>
                    <a:pt x="90" y="102"/>
                    <a:pt x="102" y="93"/>
                  </a:cubicBezTo>
                  <a:cubicBezTo>
                    <a:pt x="106" y="99"/>
                    <a:pt x="106" y="99"/>
                    <a:pt x="106" y="99"/>
                  </a:cubicBezTo>
                  <a:cubicBezTo>
                    <a:pt x="94" y="111"/>
                    <a:pt x="77" y="117"/>
                    <a:pt x="61" y="1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" name="Freeform 39"/>
            <p:cNvSpPr>
              <a:spLocks noEditPoints="1"/>
            </p:cNvSpPr>
            <p:nvPr userDrawn="1"/>
          </p:nvSpPr>
          <p:spPr bwMode="auto">
            <a:xfrm>
              <a:off x="7760666" y="371475"/>
              <a:ext cx="329192" cy="357188"/>
            </a:xfrm>
            <a:custGeom>
              <a:avLst/>
              <a:gdLst>
                <a:gd name="T0" fmla="*/ 163 w 207"/>
                <a:gd name="T1" fmla="*/ 225 h 225"/>
                <a:gd name="T2" fmla="*/ 207 w 207"/>
                <a:gd name="T3" fmla="*/ 225 h 225"/>
                <a:gd name="T4" fmla="*/ 119 w 207"/>
                <a:gd name="T5" fmla="*/ 0 h 225"/>
                <a:gd name="T6" fmla="*/ 85 w 207"/>
                <a:gd name="T7" fmla="*/ 0 h 225"/>
                <a:gd name="T8" fmla="*/ 0 w 207"/>
                <a:gd name="T9" fmla="*/ 225 h 225"/>
                <a:gd name="T10" fmla="*/ 21 w 207"/>
                <a:gd name="T11" fmla="*/ 225 h 225"/>
                <a:gd name="T12" fmla="*/ 47 w 207"/>
                <a:gd name="T13" fmla="*/ 161 h 225"/>
                <a:gd name="T14" fmla="*/ 139 w 207"/>
                <a:gd name="T15" fmla="*/ 161 h 225"/>
                <a:gd name="T16" fmla="*/ 163 w 207"/>
                <a:gd name="T17" fmla="*/ 225 h 225"/>
                <a:gd name="T18" fmla="*/ 163 w 207"/>
                <a:gd name="T19" fmla="*/ 225 h 225"/>
                <a:gd name="T20" fmla="*/ 53 w 207"/>
                <a:gd name="T21" fmla="*/ 141 h 225"/>
                <a:gd name="T22" fmla="*/ 93 w 207"/>
                <a:gd name="T23" fmla="*/ 36 h 225"/>
                <a:gd name="T24" fmla="*/ 133 w 207"/>
                <a:gd name="T25" fmla="*/ 141 h 225"/>
                <a:gd name="T26" fmla="*/ 53 w 207"/>
                <a:gd name="T27" fmla="*/ 141 h 225"/>
                <a:gd name="T28" fmla="*/ 53 w 207"/>
                <a:gd name="T29" fmla="*/ 14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07" h="225">
                  <a:moveTo>
                    <a:pt x="163" y="225"/>
                  </a:moveTo>
                  <a:lnTo>
                    <a:pt x="207" y="225"/>
                  </a:lnTo>
                  <a:lnTo>
                    <a:pt x="119" y="0"/>
                  </a:lnTo>
                  <a:lnTo>
                    <a:pt x="85" y="0"/>
                  </a:lnTo>
                  <a:lnTo>
                    <a:pt x="0" y="225"/>
                  </a:lnTo>
                  <a:lnTo>
                    <a:pt x="21" y="225"/>
                  </a:lnTo>
                  <a:lnTo>
                    <a:pt x="47" y="161"/>
                  </a:lnTo>
                  <a:lnTo>
                    <a:pt x="139" y="161"/>
                  </a:lnTo>
                  <a:lnTo>
                    <a:pt x="163" y="225"/>
                  </a:lnTo>
                  <a:lnTo>
                    <a:pt x="163" y="225"/>
                  </a:lnTo>
                  <a:close/>
                  <a:moveTo>
                    <a:pt x="53" y="141"/>
                  </a:moveTo>
                  <a:lnTo>
                    <a:pt x="93" y="36"/>
                  </a:lnTo>
                  <a:lnTo>
                    <a:pt x="133" y="141"/>
                  </a:lnTo>
                  <a:lnTo>
                    <a:pt x="53" y="141"/>
                  </a:lnTo>
                  <a:lnTo>
                    <a:pt x="53" y="14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1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038725" y="2848654"/>
            <a:ext cx="3867150" cy="580346"/>
          </a:xfrm>
        </p:spPr>
        <p:txBody>
          <a:bodyPr anchor="b">
            <a:noAutofit/>
          </a:bodyPr>
          <a:lstStyle>
            <a:lvl1pPr>
              <a:defRPr sz="386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Heading</a:t>
            </a:r>
            <a:endParaRPr lang="en-AU" dirty="0"/>
          </a:p>
        </p:txBody>
      </p:sp>
      <p:sp>
        <p:nvSpPr>
          <p:cNvPr id="82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5038725" y="3652838"/>
            <a:ext cx="3867150" cy="447675"/>
          </a:xfrm>
        </p:spPr>
        <p:txBody>
          <a:bodyPr anchor="b">
            <a:noAutofit/>
          </a:bodyPr>
          <a:lstStyle>
            <a:lvl1pPr marL="0" indent="0" algn="l">
              <a:buNone/>
              <a:defRPr sz="1863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Subheading</a:t>
            </a:r>
          </a:p>
        </p:txBody>
      </p:sp>
      <p:sp>
        <p:nvSpPr>
          <p:cNvPr id="83" name="Text Placeholder 7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5038725" y="5316538"/>
            <a:ext cx="3770313" cy="294882"/>
          </a:xfrm>
        </p:spPr>
        <p:txBody>
          <a:bodyPr>
            <a:normAutofit/>
          </a:bodyPr>
          <a:lstStyle>
            <a:lvl1pPr marL="0" indent="0">
              <a:buNone/>
              <a:defRPr sz="1597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AU" dirty="0"/>
              <a:t>Presenter Name</a:t>
            </a:r>
          </a:p>
        </p:txBody>
      </p:sp>
      <p:sp>
        <p:nvSpPr>
          <p:cNvPr id="84" name="Text Placeholder 7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5038725" y="5611420"/>
            <a:ext cx="3770313" cy="328773"/>
          </a:xfrm>
        </p:spPr>
        <p:txBody>
          <a:bodyPr>
            <a:normAutofit/>
          </a:bodyPr>
          <a:lstStyle>
            <a:lvl1pPr marL="0" indent="0">
              <a:buNone/>
              <a:defRPr sz="1597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AU" dirty="0"/>
              <a:t>Date</a:t>
            </a:r>
          </a:p>
        </p:txBody>
      </p:sp>
      <p:sp>
        <p:nvSpPr>
          <p:cNvPr id="86" name="Picture Placeholder 85"/>
          <p:cNvSpPr>
            <a:spLocks noGrp="1"/>
          </p:cNvSpPr>
          <p:nvPr userDrawn="1">
            <p:ph type="pic" sz="quarter" idx="12"/>
          </p:nvPr>
        </p:nvSpPr>
        <p:spPr>
          <a:xfrm>
            <a:off x="0" y="457200"/>
            <a:ext cx="4572000" cy="6388100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Drag picture to placeholder or click icon to add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77701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/>
          <p:cNvSpPr/>
          <p:nvPr userDrawn="1"/>
        </p:nvSpPr>
        <p:spPr>
          <a:xfrm>
            <a:off x="0" y="-3175"/>
            <a:ext cx="9142413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60732720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6" name="Freeform 5"/>
          <p:cNvSpPr>
            <a:spLocks/>
          </p:cNvSpPr>
          <p:nvPr userDrawn="1"/>
        </p:nvSpPr>
        <p:spPr bwMode="auto">
          <a:xfrm>
            <a:off x="0" y="457201"/>
            <a:ext cx="4572232" cy="6388107"/>
          </a:xfrm>
          <a:custGeom>
            <a:avLst/>
            <a:gdLst>
              <a:gd name="T0" fmla="*/ 2875 w 2875"/>
              <a:gd name="T1" fmla="*/ 0 h 4024"/>
              <a:gd name="T2" fmla="*/ 2875 w 2875"/>
              <a:gd name="T3" fmla="*/ 4024 h 4024"/>
              <a:gd name="T4" fmla="*/ 0 w 2875"/>
              <a:gd name="T5" fmla="*/ 4024 h 4024"/>
              <a:gd name="T6" fmla="*/ 0 w 2875"/>
              <a:gd name="T7" fmla="*/ 0 h 4024"/>
              <a:gd name="T8" fmla="*/ 2875 w 2875"/>
              <a:gd name="T9" fmla="*/ 0 h 4024"/>
              <a:gd name="T10" fmla="*/ 2875 w 2875"/>
              <a:gd name="T11" fmla="*/ 0 h 4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875" h="4024">
                <a:moveTo>
                  <a:pt x="2875" y="0"/>
                </a:moveTo>
                <a:lnTo>
                  <a:pt x="2875" y="4024"/>
                </a:lnTo>
                <a:lnTo>
                  <a:pt x="0" y="4024"/>
                </a:lnTo>
                <a:lnTo>
                  <a:pt x="0" y="0"/>
                </a:lnTo>
                <a:lnTo>
                  <a:pt x="2875" y="0"/>
                </a:lnTo>
                <a:lnTo>
                  <a:pt x="2875" y="0"/>
                </a:lnTo>
                <a:close/>
              </a:path>
            </a:pathLst>
          </a:custGeom>
          <a:solidFill>
            <a:srgbClr val="F2120D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7" name="Freeform 6"/>
          <p:cNvSpPr>
            <a:spLocks/>
          </p:cNvSpPr>
          <p:nvPr userDrawn="1"/>
        </p:nvSpPr>
        <p:spPr bwMode="auto">
          <a:xfrm>
            <a:off x="4572232" y="-3174"/>
            <a:ext cx="4572232" cy="6858007"/>
          </a:xfrm>
          <a:custGeom>
            <a:avLst/>
            <a:gdLst>
              <a:gd name="T0" fmla="*/ 2875 w 2875"/>
              <a:gd name="T1" fmla="*/ 0 h 4320"/>
              <a:gd name="T2" fmla="*/ 2875 w 2875"/>
              <a:gd name="T3" fmla="*/ 4030 h 4320"/>
              <a:gd name="T4" fmla="*/ 290 w 2875"/>
              <a:gd name="T5" fmla="*/ 4030 h 4320"/>
              <a:gd name="T6" fmla="*/ 0 w 2875"/>
              <a:gd name="T7" fmla="*/ 4320 h 4320"/>
              <a:gd name="T8" fmla="*/ 0 w 2875"/>
              <a:gd name="T9" fmla="*/ 290 h 4320"/>
              <a:gd name="T10" fmla="*/ 290 w 2875"/>
              <a:gd name="T11" fmla="*/ 0 h 4320"/>
              <a:gd name="T12" fmla="*/ 2875 w 2875"/>
              <a:gd name="T13" fmla="*/ 0 h 4320"/>
              <a:gd name="T14" fmla="*/ 2875 w 2875"/>
              <a:gd name="T15" fmla="*/ 0 h 4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875" h="4320">
                <a:moveTo>
                  <a:pt x="2875" y="0"/>
                </a:moveTo>
                <a:lnTo>
                  <a:pt x="2875" y="4030"/>
                </a:lnTo>
                <a:lnTo>
                  <a:pt x="290" y="4030"/>
                </a:lnTo>
                <a:lnTo>
                  <a:pt x="0" y="4320"/>
                </a:lnTo>
                <a:lnTo>
                  <a:pt x="0" y="290"/>
                </a:lnTo>
                <a:lnTo>
                  <a:pt x="290" y="0"/>
                </a:lnTo>
                <a:lnTo>
                  <a:pt x="2875" y="0"/>
                </a:lnTo>
                <a:lnTo>
                  <a:pt x="2875" y="0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AutoShape 3"/>
          <p:cNvSpPr>
            <a:spLocks noChangeAspect="1" noChangeArrowheads="1" noTextEdit="1"/>
          </p:cNvSpPr>
          <p:nvPr userDrawn="1"/>
        </p:nvSpPr>
        <p:spPr bwMode="auto">
          <a:xfrm>
            <a:off x="0" y="1"/>
            <a:ext cx="9144464" cy="68580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4804755" y="1054317"/>
            <a:ext cx="4247805" cy="4749367"/>
          </a:xfrm>
        </p:spPr>
        <p:txBody>
          <a:bodyPr lIns="0" tIns="0" rIns="0" bIns="0" anchor="ctr" anchorCtr="0">
            <a:noAutofit/>
          </a:bodyPr>
          <a:lstStyle>
            <a:lvl1pPr>
              <a:defRPr sz="37857" spc="-1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1</a:t>
            </a:r>
            <a:endParaRPr lang="en-AU" dirty="0"/>
          </a:p>
        </p:txBody>
      </p:sp>
      <p:sp>
        <p:nvSpPr>
          <p:cNvPr id="47" name="Text Placeholder 4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74420" y="3246827"/>
            <a:ext cx="3092450" cy="357995"/>
          </a:xfrm>
        </p:spPr>
        <p:txBody>
          <a:bodyPr>
            <a:normAutofit/>
          </a:bodyPr>
          <a:lstStyle>
            <a:lvl1pPr marL="0" indent="0">
              <a:buNone/>
              <a:defRPr sz="1997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AU" dirty="0"/>
              <a:t>Section title</a:t>
            </a:r>
          </a:p>
        </p:txBody>
      </p:sp>
      <p:grpSp>
        <p:nvGrpSpPr>
          <p:cNvPr id="82" name="Group 81"/>
          <p:cNvGrpSpPr/>
          <p:nvPr userDrawn="1"/>
        </p:nvGrpSpPr>
        <p:grpSpPr>
          <a:xfrm>
            <a:off x="7401258" y="365125"/>
            <a:ext cx="1374019" cy="484188"/>
            <a:chOff x="7401258" y="365125"/>
            <a:chExt cx="1374019" cy="484188"/>
          </a:xfrm>
        </p:grpSpPr>
        <p:sp>
          <p:nvSpPr>
            <p:cNvPr id="83" name="Freeform 7"/>
            <p:cNvSpPr>
              <a:spLocks/>
            </p:cNvSpPr>
            <p:nvPr userDrawn="1"/>
          </p:nvSpPr>
          <p:spPr bwMode="auto">
            <a:xfrm>
              <a:off x="7401258" y="371475"/>
              <a:ext cx="289435" cy="369888"/>
            </a:xfrm>
            <a:custGeom>
              <a:avLst/>
              <a:gdLst>
                <a:gd name="T0" fmla="*/ 91 w 91"/>
                <a:gd name="T1" fmla="*/ 0 h 117"/>
                <a:gd name="T2" fmla="*/ 91 w 91"/>
                <a:gd name="T3" fmla="*/ 51 h 117"/>
                <a:gd name="T4" fmla="*/ 46 w 91"/>
                <a:gd name="T5" fmla="*/ 117 h 117"/>
                <a:gd name="T6" fmla="*/ 0 w 91"/>
                <a:gd name="T7" fmla="*/ 51 h 117"/>
                <a:gd name="T8" fmla="*/ 0 w 91"/>
                <a:gd name="T9" fmla="*/ 0 h 117"/>
                <a:gd name="T10" fmla="*/ 91 w 91"/>
                <a:gd name="T11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1" h="117">
                  <a:moveTo>
                    <a:pt x="91" y="0"/>
                  </a:moveTo>
                  <a:cubicBezTo>
                    <a:pt x="91" y="51"/>
                    <a:pt x="91" y="51"/>
                    <a:pt x="91" y="51"/>
                  </a:cubicBezTo>
                  <a:cubicBezTo>
                    <a:pt x="91" y="77"/>
                    <a:pt x="74" y="105"/>
                    <a:pt x="46" y="117"/>
                  </a:cubicBezTo>
                  <a:cubicBezTo>
                    <a:pt x="18" y="105"/>
                    <a:pt x="0" y="77"/>
                    <a:pt x="0" y="5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91" y="0"/>
                    <a:pt x="91" y="0"/>
                    <a:pt x="91" y="0"/>
                  </a:cubicBezTo>
                  <a:close/>
                </a:path>
              </a:pathLst>
            </a:custGeom>
            <a:solidFill>
              <a:srgbClr val="E2231A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4" name="Freeform 8"/>
            <p:cNvSpPr>
              <a:spLocks/>
            </p:cNvSpPr>
            <p:nvPr userDrawn="1"/>
          </p:nvSpPr>
          <p:spPr bwMode="auto">
            <a:xfrm>
              <a:off x="7455328" y="415925"/>
              <a:ext cx="181294" cy="236538"/>
            </a:xfrm>
            <a:custGeom>
              <a:avLst/>
              <a:gdLst>
                <a:gd name="T0" fmla="*/ 0 w 114"/>
                <a:gd name="T1" fmla="*/ 74 h 149"/>
                <a:gd name="T2" fmla="*/ 58 w 114"/>
                <a:gd name="T3" fmla="*/ 0 h 149"/>
                <a:gd name="T4" fmla="*/ 114 w 114"/>
                <a:gd name="T5" fmla="*/ 74 h 149"/>
                <a:gd name="T6" fmla="*/ 58 w 114"/>
                <a:gd name="T7" fmla="*/ 149 h 149"/>
                <a:gd name="T8" fmla="*/ 0 w 114"/>
                <a:gd name="T9" fmla="*/ 74 h 149"/>
                <a:gd name="T10" fmla="*/ 0 w 114"/>
                <a:gd name="T11" fmla="*/ 74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4" h="149">
                  <a:moveTo>
                    <a:pt x="0" y="74"/>
                  </a:moveTo>
                  <a:lnTo>
                    <a:pt x="58" y="0"/>
                  </a:lnTo>
                  <a:lnTo>
                    <a:pt x="114" y="74"/>
                  </a:lnTo>
                  <a:lnTo>
                    <a:pt x="58" y="149"/>
                  </a:lnTo>
                  <a:lnTo>
                    <a:pt x="0" y="74"/>
                  </a:lnTo>
                  <a:lnTo>
                    <a:pt x="0" y="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5" name="Freeform 9"/>
            <p:cNvSpPr>
              <a:spLocks/>
            </p:cNvSpPr>
            <p:nvPr userDrawn="1"/>
          </p:nvSpPr>
          <p:spPr bwMode="auto">
            <a:xfrm>
              <a:off x="7480773" y="466725"/>
              <a:ext cx="130405" cy="153988"/>
            </a:xfrm>
            <a:custGeom>
              <a:avLst/>
              <a:gdLst>
                <a:gd name="T0" fmla="*/ 18 w 41"/>
                <a:gd name="T1" fmla="*/ 26 h 49"/>
                <a:gd name="T2" fmla="*/ 21 w 41"/>
                <a:gd name="T3" fmla="*/ 49 h 49"/>
                <a:gd name="T4" fmla="*/ 21 w 41"/>
                <a:gd name="T5" fmla="*/ 49 h 49"/>
                <a:gd name="T6" fmla="*/ 21 w 41"/>
                <a:gd name="T7" fmla="*/ 49 h 49"/>
                <a:gd name="T8" fmla="*/ 23 w 41"/>
                <a:gd name="T9" fmla="*/ 26 h 49"/>
                <a:gd name="T10" fmla="*/ 23 w 41"/>
                <a:gd name="T11" fmla="*/ 24 h 49"/>
                <a:gd name="T12" fmla="*/ 32 w 41"/>
                <a:gd name="T13" fmla="*/ 24 h 49"/>
                <a:gd name="T14" fmla="*/ 32 w 41"/>
                <a:gd name="T15" fmla="*/ 25 h 49"/>
                <a:gd name="T16" fmla="*/ 35 w 41"/>
                <a:gd name="T17" fmla="*/ 28 h 49"/>
                <a:gd name="T18" fmla="*/ 37 w 41"/>
                <a:gd name="T19" fmla="*/ 25 h 49"/>
                <a:gd name="T20" fmla="*/ 37 w 41"/>
                <a:gd name="T21" fmla="*/ 24 h 49"/>
                <a:gd name="T22" fmla="*/ 38 w 41"/>
                <a:gd name="T23" fmla="*/ 24 h 49"/>
                <a:gd name="T24" fmla="*/ 41 w 41"/>
                <a:gd name="T25" fmla="*/ 21 h 49"/>
                <a:gd name="T26" fmla="*/ 38 w 41"/>
                <a:gd name="T27" fmla="*/ 19 h 49"/>
                <a:gd name="T28" fmla="*/ 37 w 41"/>
                <a:gd name="T29" fmla="*/ 19 h 49"/>
                <a:gd name="T30" fmla="*/ 37 w 41"/>
                <a:gd name="T31" fmla="*/ 18 h 49"/>
                <a:gd name="T32" fmla="*/ 35 w 41"/>
                <a:gd name="T33" fmla="*/ 15 h 49"/>
                <a:gd name="T34" fmla="*/ 32 w 41"/>
                <a:gd name="T35" fmla="*/ 18 h 49"/>
                <a:gd name="T36" fmla="*/ 32 w 41"/>
                <a:gd name="T37" fmla="*/ 19 h 49"/>
                <a:gd name="T38" fmla="*/ 23 w 41"/>
                <a:gd name="T39" fmla="*/ 19 h 49"/>
                <a:gd name="T40" fmla="*/ 23 w 41"/>
                <a:gd name="T41" fmla="*/ 9 h 49"/>
                <a:gd name="T42" fmla="*/ 24 w 41"/>
                <a:gd name="T43" fmla="*/ 9 h 49"/>
                <a:gd name="T44" fmla="*/ 27 w 41"/>
                <a:gd name="T45" fmla="*/ 6 h 49"/>
                <a:gd name="T46" fmla="*/ 24 w 41"/>
                <a:gd name="T47" fmla="*/ 3 h 49"/>
                <a:gd name="T48" fmla="*/ 23 w 41"/>
                <a:gd name="T49" fmla="*/ 3 h 49"/>
                <a:gd name="T50" fmla="*/ 23 w 41"/>
                <a:gd name="T51" fmla="*/ 3 h 49"/>
                <a:gd name="T52" fmla="*/ 21 w 41"/>
                <a:gd name="T53" fmla="*/ 0 h 49"/>
                <a:gd name="T54" fmla="*/ 18 w 41"/>
                <a:gd name="T55" fmla="*/ 3 h 49"/>
                <a:gd name="T56" fmla="*/ 18 w 41"/>
                <a:gd name="T57" fmla="*/ 3 h 49"/>
                <a:gd name="T58" fmla="*/ 17 w 41"/>
                <a:gd name="T59" fmla="*/ 3 h 49"/>
                <a:gd name="T60" fmla="*/ 14 w 41"/>
                <a:gd name="T61" fmla="*/ 6 h 49"/>
                <a:gd name="T62" fmla="*/ 17 w 41"/>
                <a:gd name="T63" fmla="*/ 9 h 49"/>
                <a:gd name="T64" fmla="*/ 18 w 41"/>
                <a:gd name="T65" fmla="*/ 9 h 49"/>
                <a:gd name="T66" fmla="*/ 18 w 41"/>
                <a:gd name="T67" fmla="*/ 19 h 49"/>
                <a:gd name="T68" fmla="*/ 18 w 41"/>
                <a:gd name="T69" fmla="*/ 19 h 49"/>
                <a:gd name="T70" fmla="*/ 10 w 41"/>
                <a:gd name="T71" fmla="*/ 19 h 49"/>
                <a:gd name="T72" fmla="*/ 10 w 41"/>
                <a:gd name="T73" fmla="*/ 18 h 49"/>
                <a:gd name="T74" fmla="*/ 7 w 41"/>
                <a:gd name="T75" fmla="*/ 15 h 49"/>
                <a:gd name="T76" fmla="*/ 4 w 41"/>
                <a:gd name="T77" fmla="*/ 18 h 49"/>
                <a:gd name="T78" fmla="*/ 4 w 41"/>
                <a:gd name="T79" fmla="*/ 19 h 49"/>
                <a:gd name="T80" fmla="*/ 4 w 41"/>
                <a:gd name="T81" fmla="*/ 19 h 49"/>
                <a:gd name="T82" fmla="*/ 0 w 41"/>
                <a:gd name="T83" fmla="*/ 21 h 49"/>
                <a:gd name="T84" fmla="*/ 4 w 41"/>
                <a:gd name="T85" fmla="*/ 24 h 49"/>
                <a:gd name="T86" fmla="*/ 4 w 41"/>
                <a:gd name="T87" fmla="*/ 24 h 49"/>
                <a:gd name="T88" fmla="*/ 4 w 41"/>
                <a:gd name="T89" fmla="*/ 25 h 49"/>
                <a:gd name="T90" fmla="*/ 7 w 41"/>
                <a:gd name="T91" fmla="*/ 28 h 49"/>
                <a:gd name="T92" fmla="*/ 10 w 41"/>
                <a:gd name="T93" fmla="*/ 25 h 49"/>
                <a:gd name="T94" fmla="*/ 10 w 41"/>
                <a:gd name="T95" fmla="*/ 24 h 49"/>
                <a:gd name="T96" fmla="*/ 18 w 41"/>
                <a:gd name="T97" fmla="*/ 24 h 49"/>
                <a:gd name="T98" fmla="*/ 18 w 41"/>
                <a:gd name="T99" fmla="*/ 26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41" h="49">
                  <a:moveTo>
                    <a:pt x="18" y="26"/>
                  </a:moveTo>
                  <a:cubicBezTo>
                    <a:pt x="18" y="36"/>
                    <a:pt x="20" y="48"/>
                    <a:pt x="21" y="49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48"/>
                    <a:pt x="23" y="36"/>
                    <a:pt x="23" y="26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32" y="24"/>
                    <a:pt x="32" y="24"/>
                    <a:pt x="32" y="24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2" y="26"/>
                    <a:pt x="33" y="28"/>
                    <a:pt x="35" y="28"/>
                  </a:cubicBezTo>
                  <a:cubicBezTo>
                    <a:pt x="36" y="28"/>
                    <a:pt x="37" y="26"/>
                    <a:pt x="37" y="25"/>
                  </a:cubicBezTo>
                  <a:cubicBezTo>
                    <a:pt x="37" y="24"/>
                    <a:pt x="37" y="24"/>
                    <a:pt x="37" y="24"/>
                  </a:cubicBezTo>
                  <a:cubicBezTo>
                    <a:pt x="38" y="24"/>
                    <a:pt x="38" y="24"/>
                    <a:pt x="38" y="24"/>
                  </a:cubicBezTo>
                  <a:cubicBezTo>
                    <a:pt x="39" y="24"/>
                    <a:pt x="41" y="23"/>
                    <a:pt x="41" y="21"/>
                  </a:cubicBezTo>
                  <a:cubicBezTo>
                    <a:pt x="41" y="20"/>
                    <a:pt x="39" y="19"/>
                    <a:pt x="38" y="19"/>
                  </a:cubicBezTo>
                  <a:cubicBezTo>
                    <a:pt x="37" y="19"/>
                    <a:pt x="37" y="19"/>
                    <a:pt x="37" y="19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7" y="17"/>
                    <a:pt x="36" y="15"/>
                    <a:pt x="35" y="15"/>
                  </a:cubicBezTo>
                  <a:cubicBezTo>
                    <a:pt x="33" y="15"/>
                    <a:pt x="32" y="17"/>
                    <a:pt x="32" y="18"/>
                  </a:cubicBezTo>
                  <a:cubicBezTo>
                    <a:pt x="32" y="19"/>
                    <a:pt x="32" y="19"/>
                    <a:pt x="32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25" y="9"/>
                    <a:pt x="27" y="8"/>
                    <a:pt x="27" y="6"/>
                  </a:cubicBezTo>
                  <a:cubicBezTo>
                    <a:pt x="27" y="5"/>
                    <a:pt x="25" y="3"/>
                    <a:pt x="24" y="3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3" y="1"/>
                    <a:pt x="22" y="0"/>
                    <a:pt x="21" y="0"/>
                  </a:cubicBezTo>
                  <a:cubicBezTo>
                    <a:pt x="19" y="0"/>
                    <a:pt x="18" y="1"/>
                    <a:pt x="18" y="3"/>
                  </a:cubicBezTo>
                  <a:cubicBezTo>
                    <a:pt x="18" y="3"/>
                    <a:pt x="18" y="3"/>
                    <a:pt x="18" y="3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6" y="3"/>
                    <a:pt x="14" y="5"/>
                    <a:pt x="14" y="6"/>
                  </a:cubicBezTo>
                  <a:cubicBezTo>
                    <a:pt x="14" y="8"/>
                    <a:pt x="16" y="9"/>
                    <a:pt x="17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17"/>
                    <a:pt x="8" y="15"/>
                    <a:pt x="7" y="15"/>
                  </a:cubicBezTo>
                  <a:cubicBezTo>
                    <a:pt x="5" y="15"/>
                    <a:pt x="4" y="17"/>
                    <a:pt x="4" y="18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2" y="19"/>
                    <a:pt x="0" y="20"/>
                    <a:pt x="0" y="21"/>
                  </a:cubicBezTo>
                  <a:cubicBezTo>
                    <a:pt x="0" y="23"/>
                    <a:pt x="2" y="24"/>
                    <a:pt x="4" y="24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4" y="26"/>
                    <a:pt x="5" y="28"/>
                    <a:pt x="7" y="28"/>
                  </a:cubicBezTo>
                  <a:cubicBezTo>
                    <a:pt x="8" y="28"/>
                    <a:pt x="10" y="26"/>
                    <a:pt x="10" y="25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8" y="24"/>
                    <a:pt x="18" y="24"/>
                    <a:pt x="18" y="24"/>
                  </a:cubicBezTo>
                  <a:cubicBezTo>
                    <a:pt x="18" y="26"/>
                    <a:pt x="18" y="26"/>
                    <a:pt x="18" y="26"/>
                  </a:cubicBezTo>
                  <a:close/>
                </a:path>
              </a:pathLst>
            </a:custGeom>
            <a:solidFill>
              <a:srgbClr val="E2231A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6" name="Freeform 10"/>
            <p:cNvSpPr>
              <a:spLocks noEditPoints="1"/>
            </p:cNvSpPr>
            <p:nvPr userDrawn="1"/>
          </p:nvSpPr>
          <p:spPr bwMode="auto">
            <a:xfrm>
              <a:off x="7401258" y="798513"/>
              <a:ext cx="54070" cy="50800"/>
            </a:xfrm>
            <a:custGeom>
              <a:avLst/>
              <a:gdLst>
                <a:gd name="T0" fmla="*/ 20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6 w 34"/>
                <a:gd name="T7" fmla="*/ 32 h 32"/>
                <a:gd name="T8" fmla="*/ 10 w 34"/>
                <a:gd name="T9" fmla="*/ 26 h 32"/>
                <a:gd name="T10" fmla="*/ 26 w 34"/>
                <a:gd name="T11" fmla="*/ 26 h 32"/>
                <a:gd name="T12" fmla="*/ 30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20 w 34"/>
                <a:gd name="T19" fmla="*/ 0 h 32"/>
                <a:gd name="T20" fmla="*/ 20 w 34"/>
                <a:gd name="T21" fmla="*/ 0 h 32"/>
                <a:gd name="T22" fmla="*/ 24 w 34"/>
                <a:gd name="T23" fmla="*/ 20 h 32"/>
                <a:gd name="T24" fmla="*/ 12 w 34"/>
                <a:gd name="T25" fmla="*/ 20 h 32"/>
                <a:gd name="T26" fmla="*/ 18 w 34"/>
                <a:gd name="T27" fmla="*/ 6 h 32"/>
                <a:gd name="T28" fmla="*/ 24 w 34"/>
                <a:gd name="T29" fmla="*/ 20 h 32"/>
                <a:gd name="T30" fmla="*/ 24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20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10" y="26"/>
                  </a:lnTo>
                  <a:lnTo>
                    <a:pt x="26" y="26"/>
                  </a:lnTo>
                  <a:lnTo>
                    <a:pt x="30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20" y="0"/>
                  </a:lnTo>
                  <a:close/>
                  <a:moveTo>
                    <a:pt x="24" y="20"/>
                  </a:moveTo>
                  <a:lnTo>
                    <a:pt x="12" y="20"/>
                  </a:lnTo>
                  <a:lnTo>
                    <a:pt x="18" y="6"/>
                  </a:lnTo>
                  <a:lnTo>
                    <a:pt x="24" y="20"/>
                  </a:lnTo>
                  <a:lnTo>
                    <a:pt x="24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7" name="Freeform 11"/>
            <p:cNvSpPr>
              <a:spLocks/>
            </p:cNvSpPr>
            <p:nvPr userDrawn="1"/>
          </p:nvSpPr>
          <p:spPr bwMode="auto">
            <a:xfrm>
              <a:off x="7458509" y="798513"/>
              <a:ext cx="44528" cy="50800"/>
            </a:xfrm>
            <a:custGeom>
              <a:avLst/>
              <a:gdLst>
                <a:gd name="T0" fmla="*/ 11 w 14"/>
                <a:gd name="T1" fmla="*/ 9 h 16"/>
                <a:gd name="T2" fmla="*/ 7 w 14"/>
                <a:gd name="T3" fmla="*/ 14 h 16"/>
                <a:gd name="T4" fmla="*/ 3 w 14"/>
                <a:gd name="T5" fmla="*/ 9 h 16"/>
                <a:gd name="T6" fmla="*/ 3 w 14"/>
                <a:gd name="T7" fmla="*/ 0 h 16"/>
                <a:gd name="T8" fmla="*/ 0 w 14"/>
                <a:gd name="T9" fmla="*/ 0 h 16"/>
                <a:gd name="T10" fmla="*/ 0 w 14"/>
                <a:gd name="T11" fmla="*/ 9 h 16"/>
                <a:gd name="T12" fmla="*/ 7 w 14"/>
                <a:gd name="T13" fmla="*/ 16 h 16"/>
                <a:gd name="T14" fmla="*/ 14 w 14"/>
                <a:gd name="T15" fmla="*/ 9 h 16"/>
                <a:gd name="T16" fmla="*/ 14 w 14"/>
                <a:gd name="T17" fmla="*/ 0 h 16"/>
                <a:gd name="T18" fmla="*/ 11 w 14"/>
                <a:gd name="T19" fmla="*/ 0 h 16"/>
                <a:gd name="T20" fmla="*/ 11 w 14"/>
                <a:gd name="T21" fmla="*/ 9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" h="16">
                  <a:moveTo>
                    <a:pt x="11" y="9"/>
                  </a:moveTo>
                  <a:cubicBezTo>
                    <a:pt x="11" y="12"/>
                    <a:pt x="9" y="14"/>
                    <a:pt x="7" y="14"/>
                  </a:cubicBezTo>
                  <a:cubicBezTo>
                    <a:pt x="5" y="14"/>
                    <a:pt x="3" y="12"/>
                    <a:pt x="3" y="9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4" y="16"/>
                    <a:pt x="7" y="16"/>
                  </a:cubicBezTo>
                  <a:cubicBezTo>
                    <a:pt x="10" y="16"/>
                    <a:pt x="14" y="14"/>
                    <a:pt x="14" y="9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9"/>
                    <a:pt x="11" y="9"/>
                    <a:pt x="11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" name="Freeform 12"/>
            <p:cNvSpPr>
              <a:spLocks/>
            </p:cNvSpPr>
            <p:nvPr userDrawn="1"/>
          </p:nvSpPr>
          <p:spPr bwMode="auto">
            <a:xfrm>
              <a:off x="7512579" y="795338"/>
              <a:ext cx="41348" cy="53975"/>
            </a:xfrm>
            <a:custGeom>
              <a:avLst/>
              <a:gdLst>
                <a:gd name="T0" fmla="*/ 7 w 13"/>
                <a:gd name="T1" fmla="*/ 7 h 17"/>
                <a:gd name="T2" fmla="*/ 3 w 13"/>
                <a:gd name="T3" fmla="*/ 5 h 17"/>
                <a:gd name="T4" fmla="*/ 7 w 13"/>
                <a:gd name="T5" fmla="*/ 3 h 17"/>
                <a:gd name="T6" fmla="*/ 11 w 13"/>
                <a:gd name="T7" fmla="*/ 5 h 17"/>
                <a:gd name="T8" fmla="*/ 11 w 13"/>
                <a:gd name="T9" fmla="*/ 5 h 17"/>
                <a:gd name="T10" fmla="*/ 13 w 13"/>
                <a:gd name="T11" fmla="*/ 4 h 17"/>
                <a:gd name="T12" fmla="*/ 13 w 13"/>
                <a:gd name="T13" fmla="*/ 3 h 17"/>
                <a:gd name="T14" fmla="*/ 7 w 13"/>
                <a:gd name="T15" fmla="*/ 0 h 17"/>
                <a:gd name="T16" fmla="*/ 2 w 13"/>
                <a:gd name="T17" fmla="*/ 2 h 17"/>
                <a:gd name="T18" fmla="*/ 0 w 13"/>
                <a:gd name="T19" fmla="*/ 5 h 17"/>
                <a:gd name="T20" fmla="*/ 7 w 13"/>
                <a:gd name="T21" fmla="*/ 10 h 17"/>
                <a:gd name="T22" fmla="*/ 11 w 13"/>
                <a:gd name="T23" fmla="*/ 12 h 17"/>
                <a:gd name="T24" fmla="*/ 7 w 13"/>
                <a:gd name="T25" fmla="*/ 15 h 17"/>
                <a:gd name="T26" fmla="*/ 2 w 13"/>
                <a:gd name="T27" fmla="*/ 12 h 17"/>
                <a:gd name="T28" fmla="*/ 2 w 13"/>
                <a:gd name="T29" fmla="*/ 12 h 17"/>
                <a:gd name="T30" fmla="*/ 0 w 13"/>
                <a:gd name="T31" fmla="*/ 13 h 17"/>
                <a:gd name="T32" fmla="*/ 0 w 13"/>
                <a:gd name="T33" fmla="*/ 14 h 17"/>
                <a:gd name="T34" fmla="*/ 7 w 13"/>
                <a:gd name="T35" fmla="*/ 17 h 17"/>
                <a:gd name="T36" fmla="*/ 13 w 13"/>
                <a:gd name="T37" fmla="*/ 12 h 17"/>
                <a:gd name="T38" fmla="*/ 7 w 13"/>
                <a:gd name="T39" fmla="*/ 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3" h="17">
                  <a:moveTo>
                    <a:pt x="7" y="7"/>
                  </a:moveTo>
                  <a:cubicBezTo>
                    <a:pt x="5" y="7"/>
                    <a:pt x="3" y="6"/>
                    <a:pt x="3" y="5"/>
                  </a:cubicBezTo>
                  <a:cubicBezTo>
                    <a:pt x="3" y="4"/>
                    <a:pt x="5" y="3"/>
                    <a:pt x="7" y="3"/>
                  </a:cubicBezTo>
                  <a:cubicBezTo>
                    <a:pt x="9" y="3"/>
                    <a:pt x="10" y="3"/>
                    <a:pt x="11" y="5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2" y="1"/>
                    <a:pt x="10" y="0"/>
                    <a:pt x="7" y="0"/>
                  </a:cubicBezTo>
                  <a:cubicBezTo>
                    <a:pt x="5" y="0"/>
                    <a:pt x="3" y="1"/>
                    <a:pt x="2" y="2"/>
                  </a:cubicBezTo>
                  <a:cubicBezTo>
                    <a:pt x="1" y="3"/>
                    <a:pt x="0" y="4"/>
                    <a:pt x="0" y="5"/>
                  </a:cubicBezTo>
                  <a:cubicBezTo>
                    <a:pt x="0" y="9"/>
                    <a:pt x="4" y="9"/>
                    <a:pt x="7" y="10"/>
                  </a:cubicBezTo>
                  <a:cubicBezTo>
                    <a:pt x="9" y="10"/>
                    <a:pt x="11" y="11"/>
                    <a:pt x="11" y="12"/>
                  </a:cubicBezTo>
                  <a:cubicBezTo>
                    <a:pt x="11" y="15"/>
                    <a:pt x="8" y="15"/>
                    <a:pt x="7" y="15"/>
                  </a:cubicBezTo>
                  <a:cubicBezTo>
                    <a:pt x="5" y="15"/>
                    <a:pt x="3" y="14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" y="16"/>
                    <a:pt x="3" y="17"/>
                    <a:pt x="7" y="17"/>
                  </a:cubicBezTo>
                  <a:cubicBezTo>
                    <a:pt x="10" y="17"/>
                    <a:pt x="13" y="16"/>
                    <a:pt x="13" y="12"/>
                  </a:cubicBezTo>
                  <a:cubicBezTo>
                    <a:pt x="13" y="9"/>
                    <a:pt x="10" y="8"/>
                    <a:pt x="7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" name="Freeform 13"/>
            <p:cNvSpPr>
              <a:spLocks/>
            </p:cNvSpPr>
            <p:nvPr userDrawn="1"/>
          </p:nvSpPr>
          <p:spPr bwMode="auto">
            <a:xfrm>
              <a:off x="7560288" y="798513"/>
              <a:ext cx="41348" cy="50800"/>
            </a:xfrm>
            <a:custGeom>
              <a:avLst/>
              <a:gdLst>
                <a:gd name="T0" fmla="*/ 0 w 26"/>
                <a:gd name="T1" fmla="*/ 4 h 32"/>
                <a:gd name="T2" fmla="*/ 10 w 26"/>
                <a:gd name="T3" fmla="*/ 4 h 32"/>
                <a:gd name="T4" fmla="*/ 10 w 26"/>
                <a:gd name="T5" fmla="*/ 32 h 32"/>
                <a:gd name="T6" fmla="*/ 16 w 26"/>
                <a:gd name="T7" fmla="*/ 32 h 32"/>
                <a:gd name="T8" fmla="*/ 16 w 26"/>
                <a:gd name="T9" fmla="*/ 4 h 32"/>
                <a:gd name="T10" fmla="*/ 26 w 26"/>
                <a:gd name="T11" fmla="*/ 4 h 32"/>
                <a:gd name="T12" fmla="*/ 26 w 26"/>
                <a:gd name="T13" fmla="*/ 0 h 32"/>
                <a:gd name="T14" fmla="*/ 0 w 26"/>
                <a:gd name="T15" fmla="*/ 0 h 32"/>
                <a:gd name="T16" fmla="*/ 0 w 26"/>
                <a:gd name="T17" fmla="*/ 4 h 32"/>
                <a:gd name="T18" fmla="*/ 0 w 26"/>
                <a:gd name="T19" fmla="*/ 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" h="32">
                  <a:moveTo>
                    <a:pt x="0" y="4"/>
                  </a:moveTo>
                  <a:lnTo>
                    <a:pt x="10" y="4"/>
                  </a:lnTo>
                  <a:lnTo>
                    <a:pt x="10" y="32"/>
                  </a:lnTo>
                  <a:lnTo>
                    <a:pt x="16" y="32"/>
                  </a:lnTo>
                  <a:lnTo>
                    <a:pt x="16" y="4"/>
                  </a:lnTo>
                  <a:lnTo>
                    <a:pt x="26" y="4"/>
                  </a:lnTo>
                  <a:lnTo>
                    <a:pt x="26" y="0"/>
                  </a:lnTo>
                  <a:lnTo>
                    <a:pt x="0" y="0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" name="Freeform 14"/>
            <p:cNvSpPr>
              <a:spLocks noEditPoints="1"/>
            </p:cNvSpPr>
            <p:nvPr userDrawn="1"/>
          </p:nvSpPr>
          <p:spPr bwMode="auto">
            <a:xfrm>
              <a:off x="7611177" y="798513"/>
              <a:ext cx="44528" cy="50800"/>
            </a:xfrm>
            <a:custGeom>
              <a:avLst/>
              <a:gdLst>
                <a:gd name="T0" fmla="*/ 13 w 14"/>
                <a:gd name="T1" fmla="*/ 5 h 16"/>
                <a:gd name="T2" fmla="*/ 7 w 14"/>
                <a:gd name="T3" fmla="*/ 0 h 16"/>
                <a:gd name="T4" fmla="*/ 0 w 14"/>
                <a:gd name="T5" fmla="*/ 0 h 16"/>
                <a:gd name="T6" fmla="*/ 0 w 14"/>
                <a:gd name="T7" fmla="*/ 16 h 16"/>
                <a:gd name="T8" fmla="*/ 2 w 14"/>
                <a:gd name="T9" fmla="*/ 16 h 16"/>
                <a:gd name="T10" fmla="*/ 2 w 14"/>
                <a:gd name="T11" fmla="*/ 10 h 16"/>
                <a:gd name="T12" fmla="*/ 6 w 14"/>
                <a:gd name="T13" fmla="*/ 10 h 16"/>
                <a:gd name="T14" fmla="*/ 10 w 14"/>
                <a:gd name="T15" fmla="*/ 16 h 16"/>
                <a:gd name="T16" fmla="*/ 14 w 14"/>
                <a:gd name="T17" fmla="*/ 16 h 16"/>
                <a:gd name="T18" fmla="*/ 8 w 14"/>
                <a:gd name="T19" fmla="*/ 10 h 16"/>
                <a:gd name="T20" fmla="*/ 13 w 14"/>
                <a:gd name="T21" fmla="*/ 5 h 16"/>
                <a:gd name="T22" fmla="*/ 2 w 14"/>
                <a:gd name="T23" fmla="*/ 2 h 16"/>
                <a:gd name="T24" fmla="*/ 7 w 14"/>
                <a:gd name="T25" fmla="*/ 2 h 16"/>
                <a:gd name="T26" fmla="*/ 10 w 14"/>
                <a:gd name="T27" fmla="*/ 5 h 16"/>
                <a:gd name="T28" fmla="*/ 7 w 14"/>
                <a:gd name="T29" fmla="*/ 8 h 16"/>
                <a:gd name="T30" fmla="*/ 2 w 14"/>
                <a:gd name="T31" fmla="*/ 8 h 16"/>
                <a:gd name="T32" fmla="*/ 2 w 14"/>
                <a:gd name="T33" fmla="*/ 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4" h="16">
                  <a:moveTo>
                    <a:pt x="13" y="5"/>
                  </a:moveTo>
                  <a:cubicBezTo>
                    <a:pt x="13" y="2"/>
                    <a:pt x="11" y="0"/>
                    <a:pt x="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8" y="10"/>
                    <a:pt x="8" y="10"/>
                    <a:pt x="8" y="10"/>
                  </a:cubicBezTo>
                  <a:cubicBezTo>
                    <a:pt x="11" y="10"/>
                    <a:pt x="13" y="8"/>
                    <a:pt x="13" y="5"/>
                  </a:cubicBezTo>
                  <a:close/>
                  <a:moveTo>
                    <a:pt x="2" y="2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9" y="2"/>
                    <a:pt x="10" y="4"/>
                    <a:pt x="10" y="5"/>
                  </a:cubicBezTo>
                  <a:cubicBezTo>
                    <a:pt x="10" y="6"/>
                    <a:pt x="9" y="8"/>
                    <a:pt x="7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2"/>
                    <a:pt x="2" y="2"/>
                    <a:pt x="2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" name="Freeform 15"/>
            <p:cNvSpPr>
              <a:spLocks noEditPoints="1"/>
            </p:cNvSpPr>
            <p:nvPr userDrawn="1"/>
          </p:nvSpPr>
          <p:spPr bwMode="auto">
            <a:xfrm>
              <a:off x="7658886" y="798513"/>
              <a:ext cx="54070" cy="50800"/>
            </a:xfrm>
            <a:custGeom>
              <a:avLst/>
              <a:gdLst>
                <a:gd name="T0" fmla="*/ 18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4 w 34"/>
                <a:gd name="T7" fmla="*/ 32 h 32"/>
                <a:gd name="T8" fmla="*/ 8 w 34"/>
                <a:gd name="T9" fmla="*/ 26 h 32"/>
                <a:gd name="T10" fmla="*/ 24 w 34"/>
                <a:gd name="T11" fmla="*/ 26 h 32"/>
                <a:gd name="T12" fmla="*/ 28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18 w 34"/>
                <a:gd name="T19" fmla="*/ 0 h 32"/>
                <a:gd name="T20" fmla="*/ 18 w 34"/>
                <a:gd name="T21" fmla="*/ 0 h 32"/>
                <a:gd name="T22" fmla="*/ 22 w 34"/>
                <a:gd name="T23" fmla="*/ 20 h 32"/>
                <a:gd name="T24" fmla="*/ 10 w 34"/>
                <a:gd name="T25" fmla="*/ 20 h 32"/>
                <a:gd name="T26" fmla="*/ 16 w 34"/>
                <a:gd name="T27" fmla="*/ 6 h 32"/>
                <a:gd name="T28" fmla="*/ 22 w 34"/>
                <a:gd name="T29" fmla="*/ 20 h 32"/>
                <a:gd name="T30" fmla="*/ 22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18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8" y="26"/>
                  </a:lnTo>
                  <a:lnTo>
                    <a:pt x="24" y="26"/>
                  </a:lnTo>
                  <a:lnTo>
                    <a:pt x="28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18" y="0"/>
                  </a:lnTo>
                  <a:lnTo>
                    <a:pt x="18" y="0"/>
                  </a:lnTo>
                  <a:close/>
                  <a:moveTo>
                    <a:pt x="22" y="20"/>
                  </a:moveTo>
                  <a:lnTo>
                    <a:pt x="10" y="20"/>
                  </a:lnTo>
                  <a:lnTo>
                    <a:pt x="16" y="6"/>
                  </a:lnTo>
                  <a:lnTo>
                    <a:pt x="22" y="20"/>
                  </a:lnTo>
                  <a:lnTo>
                    <a:pt x="22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" name="Freeform 16"/>
            <p:cNvSpPr>
              <a:spLocks/>
            </p:cNvSpPr>
            <p:nvPr userDrawn="1"/>
          </p:nvSpPr>
          <p:spPr bwMode="auto">
            <a:xfrm>
              <a:off x="7719318" y="798513"/>
              <a:ext cx="34987" cy="50800"/>
            </a:xfrm>
            <a:custGeom>
              <a:avLst/>
              <a:gdLst>
                <a:gd name="T0" fmla="*/ 6 w 22"/>
                <a:gd name="T1" fmla="*/ 0 h 32"/>
                <a:gd name="T2" fmla="*/ 0 w 22"/>
                <a:gd name="T3" fmla="*/ 0 h 32"/>
                <a:gd name="T4" fmla="*/ 0 w 22"/>
                <a:gd name="T5" fmla="*/ 32 h 32"/>
                <a:gd name="T6" fmla="*/ 22 w 22"/>
                <a:gd name="T7" fmla="*/ 32 h 32"/>
                <a:gd name="T8" fmla="*/ 22 w 22"/>
                <a:gd name="T9" fmla="*/ 28 h 32"/>
                <a:gd name="T10" fmla="*/ 6 w 22"/>
                <a:gd name="T11" fmla="*/ 28 h 32"/>
                <a:gd name="T12" fmla="*/ 6 w 22"/>
                <a:gd name="T13" fmla="*/ 0 h 32"/>
                <a:gd name="T14" fmla="*/ 6 w 22"/>
                <a:gd name="T1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" h="32">
                  <a:moveTo>
                    <a:pt x="6" y="0"/>
                  </a:moveTo>
                  <a:lnTo>
                    <a:pt x="0" y="0"/>
                  </a:lnTo>
                  <a:lnTo>
                    <a:pt x="0" y="32"/>
                  </a:lnTo>
                  <a:lnTo>
                    <a:pt x="22" y="32"/>
                  </a:lnTo>
                  <a:lnTo>
                    <a:pt x="22" y="28"/>
                  </a:lnTo>
                  <a:lnTo>
                    <a:pt x="6" y="28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" name="Freeform 17"/>
            <p:cNvSpPr>
              <a:spLocks/>
            </p:cNvSpPr>
            <p:nvPr userDrawn="1"/>
          </p:nvSpPr>
          <p:spPr bwMode="auto">
            <a:xfrm>
              <a:off x="7763846" y="798513"/>
              <a:ext cx="6361" cy="50800"/>
            </a:xfrm>
            <a:custGeom>
              <a:avLst/>
              <a:gdLst>
                <a:gd name="T0" fmla="*/ 0 w 4"/>
                <a:gd name="T1" fmla="*/ 32 h 32"/>
                <a:gd name="T2" fmla="*/ 4 w 4"/>
                <a:gd name="T3" fmla="*/ 32 h 32"/>
                <a:gd name="T4" fmla="*/ 4 w 4"/>
                <a:gd name="T5" fmla="*/ 0 h 32"/>
                <a:gd name="T6" fmla="*/ 0 w 4"/>
                <a:gd name="T7" fmla="*/ 0 h 32"/>
                <a:gd name="T8" fmla="*/ 0 w 4"/>
                <a:gd name="T9" fmla="*/ 32 h 32"/>
                <a:gd name="T10" fmla="*/ 0 w 4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32">
                  <a:moveTo>
                    <a:pt x="0" y="32"/>
                  </a:moveTo>
                  <a:lnTo>
                    <a:pt x="4" y="32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" name="Freeform 18"/>
            <p:cNvSpPr>
              <a:spLocks noEditPoints="1"/>
            </p:cNvSpPr>
            <p:nvPr userDrawn="1"/>
          </p:nvSpPr>
          <p:spPr bwMode="auto">
            <a:xfrm>
              <a:off x="7779749" y="798513"/>
              <a:ext cx="52480" cy="50800"/>
            </a:xfrm>
            <a:custGeom>
              <a:avLst/>
              <a:gdLst>
                <a:gd name="T0" fmla="*/ 19 w 33"/>
                <a:gd name="T1" fmla="*/ 0 h 32"/>
                <a:gd name="T2" fmla="*/ 13 w 33"/>
                <a:gd name="T3" fmla="*/ 0 h 32"/>
                <a:gd name="T4" fmla="*/ 0 w 33"/>
                <a:gd name="T5" fmla="*/ 32 h 32"/>
                <a:gd name="T6" fmla="*/ 6 w 33"/>
                <a:gd name="T7" fmla="*/ 32 h 32"/>
                <a:gd name="T8" fmla="*/ 7 w 33"/>
                <a:gd name="T9" fmla="*/ 26 h 32"/>
                <a:gd name="T10" fmla="*/ 25 w 33"/>
                <a:gd name="T11" fmla="*/ 26 h 32"/>
                <a:gd name="T12" fmla="*/ 27 w 33"/>
                <a:gd name="T13" fmla="*/ 32 h 32"/>
                <a:gd name="T14" fmla="*/ 33 w 33"/>
                <a:gd name="T15" fmla="*/ 32 h 32"/>
                <a:gd name="T16" fmla="*/ 19 w 33"/>
                <a:gd name="T17" fmla="*/ 0 h 32"/>
                <a:gd name="T18" fmla="*/ 19 w 33"/>
                <a:gd name="T19" fmla="*/ 0 h 32"/>
                <a:gd name="T20" fmla="*/ 19 w 33"/>
                <a:gd name="T21" fmla="*/ 0 h 32"/>
                <a:gd name="T22" fmla="*/ 23 w 33"/>
                <a:gd name="T23" fmla="*/ 20 h 32"/>
                <a:gd name="T24" fmla="*/ 9 w 33"/>
                <a:gd name="T25" fmla="*/ 20 h 32"/>
                <a:gd name="T26" fmla="*/ 17 w 33"/>
                <a:gd name="T27" fmla="*/ 6 h 32"/>
                <a:gd name="T28" fmla="*/ 23 w 33"/>
                <a:gd name="T29" fmla="*/ 20 h 32"/>
                <a:gd name="T30" fmla="*/ 23 w 33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3" h="32">
                  <a:moveTo>
                    <a:pt x="19" y="0"/>
                  </a:moveTo>
                  <a:lnTo>
                    <a:pt x="13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7" y="26"/>
                  </a:lnTo>
                  <a:lnTo>
                    <a:pt x="25" y="26"/>
                  </a:lnTo>
                  <a:lnTo>
                    <a:pt x="27" y="32"/>
                  </a:lnTo>
                  <a:lnTo>
                    <a:pt x="33" y="32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19" y="0"/>
                  </a:lnTo>
                  <a:close/>
                  <a:moveTo>
                    <a:pt x="23" y="20"/>
                  </a:moveTo>
                  <a:lnTo>
                    <a:pt x="9" y="20"/>
                  </a:lnTo>
                  <a:lnTo>
                    <a:pt x="17" y="6"/>
                  </a:lnTo>
                  <a:lnTo>
                    <a:pt x="23" y="20"/>
                  </a:lnTo>
                  <a:lnTo>
                    <a:pt x="23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" name="Freeform 19"/>
            <p:cNvSpPr>
              <a:spLocks/>
            </p:cNvSpPr>
            <p:nvPr userDrawn="1"/>
          </p:nvSpPr>
          <p:spPr bwMode="auto">
            <a:xfrm>
              <a:off x="7841771" y="798513"/>
              <a:ext cx="41348" cy="50800"/>
            </a:xfrm>
            <a:custGeom>
              <a:avLst/>
              <a:gdLst>
                <a:gd name="T0" fmla="*/ 22 w 26"/>
                <a:gd name="T1" fmla="*/ 22 h 32"/>
                <a:gd name="T2" fmla="*/ 2 w 26"/>
                <a:gd name="T3" fmla="*/ 0 h 32"/>
                <a:gd name="T4" fmla="*/ 0 w 26"/>
                <a:gd name="T5" fmla="*/ 0 h 32"/>
                <a:gd name="T6" fmla="*/ 0 w 26"/>
                <a:gd name="T7" fmla="*/ 32 h 32"/>
                <a:gd name="T8" fmla="*/ 4 w 26"/>
                <a:gd name="T9" fmla="*/ 32 h 32"/>
                <a:gd name="T10" fmla="*/ 4 w 26"/>
                <a:gd name="T11" fmla="*/ 10 h 32"/>
                <a:gd name="T12" fmla="*/ 22 w 26"/>
                <a:gd name="T13" fmla="*/ 32 h 32"/>
                <a:gd name="T14" fmla="*/ 26 w 26"/>
                <a:gd name="T15" fmla="*/ 32 h 32"/>
                <a:gd name="T16" fmla="*/ 26 w 26"/>
                <a:gd name="T17" fmla="*/ 0 h 32"/>
                <a:gd name="T18" fmla="*/ 22 w 26"/>
                <a:gd name="T19" fmla="*/ 0 h 32"/>
                <a:gd name="T20" fmla="*/ 22 w 26"/>
                <a:gd name="T21" fmla="*/ 22 h 32"/>
                <a:gd name="T22" fmla="*/ 22 w 26"/>
                <a:gd name="T23" fmla="*/ 2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6" h="32">
                  <a:moveTo>
                    <a:pt x="22" y="22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4" y="10"/>
                  </a:lnTo>
                  <a:lnTo>
                    <a:pt x="22" y="32"/>
                  </a:lnTo>
                  <a:lnTo>
                    <a:pt x="26" y="32"/>
                  </a:lnTo>
                  <a:lnTo>
                    <a:pt x="26" y="0"/>
                  </a:lnTo>
                  <a:lnTo>
                    <a:pt x="22" y="0"/>
                  </a:lnTo>
                  <a:lnTo>
                    <a:pt x="22" y="22"/>
                  </a:lnTo>
                  <a:lnTo>
                    <a:pt x="22" y="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" name="Freeform 20"/>
            <p:cNvSpPr>
              <a:spLocks/>
            </p:cNvSpPr>
            <p:nvPr userDrawn="1"/>
          </p:nvSpPr>
          <p:spPr bwMode="auto">
            <a:xfrm>
              <a:off x="7921286" y="795338"/>
              <a:ext cx="47709" cy="53975"/>
            </a:xfrm>
            <a:custGeom>
              <a:avLst/>
              <a:gdLst>
                <a:gd name="T0" fmla="*/ 13 w 15"/>
                <a:gd name="T1" fmla="*/ 13 h 17"/>
                <a:gd name="T2" fmla="*/ 9 w 15"/>
                <a:gd name="T3" fmla="*/ 15 h 17"/>
                <a:gd name="T4" fmla="*/ 3 w 15"/>
                <a:gd name="T5" fmla="*/ 9 h 17"/>
                <a:gd name="T6" fmla="*/ 9 w 15"/>
                <a:gd name="T7" fmla="*/ 3 h 17"/>
                <a:gd name="T8" fmla="*/ 13 w 15"/>
                <a:gd name="T9" fmla="*/ 5 h 17"/>
                <a:gd name="T10" fmla="*/ 13 w 15"/>
                <a:gd name="T11" fmla="*/ 5 h 17"/>
                <a:gd name="T12" fmla="*/ 15 w 15"/>
                <a:gd name="T13" fmla="*/ 3 h 17"/>
                <a:gd name="T14" fmla="*/ 15 w 15"/>
                <a:gd name="T15" fmla="*/ 3 h 17"/>
                <a:gd name="T16" fmla="*/ 9 w 15"/>
                <a:gd name="T17" fmla="*/ 0 h 17"/>
                <a:gd name="T18" fmla="*/ 2 w 15"/>
                <a:gd name="T19" fmla="*/ 3 h 17"/>
                <a:gd name="T20" fmla="*/ 0 w 15"/>
                <a:gd name="T21" fmla="*/ 9 h 17"/>
                <a:gd name="T22" fmla="*/ 9 w 15"/>
                <a:gd name="T23" fmla="*/ 17 h 17"/>
                <a:gd name="T24" fmla="*/ 15 w 15"/>
                <a:gd name="T25" fmla="*/ 15 h 17"/>
                <a:gd name="T26" fmla="*/ 15 w 15"/>
                <a:gd name="T27" fmla="*/ 15 h 17"/>
                <a:gd name="T28" fmla="*/ 13 w 15"/>
                <a:gd name="T29" fmla="*/ 13 h 17"/>
                <a:gd name="T30" fmla="*/ 13 w 15"/>
                <a:gd name="T31" fmla="*/ 13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" h="17">
                  <a:moveTo>
                    <a:pt x="13" y="13"/>
                  </a:moveTo>
                  <a:cubicBezTo>
                    <a:pt x="12" y="14"/>
                    <a:pt x="10" y="15"/>
                    <a:pt x="9" y="15"/>
                  </a:cubicBezTo>
                  <a:cubicBezTo>
                    <a:pt x="4" y="15"/>
                    <a:pt x="3" y="12"/>
                    <a:pt x="3" y="9"/>
                  </a:cubicBezTo>
                  <a:cubicBezTo>
                    <a:pt x="3" y="6"/>
                    <a:pt x="4" y="3"/>
                    <a:pt x="9" y="3"/>
                  </a:cubicBezTo>
                  <a:cubicBezTo>
                    <a:pt x="10" y="3"/>
                    <a:pt x="12" y="3"/>
                    <a:pt x="13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3" y="1"/>
                    <a:pt x="11" y="0"/>
                    <a:pt x="9" y="0"/>
                  </a:cubicBezTo>
                  <a:cubicBezTo>
                    <a:pt x="6" y="0"/>
                    <a:pt x="4" y="1"/>
                    <a:pt x="2" y="3"/>
                  </a:cubicBezTo>
                  <a:cubicBezTo>
                    <a:pt x="1" y="4"/>
                    <a:pt x="0" y="7"/>
                    <a:pt x="0" y="9"/>
                  </a:cubicBezTo>
                  <a:cubicBezTo>
                    <a:pt x="0" y="13"/>
                    <a:pt x="3" y="17"/>
                    <a:pt x="9" y="17"/>
                  </a:cubicBezTo>
                  <a:cubicBezTo>
                    <a:pt x="11" y="17"/>
                    <a:pt x="13" y="16"/>
                    <a:pt x="15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" name="Freeform 21"/>
            <p:cNvSpPr>
              <a:spLocks noEditPoints="1"/>
            </p:cNvSpPr>
            <p:nvPr userDrawn="1"/>
          </p:nvSpPr>
          <p:spPr bwMode="auto">
            <a:xfrm>
              <a:off x="7972176" y="798513"/>
              <a:ext cx="54070" cy="50800"/>
            </a:xfrm>
            <a:custGeom>
              <a:avLst/>
              <a:gdLst>
                <a:gd name="T0" fmla="*/ 20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6 w 34"/>
                <a:gd name="T7" fmla="*/ 32 h 32"/>
                <a:gd name="T8" fmla="*/ 8 w 34"/>
                <a:gd name="T9" fmla="*/ 26 h 32"/>
                <a:gd name="T10" fmla="*/ 26 w 34"/>
                <a:gd name="T11" fmla="*/ 26 h 32"/>
                <a:gd name="T12" fmla="*/ 28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20 w 34"/>
                <a:gd name="T19" fmla="*/ 0 h 32"/>
                <a:gd name="T20" fmla="*/ 20 w 34"/>
                <a:gd name="T21" fmla="*/ 0 h 32"/>
                <a:gd name="T22" fmla="*/ 24 w 34"/>
                <a:gd name="T23" fmla="*/ 20 h 32"/>
                <a:gd name="T24" fmla="*/ 10 w 34"/>
                <a:gd name="T25" fmla="*/ 20 h 32"/>
                <a:gd name="T26" fmla="*/ 16 w 34"/>
                <a:gd name="T27" fmla="*/ 6 h 32"/>
                <a:gd name="T28" fmla="*/ 24 w 34"/>
                <a:gd name="T29" fmla="*/ 20 h 32"/>
                <a:gd name="T30" fmla="*/ 24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20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8" y="26"/>
                  </a:lnTo>
                  <a:lnTo>
                    <a:pt x="26" y="26"/>
                  </a:lnTo>
                  <a:lnTo>
                    <a:pt x="28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20" y="0"/>
                  </a:lnTo>
                  <a:close/>
                  <a:moveTo>
                    <a:pt x="24" y="20"/>
                  </a:moveTo>
                  <a:lnTo>
                    <a:pt x="10" y="20"/>
                  </a:lnTo>
                  <a:lnTo>
                    <a:pt x="16" y="6"/>
                  </a:lnTo>
                  <a:lnTo>
                    <a:pt x="24" y="20"/>
                  </a:lnTo>
                  <a:lnTo>
                    <a:pt x="24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" name="Freeform 22"/>
            <p:cNvSpPr>
              <a:spLocks/>
            </p:cNvSpPr>
            <p:nvPr userDrawn="1"/>
          </p:nvSpPr>
          <p:spPr bwMode="auto">
            <a:xfrm>
              <a:off x="8023065" y="798513"/>
              <a:ext cx="44528" cy="50800"/>
            </a:xfrm>
            <a:custGeom>
              <a:avLst/>
              <a:gdLst>
                <a:gd name="T0" fmla="*/ 0 w 28"/>
                <a:gd name="T1" fmla="*/ 4 h 32"/>
                <a:gd name="T2" fmla="*/ 12 w 28"/>
                <a:gd name="T3" fmla="*/ 4 h 32"/>
                <a:gd name="T4" fmla="*/ 12 w 28"/>
                <a:gd name="T5" fmla="*/ 32 h 32"/>
                <a:gd name="T6" fmla="*/ 16 w 28"/>
                <a:gd name="T7" fmla="*/ 32 h 32"/>
                <a:gd name="T8" fmla="*/ 16 w 28"/>
                <a:gd name="T9" fmla="*/ 4 h 32"/>
                <a:gd name="T10" fmla="*/ 28 w 28"/>
                <a:gd name="T11" fmla="*/ 4 h 32"/>
                <a:gd name="T12" fmla="*/ 28 w 28"/>
                <a:gd name="T13" fmla="*/ 0 h 32"/>
                <a:gd name="T14" fmla="*/ 0 w 28"/>
                <a:gd name="T15" fmla="*/ 0 h 32"/>
                <a:gd name="T16" fmla="*/ 0 w 28"/>
                <a:gd name="T17" fmla="*/ 4 h 32"/>
                <a:gd name="T18" fmla="*/ 0 w 28"/>
                <a:gd name="T19" fmla="*/ 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" h="32">
                  <a:moveTo>
                    <a:pt x="0" y="4"/>
                  </a:moveTo>
                  <a:lnTo>
                    <a:pt x="12" y="4"/>
                  </a:lnTo>
                  <a:lnTo>
                    <a:pt x="12" y="32"/>
                  </a:lnTo>
                  <a:lnTo>
                    <a:pt x="16" y="32"/>
                  </a:lnTo>
                  <a:lnTo>
                    <a:pt x="16" y="4"/>
                  </a:lnTo>
                  <a:lnTo>
                    <a:pt x="28" y="4"/>
                  </a:lnTo>
                  <a:lnTo>
                    <a:pt x="28" y="0"/>
                  </a:lnTo>
                  <a:lnTo>
                    <a:pt x="0" y="0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" name="Freeform 23"/>
            <p:cNvSpPr>
              <a:spLocks/>
            </p:cNvSpPr>
            <p:nvPr userDrawn="1"/>
          </p:nvSpPr>
          <p:spPr bwMode="auto">
            <a:xfrm>
              <a:off x="8073955" y="798513"/>
              <a:ext cx="44528" cy="50800"/>
            </a:xfrm>
            <a:custGeom>
              <a:avLst/>
              <a:gdLst>
                <a:gd name="T0" fmla="*/ 22 w 28"/>
                <a:gd name="T1" fmla="*/ 12 h 32"/>
                <a:gd name="T2" fmla="*/ 6 w 28"/>
                <a:gd name="T3" fmla="*/ 12 h 32"/>
                <a:gd name="T4" fmla="*/ 6 w 28"/>
                <a:gd name="T5" fmla="*/ 0 h 32"/>
                <a:gd name="T6" fmla="*/ 0 w 28"/>
                <a:gd name="T7" fmla="*/ 0 h 32"/>
                <a:gd name="T8" fmla="*/ 0 w 28"/>
                <a:gd name="T9" fmla="*/ 32 h 32"/>
                <a:gd name="T10" fmla="*/ 6 w 28"/>
                <a:gd name="T11" fmla="*/ 32 h 32"/>
                <a:gd name="T12" fmla="*/ 6 w 28"/>
                <a:gd name="T13" fmla="*/ 18 h 32"/>
                <a:gd name="T14" fmla="*/ 22 w 28"/>
                <a:gd name="T15" fmla="*/ 18 h 32"/>
                <a:gd name="T16" fmla="*/ 22 w 28"/>
                <a:gd name="T17" fmla="*/ 32 h 32"/>
                <a:gd name="T18" fmla="*/ 28 w 28"/>
                <a:gd name="T19" fmla="*/ 32 h 32"/>
                <a:gd name="T20" fmla="*/ 28 w 28"/>
                <a:gd name="T21" fmla="*/ 0 h 32"/>
                <a:gd name="T22" fmla="*/ 22 w 28"/>
                <a:gd name="T23" fmla="*/ 0 h 32"/>
                <a:gd name="T24" fmla="*/ 22 w 28"/>
                <a:gd name="T25" fmla="*/ 12 h 32"/>
                <a:gd name="T26" fmla="*/ 22 w 28"/>
                <a:gd name="T27" fmla="*/ 1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" h="32">
                  <a:moveTo>
                    <a:pt x="22" y="12"/>
                  </a:moveTo>
                  <a:lnTo>
                    <a:pt x="6" y="1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6" y="18"/>
                  </a:lnTo>
                  <a:lnTo>
                    <a:pt x="22" y="18"/>
                  </a:lnTo>
                  <a:lnTo>
                    <a:pt x="22" y="32"/>
                  </a:lnTo>
                  <a:lnTo>
                    <a:pt x="28" y="32"/>
                  </a:lnTo>
                  <a:lnTo>
                    <a:pt x="28" y="0"/>
                  </a:lnTo>
                  <a:lnTo>
                    <a:pt x="22" y="0"/>
                  </a:lnTo>
                  <a:lnTo>
                    <a:pt x="22" y="12"/>
                  </a:lnTo>
                  <a:lnTo>
                    <a:pt x="22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" name="Freeform 24"/>
            <p:cNvSpPr>
              <a:spLocks noEditPoints="1"/>
            </p:cNvSpPr>
            <p:nvPr userDrawn="1"/>
          </p:nvSpPr>
          <p:spPr bwMode="auto">
            <a:xfrm>
              <a:off x="8128025" y="795338"/>
              <a:ext cx="50890" cy="53975"/>
            </a:xfrm>
            <a:custGeom>
              <a:avLst/>
              <a:gdLst>
                <a:gd name="T0" fmla="*/ 8 w 16"/>
                <a:gd name="T1" fmla="*/ 0 h 17"/>
                <a:gd name="T2" fmla="*/ 0 w 16"/>
                <a:gd name="T3" fmla="*/ 9 h 17"/>
                <a:gd name="T4" fmla="*/ 8 w 16"/>
                <a:gd name="T5" fmla="*/ 17 h 17"/>
                <a:gd name="T6" fmla="*/ 16 w 16"/>
                <a:gd name="T7" fmla="*/ 9 h 17"/>
                <a:gd name="T8" fmla="*/ 8 w 16"/>
                <a:gd name="T9" fmla="*/ 0 h 17"/>
                <a:gd name="T10" fmla="*/ 8 w 16"/>
                <a:gd name="T11" fmla="*/ 15 h 17"/>
                <a:gd name="T12" fmla="*/ 2 w 16"/>
                <a:gd name="T13" fmla="*/ 9 h 17"/>
                <a:gd name="T14" fmla="*/ 8 w 16"/>
                <a:gd name="T15" fmla="*/ 3 h 17"/>
                <a:gd name="T16" fmla="*/ 14 w 16"/>
                <a:gd name="T17" fmla="*/ 9 h 17"/>
                <a:gd name="T18" fmla="*/ 8 w 16"/>
                <a:gd name="T19" fmla="*/ 15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" h="17">
                  <a:moveTo>
                    <a:pt x="8" y="0"/>
                  </a:moveTo>
                  <a:cubicBezTo>
                    <a:pt x="3" y="0"/>
                    <a:pt x="0" y="4"/>
                    <a:pt x="0" y="9"/>
                  </a:cubicBezTo>
                  <a:cubicBezTo>
                    <a:pt x="0" y="13"/>
                    <a:pt x="2" y="17"/>
                    <a:pt x="8" y="17"/>
                  </a:cubicBezTo>
                  <a:cubicBezTo>
                    <a:pt x="14" y="17"/>
                    <a:pt x="16" y="13"/>
                    <a:pt x="16" y="9"/>
                  </a:cubicBezTo>
                  <a:cubicBezTo>
                    <a:pt x="16" y="5"/>
                    <a:pt x="14" y="0"/>
                    <a:pt x="8" y="0"/>
                  </a:cubicBezTo>
                  <a:close/>
                  <a:moveTo>
                    <a:pt x="8" y="15"/>
                  </a:moveTo>
                  <a:cubicBezTo>
                    <a:pt x="4" y="15"/>
                    <a:pt x="2" y="12"/>
                    <a:pt x="2" y="9"/>
                  </a:cubicBezTo>
                  <a:cubicBezTo>
                    <a:pt x="2" y="6"/>
                    <a:pt x="4" y="3"/>
                    <a:pt x="8" y="3"/>
                  </a:cubicBezTo>
                  <a:cubicBezTo>
                    <a:pt x="12" y="3"/>
                    <a:pt x="14" y="6"/>
                    <a:pt x="14" y="9"/>
                  </a:cubicBezTo>
                  <a:cubicBezTo>
                    <a:pt x="14" y="12"/>
                    <a:pt x="12" y="15"/>
                    <a:pt x="8" y="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" name="Freeform 25"/>
            <p:cNvSpPr>
              <a:spLocks/>
            </p:cNvSpPr>
            <p:nvPr userDrawn="1"/>
          </p:nvSpPr>
          <p:spPr bwMode="auto">
            <a:xfrm>
              <a:off x="8188456" y="798513"/>
              <a:ext cx="34987" cy="50800"/>
            </a:xfrm>
            <a:custGeom>
              <a:avLst/>
              <a:gdLst>
                <a:gd name="T0" fmla="*/ 6 w 22"/>
                <a:gd name="T1" fmla="*/ 0 h 32"/>
                <a:gd name="T2" fmla="*/ 0 w 22"/>
                <a:gd name="T3" fmla="*/ 0 h 32"/>
                <a:gd name="T4" fmla="*/ 0 w 22"/>
                <a:gd name="T5" fmla="*/ 32 h 32"/>
                <a:gd name="T6" fmla="*/ 22 w 22"/>
                <a:gd name="T7" fmla="*/ 32 h 32"/>
                <a:gd name="T8" fmla="*/ 22 w 22"/>
                <a:gd name="T9" fmla="*/ 28 h 32"/>
                <a:gd name="T10" fmla="*/ 6 w 22"/>
                <a:gd name="T11" fmla="*/ 28 h 32"/>
                <a:gd name="T12" fmla="*/ 6 w 22"/>
                <a:gd name="T13" fmla="*/ 0 h 32"/>
                <a:gd name="T14" fmla="*/ 6 w 22"/>
                <a:gd name="T1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" h="32">
                  <a:moveTo>
                    <a:pt x="6" y="0"/>
                  </a:moveTo>
                  <a:lnTo>
                    <a:pt x="0" y="0"/>
                  </a:lnTo>
                  <a:lnTo>
                    <a:pt x="0" y="32"/>
                  </a:lnTo>
                  <a:lnTo>
                    <a:pt x="22" y="32"/>
                  </a:lnTo>
                  <a:lnTo>
                    <a:pt x="22" y="28"/>
                  </a:lnTo>
                  <a:lnTo>
                    <a:pt x="6" y="28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" name="Freeform 26"/>
            <p:cNvSpPr>
              <a:spLocks/>
            </p:cNvSpPr>
            <p:nvPr userDrawn="1"/>
          </p:nvSpPr>
          <p:spPr bwMode="auto">
            <a:xfrm>
              <a:off x="8232985" y="798513"/>
              <a:ext cx="6361" cy="50800"/>
            </a:xfrm>
            <a:custGeom>
              <a:avLst/>
              <a:gdLst>
                <a:gd name="T0" fmla="*/ 0 w 4"/>
                <a:gd name="T1" fmla="*/ 32 h 32"/>
                <a:gd name="T2" fmla="*/ 4 w 4"/>
                <a:gd name="T3" fmla="*/ 32 h 32"/>
                <a:gd name="T4" fmla="*/ 4 w 4"/>
                <a:gd name="T5" fmla="*/ 0 h 32"/>
                <a:gd name="T6" fmla="*/ 0 w 4"/>
                <a:gd name="T7" fmla="*/ 0 h 32"/>
                <a:gd name="T8" fmla="*/ 0 w 4"/>
                <a:gd name="T9" fmla="*/ 32 h 32"/>
                <a:gd name="T10" fmla="*/ 0 w 4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32">
                  <a:moveTo>
                    <a:pt x="0" y="32"/>
                  </a:moveTo>
                  <a:lnTo>
                    <a:pt x="4" y="32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" name="Freeform 27"/>
            <p:cNvSpPr>
              <a:spLocks/>
            </p:cNvSpPr>
            <p:nvPr userDrawn="1"/>
          </p:nvSpPr>
          <p:spPr bwMode="auto">
            <a:xfrm>
              <a:off x="8248888" y="795338"/>
              <a:ext cx="47709" cy="53975"/>
            </a:xfrm>
            <a:custGeom>
              <a:avLst/>
              <a:gdLst>
                <a:gd name="T0" fmla="*/ 13 w 15"/>
                <a:gd name="T1" fmla="*/ 13 h 17"/>
                <a:gd name="T2" fmla="*/ 9 w 15"/>
                <a:gd name="T3" fmla="*/ 15 h 17"/>
                <a:gd name="T4" fmla="*/ 3 w 15"/>
                <a:gd name="T5" fmla="*/ 9 h 17"/>
                <a:gd name="T6" fmla="*/ 9 w 15"/>
                <a:gd name="T7" fmla="*/ 3 h 17"/>
                <a:gd name="T8" fmla="*/ 13 w 15"/>
                <a:gd name="T9" fmla="*/ 5 h 17"/>
                <a:gd name="T10" fmla="*/ 13 w 15"/>
                <a:gd name="T11" fmla="*/ 5 h 17"/>
                <a:gd name="T12" fmla="*/ 15 w 15"/>
                <a:gd name="T13" fmla="*/ 3 h 17"/>
                <a:gd name="T14" fmla="*/ 15 w 15"/>
                <a:gd name="T15" fmla="*/ 3 h 17"/>
                <a:gd name="T16" fmla="*/ 9 w 15"/>
                <a:gd name="T17" fmla="*/ 0 h 17"/>
                <a:gd name="T18" fmla="*/ 3 w 15"/>
                <a:gd name="T19" fmla="*/ 3 h 17"/>
                <a:gd name="T20" fmla="*/ 0 w 15"/>
                <a:gd name="T21" fmla="*/ 9 h 17"/>
                <a:gd name="T22" fmla="*/ 9 w 15"/>
                <a:gd name="T23" fmla="*/ 17 h 17"/>
                <a:gd name="T24" fmla="*/ 15 w 15"/>
                <a:gd name="T25" fmla="*/ 15 h 17"/>
                <a:gd name="T26" fmla="*/ 15 w 15"/>
                <a:gd name="T27" fmla="*/ 15 h 17"/>
                <a:gd name="T28" fmla="*/ 13 w 15"/>
                <a:gd name="T29" fmla="*/ 13 h 17"/>
                <a:gd name="T30" fmla="*/ 13 w 15"/>
                <a:gd name="T31" fmla="*/ 13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" h="17">
                  <a:moveTo>
                    <a:pt x="13" y="13"/>
                  </a:moveTo>
                  <a:cubicBezTo>
                    <a:pt x="12" y="14"/>
                    <a:pt x="10" y="15"/>
                    <a:pt x="9" y="15"/>
                  </a:cubicBezTo>
                  <a:cubicBezTo>
                    <a:pt x="5" y="15"/>
                    <a:pt x="3" y="12"/>
                    <a:pt x="3" y="9"/>
                  </a:cubicBezTo>
                  <a:cubicBezTo>
                    <a:pt x="3" y="6"/>
                    <a:pt x="5" y="3"/>
                    <a:pt x="9" y="3"/>
                  </a:cubicBezTo>
                  <a:cubicBezTo>
                    <a:pt x="10" y="3"/>
                    <a:pt x="12" y="3"/>
                    <a:pt x="13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3" y="1"/>
                    <a:pt x="11" y="0"/>
                    <a:pt x="9" y="0"/>
                  </a:cubicBezTo>
                  <a:cubicBezTo>
                    <a:pt x="6" y="0"/>
                    <a:pt x="4" y="1"/>
                    <a:pt x="3" y="3"/>
                  </a:cubicBezTo>
                  <a:cubicBezTo>
                    <a:pt x="1" y="4"/>
                    <a:pt x="0" y="7"/>
                    <a:pt x="0" y="9"/>
                  </a:cubicBezTo>
                  <a:cubicBezTo>
                    <a:pt x="0" y="13"/>
                    <a:pt x="3" y="17"/>
                    <a:pt x="9" y="17"/>
                  </a:cubicBezTo>
                  <a:cubicBezTo>
                    <a:pt x="11" y="17"/>
                    <a:pt x="13" y="16"/>
                    <a:pt x="15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" name="Freeform 28"/>
            <p:cNvSpPr>
              <a:spLocks/>
            </p:cNvSpPr>
            <p:nvPr userDrawn="1"/>
          </p:nvSpPr>
          <p:spPr bwMode="auto">
            <a:xfrm>
              <a:off x="8331584" y="798513"/>
              <a:ext cx="41348" cy="50800"/>
            </a:xfrm>
            <a:custGeom>
              <a:avLst/>
              <a:gdLst>
                <a:gd name="T0" fmla="*/ 11 w 13"/>
                <a:gd name="T1" fmla="*/ 9 h 16"/>
                <a:gd name="T2" fmla="*/ 7 w 13"/>
                <a:gd name="T3" fmla="*/ 14 h 16"/>
                <a:gd name="T4" fmla="*/ 2 w 13"/>
                <a:gd name="T5" fmla="*/ 9 h 16"/>
                <a:gd name="T6" fmla="*/ 2 w 13"/>
                <a:gd name="T7" fmla="*/ 0 h 16"/>
                <a:gd name="T8" fmla="*/ 0 w 13"/>
                <a:gd name="T9" fmla="*/ 0 h 16"/>
                <a:gd name="T10" fmla="*/ 0 w 13"/>
                <a:gd name="T11" fmla="*/ 9 h 16"/>
                <a:gd name="T12" fmla="*/ 7 w 13"/>
                <a:gd name="T13" fmla="*/ 16 h 16"/>
                <a:gd name="T14" fmla="*/ 13 w 13"/>
                <a:gd name="T15" fmla="*/ 9 h 16"/>
                <a:gd name="T16" fmla="*/ 13 w 13"/>
                <a:gd name="T17" fmla="*/ 0 h 16"/>
                <a:gd name="T18" fmla="*/ 11 w 13"/>
                <a:gd name="T19" fmla="*/ 0 h 16"/>
                <a:gd name="T20" fmla="*/ 11 w 13"/>
                <a:gd name="T21" fmla="*/ 9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3" h="16">
                  <a:moveTo>
                    <a:pt x="11" y="9"/>
                  </a:moveTo>
                  <a:cubicBezTo>
                    <a:pt x="11" y="12"/>
                    <a:pt x="9" y="14"/>
                    <a:pt x="7" y="14"/>
                  </a:cubicBezTo>
                  <a:cubicBezTo>
                    <a:pt x="5" y="14"/>
                    <a:pt x="2" y="12"/>
                    <a:pt x="2" y="9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3" y="16"/>
                    <a:pt x="7" y="16"/>
                  </a:cubicBezTo>
                  <a:cubicBezTo>
                    <a:pt x="10" y="16"/>
                    <a:pt x="13" y="14"/>
                    <a:pt x="13" y="9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9"/>
                    <a:pt x="11" y="9"/>
                    <a:pt x="11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" name="Freeform 29"/>
            <p:cNvSpPr>
              <a:spLocks/>
            </p:cNvSpPr>
            <p:nvPr userDrawn="1"/>
          </p:nvSpPr>
          <p:spPr bwMode="auto">
            <a:xfrm>
              <a:off x="8388834" y="798513"/>
              <a:ext cx="41348" cy="50800"/>
            </a:xfrm>
            <a:custGeom>
              <a:avLst/>
              <a:gdLst>
                <a:gd name="T0" fmla="*/ 20 w 26"/>
                <a:gd name="T1" fmla="*/ 22 h 32"/>
                <a:gd name="T2" fmla="*/ 2 w 26"/>
                <a:gd name="T3" fmla="*/ 0 h 32"/>
                <a:gd name="T4" fmla="*/ 0 w 26"/>
                <a:gd name="T5" fmla="*/ 0 h 32"/>
                <a:gd name="T6" fmla="*/ 0 w 26"/>
                <a:gd name="T7" fmla="*/ 32 h 32"/>
                <a:gd name="T8" fmla="*/ 4 w 26"/>
                <a:gd name="T9" fmla="*/ 32 h 32"/>
                <a:gd name="T10" fmla="*/ 4 w 26"/>
                <a:gd name="T11" fmla="*/ 10 h 32"/>
                <a:gd name="T12" fmla="*/ 22 w 26"/>
                <a:gd name="T13" fmla="*/ 32 h 32"/>
                <a:gd name="T14" fmla="*/ 26 w 26"/>
                <a:gd name="T15" fmla="*/ 32 h 32"/>
                <a:gd name="T16" fmla="*/ 26 w 26"/>
                <a:gd name="T17" fmla="*/ 0 h 32"/>
                <a:gd name="T18" fmla="*/ 20 w 26"/>
                <a:gd name="T19" fmla="*/ 0 h 32"/>
                <a:gd name="T20" fmla="*/ 20 w 26"/>
                <a:gd name="T21" fmla="*/ 22 h 32"/>
                <a:gd name="T22" fmla="*/ 20 w 26"/>
                <a:gd name="T23" fmla="*/ 2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6" h="32">
                  <a:moveTo>
                    <a:pt x="20" y="22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4" y="10"/>
                  </a:lnTo>
                  <a:lnTo>
                    <a:pt x="22" y="32"/>
                  </a:lnTo>
                  <a:lnTo>
                    <a:pt x="26" y="32"/>
                  </a:lnTo>
                  <a:lnTo>
                    <a:pt x="26" y="0"/>
                  </a:lnTo>
                  <a:lnTo>
                    <a:pt x="20" y="0"/>
                  </a:lnTo>
                  <a:lnTo>
                    <a:pt x="20" y="22"/>
                  </a:lnTo>
                  <a:lnTo>
                    <a:pt x="20" y="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" name="Freeform 30"/>
            <p:cNvSpPr>
              <a:spLocks/>
            </p:cNvSpPr>
            <p:nvPr userDrawn="1"/>
          </p:nvSpPr>
          <p:spPr bwMode="auto">
            <a:xfrm>
              <a:off x="8442905" y="798513"/>
              <a:ext cx="9542" cy="50800"/>
            </a:xfrm>
            <a:custGeom>
              <a:avLst/>
              <a:gdLst>
                <a:gd name="T0" fmla="*/ 0 w 6"/>
                <a:gd name="T1" fmla="*/ 32 h 32"/>
                <a:gd name="T2" fmla="*/ 6 w 6"/>
                <a:gd name="T3" fmla="*/ 32 h 32"/>
                <a:gd name="T4" fmla="*/ 6 w 6"/>
                <a:gd name="T5" fmla="*/ 0 h 32"/>
                <a:gd name="T6" fmla="*/ 0 w 6"/>
                <a:gd name="T7" fmla="*/ 0 h 32"/>
                <a:gd name="T8" fmla="*/ 0 w 6"/>
                <a:gd name="T9" fmla="*/ 32 h 32"/>
                <a:gd name="T10" fmla="*/ 0 w 6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32">
                  <a:moveTo>
                    <a:pt x="0" y="32"/>
                  </a:moveTo>
                  <a:lnTo>
                    <a:pt x="6" y="3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" name="Freeform 31"/>
            <p:cNvSpPr>
              <a:spLocks/>
            </p:cNvSpPr>
            <p:nvPr userDrawn="1"/>
          </p:nvSpPr>
          <p:spPr bwMode="auto">
            <a:xfrm>
              <a:off x="8461988" y="798513"/>
              <a:ext cx="50890" cy="50800"/>
            </a:xfrm>
            <a:custGeom>
              <a:avLst/>
              <a:gdLst>
                <a:gd name="T0" fmla="*/ 6 w 32"/>
                <a:gd name="T1" fmla="*/ 0 h 32"/>
                <a:gd name="T2" fmla="*/ 0 w 32"/>
                <a:gd name="T3" fmla="*/ 0 h 32"/>
                <a:gd name="T4" fmla="*/ 12 w 32"/>
                <a:gd name="T5" fmla="*/ 32 h 32"/>
                <a:gd name="T6" fmla="*/ 18 w 32"/>
                <a:gd name="T7" fmla="*/ 32 h 32"/>
                <a:gd name="T8" fmla="*/ 32 w 32"/>
                <a:gd name="T9" fmla="*/ 0 h 32"/>
                <a:gd name="T10" fmla="*/ 26 w 32"/>
                <a:gd name="T11" fmla="*/ 0 h 32"/>
                <a:gd name="T12" fmla="*/ 16 w 32"/>
                <a:gd name="T13" fmla="*/ 26 h 32"/>
                <a:gd name="T14" fmla="*/ 6 w 32"/>
                <a:gd name="T15" fmla="*/ 0 h 32"/>
                <a:gd name="T16" fmla="*/ 6 w 32"/>
                <a:gd name="T17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" h="32">
                  <a:moveTo>
                    <a:pt x="6" y="0"/>
                  </a:moveTo>
                  <a:lnTo>
                    <a:pt x="0" y="0"/>
                  </a:lnTo>
                  <a:lnTo>
                    <a:pt x="12" y="32"/>
                  </a:lnTo>
                  <a:lnTo>
                    <a:pt x="18" y="32"/>
                  </a:lnTo>
                  <a:lnTo>
                    <a:pt x="32" y="0"/>
                  </a:lnTo>
                  <a:lnTo>
                    <a:pt x="26" y="0"/>
                  </a:lnTo>
                  <a:lnTo>
                    <a:pt x="16" y="26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" name="Freeform 32"/>
            <p:cNvSpPr>
              <a:spLocks/>
            </p:cNvSpPr>
            <p:nvPr userDrawn="1"/>
          </p:nvSpPr>
          <p:spPr bwMode="auto">
            <a:xfrm>
              <a:off x="8519239" y="798513"/>
              <a:ext cx="38167" cy="50800"/>
            </a:xfrm>
            <a:custGeom>
              <a:avLst/>
              <a:gdLst>
                <a:gd name="T0" fmla="*/ 6 w 24"/>
                <a:gd name="T1" fmla="*/ 18 h 32"/>
                <a:gd name="T2" fmla="*/ 24 w 24"/>
                <a:gd name="T3" fmla="*/ 18 h 32"/>
                <a:gd name="T4" fmla="*/ 24 w 24"/>
                <a:gd name="T5" fmla="*/ 12 h 32"/>
                <a:gd name="T6" fmla="*/ 6 w 24"/>
                <a:gd name="T7" fmla="*/ 12 h 32"/>
                <a:gd name="T8" fmla="*/ 6 w 24"/>
                <a:gd name="T9" fmla="*/ 4 h 32"/>
                <a:gd name="T10" fmla="*/ 24 w 24"/>
                <a:gd name="T11" fmla="*/ 4 h 32"/>
                <a:gd name="T12" fmla="*/ 24 w 24"/>
                <a:gd name="T13" fmla="*/ 0 h 32"/>
                <a:gd name="T14" fmla="*/ 0 w 24"/>
                <a:gd name="T15" fmla="*/ 0 h 32"/>
                <a:gd name="T16" fmla="*/ 0 w 24"/>
                <a:gd name="T17" fmla="*/ 32 h 32"/>
                <a:gd name="T18" fmla="*/ 24 w 24"/>
                <a:gd name="T19" fmla="*/ 32 h 32"/>
                <a:gd name="T20" fmla="*/ 24 w 24"/>
                <a:gd name="T21" fmla="*/ 26 h 32"/>
                <a:gd name="T22" fmla="*/ 6 w 24"/>
                <a:gd name="T23" fmla="*/ 26 h 32"/>
                <a:gd name="T24" fmla="*/ 6 w 24"/>
                <a:gd name="T25" fmla="*/ 18 h 32"/>
                <a:gd name="T26" fmla="*/ 6 w 24"/>
                <a:gd name="T27" fmla="*/ 18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" h="32">
                  <a:moveTo>
                    <a:pt x="6" y="18"/>
                  </a:moveTo>
                  <a:lnTo>
                    <a:pt x="24" y="18"/>
                  </a:lnTo>
                  <a:lnTo>
                    <a:pt x="24" y="12"/>
                  </a:lnTo>
                  <a:lnTo>
                    <a:pt x="6" y="12"/>
                  </a:lnTo>
                  <a:lnTo>
                    <a:pt x="6" y="4"/>
                  </a:lnTo>
                  <a:lnTo>
                    <a:pt x="24" y="4"/>
                  </a:lnTo>
                  <a:lnTo>
                    <a:pt x="2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24" y="32"/>
                  </a:lnTo>
                  <a:lnTo>
                    <a:pt x="24" y="26"/>
                  </a:lnTo>
                  <a:lnTo>
                    <a:pt x="6" y="26"/>
                  </a:lnTo>
                  <a:lnTo>
                    <a:pt x="6" y="18"/>
                  </a:lnTo>
                  <a:lnTo>
                    <a:pt x="6" y="1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" name="Freeform 33"/>
            <p:cNvSpPr>
              <a:spLocks noEditPoints="1"/>
            </p:cNvSpPr>
            <p:nvPr userDrawn="1"/>
          </p:nvSpPr>
          <p:spPr bwMode="auto">
            <a:xfrm>
              <a:off x="8570129" y="798513"/>
              <a:ext cx="44528" cy="50800"/>
            </a:xfrm>
            <a:custGeom>
              <a:avLst/>
              <a:gdLst>
                <a:gd name="T0" fmla="*/ 13 w 14"/>
                <a:gd name="T1" fmla="*/ 5 h 16"/>
                <a:gd name="T2" fmla="*/ 7 w 14"/>
                <a:gd name="T3" fmla="*/ 0 h 16"/>
                <a:gd name="T4" fmla="*/ 0 w 14"/>
                <a:gd name="T5" fmla="*/ 0 h 16"/>
                <a:gd name="T6" fmla="*/ 0 w 14"/>
                <a:gd name="T7" fmla="*/ 16 h 16"/>
                <a:gd name="T8" fmla="*/ 2 w 14"/>
                <a:gd name="T9" fmla="*/ 16 h 16"/>
                <a:gd name="T10" fmla="*/ 2 w 14"/>
                <a:gd name="T11" fmla="*/ 10 h 16"/>
                <a:gd name="T12" fmla="*/ 6 w 14"/>
                <a:gd name="T13" fmla="*/ 10 h 16"/>
                <a:gd name="T14" fmla="*/ 11 w 14"/>
                <a:gd name="T15" fmla="*/ 16 h 16"/>
                <a:gd name="T16" fmla="*/ 14 w 14"/>
                <a:gd name="T17" fmla="*/ 16 h 16"/>
                <a:gd name="T18" fmla="*/ 9 w 14"/>
                <a:gd name="T19" fmla="*/ 10 h 16"/>
                <a:gd name="T20" fmla="*/ 13 w 14"/>
                <a:gd name="T21" fmla="*/ 5 h 16"/>
                <a:gd name="T22" fmla="*/ 2 w 14"/>
                <a:gd name="T23" fmla="*/ 2 h 16"/>
                <a:gd name="T24" fmla="*/ 7 w 14"/>
                <a:gd name="T25" fmla="*/ 2 h 16"/>
                <a:gd name="T26" fmla="*/ 10 w 14"/>
                <a:gd name="T27" fmla="*/ 5 h 16"/>
                <a:gd name="T28" fmla="*/ 7 w 14"/>
                <a:gd name="T29" fmla="*/ 8 h 16"/>
                <a:gd name="T30" fmla="*/ 2 w 14"/>
                <a:gd name="T31" fmla="*/ 8 h 16"/>
                <a:gd name="T32" fmla="*/ 2 w 14"/>
                <a:gd name="T33" fmla="*/ 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4" h="16">
                  <a:moveTo>
                    <a:pt x="13" y="5"/>
                  </a:moveTo>
                  <a:cubicBezTo>
                    <a:pt x="13" y="2"/>
                    <a:pt x="11" y="0"/>
                    <a:pt x="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11" y="10"/>
                    <a:pt x="13" y="8"/>
                    <a:pt x="13" y="5"/>
                  </a:cubicBezTo>
                  <a:close/>
                  <a:moveTo>
                    <a:pt x="2" y="2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9" y="2"/>
                    <a:pt x="10" y="4"/>
                    <a:pt x="10" y="5"/>
                  </a:cubicBezTo>
                  <a:cubicBezTo>
                    <a:pt x="10" y="6"/>
                    <a:pt x="9" y="8"/>
                    <a:pt x="7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2"/>
                    <a:pt x="2" y="2"/>
                    <a:pt x="2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" name="Freeform 34"/>
            <p:cNvSpPr>
              <a:spLocks/>
            </p:cNvSpPr>
            <p:nvPr userDrawn="1"/>
          </p:nvSpPr>
          <p:spPr bwMode="auto">
            <a:xfrm>
              <a:off x="8617838" y="795338"/>
              <a:ext cx="44528" cy="53975"/>
            </a:xfrm>
            <a:custGeom>
              <a:avLst/>
              <a:gdLst>
                <a:gd name="T0" fmla="*/ 8 w 14"/>
                <a:gd name="T1" fmla="*/ 7 h 17"/>
                <a:gd name="T2" fmla="*/ 4 w 14"/>
                <a:gd name="T3" fmla="*/ 5 h 17"/>
                <a:gd name="T4" fmla="*/ 7 w 14"/>
                <a:gd name="T5" fmla="*/ 3 h 17"/>
                <a:gd name="T6" fmla="*/ 12 w 14"/>
                <a:gd name="T7" fmla="*/ 5 h 17"/>
                <a:gd name="T8" fmla="*/ 12 w 14"/>
                <a:gd name="T9" fmla="*/ 5 h 17"/>
                <a:gd name="T10" fmla="*/ 14 w 14"/>
                <a:gd name="T11" fmla="*/ 4 h 17"/>
                <a:gd name="T12" fmla="*/ 14 w 14"/>
                <a:gd name="T13" fmla="*/ 3 h 17"/>
                <a:gd name="T14" fmla="*/ 7 w 14"/>
                <a:gd name="T15" fmla="*/ 0 h 17"/>
                <a:gd name="T16" fmla="*/ 2 w 14"/>
                <a:gd name="T17" fmla="*/ 2 h 17"/>
                <a:gd name="T18" fmla="*/ 1 w 14"/>
                <a:gd name="T19" fmla="*/ 5 h 17"/>
                <a:gd name="T20" fmla="*/ 7 w 14"/>
                <a:gd name="T21" fmla="*/ 10 h 17"/>
                <a:gd name="T22" fmla="*/ 12 w 14"/>
                <a:gd name="T23" fmla="*/ 12 h 17"/>
                <a:gd name="T24" fmla="*/ 7 w 14"/>
                <a:gd name="T25" fmla="*/ 15 h 17"/>
                <a:gd name="T26" fmla="*/ 3 w 14"/>
                <a:gd name="T27" fmla="*/ 12 h 17"/>
                <a:gd name="T28" fmla="*/ 2 w 14"/>
                <a:gd name="T29" fmla="*/ 12 h 17"/>
                <a:gd name="T30" fmla="*/ 0 w 14"/>
                <a:gd name="T31" fmla="*/ 13 h 17"/>
                <a:gd name="T32" fmla="*/ 0 w 14"/>
                <a:gd name="T33" fmla="*/ 14 h 17"/>
                <a:gd name="T34" fmla="*/ 7 w 14"/>
                <a:gd name="T35" fmla="*/ 17 h 17"/>
                <a:gd name="T36" fmla="*/ 14 w 14"/>
                <a:gd name="T37" fmla="*/ 12 h 17"/>
                <a:gd name="T38" fmla="*/ 8 w 14"/>
                <a:gd name="T39" fmla="*/ 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" h="17">
                  <a:moveTo>
                    <a:pt x="8" y="7"/>
                  </a:moveTo>
                  <a:cubicBezTo>
                    <a:pt x="5" y="7"/>
                    <a:pt x="4" y="6"/>
                    <a:pt x="4" y="5"/>
                  </a:cubicBezTo>
                  <a:cubicBezTo>
                    <a:pt x="4" y="4"/>
                    <a:pt x="5" y="3"/>
                    <a:pt x="7" y="3"/>
                  </a:cubicBezTo>
                  <a:cubicBezTo>
                    <a:pt x="9" y="3"/>
                    <a:pt x="11" y="3"/>
                    <a:pt x="12" y="5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2" y="1"/>
                    <a:pt x="10" y="0"/>
                    <a:pt x="7" y="0"/>
                  </a:cubicBezTo>
                  <a:cubicBezTo>
                    <a:pt x="6" y="0"/>
                    <a:pt x="3" y="1"/>
                    <a:pt x="2" y="2"/>
                  </a:cubicBezTo>
                  <a:cubicBezTo>
                    <a:pt x="1" y="3"/>
                    <a:pt x="1" y="4"/>
                    <a:pt x="1" y="5"/>
                  </a:cubicBezTo>
                  <a:cubicBezTo>
                    <a:pt x="1" y="9"/>
                    <a:pt x="5" y="9"/>
                    <a:pt x="7" y="10"/>
                  </a:cubicBezTo>
                  <a:cubicBezTo>
                    <a:pt x="10" y="10"/>
                    <a:pt x="12" y="11"/>
                    <a:pt x="12" y="12"/>
                  </a:cubicBezTo>
                  <a:cubicBezTo>
                    <a:pt x="12" y="15"/>
                    <a:pt x="8" y="15"/>
                    <a:pt x="7" y="15"/>
                  </a:cubicBezTo>
                  <a:cubicBezTo>
                    <a:pt x="6" y="15"/>
                    <a:pt x="4" y="14"/>
                    <a:pt x="3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2" y="16"/>
                    <a:pt x="4" y="17"/>
                    <a:pt x="7" y="17"/>
                  </a:cubicBezTo>
                  <a:cubicBezTo>
                    <a:pt x="11" y="17"/>
                    <a:pt x="14" y="16"/>
                    <a:pt x="14" y="12"/>
                  </a:cubicBezTo>
                  <a:cubicBezTo>
                    <a:pt x="14" y="9"/>
                    <a:pt x="11" y="8"/>
                    <a:pt x="8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" name="Freeform 35"/>
            <p:cNvSpPr>
              <a:spLocks/>
            </p:cNvSpPr>
            <p:nvPr userDrawn="1"/>
          </p:nvSpPr>
          <p:spPr bwMode="auto">
            <a:xfrm>
              <a:off x="8671908" y="798513"/>
              <a:ext cx="9542" cy="50800"/>
            </a:xfrm>
            <a:custGeom>
              <a:avLst/>
              <a:gdLst>
                <a:gd name="T0" fmla="*/ 0 w 6"/>
                <a:gd name="T1" fmla="*/ 32 h 32"/>
                <a:gd name="T2" fmla="*/ 6 w 6"/>
                <a:gd name="T3" fmla="*/ 32 h 32"/>
                <a:gd name="T4" fmla="*/ 6 w 6"/>
                <a:gd name="T5" fmla="*/ 0 h 32"/>
                <a:gd name="T6" fmla="*/ 0 w 6"/>
                <a:gd name="T7" fmla="*/ 0 h 32"/>
                <a:gd name="T8" fmla="*/ 0 w 6"/>
                <a:gd name="T9" fmla="*/ 32 h 32"/>
                <a:gd name="T10" fmla="*/ 0 w 6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32">
                  <a:moveTo>
                    <a:pt x="0" y="32"/>
                  </a:moveTo>
                  <a:lnTo>
                    <a:pt x="6" y="3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" name="Freeform 36"/>
            <p:cNvSpPr>
              <a:spLocks/>
            </p:cNvSpPr>
            <p:nvPr userDrawn="1"/>
          </p:nvSpPr>
          <p:spPr bwMode="auto">
            <a:xfrm>
              <a:off x="8690991" y="798513"/>
              <a:ext cx="84286" cy="50800"/>
            </a:xfrm>
            <a:custGeom>
              <a:avLst/>
              <a:gdLst>
                <a:gd name="T0" fmla="*/ 29 w 53"/>
                <a:gd name="T1" fmla="*/ 0 h 32"/>
                <a:gd name="T2" fmla="*/ 0 w 53"/>
                <a:gd name="T3" fmla="*/ 0 h 32"/>
                <a:gd name="T4" fmla="*/ 0 w 53"/>
                <a:gd name="T5" fmla="*/ 4 h 32"/>
                <a:gd name="T6" fmla="*/ 9 w 53"/>
                <a:gd name="T7" fmla="*/ 4 h 32"/>
                <a:gd name="T8" fmla="*/ 9 w 53"/>
                <a:gd name="T9" fmla="*/ 32 h 32"/>
                <a:gd name="T10" fmla="*/ 15 w 53"/>
                <a:gd name="T11" fmla="*/ 32 h 32"/>
                <a:gd name="T12" fmla="*/ 15 w 53"/>
                <a:gd name="T13" fmla="*/ 4 h 32"/>
                <a:gd name="T14" fmla="*/ 25 w 53"/>
                <a:gd name="T15" fmla="*/ 4 h 32"/>
                <a:gd name="T16" fmla="*/ 35 w 53"/>
                <a:gd name="T17" fmla="*/ 18 h 32"/>
                <a:gd name="T18" fmla="*/ 35 w 53"/>
                <a:gd name="T19" fmla="*/ 32 h 32"/>
                <a:gd name="T20" fmla="*/ 41 w 53"/>
                <a:gd name="T21" fmla="*/ 32 h 32"/>
                <a:gd name="T22" fmla="*/ 41 w 53"/>
                <a:gd name="T23" fmla="*/ 18 h 32"/>
                <a:gd name="T24" fmla="*/ 53 w 53"/>
                <a:gd name="T25" fmla="*/ 0 h 32"/>
                <a:gd name="T26" fmla="*/ 53 w 53"/>
                <a:gd name="T27" fmla="*/ 0 h 32"/>
                <a:gd name="T28" fmla="*/ 53 w 53"/>
                <a:gd name="T29" fmla="*/ 0 h 32"/>
                <a:gd name="T30" fmla="*/ 47 w 53"/>
                <a:gd name="T31" fmla="*/ 0 h 32"/>
                <a:gd name="T32" fmla="*/ 37 w 53"/>
                <a:gd name="T33" fmla="*/ 14 h 32"/>
                <a:gd name="T34" fmla="*/ 29 w 53"/>
                <a:gd name="T35" fmla="*/ 0 h 32"/>
                <a:gd name="T36" fmla="*/ 29 w 53"/>
                <a:gd name="T37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3" h="32">
                  <a:moveTo>
                    <a:pt x="29" y="0"/>
                  </a:moveTo>
                  <a:lnTo>
                    <a:pt x="0" y="0"/>
                  </a:lnTo>
                  <a:lnTo>
                    <a:pt x="0" y="4"/>
                  </a:lnTo>
                  <a:lnTo>
                    <a:pt x="9" y="4"/>
                  </a:lnTo>
                  <a:lnTo>
                    <a:pt x="9" y="32"/>
                  </a:lnTo>
                  <a:lnTo>
                    <a:pt x="15" y="32"/>
                  </a:lnTo>
                  <a:lnTo>
                    <a:pt x="15" y="4"/>
                  </a:lnTo>
                  <a:lnTo>
                    <a:pt x="25" y="4"/>
                  </a:lnTo>
                  <a:lnTo>
                    <a:pt x="35" y="18"/>
                  </a:lnTo>
                  <a:lnTo>
                    <a:pt x="35" y="32"/>
                  </a:lnTo>
                  <a:lnTo>
                    <a:pt x="41" y="32"/>
                  </a:lnTo>
                  <a:lnTo>
                    <a:pt x="41" y="18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47" y="0"/>
                  </a:lnTo>
                  <a:lnTo>
                    <a:pt x="37" y="14"/>
                  </a:lnTo>
                  <a:lnTo>
                    <a:pt x="29" y="0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" name="Freeform 37"/>
            <p:cNvSpPr>
              <a:spLocks/>
            </p:cNvSpPr>
            <p:nvPr userDrawn="1"/>
          </p:nvSpPr>
          <p:spPr bwMode="auto">
            <a:xfrm>
              <a:off x="8484252" y="371475"/>
              <a:ext cx="291025" cy="363538"/>
            </a:xfrm>
            <a:custGeom>
              <a:avLst/>
              <a:gdLst>
                <a:gd name="T0" fmla="*/ 92 w 92"/>
                <a:gd name="T1" fmla="*/ 0 h 115"/>
                <a:gd name="T2" fmla="*/ 92 w 92"/>
                <a:gd name="T3" fmla="*/ 71 h 115"/>
                <a:gd name="T4" fmla="*/ 49 w 92"/>
                <a:gd name="T5" fmla="*/ 115 h 115"/>
                <a:gd name="T6" fmla="*/ 0 w 92"/>
                <a:gd name="T7" fmla="*/ 70 h 115"/>
                <a:gd name="T8" fmla="*/ 0 w 92"/>
                <a:gd name="T9" fmla="*/ 0 h 115"/>
                <a:gd name="T10" fmla="*/ 22 w 92"/>
                <a:gd name="T11" fmla="*/ 0 h 115"/>
                <a:gd name="T12" fmla="*/ 22 w 92"/>
                <a:gd name="T13" fmla="*/ 72 h 115"/>
                <a:gd name="T14" fmla="*/ 50 w 92"/>
                <a:gd name="T15" fmla="*/ 105 h 115"/>
                <a:gd name="T16" fmla="*/ 79 w 92"/>
                <a:gd name="T17" fmla="*/ 73 h 115"/>
                <a:gd name="T18" fmla="*/ 79 w 92"/>
                <a:gd name="T19" fmla="*/ 0 h 115"/>
                <a:gd name="T20" fmla="*/ 92 w 92"/>
                <a:gd name="T21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2" h="115">
                  <a:moveTo>
                    <a:pt x="92" y="0"/>
                  </a:moveTo>
                  <a:cubicBezTo>
                    <a:pt x="92" y="71"/>
                    <a:pt x="92" y="71"/>
                    <a:pt x="92" y="71"/>
                  </a:cubicBezTo>
                  <a:cubicBezTo>
                    <a:pt x="92" y="109"/>
                    <a:pt x="62" y="115"/>
                    <a:pt x="49" y="115"/>
                  </a:cubicBezTo>
                  <a:cubicBezTo>
                    <a:pt x="25" y="115"/>
                    <a:pt x="0" y="107"/>
                    <a:pt x="0" y="7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72"/>
                    <a:pt x="22" y="72"/>
                    <a:pt x="22" y="72"/>
                  </a:cubicBezTo>
                  <a:cubicBezTo>
                    <a:pt x="22" y="93"/>
                    <a:pt x="32" y="105"/>
                    <a:pt x="50" y="105"/>
                  </a:cubicBezTo>
                  <a:cubicBezTo>
                    <a:pt x="66" y="105"/>
                    <a:pt x="79" y="95"/>
                    <a:pt x="79" y="73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92" y="0"/>
                    <a:pt x="92" y="0"/>
                    <a:pt x="9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" name="Freeform 38"/>
            <p:cNvSpPr>
              <a:spLocks/>
            </p:cNvSpPr>
            <p:nvPr userDrawn="1"/>
          </p:nvSpPr>
          <p:spPr bwMode="auto">
            <a:xfrm>
              <a:off x="8096219" y="365125"/>
              <a:ext cx="337144" cy="369888"/>
            </a:xfrm>
            <a:custGeom>
              <a:avLst/>
              <a:gdLst>
                <a:gd name="T0" fmla="*/ 61 w 106"/>
                <a:gd name="T1" fmla="*/ 117 h 117"/>
                <a:gd name="T2" fmla="*/ 0 w 106"/>
                <a:gd name="T3" fmla="*/ 60 h 117"/>
                <a:gd name="T4" fmla="*/ 63 w 106"/>
                <a:gd name="T5" fmla="*/ 0 h 117"/>
                <a:gd name="T6" fmla="*/ 97 w 106"/>
                <a:gd name="T7" fmla="*/ 13 h 117"/>
                <a:gd name="T8" fmla="*/ 106 w 106"/>
                <a:gd name="T9" fmla="*/ 28 h 117"/>
                <a:gd name="T10" fmla="*/ 94 w 106"/>
                <a:gd name="T11" fmla="*/ 39 h 117"/>
                <a:gd name="T12" fmla="*/ 83 w 106"/>
                <a:gd name="T13" fmla="*/ 28 h 117"/>
                <a:gd name="T14" fmla="*/ 86 w 106"/>
                <a:gd name="T15" fmla="*/ 20 h 117"/>
                <a:gd name="T16" fmla="*/ 63 w 106"/>
                <a:gd name="T17" fmla="*/ 10 h 117"/>
                <a:gd name="T18" fmla="*/ 21 w 106"/>
                <a:gd name="T19" fmla="*/ 58 h 117"/>
                <a:gd name="T20" fmla="*/ 65 w 106"/>
                <a:gd name="T21" fmla="*/ 108 h 117"/>
                <a:gd name="T22" fmla="*/ 102 w 106"/>
                <a:gd name="T23" fmla="*/ 93 h 117"/>
                <a:gd name="T24" fmla="*/ 106 w 106"/>
                <a:gd name="T25" fmla="*/ 99 h 117"/>
                <a:gd name="T26" fmla="*/ 61 w 106"/>
                <a:gd name="T27" fmla="*/ 117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6" h="117">
                  <a:moveTo>
                    <a:pt x="61" y="117"/>
                  </a:moveTo>
                  <a:cubicBezTo>
                    <a:pt x="23" y="117"/>
                    <a:pt x="0" y="91"/>
                    <a:pt x="0" y="60"/>
                  </a:cubicBezTo>
                  <a:cubicBezTo>
                    <a:pt x="0" y="29"/>
                    <a:pt x="24" y="0"/>
                    <a:pt x="63" y="0"/>
                  </a:cubicBezTo>
                  <a:cubicBezTo>
                    <a:pt x="74" y="0"/>
                    <a:pt x="88" y="4"/>
                    <a:pt x="97" y="13"/>
                  </a:cubicBezTo>
                  <a:cubicBezTo>
                    <a:pt x="102" y="16"/>
                    <a:pt x="106" y="23"/>
                    <a:pt x="106" y="28"/>
                  </a:cubicBezTo>
                  <a:cubicBezTo>
                    <a:pt x="106" y="34"/>
                    <a:pt x="101" y="39"/>
                    <a:pt x="94" y="39"/>
                  </a:cubicBezTo>
                  <a:cubicBezTo>
                    <a:pt x="88" y="39"/>
                    <a:pt x="83" y="34"/>
                    <a:pt x="83" y="28"/>
                  </a:cubicBezTo>
                  <a:cubicBezTo>
                    <a:pt x="83" y="25"/>
                    <a:pt x="84" y="22"/>
                    <a:pt x="86" y="20"/>
                  </a:cubicBezTo>
                  <a:cubicBezTo>
                    <a:pt x="81" y="14"/>
                    <a:pt x="71" y="10"/>
                    <a:pt x="63" y="10"/>
                  </a:cubicBezTo>
                  <a:cubicBezTo>
                    <a:pt x="36" y="10"/>
                    <a:pt x="21" y="35"/>
                    <a:pt x="21" y="58"/>
                  </a:cubicBezTo>
                  <a:cubicBezTo>
                    <a:pt x="21" y="85"/>
                    <a:pt x="38" y="108"/>
                    <a:pt x="65" y="108"/>
                  </a:cubicBezTo>
                  <a:cubicBezTo>
                    <a:pt x="79" y="108"/>
                    <a:pt x="90" y="102"/>
                    <a:pt x="102" y="93"/>
                  </a:cubicBezTo>
                  <a:cubicBezTo>
                    <a:pt x="106" y="99"/>
                    <a:pt x="106" y="99"/>
                    <a:pt x="106" y="99"/>
                  </a:cubicBezTo>
                  <a:cubicBezTo>
                    <a:pt x="94" y="111"/>
                    <a:pt x="77" y="117"/>
                    <a:pt x="61" y="1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" name="Freeform 39"/>
            <p:cNvSpPr>
              <a:spLocks noEditPoints="1"/>
            </p:cNvSpPr>
            <p:nvPr userDrawn="1"/>
          </p:nvSpPr>
          <p:spPr bwMode="auto">
            <a:xfrm>
              <a:off x="7760666" y="371475"/>
              <a:ext cx="329192" cy="357188"/>
            </a:xfrm>
            <a:custGeom>
              <a:avLst/>
              <a:gdLst>
                <a:gd name="T0" fmla="*/ 163 w 207"/>
                <a:gd name="T1" fmla="*/ 225 h 225"/>
                <a:gd name="T2" fmla="*/ 207 w 207"/>
                <a:gd name="T3" fmla="*/ 225 h 225"/>
                <a:gd name="T4" fmla="*/ 119 w 207"/>
                <a:gd name="T5" fmla="*/ 0 h 225"/>
                <a:gd name="T6" fmla="*/ 85 w 207"/>
                <a:gd name="T7" fmla="*/ 0 h 225"/>
                <a:gd name="T8" fmla="*/ 0 w 207"/>
                <a:gd name="T9" fmla="*/ 225 h 225"/>
                <a:gd name="T10" fmla="*/ 21 w 207"/>
                <a:gd name="T11" fmla="*/ 225 h 225"/>
                <a:gd name="T12" fmla="*/ 47 w 207"/>
                <a:gd name="T13" fmla="*/ 161 h 225"/>
                <a:gd name="T14" fmla="*/ 139 w 207"/>
                <a:gd name="T15" fmla="*/ 161 h 225"/>
                <a:gd name="T16" fmla="*/ 163 w 207"/>
                <a:gd name="T17" fmla="*/ 225 h 225"/>
                <a:gd name="T18" fmla="*/ 163 w 207"/>
                <a:gd name="T19" fmla="*/ 225 h 225"/>
                <a:gd name="T20" fmla="*/ 53 w 207"/>
                <a:gd name="T21" fmla="*/ 141 h 225"/>
                <a:gd name="T22" fmla="*/ 93 w 207"/>
                <a:gd name="T23" fmla="*/ 36 h 225"/>
                <a:gd name="T24" fmla="*/ 133 w 207"/>
                <a:gd name="T25" fmla="*/ 141 h 225"/>
                <a:gd name="T26" fmla="*/ 53 w 207"/>
                <a:gd name="T27" fmla="*/ 141 h 225"/>
                <a:gd name="T28" fmla="*/ 53 w 207"/>
                <a:gd name="T29" fmla="*/ 14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07" h="225">
                  <a:moveTo>
                    <a:pt x="163" y="225"/>
                  </a:moveTo>
                  <a:lnTo>
                    <a:pt x="207" y="225"/>
                  </a:lnTo>
                  <a:lnTo>
                    <a:pt x="119" y="0"/>
                  </a:lnTo>
                  <a:lnTo>
                    <a:pt x="85" y="0"/>
                  </a:lnTo>
                  <a:lnTo>
                    <a:pt x="0" y="225"/>
                  </a:lnTo>
                  <a:lnTo>
                    <a:pt x="21" y="225"/>
                  </a:lnTo>
                  <a:lnTo>
                    <a:pt x="47" y="161"/>
                  </a:lnTo>
                  <a:lnTo>
                    <a:pt x="139" y="161"/>
                  </a:lnTo>
                  <a:lnTo>
                    <a:pt x="163" y="225"/>
                  </a:lnTo>
                  <a:lnTo>
                    <a:pt x="163" y="225"/>
                  </a:lnTo>
                  <a:close/>
                  <a:moveTo>
                    <a:pt x="53" y="141"/>
                  </a:moveTo>
                  <a:lnTo>
                    <a:pt x="93" y="36"/>
                  </a:lnTo>
                  <a:lnTo>
                    <a:pt x="133" y="141"/>
                  </a:lnTo>
                  <a:lnTo>
                    <a:pt x="53" y="141"/>
                  </a:lnTo>
                  <a:lnTo>
                    <a:pt x="53" y="14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631148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" name="Object 46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17153327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47" name="Object 4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440871" y="689568"/>
            <a:ext cx="6733042" cy="538609"/>
          </a:xfrm>
        </p:spPr>
        <p:txBody>
          <a:bodyPr>
            <a:spAutoFit/>
          </a:bodyPr>
          <a:lstStyle>
            <a:lvl1pPr>
              <a:lnSpc>
                <a:spcPct val="100000"/>
              </a:lnSpc>
              <a:defRPr sz="2900" b="1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Heading</a:t>
            </a:r>
            <a:endParaRPr lang="en-AU" dirty="0"/>
          </a:p>
        </p:txBody>
      </p:sp>
      <p:sp>
        <p:nvSpPr>
          <p:cNvPr id="50" name="Text Placeholder 49"/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440871" y="1463720"/>
            <a:ext cx="8284029" cy="427259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90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AU" dirty="0"/>
              <a:t>Body</a:t>
            </a:r>
          </a:p>
        </p:txBody>
      </p:sp>
      <p:sp>
        <p:nvSpPr>
          <p:cNvPr id="52" name="Text Placeholder 51"/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440871" y="-8733"/>
            <a:ext cx="4343399" cy="462758"/>
          </a:xfrm>
        </p:spPr>
        <p:txBody>
          <a:bodyPr anchor="ctr">
            <a:normAutofit/>
          </a:bodyPr>
          <a:lstStyle>
            <a:lvl1pPr marL="0" indent="0">
              <a:buNone/>
              <a:defRPr sz="1500" b="1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AU" dirty="0"/>
              <a:t>Section heading</a:t>
            </a:r>
          </a:p>
        </p:txBody>
      </p:sp>
      <p:sp>
        <p:nvSpPr>
          <p:cNvPr id="8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8929" y="6510471"/>
            <a:ext cx="448128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defRPr lang="en-AU" sz="1000" smtClean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6A89BA3-132D-40E1-AAB4-CDCD0A14C216}" type="slidenum">
              <a:rPr lang="en-AU" smtClean="0"/>
              <a:pPr/>
              <a:t>‹#›</a:t>
            </a:fld>
            <a:r>
              <a:rPr lang="en-AU" dirty="0"/>
              <a:t>  |</a:t>
            </a:r>
          </a:p>
        </p:txBody>
      </p:sp>
      <p:sp>
        <p:nvSpPr>
          <p:cNvPr id="8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2757" y="6510471"/>
            <a:ext cx="4188129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defRPr lang="en-AU" sz="1000" smtClean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Faculty of Business and Law | Peter Faber Business School</a:t>
            </a:r>
          </a:p>
        </p:txBody>
      </p:sp>
    </p:spTree>
    <p:extLst>
      <p:ext uri="{BB962C8B-B14F-4D97-AF65-F5344CB8AC3E}">
        <p14:creationId xmlns:p14="http://schemas.microsoft.com/office/powerpoint/2010/main" val="27187926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s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/>
          <p:cNvSpPr>
            <a:spLocks noGrp="1"/>
          </p:cNvSpPr>
          <p:nvPr>
            <p:ph type="title" hasCustomPrompt="1"/>
          </p:nvPr>
        </p:nvSpPr>
        <p:spPr>
          <a:xfrm>
            <a:off x="440871" y="770735"/>
            <a:ext cx="6733042" cy="538609"/>
          </a:xfrm>
        </p:spPr>
        <p:txBody>
          <a:bodyPr>
            <a:spAutoFit/>
          </a:bodyPr>
          <a:lstStyle>
            <a:lvl1pPr>
              <a:lnSpc>
                <a:spcPct val="100000"/>
              </a:lnSpc>
              <a:defRPr sz="2900" b="1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Heading</a:t>
            </a:r>
            <a:endParaRPr lang="en-AU" dirty="0"/>
          </a:p>
        </p:txBody>
      </p:sp>
      <p:sp>
        <p:nvSpPr>
          <p:cNvPr id="42" name="Text Placeholder 45"/>
          <p:cNvSpPr>
            <a:spLocks noGrp="1"/>
          </p:cNvSpPr>
          <p:nvPr>
            <p:ph type="body" sz="quarter" idx="13" hasCustomPrompt="1"/>
          </p:nvPr>
        </p:nvSpPr>
        <p:spPr>
          <a:xfrm>
            <a:off x="440871" y="1339935"/>
            <a:ext cx="6734398" cy="507831"/>
          </a:xfrm>
        </p:spPr>
        <p:txBody>
          <a:bodyPr anchor="ctr">
            <a:spAutoFit/>
          </a:bodyPr>
          <a:lstStyle>
            <a:lvl1pPr marL="0" indent="0">
              <a:lnSpc>
                <a:spcPct val="100000"/>
              </a:lnSpc>
              <a:buNone/>
              <a:defRPr sz="270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AU" dirty="0"/>
              <a:t>Sub Title</a:t>
            </a:r>
          </a:p>
        </p:txBody>
      </p:sp>
      <p:sp>
        <p:nvSpPr>
          <p:cNvPr id="43" name="Text Placeholder 47"/>
          <p:cNvSpPr>
            <a:spLocks noGrp="1"/>
          </p:cNvSpPr>
          <p:nvPr>
            <p:ph type="body" sz="quarter" idx="14" hasCustomPrompt="1"/>
          </p:nvPr>
        </p:nvSpPr>
        <p:spPr>
          <a:xfrm>
            <a:off x="440872" y="2275570"/>
            <a:ext cx="8284028" cy="359681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2000" b="1" baseline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AU" dirty="0"/>
              <a:t>Sub heading</a:t>
            </a:r>
          </a:p>
        </p:txBody>
      </p:sp>
      <p:sp>
        <p:nvSpPr>
          <p:cNvPr id="83" name="Text Placeholder 49"/>
          <p:cNvSpPr>
            <a:spLocks noGrp="1"/>
          </p:cNvSpPr>
          <p:nvPr>
            <p:ph type="body" sz="quarter" idx="15" hasCustomPrompt="1"/>
          </p:nvPr>
        </p:nvSpPr>
        <p:spPr>
          <a:xfrm>
            <a:off x="440871" y="2640809"/>
            <a:ext cx="8284029" cy="309551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90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AU" dirty="0"/>
              <a:t>Body</a:t>
            </a:r>
          </a:p>
        </p:txBody>
      </p:sp>
      <p:sp>
        <p:nvSpPr>
          <p:cNvPr id="8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2758" y="6510471"/>
            <a:ext cx="3872246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defRPr lang="en-AU" sz="1000" smtClean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8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8929" y="6510471"/>
            <a:ext cx="448128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defRPr lang="en-AU" sz="1000" smtClean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6A89BA3-132D-40E1-AAB4-CDCD0A14C216}" type="slidenum">
              <a:rPr lang="en-AU" smtClean="0"/>
              <a:pPr/>
              <a:t>‹#›</a:t>
            </a:fld>
            <a:r>
              <a:rPr lang="en-AU" dirty="0"/>
              <a:t>  |</a:t>
            </a:r>
          </a:p>
        </p:txBody>
      </p:sp>
    </p:spTree>
    <p:extLst>
      <p:ext uri="{BB962C8B-B14F-4D97-AF65-F5344CB8AC3E}">
        <p14:creationId xmlns:p14="http://schemas.microsoft.com/office/powerpoint/2010/main" val="3208934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1" y="1626054"/>
            <a:ext cx="3867150" cy="4271941"/>
          </a:xfrm>
        </p:spPr>
        <p:txBody>
          <a:bodyPr/>
          <a:lstStyle>
            <a:lvl1pPr>
              <a:lnSpc>
                <a:spcPct val="100000"/>
              </a:lnSpc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651000"/>
            <a:ext cx="3887788" cy="4246995"/>
          </a:xfrm>
        </p:spPr>
        <p:txBody>
          <a:bodyPr/>
          <a:lstStyle>
            <a:lvl1pPr>
              <a:lnSpc>
                <a:spcPct val="100000"/>
              </a:lnSpc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7" name="Title 1"/>
          <p:cNvSpPr>
            <a:spLocks noGrp="1"/>
          </p:cNvSpPr>
          <p:nvPr>
            <p:ph type="title" hasCustomPrompt="1"/>
          </p:nvPr>
        </p:nvSpPr>
        <p:spPr>
          <a:xfrm>
            <a:off x="440871" y="793049"/>
            <a:ext cx="6734398" cy="493981"/>
          </a:xfrm>
        </p:spPr>
        <p:txBody>
          <a:bodyPr>
            <a:spAutoFit/>
          </a:bodyPr>
          <a:lstStyle>
            <a:lvl1pPr>
              <a:defRPr sz="2900" b="1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Heading</a:t>
            </a:r>
            <a:endParaRPr lang="en-AU" dirty="0"/>
          </a:p>
        </p:txBody>
      </p:sp>
      <p:sp>
        <p:nvSpPr>
          <p:cNvPr id="8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2757" y="6510471"/>
            <a:ext cx="3887787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defRPr lang="en-AU" sz="1000" smtClean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8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8929" y="6510471"/>
            <a:ext cx="448128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defRPr lang="en-AU" sz="1000" smtClean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6A89BA3-132D-40E1-AAB4-CDCD0A14C216}" type="slidenum">
              <a:rPr lang="en-AU" smtClean="0"/>
              <a:pPr/>
              <a:t>‹#›</a:t>
            </a:fld>
            <a:r>
              <a:rPr lang="en-AU" dirty="0"/>
              <a:t>  |</a:t>
            </a:r>
          </a:p>
        </p:txBody>
      </p:sp>
    </p:spTree>
    <p:extLst>
      <p:ext uri="{BB962C8B-B14F-4D97-AF65-F5344CB8AC3E}">
        <p14:creationId xmlns:p14="http://schemas.microsoft.com/office/powerpoint/2010/main" val="12895850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3888" y="1864188"/>
            <a:ext cx="7886700" cy="4070577"/>
          </a:xfr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98929" y="1056579"/>
            <a:ext cx="6734398" cy="493981"/>
          </a:xfrm>
        </p:spPr>
        <p:txBody>
          <a:bodyPr>
            <a:normAutofit/>
          </a:bodyPr>
          <a:lstStyle>
            <a:lvl1pPr>
              <a:defRPr sz="2900" b="1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Heading</a:t>
            </a:r>
            <a:endParaRPr lang="en-AU" dirty="0"/>
          </a:p>
        </p:txBody>
      </p:sp>
      <p:sp>
        <p:nvSpPr>
          <p:cNvPr id="4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2758" y="6510471"/>
            <a:ext cx="3086100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defRPr lang="en-AU" sz="1000" smtClean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8929" y="6510471"/>
            <a:ext cx="448128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defRPr lang="en-AU" sz="1000" smtClean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6A89BA3-132D-40E1-AAB4-CDCD0A14C216}" type="slidenum">
              <a:rPr lang="en-AU" smtClean="0"/>
              <a:pPr/>
              <a:t>‹#›</a:t>
            </a:fld>
            <a:r>
              <a:rPr lang="en-AU" dirty="0"/>
              <a:t>  |</a:t>
            </a:r>
          </a:p>
        </p:txBody>
      </p:sp>
    </p:spTree>
    <p:extLst>
      <p:ext uri="{BB962C8B-B14F-4D97-AF65-F5344CB8AC3E}">
        <p14:creationId xmlns:p14="http://schemas.microsoft.com/office/powerpoint/2010/main" val="3406363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in White with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-3175"/>
            <a:ext cx="9142413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AutoShape 3"/>
          <p:cNvSpPr>
            <a:spLocks noChangeAspect="1" noChangeArrowheads="1" noTextEdit="1"/>
          </p:cNvSpPr>
          <p:nvPr userDrawn="1"/>
        </p:nvSpPr>
        <p:spPr bwMode="auto">
          <a:xfrm>
            <a:off x="1588" y="0"/>
            <a:ext cx="914082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reeform 6"/>
          <p:cNvSpPr>
            <a:spLocks/>
          </p:cNvSpPr>
          <p:nvPr userDrawn="1"/>
        </p:nvSpPr>
        <p:spPr bwMode="auto">
          <a:xfrm>
            <a:off x="1588" y="-3175"/>
            <a:ext cx="5030788" cy="457200"/>
          </a:xfrm>
          <a:custGeom>
            <a:avLst/>
            <a:gdLst>
              <a:gd name="T0" fmla="*/ 0 w 3169"/>
              <a:gd name="T1" fmla="*/ 0 h 288"/>
              <a:gd name="T2" fmla="*/ 3169 w 3169"/>
              <a:gd name="T3" fmla="*/ 0 h 288"/>
              <a:gd name="T4" fmla="*/ 2879 w 3169"/>
              <a:gd name="T5" fmla="*/ 288 h 288"/>
              <a:gd name="T6" fmla="*/ 0 w 3169"/>
              <a:gd name="T7" fmla="*/ 288 h 288"/>
              <a:gd name="T8" fmla="*/ 0 w 3169"/>
              <a:gd name="T9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169" h="288">
                <a:moveTo>
                  <a:pt x="0" y="0"/>
                </a:moveTo>
                <a:lnTo>
                  <a:pt x="3169" y="0"/>
                </a:lnTo>
                <a:lnTo>
                  <a:pt x="2879" y="288"/>
                </a:lnTo>
                <a:lnTo>
                  <a:pt x="0" y="288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Freeform 8"/>
          <p:cNvSpPr>
            <a:spLocks/>
          </p:cNvSpPr>
          <p:nvPr userDrawn="1"/>
        </p:nvSpPr>
        <p:spPr bwMode="auto">
          <a:xfrm>
            <a:off x="4572001" y="6397625"/>
            <a:ext cx="4570413" cy="457200"/>
          </a:xfrm>
          <a:custGeom>
            <a:avLst/>
            <a:gdLst>
              <a:gd name="T0" fmla="*/ 2879 w 2879"/>
              <a:gd name="T1" fmla="*/ 288 h 288"/>
              <a:gd name="T2" fmla="*/ 0 w 2879"/>
              <a:gd name="T3" fmla="*/ 288 h 288"/>
              <a:gd name="T4" fmla="*/ 290 w 2879"/>
              <a:gd name="T5" fmla="*/ 0 h 288"/>
              <a:gd name="T6" fmla="*/ 2879 w 2879"/>
              <a:gd name="T7" fmla="*/ 0 h 288"/>
              <a:gd name="T8" fmla="*/ 2879 w 2879"/>
              <a:gd name="T9" fmla="*/ 288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879" h="288">
                <a:moveTo>
                  <a:pt x="2879" y="288"/>
                </a:moveTo>
                <a:lnTo>
                  <a:pt x="0" y="288"/>
                </a:lnTo>
                <a:lnTo>
                  <a:pt x="290" y="0"/>
                </a:lnTo>
                <a:lnTo>
                  <a:pt x="2879" y="0"/>
                </a:lnTo>
                <a:lnTo>
                  <a:pt x="2879" y="288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reeform 9"/>
          <p:cNvSpPr>
            <a:spLocks/>
          </p:cNvSpPr>
          <p:nvPr userDrawn="1"/>
        </p:nvSpPr>
        <p:spPr bwMode="auto">
          <a:xfrm>
            <a:off x="7399338" y="371475"/>
            <a:ext cx="288925" cy="371475"/>
          </a:xfrm>
          <a:custGeom>
            <a:avLst/>
            <a:gdLst>
              <a:gd name="T0" fmla="*/ 91 w 91"/>
              <a:gd name="T1" fmla="*/ 0 h 117"/>
              <a:gd name="T2" fmla="*/ 91 w 91"/>
              <a:gd name="T3" fmla="*/ 51 h 117"/>
              <a:gd name="T4" fmla="*/ 46 w 91"/>
              <a:gd name="T5" fmla="*/ 117 h 117"/>
              <a:gd name="T6" fmla="*/ 0 w 91"/>
              <a:gd name="T7" fmla="*/ 51 h 117"/>
              <a:gd name="T8" fmla="*/ 0 w 91"/>
              <a:gd name="T9" fmla="*/ 0 h 117"/>
              <a:gd name="T10" fmla="*/ 91 w 91"/>
              <a:gd name="T11" fmla="*/ 0 h 1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1" h="117">
                <a:moveTo>
                  <a:pt x="91" y="0"/>
                </a:moveTo>
                <a:cubicBezTo>
                  <a:pt x="91" y="51"/>
                  <a:pt x="91" y="51"/>
                  <a:pt x="91" y="51"/>
                </a:cubicBezTo>
                <a:cubicBezTo>
                  <a:pt x="91" y="77"/>
                  <a:pt x="74" y="105"/>
                  <a:pt x="46" y="117"/>
                </a:cubicBezTo>
                <a:cubicBezTo>
                  <a:pt x="18" y="105"/>
                  <a:pt x="0" y="77"/>
                  <a:pt x="0" y="51"/>
                </a:cubicBezTo>
                <a:cubicBezTo>
                  <a:pt x="0" y="0"/>
                  <a:pt x="0" y="0"/>
                  <a:pt x="0" y="0"/>
                </a:cubicBezTo>
                <a:cubicBezTo>
                  <a:pt x="91" y="0"/>
                  <a:pt x="91" y="0"/>
                  <a:pt x="91" y="0"/>
                </a:cubicBezTo>
                <a:close/>
              </a:path>
            </a:pathLst>
          </a:custGeom>
          <a:solidFill>
            <a:srgbClr val="E2231A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Freeform 10"/>
          <p:cNvSpPr>
            <a:spLocks/>
          </p:cNvSpPr>
          <p:nvPr userDrawn="1"/>
        </p:nvSpPr>
        <p:spPr bwMode="auto">
          <a:xfrm>
            <a:off x="7453313" y="415925"/>
            <a:ext cx="180975" cy="238125"/>
          </a:xfrm>
          <a:custGeom>
            <a:avLst/>
            <a:gdLst>
              <a:gd name="T0" fmla="*/ 0 w 114"/>
              <a:gd name="T1" fmla="*/ 74 h 150"/>
              <a:gd name="T2" fmla="*/ 58 w 114"/>
              <a:gd name="T3" fmla="*/ 0 h 150"/>
              <a:gd name="T4" fmla="*/ 114 w 114"/>
              <a:gd name="T5" fmla="*/ 74 h 150"/>
              <a:gd name="T6" fmla="*/ 58 w 114"/>
              <a:gd name="T7" fmla="*/ 150 h 150"/>
              <a:gd name="T8" fmla="*/ 0 w 114"/>
              <a:gd name="T9" fmla="*/ 74 h 150"/>
              <a:gd name="T10" fmla="*/ 0 w 114"/>
              <a:gd name="T11" fmla="*/ 74 h 1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" h="150">
                <a:moveTo>
                  <a:pt x="0" y="74"/>
                </a:moveTo>
                <a:lnTo>
                  <a:pt x="58" y="0"/>
                </a:lnTo>
                <a:lnTo>
                  <a:pt x="114" y="74"/>
                </a:lnTo>
                <a:lnTo>
                  <a:pt x="58" y="150"/>
                </a:lnTo>
                <a:lnTo>
                  <a:pt x="0" y="74"/>
                </a:lnTo>
                <a:lnTo>
                  <a:pt x="0" y="7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Freeform 11"/>
          <p:cNvSpPr>
            <a:spLocks/>
          </p:cNvSpPr>
          <p:nvPr userDrawn="1"/>
        </p:nvSpPr>
        <p:spPr bwMode="auto">
          <a:xfrm>
            <a:off x="7478713" y="466725"/>
            <a:ext cx="130175" cy="155575"/>
          </a:xfrm>
          <a:custGeom>
            <a:avLst/>
            <a:gdLst>
              <a:gd name="T0" fmla="*/ 18 w 41"/>
              <a:gd name="T1" fmla="*/ 26 h 49"/>
              <a:gd name="T2" fmla="*/ 21 w 41"/>
              <a:gd name="T3" fmla="*/ 49 h 49"/>
              <a:gd name="T4" fmla="*/ 21 w 41"/>
              <a:gd name="T5" fmla="*/ 49 h 49"/>
              <a:gd name="T6" fmla="*/ 21 w 41"/>
              <a:gd name="T7" fmla="*/ 49 h 49"/>
              <a:gd name="T8" fmla="*/ 23 w 41"/>
              <a:gd name="T9" fmla="*/ 26 h 49"/>
              <a:gd name="T10" fmla="*/ 23 w 41"/>
              <a:gd name="T11" fmla="*/ 24 h 49"/>
              <a:gd name="T12" fmla="*/ 32 w 41"/>
              <a:gd name="T13" fmla="*/ 24 h 49"/>
              <a:gd name="T14" fmla="*/ 32 w 41"/>
              <a:gd name="T15" fmla="*/ 25 h 49"/>
              <a:gd name="T16" fmla="*/ 35 w 41"/>
              <a:gd name="T17" fmla="*/ 28 h 49"/>
              <a:gd name="T18" fmla="*/ 37 w 41"/>
              <a:gd name="T19" fmla="*/ 25 h 49"/>
              <a:gd name="T20" fmla="*/ 37 w 41"/>
              <a:gd name="T21" fmla="*/ 24 h 49"/>
              <a:gd name="T22" fmla="*/ 38 w 41"/>
              <a:gd name="T23" fmla="*/ 24 h 49"/>
              <a:gd name="T24" fmla="*/ 41 w 41"/>
              <a:gd name="T25" fmla="*/ 21 h 49"/>
              <a:gd name="T26" fmla="*/ 38 w 41"/>
              <a:gd name="T27" fmla="*/ 19 h 49"/>
              <a:gd name="T28" fmla="*/ 37 w 41"/>
              <a:gd name="T29" fmla="*/ 19 h 49"/>
              <a:gd name="T30" fmla="*/ 37 w 41"/>
              <a:gd name="T31" fmla="*/ 18 h 49"/>
              <a:gd name="T32" fmla="*/ 35 w 41"/>
              <a:gd name="T33" fmla="*/ 15 h 49"/>
              <a:gd name="T34" fmla="*/ 32 w 41"/>
              <a:gd name="T35" fmla="*/ 18 h 49"/>
              <a:gd name="T36" fmla="*/ 32 w 41"/>
              <a:gd name="T37" fmla="*/ 19 h 49"/>
              <a:gd name="T38" fmla="*/ 23 w 41"/>
              <a:gd name="T39" fmla="*/ 19 h 49"/>
              <a:gd name="T40" fmla="*/ 23 w 41"/>
              <a:gd name="T41" fmla="*/ 9 h 49"/>
              <a:gd name="T42" fmla="*/ 24 w 41"/>
              <a:gd name="T43" fmla="*/ 9 h 49"/>
              <a:gd name="T44" fmla="*/ 27 w 41"/>
              <a:gd name="T45" fmla="*/ 6 h 49"/>
              <a:gd name="T46" fmla="*/ 24 w 41"/>
              <a:gd name="T47" fmla="*/ 3 h 49"/>
              <a:gd name="T48" fmla="*/ 23 w 41"/>
              <a:gd name="T49" fmla="*/ 3 h 49"/>
              <a:gd name="T50" fmla="*/ 23 w 41"/>
              <a:gd name="T51" fmla="*/ 3 h 49"/>
              <a:gd name="T52" fmla="*/ 21 w 41"/>
              <a:gd name="T53" fmla="*/ 0 h 49"/>
              <a:gd name="T54" fmla="*/ 18 w 41"/>
              <a:gd name="T55" fmla="*/ 3 h 49"/>
              <a:gd name="T56" fmla="*/ 18 w 41"/>
              <a:gd name="T57" fmla="*/ 3 h 49"/>
              <a:gd name="T58" fmla="*/ 17 w 41"/>
              <a:gd name="T59" fmla="*/ 3 h 49"/>
              <a:gd name="T60" fmla="*/ 14 w 41"/>
              <a:gd name="T61" fmla="*/ 6 h 49"/>
              <a:gd name="T62" fmla="*/ 17 w 41"/>
              <a:gd name="T63" fmla="*/ 9 h 49"/>
              <a:gd name="T64" fmla="*/ 18 w 41"/>
              <a:gd name="T65" fmla="*/ 9 h 49"/>
              <a:gd name="T66" fmla="*/ 18 w 41"/>
              <a:gd name="T67" fmla="*/ 19 h 49"/>
              <a:gd name="T68" fmla="*/ 18 w 41"/>
              <a:gd name="T69" fmla="*/ 19 h 49"/>
              <a:gd name="T70" fmla="*/ 10 w 41"/>
              <a:gd name="T71" fmla="*/ 19 h 49"/>
              <a:gd name="T72" fmla="*/ 10 w 41"/>
              <a:gd name="T73" fmla="*/ 18 h 49"/>
              <a:gd name="T74" fmla="*/ 7 w 41"/>
              <a:gd name="T75" fmla="*/ 15 h 49"/>
              <a:gd name="T76" fmla="*/ 4 w 41"/>
              <a:gd name="T77" fmla="*/ 18 h 49"/>
              <a:gd name="T78" fmla="*/ 4 w 41"/>
              <a:gd name="T79" fmla="*/ 19 h 49"/>
              <a:gd name="T80" fmla="*/ 4 w 41"/>
              <a:gd name="T81" fmla="*/ 19 h 49"/>
              <a:gd name="T82" fmla="*/ 0 w 41"/>
              <a:gd name="T83" fmla="*/ 21 h 49"/>
              <a:gd name="T84" fmla="*/ 4 w 41"/>
              <a:gd name="T85" fmla="*/ 24 h 49"/>
              <a:gd name="T86" fmla="*/ 4 w 41"/>
              <a:gd name="T87" fmla="*/ 24 h 49"/>
              <a:gd name="T88" fmla="*/ 4 w 41"/>
              <a:gd name="T89" fmla="*/ 25 h 49"/>
              <a:gd name="T90" fmla="*/ 7 w 41"/>
              <a:gd name="T91" fmla="*/ 28 h 49"/>
              <a:gd name="T92" fmla="*/ 10 w 41"/>
              <a:gd name="T93" fmla="*/ 25 h 49"/>
              <a:gd name="T94" fmla="*/ 10 w 41"/>
              <a:gd name="T95" fmla="*/ 24 h 49"/>
              <a:gd name="T96" fmla="*/ 18 w 41"/>
              <a:gd name="T97" fmla="*/ 24 h 49"/>
              <a:gd name="T98" fmla="*/ 18 w 41"/>
              <a:gd name="T99" fmla="*/ 26 h 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41" h="49">
                <a:moveTo>
                  <a:pt x="18" y="26"/>
                </a:moveTo>
                <a:cubicBezTo>
                  <a:pt x="18" y="36"/>
                  <a:pt x="20" y="48"/>
                  <a:pt x="21" y="49"/>
                </a:cubicBezTo>
                <a:cubicBezTo>
                  <a:pt x="21" y="49"/>
                  <a:pt x="21" y="49"/>
                  <a:pt x="21" y="49"/>
                </a:cubicBezTo>
                <a:cubicBezTo>
                  <a:pt x="21" y="49"/>
                  <a:pt x="21" y="49"/>
                  <a:pt x="21" y="49"/>
                </a:cubicBezTo>
                <a:cubicBezTo>
                  <a:pt x="21" y="48"/>
                  <a:pt x="23" y="36"/>
                  <a:pt x="23" y="26"/>
                </a:cubicBezTo>
                <a:cubicBezTo>
                  <a:pt x="23" y="24"/>
                  <a:pt x="23" y="24"/>
                  <a:pt x="23" y="24"/>
                </a:cubicBezTo>
                <a:cubicBezTo>
                  <a:pt x="32" y="24"/>
                  <a:pt x="32" y="24"/>
                  <a:pt x="32" y="24"/>
                </a:cubicBezTo>
                <a:cubicBezTo>
                  <a:pt x="32" y="25"/>
                  <a:pt x="32" y="25"/>
                  <a:pt x="32" y="25"/>
                </a:cubicBezTo>
                <a:cubicBezTo>
                  <a:pt x="32" y="26"/>
                  <a:pt x="33" y="28"/>
                  <a:pt x="35" y="28"/>
                </a:cubicBezTo>
                <a:cubicBezTo>
                  <a:pt x="36" y="28"/>
                  <a:pt x="37" y="26"/>
                  <a:pt x="37" y="25"/>
                </a:cubicBezTo>
                <a:cubicBezTo>
                  <a:pt x="37" y="24"/>
                  <a:pt x="37" y="24"/>
                  <a:pt x="37" y="24"/>
                </a:cubicBezTo>
                <a:cubicBezTo>
                  <a:pt x="38" y="24"/>
                  <a:pt x="38" y="24"/>
                  <a:pt x="38" y="24"/>
                </a:cubicBezTo>
                <a:cubicBezTo>
                  <a:pt x="39" y="24"/>
                  <a:pt x="41" y="23"/>
                  <a:pt x="41" y="21"/>
                </a:cubicBezTo>
                <a:cubicBezTo>
                  <a:pt x="41" y="20"/>
                  <a:pt x="39" y="19"/>
                  <a:pt x="38" y="19"/>
                </a:cubicBezTo>
                <a:cubicBezTo>
                  <a:pt x="37" y="19"/>
                  <a:pt x="37" y="19"/>
                  <a:pt x="37" y="19"/>
                </a:cubicBezTo>
                <a:cubicBezTo>
                  <a:pt x="37" y="18"/>
                  <a:pt x="37" y="18"/>
                  <a:pt x="37" y="18"/>
                </a:cubicBezTo>
                <a:cubicBezTo>
                  <a:pt x="37" y="17"/>
                  <a:pt x="36" y="15"/>
                  <a:pt x="35" y="15"/>
                </a:cubicBezTo>
                <a:cubicBezTo>
                  <a:pt x="33" y="15"/>
                  <a:pt x="32" y="17"/>
                  <a:pt x="32" y="18"/>
                </a:cubicBezTo>
                <a:cubicBezTo>
                  <a:pt x="32" y="19"/>
                  <a:pt x="32" y="19"/>
                  <a:pt x="32" y="19"/>
                </a:cubicBezTo>
                <a:cubicBezTo>
                  <a:pt x="23" y="19"/>
                  <a:pt x="23" y="19"/>
                  <a:pt x="23" y="19"/>
                </a:cubicBezTo>
                <a:cubicBezTo>
                  <a:pt x="23" y="9"/>
                  <a:pt x="23" y="9"/>
                  <a:pt x="23" y="9"/>
                </a:cubicBezTo>
                <a:cubicBezTo>
                  <a:pt x="24" y="9"/>
                  <a:pt x="24" y="9"/>
                  <a:pt x="24" y="9"/>
                </a:cubicBezTo>
                <a:cubicBezTo>
                  <a:pt x="25" y="9"/>
                  <a:pt x="27" y="8"/>
                  <a:pt x="27" y="6"/>
                </a:cubicBezTo>
                <a:cubicBezTo>
                  <a:pt x="27" y="5"/>
                  <a:pt x="25" y="3"/>
                  <a:pt x="24" y="3"/>
                </a:cubicBezTo>
                <a:cubicBezTo>
                  <a:pt x="23" y="3"/>
                  <a:pt x="23" y="3"/>
                  <a:pt x="23" y="3"/>
                </a:cubicBezTo>
                <a:cubicBezTo>
                  <a:pt x="23" y="3"/>
                  <a:pt x="23" y="3"/>
                  <a:pt x="23" y="3"/>
                </a:cubicBezTo>
                <a:cubicBezTo>
                  <a:pt x="23" y="1"/>
                  <a:pt x="22" y="0"/>
                  <a:pt x="21" y="0"/>
                </a:cubicBezTo>
                <a:cubicBezTo>
                  <a:pt x="19" y="0"/>
                  <a:pt x="18" y="1"/>
                  <a:pt x="18" y="3"/>
                </a:cubicBezTo>
                <a:cubicBezTo>
                  <a:pt x="18" y="3"/>
                  <a:pt x="18" y="3"/>
                  <a:pt x="18" y="3"/>
                </a:cubicBezTo>
                <a:cubicBezTo>
                  <a:pt x="17" y="3"/>
                  <a:pt x="17" y="3"/>
                  <a:pt x="17" y="3"/>
                </a:cubicBezTo>
                <a:cubicBezTo>
                  <a:pt x="16" y="3"/>
                  <a:pt x="14" y="5"/>
                  <a:pt x="14" y="6"/>
                </a:cubicBezTo>
                <a:cubicBezTo>
                  <a:pt x="14" y="8"/>
                  <a:pt x="16" y="9"/>
                  <a:pt x="17" y="9"/>
                </a:cubicBezTo>
                <a:cubicBezTo>
                  <a:pt x="18" y="9"/>
                  <a:pt x="18" y="9"/>
                  <a:pt x="18" y="9"/>
                </a:cubicBezTo>
                <a:cubicBezTo>
                  <a:pt x="18" y="19"/>
                  <a:pt x="18" y="19"/>
                  <a:pt x="18" y="19"/>
                </a:cubicBezTo>
                <a:cubicBezTo>
                  <a:pt x="18" y="19"/>
                  <a:pt x="18" y="19"/>
                  <a:pt x="18" y="19"/>
                </a:cubicBezTo>
                <a:cubicBezTo>
                  <a:pt x="10" y="19"/>
                  <a:pt x="10" y="19"/>
                  <a:pt x="10" y="19"/>
                </a:cubicBezTo>
                <a:cubicBezTo>
                  <a:pt x="10" y="18"/>
                  <a:pt x="10" y="18"/>
                  <a:pt x="10" y="18"/>
                </a:cubicBezTo>
                <a:cubicBezTo>
                  <a:pt x="10" y="17"/>
                  <a:pt x="8" y="15"/>
                  <a:pt x="7" y="15"/>
                </a:cubicBezTo>
                <a:cubicBezTo>
                  <a:pt x="5" y="15"/>
                  <a:pt x="4" y="17"/>
                  <a:pt x="4" y="18"/>
                </a:cubicBezTo>
                <a:cubicBezTo>
                  <a:pt x="4" y="19"/>
                  <a:pt x="4" y="19"/>
                  <a:pt x="4" y="19"/>
                </a:cubicBezTo>
                <a:cubicBezTo>
                  <a:pt x="4" y="19"/>
                  <a:pt x="4" y="19"/>
                  <a:pt x="4" y="19"/>
                </a:cubicBezTo>
                <a:cubicBezTo>
                  <a:pt x="2" y="19"/>
                  <a:pt x="0" y="20"/>
                  <a:pt x="0" y="21"/>
                </a:cubicBezTo>
                <a:cubicBezTo>
                  <a:pt x="0" y="23"/>
                  <a:pt x="2" y="24"/>
                  <a:pt x="4" y="24"/>
                </a:cubicBezTo>
                <a:cubicBezTo>
                  <a:pt x="4" y="24"/>
                  <a:pt x="4" y="24"/>
                  <a:pt x="4" y="24"/>
                </a:cubicBezTo>
                <a:cubicBezTo>
                  <a:pt x="4" y="25"/>
                  <a:pt x="4" y="25"/>
                  <a:pt x="4" y="25"/>
                </a:cubicBezTo>
                <a:cubicBezTo>
                  <a:pt x="4" y="26"/>
                  <a:pt x="5" y="28"/>
                  <a:pt x="7" y="28"/>
                </a:cubicBezTo>
                <a:cubicBezTo>
                  <a:pt x="8" y="28"/>
                  <a:pt x="10" y="26"/>
                  <a:pt x="10" y="25"/>
                </a:cubicBezTo>
                <a:cubicBezTo>
                  <a:pt x="10" y="24"/>
                  <a:pt x="10" y="24"/>
                  <a:pt x="10" y="24"/>
                </a:cubicBezTo>
                <a:cubicBezTo>
                  <a:pt x="18" y="24"/>
                  <a:pt x="18" y="24"/>
                  <a:pt x="18" y="24"/>
                </a:cubicBezTo>
                <a:cubicBezTo>
                  <a:pt x="18" y="26"/>
                  <a:pt x="18" y="26"/>
                  <a:pt x="18" y="26"/>
                </a:cubicBezTo>
                <a:close/>
              </a:path>
            </a:pathLst>
          </a:custGeom>
          <a:solidFill>
            <a:srgbClr val="E2231A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Freeform 12"/>
          <p:cNvSpPr>
            <a:spLocks noEditPoints="1"/>
          </p:cNvSpPr>
          <p:nvPr userDrawn="1"/>
        </p:nvSpPr>
        <p:spPr bwMode="auto">
          <a:xfrm>
            <a:off x="7399338" y="800100"/>
            <a:ext cx="53975" cy="50800"/>
          </a:xfrm>
          <a:custGeom>
            <a:avLst/>
            <a:gdLst>
              <a:gd name="T0" fmla="*/ 20 w 34"/>
              <a:gd name="T1" fmla="*/ 0 h 32"/>
              <a:gd name="T2" fmla="*/ 14 w 34"/>
              <a:gd name="T3" fmla="*/ 0 h 32"/>
              <a:gd name="T4" fmla="*/ 0 w 34"/>
              <a:gd name="T5" fmla="*/ 32 h 32"/>
              <a:gd name="T6" fmla="*/ 6 w 34"/>
              <a:gd name="T7" fmla="*/ 32 h 32"/>
              <a:gd name="T8" fmla="*/ 10 w 34"/>
              <a:gd name="T9" fmla="*/ 26 h 32"/>
              <a:gd name="T10" fmla="*/ 26 w 34"/>
              <a:gd name="T11" fmla="*/ 26 h 32"/>
              <a:gd name="T12" fmla="*/ 30 w 34"/>
              <a:gd name="T13" fmla="*/ 32 h 32"/>
              <a:gd name="T14" fmla="*/ 34 w 34"/>
              <a:gd name="T15" fmla="*/ 32 h 32"/>
              <a:gd name="T16" fmla="*/ 20 w 34"/>
              <a:gd name="T17" fmla="*/ 0 h 32"/>
              <a:gd name="T18" fmla="*/ 20 w 34"/>
              <a:gd name="T19" fmla="*/ 0 h 32"/>
              <a:gd name="T20" fmla="*/ 20 w 34"/>
              <a:gd name="T21" fmla="*/ 0 h 32"/>
              <a:gd name="T22" fmla="*/ 24 w 34"/>
              <a:gd name="T23" fmla="*/ 20 h 32"/>
              <a:gd name="T24" fmla="*/ 12 w 34"/>
              <a:gd name="T25" fmla="*/ 20 h 32"/>
              <a:gd name="T26" fmla="*/ 18 w 34"/>
              <a:gd name="T27" fmla="*/ 6 h 32"/>
              <a:gd name="T28" fmla="*/ 24 w 34"/>
              <a:gd name="T29" fmla="*/ 20 h 32"/>
              <a:gd name="T30" fmla="*/ 24 w 34"/>
              <a:gd name="T31" fmla="*/ 20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34" h="32">
                <a:moveTo>
                  <a:pt x="20" y="0"/>
                </a:moveTo>
                <a:lnTo>
                  <a:pt x="14" y="0"/>
                </a:lnTo>
                <a:lnTo>
                  <a:pt x="0" y="32"/>
                </a:lnTo>
                <a:lnTo>
                  <a:pt x="6" y="32"/>
                </a:lnTo>
                <a:lnTo>
                  <a:pt x="10" y="26"/>
                </a:lnTo>
                <a:lnTo>
                  <a:pt x="26" y="26"/>
                </a:lnTo>
                <a:lnTo>
                  <a:pt x="30" y="32"/>
                </a:lnTo>
                <a:lnTo>
                  <a:pt x="34" y="32"/>
                </a:lnTo>
                <a:lnTo>
                  <a:pt x="20" y="0"/>
                </a:lnTo>
                <a:lnTo>
                  <a:pt x="20" y="0"/>
                </a:lnTo>
                <a:lnTo>
                  <a:pt x="20" y="0"/>
                </a:lnTo>
                <a:close/>
                <a:moveTo>
                  <a:pt x="24" y="20"/>
                </a:moveTo>
                <a:lnTo>
                  <a:pt x="12" y="20"/>
                </a:lnTo>
                <a:lnTo>
                  <a:pt x="18" y="6"/>
                </a:lnTo>
                <a:lnTo>
                  <a:pt x="24" y="20"/>
                </a:lnTo>
                <a:lnTo>
                  <a:pt x="24" y="20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Freeform 13"/>
          <p:cNvSpPr>
            <a:spLocks/>
          </p:cNvSpPr>
          <p:nvPr userDrawn="1"/>
        </p:nvSpPr>
        <p:spPr bwMode="auto">
          <a:xfrm>
            <a:off x="7456488" y="800100"/>
            <a:ext cx="44450" cy="50800"/>
          </a:xfrm>
          <a:custGeom>
            <a:avLst/>
            <a:gdLst>
              <a:gd name="T0" fmla="*/ 11 w 14"/>
              <a:gd name="T1" fmla="*/ 9 h 16"/>
              <a:gd name="T2" fmla="*/ 7 w 14"/>
              <a:gd name="T3" fmla="*/ 14 h 16"/>
              <a:gd name="T4" fmla="*/ 3 w 14"/>
              <a:gd name="T5" fmla="*/ 9 h 16"/>
              <a:gd name="T6" fmla="*/ 3 w 14"/>
              <a:gd name="T7" fmla="*/ 0 h 16"/>
              <a:gd name="T8" fmla="*/ 0 w 14"/>
              <a:gd name="T9" fmla="*/ 0 h 16"/>
              <a:gd name="T10" fmla="*/ 0 w 14"/>
              <a:gd name="T11" fmla="*/ 9 h 16"/>
              <a:gd name="T12" fmla="*/ 7 w 14"/>
              <a:gd name="T13" fmla="*/ 16 h 16"/>
              <a:gd name="T14" fmla="*/ 14 w 14"/>
              <a:gd name="T15" fmla="*/ 9 h 16"/>
              <a:gd name="T16" fmla="*/ 14 w 14"/>
              <a:gd name="T17" fmla="*/ 0 h 16"/>
              <a:gd name="T18" fmla="*/ 11 w 14"/>
              <a:gd name="T19" fmla="*/ 0 h 16"/>
              <a:gd name="T20" fmla="*/ 11 w 14"/>
              <a:gd name="T21" fmla="*/ 9 h 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4" h="16">
                <a:moveTo>
                  <a:pt x="11" y="9"/>
                </a:moveTo>
                <a:cubicBezTo>
                  <a:pt x="11" y="12"/>
                  <a:pt x="9" y="14"/>
                  <a:pt x="7" y="14"/>
                </a:cubicBezTo>
                <a:cubicBezTo>
                  <a:pt x="5" y="14"/>
                  <a:pt x="3" y="12"/>
                  <a:pt x="3" y="9"/>
                </a:cubicBezTo>
                <a:cubicBezTo>
                  <a:pt x="3" y="0"/>
                  <a:pt x="3" y="0"/>
                  <a:pt x="3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9"/>
                  <a:pt x="0" y="9"/>
                  <a:pt x="0" y="9"/>
                </a:cubicBezTo>
                <a:cubicBezTo>
                  <a:pt x="0" y="14"/>
                  <a:pt x="4" y="16"/>
                  <a:pt x="7" y="16"/>
                </a:cubicBezTo>
                <a:cubicBezTo>
                  <a:pt x="10" y="16"/>
                  <a:pt x="14" y="14"/>
                  <a:pt x="14" y="9"/>
                </a:cubicBezTo>
                <a:cubicBezTo>
                  <a:pt x="14" y="0"/>
                  <a:pt x="14" y="0"/>
                  <a:pt x="14" y="0"/>
                </a:cubicBezTo>
                <a:cubicBezTo>
                  <a:pt x="11" y="0"/>
                  <a:pt x="11" y="0"/>
                  <a:pt x="11" y="0"/>
                </a:cubicBezTo>
                <a:cubicBezTo>
                  <a:pt x="11" y="9"/>
                  <a:pt x="11" y="9"/>
                  <a:pt x="11" y="9"/>
                </a:cubicBez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Freeform 14"/>
          <p:cNvSpPr>
            <a:spLocks/>
          </p:cNvSpPr>
          <p:nvPr userDrawn="1"/>
        </p:nvSpPr>
        <p:spPr bwMode="auto">
          <a:xfrm>
            <a:off x="7510463" y="796925"/>
            <a:ext cx="41275" cy="53975"/>
          </a:xfrm>
          <a:custGeom>
            <a:avLst/>
            <a:gdLst>
              <a:gd name="T0" fmla="*/ 7 w 13"/>
              <a:gd name="T1" fmla="*/ 7 h 17"/>
              <a:gd name="T2" fmla="*/ 3 w 13"/>
              <a:gd name="T3" fmla="*/ 5 h 17"/>
              <a:gd name="T4" fmla="*/ 7 w 13"/>
              <a:gd name="T5" fmla="*/ 3 h 17"/>
              <a:gd name="T6" fmla="*/ 11 w 13"/>
              <a:gd name="T7" fmla="*/ 5 h 17"/>
              <a:gd name="T8" fmla="*/ 11 w 13"/>
              <a:gd name="T9" fmla="*/ 5 h 17"/>
              <a:gd name="T10" fmla="*/ 13 w 13"/>
              <a:gd name="T11" fmla="*/ 4 h 17"/>
              <a:gd name="T12" fmla="*/ 13 w 13"/>
              <a:gd name="T13" fmla="*/ 3 h 17"/>
              <a:gd name="T14" fmla="*/ 7 w 13"/>
              <a:gd name="T15" fmla="*/ 0 h 17"/>
              <a:gd name="T16" fmla="*/ 2 w 13"/>
              <a:gd name="T17" fmla="*/ 2 h 17"/>
              <a:gd name="T18" fmla="*/ 0 w 13"/>
              <a:gd name="T19" fmla="*/ 5 h 17"/>
              <a:gd name="T20" fmla="*/ 7 w 13"/>
              <a:gd name="T21" fmla="*/ 10 h 17"/>
              <a:gd name="T22" fmla="*/ 11 w 13"/>
              <a:gd name="T23" fmla="*/ 12 h 17"/>
              <a:gd name="T24" fmla="*/ 7 w 13"/>
              <a:gd name="T25" fmla="*/ 15 h 17"/>
              <a:gd name="T26" fmla="*/ 2 w 13"/>
              <a:gd name="T27" fmla="*/ 12 h 17"/>
              <a:gd name="T28" fmla="*/ 2 w 13"/>
              <a:gd name="T29" fmla="*/ 12 h 17"/>
              <a:gd name="T30" fmla="*/ 0 w 13"/>
              <a:gd name="T31" fmla="*/ 13 h 17"/>
              <a:gd name="T32" fmla="*/ 0 w 13"/>
              <a:gd name="T33" fmla="*/ 14 h 17"/>
              <a:gd name="T34" fmla="*/ 7 w 13"/>
              <a:gd name="T35" fmla="*/ 17 h 17"/>
              <a:gd name="T36" fmla="*/ 13 w 13"/>
              <a:gd name="T37" fmla="*/ 12 h 17"/>
              <a:gd name="T38" fmla="*/ 7 w 13"/>
              <a:gd name="T39" fmla="*/ 7 h 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13" h="17">
                <a:moveTo>
                  <a:pt x="7" y="7"/>
                </a:moveTo>
                <a:cubicBezTo>
                  <a:pt x="5" y="7"/>
                  <a:pt x="3" y="6"/>
                  <a:pt x="3" y="5"/>
                </a:cubicBezTo>
                <a:cubicBezTo>
                  <a:pt x="3" y="4"/>
                  <a:pt x="5" y="3"/>
                  <a:pt x="7" y="3"/>
                </a:cubicBezTo>
                <a:cubicBezTo>
                  <a:pt x="9" y="3"/>
                  <a:pt x="10" y="3"/>
                  <a:pt x="11" y="5"/>
                </a:cubicBezTo>
                <a:cubicBezTo>
                  <a:pt x="11" y="5"/>
                  <a:pt x="11" y="5"/>
                  <a:pt x="11" y="5"/>
                </a:cubicBezTo>
                <a:cubicBezTo>
                  <a:pt x="13" y="4"/>
                  <a:pt x="13" y="4"/>
                  <a:pt x="13" y="4"/>
                </a:cubicBezTo>
                <a:cubicBezTo>
                  <a:pt x="13" y="3"/>
                  <a:pt x="13" y="3"/>
                  <a:pt x="13" y="3"/>
                </a:cubicBezTo>
                <a:cubicBezTo>
                  <a:pt x="12" y="1"/>
                  <a:pt x="10" y="0"/>
                  <a:pt x="7" y="0"/>
                </a:cubicBezTo>
                <a:cubicBezTo>
                  <a:pt x="5" y="0"/>
                  <a:pt x="3" y="1"/>
                  <a:pt x="2" y="2"/>
                </a:cubicBezTo>
                <a:cubicBezTo>
                  <a:pt x="1" y="3"/>
                  <a:pt x="0" y="4"/>
                  <a:pt x="0" y="5"/>
                </a:cubicBezTo>
                <a:cubicBezTo>
                  <a:pt x="0" y="9"/>
                  <a:pt x="4" y="9"/>
                  <a:pt x="7" y="10"/>
                </a:cubicBezTo>
                <a:cubicBezTo>
                  <a:pt x="9" y="10"/>
                  <a:pt x="11" y="11"/>
                  <a:pt x="11" y="12"/>
                </a:cubicBezTo>
                <a:cubicBezTo>
                  <a:pt x="11" y="15"/>
                  <a:pt x="8" y="15"/>
                  <a:pt x="7" y="15"/>
                </a:cubicBezTo>
                <a:cubicBezTo>
                  <a:pt x="5" y="15"/>
                  <a:pt x="3" y="14"/>
                  <a:pt x="2" y="12"/>
                </a:cubicBezTo>
                <a:cubicBezTo>
                  <a:pt x="2" y="12"/>
                  <a:pt x="2" y="12"/>
                  <a:pt x="2" y="12"/>
                </a:cubicBezTo>
                <a:cubicBezTo>
                  <a:pt x="0" y="13"/>
                  <a:pt x="0" y="13"/>
                  <a:pt x="0" y="13"/>
                </a:cubicBezTo>
                <a:cubicBezTo>
                  <a:pt x="0" y="14"/>
                  <a:pt x="0" y="14"/>
                  <a:pt x="0" y="14"/>
                </a:cubicBezTo>
                <a:cubicBezTo>
                  <a:pt x="1" y="16"/>
                  <a:pt x="3" y="17"/>
                  <a:pt x="7" y="17"/>
                </a:cubicBezTo>
                <a:cubicBezTo>
                  <a:pt x="10" y="17"/>
                  <a:pt x="13" y="16"/>
                  <a:pt x="13" y="12"/>
                </a:cubicBezTo>
                <a:cubicBezTo>
                  <a:pt x="13" y="9"/>
                  <a:pt x="10" y="8"/>
                  <a:pt x="7" y="7"/>
                </a:cubicBez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Freeform 15"/>
          <p:cNvSpPr>
            <a:spLocks/>
          </p:cNvSpPr>
          <p:nvPr userDrawn="1"/>
        </p:nvSpPr>
        <p:spPr bwMode="auto">
          <a:xfrm>
            <a:off x="7558088" y="800100"/>
            <a:ext cx="41275" cy="50800"/>
          </a:xfrm>
          <a:custGeom>
            <a:avLst/>
            <a:gdLst>
              <a:gd name="T0" fmla="*/ 0 w 26"/>
              <a:gd name="T1" fmla="*/ 4 h 32"/>
              <a:gd name="T2" fmla="*/ 10 w 26"/>
              <a:gd name="T3" fmla="*/ 4 h 32"/>
              <a:gd name="T4" fmla="*/ 10 w 26"/>
              <a:gd name="T5" fmla="*/ 32 h 32"/>
              <a:gd name="T6" fmla="*/ 16 w 26"/>
              <a:gd name="T7" fmla="*/ 32 h 32"/>
              <a:gd name="T8" fmla="*/ 16 w 26"/>
              <a:gd name="T9" fmla="*/ 4 h 32"/>
              <a:gd name="T10" fmla="*/ 26 w 26"/>
              <a:gd name="T11" fmla="*/ 4 h 32"/>
              <a:gd name="T12" fmla="*/ 26 w 26"/>
              <a:gd name="T13" fmla="*/ 0 h 32"/>
              <a:gd name="T14" fmla="*/ 0 w 26"/>
              <a:gd name="T15" fmla="*/ 0 h 32"/>
              <a:gd name="T16" fmla="*/ 0 w 26"/>
              <a:gd name="T17" fmla="*/ 4 h 32"/>
              <a:gd name="T18" fmla="*/ 0 w 26"/>
              <a:gd name="T19" fmla="*/ 4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6" h="32">
                <a:moveTo>
                  <a:pt x="0" y="4"/>
                </a:moveTo>
                <a:lnTo>
                  <a:pt x="10" y="4"/>
                </a:lnTo>
                <a:lnTo>
                  <a:pt x="10" y="32"/>
                </a:lnTo>
                <a:lnTo>
                  <a:pt x="16" y="32"/>
                </a:lnTo>
                <a:lnTo>
                  <a:pt x="16" y="4"/>
                </a:lnTo>
                <a:lnTo>
                  <a:pt x="26" y="4"/>
                </a:lnTo>
                <a:lnTo>
                  <a:pt x="26" y="0"/>
                </a:lnTo>
                <a:lnTo>
                  <a:pt x="0" y="0"/>
                </a:lnTo>
                <a:lnTo>
                  <a:pt x="0" y="4"/>
                </a:lnTo>
                <a:lnTo>
                  <a:pt x="0" y="4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Freeform 16"/>
          <p:cNvSpPr>
            <a:spLocks noEditPoints="1"/>
          </p:cNvSpPr>
          <p:nvPr userDrawn="1"/>
        </p:nvSpPr>
        <p:spPr bwMode="auto">
          <a:xfrm>
            <a:off x="7608888" y="800100"/>
            <a:ext cx="44450" cy="50800"/>
          </a:xfrm>
          <a:custGeom>
            <a:avLst/>
            <a:gdLst>
              <a:gd name="T0" fmla="*/ 13 w 14"/>
              <a:gd name="T1" fmla="*/ 5 h 16"/>
              <a:gd name="T2" fmla="*/ 7 w 14"/>
              <a:gd name="T3" fmla="*/ 0 h 16"/>
              <a:gd name="T4" fmla="*/ 0 w 14"/>
              <a:gd name="T5" fmla="*/ 0 h 16"/>
              <a:gd name="T6" fmla="*/ 0 w 14"/>
              <a:gd name="T7" fmla="*/ 16 h 16"/>
              <a:gd name="T8" fmla="*/ 2 w 14"/>
              <a:gd name="T9" fmla="*/ 16 h 16"/>
              <a:gd name="T10" fmla="*/ 2 w 14"/>
              <a:gd name="T11" fmla="*/ 10 h 16"/>
              <a:gd name="T12" fmla="*/ 6 w 14"/>
              <a:gd name="T13" fmla="*/ 10 h 16"/>
              <a:gd name="T14" fmla="*/ 10 w 14"/>
              <a:gd name="T15" fmla="*/ 16 h 16"/>
              <a:gd name="T16" fmla="*/ 14 w 14"/>
              <a:gd name="T17" fmla="*/ 16 h 16"/>
              <a:gd name="T18" fmla="*/ 8 w 14"/>
              <a:gd name="T19" fmla="*/ 10 h 16"/>
              <a:gd name="T20" fmla="*/ 13 w 14"/>
              <a:gd name="T21" fmla="*/ 5 h 16"/>
              <a:gd name="T22" fmla="*/ 2 w 14"/>
              <a:gd name="T23" fmla="*/ 2 h 16"/>
              <a:gd name="T24" fmla="*/ 7 w 14"/>
              <a:gd name="T25" fmla="*/ 2 h 16"/>
              <a:gd name="T26" fmla="*/ 10 w 14"/>
              <a:gd name="T27" fmla="*/ 5 h 16"/>
              <a:gd name="T28" fmla="*/ 7 w 14"/>
              <a:gd name="T29" fmla="*/ 8 h 16"/>
              <a:gd name="T30" fmla="*/ 2 w 14"/>
              <a:gd name="T31" fmla="*/ 8 h 16"/>
              <a:gd name="T32" fmla="*/ 2 w 14"/>
              <a:gd name="T33" fmla="*/ 2 h 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4" h="16">
                <a:moveTo>
                  <a:pt x="13" y="5"/>
                </a:moveTo>
                <a:cubicBezTo>
                  <a:pt x="13" y="2"/>
                  <a:pt x="11" y="0"/>
                  <a:pt x="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"/>
                  <a:pt x="0" y="16"/>
                  <a:pt x="0" y="16"/>
                </a:cubicBezTo>
                <a:cubicBezTo>
                  <a:pt x="2" y="16"/>
                  <a:pt x="2" y="16"/>
                  <a:pt x="2" y="16"/>
                </a:cubicBezTo>
                <a:cubicBezTo>
                  <a:pt x="2" y="10"/>
                  <a:pt x="2" y="10"/>
                  <a:pt x="2" y="10"/>
                </a:cubicBezTo>
                <a:cubicBezTo>
                  <a:pt x="6" y="10"/>
                  <a:pt x="6" y="10"/>
                  <a:pt x="6" y="10"/>
                </a:cubicBezTo>
                <a:cubicBezTo>
                  <a:pt x="10" y="16"/>
                  <a:pt x="10" y="16"/>
                  <a:pt x="10" y="16"/>
                </a:cubicBezTo>
                <a:cubicBezTo>
                  <a:pt x="14" y="16"/>
                  <a:pt x="14" y="16"/>
                  <a:pt x="14" y="16"/>
                </a:cubicBezTo>
                <a:cubicBezTo>
                  <a:pt x="8" y="10"/>
                  <a:pt x="8" y="10"/>
                  <a:pt x="8" y="10"/>
                </a:cubicBezTo>
                <a:cubicBezTo>
                  <a:pt x="11" y="10"/>
                  <a:pt x="13" y="8"/>
                  <a:pt x="13" y="5"/>
                </a:cubicBezTo>
                <a:close/>
                <a:moveTo>
                  <a:pt x="2" y="2"/>
                </a:moveTo>
                <a:cubicBezTo>
                  <a:pt x="7" y="2"/>
                  <a:pt x="7" y="2"/>
                  <a:pt x="7" y="2"/>
                </a:cubicBezTo>
                <a:cubicBezTo>
                  <a:pt x="9" y="2"/>
                  <a:pt x="10" y="4"/>
                  <a:pt x="10" y="5"/>
                </a:cubicBezTo>
                <a:cubicBezTo>
                  <a:pt x="10" y="6"/>
                  <a:pt x="9" y="8"/>
                  <a:pt x="7" y="8"/>
                </a:cubicBezTo>
                <a:cubicBezTo>
                  <a:pt x="2" y="8"/>
                  <a:pt x="2" y="8"/>
                  <a:pt x="2" y="8"/>
                </a:cubicBezTo>
                <a:cubicBezTo>
                  <a:pt x="2" y="2"/>
                  <a:pt x="2" y="2"/>
                  <a:pt x="2" y="2"/>
                </a:cubicBez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Freeform 17"/>
          <p:cNvSpPr>
            <a:spLocks noEditPoints="1"/>
          </p:cNvSpPr>
          <p:nvPr userDrawn="1"/>
        </p:nvSpPr>
        <p:spPr bwMode="auto">
          <a:xfrm>
            <a:off x="7656513" y="800100"/>
            <a:ext cx="53975" cy="50800"/>
          </a:xfrm>
          <a:custGeom>
            <a:avLst/>
            <a:gdLst>
              <a:gd name="T0" fmla="*/ 18 w 34"/>
              <a:gd name="T1" fmla="*/ 0 h 32"/>
              <a:gd name="T2" fmla="*/ 14 w 34"/>
              <a:gd name="T3" fmla="*/ 0 h 32"/>
              <a:gd name="T4" fmla="*/ 0 w 34"/>
              <a:gd name="T5" fmla="*/ 32 h 32"/>
              <a:gd name="T6" fmla="*/ 4 w 34"/>
              <a:gd name="T7" fmla="*/ 32 h 32"/>
              <a:gd name="T8" fmla="*/ 8 w 34"/>
              <a:gd name="T9" fmla="*/ 26 h 32"/>
              <a:gd name="T10" fmla="*/ 24 w 34"/>
              <a:gd name="T11" fmla="*/ 26 h 32"/>
              <a:gd name="T12" fmla="*/ 28 w 34"/>
              <a:gd name="T13" fmla="*/ 32 h 32"/>
              <a:gd name="T14" fmla="*/ 34 w 34"/>
              <a:gd name="T15" fmla="*/ 32 h 32"/>
              <a:gd name="T16" fmla="*/ 20 w 34"/>
              <a:gd name="T17" fmla="*/ 0 h 32"/>
              <a:gd name="T18" fmla="*/ 18 w 34"/>
              <a:gd name="T19" fmla="*/ 0 h 32"/>
              <a:gd name="T20" fmla="*/ 18 w 34"/>
              <a:gd name="T21" fmla="*/ 0 h 32"/>
              <a:gd name="T22" fmla="*/ 22 w 34"/>
              <a:gd name="T23" fmla="*/ 20 h 32"/>
              <a:gd name="T24" fmla="*/ 10 w 34"/>
              <a:gd name="T25" fmla="*/ 20 h 32"/>
              <a:gd name="T26" fmla="*/ 16 w 34"/>
              <a:gd name="T27" fmla="*/ 6 h 32"/>
              <a:gd name="T28" fmla="*/ 22 w 34"/>
              <a:gd name="T29" fmla="*/ 20 h 32"/>
              <a:gd name="T30" fmla="*/ 22 w 34"/>
              <a:gd name="T31" fmla="*/ 20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34" h="32">
                <a:moveTo>
                  <a:pt x="18" y="0"/>
                </a:moveTo>
                <a:lnTo>
                  <a:pt x="14" y="0"/>
                </a:lnTo>
                <a:lnTo>
                  <a:pt x="0" y="32"/>
                </a:lnTo>
                <a:lnTo>
                  <a:pt x="4" y="32"/>
                </a:lnTo>
                <a:lnTo>
                  <a:pt x="8" y="26"/>
                </a:lnTo>
                <a:lnTo>
                  <a:pt x="24" y="26"/>
                </a:lnTo>
                <a:lnTo>
                  <a:pt x="28" y="32"/>
                </a:lnTo>
                <a:lnTo>
                  <a:pt x="34" y="32"/>
                </a:lnTo>
                <a:lnTo>
                  <a:pt x="20" y="0"/>
                </a:lnTo>
                <a:lnTo>
                  <a:pt x="18" y="0"/>
                </a:lnTo>
                <a:lnTo>
                  <a:pt x="18" y="0"/>
                </a:lnTo>
                <a:close/>
                <a:moveTo>
                  <a:pt x="22" y="20"/>
                </a:moveTo>
                <a:lnTo>
                  <a:pt x="10" y="20"/>
                </a:lnTo>
                <a:lnTo>
                  <a:pt x="16" y="6"/>
                </a:lnTo>
                <a:lnTo>
                  <a:pt x="22" y="20"/>
                </a:lnTo>
                <a:lnTo>
                  <a:pt x="22" y="20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Freeform 18"/>
          <p:cNvSpPr>
            <a:spLocks/>
          </p:cNvSpPr>
          <p:nvPr userDrawn="1"/>
        </p:nvSpPr>
        <p:spPr bwMode="auto">
          <a:xfrm>
            <a:off x="7716838" y="800100"/>
            <a:ext cx="34925" cy="50800"/>
          </a:xfrm>
          <a:custGeom>
            <a:avLst/>
            <a:gdLst>
              <a:gd name="T0" fmla="*/ 6 w 22"/>
              <a:gd name="T1" fmla="*/ 0 h 32"/>
              <a:gd name="T2" fmla="*/ 0 w 22"/>
              <a:gd name="T3" fmla="*/ 0 h 32"/>
              <a:gd name="T4" fmla="*/ 0 w 22"/>
              <a:gd name="T5" fmla="*/ 32 h 32"/>
              <a:gd name="T6" fmla="*/ 22 w 22"/>
              <a:gd name="T7" fmla="*/ 32 h 32"/>
              <a:gd name="T8" fmla="*/ 22 w 22"/>
              <a:gd name="T9" fmla="*/ 28 h 32"/>
              <a:gd name="T10" fmla="*/ 6 w 22"/>
              <a:gd name="T11" fmla="*/ 28 h 32"/>
              <a:gd name="T12" fmla="*/ 6 w 22"/>
              <a:gd name="T13" fmla="*/ 0 h 32"/>
              <a:gd name="T14" fmla="*/ 6 w 22"/>
              <a:gd name="T15" fmla="*/ 0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2" h="32">
                <a:moveTo>
                  <a:pt x="6" y="0"/>
                </a:moveTo>
                <a:lnTo>
                  <a:pt x="0" y="0"/>
                </a:lnTo>
                <a:lnTo>
                  <a:pt x="0" y="32"/>
                </a:lnTo>
                <a:lnTo>
                  <a:pt x="22" y="32"/>
                </a:lnTo>
                <a:lnTo>
                  <a:pt x="22" y="28"/>
                </a:lnTo>
                <a:lnTo>
                  <a:pt x="6" y="28"/>
                </a:lnTo>
                <a:lnTo>
                  <a:pt x="6" y="0"/>
                </a:lnTo>
                <a:lnTo>
                  <a:pt x="6" y="0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Freeform 19"/>
          <p:cNvSpPr>
            <a:spLocks/>
          </p:cNvSpPr>
          <p:nvPr userDrawn="1"/>
        </p:nvSpPr>
        <p:spPr bwMode="auto">
          <a:xfrm>
            <a:off x="7761288" y="800100"/>
            <a:ext cx="6350" cy="50800"/>
          </a:xfrm>
          <a:custGeom>
            <a:avLst/>
            <a:gdLst>
              <a:gd name="T0" fmla="*/ 0 w 4"/>
              <a:gd name="T1" fmla="*/ 32 h 32"/>
              <a:gd name="T2" fmla="*/ 4 w 4"/>
              <a:gd name="T3" fmla="*/ 32 h 32"/>
              <a:gd name="T4" fmla="*/ 4 w 4"/>
              <a:gd name="T5" fmla="*/ 0 h 32"/>
              <a:gd name="T6" fmla="*/ 0 w 4"/>
              <a:gd name="T7" fmla="*/ 0 h 32"/>
              <a:gd name="T8" fmla="*/ 0 w 4"/>
              <a:gd name="T9" fmla="*/ 32 h 32"/>
              <a:gd name="T10" fmla="*/ 0 w 4"/>
              <a:gd name="T11" fmla="*/ 32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32">
                <a:moveTo>
                  <a:pt x="0" y="32"/>
                </a:moveTo>
                <a:lnTo>
                  <a:pt x="4" y="32"/>
                </a:lnTo>
                <a:lnTo>
                  <a:pt x="4" y="0"/>
                </a:lnTo>
                <a:lnTo>
                  <a:pt x="0" y="0"/>
                </a:lnTo>
                <a:lnTo>
                  <a:pt x="0" y="32"/>
                </a:lnTo>
                <a:lnTo>
                  <a:pt x="0" y="32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Freeform 20"/>
          <p:cNvSpPr>
            <a:spLocks noEditPoints="1"/>
          </p:cNvSpPr>
          <p:nvPr userDrawn="1"/>
        </p:nvSpPr>
        <p:spPr bwMode="auto">
          <a:xfrm>
            <a:off x="7777163" y="800100"/>
            <a:ext cx="53975" cy="50800"/>
          </a:xfrm>
          <a:custGeom>
            <a:avLst/>
            <a:gdLst>
              <a:gd name="T0" fmla="*/ 20 w 34"/>
              <a:gd name="T1" fmla="*/ 0 h 32"/>
              <a:gd name="T2" fmla="*/ 14 w 34"/>
              <a:gd name="T3" fmla="*/ 0 h 32"/>
              <a:gd name="T4" fmla="*/ 0 w 34"/>
              <a:gd name="T5" fmla="*/ 32 h 32"/>
              <a:gd name="T6" fmla="*/ 6 w 34"/>
              <a:gd name="T7" fmla="*/ 32 h 32"/>
              <a:gd name="T8" fmla="*/ 8 w 34"/>
              <a:gd name="T9" fmla="*/ 26 h 32"/>
              <a:gd name="T10" fmla="*/ 26 w 34"/>
              <a:gd name="T11" fmla="*/ 26 h 32"/>
              <a:gd name="T12" fmla="*/ 28 w 34"/>
              <a:gd name="T13" fmla="*/ 32 h 32"/>
              <a:gd name="T14" fmla="*/ 34 w 34"/>
              <a:gd name="T15" fmla="*/ 32 h 32"/>
              <a:gd name="T16" fmla="*/ 20 w 34"/>
              <a:gd name="T17" fmla="*/ 0 h 32"/>
              <a:gd name="T18" fmla="*/ 20 w 34"/>
              <a:gd name="T19" fmla="*/ 0 h 32"/>
              <a:gd name="T20" fmla="*/ 20 w 34"/>
              <a:gd name="T21" fmla="*/ 0 h 32"/>
              <a:gd name="T22" fmla="*/ 24 w 34"/>
              <a:gd name="T23" fmla="*/ 20 h 32"/>
              <a:gd name="T24" fmla="*/ 10 w 34"/>
              <a:gd name="T25" fmla="*/ 20 h 32"/>
              <a:gd name="T26" fmla="*/ 18 w 34"/>
              <a:gd name="T27" fmla="*/ 6 h 32"/>
              <a:gd name="T28" fmla="*/ 24 w 34"/>
              <a:gd name="T29" fmla="*/ 20 h 32"/>
              <a:gd name="T30" fmla="*/ 24 w 34"/>
              <a:gd name="T31" fmla="*/ 20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34" h="32">
                <a:moveTo>
                  <a:pt x="20" y="0"/>
                </a:moveTo>
                <a:lnTo>
                  <a:pt x="14" y="0"/>
                </a:lnTo>
                <a:lnTo>
                  <a:pt x="0" y="32"/>
                </a:lnTo>
                <a:lnTo>
                  <a:pt x="6" y="32"/>
                </a:lnTo>
                <a:lnTo>
                  <a:pt x="8" y="26"/>
                </a:lnTo>
                <a:lnTo>
                  <a:pt x="26" y="26"/>
                </a:lnTo>
                <a:lnTo>
                  <a:pt x="28" y="32"/>
                </a:lnTo>
                <a:lnTo>
                  <a:pt x="34" y="32"/>
                </a:lnTo>
                <a:lnTo>
                  <a:pt x="20" y="0"/>
                </a:lnTo>
                <a:lnTo>
                  <a:pt x="20" y="0"/>
                </a:lnTo>
                <a:lnTo>
                  <a:pt x="20" y="0"/>
                </a:lnTo>
                <a:close/>
                <a:moveTo>
                  <a:pt x="24" y="20"/>
                </a:moveTo>
                <a:lnTo>
                  <a:pt x="10" y="20"/>
                </a:lnTo>
                <a:lnTo>
                  <a:pt x="18" y="6"/>
                </a:lnTo>
                <a:lnTo>
                  <a:pt x="24" y="20"/>
                </a:lnTo>
                <a:lnTo>
                  <a:pt x="24" y="20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Freeform 21"/>
          <p:cNvSpPr>
            <a:spLocks/>
          </p:cNvSpPr>
          <p:nvPr userDrawn="1"/>
        </p:nvSpPr>
        <p:spPr bwMode="auto">
          <a:xfrm>
            <a:off x="7840663" y="800100"/>
            <a:ext cx="41275" cy="50800"/>
          </a:xfrm>
          <a:custGeom>
            <a:avLst/>
            <a:gdLst>
              <a:gd name="T0" fmla="*/ 22 w 26"/>
              <a:gd name="T1" fmla="*/ 22 h 32"/>
              <a:gd name="T2" fmla="*/ 2 w 26"/>
              <a:gd name="T3" fmla="*/ 0 h 32"/>
              <a:gd name="T4" fmla="*/ 0 w 26"/>
              <a:gd name="T5" fmla="*/ 0 h 32"/>
              <a:gd name="T6" fmla="*/ 0 w 26"/>
              <a:gd name="T7" fmla="*/ 32 h 32"/>
              <a:gd name="T8" fmla="*/ 4 w 26"/>
              <a:gd name="T9" fmla="*/ 32 h 32"/>
              <a:gd name="T10" fmla="*/ 4 w 26"/>
              <a:gd name="T11" fmla="*/ 10 h 32"/>
              <a:gd name="T12" fmla="*/ 22 w 26"/>
              <a:gd name="T13" fmla="*/ 32 h 32"/>
              <a:gd name="T14" fmla="*/ 26 w 26"/>
              <a:gd name="T15" fmla="*/ 32 h 32"/>
              <a:gd name="T16" fmla="*/ 26 w 26"/>
              <a:gd name="T17" fmla="*/ 0 h 32"/>
              <a:gd name="T18" fmla="*/ 22 w 26"/>
              <a:gd name="T19" fmla="*/ 0 h 32"/>
              <a:gd name="T20" fmla="*/ 22 w 26"/>
              <a:gd name="T21" fmla="*/ 22 h 32"/>
              <a:gd name="T22" fmla="*/ 22 w 26"/>
              <a:gd name="T23" fmla="*/ 22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6" h="32">
                <a:moveTo>
                  <a:pt x="22" y="22"/>
                </a:moveTo>
                <a:lnTo>
                  <a:pt x="2" y="0"/>
                </a:lnTo>
                <a:lnTo>
                  <a:pt x="0" y="0"/>
                </a:lnTo>
                <a:lnTo>
                  <a:pt x="0" y="32"/>
                </a:lnTo>
                <a:lnTo>
                  <a:pt x="4" y="32"/>
                </a:lnTo>
                <a:lnTo>
                  <a:pt x="4" y="10"/>
                </a:lnTo>
                <a:lnTo>
                  <a:pt x="22" y="32"/>
                </a:lnTo>
                <a:lnTo>
                  <a:pt x="26" y="32"/>
                </a:lnTo>
                <a:lnTo>
                  <a:pt x="26" y="0"/>
                </a:lnTo>
                <a:lnTo>
                  <a:pt x="22" y="0"/>
                </a:lnTo>
                <a:lnTo>
                  <a:pt x="22" y="22"/>
                </a:lnTo>
                <a:lnTo>
                  <a:pt x="22" y="22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Freeform 22"/>
          <p:cNvSpPr>
            <a:spLocks/>
          </p:cNvSpPr>
          <p:nvPr userDrawn="1"/>
        </p:nvSpPr>
        <p:spPr bwMode="auto">
          <a:xfrm>
            <a:off x="7920038" y="796925"/>
            <a:ext cx="47625" cy="53975"/>
          </a:xfrm>
          <a:custGeom>
            <a:avLst/>
            <a:gdLst>
              <a:gd name="T0" fmla="*/ 13 w 15"/>
              <a:gd name="T1" fmla="*/ 13 h 17"/>
              <a:gd name="T2" fmla="*/ 9 w 15"/>
              <a:gd name="T3" fmla="*/ 15 h 17"/>
              <a:gd name="T4" fmla="*/ 3 w 15"/>
              <a:gd name="T5" fmla="*/ 9 h 17"/>
              <a:gd name="T6" fmla="*/ 9 w 15"/>
              <a:gd name="T7" fmla="*/ 3 h 17"/>
              <a:gd name="T8" fmla="*/ 13 w 15"/>
              <a:gd name="T9" fmla="*/ 5 h 17"/>
              <a:gd name="T10" fmla="*/ 13 w 15"/>
              <a:gd name="T11" fmla="*/ 5 h 17"/>
              <a:gd name="T12" fmla="*/ 15 w 15"/>
              <a:gd name="T13" fmla="*/ 3 h 17"/>
              <a:gd name="T14" fmla="*/ 15 w 15"/>
              <a:gd name="T15" fmla="*/ 3 h 17"/>
              <a:gd name="T16" fmla="*/ 9 w 15"/>
              <a:gd name="T17" fmla="*/ 0 h 17"/>
              <a:gd name="T18" fmla="*/ 2 w 15"/>
              <a:gd name="T19" fmla="*/ 3 h 17"/>
              <a:gd name="T20" fmla="*/ 0 w 15"/>
              <a:gd name="T21" fmla="*/ 9 h 17"/>
              <a:gd name="T22" fmla="*/ 9 w 15"/>
              <a:gd name="T23" fmla="*/ 17 h 17"/>
              <a:gd name="T24" fmla="*/ 15 w 15"/>
              <a:gd name="T25" fmla="*/ 15 h 17"/>
              <a:gd name="T26" fmla="*/ 15 w 15"/>
              <a:gd name="T27" fmla="*/ 15 h 17"/>
              <a:gd name="T28" fmla="*/ 13 w 15"/>
              <a:gd name="T29" fmla="*/ 13 h 17"/>
              <a:gd name="T30" fmla="*/ 13 w 15"/>
              <a:gd name="T31" fmla="*/ 13 h 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5" h="17">
                <a:moveTo>
                  <a:pt x="13" y="13"/>
                </a:moveTo>
                <a:cubicBezTo>
                  <a:pt x="12" y="14"/>
                  <a:pt x="10" y="15"/>
                  <a:pt x="9" y="15"/>
                </a:cubicBezTo>
                <a:cubicBezTo>
                  <a:pt x="4" y="15"/>
                  <a:pt x="3" y="12"/>
                  <a:pt x="3" y="9"/>
                </a:cubicBezTo>
                <a:cubicBezTo>
                  <a:pt x="3" y="6"/>
                  <a:pt x="4" y="3"/>
                  <a:pt x="9" y="3"/>
                </a:cubicBezTo>
                <a:cubicBezTo>
                  <a:pt x="10" y="3"/>
                  <a:pt x="12" y="3"/>
                  <a:pt x="13" y="5"/>
                </a:cubicBezTo>
                <a:cubicBezTo>
                  <a:pt x="13" y="5"/>
                  <a:pt x="13" y="5"/>
                  <a:pt x="13" y="5"/>
                </a:cubicBezTo>
                <a:cubicBezTo>
                  <a:pt x="15" y="3"/>
                  <a:pt x="15" y="3"/>
                  <a:pt x="15" y="3"/>
                </a:cubicBezTo>
                <a:cubicBezTo>
                  <a:pt x="15" y="3"/>
                  <a:pt x="15" y="3"/>
                  <a:pt x="15" y="3"/>
                </a:cubicBezTo>
                <a:cubicBezTo>
                  <a:pt x="13" y="1"/>
                  <a:pt x="11" y="0"/>
                  <a:pt x="9" y="0"/>
                </a:cubicBezTo>
                <a:cubicBezTo>
                  <a:pt x="6" y="0"/>
                  <a:pt x="4" y="1"/>
                  <a:pt x="2" y="3"/>
                </a:cubicBezTo>
                <a:cubicBezTo>
                  <a:pt x="1" y="4"/>
                  <a:pt x="0" y="7"/>
                  <a:pt x="0" y="9"/>
                </a:cubicBezTo>
                <a:cubicBezTo>
                  <a:pt x="0" y="13"/>
                  <a:pt x="3" y="17"/>
                  <a:pt x="9" y="17"/>
                </a:cubicBezTo>
                <a:cubicBezTo>
                  <a:pt x="11" y="17"/>
                  <a:pt x="13" y="16"/>
                  <a:pt x="15" y="15"/>
                </a:cubicBezTo>
                <a:cubicBezTo>
                  <a:pt x="15" y="15"/>
                  <a:pt x="15" y="15"/>
                  <a:pt x="15" y="15"/>
                </a:cubicBezTo>
                <a:cubicBezTo>
                  <a:pt x="13" y="13"/>
                  <a:pt x="13" y="13"/>
                  <a:pt x="13" y="13"/>
                </a:cubicBezTo>
                <a:cubicBezTo>
                  <a:pt x="13" y="13"/>
                  <a:pt x="13" y="13"/>
                  <a:pt x="13" y="13"/>
                </a:cubicBez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Freeform 23"/>
          <p:cNvSpPr>
            <a:spLocks noEditPoints="1"/>
          </p:cNvSpPr>
          <p:nvPr userDrawn="1"/>
        </p:nvSpPr>
        <p:spPr bwMode="auto">
          <a:xfrm>
            <a:off x="7970838" y="800100"/>
            <a:ext cx="53975" cy="50800"/>
          </a:xfrm>
          <a:custGeom>
            <a:avLst/>
            <a:gdLst>
              <a:gd name="T0" fmla="*/ 20 w 34"/>
              <a:gd name="T1" fmla="*/ 0 h 32"/>
              <a:gd name="T2" fmla="*/ 14 w 34"/>
              <a:gd name="T3" fmla="*/ 0 h 32"/>
              <a:gd name="T4" fmla="*/ 0 w 34"/>
              <a:gd name="T5" fmla="*/ 32 h 32"/>
              <a:gd name="T6" fmla="*/ 6 w 34"/>
              <a:gd name="T7" fmla="*/ 32 h 32"/>
              <a:gd name="T8" fmla="*/ 8 w 34"/>
              <a:gd name="T9" fmla="*/ 26 h 32"/>
              <a:gd name="T10" fmla="*/ 26 w 34"/>
              <a:gd name="T11" fmla="*/ 26 h 32"/>
              <a:gd name="T12" fmla="*/ 28 w 34"/>
              <a:gd name="T13" fmla="*/ 32 h 32"/>
              <a:gd name="T14" fmla="*/ 34 w 34"/>
              <a:gd name="T15" fmla="*/ 32 h 32"/>
              <a:gd name="T16" fmla="*/ 20 w 34"/>
              <a:gd name="T17" fmla="*/ 0 h 32"/>
              <a:gd name="T18" fmla="*/ 20 w 34"/>
              <a:gd name="T19" fmla="*/ 0 h 32"/>
              <a:gd name="T20" fmla="*/ 20 w 34"/>
              <a:gd name="T21" fmla="*/ 0 h 32"/>
              <a:gd name="T22" fmla="*/ 24 w 34"/>
              <a:gd name="T23" fmla="*/ 20 h 32"/>
              <a:gd name="T24" fmla="*/ 10 w 34"/>
              <a:gd name="T25" fmla="*/ 20 h 32"/>
              <a:gd name="T26" fmla="*/ 16 w 34"/>
              <a:gd name="T27" fmla="*/ 6 h 32"/>
              <a:gd name="T28" fmla="*/ 24 w 34"/>
              <a:gd name="T29" fmla="*/ 20 h 32"/>
              <a:gd name="T30" fmla="*/ 24 w 34"/>
              <a:gd name="T31" fmla="*/ 20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34" h="32">
                <a:moveTo>
                  <a:pt x="20" y="0"/>
                </a:moveTo>
                <a:lnTo>
                  <a:pt x="14" y="0"/>
                </a:lnTo>
                <a:lnTo>
                  <a:pt x="0" y="32"/>
                </a:lnTo>
                <a:lnTo>
                  <a:pt x="6" y="32"/>
                </a:lnTo>
                <a:lnTo>
                  <a:pt x="8" y="26"/>
                </a:lnTo>
                <a:lnTo>
                  <a:pt x="26" y="26"/>
                </a:lnTo>
                <a:lnTo>
                  <a:pt x="28" y="32"/>
                </a:lnTo>
                <a:lnTo>
                  <a:pt x="34" y="32"/>
                </a:lnTo>
                <a:lnTo>
                  <a:pt x="20" y="0"/>
                </a:lnTo>
                <a:lnTo>
                  <a:pt x="20" y="0"/>
                </a:lnTo>
                <a:lnTo>
                  <a:pt x="20" y="0"/>
                </a:lnTo>
                <a:close/>
                <a:moveTo>
                  <a:pt x="24" y="20"/>
                </a:moveTo>
                <a:lnTo>
                  <a:pt x="10" y="20"/>
                </a:lnTo>
                <a:lnTo>
                  <a:pt x="16" y="6"/>
                </a:lnTo>
                <a:lnTo>
                  <a:pt x="24" y="20"/>
                </a:lnTo>
                <a:lnTo>
                  <a:pt x="24" y="20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Freeform 24"/>
          <p:cNvSpPr>
            <a:spLocks/>
          </p:cNvSpPr>
          <p:nvPr userDrawn="1"/>
        </p:nvSpPr>
        <p:spPr bwMode="auto">
          <a:xfrm>
            <a:off x="8021638" y="800100"/>
            <a:ext cx="44450" cy="50800"/>
          </a:xfrm>
          <a:custGeom>
            <a:avLst/>
            <a:gdLst>
              <a:gd name="T0" fmla="*/ 0 w 28"/>
              <a:gd name="T1" fmla="*/ 4 h 32"/>
              <a:gd name="T2" fmla="*/ 12 w 28"/>
              <a:gd name="T3" fmla="*/ 4 h 32"/>
              <a:gd name="T4" fmla="*/ 12 w 28"/>
              <a:gd name="T5" fmla="*/ 32 h 32"/>
              <a:gd name="T6" fmla="*/ 16 w 28"/>
              <a:gd name="T7" fmla="*/ 32 h 32"/>
              <a:gd name="T8" fmla="*/ 16 w 28"/>
              <a:gd name="T9" fmla="*/ 4 h 32"/>
              <a:gd name="T10" fmla="*/ 28 w 28"/>
              <a:gd name="T11" fmla="*/ 4 h 32"/>
              <a:gd name="T12" fmla="*/ 28 w 28"/>
              <a:gd name="T13" fmla="*/ 0 h 32"/>
              <a:gd name="T14" fmla="*/ 0 w 28"/>
              <a:gd name="T15" fmla="*/ 0 h 32"/>
              <a:gd name="T16" fmla="*/ 0 w 28"/>
              <a:gd name="T17" fmla="*/ 4 h 32"/>
              <a:gd name="T18" fmla="*/ 0 w 28"/>
              <a:gd name="T19" fmla="*/ 4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8" h="32">
                <a:moveTo>
                  <a:pt x="0" y="4"/>
                </a:moveTo>
                <a:lnTo>
                  <a:pt x="12" y="4"/>
                </a:lnTo>
                <a:lnTo>
                  <a:pt x="12" y="32"/>
                </a:lnTo>
                <a:lnTo>
                  <a:pt x="16" y="32"/>
                </a:lnTo>
                <a:lnTo>
                  <a:pt x="16" y="4"/>
                </a:lnTo>
                <a:lnTo>
                  <a:pt x="28" y="4"/>
                </a:lnTo>
                <a:lnTo>
                  <a:pt x="28" y="0"/>
                </a:lnTo>
                <a:lnTo>
                  <a:pt x="0" y="0"/>
                </a:lnTo>
                <a:lnTo>
                  <a:pt x="0" y="4"/>
                </a:lnTo>
                <a:lnTo>
                  <a:pt x="0" y="4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Freeform 25"/>
          <p:cNvSpPr>
            <a:spLocks/>
          </p:cNvSpPr>
          <p:nvPr userDrawn="1"/>
        </p:nvSpPr>
        <p:spPr bwMode="auto">
          <a:xfrm>
            <a:off x="8072438" y="800100"/>
            <a:ext cx="44450" cy="50800"/>
          </a:xfrm>
          <a:custGeom>
            <a:avLst/>
            <a:gdLst>
              <a:gd name="T0" fmla="*/ 22 w 28"/>
              <a:gd name="T1" fmla="*/ 12 h 32"/>
              <a:gd name="T2" fmla="*/ 6 w 28"/>
              <a:gd name="T3" fmla="*/ 12 h 32"/>
              <a:gd name="T4" fmla="*/ 6 w 28"/>
              <a:gd name="T5" fmla="*/ 0 h 32"/>
              <a:gd name="T6" fmla="*/ 0 w 28"/>
              <a:gd name="T7" fmla="*/ 0 h 32"/>
              <a:gd name="T8" fmla="*/ 0 w 28"/>
              <a:gd name="T9" fmla="*/ 32 h 32"/>
              <a:gd name="T10" fmla="*/ 6 w 28"/>
              <a:gd name="T11" fmla="*/ 32 h 32"/>
              <a:gd name="T12" fmla="*/ 6 w 28"/>
              <a:gd name="T13" fmla="*/ 18 h 32"/>
              <a:gd name="T14" fmla="*/ 22 w 28"/>
              <a:gd name="T15" fmla="*/ 18 h 32"/>
              <a:gd name="T16" fmla="*/ 22 w 28"/>
              <a:gd name="T17" fmla="*/ 32 h 32"/>
              <a:gd name="T18" fmla="*/ 28 w 28"/>
              <a:gd name="T19" fmla="*/ 32 h 32"/>
              <a:gd name="T20" fmla="*/ 28 w 28"/>
              <a:gd name="T21" fmla="*/ 0 h 32"/>
              <a:gd name="T22" fmla="*/ 22 w 28"/>
              <a:gd name="T23" fmla="*/ 0 h 32"/>
              <a:gd name="T24" fmla="*/ 22 w 28"/>
              <a:gd name="T25" fmla="*/ 12 h 32"/>
              <a:gd name="T26" fmla="*/ 22 w 28"/>
              <a:gd name="T27" fmla="*/ 12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28" h="32">
                <a:moveTo>
                  <a:pt x="22" y="12"/>
                </a:moveTo>
                <a:lnTo>
                  <a:pt x="6" y="12"/>
                </a:lnTo>
                <a:lnTo>
                  <a:pt x="6" y="0"/>
                </a:lnTo>
                <a:lnTo>
                  <a:pt x="0" y="0"/>
                </a:lnTo>
                <a:lnTo>
                  <a:pt x="0" y="32"/>
                </a:lnTo>
                <a:lnTo>
                  <a:pt x="6" y="32"/>
                </a:lnTo>
                <a:lnTo>
                  <a:pt x="6" y="18"/>
                </a:lnTo>
                <a:lnTo>
                  <a:pt x="22" y="18"/>
                </a:lnTo>
                <a:lnTo>
                  <a:pt x="22" y="32"/>
                </a:lnTo>
                <a:lnTo>
                  <a:pt x="28" y="32"/>
                </a:lnTo>
                <a:lnTo>
                  <a:pt x="28" y="0"/>
                </a:lnTo>
                <a:lnTo>
                  <a:pt x="22" y="0"/>
                </a:lnTo>
                <a:lnTo>
                  <a:pt x="22" y="12"/>
                </a:lnTo>
                <a:lnTo>
                  <a:pt x="22" y="12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Freeform 26"/>
          <p:cNvSpPr>
            <a:spLocks noEditPoints="1"/>
          </p:cNvSpPr>
          <p:nvPr userDrawn="1"/>
        </p:nvSpPr>
        <p:spPr bwMode="auto">
          <a:xfrm>
            <a:off x="8126413" y="796925"/>
            <a:ext cx="50800" cy="53975"/>
          </a:xfrm>
          <a:custGeom>
            <a:avLst/>
            <a:gdLst>
              <a:gd name="T0" fmla="*/ 8 w 16"/>
              <a:gd name="T1" fmla="*/ 0 h 17"/>
              <a:gd name="T2" fmla="*/ 0 w 16"/>
              <a:gd name="T3" fmla="*/ 9 h 17"/>
              <a:gd name="T4" fmla="*/ 8 w 16"/>
              <a:gd name="T5" fmla="*/ 17 h 17"/>
              <a:gd name="T6" fmla="*/ 16 w 16"/>
              <a:gd name="T7" fmla="*/ 9 h 17"/>
              <a:gd name="T8" fmla="*/ 8 w 16"/>
              <a:gd name="T9" fmla="*/ 0 h 17"/>
              <a:gd name="T10" fmla="*/ 8 w 16"/>
              <a:gd name="T11" fmla="*/ 15 h 17"/>
              <a:gd name="T12" fmla="*/ 2 w 16"/>
              <a:gd name="T13" fmla="*/ 9 h 17"/>
              <a:gd name="T14" fmla="*/ 8 w 16"/>
              <a:gd name="T15" fmla="*/ 3 h 17"/>
              <a:gd name="T16" fmla="*/ 14 w 16"/>
              <a:gd name="T17" fmla="*/ 9 h 17"/>
              <a:gd name="T18" fmla="*/ 8 w 16"/>
              <a:gd name="T19" fmla="*/ 15 h 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6" h="17">
                <a:moveTo>
                  <a:pt x="8" y="0"/>
                </a:moveTo>
                <a:cubicBezTo>
                  <a:pt x="3" y="0"/>
                  <a:pt x="0" y="4"/>
                  <a:pt x="0" y="9"/>
                </a:cubicBezTo>
                <a:cubicBezTo>
                  <a:pt x="0" y="13"/>
                  <a:pt x="2" y="17"/>
                  <a:pt x="8" y="17"/>
                </a:cubicBezTo>
                <a:cubicBezTo>
                  <a:pt x="14" y="17"/>
                  <a:pt x="16" y="13"/>
                  <a:pt x="16" y="9"/>
                </a:cubicBezTo>
                <a:cubicBezTo>
                  <a:pt x="16" y="5"/>
                  <a:pt x="14" y="0"/>
                  <a:pt x="8" y="0"/>
                </a:cubicBezTo>
                <a:close/>
                <a:moveTo>
                  <a:pt x="8" y="15"/>
                </a:moveTo>
                <a:cubicBezTo>
                  <a:pt x="4" y="15"/>
                  <a:pt x="2" y="12"/>
                  <a:pt x="2" y="9"/>
                </a:cubicBezTo>
                <a:cubicBezTo>
                  <a:pt x="2" y="6"/>
                  <a:pt x="4" y="3"/>
                  <a:pt x="8" y="3"/>
                </a:cubicBezTo>
                <a:cubicBezTo>
                  <a:pt x="12" y="3"/>
                  <a:pt x="14" y="6"/>
                  <a:pt x="14" y="9"/>
                </a:cubicBezTo>
                <a:cubicBezTo>
                  <a:pt x="14" y="12"/>
                  <a:pt x="12" y="15"/>
                  <a:pt x="8" y="15"/>
                </a:cubicBez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Freeform 27"/>
          <p:cNvSpPr>
            <a:spLocks/>
          </p:cNvSpPr>
          <p:nvPr userDrawn="1"/>
        </p:nvSpPr>
        <p:spPr bwMode="auto">
          <a:xfrm>
            <a:off x="8186738" y="800100"/>
            <a:ext cx="34925" cy="50800"/>
          </a:xfrm>
          <a:custGeom>
            <a:avLst/>
            <a:gdLst>
              <a:gd name="T0" fmla="*/ 6 w 22"/>
              <a:gd name="T1" fmla="*/ 0 h 32"/>
              <a:gd name="T2" fmla="*/ 0 w 22"/>
              <a:gd name="T3" fmla="*/ 0 h 32"/>
              <a:gd name="T4" fmla="*/ 0 w 22"/>
              <a:gd name="T5" fmla="*/ 32 h 32"/>
              <a:gd name="T6" fmla="*/ 22 w 22"/>
              <a:gd name="T7" fmla="*/ 32 h 32"/>
              <a:gd name="T8" fmla="*/ 22 w 22"/>
              <a:gd name="T9" fmla="*/ 28 h 32"/>
              <a:gd name="T10" fmla="*/ 6 w 22"/>
              <a:gd name="T11" fmla="*/ 28 h 32"/>
              <a:gd name="T12" fmla="*/ 6 w 22"/>
              <a:gd name="T13" fmla="*/ 0 h 32"/>
              <a:gd name="T14" fmla="*/ 6 w 22"/>
              <a:gd name="T15" fmla="*/ 0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2" h="32">
                <a:moveTo>
                  <a:pt x="6" y="0"/>
                </a:moveTo>
                <a:lnTo>
                  <a:pt x="0" y="0"/>
                </a:lnTo>
                <a:lnTo>
                  <a:pt x="0" y="32"/>
                </a:lnTo>
                <a:lnTo>
                  <a:pt x="22" y="32"/>
                </a:lnTo>
                <a:lnTo>
                  <a:pt x="22" y="28"/>
                </a:lnTo>
                <a:lnTo>
                  <a:pt x="6" y="28"/>
                </a:lnTo>
                <a:lnTo>
                  <a:pt x="6" y="0"/>
                </a:lnTo>
                <a:lnTo>
                  <a:pt x="6" y="0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Freeform 28"/>
          <p:cNvSpPr>
            <a:spLocks/>
          </p:cNvSpPr>
          <p:nvPr userDrawn="1"/>
        </p:nvSpPr>
        <p:spPr bwMode="auto">
          <a:xfrm>
            <a:off x="8231188" y="800100"/>
            <a:ext cx="6350" cy="50800"/>
          </a:xfrm>
          <a:custGeom>
            <a:avLst/>
            <a:gdLst>
              <a:gd name="T0" fmla="*/ 0 w 4"/>
              <a:gd name="T1" fmla="*/ 32 h 32"/>
              <a:gd name="T2" fmla="*/ 4 w 4"/>
              <a:gd name="T3" fmla="*/ 32 h 32"/>
              <a:gd name="T4" fmla="*/ 4 w 4"/>
              <a:gd name="T5" fmla="*/ 0 h 32"/>
              <a:gd name="T6" fmla="*/ 0 w 4"/>
              <a:gd name="T7" fmla="*/ 0 h 32"/>
              <a:gd name="T8" fmla="*/ 0 w 4"/>
              <a:gd name="T9" fmla="*/ 32 h 32"/>
              <a:gd name="T10" fmla="*/ 0 w 4"/>
              <a:gd name="T11" fmla="*/ 32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32">
                <a:moveTo>
                  <a:pt x="0" y="32"/>
                </a:moveTo>
                <a:lnTo>
                  <a:pt x="4" y="32"/>
                </a:lnTo>
                <a:lnTo>
                  <a:pt x="4" y="0"/>
                </a:lnTo>
                <a:lnTo>
                  <a:pt x="0" y="0"/>
                </a:lnTo>
                <a:lnTo>
                  <a:pt x="0" y="32"/>
                </a:lnTo>
                <a:lnTo>
                  <a:pt x="0" y="32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Freeform 29"/>
          <p:cNvSpPr>
            <a:spLocks/>
          </p:cNvSpPr>
          <p:nvPr userDrawn="1"/>
        </p:nvSpPr>
        <p:spPr bwMode="auto">
          <a:xfrm>
            <a:off x="8247063" y="796925"/>
            <a:ext cx="47625" cy="53975"/>
          </a:xfrm>
          <a:custGeom>
            <a:avLst/>
            <a:gdLst>
              <a:gd name="T0" fmla="*/ 13 w 15"/>
              <a:gd name="T1" fmla="*/ 13 h 17"/>
              <a:gd name="T2" fmla="*/ 9 w 15"/>
              <a:gd name="T3" fmla="*/ 15 h 17"/>
              <a:gd name="T4" fmla="*/ 3 w 15"/>
              <a:gd name="T5" fmla="*/ 9 h 17"/>
              <a:gd name="T6" fmla="*/ 9 w 15"/>
              <a:gd name="T7" fmla="*/ 3 h 17"/>
              <a:gd name="T8" fmla="*/ 13 w 15"/>
              <a:gd name="T9" fmla="*/ 5 h 17"/>
              <a:gd name="T10" fmla="*/ 13 w 15"/>
              <a:gd name="T11" fmla="*/ 5 h 17"/>
              <a:gd name="T12" fmla="*/ 15 w 15"/>
              <a:gd name="T13" fmla="*/ 3 h 17"/>
              <a:gd name="T14" fmla="*/ 15 w 15"/>
              <a:gd name="T15" fmla="*/ 3 h 17"/>
              <a:gd name="T16" fmla="*/ 9 w 15"/>
              <a:gd name="T17" fmla="*/ 0 h 17"/>
              <a:gd name="T18" fmla="*/ 3 w 15"/>
              <a:gd name="T19" fmla="*/ 3 h 17"/>
              <a:gd name="T20" fmla="*/ 0 w 15"/>
              <a:gd name="T21" fmla="*/ 9 h 17"/>
              <a:gd name="T22" fmla="*/ 9 w 15"/>
              <a:gd name="T23" fmla="*/ 17 h 17"/>
              <a:gd name="T24" fmla="*/ 15 w 15"/>
              <a:gd name="T25" fmla="*/ 15 h 17"/>
              <a:gd name="T26" fmla="*/ 15 w 15"/>
              <a:gd name="T27" fmla="*/ 15 h 17"/>
              <a:gd name="T28" fmla="*/ 13 w 15"/>
              <a:gd name="T29" fmla="*/ 13 h 17"/>
              <a:gd name="T30" fmla="*/ 13 w 15"/>
              <a:gd name="T31" fmla="*/ 13 h 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5" h="17">
                <a:moveTo>
                  <a:pt x="13" y="13"/>
                </a:moveTo>
                <a:cubicBezTo>
                  <a:pt x="12" y="14"/>
                  <a:pt x="10" y="15"/>
                  <a:pt x="9" y="15"/>
                </a:cubicBezTo>
                <a:cubicBezTo>
                  <a:pt x="5" y="15"/>
                  <a:pt x="3" y="12"/>
                  <a:pt x="3" y="9"/>
                </a:cubicBezTo>
                <a:cubicBezTo>
                  <a:pt x="3" y="6"/>
                  <a:pt x="5" y="3"/>
                  <a:pt x="9" y="3"/>
                </a:cubicBezTo>
                <a:cubicBezTo>
                  <a:pt x="10" y="3"/>
                  <a:pt x="12" y="3"/>
                  <a:pt x="13" y="5"/>
                </a:cubicBezTo>
                <a:cubicBezTo>
                  <a:pt x="13" y="5"/>
                  <a:pt x="13" y="5"/>
                  <a:pt x="13" y="5"/>
                </a:cubicBezTo>
                <a:cubicBezTo>
                  <a:pt x="15" y="3"/>
                  <a:pt x="15" y="3"/>
                  <a:pt x="15" y="3"/>
                </a:cubicBezTo>
                <a:cubicBezTo>
                  <a:pt x="15" y="3"/>
                  <a:pt x="15" y="3"/>
                  <a:pt x="15" y="3"/>
                </a:cubicBezTo>
                <a:cubicBezTo>
                  <a:pt x="13" y="1"/>
                  <a:pt x="11" y="0"/>
                  <a:pt x="9" y="0"/>
                </a:cubicBezTo>
                <a:cubicBezTo>
                  <a:pt x="6" y="0"/>
                  <a:pt x="4" y="1"/>
                  <a:pt x="3" y="3"/>
                </a:cubicBezTo>
                <a:cubicBezTo>
                  <a:pt x="1" y="4"/>
                  <a:pt x="0" y="7"/>
                  <a:pt x="0" y="9"/>
                </a:cubicBezTo>
                <a:cubicBezTo>
                  <a:pt x="0" y="13"/>
                  <a:pt x="3" y="17"/>
                  <a:pt x="9" y="17"/>
                </a:cubicBezTo>
                <a:cubicBezTo>
                  <a:pt x="11" y="17"/>
                  <a:pt x="13" y="16"/>
                  <a:pt x="15" y="15"/>
                </a:cubicBezTo>
                <a:cubicBezTo>
                  <a:pt x="15" y="15"/>
                  <a:pt x="15" y="15"/>
                  <a:pt x="15" y="15"/>
                </a:cubicBezTo>
                <a:cubicBezTo>
                  <a:pt x="13" y="13"/>
                  <a:pt x="13" y="13"/>
                  <a:pt x="13" y="13"/>
                </a:cubicBezTo>
                <a:cubicBezTo>
                  <a:pt x="13" y="13"/>
                  <a:pt x="13" y="13"/>
                  <a:pt x="13" y="13"/>
                </a:cubicBez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Freeform 30"/>
          <p:cNvSpPr>
            <a:spLocks/>
          </p:cNvSpPr>
          <p:nvPr userDrawn="1"/>
        </p:nvSpPr>
        <p:spPr bwMode="auto">
          <a:xfrm>
            <a:off x="8329613" y="800100"/>
            <a:ext cx="41275" cy="50800"/>
          </a:xfrm>
          <a:custGeom>
            <a:avLst/>
            <a:gdLst>
              <a:gd name="T0" fmla="*/ 11 w 13"/>
              <a:gd name="T1" fmla="*/ 9 h 16"/>
              <a:gd name="T2" fmla="*/ 7 w 13"/>
              <a:gd name="T3" fmla="*/ 14 h 16"/>
              <a:gd name="T4" fmla="*/ 2 w 13"/>
              <a:gd name="T5" fmla="*/ 9 h 16"/>
              <a:gd name="T6" fmla="*/ 2 w 13"/>
              <a:gd name="T7" fmla="*/ 0 h 16"/>
              <a:gd name="T8" fmla="*/ 0 w 13"/>
              <a:gd name="T9" fmla="*/ 0 h 16"/>
              <a:gd name="T10" fmla="*/ 0 w 13"/>
              <a:gd name="T11" fmla="*/ 9 h 16"/>
              <a:gd name="T12" fmla="*/ 7 w 13"/>
              <a:gd name="T13" fmla="*/ 16 h 16"/>
              <a:gd name="T14" fmla="*/ 13 w 13"/>
              <a:gd name="T15" fmla="*/ 9 h 16"/>
              <a:gd name="T16" fmla="*/ 13 w 13"/>
              <a:gd name="T17" fmla="*/ 0 h 16"/>
              <a:gd name="T18" fmla="*/ 11 w 13"/>
              <a:gd name="T19" fmla="*/ 0 h 16"/>
              <a:gd name="T20" fmla="*/ 11 w 13"/>
              <a:gd name="T21" fmla="*/ 9 h 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3" h="16">
                <a:moveTo>
                  <a:pt x="11" y="9"/>
                </a:moveTo>
                <a:cubicBezTo>
                  <a:pt x="11" y="12"/>
                  <a:pt x="9" y="14"/>
                  <a:pt x="7" y="14"/>
                </a:cubicBezTo>
                <a:cubicBezTo>
                  <a:pt x="5" y="14"/>
                  <a:pt x="2" y="12"/>
                  <a:pt x="2" y="9"/>
                </a:cubicBezTo>
                <a:cubicBezTo>
                  <a:pt x="2" y="0"/>
                  <a:pt x="2" y="0"/>
                  <a:pt x="2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9"/>
                  <a:pt x="0" y="9"/>
                  <a:pt x="0" y="9"/>
                </a:cubicBezTo>
                <a:cubicBezTo>
                  <a:pt x="0" y="14"/>
                  <a:pt x="3" y="16"/>
                  <a:pt x="7" y="16"/>
                </a:cubicBezTo>
                <a:cubicBezTo>
                  <a:pt x="10" y="16"/>
                  <a:pt x="13" y="14"/>
                  <a:pt x="13" y="9"/>
                </a:cubicBezTo>
                <a:cubicBezTo>
                  <a:pt x="13" y="0"/>
                  <a:pt x="13" y="0"/>
                  <a:pt x="13" y="0"/>
                </a:cubicBezTo>
                <a:cubicBezTo>
                  <a:pt x="11" y="0"/>
                  <a:pt x="11" y="0"/>
                  <a:pt x="11" y="0"/>
                </a:cubicBezTo>
                <a:cubicBezTo>
                  <a:pt x="11" y="9"/>
                  <a:pt x="11" y="9"/>
                  <a:pt x="11" y="9"/>
                </a:cubicBez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Freeform 31"/>
          <p:cNvSpPr>
            <a:spLocks/>
          </p:cNvSpPr>
          <p:nvPr userDrawn="1"/>
        </p:nvSpPr>
        <p:spPr bwMode="auto">
          <a:xfrm>
            <a:off x="8386763" y="800100"/>
            <a:ext cx="41275" cy="50800"/>
          </a:xfrm>
          <a:custGeom>
            <a:avLst/>
            <a:gdLst>
              <a:gd name="T0" fmla="*/ 20 w 26"/>
              <a:gd name="T1" fmla="*/ 22 h 32"/>
              <a:gd name="T2" fmla="*/ 2 w 26"/>
              <a:gd name="T3" fmla="*/ 0 h 32"/>
              <a:gd name="T4" fmla="*/ 0 w 26"/>
              <a:gd name="T5" fmla="*/ 0 h 32"/>
              <a:gd name="T6" fmla="*/ 0 w 26"/>
              <a:gd name="T7" fmla="*/ 32 h 32"/>
              <a:gd name="T8" fmla="*/ 4 w 26"/>
              <a:gd name="T9" fmla="*/ 32 h 32"/>
              <a:gd name="T10" fmla="*/ 4 w 26"/>
              <a:gd name="T11" fmla="*/ 10 h 32"/>
              <a:gd name="T12" fmla="*/ 22 w 26"/>
              <a:gd name="T13" fmla="*/ 32 h 32"/>
              <a:gd name="T14" fmla="*/ 26 w 26"/>
              <a:gd name="T15" fmla="*/ 32 h 32"/>
              <a:gd name="T16" fmla="*/ 26 w 26"/>
              <a:gd name="T17" fmla="*/ 0 h 32"/>
              <a:gd name="T18" fmla="*/ 20 w 26"/>
              <a:gd name="T19" fmla="*/ 0 h 32"/>
              <a:gd name="T20" fmla="*/ 20 w 26"/>
              <a:gd name="T21" fmla="*/ 22 h 32"/>
              <a:gd name="T22" fmla="*/ 20 w 26"/>
              <a:gd name="T23" fmla="*/ 22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6" h="32">
                <a:moveTo>
                  <a:pt x="20" y="22"/>
                </a:moveTo>
                <a:lnTo>
                  <a:pt x="2" y="0"/>
                </a:lnTo>
                <a:lnTo>
                  <a:pt x="0" y="0"/>
                </a:lnTo>
                <a:lnTo>
                  <a:pt x="0" y="32"/>
                </a:lnTo>
                <a:lnTo>
                  <a:pt x="4" y="32"/>
                </a:lnTo>
                <a:lnTo>
                  <a:pt x="4" y="10"/>
                </a:lnTo>
                <a:lnTo>
                  <a:pt x="22" y="32"/>
                </a:lnTo>
                <a:lnTo>
                  <a:pt x="26" y="32"/>
                </a:lnTo>
                <a:lnTo>
                  <a:pt x="26" y="0"/>
                </a:lnTo>
                <a:lnTo>
                  <a:pt x="20" y="0"/>
                </a:lnTo>
                <a:lnTo>
                  <a:pt x="20" y="22"/>
                </a:lnTo>
                <a:lnTo>
                  <a:pt x="20" y="22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Freeform 32"/>
          <p:cNvSpPr>
            <a:spLocks/>
          </p:cNvSpPr>
          <p:nvPr userDrawn="1"/>
        </p:nvSpPr>
        <p:spPr bwMode="auto">
          <a:xfrm>
            <a:off x="8440738" y="800100"/>
            <a:ext cx="9525" cy="50800"/>
          </a:xfrm>
          <a:custGeom>
            <a:avLst/>
            <a:gdLst>
              <a:gd name="T0" fmla="*/ 0 w 6"/>
              <a:gd name="T1" fmla="*/ 32 h 32"/>
              <a:gd name="T2" fmla="*/ 6 w 6"/>
              <a:gd name="T3" fmla="*/ 32 h 32"/>
              <a:gd name="T4" fmla="*/ 6 w 6"/>
              <a:gd name="T5" fmla="*/ 0 h 32"/>
              <a:gd name="T6" fmla="*/ 0 w 6"/>
              <a:gd name="T7" fmla="*/ 0 h 32"/>
              <a:gd name="T8" fmla="*/ 0 w 6"/>
              <a:gd name="T9" fmla="*/ 32 h 32"/>
              <a:gd name="T10" fmla="*/ 0 w 6"/>
              <a:gd name="T11" fmla="*/ 32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" h="32">
                <a:moveTo>
                  <a:pt x="0" y="32"/>
                </a:moveTo>
                <a:lnTo>
                  <a:pt x="6" y="32"/>
                </a:lnTo>
                <a:lnTo>
                  <a:pt x="6" y="0"/>
                </a:lnTo>
                <a:lnTo>
                  <a:pt x="0" y="0"/>
                </a:lnTo>
                <a:lnTo>
                  <a:pt x="0" y="32"/>
                </a:lnTo>
                <a:lnTo>
                  <a:pt x="0" y="32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Freeform 33"/>
          <p:cNvSpPr>
            <a:spLocks/>
          </p:cNvSpPr>
          <p:nvPr userDrawn="1"/>
        </p:nvSpPr>
        <p:spPr bwMode="auto">
          <a:xfrm>
            <a:off x="8459788" y="800100"/>
            <a:ext cx="50800" cy="50800"/>
          </a:xfrm>
          <a:custGeom>
            <a:avLst/>
            <a:gdLst>
              <a:gd name="T0" fmla="*/ 6 w 32"/>
              <a:gd name="T1" fmla="*/ 0 h 32"/>
              <a:gd name="T2" fmla="*/ 0 w 32"/>
              <a:gd name="T3" fmla="*/ 0 h 32"/>
              <a:gd name="T4" fmla="*/ 12 w 32"/>
              <a:gd name="T5" fmla="*/ 32 h 32"/>
              <a:gd name="T6" fmla="*/ 18 w 32"/>
              <a:gd name="T7" fmla="*/ 32 h 32"/>
              <a:gd name="T8" fmla="*/ 32 w 32"/>
              <a:gd name="T9" fmla="*/ 0 h 32"/>
              <a:gd name="T10" fmla="*/ 26 w 32"/>
              <a:gd name="T11" fmla="*/ 0 h 32"/>
              <a:gd name="T12" fmla="*/ 16 w 32"/>
              <a:gd name="T13" fmla="*/ 26 h 32"/>
              <a:gd name="T14" fmla="*/ 6 w 32"/>
              <a:gd name="T15" fmla="*/ 0 h 32"/>
              <a:gd name="T16" fmla="*/ 6 w 32"/>
              <a:gd name="T17" fmla="*/ 0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2" h="32">
                <a:moveTo>
                  <a:pt x="6" y="0"/>
                </a:moveTo>
                <a:lnTo>
                  <a:pt x="0" y="0"/>
                </a:lnTo>
                <a:lnTo>
                  <a:pt x="12" y="32"/>
                </a:lnTo>
                <a:lnTo>
                  <a:pt x="18" y="32"/>
                </a:lnTo>
                <a:lnTo>
                  <a:pt x="32" y="0"/>
                </a:lnTo>
                <a:lnTo>
                  <a:pt x="26" y="0"/>
                </a:lnTo>
                <a:lnTo>
                  <a:pt x="16" y="26"/>
                </a:lnTo>
                <a:lnTo>
                  <a:pt x="6" y="0"/>
                </a:lnTo>
                <a:lnTo>
                  <a:pt x="6" y="0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Freeform 34"/>
          <p:cNvSpPr>
            <a:spLocks/>
          </p:cNvSpPr>
          <p:nvPr userDrawn="1"/>
        </p:nvSpPr>
        <p:spPr bwMode="auto">
          <a:xfrm>
            <a:off x="8516938" y="800100"/>
            <a:ext cx="38100" cy="50800"/>
          </a:xfrm>
          <a:custGeom>
            <a:avLst/>
            <a:gdLst>
              <a:gd name="T0" fmla="*/ 6 w 24"/>
              <a:gd name="T1" fmla="*/ 18 h 32"/>
              <a:gd name="T2" fmla="*/ 24 w 24"/>
              <a:gd name="T3" fmla="*/ 18 h 32"/>
              <a:gd name="T4" fmla="*/ 24 w 24"/>
              <a:gd name="T5" fmla="*/ 12 h 32"/>
              <a:gd name="T6" fmla="*/ 6 w 24"/>
              <a:gd name="T7" fmla="*/ 12 h 32"/>
              <a:gd name="T8" fmla="*/ 6 w 24"/>
              <a:gd name="T9" fmla="*/ 4 h 32"/>
              <a:gd name="T10" fmla="*/ 24 w 24"/>
              <a:gd name="T11" fmla="*/ 4 h 32"/>
              <a:gd name="T12" fmla="*/ 24 w 24"/>
              <a:gd name="T13" fmla="*/ 0 h 32"/>
              <a:gd name="T14" fmla="*/ 0 w 24"/>
              <a:gd name="T15" fmla="*/ 0 h 32"/>
              <a:gd name="T16" fmla="*/ 0 w 24"/>
              <a:gd name="T17" fmla="*/ 32 h 32"/>
              <a:gd name="T18" fmla="*/ 24 w 24"/>
              <a:gd name="T19" fmla="*/ 32 h 32"/>
              <a:gd name="T20" fmla="*/ 24 w 24"/>
              <a:gd name="T21" fmla="*/ 26 h 32"/>
              <a:gd name="T22" fmla="*/ 6 w 24"/>
              <a:gd name="T23" fmla="*/ 26 h 32"/>
              <a:gd name="T24" fmla="*/ 6 w 24"/>
              <a:gd name="T25" fmla="*/ 18 h 32"/>
              <a:gd name="T26" fmla="*/ 6 w 24"/>
              <a:gd name="T27" fmla="*/ 18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24" h="32">
                <a:moveTo>
                  <a:pt x="6" y="18"/>
                </a:moveTo>
                <a:lnTo>
                  <a:pt x="24" y="18"/>
                </a:lnTo>
                <a:lnTo>
                  <a:pt x="24" y="12"/>
                </a:lnTo>
                <a:lnTo>
                  <a:pt x="6" y="12"/>
                </a:lnTo>
                <a:lnTo>
                  <a:pt x="6" y="4"/>
                </a:lnTo>
                <a:lnTo>
                  <a:pt x="24" y="4"/>
                </a:lnTo>
                <a:lnTo>
                  <a:pt x="24" y="0"/>
                </a:lnTo>
                <a:lnTo>
                  <a:pt x="0" y="0"/>
                </a:lnTo>
                <a:lnTo>
                  <a:pt x="0" y="32"/>
                </a:lnTo>
                <a:lnTo>
                  <a:pt x="24" y="32"/>
                </a:lnTo>
                <a:lnTo>
                  <a:pt x="24" y="26"/>
                </a:lnTo>
                <a:lnTo>
                  <a:pt x="6" y="26"/>
                </a:lnTo>
                <a:lnTo>
                  <a:pt x="6" y="18"/>
                </a:lnTo>
                <a:lnTo>
                  <a:pt x="6" y="18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Freeform 35"/>
          <p:cNvSpPr>
            <a:spLocks noEditPoints="1"/>
          </p:cNvSpPr>
          <p:nvPr userDrawn="1"/>
        </p:nvSpPr>
        <p:spPr bwMode="auto">
          <a:xfrm>
            <a:off x="8567738" y="800100"/>
            <a:ext cx="44450" cy="50800"/>
          </a:xfrm>
          <a:custGeom>
            <a:avLst/>
            <a:gdLst>
              <a:gd name="T0" fmla="*/ 13 w 14"/>
              <a:gd name="T1" fmla="*/ 5 h 16"/>
              <a:gd name="T2" fmla="*/ 7 w 14"/>
              <a:gd name="T3" fmla="*/ 0 h 16"/>
              <a:gd name="T4" fmla="*/ 0 w 14"/>
              <a:gd name="T5" fmla="*/ 0 h 16"/>
              <a:gd name="T6" fmla="*/ 0 w 14"/>
              <a:gd name="T7" fmla="*/ 16 h 16"/>
              <a:gd name="T8" fmla="*/ 2 w 14"/>
              <a:gd name="T9" fmla="*/ 16 h 16"/>
              <a:gd name="T10" fmla="*/ 2 w 14"/>
              <a:gd name="T11" fmla="*/ 10 h 16"/>
              <a:gd name="T12" fmla="*/ 6 w 14"/>
              <a:gd name="T13" fmla="*/ 10 h 16"/>
              <a:gd name="T14" fmla="*/ 11 w 14"/>
              <a:gd name="T15" fmla="*/ 16 h 16"/>
              <a:gd name="T16" fmla="*/ 14 w 14"/>
              <a:gd name="T17" fmla="*/ 16 h 16"/>
              <a:gd name="T18" fmla="*/ 9 w 14"/>
              <a:gd name="T19" fmla="*/ 10 h 16"/>
              <a:gd name="T20" fmla="*/ 13 w 14"/>
              <a:gd name="T21" fmla="*/ 5 h 16"/>
              <a:gd name="T22" fmla="*/ 2 w 14"/>
              <a:gd name="T23" fmla="*/ 2 h 16"/>
              <a:gd name="T24" fmla="*/ 7 w 14"/>
              <a:gd name="T25" fmla="*/ 2 h 16"/>
              <a:gd name="T26" fmla="*/ 10 w 14"/>
              <a:gd name="T27" fmla="*/ 5 h 16"/>
              <a:gd name="T28" fmla="*/ 7 w 14"/>
              <a:gd name="T29" fmla="*/ 8 h 16"/>
              <a:gd name="T30" fmla="*/ 2 w 14"/>
              <a:gd name="T31" fmla="*/ 8 h 16"/>
              <a:gd name="T32" fmla="*/ 2 w 14"/>
              <a:gd name="T33" fmla="*/ 2 h 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4" h="16">
                <a:moveTo>
                  <a:pt x="13" y="5"/>
                </a:moveTo>
                <a:cubicBezTo>
                  <a:pt x="13" y="2"/>
                  <a:pt x="11" y="0"/>
                  <a:pt x="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"/>
                  <a:pt x="0" y="16"/>
                  <a:pt x="0" y="16"/>
                </a:cubicBezTo>
                <a:cubicBezTo>
                  <a:pt x="2" y="16"/>
                  <a:pt x="2" y="16"/>
                  <a:pt x="2" y="16"/>
                </a:cubicBezTo>
                <a:cubicBezTo>
                  <a:pt x="2" y="10"/>
                  <a:pt x="2" y="10"/>
                  <a:pt x="2" y="10"/>
                </a:cubicBezTo>
                <a:cubicBezTo>
                  <a:pt x="6" y="10"/>
                  <a:pt x="6" y="10"/>
                  <a:pt x="6" y="10"/>
                </a:cubicBezTo>
                <a:cubicBezTo>
                  <a:pt x="11" y="16"/>
                  <a:pt x="11" y="16"/>
                  <a:pt x="11" y="16"/>
                </a:cubicBezTo>
                <a:cubicBezTo>
                  <a:pt x="14" y="16"/>
                  <a:pt x="14" y="16"/>
                  <a:pt x="14" y="16"/>
                </a:cubicBezTo>
                <a:cubicBezTo>
                  <a:pt x="9" y="10"/>
                  <a:pt x="9" y="10"/>
                  <a:pt x="9" y="10"/>
                </a:cubicBezTo>
                <a:cubicBezTo>
                  <a:pt x="11" y="10"/>
                  <a:pt x="13" y="8"/>
                  <a:pt x="13" y="5"/>
                </a:cubicBezTo>
                <a:close/>
                <a:moveTo>
                  <a:pt x="2" y="2"/>
                </a:moveTo>
                <a:cubicBezTo>
                  <a:pt x="7" y="2"/>
                  <a:pt x="7" y="2"/>
                  <a:pt x="7" y="2"/>
                </a:cubicBezTo>
                <a:cubicBezTo>
                  <a:pt x="9" y="2"/>
                  <a:pt x="10" y="4"/>
                  <a:pt x="10" y="5"/>
                </a:cubicBezTo>
                <a:cubicBezTo>
                  <a:pt x="10" y="6"/>
                  <a:pt x="9" y="8"/>
                  <a:pt x="7" y="8"/>
                </a:cubicBezTo>
                <a:cubicBezTo>
                  <a:pt x="2" y="8"/>
                  <a:pt x="2" y="8"/>
                  <a:pt x="2" y="8"/>
                </a:cubicBezTo>
                <a:cubicBezTo>
                  <a:pt x="2" y="2"/>
                  <a:pt x="2" y="2"/>
                  <a:pt x="2" y="2"/>
                </a:cubicBez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Freeform 36"/>
          <p:cNvSpPr>
            <a:spLocks/>
          </p:cNvSpPr>
          <p:nvPr userDrawn="1"/>
        </p:nvSpPr>
        <p:spPr bwMode="auto">
          <a:xfrm>
            <a:off x="8615363" y="796925"/>
            <a:ext cx="44450" cy="53975"/>
          </a:xfrm>
          <a:custGeom>
            <a:avLst/>
            <a:gdLst>
              <a:gd name="T0" fmla="*/ 8 w 14"/>
              <a:gd name="T1" fmla="*/ 7 h 17"/>
              <a:gd name="T2" fmla="*/ 4 w 14"/>
              <a:gd name="T3" fmla="*/ 5 h 17"/>
              <a:gd name="T4" fmla="*/ 7 w 14"/>
              <a:gd name="T5" fmla="*/ 3 h 17"/>
              <a:gd name="T6" fmla="*/ 12 w 14"/>
              <a:gd name="T7" fmla="*/ 5 h 17"/>
              <a:gd name="T8" fmla="*/ 12 w 14"/>
              <a:gd name="T9" fmla="*/ 5 h 17"/>
              <a:gd name="T10" fmla="*/ 14 w 14"/>
              <a:gd name="T11" fmla="*/ 4 h 17"/>
              <a:gd name="T12" fmla="*/ 14 w 14"/>
              <a:gd name="T13" fmla="*/ 3 h 17"/>
              <a:gd name="T14" fmla="*/ 7 w 14"/>
              <a:gd name="T15" fmla="*/ 0 h 17"/>
              <a:gd name="T16" fmla="*/ 2 w 14"/>
              <a:gd name="T17" fmla="*/ 2 h 17"/>
              <a:gd name="T18" fmla="*/ 1 w 14"/>
              <a:gd name="T19" fmla="*/ 5 h 17"/>
              <a:gd name="T20" fmla="*/ 7 w 14"/>
              <a:gd name="T21" fmla="*/ 10 h 17"/>
              <a:gd name="T22" fmla="*/ 12 w 14"/>
              <a:gd name="T23" fmla="*/ 12 h 17"/>
              <a:gd name="T24" fmla="*/ 7 w 14"/>
              <a:gd name="T25" fmla="*/ 15 h 17"/>
              <a:gd name="T26" fmla="*/ 3 w 14"/>
              <a:gd name="T27" fmla="*/ 12 h 17"/>
              <a:gd name="T28" fmla="*/ 2 w 14"/>
              <a:gd name="T29" fmla="*/ 12 h 17"/>
              <a:gd name="T30" fmla="*/ 0 w 14"/>
              <a:gd name="T31" fmla="*/ 13 h 17"/>
              <a:gd name="T32" fmla="*/ 0 w 14"/>
              <a:gd name="T33" fmla="*/ 14 h 17"/>
              <a:gd name="T34" fmla="*/ 7 w 14"/>
              <a:gd name="T35" fmla="*/ 17 h 17"/>
              <a:gd name="T36" fmla="*/ 14 w 14"/>
              <a:gd name="T37" fmla="*/ 12 h 17"/>
              <a:gd name="T38" fmla="*/ 8 w 14"/>
              <a:gd name="T39" fmla="*/ 7 h 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14" h="17">
                <a:moveTo>
                  <a:pt x="8" y="7"/>
                </a:moveTo>
                <a:cubicBezTo>
                  <a:pt x="5" y="7"/>
                  <a:pt x="4" y="6"/>
                  <a:pt x="4" y="5"/>
                </a:cubicBezTo>
                <a:cubicBezTo>
                  <a:pt x="4" y="4"/>
                  <a:pt x="5" y="3"/>
                  <a:pt x="7" y="3"/>
                </a:cubicBezTo>
                <a:cubicBezTo>
                  <a:pt x="9" y="3"/>
                  <a:pt x="11" y="3"/>
                  <a:pt x="12" y="5"/>
                </a:cubicBezTo>
                <a:cubicBezTo>
                  <a:pt x="12" y="5"/>
                  <a:pt x="12" y="5"/>
                  <a:pt x="12" y="5"/>
                </a:cubicBezTo>
                <a:cubicBezTo>
                  <a:pt x="14" y="4"/>
                  <a:pt x="14" y="4"/>
                  <a:pt x="14" y="4"/>
                </a:cubicBezTo>
                <a:cubicBezTo>
                  <a:pt x="14" y="3"/>
                  <a:pt x="14" y="3"/>
                  <a:pt x="14" y="3"/>
                </a:cubicBezTo>
                <a:cubicBezTo>
                  <a:pt x="12" y="1"/>
                  <a:pt x="10" y="0"/>
                  <a:pt x="7" y="0"/>
                </a:cubicBezTo>
                <a:cubicBezTo>
                  <a:pt x="6" y="0"/>
                  <a:pt x="3" y="1"/>
                  <a:pt x="2" y="2"/>
                </a:cubicBezTo>
                <a:cubicBezTo>
                  <a:pt x="1" y="3"/>
                  <a:pt x="1" y="4"/>
                  <a:pt x="1" y="5"/>
                </a:cubicBezTo>
                <a:cubicBezTo>
                  <a:pt x="1" y="9"/>
                  <a:pt x="5" y="9"/>
                  <a:pt x="7" y="10"/>
                </a:cubicBezTo>
                <a:cubicBezTo>
                  <a:pt x="10" y="10"/>
                  <a:pt x="12" y="11"/>
                  <a:pt x="12" y="12"/>
                </a:cubicBezTo>
                <a:cubicBezTo>
                  <a:pt x="12" y="15"/>
                  <a:pt x="8" y="15"/>
                  <a:pt x="7" y="15"/>
                </a:cubicBezTo>
                <a:cubicBezTo>
                  <a:pt x="6" y="15"/>
                  <a:pt x="4" y="14"/>
                  <a:pt x="3" y="12"/>
                </a:cubicBezTo>
                <a:cubicBezTo>
                  <a:pt x="2" y="12"/>
                  <a:pt x="2" y="12"/>
                  <a:pt x="2" y="12"/>
                </a:cubicBezTo>
                <a:cubicBezTo>
                  <a:pt x="0" y="13"/>
                  <a:pt x="0" y="13"/>
                  <a:pt x="0" y="13"/>
                </a:cubicBezTo>
                <a:cubicBezTo>
                  <a:pt x="0" y="14"/>
                  <a:pt x="0" y="14"/>
                  <a:pt x="0" y="14"/>
                </a:cubicBezTo>
                <a:cubicBezTo>
                  <a:pt x="2" y="16"/>
                  <a:pt x="4" y="17"/>
                  <a:pt x="7" y="17"/>
                </a:cubicBezTo>
                <a:cubicBezTo>
                  <a:pt x="11" y="17"/>
                  <a:pt x="14" y="16"/>
                  <a:pt x="14" y="12"/>
                </a:cubicBezTo>
                <a:cubicBezTo>
                  <a:pt x="14" y="9"/>
                  <a:pt x="11" y="8"/>
                  <a:pt x="8" y="7"/>
                </a:cubicBez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Freeform 37"/>
          <p:cNvSpPr>
            <a:spLocks/>
          </p:cNvSpPr>
          <p:nvPr userDrawn="1"/>
        </p:nvSpPr>
        <p:spPr bwMode="auto">
          <a:xfrm>
            <a:off x="8669338" y="800100"/>
            <a:ext cx="9525" cy="50800"/>
          </a:xfrm>
          <a:custGeom>
            <a:avLst/>
            <a:gdLst>
              <a:gd name="T0" fmla="*/ 0 w 6"/>
              <a:gd name="T1" fmla="*/ 32 h 32"/>
              <a:gd name="T2" fmla="*/ 6 w 6"/>
              <a:gd name="T3" fmla="*/ 32 h 32"/>
              <a:gd name="T4" fmla="*/ 6 w 6"/>
              <a:gd name="T5" fmla="*/ 0 h 32"/>
              <a:gd name="T6" fmla="*/ 0 w 6"/>
              <a:gd name="T7" fmla="*/ 0 h 32"/>
              <a:gd name="T8" fmla="*/ 0 w 6"/>
              <a:gd name="T9" fmla="*/ 32 h 32"/>
              <a:gd name="T10" fmla="*/ 0 w 6"/>
              <a:gd name="T11" fmla="*/ 32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" h="32">
                <a:moveTo>
                  <a:pt x="0" y="32"/>
                </a:moveTo>
                <a:lnTo>
                  <a:pt x="6" y="32"/>
                </a:lnTo>
                <a:lnTo>
                  <a:pt x="6" y="0"/>
                </a:lnTo>
                <a:lnTo>
                  <a:pt x="0" y="0"/>
                </a:lnTo>
                <a:lnTo>
                  <a:pt x="0" y="32"/>
                </a:lnTo>
                <a:lnTo>
                  <a:pt x="0" y="32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Freeform 38"/>
          <p:cNvSpPr>
            <a:spLocks/>
          </p:cNvSpPr>
          <p:nvPr userDrawn="1"/>
        </p:nvSpPr>
        <p:spPr bwMode="auto">
          <a:xfrm>
            <a:off x="8688388" y="800100"/>
            <a:ext cx="85725" cy="50800"/>
          </a:xfrm>
          <a:custGeom>
            <a:avLst/>
            <a:gdLst>
              <a:gd name="T0" fmla="*/ 30 w 54"/>
              <a:gd name="T1" fmla="*/ 0 h 32"/>
              <a:gd name="T2" fmla="*/ 0 w 54"/>
              <a:gd name="T3" fmla="*/ 0 h 32"/>
              <a:gd name="T4" fmla="*/ 0 w 54"/>
              <a:gd name="T5" fmla="*/ 4 h 32"/>
              <a:gd name="T6" fmla="*/ 10 w 54"/>
              <a:gd name="T7" fmla="*/ 4 h 32"/>
              <a:gd name="T8" fmla="*/ 10 w 54"/>
              <a:gd name="T9" fmla="*/ 32 h 32"/>
              <a:gd name="T10" fmla="*/ 16 w 54"/>
              <a:gd name="T11" fmla="*/ 32 h 32"/>
              <a:gd name="T12" fmla="*/ 16 w 54"/>
              <a:gd name="T13" fmla="*/ 4 h 32"/>
              <a:gd name="T14" fmla="*/ 26 w 54"/>
              <a:gd name="T15" fmla="*/ 4 h 32"/>
              <a:gd name="T16" fmla="*/ 36 w 54"/>
              <a:gd name="T17" fmla="*/ 18 h 32"/>
              <a:gd name="T18" fmla="*/ 36 w 54"/>
              <a:gd name="T19" fmla="*/ 32 h 32"/>
              <a:gd name="T20" fmla="*/ 42 w 54"/>
              <a:gd name="T21" fmla="*/ 32 h 32"/>
              <a:gd name="T22" fmla="*/ 42 w 54"/>
              <a:gd name="T23" fmla="*/ 18 h 32"/>
              <a:gd name="T24" fmla="*/ 54 w 54"/>
              <a:gd name="T25" fmla="*/ 0 h 32"/>
              <a:gd name="T26" fmla="*/ 54 w 54"/>
              <a:gd name="T27" fmla="*/ 0 h 32"/>
              <a:gd name="T28" fmla="*/ 54 w 54"/>
              <a:gd name="T29" fmla="*/ 0 h 32"/>
              <a:gd name="T30" fmla="*/ 48 w 54"/>
              <a:gd name="T31" fmla="*/ 0 h 32"/>
              <a:gd name="T32" fmla="*/ 38 w 54"/>
              <a:gd name="T33" fmla="*/ 14 h 32"/>
              <a:gd name="T34" fmla="*/ 30 w 54"/>
              <a:gd name="T35" fmla="*/ 0 h 32"/>
              <a:gd name="T36" fmla="*/ 30 w 54"/>
              <a:gd name="T37" fmla="*/ 0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54" h="32">
                <a:moveTo>
                  <a:pt x="30" y="0"/>
                </a:moveTo>
                <a:lnTo>
                  <a:pt x="0" y="0"/>
                </a:lnTo>
                <a:lnTo>
                  <a:pt x="0" y="4"/>
                </a:lnTo>
                <a:lnTo>
                  <a:pt x="10" y="4"/>
                </a:lnTo>
                <a:lnTo>
                  <a:pt x="10" y="32"/>
                </a:lnTo>
                <a:lnTo>
                  <a:pt x="16" y="32"/>
                </a:lnTo>
                <a:lnTo>
                  <a:pt x="16" y="4"/>
                </a:lnTo>
                <a:lnTo>
                  <a:pt x="26" y="4"/>
                </a:lnTo>
                <a:lnTo>
                  <a:pt x="36" y="18"/>
                </a:lnTo>
                <a:lnTo>
                  <a:pt x="36" y="32"/>
                </a:lnTo>
                <a:lnTo>
                  <a:pt x="42" y="32"/>
                </a:lnTo>
                <a:lnTo>
                  <a:pt x="42" y="18"/>
                </a:lnTo>
                <a:lnTo>
                  <a:pt x="54" y="0"/>
                </a:lnTo>
                <a:lnTo>
                  <a:pt x="54" y="0"/>
                </a:lnTo>
                <a:lnTo>
                  <a:pt x="54" y="0"/>
                </a:lnTo>
                <a:lnTo>
                  <a:pt x="48" y="0"/>
                </a:lnTo>
                <a:lnTo>
                  <a:pt x="38" y="14"/>
                </a:lnTo>
                <a:lnTo>
                  <a:pt x="30" y="0"/>
                </a:lnTo>
                <a:lnTo>
                  <a:pt x="30" y="0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Freeform 39"/>
          <p:cNvSpPr>
            <a:spLocks/>
          </p:cNvSpPr>
          <p:nvPr userDrawn="1"/>
        </p:nvSpPr>
        <p:spPr bwMode="auto">
          <a:xfrm>
            <a:off x="8482013" y="371475"/>
            <a:ext cx="292100" cy="365125"/>
          </a:xfrm>
          <a:custGeom>
            <a:avLst/>
            <a:gdLst>
              <a:gd name="T0" fmla="*/ 92 w 92"/>
              <a:gd name="T1" fmla="*/ 0 h 115"/>
              <a:gd name="T2" fmla="*/ 92 w 92"/>
              <a:gd name="T3" fmla="*/ 71 h 115"/>
              <a:gd name="T4" fmla="*/ 49 w 92"/>
              <a:gd name="T5" fmla="*/ 115 h 115"/>
              <a:gd name="T6" fmla="*/ 0 w 92"/>
              <a:gd name="T7" fmla="*/ 70 h 115"/>
              <a:gd name="T8" fmla="*/ 0 w 92"/>
              <a:gd name="T9" fmla="*/ 0 h 115"/>
              <a:gd name="T10" fmla="*/ 22 w 92"/>
              <a:gd name="T11" fmla="*/ 0 h 115"/>
              <a:gd name="T12" fmla="*/ 22 w 92"/>
              <a:gd name="T13" fmla="*/ 72 h 115"/>
              <a:gd name="T14" fmla="*/ 50 w 92"/>
              <a:gd name="T15" fmla="*/ 105 h 115"/>
              <a:gd name="T16" fmla="*/ 79 w 92"/>
              <a:gd name="T17" fmla="*/ 73 h 115"/>
              <a:gd name="T18" fmla="*/ 79 w 92"/>
              <a:gd name="T19" fmla="*/ 0 h 115"/>
              <a:gd name="T20" fmla="*/ 92 w 92"/>
              <a:gd name="T21" fmla="*/ 0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92" h="115">
                <a:moveTo>
                  <a:pt x="92" y="0"/>
                </a:moveTo>
                <a:cubicBezTo>
                  <a:pt x="92" y="71"/>
                  <a:pt x="92" y="71"/>
                  <a:pt x="92" y="71"/>
                </a:cubicBezTo>
                <a:cubicBezTo>
                  <a:pt x="92" y="109"/>
                  <a:pt x="62" y="115"/>
                  <a:pt x="49" y="115"/>
                </a:cubicBezTo>
                <a:cubicBezTo>
                  <a:pt x="25" y="115"/>
                  <a:pt x="0" y="107"/>
                  <a:pt x="0" y="70"/>
                </a:cubicBezTo>
                <a:cubicBezTo>
                  <a:pt x="0" y="0"/>
                  <a:pt x="0" y="0"/>
                  <a:pt x="0" y="0"/>
                </a:cubicBezTo>
                <a:cubicBezTo>
                  <a:pt x="22" y="0"/>
                  <a:pt x="22" y="0"/>
                  <a:pt x="22" y="0"/>
                </a:cubicBezTo>
                <a:cubicBezTo>
                  <a:pt x="22" y="72"/>
                  <a:pt x="22" y="72"/>
                  <a:pt x="22" y="72"/>
                </a:cubicBezTo>
                <a:cubicBezTo>
                  <a:pt x="22" y="93"/>
                  <a:pt x="32" y="105"/>
                  <a:pt x="50" y="105"/>
                </a:cubicBezTo>
                <a:cubicBezTo>
                  <a:pt x="66" y="105"/>
                  <a:pt x="79" y="95"/>
                  <a:pt x="79" y="73"/>
                </a:cubicBezTo>
                <a:cubicBezTo>
                  <a:pt x="79" y="0"/>
                  <a:pt x="79" y="0"/>
                  <a:pt x="79" y="0"/>
                </a:cubicBezTo>
                <a:cubicBezTo>
                  <a:pt x="92" y="0"/>
                  <a:pt x="92" y="0"/>
                  <a:pt x="92" y="0"/>
                </a:cubicBez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Freeform 40"/>
          <p:cNvSpPr>
            <a:spLocks/>
          </p:cNvSpPr>
          <p:nvPr userDrawn="1"/>
        </p:nvSpPr>
        <p:spPr bwMode="auto">
          <a:xfrm>
            <a:off x="8094663" y="365125"/>
            <a:ext cx="336550" cy="371475"/>
          </a:xfrm>
          <a:custGeom>
            <a:avLst/>
            <a:gdLst>
              <a:gd name="T0" fmla="*/ 61 w 106"/>
              <a:gd name="T1" fmla="*/ 117 h 117"/>
              <a:gd name="T2" fmla="*/ 0 w 106"/>
              <a:gd name="T3" fmla="*/ 60 h 117"/>
              <a:gd name="T4" fmla="*/ 63 w 106"/>
              <a:gd name="T5" fmla="*/ 0 h 117"/>
              <a:gd name="T6" fmla="*/ 97 w 106"/>
              <a:gd name="T7" fmla="*/ 13 h 117"/>
              <a:gd name="T8" fmla="*/ 106 w 106"/>
              <a:gd name="T9" fmla="*/ 28 h 117"/>
              <a:gd name="T10" fmla="*/ 94 w 106"/>
              <a:gd name="T11" fmla="*/ 39 h 117"/>
              <a:gd name="T12" fmla="*/ 83 w 106"/>
              <a:gd name="T13" fmla="*/ 28 h 117"/>
              <a:gd name="T14" fmla="*/ 86 w 106"/>
              <a:gd name="T15" fmla="*/ 20 h 117"/>
              <a:gd name="T16" fmla="*/ 63 w 106"/>
              <a:gd name="T17" fmla="*/ 10 h 117"/>
              <a:gd name="T18" fmla="*/ 21 w 106"/>
              <a:gd name="T19" fmla="*/ 58 h 117"/>
              <a:gd name="T20" fmla="*/ 65 w 106"/>
              <a:gd name="T21" fmla="*/ 108 h 117"/>
              <a:gd name="T22" fmla="*/ 102 w 106"/>
              <a:gd name="T23" fmla="*/ 93 h 117"/>
              <a:gd name="T24" fmla="*/ 106 w 106"/>
              <a:gd name="T25" fmla="*/ 99 h 117"/>
              <a:gd name="T26" fmla="*/ 61 w 106"/>
              <a:gd name="T27" fmla="*/ 117 h 1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06" h="117">
                <a:moveTo>
                  <a:pt x="61" y="117"/>
                </a:moveTo>
                <a:cubicBezTo>
                  <a:pt x="23" y="117"/>
                  <a:pt x="0" y="91"/>
                  <a:pt x="0" y="60"/>
                </a:cubicBezTo>
                <a:cubicBezTo>
                  <a:pt x="0" y="29"/>
                  <a:pt x="24" y="0"/>
                  <a:pt x="63" y="0"/>
                </a:cubicBezTo>
                <a:cubicBezTo>
                  <a:pt x="74" y="0"/>
                  <a:pt x="88" y="4"/>
                  <a:pt x="97" y="13"/>
                </a:cubicBezTo>
                <a:cubicBezTo>
                  <a:pt x="102" y="16"/>
                  <a:pt x="106" y="23"/>
                  <a:pt x="106" y="28"/>
                </a:cubicBezTo>
                <a:cubicBezTo>
                  <a:pt x="106" y="34"/>
                  <a:pt x="101" y="39"/>
                  <a:pt x="94" y="39"/>
                </a:cubicBezTo>
                <a:cubicBezTo>
                  <a:pt x="88" y="39"/>
                  <a:pt x="83" y="34"/>
                  <a:pt x="83" y="28"/>
                </a:cubicBezTo>
                <a:cubicBezTo>
                  <a:pt x="83" y="25"/>
                  <a:pt x="84" y="22"/>
                  <a:pt x="86" y="20"/>
                </a:cubicBezTo>
                <a:cubicBezTo>
                  <a:pt x="81" y="14"/>
                  <a:pt x="71" y="10"/>
                  <a:pt x="63" y="10"/>
                </a:cubicBezTo>
                <a:cubicBezTo>
                  <a:pt x="36" y="10"/>
                  <a:pt x="21" y="35"/>
                  <a:pt x="21" y="58"/>
                </a:cubicBezTo>
                <a:cubicBezTo>
                  <a:pt x="21" y="85"/>
                  <a:pt x="38" y="108"/>
                  <a:pt x="65" y="108"/>
                </a:cubicBezTo>
                <a:cubicBezTo>
                  <a:pt x="79" y="108"/>
                  <a:pt x="90" y="102"/>
                  <a:pt x="102" y="93"/>
                </a:cubicBezTo>
                <a:cubicBezTo>
                  <a:pt x="106" y="99"/>
                  <a:pt x="106" y="99"/>
                  <a:pt x="106" y="99"/>
                </a:cubicBezTo>
                <a:cubicBezTo>
                  <a:pt x="94" y="111"/>
                  <a:pt x="77" y="117"/>
                  <a:pt x="61" y="117"/>
                </a:cubicBez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Freeform 41"/>
          <p:cNvSpPr>
            <a:spLocks noEditPoints="1"/>
          </p:cNvSpPr>
          <p:nvPr userDrawn="1"/>
        </p:nvSpPr>
        <p:spPr bwMode="auto">
          <a:xfrm>
            <a:off x="7758113" y="371475"/>
            <a:ext cx="330200" cy="358775"/>
          </a:xfrm>
          <a:custGeom>
            <a:avLst/>
            <a:gdLst>
              <a:gd name="T0" fmla="*/ 164 w 208"/>
              <a:gd name="T1" fmla="*/ 226 h 226"/>
              <a:gd name="T2" fmla="*/ 208 w 208"/>
              <a:gd name="T3" fmla="*/ 226 h 226"/>
              <a:gd name="T4" fmla="*/ 120 w 208"/>
              <a:gd name="T5" fmla="*/ 0 h 226"/>
              <a:gd name="T6" fmla="*/ 86 w 208"/>
              <a:gd name="T7" fmla="*/ 0 h 226"/>
              <a:gd name="T8" fmla="*/ 0 w 208"/>
              <a:gd name="T9" fmla="*/ 226 h 226"/>
              <a:gd name="T10" fmla="*/ 22 w 208"/>
              <a:gd name="T11" fmla="*/ 226 h 226"/>
              <a:gd name="T12" fmla="*/ 48 w 208"/>
              <a:gd name="T13" fmla="*/ 162 h 226"/>
              <a:gd name="T14" fmla="*/ 140 w 208"/>
              <a:gd name="T15" fmla="*/ 162 h 226"/>
              <a:gd name="T16" fmla="*/ 164 w 208"/>
              <a:gd name="T17" fmla="*/ 226 h 226"/>
              <a:gd name="T18" fmla="*/ 164 w 208"/>
              <a:gd name="T19" fmla="*/ 226 h 226"/>
              <a:gd name="T20" fmla="*/ 54 w 208"/>
              <a:gd name="T21" fmla="*/ 142 h 226"/>
              <a:gd name="T22" fmla="*/ 94 w 208"/>
              <a:gd name="T23" fmla="*/ 36 h 226"/>
              <a:gd name="T24" fmla="*/ 134 w 208"/>
              <a:gd name="T25" fmla="*/ 142 h 226"/>
              <a:gd name="T26" fmla="*/ 54 w 208"/>
              <a:gd name="T27" fmla="*/ 142 h 226"/>
              <a:gd name="T28" fmla="*/ 54 w 208"/>
              <a:gd name="T29" fmla="*/ 142 h 2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208" h="226">
                <a:moveTo>
                  <a:pt x="164" y="226"/>
                </a:moveTo>
                <a:lnTo>
                  <a:pt x="208" y="226"/>
                </a:lnTo>
                <a:lnTo>
                  <a:pt x="120" y="0"/>
                </a:lnTo>
                <a:lnTo>
                  <a:pt x="86" y="0"/>
                </a:lnTo>
                <a:lnTo>
                  <a:pt x="0" y="226"/>
                </a:lnTo>
                <a:lnTo>
                  <a:pt x="22" y="226"/>
                </a:lnTo>
                <a:lnTo>
                  <a:pt x="48" y="162"/>
                </a:lnTo>
                <a:lnTo>
                  <a:pt x="140" y="162"/>
                </a:lnTo>
                <a:lnTo>
                  <a:pt x="164" y="226"/>
                </a:lnTo>
                <a:lnTo>
                  <a:pt x="164" y="226"/>
                </a:lnTo>
                <a:close/>
                <a:moveTo>
                  <a:pt x="54" y="142"/>
                </a:moveTo>
                <a:lnTo>
                  <a:pt x="94" y="36"/>
                </a:lnTo>
                <a:lnTo>
                  <a:pt x="134" y="142"/>
                </a:lnTo>
                <a:lnTo>
                  <a:pt x="54" y="142"/>
                </a:lnTo>
                <a:lnTo>
                  <a:pt x="54" y="142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itle 1"/>
          <p:cNvSpPr>
            <a:spLocks noGrp="1"/>
          </p:cNvSpPr>
          <p:nvPr>
            <p:ph type="title" hasCustomPrompt="1"/>
          </p:nvPr>
        </p:nvSpPr>
        <p:spPr>
          <a:xfrm>
            <a:off x="440871" y="1014757"/>
            <a:ext cx="6733042" cy="538609"/>
          </a:xfrm>
        </p:spPr>
        <p:txBody>
          <a:bodyPr>
            <a:spAutoFit/>
          </a:bodyPr>
          <a:lstStyle>
            <a:lvl1pPr>
              <a:lnSpc>
                <a:spcPct val="100000"/>
              </a:lnSpc>
              <a:defRPr sz="2900" b="1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Heading</a:t>
            </a:r>
            <a:endParaRPr lang="en-AU" dirty="0"/>
          </a:p>
        </p:txBody>
      </p:sp>
      <p:sp>
        <p:nvSpPr>
          <p:cNvPr id="47" name="Text Placeholder 49"/>
          <p:cNvSpPr>
            <a:spLocks noGrp="1"/>
          </p:cNvSpPr>
          <p:nvPr>
            <p:ph type="body" sz="quarter" idx="15" hasCustomPrompt="1"/>
          </p:nvPr>
        </p:nvSpPr>
        <p:spPr>
          <a:xfrm>
            <a:off x="440871" y="1751357"/>
            <a:ext cx="8284029" cy="39544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90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AU" dirty="0"/>
              <a:t>Body</a:t>
            </a:r>
          </a:p>
        </p:txBody>
      </p:sp>
      <p:sp>
        <p:nvSpPr>
          <p:cNvPr id="4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2758" y="6510471"/>
            <a:ext cx="3086100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defRPr lang="en-AU" sz="1000" smtClean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8929" y="6510471"/>
            <a:ext cx="448128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defRPr lang="en-AU" sz="1000" smtClean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6A89BA3-132D-40E1-AAB4-CDCD0A14C216}" type="slidenum">
              <a:rPr lang="en-AU" smtClean="0"/>
              <a:pPr/>
              <a:t>‹#›</a:t>
            </a:fld>
            <a:r>
              <a:rPr lang="en-AU" dirty="0"/>
              <a:t>  |</a:t>
            </a:r>
          </a:p>
        </p:txBody>
      </p:sp>
    </p:spTree>
    <p:extLst>
      <p:ext uri="{BB962C8B-B14F-4D97-AF65-F5344CB8AC3E}">
        <p14:creationId xmlns:p14="http://schemas.microsoft.com/office/powerpoint/2010/main" val="14923786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in with no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3"/>
          <p:cNvSpPr>
            <a:spLocks noChangeAspect="1" noChangeArrowheads="1" noTextEdit="1"/>
          </p:cNvSpPr>
          <p:nvPr userDrawn="1"/>
        </p:nvSpPr>
        <p:spPr bwMode="auto">
          <a:xfrm>
            <a:off x="1588" y="0"/>
            <a:ext cx="914082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reeform 6"/>
          <p:cNvSpPr>
            <a:spLocks/>
          </p:cNvSpPr>
          <p:nvPr userDrawn="1"/>
        </p:nvSpPr>
        <p:spPr bwMode="auto">
          <a:xfrm>
            <a:off x="1588" y="-3175"/>
            <a:ext cx="5030788" cy="457200"/>
          </a:xfrm>
          <a:custGeom>
            <a:avLst/>
            <a:gdLst>
              <a:gd name="T0" fmla="*/ 0 w 3169"/>
              <a:gd name="T1" fmla="*/ 0 h 288"/>
              <a:gd name="T2" fmla="*/ 3169 w 3169"/>
              <a:gd name="T3" fmla="*/ 0 h 288"/>
              <a:gd name="T4" fmla="*/ 2879 w 3169"/>
              <a:gd name="T5" fmla="*/ 288 h 288"/>
              <a:gd name="T6" fmla="*/ 0 w 3169"/>
              <a:gd name="T7" fmla="*/ 288 h 288"/>
              <a:gd name="T8" fmla="*/ 0 w 3169"/>
              <a:gd name="T9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169" h="288">
                <a:moveTo>
                  <a:pt x="0" y="0"/>
                </a:moveTo>
                <a:lnTo>
                  <a:pt x="3169" y="0"/>
                </a:lnTo>
                <a:lnTo>
                  <a:pt x="2879" y="288"/>
                </a:lnTo>
                <a:lnTo>
                  <a:pt x="0" y="288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Freeform 8"/>
          <p:cNvSpPr>
            <a:spLocks/>
          </p:cNvSpPr>
          <p:nvPr userDrawn="1"/>
        </p:nvSpPr>
        <p:spPr bwMode="auto">
          <a:xfrm>
            <a:off x="4572001" y="6397625"/>
            <a:ext cx="4570413" cy="457200"/>
          </a:xfrm>
          <a:custGeom>
            <a:avLst/>
            <a:gdLst>
              <a:gd name="T0" fmla="*/ 2879 w 2879"/>
              <a:gd name="T1" fmla="*/ 288 h 288"/>
              <a:gd name="T2" fmla="*/ 0 w 2879"/>
              <a:gd name="T3" fmla="*/ 288 h 288"/>
              <a:gd name="T4" fmla="*/ 290 w 2879"/>
              <a:gd name="T5" fmla="*/ 0 h 288"/>
              <a:gd name="T6" fmla="*/ 2879 w 2879"/>
              <a:gd name="T7" fmla="*/ 0 h 288"/>
              <a:gd name="T8" fmla="*/ 2879 w 2879"/>
              <a:gd name="T9" fmla="*/ 288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879" h="288">
                <a:moveTo>
                  <a:pt x="2879" y="288"/>
                </a:moveTo>
                <a:lnTo>
                  <a:pt x="0" y="288"/>
                </a:lnTo>
                <a:lnTo>
                  <a:pt x="290" y="0"/>
                </a:lnTo>
                <a:lnTo>
                  <a:pt x="2879" y="0"/>
                </a:lnTo>
                <a:lnTo>
                  <a:pt x="2879" y="288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/>
          <p:cNvSpPr/>
          <p:nvPr userDrawn="1"/>
        </p:nvSpPr>
        <p:spPr>
          <a:xfrm>
            <a:off x="0" y="-3175"/>
            <a:ext cx="9142413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4" name="Title 1"/>
          <p:cNvSpPr>
            <a:spLocks noGrp="1"/>
          </p:cNvSpPr>
          <p:nvPr>
            <p:ph type="title" hasCustomPrompt="1"/>
          </p:nvPr>
        </p:nvSpPr>
        <p:spPr>
          <a:xfrm>
            <a:off x="440871" y="1014757"/>
            <a:ext cx="6733042" cy="538609"/>
          </a:xfrm>
        </p:spPr>
        <p:txBody>
          <a:bodyPr>
            <a:spAutoFit/>
          </a:bodyPr>
          <a:lstStyle>
            <a:lvl1pPr>
              <a:lnSpc>
                <a:spcPct val="100000"/>
              </a:lnSpc>
              <a:defRPr sz="2900" b="1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Heading</a:t>
            </a:r>
            <a:endParaRPr lang="en-AU" dirty="0"/>
          </a:p>
        </p:txBody>
      </p:sp>
      <p:sp>
        <p:nvSpPr>
          <p:cNvPr id="47" name="Text Placeholder 49"/>
          <p:cNvSpPr>
            <a:spLocks noGrp="1"/>
          </p:cNvSpPr>
          <p:nvPr>
            <p:ph type="body" sz="quarter" idx="15" hasCustomPrompt="1"/>
          </p:nvPr>
        </p:nvSpPr>
        <p:spPr>
          <a:xfrm>
            <a:off x="440871" y="1751357"/>
            <a:ext cx="8284029" cy="39544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90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AU" dirty="0"/>
              <a:t>Body</a:t>
            </a:r>
          </a:p>
        </p:txBody>
      </p:sp>
      <p:sp>
        <p:nvSpPr>
          <p:cNvPr id="4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2758" y="6510471"/>
            <a:ext cx="3086100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defRPr lang="en-AU" sz="1000" smtClean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8929" y="6510471"/>
            <a:ext cx="448128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defRPr lang="en-AU" sz="1000" smtClean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6A89BA3-132D-40E1-AAB4-CDCD0A14C216}" type="slidenum">
              <a:rPr lang="en-AU" smtClean="0"/>
              <a:pPr/>
              <a:t>‹#›</a:t>
            </a:fld>
            <a:r>
              <a:rPr lang="en-AU" dirty="0"/>
              <a:t>  |</a:t>
            </a:r>
          </a:p>
        </p:txBody>
      </p:sp>
    </p:spTree>
    <p:extLst>
      <p:ext uri="{BB962C8B-B14F-4D97-AF65-F5344CB8AC3E}">
        <p14:creationId xmlns:p14="http://schemas.microsoft.com/office/powerpoint/2010/main" val="1079407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 flipV="1">
            <a:off x="0" y="4137025"/>
            <a:ext cx="9144000" cy="4603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>
              <a:latin typeface="Arial" pitchFamily="34" charset="0"/>
            </a:endParaRPr>
          </a:p>
        </p:txBody>
      </p:sp>
      <p:sp useBgFill="1">
        <p:nvSpPr>
          <p:cNvPr id="4" name="Rounded Rectangle 3"/>
          <p:cNvSpPr/>
          <p:nvPr/>
        </p:nvSpPr>
        <p:spPr bwMode="white">
          <a:xfrm>
            <a:off x="5410202" y="3962401"/>
            <a:ext cx="3063875" cy="26988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>
              <a:latin typeface="Arial" pitchFamily="34" charset="0"/>
            </a:endParaRPr>
          </a:p>
        </p:txBody>
      </p:sp>
      <p:sp useBgFill="1">
        <p:nvSpPr>
          <p:cNvPr id="5" name="Rounded Rectangle 4"/>
          <p:cNvSpPr/>
          <p:nvPr/>
        </p:nvSpPr>
        <p:spPr bwMode="white">
          <a:xfrm>
            <a:off x="7377113" y="4060826"/>
            <a:ext cx="1600200" cy="36513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>
              <a:latin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3962401"/>
            <a:ext cx="9144000" cy="244475"/>
          </a:xfrm>
          <a:prstGeom prst="rect">
            <a:avLst/>
          </a:prstGeom>
          <a:solidFill>
            <a:schemeClr val="accent6">
              <a:lumMod val="40000"/>
              <a:lumOff val="60000"/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>
              <a:latin typeface="Arial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3970338"/>
            <a:ext cx="9144000" cy="141287"/>
          </a:xfrm>
          <a:prstGeom prst="rect">
            <a:avLst/>
          </a:prstGeom>
          <a:solidFill>
            <a:srgbClr val="00206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>
              <a:latin typeface="Arial" pitchFamily="34" charset="0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0" y="1"/>
            <a:ext cx="9144000" cy="3970338"/>
          </a:xfrm>
          <a:prstGeom prst="rect">
            <a:avLst/>
          </a:prstGeom>
          <a:solidFill>
            <a:schemeClr val="accent4">
              <a:lumMod val="7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>
              <a:latin typeface="Arial" pitchFamily="34" charset="0"/>
            </a:endParaRP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584293" y="4724400"/>
            <a:ext cx="6324600" cy="1295400"/>
          </a:xfrm>
        </p:spPr>
        <p:txBody>
          <a:bodyPr>
            <a:noAutofit/>
          </a:bodyPr>
          <a:lstStyle>
            <a:lvl1pPr marL="59739" indent="0" algn="ctr">
              <a:buNone/>
              <a:defRPr sz="3200">
                <a:solidFill>
                  <a:schemeClr val="accent3">
                    <a:lumMod val="75000"/>
                  </a:schemeClr>
                </a:solidFill>
              </a:defRPr>
            </a:lvl1pPr>
            <a:lvl2pPr marL="426705" indent="0" algn="ctr">
              <a:buNone/>
            </a:lvl2pPr>
            <a:lvl3pPr marL="853410" indent="0" algn="ctr">
              <a:buNone/>
            </a:lvl3pPr>
            <a:lvl4pPr marL="1280114" indent="0" algn="ctr">
              <a:buNone/>
            </a:lvl4pPr>
            <a:lvl5pPr marL="1706819" indent="0" algn="ctr">
              <a:buNone/>
            </a:lvl5pPr>
            <a:lvl6pPr marL="2133524" indent="0" algn="ctr">
              <a:buNone/>
            </a:lvl6pPr>
            <a:lvl7pPr marL="2560229" indent="0" algn="ctr">
              <a:buNone/>
            </a:lvl7pPr>
            <a:lvl8pPr marL="2986933" indent="0" algn="ctr">
              <a:buNone/>
            </a:lvl8pPr>
            <a:lvl9pPr marL="3413638" indent="0" algn="ctr">
              <a:buNone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00400" y="163286"/>
            <a:ext cx="2667000" cy="36884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8447248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5390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5992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6072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0083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9136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23585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1007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9718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41201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89225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23152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29107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51446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23885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13242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4857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19385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74355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80084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63596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93297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49783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10934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5123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2574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083454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09703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40720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87420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23317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87792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16748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27098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44708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44343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46776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52023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07320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54673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72074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06116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93599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22159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34682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671668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4321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310288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05808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64863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45047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7901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831267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361390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860699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20900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73950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161494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039136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243803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99776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632198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864728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721438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915840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250281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152554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458787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7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272885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7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169142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solidFill>
          <a:srgbClr val="FFFFFF"/>
        </a:solid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" y="-3"/>
            <a:ext cx="11328385" cy="691943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0" name="Google Shape;40;p2"/>
          <p:cNvGrpSpPr/>
          <p:nvPr/>
        </p:nvGrpSpPr>
        <p:grpSpPr>
          <a:xfrm>
            <a:off x="22" y="4740126"/>
            <a:ext cx="7314320" cy="1169029"/>
            <a:chOff x="-11" y="1378677"/>
            <a:chExt cx="7314320" cy="4116300"/>
          </a:xfrm>
        </p:grpSpPr>
        <p:sp>
          <p:nvSpPr>
            <p:cNvPr id="41" name="Google Shape;41;p2"/>
            <p:cNvSpPr/>
            <p:nvPr/>
          </p:nvSpPr>
          <p:spPr>
            <a:xfrm flipH="1">
              <a:off x="-11" y="1378677"/>
              <a:ext cx="187800" cy="4116300"/>
            </a:xfrm>
            <a:prstGeom prst="rect">
              <a:avLst/>
            </a:prstGeom>
            <a:solidFill>
              <a:srgbClr val="E6703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2" name="Google Shape;42;p2"/>
            <p:cNvSpPr/>
            <p:nvPr/>
          </p:nvSpPr>
          <p:spPr>
            <a:xfrm flipH="1">
              <a:off x="187809" y="1378677"/>
              <a:ext cx="7126500" cy="4116300"/>
            </a:xfrm>
            <a:prstGeom prst="rect">
              <a:avLst/>
            </a:pr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43" name="Google Shape;43;p2"/>
          <p:cNvSpPr txBox="1">
            <a:spLocks noGrp="1"/>
          </p:cNvSpPr>
          <p:nvPr>
            <p:ph type="ctrTitle"/>
          </p:nvPr>
        </p:nvSpPr>
        <p:spPr>
          <a:xfrm>
            <a:off x="414375" y="4842443"/>
            <a:ext cx="6400800" cy="96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82201510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oogle Shape;58;p5"/>
          <p:cNvGrpSpPr/>
          <p:nvPr/>
        </p:nvGrpSpPr>
        <p:grpSpPr>
          <a:xfrm>
            <a:off x="-13" y="-12188"/>
            <a:ext cx="8005728" cy="1612563"/>
            <a:chOff x="-13" y="-12188"/>
            <a:chExt cx="8005728" cy="1161900"/>
          </a:xfrm>
        </p:grpSpPr>
        <p:sp>
          <p:nvSpPr>
            <p:cNvPr id="59" name="Google Shape;59;p5"/>
            <p:cNvSpPr/>
            <p:nvPr/>
          </p:nvSpPr>
          <p:spPr>
            <a:xfrm flipH="1">
              <a:off x="-13" y="-12188"/>
              <a:ext cx="187800" cy="1161900"/>
            </a:xfrm>
            <a:prstGeom prst="rect">
              <a:avLst/>
            </a:prstGeom>
            <a:solidFill>
              <a:srgbClr val="E6703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0" name="Google Shape;60;p5"/>
            <p:cNvSpPr/>
            <p:nvPr/>
          </p:nvSpPr>
          <p:spPr>
            <a:xfrm flipH="1">
              <a:off x="187715" y="-12188"/>
              <a:ext cx="7818000" cy="1161900"/>
            </a:xfrm>
            <a:prstGeom prst="rect">
              <a:avLst/>
            </a:prstGeom>
            <a:solidFill>
              <a:srgbClr val="E6703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61" name="Google Shape;61;p5"/>
          <p:cNvSpPr txBox="1">
            <a:spLocks noGrp="1"/>
          </p:cNvSpPr>
          <p:nvPr>
            <p:ph type="title"/>
          </p:nvPr>
        </p:nvSpPr>
        <p:spPr>
          <a:xfrm>
            <a:off x="457200" y="134801"/>
            <a:ext cx="7315500" cy="135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19391645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oogle Shape;45;p3"/>
          <p:cNvGrpSpPr/>
          <p:nvPr/>
        </p:nvGrpSpPr>
        <p:grpSpPr>
          <a:xfrm>
            <a:off x="-13" y="-12188"/>
            <a:ext cx="8005728" cy="1612563"/>
            <a:chOff x="-13" y="-12188"/>
            <a:chExt cx="8005728" cy="1161900"/>
          </a:xfrm>
        </p:grpSpPr>
        <p:sp>
          <p:nvSpPr>
            <p:cNvPr id="46" name="Google Shape;46;p3"/>
            <p:cNvSpPr/>
            <p:nvPr/>
          </p:nvSpPr>
          <p:spPr>
            <a:xfrm flipH="1">
              <a:off x="-13" y="-12188"/>
              <a:ext cx="187800" cy="1161900"/>
            </a:xfrm>
            <a:prstGeom prst="rect">
              <a:avLst/>
            </a:prstGeom>
            <a:solidFill>
              <a:srgbClr val="E6703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7" name="Google Shape;47;p3"/>
            <p:cNvSpPr/>
            <p:nvPr/>
          </p:nvSpPr>
          <p:spPr>
            <a:xfrm flipH="1">
              <a:off x="187715" y="-12188"/>
              <a:ext cx="7818000" cy="1161900"/>
            </a:xfrm>
            <a:prstGeom prst="rect">
              <a:avLst/>
            </a:prstGeom>
            <a:solidFill>
              <a:srgbClr val="E6703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48" name="Google Shape;48;p3"/>
          <p:cNvSpPr txBox="1">
            <a:spLocks noGrp="1"/>
          </p:cNvSpPr>
          <p:nvPr>
            <p:ph type="title"/>
          </p:nvPr>
        </p:nvSpPr>
        <p:spPr>
          <a:xfrm>
            <a:off x="457200" y="134801"/>
            <a:ext cx="7315500" cy="135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3"/>
          <p:cNvSpPr txBox="1">
            <a:spLocks noGrp="1"/>
          </p:cNvSpPr>
          <p:nvPr>
            <p:ph type="body" idx="1"/>
          </p:nvPr>
        </p:nvSpPr>
        <p:spPr>
          <a:xfrm>
            <a:off x="457200" y="1704688"/>
            <a:ext cx="8229600" cy="484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62181051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06307-42D9-B52A-3FDF-879E60F0F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3A6530-A555-4496-8091-721D1F8819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E4BAD6-101F-B851-1C08-7D894720D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7406-7D6A-427B-AE15-EA86D49A46C9}" type="datetimeFigureOut">
              <a:rPr lang="en-AU" smtClean="0"/>
              <a:t>7/03/2026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7BE63D-2BAC-0771-6CDD-E58CA768C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2B1F2-308D-04CF-0533-43636B440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1532012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19596" y="713233"/>
            <a:ext cx="3767469" cy="334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75" b="1" i="0">
                <a:solidFill>
                  <a:srgbClr val="3D3935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21929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25" b="1" i="0">
                <a:solidFill>
                  <a:srgbClr val="0D0D0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rgbClr val="3D3935"/>
                </a:solidFill>
                <a:latin typeface="Arial"/>
                <a:cs typeface="Arial"/>
              </a:defRPr>
            </a:lvl1pPr>
          </a:lstStyle>
          <a:p>
            <a:pPr marL="28575">
              <a:spcBef>
                <a:spcPts val="4"/>
              </a:spcBef>
            </a:pPr>
            <a:fld id="{81D60167-4931-47E6-BA6A-407CBD079E47}" type="slidenum">
              <a:rPr lang="en-US" smtClean="0"/>
              <a:pPr marL="28575">
                <a:spcBef>
                  <a:spcPts val="4"/>
                </a:spcBef>
              </a:pPr>
              <a:t>‹#›</a:t>
            </a:fld>
            <a:r>
              <a:rPr lang="en-US" spc="176"/>
              <a:t> </a:t>
            </a:r>
            <a:r>
              <a:rPr lang="en-US"/>
              <a:t>|</a:t>
            </a:r>
            <a:r>
              <a:rPr lang="en-US" spc="300"/>
              <a:t> </a:t>
            </a:r>
            <a:r>
              <a:rPr lang="en-US"/>
              <a:t>Faculty</a:t>
            </a:r>
            <a:r>
              <a:rPr lang="en-US" spc="-11"/>
              <a:t> </a:t>
            </a:r>
            <a:r>
              <a:rPr lang="en-US"/>
              <a:t>of</a:t>
            </a:r>
            <a:r>
              <a:rPr lang="en-US" spc="-15"/>
              <a:t> </a:t>
            </a:r>
            <a:r>
              <a:rPr lang="en-US"/>
              <a:t>Business</a:t>
            </a:r>
            <a:r>
              <a:rPr lang="en-US" spc="-15"/>
              <a:t> </a:t>
            </a:r>
            <a:r>
              <a:rPr lang="en-US"/>
              <a:t>and</a:t>
            </a:r>
            <a:r>
              <a:rPr lang="en-US" spc="-15"/>
              <a:t> </a:t>
            </a:r>
            <a:r>
              <a:rPr lang="en-US"/>
              <a:t>Law</a:t>
            </a:r>
            <a:r>
              <a:rPr lang="en-US" spc="-11"/>
              <a:t> </a:t>
            </a:r>
            <a:r>
              <a:rPr lang="en-US"/>
              <a:t>|</a:t>
            </a:r>
            <a:r>
              <a:rPr lang="en-US" spc="-11"/>
              <a:t> </a:t>
            </a:r>
            <a:r>
              <a:rPr lang="en-US"/>
              <a:t>Peter</a:t>
            </a:r>
            <a:r>
              <a:rPr lang="en-US" spc="-8"/>
              <a:t> </a:t>
            </a:r>
            <a:r>
              <a:rPr lang="en-US"/>
              <a:t>Faber</a:t>
            </a:r>
            <a:r>
              <a:rPr lang="en-US" spc="-11"/>
              <a:t> </a:t>
            </a:r>
            <a:r>
              <a:rPr lang="en-US"/>
              <a:t>Business</a:t>
            </a:r>
            <a:r>
              <a:rPr lang="en-US" spc="-11"/>
              <a:t> </a:t>
            </a:r>
            <a:r>
              <a:rPr lang="en-US" spc="-8"/>
              <a:t>School</a:t>
            </a:r>
            <a:endParaRPr lang="en-US" spc="-8" dirty="0"/>
          </a:p>
        </p:txBody>
      </p:sp>
    </p:spTree>
    <p:extLst>
      <p:ext uri="{BB962C8B-B14F-4D97-AF65-F5344CB8AC3E}">
        <p14:creationId xmlns:p14="http://schemas.microsoft.com/office/powerpoint/2010/main" val="1841124602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19610" y="713233"/>
            <a:ext cx="6553200" cy="334707"/>
          </a:xfrm>
        </p:spPr>
        <p:txBody>
          <a:bodyPr lIns="0" tIns="0" rIns="0" bIns="0"/>
          <a:lstStyle>
            <a:lvl1pPr>
              <a:defRPr sz="2175" b="1" i="0">
                <a:solidFill>
                  <a:srgbClr val="3D3935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08455" y="1392429"/>
            <a:ext cx="8127091" cy="219291"/>
          </a:xfrm>
        </p:spPr>
        <p:txBody>
          <a:bodyPr lIns="0" tIns="0" rIns="0" bIns="0"/>
          <a:lstStyle>
            <a:lvl1pPr>
              <a:defRPr sz="1425" b="1" i="0">
                <a:solidFill>
                  <a:srgbClr val="0D0D0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rgbClr val="3D3935"/>
                </a:solidFill>
                <a:latin typeface="Arial"/>
                <a:cs typeface="Arial"/>
              </a:defRPr>
            </a:lvl1pPr>
          </a:lstStyle>
          <a:p>
            <a:pPr marL="28575">
              <a:spcBef>
                <a:spcPts val="4"/>
              </a:spcBef>
            </a:pPr>
            <a:fld id="{81D60167-4931-47E6-BA6A-407CBD079E47}" type="slidenum">
              <a:rPr lang="en-US" smtClean="0"/>
              <a:pPr marL="28575">
                <a:spcBef>
                  <a:spcPts val="4"/>
                </a:spcBef>
              </a:pPr>
              <a:t>‹#›</a:t>
            </a:fld>
            <a:r>
              <a:rPr lang="en-US" spc="176"/>
              <a:t> </a:t>
            </a:r>
            <a:r>
              <a:rPr lang="en-US"/>
              <a:t>|</a:t>
            </a:r>
            <a:r>
              <a:rPr lang="en-US" spc="300"/>
              <a:t> </a:t>
            </a:r>
            <a:r>
              <a:rPr lang="en-US"/>
              <a:t>Faculty</a:t>
            </a:r>
            <a:r>
              <a:rPr lang="en-US" spc="-11"/>
              <a:t> </a:t>
            </a:r>
            <a:r>
              <a:rPr lang="en-US"/>
              <a:t>of</a:t>
            </a:r>
            <a:r>
              <a:rPr lang="en-US" spc="-15"/>
              <a:t> </a:t>
            </a:r>
            <a:r>
              <a:rPr lang="en-US"/>
              <a:t>Business</a:t>
            </a:r>
            <a:r>
              <a:rPr lang="en-US" spc="-15"/>
              <a:t> </a:t>
            </a:r>
            <a:r>
              <a:rPr lang="en-US"/>
              <a:t>and</a:t>
            </a:r>
            <a:r>
              <a:rPr lang="en-US" spc="-15"/>
              <a:t> </a:t>
            </a:r>
            <a:r>
              <a:rPr lang="en-US"/>
              <a:t>Law</a:t>
            </a:r>
            <a:r>
              <a:rPr lang="en-US" spc="-11"/>
              <a:t> </a:t>
            </a:r>
            <a:r>
              <a:rPr lang="en-US"/>
              <a:t>|</a:t>
            </a:r>
            <a:r>
              <a:rPr lang="en-US" spc="-11"/>
              <a:t> </a:t>
            </a:r>
            <a:r>
              <a:rPr lang="en-US"/>
              <a:t>Peter</a:t>
            </a:r>
            <a:r>
              <a:rPr lang="en-US" spc="-8"/>
              <a:t> </a:t>
            </a:r>
            <a:r>
              <a:rPr lang="en-US"/>
              <a:t>Faber</a:t>
            </a:r>
            <a:r>
              <a:rPr lang="en-US" spc="-11"/>
              <a:t> </a:t>
            </a:r>
            <a:r>
              <a:rPr lang="en-US"/>
              <a:t>Business</a:t>
            </a:r>
            <a:r>
              <a:rPr lang="en-US" spc="-11"/>
              <a:t> </a:t>
            </a:r>
            <a:r>
              <a:rPr lang="en-US" spc="-8"/>
              <a:t>School</a:t>
            </a:r>
            <a:endParaRPr lang="en-US" spc="-8" dirty="0"/>
          </a:p>
        </p:txBody>
      </p:sp>
    </p:spTree>
    <p:extLst>
      <p:ext uri="{BB962C8B-B14F-4D97-AF65-F5344CB8AC3E}">
        <p14:creationId xmlns:p14="http://schemas.microsoft.com/office/powerpoint/2010/main" val="1035566474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19610" y="713233"/>
            <a:ext cx="6553200" cy="334707"/>
          </a:xfrm>
        </p:spPr>
        <p:txBody>
          <a:bodyPr lIns="0" tIns="0" rIns="0" bIns="0"/>
          <a:lstStyle>
            <a:lvl1pPr>
              <a:defRPr sz="2175" b="1" i="0">
                <a:solidFill>
                  <a:srgbClr val="3D3935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rgbClr val="3D3935"/>
                </a:solidFill>
                <a:latin typeface="Arial"/>
                <a:cs typeface="Arial"/>
              </a:defRPr>
            </a:lvl1pPr>
          </a:lstStyle>
          <a:p>
            <a:pPr marL="28575">
              <a:spcBef>
                <a:spcPts val="4"/>
              </a:spcBef>
            </a:pPr>
            <a:fld id="{81D60167-4931-47E6-BA6A-407CBD079E47}" type="slidenum">
              <a:rPr lang="en-US" smtClean="0"/>
              <a:pPr marL="28575">
                <a:spcBef>
                  <a:spcPts val="4"/>
                </a:spcBef>
              </a:pPr>
              <a:t>‹#›</a:t>
            </a:fld>
            <a:r>
              <a:rPr lang="en-US" spc="176"/>
              <a:t> </a:t>
            </a:r>
            <a:r>
              <a:rPr lang="en-US"/>
              <a:t>|</a:t>
            </a:r>
            <a:r>
              <a:rPr lang="en-US" spc="300"/>
              <a:t> </a:t>
            </a:r>
            <a:r>
              <a:rPr lang="en-US"/>
              <a:t>Faculty</a:t>
            </a:r>
            <a:r>
              <a:rPr lang="en-US" spc="-11"/>
              <a:t> </a:t>
            </a:r>
            <a:r>
              <a:rPr lang="en-US"/>
              <a:t>of</a:t>
            </a:r>
            <a:r>
              <a:rPr lang="en-US" spc="-15"/>
              <a:t> </a:t>
            </a:r>
            <a:r>
              <a:rPr lang="en-US"/>
              <a:t>Business</a:t>
            </a:r>
            <a:r>
              <a:rPr lang="en-US" spc="-15"/>
              <a:t> </a:t>
            </a:r>
            <a:r>
              <a:rPr lang="en-US"/>
              <a:t>and</a:t>
            </a:r>
            <a:r>
              <a:rPr lang="en-US" spc="-15"/>
              <a:t> </a:t>
            </a:r>
            <a:r>
              <a:rPr lang="en-US"/>
              <a:t>Law</a:t>
            </a:r>
            <a:r>
              <a:rPr lang="en-US" spc="-11"/>
              <a:t> </a:t>
            </a:r>
            <a:r>
              <a:rPr lang="en-US"/>
              <a:t>|</a:t>
            </a:r>
            <a:r>
              <a:rPr lang="en-US" spc="-11"/>
              <a:t> </a:t>
            </a:r>
            <a:r>
              <a:rPr lang="en-US"/>
              <a:t>Peter</a:t>
            </a:r>
            <a:r>
              <a:rPr lang="en-US" spc="-8"/>
              <a:t> </a:t>
            </a:r>
            <a:r>
              <a:rPr lang="en-US"/>
              <a:t>Faber</a:t>
            </a:r>
            <a:r>
              <a:rPr lang="en-US" spc="-11"/>
              <a:t> </a:t>
            </a:r>
            <a:r>
              <a:rPr lang="en-US"/>
              <a:t>Business</a:t>
            </a:r>
            <a:r>
              <a:rPr lang="en-US" spc="-11"/>
              <a:t> </a:t>
            </a:r>
            <a:r>
              <a:rPr lang="en-US" spc="-8"/>
              <a:t>School</a:t>
            </a:r>
            <a:endParaRPr lang="en-US" spc="-8" dirty="0"/>
          </a:p>
        </p:txBody>
      </p:sp>
    </p:spTree>
    <p:extLst>
      <p:ext uri="{BB962C8B-B14F-4D97-AF65-F5344CB8AC3E}">
        <p14:creationId xmlns:p14="http://schemas.microsoft.com/office/powerpoint/2010/main" val="3938031207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19610" y="713233"/>
            <a:ext cx="6553200" cy="334707"/>
          </a:xfrm>
        </p:spPr>
        <p:txBody>
          <a:bodyPr lIns="0" tIns="0" rIns="0" bIns="0"/>
          <a:lstStyle>
            <a:lvl1pPr>
              <a:defRPr sz="2175" b="1" i="0">
                <a:solidFill>
                  <a:srgbClr val="3D3935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rgbClr val="3D3935"/>
                </a:solidFill>
                <a:latin typeface="Arial"/>
                <a:cs typeface="Arial"/>
              </a:defRPr>
            </a:lvl1pPr>
          </a:lstStyle>
          <a:p>
            <a:pPr marL="28575">
              <a:spcBef>
                <a:spcPts val="4"/>
              </a:spcBef>
            </a:pPr>
            <a:fld id="{81D60167-4931-47E6-BA6A-407CBD079E47}" type="slidenum">
              <a:rPr lang="en-US" smtClean="0"/>
              <a:pPr marL="28575">
                <a:spcBef>
                  <a:spcPts val="4"/>
                </a:spcBef>
              </a:pPr>
              <a:t>‹#›</a:t>
            </a:fld>
            <a:r>
              <a:rPr lang="en-US" spc="176"/>
              <a:t> </a:t>
            </a:r>
            <a:r>
              <a:rPr lang="en-US"/>
              <a:t>|</a:t>
            </a:r>
            <a:r>
              <a:rPr lang="en-US" spc="300"/>
              <a:t> </a:t>
            </a:r>
            <a:r>
              <a:rPr lang="en-US"/>
              <a:t>Faculty</a:t>
            </a:r>
            <a:r>
              <a:rPr lang="en-US" spc="-11"/>
              <a:t> </a:t>
            </a:r>
            <a:r>
              <a:rPr lang="en-US"/>
              <a:t>of</a:t>
            </a:r>
            <a:r>
              <a:rPr lang="en-US" spc="-15"/>
              <a:t> </a:t>
            </a:r>
            <a:r>
              <a:rPr lang="en-US"/>
              <a:t>Business</a:t>
            </a:r>
            <a:r>
              <a:rPr lang="en-US" spc="-15"/>
              <a:t> </a:t>
            </a:r>
            <a:r>
              <a:rPr lang="en-US"/>
              <a:t>and</a:t>
            </a:r>
            <a:r>
              <a:rPr lang="en-US" spc="-15"/>
              <a:t> </a:t>
            </a:r>
            <a:r>
              <a:rPr lang="en-US"/>
              <a:t>Law</a:t>
            </a:r>
            <a:r>
              <a:rPr lang="en-US" spc="-11"/>
              <a:t> </a:t>
            </a:r>
            <a:r>
              <a:rPr lang="en-US"/>
              <a:t>|</a:t>
            </a:r>
            <a:r>
              <a:rPr lang="en-US" spc="-11"/>
              <a:t> </a:t>
            </a:r>
            <a:r>
              <a:rPr lang="en-US"/>
              <a:t>Peter</a:t>
            </a:r>
            <a:r>
              <a:rPr lang="en-US" spc="-8"/>
              <a:t> </a:t>
            </a:r>
            <a:r>
              <a:rPr lang="en-US"/>
              <a:t>Faber</a:t>
            </a:r>
            <a:r>
              <a:rPr lang="en-US" spc="-11"/>
              <a:t> </a:t>
            </a:r>
            <a:r>
              <a:rPr lang="en-US"/>
              <a:t>Business</a:t>
            </a:r>
            <a:r>
              <a:rPr lang="en-US" spc="-11"/>
              <a:t> </a:t>
            </a:r>
            <a:r>
              <a:rPr lang="en-US" spc="-8"/>
              <a:t>School</a:t>
            </a:r>
            <a:endParaRPr lang="en-US" spc="-8" dirty="0"/>
          </a:p>
        </p:txBody>
      </p:sp>
    </p:spTree>
    <p:extLst>
      <p:ext uri="{BB962C8B-B14F-4D97-AF65-F5344CB8AC3E}">
        <p14:creationId xmlns:p14="http://schemas.microsoft.com/office/powerpoint/2010/main" val="3687271149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rgbClr val="3D3935"/>
                </a:solidFill>
                <a:latin typeface="Arial"/>
                <a:cs typeface="Arial"/>
              </a:defRPr>
            </a:lvl1pPr>
          </a:lstStyle>
          <a:p>
            <a:pPr marL="28575">
              <a:spcBef>
                <a:spcPts val="4"/>
              </a:spcBef>
            </a:pPr>
            <a:fld id="{81D60167-4931-47E6-BA6A-407CBD079E47}" type="slidenum">
              <a:rPr lang="en-US" smtClean="0"/>
              <a:pPr marL="28575">
                <a:spcBef>
                  <a:spcPts val="4"/>
                </a:spcBef>
              </a:pPr>
              <a:t>‹#›</a:t>
            </a:fld>
            <a:r>
              <a:rPr lang="en-US" spc="176"/>
              <a:t> </a:t>
            </a:r>
            <a:r>
              <a:rPr lang="en-US"/>
              <a:t>|</a:t>
            </a:r>
            <a:r>
              <a:rPr lang="en-US" spc="300"/>
              <a:t> </a:t>
            </a:r>
            <a:r>
              <a:rPr lang="en-US"/>
              <a:t>Faculty</a:t>
            </a:r>
            <a:r>
              <a:rPr lang="en-US" spc="-11"/>
              <a:t> </a:t>
            </a:r>
            <a:r>
              <a:rPr lang="en-US"/>
              <a:t>of</a:t>
            </a:r>
            <a:r>
              <a:rPr lang="en-US" spc="-15"/>
              <a:t> </a:t>
            </a:r>
            <a:r>
              <a:rPr lang="en-US"/>
              <a:t>Business</a:t>
            </a:r>
            <a:r>
              <a:rPr lang="en-US" spc="-15"/>
              <a:t> </a:t>
            </a:r>
            <a:r>
              <a:rPr lang="en-US"/>
              <a:t>and</a:t>
            </a:r>
            <a:r>
              <a:rPr lang="en-US" spc="-15"/>
              <a:t> </a:t>
            </a:r>
            <a:r>
              <a:rPr lang="en-US"/>
              <a:t>Law</a:t>
            </a:r>
            <a:r>
              <a:rPr lang="en-US" spc="-11"/>
              <a:t> </a:t>
            </a:r>
            <a:r>
              <a:rPr lang="en-US"/>
              <a:t>|</a:t>
            </a:r>
            <a:r>
              <a:rPr lang="en-US" spc="-11"/>
              <a:t> </a:t>
            </a:r>
            <a:r>
              <a:rPr lang="en-US"/>
              <a:t>Peter</a:t>
            </a:r>
            <a:r>
              <a:rPr lang="en-US" spc="-8"/>
              <a:t> </a:t>
            </a:r>
            <a:r>
              <a:rPr lang="en-US"/>
              <a:t>Faber</a:t>
            </a:r>
            <a:r>
              <a:rPr lang="en-US" spc="-11"/>
              <a:t> </a:t>
            </a:r>
            <a:r>
              <a:rPr lang="en-US"/>
              <a:t>Business</a:t>
            </a:r>
            <a:r>
              <a:rPr lang="en-US" spc="-11"/>
              <a:t> </a:t>
            </a:r>
            <a:r>
              <a:rPr lang="en-US" spc="-8"/>
              <a:t>School</a:t>
            </a:r>
            <a:endParaRPr lang="en-US" spc="-8" dirty="0"/>
          </a:p>
        </p:txBody>
      </p:sp>
    </p:spTree>
    <p:extLst>
      <p:ext uri="{BB962C8B-B14F-4D97-AF65-F5344CB8AC3E}">
        <p14:creationId xmlns:p14="http://schemas.microsoft.com/office/powerpoint/2010/main" val="17668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84" Type="http://schemas.openxmlformats.org/officeDocument/2006/relationships/slideLayout" Target="../slideLayouts/slideLayout84.xml"/><Relationship Id="rId1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1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74" Type="http://schemas.openxmlformats.org/officeDocument/2006/relationships/slideLayout" Target="../slideLayouts/slideLayout74.xml"/><Relationship Id="rId79" Type="http://schemas.openxmlformats.org/officeDocument/2006/relationships/slideLayout" Target="../slideLayouts/slideLayout79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7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80" Type="http://schemas.openxmlformats.org/officeDocument/2006/relationships/slideLayout" Target="../slideLayouts/slideLayout80.xml"/><Relationship Id="rId85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83" Type="http://schemas.openxmlformats.org/officeDocument/2006/relationships/slideLayout" Target="../slideLayouts/slideLayout83.xml"/><Relationship Id="rId88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78" Type="http://schemas.openxmlformats.org/officeDocument/2006/relationships/slideLayout" Target="../slideLayouts/slideLayout78.xml"/><Relationship Id="rId81" Type="http://schemas.openxmlformats.org/officeDocument/2006/relationships/slideLayout" Target="../slideLayouts/slideLayout81.xml"/><Relationship Id="rId86" Type="http://schemas.openxmlformats.org/officeDocument/2006/relationships/tags" Target="../tags/tag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24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66" Type="http://schemas.openxmlformats.org/officeDocument/2006/relationships/slideLayout" Target="../slideLayouts/slideLayout66.xml"/><Relationship Id="rId87" Type="http://schemas.openxmlformats.org/officeDocument/2006/relationships/oleObject" Target="../embeddings/oleObject1.bin"/><Relationship Id="rId61" Type="http://schemas.openxmlformats.org/officeDocument/2006/relationships/slideLayout" Target="../slideLayouts/slideLayout61.xml"/><Relationship Id="rId82" Type="http://schemas.openxmlformats.org/officeDocument/2006/relationships/slideLayout" Target="../slideLayouts/slideLayout82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7.xml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86.xml"/><Relationship Id="rId1" Type="http://schemas.openxmlformats.org/officeDocument/2006/relationships/slideLayout" Target="../slideLayouts/slideLayout85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89.xml"/><Relationship Id="rId4" Type="http://schemas.openxmlformats.org/officeDocument/2006/relationships/slideLayout" Target="../slideLayouts/slideLayout8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86"/>
            </p:custDataLst>
            <p:extLst>
              <p:ext uri="{D42A27DB-BD31-4B8C-83A1-F6EECF244321}">
                <p14:modId xmlns:p14="http://schemas.microsoft.com/office/powerpoint/2010/main" val="3475696465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7" imgW="347" imgH="348" progId="TCLayout.ActiveDocument.1">
                  <p:embed/>
                </p:oleObj>
              </mc:Choice>
              <mc:Fallback>
                <p:oleObj name="think-cell Slide" r:id="rId87" imgW="347" imgH="348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8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87" name="Group 4"/>
          <p:cNvGrpSpPr>
            <a:grpSpLocks noChangeAspect="1"/>
          </p:cNvGrpSpPr>
          <p:nvPr userDrawn="1"/>
        </p:nvGrpSpPr>
        <p:grpSpPr bwMode="auto">
          <a:xfrm>
            <a:off x="1588" y="0"/>
            <a:ext cx="9140825" cy="6858000"/>
            <a:chOff x="1" y="0"/>
            <a:chExt cx="5758" cy="4320"/>
          </a:xfrm>
        </p:grpSpPr>
        <p:sp>
          <p:nvSpPr>
            <p:cNvPr id="88" name="AutoShape 3"/>
            <p:cNvSpPr>
              <a:spLocks noChangeAspect="1" noChangeArrowheads="1" noTextEdit="1"/>
            </p:cNvSpPr>
            <p:nvPr userDrawn="1"/>
          </p:nvSpPr>
          <p:spPr bwMode="auto">
            <a:xfrm>
              <a:off x="1" y="0"/>
              <a:ext cx="5758" cy="4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" name="Freeform 5"/>
            <p:cNvSpPr>
              <a:spLocks/>
            </p:cNvSpPr>
            <p:nvPr userDrawn="1"/>
          </p:nvSpPr>
          <p:spPr bwMode="auto">
            <a:xfrm>
              <a:off x="1" y="-2"/>
              <a:ext cx="3169" cy="288"/>
            </a:xfrm>
            <a:custGeom>
              <a:avLst/>
              <a:gdLst>
                <a:gd name="T0" fmla="*/ 0 w 3169"/>
                <a:gd name="T1" fmla="*/ 0 h 288"/>
                <a:gd name="T2" fmla="*/ 3169 w 3169"/>
                <a:gd name="T3" fmla="*/ 0 h 288"/>
                <a:gd name="T4" fmla="*/ 2879 w 3169"/>
                <a:gd name="T5" fmla="*/ 288 h 288"/>
                <a:gd name="T6" fmla="*/ 0 w 3169"/>
                <a:gd name="T7" fmla="*/ 288 h 288"/>
                <a:gd name="T8" fmla="*/ 0 w 3169"/>
                <a:gd name="T9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69" h="288">
                  <a:moveTo>
                    <a:pt x="0" y="0"/>
                  </a:moveTo>
                  <a:lnTo>
                    <a:pt x="3169" y="0"/>
                  </a:lnTo>
                  <a:lnTo>
                    <a:pt x="2879" y="288"/>
                  </a:lnTo>
                  <a:lnTo>
                    <a:pt x="0" y="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3DB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" name="Freeform 6"/>
            <p:cNvSpPr>
              <a:spLocks/>
            </p:cNvSpPr>
            <p:nvPr userDrawn="1"/>
          </p:nvSpPr>
          <p:spPr bwMode="auto">
            <a:xfrm>
              <a:off x="1" y="-2"/>
              <a:ext cx="3169" cy="288"/>
            </a:xfrm>
            <a:custGeom>
              <a:avLst/>
              <a:gdLst>
                <a:gd name="T0" fmla="*/ 0 w 3169"/>
                <a:gd name="T1" fmla="*/ 0 h 288"/>
                <a:gd name="T2" fmla="*/ 3169 w 3169"/>
                <a:gd name="T3" fmla="*/ 0 h 288"/>
                <a:gd name="T4" fmla="*/ 2879 w 3169"/>
                <a:gd name="T5" fmla="*/ 288 h 288"/>
                <a:gd name="T6" fmla="*/ 0 w 3169"/>
                <a:gd name="T7" fmla="*/ 288 h 288"/>
                <a:gd name="T8" fmla="*/ 0 w 3169"/>
                <a:gd name="T9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69" h="288">
                  <a:moveTo>
                    <a:pt x="0" y="0"/>
                  </a:moveTo>
                  <a:lnTo>
                    <a:pt x="3169" y="0"/>
                  </a:lnTo>
                  <a:lnTo>
                    <a:pt x="2879" y="288"/>
                  </a:lnTo>
                  <a:lnTo>
                    <a:pt x="0" y="288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" name="Freeform 7"/>
            <p:cNvSpPr>
              <a:spLocks/>
            </p:cNvSpPr>
            <p:nvPr userDrawn="1"/>
          </p:nvSpPr>
          <p:spPr bwMode="auto">
            <a:xfrm>
              <a:off x="2880" y="4030"/>
              <a:ext cx="2879" cy="288"/>
            </a:xfrm>
            <a:custGeom>
              <a:avLst/>
              <a:gdLst>
                <a:gd name="T0" fmla="*/ 2879 w 2879"/>
                <a:gd name="T1" fmla="*/ 288 h 288"/>
                <a:gd name="T2" fmla="*/ 0 w 2879"/>
                <a:gd name="T3" fmla="*/ 288 h 288"/>
                <a:gd name="T4" fmla="*/ 290 w 2879"/>
                <a:gd name="T5" fmla="*/ 0 h 288"/>
                <a:gd name="T6" fmla="*/ 2879 w 2879"/>
                <a:gd name="T7" fmla="*/ 0 h 288"/>
                <a:gd name="T8" fmla="*/ 2879 w 2879"/>
                <a:gd name="T9" fmla="*/ 288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79" h="288">
                  <a:moveTo>
                    <a:pt x="2879" y="288"/>
                  </a:moveTo>
                  <a:lnTo>
                    <a:pt x="0" y="288"/>
                  </a:lnTo>
                  <a:lnTo>
                    <a:pt x="290" y="0"/>
                  </a:lnTo>
                  <a:lnTo>
                    <a:pt x="2879" y="0"/>
                  </a:lnTo>
                  <a:lnTo>
                    <a:pt x="2879" y="288"/>
                  </a:lnTo>
                  <a:close/>
                </a:path>
              </a:pathLst>
            </a:custGeom>
            <a:solidFill>
              <a:srgbClr val="E8E3DB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" name="Freeform 8"/>
            <p:cNvSpPr>
              <a:spLocks/>
            </p:cNvSpPr>
            <p:nvPr userDrawn="1"/>
          </p:nvSpPr>
          <p:spPr bwMode="auto">
            <a:xfrm>
              <a:off x="2880" y="4030"/>
              <a:ext cx="2879" cy="288"/>
            </a:xfrm>
            <a:custGeom>
              <a:avLst/>
              <a:gdLst>
                <a:gd name="T0" fmla="*/ 2879 w 2879"/>
                <a:gd name="T1" fmla="*/ 288 h 288"/>
                <a:gd name="T2" fmla="*/ 0 w 2879"/>
                <a:gd name="T3" fmla="*/ 288 h 288"/>
                <a:gd name="T4" fmla="*/ 290 w 2879"/>
                <a:gd name="T5" fmla="*/ 0 h 288"/>
                <a:gd name="T6" fmla="*/ 2879 w 2879"/>
                <a:gd name="T7" fmla="*/ 0 h 288"/>
                <a:gd name="T8" fmla="*/ 2879 w 2879"/>
                <a:gd name="T9" fmla="*/ 288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79" h="288">
                  <a:moveTo>
                    <a:pt x="2879" y="288"/>
                  </a:moveTo>
                  <a:lnTo>
                    <a:pt x="0" y="288"/>
                  </a:lnTo>
                  <a:lnTo>
                    <a:pt x="290" y="0"/>
                  </a:lnTo>
                  <a:lnTo>
                    <a:pt x="2879" y="0"/>
                  </a:lnTo>
                  <a:lnTo>
                    <a:pt x="2879" y="28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" name="Freeform 9"/>
            <p:cNvSpPr>
              <a:spLocks/>
            </p:cNvSpPr>
            <p:nvPr userDrawn="1"/>
          </p:nvSpPr>
          <p:spPr bwMode="auto">
            <a:xfrm>
              <a:off x="4661" y="234"/>
              <a:ext cx="182" cy="234"/>
            </a:xfrm>
            <a:custGeom>
              <a:avLst/>
              <a:gdLst>
                <a:gd name="T0" fmla="*/ 91 w 91"/>
                <a:gd name="T1" fmla="*/ 0 h 117"/>
                <a:gd name="T2" fmla="*/ 91 w 91"/>
                <a:gd name="T3" fmla="*/ 51 h 117"/>
                <a:gd name="T4" fmla="*/ 46 w 91"/>
                <a:gd name="T5" fmla="*/ 117 h 117"/>
                <a:gd name="T6" fmla="*/ 0 w 91"/>
                <a:gd name="T7" fmla="*/ 51 h 117"/>
                <a:gd name="T8" fmla="*/ 0 w 91"/>
                <a:gd name="T9" fmla="*/ 0 h 117"/>
                <a:gd name="T10" fmla="*/ 91 w 91"/>
                <a:gd name="T11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1" h="117">
                  <a:moveTo>
                    <a:pt x="91" y="0"/>
                  </a:moveTo>
                  <a:cubicBezTo>
                    <a:pt x="91" y="51"/>
                    <a:pt x="91" y="51"/>
                    <a:pt x="91" y="51"/>
                  </a:cubicBezTo>
                  <a:cubicBezTo>
                    <a:pt x="91" y="77"/>
                    <a:pt x="74" y="105"/>
                    <a:pt x="46" y="117"/>
                  </a:cubicBezTo>
                  <a:cubicBezTo>
                    <a:pt x="18" y="105"/>
                    <a:pt x="0" y="77"/>
                    <a:pt x="0" y="5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91" y="0"/>
                    <a:pt x="91" y="0"/>
                    <a:pt x="91" y="0"/>
                  </a:cubicBezTo>
                  <a:close/>
                </a:path>
              </a:pathLst>
            </a:custGeom>
            <a:solidFill>
              <a:srgbClr val="E2231A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" name="Freeform 10"/>
            <p:cNvSpPr>
              <a:spLocks/>
            </p:cNvSpPr>
            <p:nvPr userDrawn="1"/>
          </p:nvSpPr>
          <p:spPr bwMode="auto">
            <a:xfrm>
              <a:off x="4695" y="262"/>
              <a:ext cx="114" cy="150"/>
            </a:xfrm>
            <a:custGeom>
              <a:avLst/>
              <a:gdLst>
                <a:gd name="T0" fmla="*/ 0 w 114"/>
                <a:gd name="T1" fmla="*/ 74 h 150"/>
                <a:gd name="T2" fmla="*/ 58 w 114"/>
                <a:gd name="T3" fmla="*/ 0 h 150"/>
                <a:gd name="T4" fmla="*/ 114 w 114"/>
                <a:gd name="T5" fmla="*/ 74 h 150"/>
                <a:gd name="T6" fmla="*/ 58 w 114"/>
                <a:gd name="T7" fmla="*/ 150 h 150"/>
                <a:gd name="T8" fmla="*/ 0 w 114"/>
                <a:gd name="T9" fmla="*/ 74 h 150"/>
                <a:gd name="T10" fmla="*/ 0 w 114"/>
                <a:gd name="T11" fmla="*/ 74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4" h="150">
                  <a:moveTo>
                    <a:pt x="0" y="74"/>
                  </a:moveTo>
                  <a:lnTo>
                    <a:pt x="58" y="0"/>
                  </a:lnTo>
                  <a:lnTo>
                    <a:pt x="114" y="74"/>
                  </a:lnTo>
                  <a:lnTo>
                    <a:pt x="58" y="150"/>
                  </a:lnTo>
                  <a:lnTo>
                    <a:pt x="0" y="74"/>
                  </a:lnTo>
                  <a:lnTo>
                    <a:pt x="0" y="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" name="Freeform 11"/>
            <p:cNvSpPr>
              <a:spLocks/>
            </p:cNvSpPr>
            <p:nvPr userDrawn="1"/>
          </p:nvSpPr>
          <p:spPr bwMode="auto">
            <a:xfrm>
              <a:off x="4711" y="294"/>
              <a:ext cx="82" cy="98"/>
            </a:xfrm>
            <a:custGeom>
              <a:avLst/>
              <a:gdLst>
                <a:gd name="T0" fmla="*/ 18 w 41"/>
                <a:gd name="T1" fmla="*/ 26 h 49"/>
                <a:gd name="T2" fmla="*/ 21 w 41"/>
                <a:gd name="T3" fmla="*/ 49 h 49"/>
                <a:gd name="T4" fmla="*/ 21 w 41"/>
                <a:gd name="T5" fmla="*/ 49 h 49"/>
                <a:gd name="T6" fmla="*/ 21 w 41"/>
                <a:gd name="T7" fmla="*/ 49 h 49"/>
                <a:gd name="T8" fmla="*/ 23 w 41"/>
                <a:gd name="T9" fmla="*/ 26 h 49"/>
                <a:gd name="T10" fmla="*/ 23 w 41"/>
                <a:gd name="T11" fmla="*/ 24 h 49"/>
                <a:gd name="T12" fmla="*/ 32 w 41"/>
                <a:gd name="T13" fmla="*/ 24 h 49"/>
                <a:gd name="T14" fmla="*/ 32 w 41"/>
                <a:gd name="T15" fmla="*/ 25 h 49"/>
                <a:gd name="T16" fmla="*/ 35 w 41"/>
                <a:gd name="T17" fmla="*/ 28 h 49"/>
                <a:gd name="T18" fmla="*/ 37 w 41"/>
                <a:gd name="T19" fmla="*/ 25 h 49"/>
                <a:gd name="T20" fmla="*/ 37 w 41"/>
                <a:gd name="T21" fmla="*/ 24 h 49"/>
                <a:gd name="T22" fmla="*/ 38 w 41"/>
                <a:gd name="T23" fmla="*/ 24 h 49"/>
                <a:gd name="T24" fmla="*/ 41 w 41"/>
                <a:gd name="T25" fmla="*/ 21 h 49"/>
                <a:gd name="T26" fmla="*/ 38 w 41"/>
                <a:gd name="T27" fmla="*/ 19 h 49"/>
                <a:gd name="T28" fmla="*/ 37 w 41"/>
                <a:gd name="T29" fmla="*/ 19 h 49"/>
                <a:gd name="T30" fmla="*/ 37 w 41"/>
                <a:gd name="T31" fmla="*/ 18 h 49"/>
                <a:gd name="T32" fmla="*/ 35 w 41"/>
                <a:gd name="T33" fmla="*/ 15 h 49"/>
                <a:gd name="T34" fmla="*/ 32 w 41"/>
                <a:gd name="T35" fmla="*/ 18 h 49"/>
                <a:gd name="T36" fmla="*/ 32 w 41"/>
                <a:gd name="T37" fmla="*/ 19 h 49"/>
                <a:gd name="T38" fmla="*/ 23 w 41"/>
                <a:gd name="T39" fmla="*/ 19 h 49"/>
                <a:gd name="T40" fmla="*/ 23 w 41"/>
                <a:gd name="T41" fmla="*/ 9 h 49"/>
                <a:gd name="T42" fmla="*/ 24 w 41"/>
                <a:gd name="T43" fmla="*/ 9 h 49"/>
                <a:gd name="T44" fmla="*/ 27 w 41"/>
                <a:gd name="T45" fmla="*/ 6 h 49"/>
                <a:gd name="T46" fmla="*/ 24 w 41"/>
                <a:gd name="T47" fmla="*/ 3 h 49"/>
                <a:gd name="T48" fmla="*/ 23 w 41"/>
                <a:gd name="T49" fmla="*/ 3 h 49"/>
                <a:gd name="T50" fmla="*/ 23 w 41"/>
                <a:gd name="T51" fmla="*/ 3 h 49"/>
                <a:gd name="T52" fmla="*/ 21 w 41"/>
                <a:gd name="T53" fmla="*/ 0 h 49"/>
                <a:gd name="T54" fmla="*/ 18 w 41"/>
                <a:gd name="T55" fmla="*/ 3 h 49"/>
                <a:gd name="T56" fmla="*/ 18 w 41"/>
                <a:gd name="T57" fmla="*/ 3 h 49"/>
                <a:gd name="T58" fmla="*/ 17 w 41"/>
                <a:gd name="T59" fmla="*/ 3 h 49"/>
                <a:gd name="T60" fmla="*/ 14 w 41"/>
                <a:gd name="T61" fmla="*/ 6 h 49"/>
                <a:gd name="T62" fmla="*/ 17 w 41"/>
                <a:gd name="T63" fmla="*/ 9 h 49"/>
                <a:gd name="T64" fmla="*/ 18 w 41"/>
                <a:gd name="T65" fmla="*/ 9 h 49"/>
                <a:gd name="T66" fmla="*/ 18 w 41"/>
                <a:gd name="T67" fmla="*/ 19 h 49"/>
                <a:gd name="T68" fmla="*/ 18 w 41"/>
                <a:gd name="T69" fmla="*/ 19 h 49"/>
                <a:gd name="T70" fmla="*/ 10 w 41"/>
                <a:gd name="T71" fmla="*/ 19 h 49"/>
                <a:gd name="T72" fmla="*/ 10 w 41"/>
                <a:gd name="T73" fmla="*/ 18 h 49"/>
                <a:gd name="T74" fmla="*/ 7 w 41"/>
                <a:gd name="T75" fmla="*/ 15 h 49"/>
                <a:gd name="T76" fmla="*/ 4 w 41"/>
                <a:gd name="T77" fmla="*/ 18 h 49"/>
                <a:gd name="T78" fmla="*/ 4 w 41"/>
                <a:gd name="T79" fmla="*/ 19 h 49"/>
                <a:gd name="T80" fmla="*/ 4 w 41"/>
                <a:gd name="T81" fmla="*/ 19 h 49"/>
                <a:gd name="T82" fmla="*/ 0 w 41"/>
                <a:gd name="T83" fmla="*/ 21 h 49"/>
                <a:gd name="T84" fmla="*/ 4 w 41"/>
                <a:gd name="T85" fmla="*/ 24 h 49"/>
                <a:gd name="T86" fmla="*/ 4 w 41"/>
                <a:gd name="T87" fmla="*/ 24 h 49"/>
                <a:gd name="T88" fmla="*/ 4 w 41"/>
                <a:gd name="T89" fmla="*/ 25 h 49"/>
                <a:gd name="T90" fmla="*/ 7 w 41"/>
                <a:gd name="T91" fmla="*/ 28 h 49"/>
                <a:gd name="T92" fmla="*/ 10 w 41"/>
                <a:gd name="T93" fmla="*/ 25 h 49"/>
                <a:gd name="T94" fmla="*/ 10 w 41"/>
                <a:gd name="T95" fmla="*/ 24 h 49"/>
                <a:gd name="T96" fmla="*/ 18 w 41"/>
                <a:gd name="T97" fmla="*/ 24 h 49"/>
                <a:gd name="T98" fmla="*/ 18 w 41"/>
                <a:gd name="T99" fmla="*/ 26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41" h="49">
                  <a:moveTo>
                    <a:pt x="18" y="26"/>
                  </a:moveTo>
                  <a:cubicBezTo>
                    <a:pt x="18" y="36"/>
                    <a:pt x="20" y="48"/>
                    <a:pt x="21" y="49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48"/>
                    <a:pt x="23" y="36"/>
                    <a:pt x="23" y="26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32" y="24"/>
                    <a:pt x="32" y="24"/>
                    <a:pt x="32" y="24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2" y="26"/>
                    <a:pt x="33" y="28"/>
                    <a:pt x="35" y="28"/>
                  </a:cubicBezTo>
                  <a:cubicBezTo>
                    <a:pt x="36" y="28"/>
                    <a:pt x="37" y="26"/>
                    <a:pt x="37" y="25"/>
                  </a:cubicBezTo>
                  <a:cubicBezTo>
                    <a:pt x="37" y="24"/>
                    <a:pt x="37" y="24"/>
                    <a:pt x="37" y="24"/>
                  </a:cubicBezTo>
                  <a:cubicBezTo>
                    <a:pt x="38" y="24"/>
                    <a:pt x="38" y="24"/>
                    <a:pt x="38" y="24"/>
                  </a:cubicBezTo>
                  <a:cubicBezTo>
                    <a:pt x="39" y="24"/>
                    <a:pt x="41" y="23"/>
                    <a:pt x="41" y="21"/>
                  </a:cubicBezTo>
                  <a:cubicBezTo>
                    <a:pt x="41" y="20"/>
                    <a:pt x="39" y="19"/>
                    <a:pt x="38" y="19"/>
                  </a:cubicBezTo>
                  <a:cubicBezTo>
                    <a:pt x="37" y="19"/>
                    <a:pt x="37" y="19"/>
                    <a:pt x="37" y="19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7" y="17"/>
                    <a:pt x="36" y="15"/>
                    <a:pt x="35" y="15"/>
                  </a:cubicBezTo>
                  <a:cubicBezTo>
                    <a:pt x="33" y="15"/>
                    <a:pt x="32" y="17"/>
                    <a:pt x="32" y="18"/>
                  </a:cubicBezTo>
                  <a:cubicBezTo>
                    <a:pt x="32" y="19"/>
                    <a:pt x="32" y="19"/>
                    <a:pt x="32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25" y="9"/>
                    <a:pt x="27" y="8"/>
                    <a:pt x="27" y="6"/>
                  </a:cubicBezTo>
                  <a:cubicBezTo>
                    <a:pt x="27" y="5"/>
                    <a:pt x="25" y="3"/>
                    <a:pt x="24" y="3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3" y="1"/>
                    <a:pt x="22" y="0"/>
                    <a:pt x="21" y="0"/>
                  </a:cubicBezTo>
                  <a:cubicBezTo>
                    <a:pt x="19" y="0"/>
                    <a:pt x="18" y="1"/>
                    <a:pt x="18" y="3"/>
                  </a:cubicBezTo>
                  <a:cubicBezTo>
                    <a:pt x="18" y="3"/>
                    <a:pt x="18" y="3"/>
                    <a:pt x="18" y="3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6" y="3"/>
                    <a:pt x="14" y="5"/>
                    <a:pt x="14" y="6"/>
                  </a:cubicBezTo>
                  <a:cubicBezTo>
                    <a:pt x="14" y="8"/>
                    <a:pt x="16" y="9"/>
                    <a:pt x="17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17"/>
                    <a:pt x="8" y="15"/>
                    <a:pt x="7" y="15"/>
                  </a:cubicBezTo>
                  <a:cubicBezTo>
                    <a:pt x="5" y="15"/>
                    <a:pt x="4" y="17"/>
                    <a:pt x="4" y="18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2" y="19"/>
                    <a:pt x="0" y="20"/>
                    <a:pt x="0" y="21"/>
                  </a:cubicBezTo>
                  <a:cubicBezTo>
                    <a:pt x="0" y="23"/>
                    <a:pt x="2" y="24"/>
                    <a:pt x="4" y="24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4" y="26"/>
                    <a:pt x="5" y="28"/>
                    <a:pt x="7" y="28"/>
                  </a:cubicBezTo>
                  <a:cubicBezTo>
                    <a:pt x="8" y="28"/>
                    <a:pt x="10" y="26"/>
                    <a:pt x="10" y="25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8" y="24"/>
                    <a:pt x="18" y="24"/>
                    <a:pt x="18" y="24"/>
                  </a:cubicBezTo>
                  <a:cubicBezTo>
                    <a:pt x="18" y="26"/>
                    <a:pt x="18" y="26"/>
                    <a:pt x="18" y="26"/>
                  </a:cubicBezTo>
                  <a:close/>
                </a:path>
              </a:pathLst>
            </a:custGeom>
            <a:solidFill>
              <a:srgbClr val="E2231A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" name="Freeform 12"/>
            <p:cNvSpPr>
              <a:spLocks noEditPoints="1"/>
            </p:cNvSpPr>
            <p:nvPr userDrawn="1"/>
          </p:nvSpPr>
          <p:spPr bwMode="auto">
            <a:xfrm>
              <a:off x="4661" y="504"/>
              <a:ext cx="34" cy="32"/>
            </a:xfrm>
            <a:custGeom>
              <a:avLst/>
              <a:gdLst>
                <a:gd name="T0" fmla="*/ 20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6 w 34"/>
                <a:gd name="T7" fmla="*/ 32 h 32"/>
                <a:gd name="T8" fmla="*/ 10 w 34"/>
                <a:gd name="T9" fmla="*/ 26 h 32"/>
                <a:gd name="T10" fmla="*/ 26 w 34"/>
                <a:gd name="T11" fmla="*/ 26 h 32"/>
                <a:gd name="T12" fmla="*/ 30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20 w 34"/>
                <a:gd name="T19" fmla="*/ 0 h 32"/>
                <a:gd name="T20" fmla="*/ 20 w 34"/>
                <a:gd name="T21" fmla="*/ 0 h 32"/>
                <a:gd name="T22" fmla="*/ 24 w 34"/>
                <a:gd name="T23" fmla="*/ 20 h 32"/>
                <a:gd name="T24" fmla="*/ 12 w 34"/>
                <a:gd name="T25" fmla="*/ 20 h 32"/>
                <a:gd name="T26" fmla="*/ 18 w 34"/>
                <a:gd name="T27" fmla="*/ 6 h 32"/>
                <a:gd name="T28" fmla="*/ 24 w 34"/>
                <a:gd name="T29" fmla="*/ 20 h 32"/>
                <a:gd name="T30" fmla="*/ 24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20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10" y="26"/>
                  </a:lnTo>
                  <a:lnTo>
                    <a:pt x="26" y="26"/>
                  </a:lnTo>
                  <a:lnTo>
                    <a:pt x="30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20" y="0"/>
                  </a:lnTo>
                  <a:close/>
                  <a:moveTo>
                    <a:pt x="24" y="20"/>
                  </a:moveTo>
                  <a:lnTo>
                    <a:pt x="12" y="20"/>
                  </a:lnTo>
                  <a:lnTo>
                    <a:pt x="18" y="6"/>
                  </a:lnTo>
                  <a:lnTo>
                    <a:pt x="24" y="20"/>
                  </a:lnTo>
                  <a:lnTo>
                    <a:pt x="24" y="20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" name="Freeform 13"/>
            <p:cNvSpPr>
              <a:spLocks/>
            </p:cNvSpPr>
            <p:nvPr userDrawn="1"/>
          </p:nvSpPr>
          <p:spPr bwMode="auto">
            <a:xfrm>
              <a:off x="4697" y="504"/>
              <a:ext cx="28" cy="32"/>
            </a:xfrm>
            <a:custGeom>
              <a:avLst/>
              <a:gdLst>
                <a:gd name="T0" fmla="*/ 11 w 14"/>
                <a:gd name="T1" fmla="*/ 9 h 16"/>
                <a:gd name="T2" fmla="*/ 7 w 14"/>
                <a:gd name="T3" fmla="*/ 14 h 16"/>
                <a:gd name="T4" fmla="*/ 3 w 14"/>
                <a:gd name="T5" fmla="*/ 9 h 16"/>
                <a:gd name="T6" fmla="*/ 3 w 14"/>
                <a:gd name="T7" fmla="*/ 0 h 16"/>
                <a:gd name="T8" fmla="*/ 0 w 14"/>
                <a:gd name="T9" fmla="*/ 0 h 16"/>
                <a:gd name="T10" fmla="*/ 0 w 14"/>
                <a:gd name="T11" fmla="*/ 9 h 16"/>
                <a:gd name="T12" fmla="*/ 7 w 14"/>
                <a:gd name="T13" fmla="*/ 16 h 16"/>
                <a:gd name="T14" fmla="*/ 14 w 14"/>
                <a:gd name="T15" fmla="*/ 9 h 16"/>
                <a:gd name="T16" fmla="*/ 14 w 14"/>
                <a:gd name="T17" fmla="*/ 0 h 16"/>
                <a:gd name="T18" fmla="*/ 11 w 14"/>
                <a:gd name="T19" fmla="*/ 0 h 16"/>
                <a:gd name="T20" fmla="*/ 11 w 14"/>
                <a:gd name="T21" fmla="*/ 9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" h="16">
                  <a:moveTo>
                    <a:pt x="11" y="9"/>
                  </a:moveTo>
                  <a:cubicBezTo>
                    <a:pt x="11" y="12"/>
                    <a:pt x="9" y="14"/>
                    <a:pt x="7" y="14"/>
                  </a:cubicBezTo>
                  <a:cubicBezTo>
                    <a:pt x="5" y="14"/>
                    <a:pt x="3" y="12"/>
                    <a:pt x="3" y="9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4" y="16"/>
                    <a:pt x="7" y="16"/>
                  </a:cubicBezTo>
                  <a:cubicBezTo>
                    <a:pt x="10" y="16"/>
                    <a:pt x="14" y="14"/>
                    <a:pt x="14" y="9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9"/>
                    <a:pt x="11" y="9"/>
                    <a:pt x="11" y="9"/>
                  </a:cubicBez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" name="Freeform 14"/>
            <p:cNvSpPr>
              <a:spLocks/>
            </p:cNvSpPr>
            <p:nvPr userDrawn="1"/>
          </p:nvSpPr>
          <p:spPr bwMode="auto">
            <a:xfrm>
              <a:off x="4731" y="502"/>
              <a:ext cx="26" cy="34"/>
            </a:xfrm>
            <a:custGeom>
              <a:avLst/>
              <a:gdLst>
                <a:gd name="T0" fmla="*/ 7 w 13"/>
                <a:gd name="T1" fmla="*/ 7 h 17"/>
                <a:gd name="T2" fmla="*/ 3 w 13"/>
                <a:gd name="T3" fmla="*/ 5 h 17"/>
                <a:gd name="T4" fmla="*/ 7 w 13"/>
                <a:gd name="T5" fmla="*/ 3 h 17"/>
                <a:gd name="T6" fmla="*/ 11 w 13"/>
                <a:gd name="T7" fmla="*/ 5 h 17"/>
                <a:gd name="T8" fmla="*/ 11 w 13"/>
                <a:gd name="T9" fmla="*/ 5 h 17"/>
                <a:gd name="T10" fmla="*/ 13 w 13"/>
                <a:gd name="T11" fmla="*/ 4 h 17"/>
                <a:gd name="T12" fmla="*/ 13 w 13"/>
                <a:gd name="T13" fmla="*/ 3 h 17"/>
                <a:gd name="T14" fmla="*/ 7 w 13"/>
                <a:gd name="T15" fmla="*/ 0 h 17"/>
                <a:gd name="T16" fmla="*/ 2 w 13"/>
                <a:gd name="T17" fmla="*/ 2 h 17"/>
                <a:gd name="T18" fmla="*/ 0 w 13"/>
                <a:gd name="T19" fmla="*/ 5 h 17"/>
                <a:gd name="T20" fmla="*/ 7 w 13"/>
                <a:gd name="T21" fmla="*/ 10 h 17"/>
                <a:gd name="T22" fmla="*/ 11 w 13"/>
                <a:gd name="T23" fmla="*/ 12 h 17"/>
                <a:gd name="T24" fmla="*/ 7 w 13"/>
                <a:gd name="T25" fmla="*/ 15 h 17"/>
                <a:gd name="T26" fmla="*/ 2 w 13"/>
                <a:gd name="T27" fmla="*/ 12 h 17"/>
                <a:gd name="T28" fmla="*/ 2 w 13"/>
                <a:gd name="T29" fmla="*/ 12 h 17"/>
                <a:gd name="T30" fmla="*/ 0 w 13"/>
                <a:gd name="T31" fmla="*/ 13 h 17"/>
                <a:gd name="T32" fmla="*/ 0 w 13"/>
                <a:gd name="T33" fmla="*/ 14 h 17"/>
                <a:gd name="T34" fmla="*/ 7 w 13"/>
                <a:gd name="T35" fmla="*/ 17 h 17"/>
                <a:gd name="T36" fmla="*/ 13 w 13"/>
                <a:gd name="T37" fmla="*/ 12 h 17"/>
                <a:gd name="T38" fmla="*/ 7 w 13"/>
                <a:gd name="T39" fmla="*/ 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3" h="17">
                  <a:moveTo>
                    <a:pt x="7" y="7"/>
                  </a:moveTo>
                  <a:cubicBezTo>
                    <a:pt x="5" y="7"/>
                    <a:pt x="3" y="6"/>
                    <a:pt x="3" y="5"/>
                  </a:cubicBezTo>
                  <a:cubicBezTo>
                    <a:pt x="3" y="4"/>
                    <a:pt x="5" y="3"/>
                    <a:pt x="7" y="3"/>
                  </a:cubicBezTo>
                  <a:cubicBezTo>
                    <a:pt x="9" y="3"/>
                    <a:pt x="10" y="3"/>
                    <a:pt x="11" y="5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2" y="1"/>
                    <a:pt x="10" y="0"/>
                    <a:pt x="7" y="0"/>
                  </a:cubicBezTo>
                  <a:cubicBezTo>
                    <a:pt x="5" y="0"/>
                    <a:pt x="3" y="1"/>
                    <a:pt x="2" y="2"/>
                  </a:cubicBezTo>
                  <a:cubicBezTo>
                    <a:pt x="1" y="3"/>
                    <a:pt x="0" y="4"/>
                    <a:pt x="0" y="5"/>
                  </a:cubicBezTo>
                  <a:cubicBezTo>
                    <a:pt x="0" y="9"/>
                    <a:pt x="4" y="9"/>
                    <a:pt x="7" y="10"/>
                  </a:cubicBezTo>
                  <a:cubicBezTo>
                    <a:pt x="9" y="10"/>
                    <a:pt x="11" y="11"/>
                    <a:pt x="11" y="12"/>
                  </a:cubicBezTo>
                  <a:cubicBezTo>
                    <a:pt x="11" y="15"/>
                    <a:pt x="8" y="15"/>
                    <a:pt x="7" y="15"/>
                  </a:cubicBezTo>
                  <a:cubicBezTo>
                    <a:pt x="5" y="15"/>
                    <a:pt x="3" y="14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" y="16"/>
                    <a:pt x="3" y="17"/>
                    <a:pt x="7" y="17"/>
                  </a:cubicBezTo>
                  <a:cubicBezTo>
                    <a:pt x="10" y="17"/>
                    <a:pt x="13" y="16"/>
                    <a:pt x="13" y="12"/>
                  </a:cubicBezTo>
                  <a:cubicBezTo>
                    <a:pt x="13" y="9"/>
                    <a:pt x="10" y="8"/>
                    <a:pt x="7" y="7"/>
                  </a:cubicBez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" name="Freeform 15"/>
            <p:cNvSpPr>
              <a:spLocks/>
            </p:cNvSpPr>
            <p:nvPr userDrawn="1"/>
          </p:nvSpPr>
          <p:spPr bwMode="auto">
            <a:xfrm>
              <a:off x="4761" y="504"/>
              <a:ext cx="26" cy="32"/>
            </a:xfrm>
            <a:custGeom>
              <a:avLst/>
              <a:gdLst>
                <a:gd name="T0" fmla="*/ 0 w 26"/>
                <a:gd name="T1" fmla="*/ 4 h 32"/>
                <a:gd name="T2" fmla="*/ 10 w 26"/>
                <a:gd name="T3" fmla="*/ 4 h 32"/>
                <a:gd name="T4" fmla="*/ 10 w 26"/>
                <a:gd name="T5" fmla="*/ 32 h 32"/>
                <a:gd name="T6" fmla="*/ 16 w 26"/>
                <a:gd name="T7" fmla="*/ 32 h 32"/>
                <a:gd name="T8" fmla="*/ 16 w 26"/>
                <a:gd name="T9" fmla="*/ 4 h 32"/>
                <a:gd name="T10" fmla="*/ 26 w 26"/>
                <a:gd name="T11" fmla="*/ 4 h 32"/>
                <a:gd name="T12" fmla="*/ 26 w 26"/>
                <a:gd name="T13" fmla="*/ 0 h 32"/>
                <a:gd name="T14" fmla="*/ 0 w 26"/>
                <a:gd name="T15" fmla="*/ 0 h 32"/>
                <a:gd name="T16" fmla="*/ 0 w 26"/>
                <a:gd name="T17" fmla="*/ 4 h 32"/>
                <a:gd name="T18" fmla="*/ 0 w 26"/>
                <a:gd name="T19" fmla="*/ 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" h="32">
                  <a:moveTo>
                    <a:pt x="0" y="4"/>
                  </a:moveTo>
                  <a:lnTo>
                    <a:pt x="10" y="4"/>
                  </a:lnTo>
                  <a:lnTo>
                    <a:pt x="10" y="32"/>
                  </a:lnTo>
                  <a:lnTo>
                    <a:pt x="16" y="32"/>
                  </a:lnTo>
                  <a:lnTo>
                    <a:pt x="16" y="4"/>
                  </a:lnTo>
                  <a:lnTo>
                    <a:pt x="26" y="4"/>
                  </a:lnTo>
                  <a:lnTo>
                    <a:pt x="26" y="0"/>
                  </a:lnTo>
                  <a:lnTo>
                    <a:pt x="0" y="0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" name="Freeform 16"/>
            <p:cNvSpPr>
              <a:spLocks noEditPoints="1"/>
            </p:cNvSpPr>
            <p:nvPr userDrawn="1"/>
          </p:nvSpPr>
          <p:spPr bwMode="auto">
            <a:xfrm>
              <a:off x="4793" y="504"/>
              <a:ext cx="28" cy="32"/>
            </a:xfrm>
            <a:custGeom>
              <a:avLst/>
              <a:gdLst>
                <a:gd name="T0" fmla="*/ 13 w 14"/>
                <a:gd name="T1" fmla="*/ 5 h 16"/>
                <a:gd name="T2" fmla="*/ 7 w 14"/>
                <a:gd name="T3" fmla="*/ 0 h 16"/>
                <a:gd name="T4" fmla="*/ 0 w 14"/>
                <a:gd name="T5" fmla="*/ 0 h 16"/>
                <a:gd name="T6" fmla="*/ 0 w 14"/>
                <a:gd name="T7" fmla="*/ 16 h 16"/>
                <a:gd name="T8" fmla="*/ 2 w 14"/>
                <a:gd name="T9" fmla="*/ 16 h 16"/>
                <a:gd name="T10" fmla="*/ 2 w 14"/>
                <a:gd name="T11" fmla="*/ 10 h 16"/>
                <a:gd name="T12" fmla="*/ 6 w 14"/>
                <a:gd name="T13" fmla="*/ 10 h 16"/>
                <a:gd name="T14" fmla="*/ 10 w 14"/>
                <a:gd name="T15" fmla="*/ 16 h 16"/>
                <a:gd name="T16" fmla="*/ 14 w 14"/>
                <a:gd name="T17" fmla="*/ 16 h 16"/>
                <a:gd name="T18" fmla="*/ 8 w 14"/>
                <a:gd name="T19" fmla="*/ 10 h 16"/>
                <a:gd name="T20" fmla="*/ 13 w 14"/>
                <a:gd name="T21" fmla="*/ 5 h 16"/>
                <a:gd name="T22" fmla="*/ 2 w 14"/>
                <a:gd name="T23" fmla="*/ 2 h 16"/>
                <a:gd name="T24" fmla="*/ 7 w 14"/>
                <a:gd name="T25" fmla="*/ 2 h 16"/>
                <a:gd name="T26" fmla="*/ 10 w 14"/>
                <a:gd name="T27" fmla="*/ 5 h 16"/>
                <a:gd name="T28" fmla="*/ 7 w 14"/>
                <a:gd name="T29" fmla="*/ 8 h 16"/>
                <a:gd name="T30" fmla="*/ 2 w 14"/>
                <a:gd name="T31" fmla="*/ 8 h 16"/>
                <a:gd name="T32" fmla="*/ 2 w 14"/>
                <a:gd name="T33" fmla="*/ 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4" h="16">
                  <a:moveTo>
                    <a:pt x="13" y="5"/>
                  </a:moveTo>
                  <a:cubicBezTo>
                    <a:pt x="13" y="2"/>
                    <a:pt x="11" y="0"/>
                    <a:pt x="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8" y="10"/>
                    <a:pt x="8" y="10"/>
                    <a:pt x="8" y="10"/>
                  </a:cubicBezTo>
                  <a:cubicBezTo>
                    <a:pt x="11" y="10"/>
                    <a:pt x="13" y="8"/>
                    <a:pt x="13" y="5"/>
                  </a:cubicBezTo>
                  <a:close/>
                  <a:moveTo>
                    <a:pt x="2" y="2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9" y="2"/>
                    <a:pt x="10" y="4"/>
                    <a:pt x="10" y="5"/>
                  </a:cubicBezTo>
                  <a:cubicBezTo>
                    <a:pt x="10" y="6"/>
                    <a:pt x="9" y="8"/>
                    <a:pt x="7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2"/>
                    <a:pt x="2" y="2"/>
                    <a:pt x="2" y="2"/>
                  </a:cubicBez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" name="Freeform 17"/>
            <p:cNvSpPr>
              <a:spLocks noEditPoints="1"/>
            </p:cNvSpPr>
            <p:nvPr userDrawn="1"/>
          </p:nvSpPr>
          <p:spPr bwMode="auto">
            <a:xfrm>
              <a:off x="4823" y="504"/>
              <a:ext cx="34" cy="32"/>
            </a:xfrm>
            <a:custGeom>
              <a:avLst/>
              <a:gdLst>
                <a:gd name="T0" fmla="*/ 18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4 w 34"/>
                <a:gd name="T7" fmla="*/ 32 h 32"/>
                <a:gd name="T8" fmla="*/ 8 w 34"/>
                <a:gd name="T9" fmla="*/ 26 h 32"/>
                <a:gd name="T10" fmla="*/ 24 w 34"/>
                <a:gd name="T11" fmla="*/ 26 h 32"/>
                <a:gd name="T12" fmla="*/ 28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18 w 34"/>
                <a:gd name="T19" fmla="*/ 0 h 32"/>
                <a:gd name="T20" fmla="*/ 18 w 34"/>
                <a:gd name="T21" fmla="*/ 0 h 32"/>
                <a:gd name="T22" fmla="*/ 22 w 34"/>
                <a:gd name="T23" fmla="*/ 20 h 32"/>
                <a:gd name="T24" fmla="*/ 10 w 34"/>
                <a:gd name="T25" fmla="*/ 20 h 32"/>
                <a:gd name="T26" fmla="*/ 16 w 34"/>
                <a:gd name="T27" fmla="*/ 6 h 32"/>
                <a:gd name="T28" fmla="*/ 22 w 34"/>
                <a:gd name="T29" fmla="*/ 20 h 32"/>
                <a:gd name="T30" fmla="*/ 22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18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8" y="26"/>
                  </a:lnTo>
                  <a:lnTo>
                    <a:pt x="24" y="26"/>
                  </a:lnTo>
                  <a:lnTo>
                    <a:pt x="28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18" y="0"/>
                  </a:lnTo>
                  <a:lnTo>
                    <a:pt x="18" y="0"/>
                  </a:lnTo>
                  <a:close/>
                  <a:moveTo>
                    <a:pt x="22" y="20"/>
                  </a:moveTo>
                  <a:lnTo>
                    <a:pt x="10" y="20"/>
                  </a:lnTo>
                  <a:lnTo>
                    <a:pt x="16" y="6"/>
                  </a:lnTo>
                  <a:lnTo>
                    <a:pt x="22" y="20"/>
                  </a:lnTo>
                  <a:lnTo>
                    <a:pt x="22" y="20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" name="Freeform 18"/>
            <p:cNvSpPr>
              <a:spLocks/>
            </p:cNvSpPr>
            <p:nvPr userDrawn="1"/>
          </p:nvSpPr>
          <p:spPr bwMode="auto">
            <a:xfrm>
              <a:off x="4861" y="504"/>
              <a:ext cx="22" cy="32"/>
            </a:xfrm>
            <a:custGeom>
              <a:avLst/>
              <a:gdLst>
                <a:gd name="T0" fmla="*/ 6 w 22"/>
                <a:gd name="T1" fmla="*/ 0 h 32"/>
                <a:gd name="T2" fmla="*/ 0 w 22"/>
                <a:gd name="T3" fmla="*/ 0 h 32"/>
                <a:gd name="T4" fmla="*/ 0 w 22"/>
                <a:gd name="T5" fmla="*/ 32 h 32"/>
                <a:gd name="T6" fmla="*/ 22 w 22"/>
                <a:gd name="T7" fmla="*/ 32 h 32"/>
                <a:gd name="T8" fmla="*/ 22 w 22"/>
                <a:gd name="T9" fmla="*/ 28 h 32"/>
                <a:gd name="T10" fmla="*/ 6 w 22"/>
                <a:gd name="T11" fmla="*/ 28 h 32"/>
                <a:gd name="T12" fmla="*/ 6 w 22"/>
                <a:gd name="T13" fmla="*/ 0 h 32"/>
                <a:gd name="T14" fmla="*/ 6 w 22"/>
                <a:gd name="T1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" h="32">
                  <a:moveTo>
                    <a:pt x="6" y="0"/>
                  </a:moveTo>
                  <a:lnTo>
                    <a:pt x="0" y="0"/>
                  </a:lnTo>
                  <a:lnTo>
                    <a:pt x="0" y="32"/>
                  </a:lnTo>
                  <a:lnTo>
                    <a:pt x="22" y="32"/>
                  </a:lnTo>
                  <a:lnTo>
                    <a:pt x="22" y="28"/>
                  </a:lnTo>
                  <a:lnTo>
                    <a:pt x="6" y="28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" name="Freeform 19"/>
            <p:cNvSpPr>
              <a:spLocks/>
            </p:cNvSpPr>
            <p:nvPr userDrawn="1"/>
          </p:nvSpPr>
          <p:spPr bwMode="auto">
            <a:xfrm>
              <a:off x="4889" y="504"/>
              <a:ext cx="4" cy="32"/>
            </a:xfrm>
            <a:custGeom>
              <a:avLst/>
              <a:gdLst>
                <a:gd name="T0" fmla="*/ 0 w 4"/>
                <a:gd name="T1" fmla="*/ 32 h 32"/>
                <a:gd name="T2" fmla="*/ 4 w 4"/>
                <a:gd name="T3" fmla="*/ 32 h 32"/>
                <a:gd name="T4" fmla="*/ 4 w 4"/>
                <a:gd name="T5" fmla="*/ 0 h 32"/>
                <a:gd name="T6" fmla="*/ 0 w 4"/>
                <a:gd name="T7" fmla="*/ 0 h 32"/>
                <a:gd name="T8" fmla="*/ 0 w 4"/>
                <a:gd name="T9" fmla="*/ 32 h 32"/>
                <a:gd name="T10" fmla="*/ 0 w 4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32">
                  <a:moveTo>
                    <a:pt x="0" y="32"/>
                  </a:moveTo>
                  <a:lnTo>
                    <a:pt x="4" y="32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" name="Freeform 20"/>
            <p:cNvSpPr>
              <a:spLocks noEditPoints="1"/>
            </p:cNvSpPr>
            <p:nvPr userDrawn="1"/>
          </p:nvSpPr>
          <p:spPr bwMode="auto">
            <a:xfrm>
              <a:off x="4899" y="504"/>
              <a:ext cx="34" cy="32"/>
            </a:xfrm>
            <a:custGeom>
              <a:avLst/>
              <a:gdLst>
                <a:gd name="T0" fmla="*/ 20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6 w 34"/>
                <a:gd name="T7" fmla="*/ 32 h 32"/>
                <a:gd name="T8" fmla="*/ 8 w 34"/>
                <a:gd name="T9" fmla="*/ 26 h 32"/>
                <a:gd name="T10" fmla="*/ 26 w 34"/>
                <a:gd name="T11" fmla="*/ 26 h 32"/>
                <a:gd name="T12" fmla="*/ 28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20 w 34"/>
                <a:gd name="T19" fmla="*/ 0 h 32"/>
                <a:gd name="T20" fmla="*/ 20 w 34"/>
                <a:gd name="T21" fmla="*/ 0 h 32"/>
                <a:gd name="T22" fmla="*/ 24 w 34"/>
                <a:gd name="T23" fmla="*/ 20 h 32"/>
                <a:gd name="T24" fmla="*/ 10 w 34"/>
                <a:gd name="T25" fmla="*/ 20 h 32"/>
                <a:gd name="T26" fmla="*/ 18 w 34"/>
                <a:gd name="T27" fmla="*/ 6 h 32"/>
                <a:gd name="T28" fmla="*/ 24 w 34"/>
                <a:gd name="T29" fmla="*/ 20 h 32"/>
                <a:gd name="T30" fmla="*/ 24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20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8" y="26"/>
                  </a:lnTo>
                  <a:lnTo>
                    <a:pt x="26" y="26"/>
                  </a:lnTo>
                  <a:lnTo>
                    <a:pt x="28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20" y="0"/>
                  </a:lnTo>
                  <a:close/>
                  <a:moveTo>
                    <a:pt x="24" y="20"/>
                  </a:moveTo>
                  <a:lnTo>
                    <a:pt x="10" y="20"/>
                  </a:lnTo>
                  <a:lnTo>
                    <a:pt x="18" y="6"/>
                  </a:lnTo>
                  <a:lnTo>
                    <a:pt x="24" y="20"/>
                  </a:lnTo>
                  <a:lnTo>
                    <a:pt x="24" y="20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" name="Freeform 21"/>
            <p:cNvSpPr>
              <a:spLocks/>
            </p:cNvSpPr>
            <p:nvPr userDrawn="1"/>
          </p:nvSpPr>
          <p:spPr bwMode="auto">
            <a:xfrm>
              <a:off x="4939" y="504"/>
              <a:ext cx="26" cy="32"/>
            </a:xfrm>
            <a:custGeom>
              <a:avLst/>
              <a:gdLst>
                <a:gd name="T0" fmla="*/ 22 w 26"/>
                <a:gd name="T1" fmla="*/ 22 h 32"/>
                <a:gd name="T2" fmla="*/ 2 w 26"/>
                <a:gd name="T3" fmla="*/ 0 h 32"/>
                <a:gd name="T4" fmla="*/ 0 w 26"/>
                <a:gd name="T5" fmla="*/ 0 h 32"/>
                <a:gd name="T6" fmla="*/ 0 w 26"/>
                <a:gd name="T7" fmla="*/ 32 h 32"/>
                <a:gd name="T8" fmla="*/ 4 w 26"/>
                <a:gd name="T9" fmla="*/ 32 h 32"/>
                <a:gd name="T10" fmla="*/ 4 w 26"/>
                <a:gd name="T11" fmla="*/ 10 h 32"/>
                <a:gd name="T12" fmla="*/ 22 w 26"/>
                <a:gd name="T13" fmla="*/ 32 h 32"/>
                <a:gd name="T14" fmla="*/ 26 w 26"/>
                <a:gd name="T15" fmla="*/ 32 h 32"/>
                <a:gd name="T16" fmla="*/ 26 w 26"/>
                <a:gd name="T17" fmla="*/ 0 h 32"/>
                <a:gd name="T18" fmla="*/ 22 w 26"/>
                <a:gd name="T19" fmla="*/ 0 h 32"/>
                <a:gd name="T20" fmla="*/ 22 w 26"/>
                <a:gd name="T21" fmla="*/ 22 h 32"/>
                <a:gd name="T22" fmla="*/ 22 w 26"/>
                <a:gd name="T23" fmla="*/ 2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6" h="32">
                  <a:moveTo>
                    <a:pt x="22" y="22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4" y="10"/>
                  </a:lnTo>
                  <a:lnTo>
                    <a:pt x="22" y="32"/>
                  </a:lnTo>
                  <a:lnTo>
                    <a:pt x="26" y="32"/>
                  </a:lnTo>
                  <a:lnTo>
                    <a:pt x="26" y="0"/>
                  </a:lnTo>
                  <a:lnTo>
                    <a:pt x="22" y="0"/>
                  </a:lnTo>
                  <a:lnTo>
                    <a:pt x="22" y="22"/>
                  </a:lnTo>
                  <a:lnTo>
                    <a:pt x="22" y="22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" name="Freeform 22"/>
            <p:cNvSpPr>
              <a:spLocks/>
            </p:cNvSpPr>
            <p:nvPr userDrawn="1"/>
          </p:nvSpPr>
          <p:spPr bwMode="auto">
            <a:xfrm>
              <a:off x="4989" y="502"/>
              <a:ext cx="30" cy="34"/>
            </a:xfrm>
            <a:custGeom>
              <a:avLst/>
              <a:gdLst>
                <a:gd name="T0" fmla="*/ 13 w 15"/>
                <a:gd name="T1" fmla="*/ 13 h 17"/>
                <a:gd name="T2" fmla="*/ 9 w 15"/>
                <a:gd name="T3" fmla="*/ 15 h 17"/>
                <a:gd name="T4" fmla="*/ 3 w 15"/>
                <a:gd name="T5" fmla="*/ 9 h 17"/>
                <a:gd name="T6" fmla="*/ 9 w 15"/>
                <a:gd name="T7" fmla="*/ 3 h 17"/>
                <a:gd name="T8" fmla="*/ 13 w 15"/>
                <a:gd name="T9" fmla="*/ 5 h 17"/>
                <a:gd name="T10" fmla="*/ 13 w 15"/>
                <a:gd name="T11" fmla="*/ 5 h 17"/>
                <a:gd name="T12" fmla="*/ 15 w 15"/>
                <a:gd name="T13" fmla="*/ 3 h 17"/>
                <a:gd name="T14" fmla="*/ 15 w 15"/>
                <a:gd name="T15" fmla="*/ 3 h 17"/>
                <a:gd name="T16" fmla="*/ 9 w 15"/>
                <a:gd name="T17" fmla="*/ 0 h 17"/>
                <a:gd name="T18" fmla="*/ 2 w 15"/>
                <a:gd name="T19" fmla="*/ 3 h 17"/>
                <a:gd name="T20" fmla="*/ 0 w 15"/>
                <a:gd name="T21" fmla="*/ 9 h 17"/>
                <a:gd name="T22" fmla="*/ 9 w 15"/>
                <a:gd name="T23" fmla="*/ 17 h 17"/>
                <a:gd name="T24" fmla="*/ 15 w 15"/>
                <a:gd name="T25" fmla="*/ 15 h 17"/>
                <a:gd name="T26" fmla="*/ 15 w 15"/>
                <a:gd name="T27" fmla="*/ 15 h 17"/>
                <a:gd name="T28" fmla="*/ 13 w 15"/>
                <a:gd name="T29" fmla="*/ 13 h 17"/>
                <a:gd name="T30" fmla="*/ 13 w 15"/>
                <a:gd name="T31" fmla="*/ 13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" h="17">
                  <a:moveTo>
                    <a:pt x="13" y="13"/>
                  </a:moveTo>
                  <a:cubicBezTo>
                    <a:pt x="12" y="14"/>
                    <a:pt x="10" y="15"/>
                    <a:pt x="9" y="15"/>
                  </a:cubicBezTo>
                  <a:cubicBezTo>
                    <a:pt x="4" y="15"/>
                    <a:pt x="3" y="12"/>
                    <a:pt x="3" y="9"/>
                  </a:cubicBezTo>
                  <a:cubicBezTo>
                    <a:pt x="3" y="6"/>
                    <a:pt x="4" y="3"/>
                    <a:pt x="9" y="3"/>
                  </a:cubicBezTo>
                  <a:cubicBezTo>
                    <a:pt x="10" y="3"/>
                    <a:pt x="12" y="3"/>
                    <a:pt x="13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3" y="1"/>
                    <a:pt x="11" y="0"/>
                    <a:pt x="9" y="0"/>
                  </a:cubicBezTo>
                  <a:cubicBezTo>
                    <a:pt x="6" y="0"/>
                    <a:pt x="4" y="1"/>
                    <a:pt x="2" y="3"/>
                  </a:cubicBezTo>
                  <a:cubicBezTo>
                    <a:pt x="1" y="4"/>
                    <a:pt x="0" y="7"/>
                    <a:pt x="0" y="9"/>
                  </a:cubicBezTo>
                  <a:cubicBezTo>
                    <a:pt x="0" y="13"/>
                    <a:pt x="3" y="17"/>
                    <a:pt x="9" y="17"/>
                  </a:cubicBezTo>
                  <a:cubicBezTo>
                    <a:pt x="11" y="17"/>
                    <a:pt x="13" y="16"/>
                    <a:pt x="15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" name="Freeform 23"/>
            <p:cNvSpPr>
              <a:spLocks noEditPoints="1"/>
            </p:cNvSpPr>
            <p:nvPr userDrawn="1"/>
          </p:nvSpPr>
          <p:spPr bwMode="auto">
            <a:xfrm>
              <a:off x="5021" y="504"/>
              <a:ext cx="34" cy="32"/>
            </a:xfrm>
            <a:custGeom>
              <a:avLst/>
              <a:gdLst>
                <a:gd name="T0" fmla="*/ 20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6 w 34"/>
                <a:gd name="T7" fmla="*/ 32 h 32"/>
                <a:gd name="T8" fmla="*/ 8 w 34"/>
                <a:gd name="T9" fmla="*/ 26 h 32"/>
                <a:gd name="T10" fmla="*/ 26 w 34"/>
                <a:gd name="T11" fmla="*/ 26 h 32"/>
                <a:gd name="T12" fmla="*/ 28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20 w 34"/>
                <a:gd name="T19" fmla="*/ 0 h 32"/>
                <a:gd name="T20" fmla="*/ 20 w 34"/>
                <a:gd name="T21" fmla="*/ 0 h 32"/>
                <a:gd name="T22" fmla="*/ 24 w 34"/>
                <a:gd name="T23" fmla="*/ 20 h 32"/>
                <a:gd name="T24" fmla="*/ 10 w 34"/>
                <a:gd name="T25" fmla="*/ 20 h 32"/>
                <a:gd name="T26" fmla="*/ 16 w 34"/>
                <a:gd name="T27" fmla="*/ 6 h 32"/>
                <a:gd name="T28" fmla="*/ 24 w 34"/>
                <a:gd name="T29" fmla="*/ 20 h 32"/>
                <a:gd name="T30" fmla="*/ 24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20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8" y="26"/>
                  </a:lnTo>
                  <a:lnTo>
                    <a:pt x="26" y="26"/>
                  </a:lnTo>
                  <a:lnTo>
                    <a:pt x="28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20" y="0"/>
                  </a:lnTo>
                  <a:close/>
                  <a:moveTo>
                    <a:pt x="24" y="20"/>
                  </a:moveTo>
                  <a:lnTo>
                    <a:pt x="10" y="20"/>
                  </a:lnTo>
                  <a:lnTo>
                    <a:pt x="16" y="6"/>
                  </a:lnTo>
                  <a:lnTo>
                    <a:pt x="24" y="20"/>
                  </a:lnTo>
                  <a:lnTo>
                    <a:pt x="24" y="20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" name="Freeform 24"/>
            <p:cNvSpPr>
              <a:spLocks/>
            </p:cNvSpPr>
            <p:nvPr userDrawn="1"/>
          </p:nvSpPr>
          <p:spPr bwMode="auto">
            <a:xfrm>
              <a:off x="5053" y="504"/>
              <a:ext cx="28" cy="32"/>
            </a:xfrm>
            <a:custGeom>
              <a:avLst/>
              <a:gdLst>
                <a:gd name="T0" fmla="*/ 0 w 28"/>
                <a:gd name="T1" fmla="*/ 4 h 32"/>
                <a:gd name="T2" fmla="*/ 12 w 28"/>
                <a:gd name="T3" fmla="*/ 4 h 32"/>
                <a:gd name="T4" fmla="*/ 12 w 28"/>
                <a:gd name="T5" fmla="*/ 32 h 32"/>
                <a:gd name="T6" fmla="*/ 16 w 28"/>
                <a:gd name="T7" fmla="*/ 32 h 32"/>
                <a:gd name="T8" fmla="*/ 16 w 28"/>
                <a:gd name="T9" fmla="*/ 4 h 32"/>
                <a:gd name="T10" fmla="*/ 28 w 28"/>
                <a:gd name="T11" fmla="*/ 4 h 32"/>
                <a:gd name="T12" fmla="*/ 28 w 28"/>
                <a:gd name="T13" fmla="*/ 0 h 32"/>
                <a:gd name="T14" fmla="*/ 0 w 28"/>
                <a:gd name="T15" fmla="*/ 0 h 32"/>
                <a:gd name="T16" fmla="*/ 0 w 28"/>
                <a:gd name="T17" fmla="*/ 4 h 32"/>
                <a:gd name="T18" fmla="*/ 0 w 28"/>
                <a:gd name="T19" fmla="*/ 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" h="32">
                  <a:moveTo>
                    <a:pt x="0" y="4"/>
                  </a:moveTo>
                  <a:lnTo>
                    <a:pt x="12" y="4"/>
                  </a:lnTo>
                  <a:lnTo>
                    <a:pt x="12" y="32"/>
                  </a:lnTo>
                  <a:lnTo>
                    <a:pt x="16" y="32"/>
                  </a:lnTo>
                  <a:lnTo>
                    <a:pt x="16" y="4"/>
                  </a:lnTo>
                  <a:lnTo>
                    <a:pt x="28" y="4"/>
                  </a:lnTo>
                  <a:lnTo>
                    <a:pt x="28" y="0"/>
                  </a:lnTo>
                  <a:lnTo>
                    <a:pt x="0" y="0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" name="Freeform 25"/>
            <p:cNvSpPr>
              <a:spLocks/>
            </p:cNvSpPr>
            <p:nvPr userDrawn="1"/>
          </p:nvSpPr>
          <p:spPr bwMode="auto">
            <a:xfrm>
              <a:off x="5085" y="504"/>
              <a:ext cx="28" cy="32"/>
            </a:xfrm>
            <a:custGeom>
              <a:avLst/>
              <a:gdLst>
                <a:gd name="T0" fmla="*/ 22 w 28"/>
                <a:gd name="T1" fmla="*/ 12 h 32"/>
                <a:gd name="T2" fmla="*/ 6 w 28"/>
                <a:gd name="T3" fmla="*/ 12 h 32"/>
                <a:gd name="T4" fmla="*/ 6 w 28"/>
                <a:gd name="T5" fmla="*/ 0 h 32"/>
                <a:gd name="T6" fmla="*/ 0 w 28"/>
                <a:gd name="T7" fmla="*/ 0 h 32"/>
                <a:gd name="T8" fmla="*/ 0 w 28"/>
                <a:gd name="T9" fmla="*/ 32 h 32"/>
                <a:gd name="T10" fmla="*/ 6 w 28"/>
                <a:gd name="T11" fmla="*/ 32 h 32"/>
                <a:gd name="T12" fmla="*/ 6 w 28"/>
                <a:gd name="T13" fmla="*/ 18 h 32"/>
                <a:gd name="T14" fmla="*/ 22 w 28"/>
                <a:gd name="T15" fmla="*/ 18 h 32"/>
                <a:gd name="T16" fmla="*/ 22 w 28"/>
                <a:gd name="T17" fmla="*/ 32 h 32"/>
                <a:gd name="T18" fmla="*/ 28 w 28"/>
                <a:gd name="T19" fmla="*/ 32 h 32"/>
                <a:gd name="T20" fmla="*/ 28 w 28"/>
                <a:gd name="T21" fmla="*/ 0 h 32"/>
                <a:gd name="T22" fmla="*/ 22 w 28"/>
                <a:gd name="T23" fmla="*/ 0 h 32"/>
                <a:gd name="T24" fmla="*/ 22 w 28"/>
                <a:gd name="T25" fmla="*/ 12 h 32"/>
                <a:gd name="T26" fmla="*/ 22 w 28"/>
                <a:gd name="T27" fmla="*/ 1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" h="32">
                  <a:moveTo>
                    <a:pt x="22" y="12"/>
                  </a:moveTo>
                  <a:lnTo>
                    <a:pt x="6" y="1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6" y="18"/>
                  </a:lnTo>
                  <a:lnTo>
                    <a:pt x="22" y="18"/>
                  </a:lnTo>
                  <a:lnTo>
                    <a:pt x="22" y="32"/>
                  </a:lnTo>
                  <a:lnTo>
                    <a:pt x="28" y="32"/>
                  </a:lnTo>
                  <a:lnTo>
                    <a:pt x="28" y="0"/>
                  </a:lnTo>
                  <a:lnTo>
                    <a:pt x="22" y="0"/>
                  </a:lnTo>
                  <a:lnTo>
                    <a:pt x="22" y="12"/>
                  </a:lnTo>
                  <a:lnTo>
                    <a:pt x="22" y="12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" name="Freeform 26"/>
            <p:cNvSpPr>
              <a:spLocks noEditPoints="1"/>
            </p:cNvSpPr>
            <p:nvPr userDrawn="1"/>
          </p:nvSpPr>
          <p:spPr bwMode="auto">
            <a:xfrm>
              <a:off x="5119" y="502"/>
              <a:ext cx="32" cy="34"/>
            </a:xfrm>
            <a:custGeom>
              <a:avLst/>
              <a:gdLst>
                <a:gd name="T0" fmla="*/ 8 w 16"/>
                <a:gd name="T1" fmla="*/ 0 h 17"/>
                <a:gd name="T2" fmla="*/ 0 w 16"/>
                <a:gd name="T3" fmla="*/ 9 h 17"/>
                <a:gd name="T4" fmla="*/ 8 w 16"/>
                <a:gd name="T5" fmla="*/ 17 h 17"/>
                <a:gd name="T6" fmla="*/ 16 w 16"/>
                <a:gd name="T7" fmla="*/ 9 h 17"/>
                <a:gd name="T8" fmla="*/ 8 w 16"/>
                <a:gd name="T9" fmla="*/ 0 h 17"/>
                <a:gd name="T10" fmla="*/ 8 w 16"/>
                <a:gd name="T11" fmla="*/ 15 h 17"/>
                <a:gd name="T12" fmla="*/ 2 w 16"/>
                <a:gd name="T13" fmla="*/ 9 h 17"/>
                <a:gd name="T14" fmla="*/ 8 w 16"/>
                <a:gd name="T15" fmla="*/ 3 h 17"/>
                <a:gd name="T16" fmla="*/ 14 w 16"/>
                <a:gd name="T17" fmla="*/ 9 h 17"/>
                <a:gd name="T18" fmla="*/ 8 w 16"/>
                <a:gd name="T19" fmla="*/ 15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" h="17">
                  <a:moveTo>
                    <a:pt x="8" y="0"/>
                  </a:moveTo>
                  <a:cubicBezTo>
                    <a:pt x="3" y="0"/>
                    <a:pt x="0" y="4"/>
                    <a:pt x="0" y="9"/>
                  </a:cubicBezTo>
                  <a:cubicBezTo>
                    <a:pt x="0" y="13"/>
                    <a:pt x="2" y="17"/>
                    <a:pt x="8" y="17"/>
                  </a:cubicBezTo>
                  <a:cubicBezTo>
                    <a:pt x="14" y="17"/>
                    <a:pt x="16" y="13"/>
                    <a:pt x="16" y="9"/>
                  </a:cubicBezTo>
                  <a:cubicBezTo>
                    <a:pt x="16" y="5"/>
                    <a:pt x="14" y="0"/>
                    <a:pt x="8" y="0"/>
                  </a:cubicBezTo>
                  <a:close/>
                  <a:moveTo>
                    <a:pt x="8" y="15"/>
                  </a:moveTo>
                  <a:cubicBezTo>
                    <a:pt x="4" y="15"/>
                    <a:pt x="2" y="12"/>
                    <a:pt x="2" y="9"/>
                  </a:cubicBezTo>
                  <a:cubicBezTo>
                    <a:pt x="2" y="6"/>
                    <a:pt x="4" y="3"/>
                    <a:pt x="8" y="3"/>
                  </a:cubicBezTo>
                  <a:cubicBezTo>
                    <a:pt x="12" y="3"/>
                    <a:pt x="14" y="6"/>
                    <a:pt x="14" y="9"/>
                  </a:cubicBezTo>
                  <a:cubicBezTo>
                    <a:pt x="14" y="12"/>
                    <a:pt x="12" y="15"/>
                    <a:pt x="8" y="15"/>
                  </a:cubicBez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" name="Freeform 27"/>
            <p:cNvSpPr>
              <a:spLocks/>
            </p:cNvSpPr>
            <p:nvPr userDrawn="1"/>
          </p:nvSpPr>
          <p:spPr bwMode="auto">
            <a:xfrm>
              <a:off x="5157" y="504"/>
              <a:ext cx="22" cy="32"/>
            </a:xfrm>
            <a:custGeom>
              <a:avLst/>
              <a:gdLst>
                <a:gd name="T0" fmla="*/ 6 w 22"/>
                <a:gd name="T1" fmla="*/ 0 h 32"/>
                <a:gd name="T2" fmla="*/ 0 w 22"/>
                <a:gd name="T3" fmla="*/ 0 h 32"/>
                <a:gd name="T4" fmla="*/ 0 w 22"/>
                <a:gd name="T5" fmla="*/ 32 h 32"/>
                <a:gd name="T6" fmla="*/ 22 w 22"/>
                <a:gd name="T7" fmla="*/ 32 h 32"/>
                <a:gd name="T8" fmla="*/ 22 w 22"/>
                <a:gd name="T9" fmla="*/ 28 h 32"/>
                <a:gd name="T10" fmla="*/ 6 w 22"/>
                <a:gd name="T11" fmla="*/ 28 h 32"/>
                <a:gd name="T12" fmla="*/ 6 w 22"/>
                <a:gd name="T13" fmla="*/ 0 h 32"/>
                <a:gd name="T14" fmla="*/ 6 w 22"/>
                <a:gd name="T1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" h="32">
                  <a:moveTo>
                    <a:pt x="6" y="0"/>
                  </a:moveTo>
                  <a:lnTo>
                    <a:pt x="0" y="0"/>
                  </a:lnTo>
                  <a:lnTo>
                    <a:pt x="0" y="32"/>
                  </a:lnTo>
                  <a:lnTo>
                    <a:pt x="22" y="32"/>
                  </a:lnTo>
                  <a:lnTo>
                    <a:pt x="22" y="28"/>
                  </a:lnTo>
                  <a:lnTo>
                    <a:pt x="6" y="28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" name="Freeform 28"/>
            <p:cNvSpPr>
              <a:spLocks/>
            </p:cNvSpPr>
            <p:nvPr userDrawn="1"/>
          </p:nvSpPr>
          <p:spPr bwMode="auto">
            <a:xfrm>
              <a:off x="5185" y="504"/>
              <a:ext cx="4" cy="32"/>
            </a:xfrm>
            <a:custGeom>
              <a:avLst/>
              <a:gdLst>
                <a:gd name="T0" fmla="*/ 0 w 4"/>
                <a:gd name="T1" fmla="*/ 32 h 32"/>
                <a:gd name="T2" fmla="*/ 4 w 4"/>
                <a:gd name="T3" fmla="*/ 32 h 32"/>
                <a:gd name="T4" fmla="*/ 4 w 4"/>
                <a:gd name="T5" fmla="*/ 0 h 32"/>
                <a:gd name="T6" fmla="*/ 0 w 4"/>
                <a:gd name="T7" fmla="*/ 0 h 32"/>
                <a:gd name="T8" fmla="*/ 0 w 4"/>
                <a:gd name="T9" fmla="*/ 32 h 32"/>
                <a:gd name="T10" fmla="*/ 0 w 4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32">
                  <a:moveTo>
                    <a:pt x="0" y="32"/>
                  </a:moveTo>
                  <a:lnTo>
                    <a:pt x="4" y="32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" name="Freeform 29"/>
            <p:cNvSpPr>
              <a:spLocks/>
            </p:cNvSpPr>
            <p:nvPr userDrawn="1"/>
          </p:nvSpPr>
          <p:spPr bwMode="auto">
            <a:xfrm>
              <a:off x="5195" y="502"/>
              <a:ext cx="30" cy="34"/>
            </a:xfrm>
            <a:custGeom>
              <a:avLst/>
              <a:gdLst>
                <a:gd name="T0" fmla="*/ 13 w 15"/>
                <a:gd name="T1" fmla="*/ 13 h 17"/>
                <a:gd name="T2" fmla="*/ 9 w 15"/>
                <a:gd name="T3" fmla="*/ 15 h 17"/>
                <a:gd name="T4" fmla="*/ 3 w 15"/>
                <a:gd name="T5" fmla="*/ 9 h 17"/>
                <a:gd name="T6" fmla="*/ 9 w 15"/>
                <a:gd name="T7" fmla="*/ 3 h 17"/>
                <a:gd name="T8" fmla="*/ 13 w 15"/>
                <a:gd name="T9" fmla="*/ 5 h 17"/>
                <a:gd name="T10" fmla="*/ 13 w 15"/>
                <a:gd name="T11" fmla="*/ 5 h 17"/>
                <a:gd name="T12" fmla="*/ 15 w 15"/>
                <a:gd name="T13" fmla="*/ 3 h 17"/>
                <a:gd name="T14" fmla="*/ 15 w 15"/>
                <a:gd name="T15" fmla="*/ 3 h 17"/>
                <a:gd name="T16" fmla="*/ 9 w 15"/>
                <a:gd name="T17" fmla="*/ 0 h 17"/>
                <a:gd name="T18" fmla="*/ 3 w 15"/>
                <a:gd name="T19" fmla="*/ 3 h 17"/>
                <a:gd name="T20" fmla="*/ 0 w 15"/>
                <a:gd name="T21" fmla="*/ 9 h 17"/>
                <a:gd name="T22" fmla="*/ 9 w 15"/>
                <a:gd name="T23" fmla="*/ 17 h 17"/>
                <a:gd name="T24" fmla="*/ 15 w 15"/>
                <a:gd name="T25" fmla="*/ 15 h 17"/>
                <a:gd name="T26" fmla="*/ 15 w 15"/>
                <a:gd name="T27" fmla="*/ 15 h 17"/>
                <a:gd name="T28" fmla="*/ 13 w 15"/>
                <a:gd name="T29" fmla="*/ 13 h 17"/>
                <a:gd name="T30" fmla="*/ 13 w 15"/>
                <a:gd name="T31" fmla="*/ 13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" h="17">
                  <a:moveTo>
                    <a:pt x="13" y="13"/>
                  </a:moveTo>
                  <a:cubicBezTo>
                    <a:pt x="12" y="14"/>
                    <a:pt x="10" y="15"/>
                    <a:pt x="9" y="15"/>
                  </a:cubicBezTo>
                  <a:cubicBezTo>
                    <a:pt x="5" y="15"/>
                    <a:pt x="3" y="12"/>
                    <a:pt x="3" y="9"/>
                  </a:cubicBezTo>
                  <a:cubicBezTo>
                    <a:pt x="3" y="6"/>
                    <a:pt x="5" y="3"/>
                    <a:pt x="9" y="3"/>
                  </a:cubicBezTo>
                  <a:cubicBezTo>
                    <a:pt x="10" y="3"/>
                    <a:pt x="12" y="3"/>
                    <a:pt x="13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3" y="1"/>
                    <a:pt x="11" y="0"/>
                    <a:pt x="9" y="0"/>
                  </a:cubicBezTo>
                  <a:cubicBezTo>
                    <a:pt x="6" y="0"/>
                    <a:pt x="4" y="1"/>
                    <a:pt x="3" y="3"/>
                  </a:cubicBezTo>
                  <a:cubicBezTo>
                    <a:pt x="1" y="4"/>
                    <a:pt x="0" y="7"/>
                    <a:pt x="0" y="9"/>
                  </a:cubicBezTo>
                  <a:cubicBezTo>
                    <a:pt x="0" y="13"/>
                    <a:pt x="3" y="17"/>
                    <a:pt x="9" y="17"/>
                  </a:cubicBezTo>
                  <a:cubicBezTo>
                    <a:pt x="11" y="17"/>
                    <a:pt x="13" y="16"/>
                    <a:pt x="15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" name="Freeform 30"/>
            <p:cNvSpPr>
              <a:spLocks/>
            </p:cNvSpPr>
            <p:nvPr userDrawn="1"/>
          </p:nvSpPr>
          <p:spPr bwMode="auto">
            <a:xfrm>
              <a:off x="5247" y="504"/>
              <a:ext cx="26" cy="32"/>
            </a:xfrm>
            <a:custGeom>
              <a:avLst/>
              <a:gdLst>
                <a:gd name="T0" fmla="*/ 11 w 13"/>
                <a:gd name="T1" fmla="*/ 9 h 16"/>
                <a:gd name="T2" fmla="*/ 7 w 13"/>
                <a:gd name="T3" fmla="*/ 14 h 16"/>
                <a:gd name="T4" fmla="*/ 2 w 13"/>
                <a:gd name="T5" fmla="*/ 9 h 16"/>
                <a:gd name="T6" fmla="*/ 2 w 13"/>
                <a:gd name="T7" fmla="*/ 0 h 16"/>
                <a:gd name="T8" fmla="*/ 0 w 13"/>
                <a:gd name="T9" fmla="*/ 0 h 16"/>
                <a:gd name="T10" fmla="*/ 0 w 13"/>
                <a:gd name="T11" fmla="*/ 9 h 16"/>
                <a:gd name="T12" fmla="*/ 7 w 13"/>
                <a:gd name="T13" fmla="*/ 16 h 16"/>
                <a:gd name="T14" fmla="*/ 13 w 13"/>
                <a:gd name="T15" fmla="*/ 9 h 16"/>
                <a:gd name="T16" fmla="*/ 13 w 13"/>
                <a:gd name="T17" fmla="*/ 0 h 16"/>
                <a:gd name="T18" fmla="*/ 11 w 13"/>
                <a:gd name="T19" fmla="*/ 0 h 16"/>
                <a:gd name="T20" fmla="*/ 11 w 13"/>
                <a:gd name="T21" fmla="*/ 9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3" h="16">
                  <a:moveTo>
                    <a:pt x="11" y="9"/>
                  </a:moveTo>
                  <a:cubicBezTo>
                    <a:pt x="11" y="12"/>
                    <a:pt x="9" y="14"/>
                    <a:pt x="7" y="14"/>
                  </a:cubicBezTo>
                  <a:cubicBezTo>
                    <a:pt x="5" y="14"/>
                    <a:pt x="2" y="12"/>
                    <a:pt x="2" y="9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3" y="16"/>
                    <a:pt x="7" y="16"/>
                  </a:cubicBezTo>
                  <a:cubicBezTo>
                    <a:pt x="10" y="16"/>
                    <a:pt x="13" y="14"/>
                    <a:pt x="13" y="9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9"/>
                    <a:pt x="11" y="9"/>
                    <a:pt x="11" y="9"/>
                  </a:cubicBez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" name="Freeform 31"/>
            <p:cNvSpPr>
              <a:spLocks/>
            </p:cNvSpPr>
            <p:nvPr userDrawn="1"/>
          </p:nvSpPr>
          <p:spPr bwMode="auto">
            <a:xfrm>
              <a:off x="5283" y="504"/>
              <a:ext cx="26" cy="32"/>
            </a:xfrm>
            <a:custGeom>
              <a:avLst/>
              <a:gdLst>
                <a:gd name="T0" fmla="*/ 20 w 26"/>
                <a:gd name="T1" fmla="*/ 22 h 32"/>
                <a:gd name="T2" fmla="*/ 2 w 26"/>
                <a:gd name="T3" fmla="*/ 0 h 32"/>
                <a:gd name="T4" fmla="*/ 0 w 26"/>
                <a:gd name="T5" fmla="*/ 0 h 32"/>
                <a:gd name="T6" fmla="*/ 0 w 26"/>
                <a:gd name="T7" fmla="*/ 32 h 32"/>
                <a:gd name="T8" fmla="*/ 4 w 26"/>
                <a:gd name="T9" fmla="*/ 32 h 32"/>
                <a:gd name="T10" fmla="*/ 4 w 26"/>
                <a:gd name="T11" fmla="*/ 10 h 32"/>
                <a:gd name="T12" fmla="*/ 22 w 26"/>
                <a:gd name="T13" fmla="*/ 32 h 32"/>
                <a:gd name="T14" fmla="*/ 26 w 26"/>
                <a:gd name="T15" fmla="*/ 32 h 32"/>
                <a:gd name="T16" fmla="*/ 26 w 26"/>
                <a:gd name="T17" fmla="*/ 0 h 32"/>
                <a:gd name="T18" fmla="*/ 20 w 26"/>
                <a:gd name="T19" fmla="*/ 0 h 32"/>
                <a:gd name="T20" fmla="*/ 20 w 26"/>
                <a:gd name="T21" fmla="*/ 22 h 32"/>
                <a:gd name="T22" fmla="*/ 20 w 26"/>
                <a:gd name="T23" fmla="*/ 2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6" h="32">
                  <a:moveTo>
                    <a:pt x="20" y="22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4" y="10"/>
                  </a:lnTo>
                  <a:lnTo>
                    <a:pt x="22" y="32"/>
                  </a:lnTo>
                  <a:lnTo>
                    <a:pt x="26" y="32"/>
                  </a:lnTo>
                  <a:lnTo>
                    <a:pt x="26" y="0"/>
                  </a:lnTo>
                  <a:lnTo>
                    <a:pt x="20" y="0"/>
                  </a:lnTo>
                  <a:lnTo>
                    <a:pt x="20" y="22"/>
                  </a:lnTo>
                  <a:lnTo>
                    <a:pt x="20" y="22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" name="Freeform 32"/>
            <p:cNvSpPr>
              <a:spLocks/>
            </p:cNvSpPr>
            <p:nvPr userDrawn="1"/>
          </p:nvSpPr>
          <p:spPr bwMode="auto">
            <a:xfrm>
              <a:off x="5317" y="504"/>
              <a:ext cx="6" cy="32"/>
            </a:xfrm>
            <a:custGeom>
              <a:avLst/>
              <a:gdLst>
                <a:gd name="T0" fmla="*/ 0 w 6"/>
                <a:gd name="T1" fmla="*/ 32 h 32"/>
                <a:gd name="T2" fmla="*/ 6 w 6"/>
                <a:gd name="T3" fmla="*/ 32 h 32"/>
                <a:gd name="T4" fmla="*/ 6 w 6"/>
                <a:gd name="T5" fmla="*/ 0 h 32"/>
                <a:gd name="T6" fmla="*/ 0 w 6"/>
                <a:gd name="T7" fmla="*/ 0 h 32"/>
                <a:gd name="T8" fmla="*/ 0 w 6"/>
                <a:gd name="T9" fmla="*/ 32 h 32"/>
                <a:gd name="T10" fmla="*/ 0 w 6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32">
                  <a:moveTo>
                    <a:pt x="0" y="32"/>
                  </a:moveTo>
                  <a:lnTo>
                    <a:pt x="6" y="3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" name="Freeform 33"/>
            <p:cNvSpPr>
              <a:spLocks/>
            </p:cNvSpPr>
            <p:nvPr userDrawn="1"/>
          </p:nvSpPr>
          <p:spPr bwMode="auto">
            <a:xfrm>
              <a:off x="5329" y="504"/>
              <a:ext cx="32" cy="32"/>
            </a:xfrm>
            <a:custGeom>
              <a:avLst/>
              <a:gdLst>
                <a:gd name="T0" fmla="*/ 6 w 32"/>
                <a:gd name="T1" fmla="*/ 0 h 32"/>
                <a:gd name="T2" fmla="*/ 0 w 32"/>
                <a:gd name="T3" fmla="*/ 0 h 32"/>
                <a:gd name="T4" fmla="*/ 12 w 32"/>
                <a:gd name="T5" fmla="*/ 32 h 32"/>
                <a:gd name="T6" fmla="*/ 18 w 32"/>
                <a:gd name="T7" fmla="*/ 32 h 32"/>
                <a:gd name="T8" fmla="*/ 32 w 32"/>
                <a:gd name="T9" fmla="*/ 0 h 32"/>
                <a:gd name="T10" fmla="*/ 26 w 32"/>
                <a:gd name="T11" fmla="*/ 0 h 32"/>
                <a:gd name="T12" fmla="*/ 16 w 32"/>
                <a:gd name="T13" fmla="*/ 26 h 32"/>
                <a:gd name="T14" fmla="*/ 6 w 32"/>
                <a:gd name="T15" fmla="*/ 0 h 32"/>
                <a:gd name="T16" fmla="*/ 6 w 32"/>
                <a:gd name="T17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" h="32">
                  <a:moveTo>
                    <a:pt x="6" y="0"/>
                  </a:moveTo>
                  <a:lnTo>
                    <a:pt x="0" y="0"/>
                  </a:lnTo>
                  <a:lnTo>
                    <a:pt x="12" y="32"/>
                  </a:lnTo>
                  <a:lnTo>
                    <a:pt x="18" y="32"/>
                  </a:lnTo>
                  <a:lnTo>
                    <a:pt x="32" y="0"/>
                  </a:lnTo>
                  <a:lnTo>
                    <a:pt x="26" y="0"/>
                  </a:lnTo>
                  <a:lnTo>
                    <a:pt x="16" y="26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" name="Freeform 34"/>
            <p:cNvSpPr>
              <a:spLocks/>
            </p:cNvSpPr>
            <p:nvPr userDrawn="1"/>
          </p:nvSpPr>
          <p:spPr bwMode="auto">
            <a:xfrm>
              <a:off x="5365" y="504"/>
              <a:ext cx="24" cy="32"/>
            </a:xfrm>
            <a:custGeom>
              <a:avLst/>
              <a:gdLst>
                <a:gd name="T0" fmla="*/ 6 w 24"/>
                <a:gd name="T1" fmla="*/ 18 h 32"/>
                <a:gd name="T2" fmla="*/ 24 w 24"/>
                <a:gd name="T3" fmla="*/ 18 h 32"/>
                <a:gd name="T4" fmla="*/ 24 w 24"/>
                <a:gd name="T5" fmla="*/ 12 h 32"/>
                <a:gd name="T6" fmla="*/ 6 w 24"/>
                <a:gd name="T7" fmla="*/ 12 h 32"/>
                <a:gd name="T8" fmla="*/ 6 w 24"/>
                <a:gd name="T9" fmla="*/ 4 h 32"/>
                <a:gd name="T10" fmla="*/ 24 w 24"/>
                <a:gd name="T11" fmla="*/ 4 h 32"/>
                <a:gd name="T12" fmla="*/ 24 w 24"/>
                <a:gd name="T13" fmla="*/ 0 h 32"/>
                <a:gd name="T14" fmla="*/ 0 w 24"/>
                <a:gd name="T15" fmla="*/ 0 h 32"/>
                <a:gd name="T16" fmla="*/ 0 w 24"/>
                <a:gd name="T17" fmla="*/ 32 h 32"/>
                <a:gd name="T18" fmla="*/ 24 w 24"/>
                <a:gd name="T19" fmla="*/ 32 h 32"/>
                <a:gd name="T20" fmla="*/ 24 w 24"/>
                <a:gd name="T21" fmla="*/ 26 h 32"/>
                <a:gd name="T22" fmla="*/ 6 w 24"/>
                <a:gd name="T23" fmla="*/ 26 h 32"/>
                <a:gd name="T24" fmla="*/ 6 w 24"/>
                <a:gd name="T25" fmla="*/ 18 h 32"/>
                <a:gd name="T26" fmla="*/ 6 w 24"/>
                <a:gd name="T27" fmla="*/ 18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" h="32">
                  <a:moveTo>
                    <a:pt x="6" y="18"/>
                  </a:moveTo>
                  <a:lnTo>
                    <a:pt x="24" y="18"/>
                  </a:lnTo>
                  <a:lnTo>
                    <a:pt x="24" y="12"/>
                  </a:lnTo>
                  <a:lnTo>
                    <a:pt x="6" y="12"/>
                  </a:lnTo>
                  <a:lnTo>
                    <a:pt x="6" y="4"/>
                  </a:lnTo>
                  <a:lnTo>
                    <a:pt x="24" y="4"/>
                  </a:lnTo>
                  <a:lnTo>
                    <a:pt x="2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24" y="32"/>
                  </a:lnTo>
                  <a:lnTo>
                    <a:pt x="24" y="26"/>
                  </a:lnTo>
                  <a:lnTo>
                    <a:pt x="6" y="26"/>
                  </a:lnTo>
                  <a:lnTo>
                    <a:pt x="6" y="18"/>
                  </a:lnTo>
                  <a:lnTo>
                    <a:pt x="6" y="18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" name="Freeform 35"/>
            <p:cNvSpPr>
              <a:spLocks noEditPoints="1"/>
            </p:cNvSpPr>
            <p:nvPr userDrawn="1"/>
          </p:nvSpPr>
          <p:spPr bwMode="auto">
            <a:xfrm>
              <a:off x="5397" y="504"/>
              <a:ext cx="28" cy="32"/>
            </a:xfrm>
            <a:custGeom>
              <a:avLst/>
              <a:gdLst>
                <a:gd name="T0" fmla="*/ 13 w 14"/>
                <a:gd name="T1" fmla="*/ 5 h 16"/>
                <a:gd name="T2" fmla="*/ 7 w 14"/>
                <a:gd name="T3" fmla="*/ 0 h 16"/>
                <a:gd name="T4" fmla="*/ 0 w 14"/>
                <a:gd name="T5" fmla="*/ 0 h 16"/>
                <a:gd name="T6" fmla="*/ 0 w 14"/>
                <a:gd name="T7" fmla="*/ 16 h 16"/>
                <a:gd name="T8" fmla="*/ 2 w 14"/>
                <a:gd name="T9" fmla="*/ 16 h 16"/>
                <a:gd name="T10" fmla="*/ 2 w 14"/>
                <a:gd name="T11" fmla="*/ 10 h 16"/>
                <a:gd name="T12" fmla="*/ 6 w 14"/>
                <a:gd name="T13" fmla="*/ 10 h 16"/>
                <a:gd name="T14" fmla="*/ 11 w 14"/>
                <a:gd name="T15" fmla="*/ 16 h 16"/>
                <a:gd name="T16" fmla="*/ 14 w 14"/>
                <a:gd name="T17" fmla="*/ 16 h 16"/>
                <a:gd name="T18" fmla="*/ 9 w 14"/>
                <a:gd name="T19" fmla="*/ 10 h 16"/>
                <a:gd name="T20" fmla="*/ 13 w 14"/>
                <a:gd name="T21" fmla="*/ 5 h 16"/>
                <a:gd name="T22" fmla="*/ 2 w 14"/>
                <a:gd name="T23" fmla="*/ 2 h 16"/>
                <a:gd name="T24" fmla="*/ 7 w 14"/>
                <a:gd name="T25" fmla="*/ 2 h 16"/>
                <a:gd name="T26" fmla="*/ 10 w 14"/>
                <a:gd name="T27" fmla="*/ 5 h 16"/>
                <a:gd name="T28" fmla="*/ 7 w 14"/>
                <a:gd name="T29" fmla="*/ 8 h 16"/>
                <a:gd name="T30" fmla="*/ 2 w 14"/>
                <a:gd name="T31" fmla="*/ 8 h 16"/>
                <a:gd name="T32" fmla="*/ 2 w 14"/>
                <a:gd name="T33" fmla="*/ 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4" h="16">
                  <a:moveTo>
                    <a:pt x="13" y="5"/>
                  </a:moveTo>
                  <a:cubicBezTo>
                    <a:pt x="13" y="2"/>
                    <a:pt x="11" y="0"/>
                    <a:pt x="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11" y="10"/>
                    <a:pt x="13" y="8"/>
                    <a:pt x="13" y="5"/>
                  </a:cubicBezTo>
                  <a:close/>
                  <a:moveTo>
                    <a:pt x="2" y="2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9" y="2"/>
                    <a:pt x="10" y="4"/>
                    <a:pt x="10" y="5"/>
                  </a:cubicBezTo>
                  <a:cubicBezTo>
                    <a:pt x="10" y="6"/>
                    <a:pt x="9" y="8"/>
                    <a:pt x="7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2"/>
                    <a:pt x="2" y="2"/>
                    <a:pt x="2" y="2"/>
                  </a:cubicBez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" name="Freeform 36"/>
            <p:cNvSpPr>
              <a:spLocks/>
            </p:cNvSpPr>
            <p:nvPr userDrawn="1"/>
          </p:nvSpPr>
          <p:spPr bwMode="auto">
            <a:xfrm>
              <a:off x="5427" y="502"/>
              <a:ext cx="28" cy="34"/>
            </a:xfrm>
            <a:custGeom>
              <a:avLst/>
              <a:gdLst>
                <a:gd name="T0" fmla="*/ 8 w 14"/>
                <a:gd name="T1" fmla="*/ 7 h 17"/>
                <a:gd name="T2" fmla="*/ 4 w 14"/>
                <a:gd name="T3" fmla="*/ 5 h 17"/>
                <a:gd name="T4" fmla="*/ 7 w 14"/>
                <a:gd name="T5" fmla="*/ 3 h 17"/>
                <a:gd name="T6" fmla="*/ 12 w 14"/>
                <a:gd name="T7" fmla="*/ 5 h 17"/>
                <a:gd name="T8" fmla="*/ 12 w 14"/>
                <a:gd name="T9" fmla="*/ 5 h 17"/>
                <a:gd name="T10" fmla="*/ 14 w 14"/>
                <a:gd name="T11" fmla="*/ 4 h 17"/>
                <a:gd name="T12" fmla="*/ 14 w 14"/>
                <a:gd name="T13" fmla="*/ 3 h 17"/>
                <a:gd name="T14" fmla="*/ 7 w 14"/>
                <a:gd name="T15" fmla="*/ 0 h 17"/>
                <a:gd name="T16" fmla="*/ 2 w 14"/>
                <a:gd name="T17" fmla="*/ 2 h 17"/>
                <a:gd name="T18" fmla="*/ 1 w 14"/>
                <a:gd name="T19" fmla="*/ 5 h 17"/>
                <a:gd name="T20" fmla="*/ 7 w 14"/>
                <a:gd name="T21" fmla="*/ 10 h 17"/>
                <a:gd name="T22" fmla="*/ 12 w 14"/>
                <a:gd name="T23" fmla="*/ 12 h 17"/>
                <a:gd name="T24" fmla="*/ 7 w 14"/>
                <a:gd name="T25" fmla="*/ 15 h 17"/>
                <a:gd name="T26" fmla="*/ 3 w 14"/>
                <a:gd name="T27" fmla="*/ 12 h 17"/>
                <a:gd name="T28" fmla="*/ 2 w 14"/>
                <a:gd name="T29" fmla="*/ 12 h 17"/>
                <a:gd name="T30" fmla="*/ 0 w 14"/>
                <a:gd name="T31" fmla="*/ 13 h 17"/>
                <a:gd name="T32" fmla="*/ 0 w 14"/>
                <a:gd name="T33" fmla="*/ 14 h 17"/>
                <a:gd name="T34" fmla="*/ 7 w 14"/>
                <a:gd name="T35" fmla="*/ 17 h 17"/>
                <a:gd name="T36" fmla="*/ 14 w 14"/>
                <a:gd name="T37" fmla="*/ 12 h 17"/>
                <a:gd name="T38" fmla="*/ 8 w 14"/>
                <a:gd name="T39" fmla="*/ 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" h="17">
                  <a:moveTo>
                    <a:pt x="8" y="7"/>
                  </a:moveTo>
                  <a:cubicBezTo>
                    <a:pt x="5" y="7"/>
                    <a:pt x="4" y="6"/>
                    <a:pt x="4" y="5"/>
                  </a:cubicBezTo>
                  <a:cubicBezTo>
                    <a:pt x="4" y="4"/>
                    <a:pt x="5" y="3"/>
                    <a:pt x="7" y="3"/>
                  </a:cubicBezTo>
                  <a:cubicBezTo>
                    <a:pt x="9" y="3"/>
                    <a:pt x="11" y="3"/>
                    <a:pt x="12" y="5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2" y="1"/>
                    <a:pt x="10" y="0"/>
                    <a:pt x="7" y="0"/>
                  </a:cubicBezTo>
                  <a:cubicBezTo>
                    <a:pt x="6" y="0"/>
                    <a:pt x="3" y="1"/>
                    <a:pt x="2" y="2"/>
                  </a:cubicBezTo>
                  <a:cubicBezTo>
                    <a:pt x="1" y="3"/>
                    <a:pt x="1" y="4"/>
                    <a:pt x="1" y="5"/>
                  </a:cubicBezTo>
                  <a:cubicBezTo>
                    <a:pt x="1" y="9"/>
                    <a:pt x="5" y="9"/>
                    <a:pt x="7" y="10"/>
                  </a:cubicBezTo>
                  <a:cubicBezTo>
                    <a:pt x="10" y="10"/>
                    <a:pt x="12" y="11"/>
                    <a:pt x="12" y="12"/>
                  </a:cubicBezTo>
                  <a:cubicBezTo>
                    <a:pt x="12" y="15"/>
                    <a:pt x="8" y="15"/>
                    <a:pt x="7" y="15"/>
                  </a:cubicBezTo>
                  <a:cubicBezTo>
                    <a:pt x="6" y="15"/>
                    <a:pt x="4" y="14"/>
                    <a:pt x="3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2" y="16"/>
                    <a:pt x="4" y="17"/>
                    <a:pt x="7" y="17"/>
                  </a:cubicBezTo>
                  <a:cubicBezTo>
                    <a:pt x="11" y="17"/>
                    <a:pt x="14" y="16"/>
                    <a:pt x="14" y="12"/>
                  </a:cubicBezTo>
                  <a:cubicBezTo>
                    <a:pt x="14" y="9"/>
                    <a:pt x="11" y="8"/>
                    <a:pt x="8" y="7"/>
                  </a:cubicBez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" name="Freeform 37"/>
            <p:cNvSpPr>
              <a:spLocks/>
            </p:cNvSpPr>
            <p:nvPr userDrawn="1"/>
          </p:nvSpPr>
          <p:spPr bwMode="auto">
            <a:xfrm>
              <a:off x="5461" y="504"/>
              <a:ext cx="6" cy="32"/>
            </a:xfrm>
            <a:custGeom>
              <a:avLst/>
              <a:gdLst>
                <a:gd name="T0" fmla="*/ 0 w 6"/>
                <a:gd name="T1" fmla="*/ 32 h 32"/>
                <a:gd name="T2" fmla="*/ 6 w 6"/>
                <a:gd name="T3" fmla="*/ 32 h 32"/>
                <a:gd name="T4" fmla="*/ 6 w 6"/>
                <a:gd name="T5" fmla="*/ 0 h 32"/>
                <a:gd name="T6" fmla="*/ 0 w 6"/>
                <a:gd name="T7" fmla="*/ 0 h 32"/>
                <a:gd name="T8" fmla="*/ 0 w 6"/>
                <a:gd name="T9" fmla="*/ 32 h 32"/>
                <a:gd name="T10" fmla="*/ 0 w 6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32">
                  <a:moveTo>
                    <a:pt x="0" y="32"/>
                  </a:moveTo>
                  <a:lnTo>
                    <a:pt x="6" y="3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2" name="Freeform 38"/>
            <p:cNvSpPr>
              <a:spLocks/>
            </p:cNvSpPr>
            <p:nvPr userDrawn="1"/>
          </p:nvSpPr>
          <p:spPr bwMode="auto">
            <a:xfrm>
              <a:off x="5473" y="504"/>
              <a:ext cx="54" cy="32"/>
            </a:xfrm>
            <a:custGeom>
              <a:avLst/>
              <a:gdLst>
                <a:gd name="T0" fmla="*/ 30 w 54"/>
                <a:gd name="T1" fmla="*/ 0 h 32"/>
                <a:gd name="T2" fmla="*/ 0 w 54"/>
                <a:gd name="T3" fmla="*/ 0 h 32"/>
                <a:gd name="T4" fmla="*/ 0 w 54"/>
                <a:gd name="T5" fmla="*/ 4 h 32"/>
                <a:gd name="T6" fmla="*/ 10 w 54"/>
                <a:gd name="T7" fmla="*/ 4 h 32"/>
                <a:gd name="T8" fmla="*/ 10 w 54"/>
                <a:gd name="T9" fmla="*/ 32 h 32"/>
                <a:gd name="T10" fmla="*/ 16 w 54"/>
                <a:gd name="T11" fmla="*/ 32 h 32"/>
                <a:gd name="T12" fmla="*/ 16 w 54"/>
                <a:gd name="T13" fmla="*/ 4 h 32"/>
                <a:gd name="T14" fmla="*/ 26 w 54"/>
                <a:gd name="T15" fmla="*/ 4 h 32"/>
                <a:gd name="T16" fmla="*/ 36 w 54"/>
                <a:gd name="T17" fmla="*/ 18 h 32"/>
                <a:gd name="T18" fmla="*/ 36 w 54"/>
                <a:gd name="T19" fmla="*/ 32 h 32"/>
                <a:gd name="T20" fmla="*/ 42 w 54"/>
                <a:gd name="T21" fmla="*/ 32 h 32"/>
                <a:gd name="T22" fmla="*/ 42 w 54"/>
                <a:gd name="T23" fmla="*/ 18 h 32"/>
                <a:gd name="T24" fmla="*/ 54 w 54"/>
                <a:gd name="T25" fmla="*/ 0 h 32"/>
                <a:gd name="T26" fmla="*/ 54 w 54"/>
                <a:gd name="T27" fmla="*/ 0 h 32"/>
                <a:gd name="T28" fmla="*/ 54 w 54"/>
                <a:gd name="T29" fmla="*/ 0 h 32"/>
                <a:gd name="T30" fmla="*/ 48 w 54"/>
                <a:gd name="T31" fmla="*/ 0 h 32"/>
                <a:gd name="T32" fmla="*/ 38 w 54"/>
                <a:gd name="T33" fmla="*/ 14 h 32"/>
                <a:gd name="T34" fmla="*/ 30 w 54"/>
                <a:gd name="T35" fmla="*/ 0 h 32"/>
                <a:gd name="T36" fmla="*/ 30 w 54"/>
                <a:gd name="T37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4" h="32">
                  <a:moveTo>
                    <a:pt x="30" y="0"/>
                  </a:moveTo>
                  <a:lnTo>
                    <a:pt x="0" y="0"/>
                  </a:lnTo>
                  <a:lnTo>
                    <a:pt x="0" y="4"/>
                  </a:lnTo>
                  <a:lnTo>
                    <a:pt x="10" y="4"/>
                  </a:lnTo>
                  <a:lnTo>
                    <a:pt x="10" y="32"/>
                  </a:lnTo>
                  <a:lnTo>
                    <a:pt x="16" y="32"/>
                  </a:lnTo>
                  <a:lnTo>
                    <a:pt x="16" y="4"/>
                  </a:lnTo>
                  <a:lnTo>
                    <a:pt x="26" y="4"/>
                  </a:lnTo>
                  <a:lnTo>
                    <a:pt x="36" y="18"/>
                  </a:lnTo>
                  <a:lnTo>
                    <a:pt x="36" y="32"/>
                  </a:lnTo>
                  <a:lnTo>
                    <a:pt x="42" y="32"/>
                  </a:lnTo>
                  <a:lnTo>
                    <a:pt x="42" y="18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48" y="0"/>
                  </a:lnTo>
                  <a:lnTo>
                    <a:pt x="38" y="14"/>
                  </a:lnTo>
                  <a:lnTo>
                    <a:pt x="30" y="0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" name="Freeform 39"/>
            <p:cNvSpPr>
              <a:spLocks/>
            </p:cNvSpPr>
            <p:nvPr userDrawn="1"/>
          </p:nvSpPr>
          <p:spPr bwMode="auto">
            <a:xfrm>
              <a:off x="5343" y="234"/>
              <a:ext cx="184" cy="230"/>
            </a:xfrm>
            <a:custGeom>
              <a:avLst/>
              <a:gdLst>
                <a:gd name="T0" fmla="*/ 92 w 92"/>
                <a:gd name="T1" fmla="*/ 0 h 115"/>
                <a:gd name="T2" fmla="*/ 92 w 92"/>
                <a:gd name="T3" fmla="*/ 71 h 115"/>
                <a:gd name="T4" fmla="*/ 49 w 92"/>
                <a:gd name="T5" fmla="*/ 115 h 115"/>
                <a:gd name="T6" fmla="*/ 0 w 92"/>
                <a:gd name="T7" fmla="*/ 70 h 115"/>
                <a:gd name="T8" fmla="*/ 0 w 92"/>
                <a:gd name="T9" fmla="*/ 0 h 115"/>
                <a:gd name="T10" fmla="*/ 22 w 92"/>
                <a:gd name="T11" fmla="*/ 0 h 115"/>
                <a:gd name="T12" fmla="*/ 22 w 92"/>
                <a:gd name="T13" fmla="*/ 72 h 115"/>
                <a:gd name="T14" fmla="*/ 50 w 92"/>
                <a:gd name="T15" fmla="*/ 105 h 115"/>
                <a:gd name="T16" fmla="*/ 79 w 92"/>
                <a:gd name="T17" fmla="*/ 73 h 115"/>
                <a:gd name="T18" fmla="*/ 79 w 92"/>
                <a:gd name="T19" fmla="*/ 0 h 115"/>
                <a:gd name="T20" fmla="*/ 92 w 92"/>
                <a:gd name="T21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2" h="115">
                  <a:moveTo>
                    <a:pt x="92" y="0"/>
                  </a:moveTo>
                  <a:cubicBezTo>
                    <a:pt x="92" y="71"/>
                    <a:pt x="92" y="71"/>
                    <a:pt x="92" y="71"/>
                  </a:cubicBezTo>
                  <a:cubicBezTo>
                    <a:pt x="92" y="109"/>
                    <a:pt x="62" y="115"/>
                    <a:pt x="49" y="115"/>
                  </a:cubicBezTo>
                  <a:cubicBezTo>
                    <a:pt x="25" y="115"/>
                    <a:pt x="0" y="107"/>
                    <a:pt x="0" y="7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72"/>
                    <a:pt x="22" y="72"/>
                    <a:pt x="22" y="72"/>
                  </a:cubicBezTo>
                  <a:cubicBezTo>
                    <a:pt x="22" y="93"/>
                    <a:pt x="32" y="105"/>
                    <a:pt x="50" y="105"/>
                  </a:cubicBezTo>
                  <a:cubicBezTo>
                    <a:pt x="66" y="105"/>
                    <a:pt x="79" y="95"/>
                    <a:pt x="79" y="73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92" y="0"/>
                    <a:pt x="92" y="0"/>
                    <a:pt x="92" y="0"/>
                  </a:cubicBez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" name="Freeform 40"/>
            <p:cNvSpPr>
              <a:spLocks/>
            </p:cNvSpPr>
            <p:nvPr userDrawn="1"/>
          </p:nvSpPr>
          <p:spPr bwMode="auto">
            <a:xfrm>
              <a:off x="5099" y="230"/>
              <a:ext cx="212" cy="234"/>
            </a:xfrm>
            <a:custGeom>
              <a:avLst/>
              <a:gdLst>
                <a:gd name="T0" fmla="*/ 61 w 106"/>
                <a:gd name="T1" fmla="*/ 117 h 117"/>
                <a:gd name="T2" fmla="*/ 0 w 106"/>
                <a:gd name="T3" fmla="*/ 60 h 117"/>
                <a:gd name="T4" fmla="*/ 63 w 106"/>
                <a:gd name="T5" fmla="*/ 0 h 117"/>
                <a:gd name="T6" fmla="*/ 97 w 106"/>
                <a:gd name="T7" fmla="*/ 13 h 117"/>
                <a:gd name="T8" fmla="*/ 106 w 106"/>
                <a:gd name="T9" fmla="*/ 28 h 117"/>
                <a:gd name="T10" fmla="*/ 94 w 106"/>
                <a:gd name="T11" fmla="*/ 39 h 117"/>
                <a:gd name="T12" fmla="*/ 83 w 106"/>
                <a:gd name="T13" fmla="*/ 28 h 117"/>
                <a:gd name="T14" fmla="*/ 86 w 106"/>
                <a:gd name="T15" fmla="*/ 20 h 117"/>
                <a:gd name="T16" fmla="*/ 63 w 106"/>
                <a:gd name="T17" fmla="*/ 10 h 117"/>
                <a:gd name="T18" fmla="*/ 21 w 106"/>
                <a:gd name="T19" fmla="*/ 58 h 117"/>
                <a:gd name="T20" fmla="*/ 65 w 106"/>
                <a:gd name="T21" fmla="*/ 108 h 117"/>
                <a:gd name="T22" fmla="*/ 102 w 106"/>
                <a:gd name="T23" fmla="*/ 93 h 117"/>
                <a:gd name="T24" fmla="*/ 106 w 106"/>
                <a:gd name="T25" fmla="*/ 99 h 117"/>
                <a:gd name="T26" fmla="*/ 61 w 106"/>
                <a:gd name="T27" fmla="*/ 117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6" h="117">
                  <a:moveTo>
                    <a:pt x="61" y="117"/>
                  </a:moveTo>
                  <a:cubicBezTo>
                    <a:pt x="23" y="117"/>
                    <a:pt x="0" y="91"/>
                    <a:pt x="0" y="60"/>
                  </a:cubicBezTo>
                  <a:cubicBezTo>
                    <a:pt x="0" y="29"/>
                    <a:pt x="24" y="0"/>
                    <a:pt x="63" y="0"/>
                  </a:cubicBezTo>
                  <a:cubicBezTo>
                    <a:pt x="74" y="0"/>
                    <a:pt x="88" y="4"/>
                    <a:pt x="97" y="13"/>
                  </a:cubicBezTo>
                  <a:cubicBezTo>
                    <a:pt x="102" y="16"/>
                    <a:pt x="106" y="23"/>
                    <a:pt x="106" y="28"/>
                  </a:cubicBezTo>
                  <a:cubicBezTo>
                    <a:pt x="106" y="34"/>
                    <a:pt x="101" y="39"/>
                    <a:pt x="94" y="39"/>
                  </a:cubicBezTo>
                  <a:cubicBezTo>
                    <a:pt x="88" y="39"/>
                    <a:pt x="83" y="34"/>
                    <a:pt x="83" y="28"/>
                  </a:cubicBezTo>
                  <a:cubicBezTo>
                    <a:pt x="83" y="25"/>
                    <a:pt x="84" y="22"/>
                    <a:pt x="86" y="20"/>
                  </a:cubicBezTo>
                  <a:cubicBezTo>
                    <a:pt x="81" y="14"/>
                    <a:pt x="71" y="10"/>
                    <a:pt x="63" y="10"/>
                  </a:cubicBezTo>
                  <a:cubicBezTo>
                    <a:pt x="36" y="10"/>
                    <a:pt x="21" y="35"/>
                    <a:pt x="21" y="58"/>
                  </a:cubicBezTo>
                  <a:cubicBezTo>
                    <a:pt x="21" y="85"/>
                    <a:pt x="38" y="108"/>
                    <a:pt x="65" y="108"/>
                  </a:cubicBezTo>
                  <a:cubicBezTo>
                    <a:pt x="79" y="108"/>
                    <a:pt x="90" y="102"/>
                    <a:pt x="102" y="93"/>
                  </a:cubicBezTo>
                  <a:cubicBezTo>
                    <a:pt x="106" y="99"/>
                    <a:pt x="106" y="99"/>
                    <a:pt x="106" y="99"/>
                  </a:cubicBezTo>
                  <a:cubicBezTo>
                    <a:pt x="94" y="111"/>
                    <a:pt x="77" y="117"/>
                    <a:pt x="61" y="117"/>
                  </a:cubicBez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5" name="Freeform 41"/>
            <p:cNvSpPr>
              <a:spLocks noEditPoints="1"/>
            </p:cNvSpPr>
            <p:nvPr userDrawn="1"/>
          </p:nvSpPr>
          <p:spPr bwMode="auto">
            <a:xfrm>
              <a:off x="4887" y="234"/>
              <a:ext cx="208" cy="226"/>
            </a:xfrm>
            <a:custGeom>
              <a:avLst/>
              <a:gdLst>
                <a:gd name="T0" fmla="*/ 164 w 208"/>
                <a:gd name="T1" fmla="*/ 226 h 226"/>
                <a:gd name="T2" fmla="*/ 208 w 208"/>
                <a:gd name="T3" fmla="*/ 226 h 226"/>
                <a:gd name="T4" fmla="*/ 120 w 208"/>
                <a:gd name="T5" fmla="*/ 0 h 226"/>
                <a:gd name="T6" fmla="*/ 86 w 208"/>
                <a:gd name="T7" fmla="*/ 0 h 226"/>
                <a:gd name="T8" fmla="*/ 0 w 208"/>
                <a:gd name="T9" fmla="*/ 226 h 226"/>
                <a:gd name="T10" fmla="*/ 22 w 208"/>
                <a:gd name="T11" fmla="*/ 226 h 226"/>
                <a:gd name="T12" fmla="*/ 48 w 208"/>
                <a:gd name="T13" fmla="*/ 162 h 226"/>
                <a:gd name="T14" fmla="*/ 140 w 208"/>
                <a:gd name="T15" fmla="*/ 162 h 226"/>
                <a:gd name="T16" fmla="*/ 164 w 208"/>
                <a:gd name="T17" fmla="*/ 226 h 226"/>
                <a:gd name="T18" fmla="*/ 164 w 208"/>
                <a:gd name="T19" fmla="*/ 226 h 226"/>
                <a:gd name="T20" fmla="*/ 54 w 208"/>
                <a:gd name="T21" fmla="*/ 142 h 226"/>
                <a:gd name="T22" fmla="*/ 94 w 208"/>
                <a:gd name="T23" fmla="*/ 36 h 226"/>
                <a:gd name="T24" fmla="*/ 134 w 208"/>
                <a:gd name="T25" fmla="*/ 142 h 226"/>
                <a:gd name="T26" fmla="*/ 54 w 208"/>
                <a:gd name="T27" fmla="*/ 142 h 226"/>
                <a:gd name="T28" fmla="*/ 54 w 208"/>
                <a:gd name="T29" fmla="*/ 142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08" h="226">
                  <a:moveTo>
                    <a:pt x="164" y="226"/>
                  </a:moveTo>
                  <a:lnTo>
                    <a:pt x="208" y="226"/>
                  </a:lnTo>
                  <a:lnTo>
                    <a:pt x="120" y="0"/>
                  </a:lnTo>
                  <a:lnTo>
                    <a:pt x="86" y="0"/>
                  </a:lnTo>
                  <a:lnTo>
                    <a:pt x="0" y="226"/>
                  </a:lnTo>
                  <a:lnTo>
                    <a:pt x="22" y="226"/>
                  </a:lnTo>
                  <a:lnTo>
                    <a:pt x="48" y="162"/>
                  </a:lnTo>
                  <a:lnTo>
                    <a:pt x="140" y="162"/>
                  </a:lnTo>
                  <a:lnTo>
                    <a:pt x="164" y="226"/>
                  </a:lnTo>
                  <a:lnTo>
                    <a:pt x="164" y="226"/>
                  </a:lnTo>
                  <a:close/>
                  <a:moveTo>
                    <a:pt x="54" y="142"/>
                  </a:moveTo>
                  <a:lnTo>
                    <a:pt x="94" y="36"/>
                  </a:lnTo>
                  <a:lnTo>
                    <a:pt x="134" y="142"/>
                  </a:lnTo>
                  <a:lnTo>
                    <a:pt x="54" y="142"/>
                  </a:lnTo>
                  <a:lnTo>
                    <a:pt x="54" y="142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2758" y="6510471"/>
            <a:ext cx="3086100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defRPr lang="en-AU" sz="1000" smtClean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8929" y="6510471"/>
            <a:ext cx="448128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defRPr lang="en-AU" sz="1000" smtClean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6A89BA3-132D-40E1-AAB4-CDCD0A14C216}" type="slidenum">
              <a:rPr lang="en-AU" smtClean="0"/>
              <a:pPr/>
              <a:t>‹#›</a:t>
            </a:fld>
            <a:r>
              <a:rPr lang="en-AU" dirty="0"/>
              <a:t>  |</a:t>
            </a:r>
          </a:p>
        </p:txBody>
      </p:sp>
    </p:spTree>
    <p:extLst>
      <p:ext uri="{BB962C8B-B14F-4D97-AF65-F5344CB8AC3E}">
        <p14:creationId xmlns:p14="http://schemas.microsoft.com/office/powerpoint/2010/main" val="2980067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91" r:id="rId2"/>
    <p:sldLayoutId id="2147483663" r:id="rId3"/>
    <p:sldLayoutId id="2147483664" r:id="rId4"/>
    <p:sldLayoutId id="2147483665" r:id="rId5"/>
    <p:sldLayoutId id="2147483682" r:id="rId6"/>
    <p:sldLayoutId id="2147483679" r:id="rId7"/>
    <p:sldLayoutId id="2147483686" r:id="rId8"/>
    <p:sldLayoutId id="2147483689" r:id="rId9"/>
    <p:sldLayoutId id="2147483692" r:id="rId10"/>
    <p:sldLayoutId id="2147483693" r:id="rId11"/>
    <p:sldLayoutId id="2147483695" r:id="rId12"/>
    <p:sldLayoutId id="2147483696" r:id="rId13"/>
    <p:sldLayoutId id="2147483697" r:id="rId14"/>
    <p:sldLayoutId id="2147483698" r:id="rId15"/>
    <p:sldLayoutId id="2147483699" r:id="rId16"/>
    <p:sldLayoutId id="2147483700" r:id="rId17"/>
    <p:sldLayoutId id="2147483701" r:id="rId18"/>
    <p:sldLayoutId id="2147483702" r:id="rId19"/>
    <p:sldLayoutId id="2147483703" r:id="rId20"/>
    <p:sldLayoutId id="2147483704" r:id="rId21"/>
    <p:sldLayoutId id="2147483705" r:id="rId22"/>
    <p:sldLayoutId id="2147483706" r:id="rId23"/>
    <p:sldLayoutId id="2147483707" r:id="rId24"/>
    <p:sldLayoutId id="2147483708" r:id="rId25"/>
    <p:sldLayoutId id="2147483709" r:id="rId26"/>
    <p:sldLayoutId id="2147483710" r:id="rId27"/>
    <p:sldLayoutId id="2147483711" r:id="rId28"/>
    <p:sldLayoutId id="2147483712" r:id="rId29"/>
    <p:sldLayoutId id="2147483713" r:id="rId30"/>
    <p:sldLayoutId id="2147483714" r:id="rId31"/>
    <p:sldLayoutId id="2147483715" r:id="rId32"/>
    <p:sldLayoutId id="2147483716" r:id="rId33"/>
    <p:sldLayoutId id="2147483717" r:id="rId34"/>
    <p:sldLayoutId id="2147483718" r:id="rId35"/>
    <p:sldLayoutId id="2147483719" r:id="rId36"/>
    <p:sldLayoutId id="2147483720" r:id="rId37"/>
    <p:sldLayoutId id="2147483721" r:id="rId38"/>
    <p:sldLayoutId id="2147483722" r:id="rId39"/>
    <p:sldLayoutId id="2147483723" r:id="rId40"/>
    <p:sldLayoutId id="2147483724" r:id="rId41"/>
    <p:sldLayoutId id="2147483726" r:id="rId42"/>
    <p:sldLayoutId id="2147483727" r:id="rId43"/>
    <p:sldLayoutId id="2147483728" r:id="rId44"/>
    <p:sldLayoutId id="2147483729" r:id="rId45"/>
    <p:sldLayoutId id="2147483730" r:id="rId46"/>
    <p:sldLayoutId id="2147483731" r:id="rId47"/>
    <p:sldLayoutId id="2147483732" r:id="rId48"/>
    <p:sldLayoutId id="2147483733" r:id="rId49"/>
    <p:sldLayoutId id="2147483734" r:id="rId50"/>
    <p:sldLayoutId id="2147483735" r:id="rId51"/>
    <p:sldLayoutId id="2147483736" r:id="rId52"/>
    <p:sldLayoutId id="2147483737" r:id="rId53"/>
    <p:sldLayoutId id="2147483738" r:id="rId54"/>
    <p:sldLayoutId id="2147483739" r:id="rId55"/>
    <p:sldLayoutId id="2147483740" r:id="rId56"/>
    <p:sldLayoutId id="2147483741" r:id="rId57"/>
    <p:sldLayoutId id="2147483742" r:id="rId58"/>
    <p:sldLayoutId id="2147483743" r:id="rId59"/>
    <p:sldLayoutId id="2147483744" r:id="rId60"/>
    <p:sldLayoutId id="2147483745" r:id="rId61"/>
    <p:sldLayoutId id="2147483746" r:id="rId62"/>
    <p:sldLayoutId id="2147483747" r:id="rId63"/>
    <p:sldLayoutId id="2147483748" r:id="rId64"/>
    <p:sldLayoutId id="2147483749" r:id="rId65"/>
    <p:sldLayoutId id="2147483750" r:id="rId66"/>
    <p:sldLayoutId id="2147483751" r:id="rId67"/>
    <p:sldLayoutId id="2147483752" r:id="rId68"/>
    <p:sldLayoutId id="2147483753" r:id="rId69"/>
    <p:sldLayoutId id="2147483754" r:id="rId70"/>
    <p:sldLayoutId id="2147483755" r:id="rId71"/>
    <p:sldLayoutId id="2147483756" r:id="rId72"/>
    <p:sldLayoutId id="2147483757" r:id="rId73"/>
    <p:sldLayoutId id="2147483758" r:id="rId74"/>
    <p:sldLayoutId id="2147483759" r:id="rId75"/>
    <p:sldLayoutId id="2147483760" r:id="rId76"/>
    <p:sldLayoutId id="2147483761" r:id="rId77"/>
    <p:sldLayoutId id="2147483762" r:id="rId78"/>
    <p:sldLayoutId id="2147483763" r:id="rId79"/>
    <p:sldLayoutId id="2147483764" r:id="rId80"/>
    <p:sldLayoutId id="2147483766" r:id="rId81"/>
    <p:sldLayoutId id="2147483767" r:id="rId82"/>
    <p:sldLayoutId id="2147483768" r:id="rId83"/>
    <p:sldLayoutId id="2147483775" r:id="rId84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866" b="1" kern="1200">
          <a:solidFill>
            <a:srgbClr val="3D3935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rgbClr val="F2120C"/>
        </a:buClr>
        <a:buFont typeface="Arial" panose="020B0604020202020204" pitchFamily="34" charset="0"/>
        <a:buChar char="•"/>
        <a:defRPr sz="2533" kern="1200">
          <a:solidFill>
            <a:srgbClr val="3D3935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rgbClr val="F2120C"/>
        </a:buClr>
        <a:buFont typeface="Arial" panose="020B0604020202020204" pitchFamily="34" charset="0"/>
        <a:buChar char="•"/>
        <a:defRPr sz="2400" kern="1200">
          <a:solidFill>
            <a:srgbClr val="3D3935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rgbClr val="F2120C"/>
        </a:buClr>
        <a:buFont typeface="Arial" panose="020B0604020202020204" pitchFamily="34" charset="0"/>
        <a:buChar char="•"/>
        <a:defRPr sz="2000" kern="1200">
          <a:solidFill>
            <a:srgbClr val="3D3935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rgbClr val="F2120C"/>
        </a:buClr>
        <a:buFont typeface="Arial" panose="020B0604020202020204" pitchFamily="34" charset="0"/>
        <a:buChar char="•"/>
        <a:defRPr sz="1800" kern="1200">
          <a:solidFill>
            <a:srgbClr val="3D3935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rgbClr val="F2120C"/>
        </a:buClr>
        <a:buFont typeface="Arial" panose="020B0604020202020204" pitchFamily="34" charset="0"/>
        <a:buChar char="•"/>
        <a:defRPr sz="1800" kern="1200">
          <a:solidFill>
            <a:srgbClr val="3D3935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588" y="0"/>
            <a:ext cx="5027930" cy="454025"/>
          </a:xfrm>
          <a:custGeom>
            <a:avLst/>
            <a:gdLst/>
            <a:ahLst/>
            <a:cxnLst/>
            <a:rect l="l" t="t" r="r" b="b"/>
            <a:pathLst>
              <a:path w="5027930" h="454025">
                <a:moveTo>
                  <a:pt x="5027591" y="0"/>
                </a:moveTo>
                <a:lnTo>
                  <a:pt x="0" y="0"/>
                </a:lnTo>
                <a:lnTo>
                  <a:pt x="0" y="454025"/>
                </a:lnTo>
                <a:lnTo>
                  <a:pt x="4570413" y="454025"/>
                </a:lnTo>
                <a:lnTo>
                  <a:pt x="5027591" y="0"/>
                </a:lnTo>
                <a:close/>
              </a:path>
            </a:pathLst>
          </a:custGeom>
          <a:solidFill>
            <a:srgbClr val="E8E3DB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7" name="bg object 17"/>
          <p:cNvSpPr/>
          <p:nvPr/>
        </p:nvSpPr>
        <p:spPr>
          <a:xfrm>
            <a:off x="4572001" y="6397624"/>
            <a:ext cx="4570730" cy="457200"/>
          </a:xfrm>
          <a:custGeom>
            <a:avLst/>
            <a:gdLst/>
            <a:ahLst/>
            <a:cxnLst/>
            <a:rect l="l" t="t" r="r" b="b"/>
            <a:pathLst>
              <a:path w="4570730" h="457200">
                <a:moveTo>
                  <a:pt x="4570412" y="0"/>
                </a:moveTo>
                <a:lnTo>
                  <a:pt x="460375" y="0"/>
                </a:lnTo>
                <a:lnTo>
                  <a:pt x="0" y="457199"/>
                </a:lnTo>
                <a:lnTo>
                  <a:pt x="4570412" y="457199"/>
                </a:lnTo>
                <a:lnTo>
                  <a:pt x="4570412" y="0"/>
                </a:lnTo>
                <a:close/>
              </a:path>
            </a:pathLst>
          </a:custGeom>
          <a:solidFill>
            <a:srgbClr val="E8E3DB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pic>
        <p:nvPicPr>
          <p:cNvPr id="18" name="bg 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399338" y="365127"/>
            <a:ext cx="1374775" cy="48577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19610" y="713233"/>
            <a:ext cx="6553200" cy="4462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1" i="0">
                <a:solidFill>
                  <a:srgbClr val="3D3935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08455" y="1392429"/>
            <a:ext cx="8127091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1" i="0">
                <a:solidFill>
                  <a:srgbClr val="0D0D0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1"/>
            <a:ext cx="292608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1"/>
            <a:ext cx="21031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52269" y="6556594"/>
            <a:ext cx="3729354" cy="1154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50" b="0" i="0">
                <a:solidFill>
                  <a:srgbClr val="3D3935"/>
                </a:solidFill>
                <a:latin typeface="Arial"/>
                <a:cs typeface="Arial"/>
              </a:defRPr>
            </a:lvl1pPr>
          </a:lstStyle>
          <a:p>
            <a:pPr marL="28575">
              <a:spcBef>
                <a:spcPts val="4"/>
              </a:spcBef>
            </a:pPr>
            <a:fld id="{81D60167-4931-47E6-BA6A-407CBD079E47}" type="slidenum">
              <a:rPr lang="en-US" smtClean="0"/>
              <a:pPr marL="28575">
                <a:spcBef>
                  <a:spcPts val="4"/>
                </a:spcBef>
              </a:pPr>
              <a:t>‹#›</a:t>
            </a:fld>
            <a:r>
              <a:rPr lang="en-US" spc="176"/>
              <a:t> </a:t>
            </a:r>
            <a:r>
              <a:rPr lang="en-US"/>
              <a:t>|</a:t>
            </a:r>
            <a:r>
              <a:rPr lang="en-US" spc="300"/>
              <a:t> </a:t>
            </a:r>
            <a:r>
              <a:rPr lang="en-US"/>
              <a:t>Faculty</a:t>
            </a:r>
            <a:r>
              <a:rPr lang="en-US" spc="-11"/>
              <a:t> </a:t>
            </a:r>
            <a:r>
              <a:rPr lang="en-US"/>
              <a:t>of</a:t>
            </a:r>
            <a:r>
              <a:rPr lang="en-US" spc="-15"/>
              <a:t> </a:t>
            </a:r>
            <a:r>
              <a:rPr lang="en-US"/>
              <a:t>Business</a:t>
            </a:r>
            <a:r>
              <a:rPr lang="en-US" spc="-15"/>
              <a:t> </a:t>
            </a:r>
            <a:r>
              <a:rPr lang="en-US"/>
              <a:t>and</a:t>
            </a:r>
            <a:r>
              <a:rPr lang="en-US" spc="-15"/>
              <a:t> </a:t>
            </a:r>
            <a:r>
              <a:rPr lang="en-US"/>
              <a:t>Law</a:t>
            </a:r>
            <a:r>
              <a:rPr lang="en-US" spc="-11"/>
              <a:t> </a:t>
            </a:r>
            <a:r>
              <a:rPr lang="en-US"/>
              <a:t>|</a:t>
            </a:r>
            <a:r>
              <a:rPr lang="en-US" spc="-11"/>
              <a:t> </a:t>
            </a:r>
            <a:r>
              <a:rPr lang="en-US"/>
              <a:t>Peter</a:t>
            </a:r>
            <a:r>
              <a:rPr lang="en-US" spc="-8"/>
              <a:t> </a:t>
            </a:r>
            <a:r>
              <a:rPr lang="en-US"/>
              <a:t>Faber</a:t>
            </a:r>
            <a:r>
              <a:rPr lang="en-US" spc="-11"/>
              <a:t> </a:t>
            </a:r>
            <a:r>
              <a:rPr lang="en-US"/>
              <a:t>Business</a:t>
            </a:r>
            <a:r>
              <a:rPr lang="en-US" spc="-11"/>
              <a:t> </a:t>
            </a:r>
            <a:r>
              <a:rPr lang="en-US" spc="-8"/>
              <a:t>School</a:t>
            </a:r>
            <a:endParaRPr lang="en-US" spc="-8" dirty="0"/>
          </a:p>
        </p:txBody>
      </p:sp>
    </p:spTree>
    <p:extLst>
      <p:ext uri="{BB962C8B-B14F-4D97-AF65-F5344CB8AC3E}">
        <p14:creationId xmlns:p14="http://schemas.microsoft.com/office/powerpoint/2010/main" val="2542608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71" r:id="rId2"/>
    <p:sldLayoutId id="2147483772" r:id="rId3"/>
    <p:sldLayoutId id="2147483773" r:id="rId4"/>
    <p:sldLayoutId id="2147483774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42900">
        <a:defRPr>
          <a:latin typeface="+mn-lt"/>
          <a:ea typeface="+mn-ea"/>
          <a:cs typeface="+mn-cs"/>
        </a:defRPr>
      </a:lvl2pPr>
      <a:lvl3pPr marL="685800">
        <a:defRPr>
          <a:latin typeface="+mn-lt"/>
          <a:ea typeface="+mn-ea"/>
          <a:cs typeface="+mn-cs"/>
        </a:defRPr>
      </a:lvl3pPr>
      <a:lvl4pPr marL="1028700">
        <a:defRPr>
          <a:latin typeface="+mn-lt"/>
          <a:ea typeface="+mn-ea"/>
          <a:cs typeface="+mn-cs"/>
        </a:defRPr>
      </a:lvl4pPr>
      <a:lvl5pPr marL="1371600">
        <a:defRPr>
          <a:latin typeface="+mn-lt"/>
          <a:ea typeface="+mn-ea"/>
          <a:cs typeface="+mn-cs"/>
        </a:defRPr>
      </a:lvl5pPr>
      <a:lvl6pPr marL="1714500">
        <a:defRPr>
          <a:latin typeface="+mn-lt"/>
          <a:ea typeface="+mn-ea"/>
          <a:cs typeface="+mn-cs"/>
        </a:defRPr>
      </a:lvl6pPr>
      <a:lvl7pPr marL="2057400">
        <a:defRPr>
          <a:latin typeface="+mn-lt"/>
          <a:ea typeface="+mn-ea"/>
          <a:cs typeface="+mn-cs"/>
        </a:defRPr>
      </a:lvl7pPr>
      <a:lvl8pPr marL="2400300">
        <a:defRPr>
          <a:latin typeface="+mn-lt"/>
          <a:ea typeface="+mn-ea"/>
          <a:cs typeface="+mn-cs"/>
        </a:defRPr>
      </a:lvl8pPr>
      <a:lvl9pPr marL="27432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42900">
        <a:defRPr>
          <a:latin typeface="+mn-lt"/>
          <a:ea typeface="+mn-ea"/>
          <a:cs typeface="+mn-cs"/>
        </a:defRPr>
      </a:lvl2pPr>
      <a:lvl3pPr marL="685800">
        <a:defRPr>
          <a:latin typeface="+mn-lt"/>
          <a:ea typeface="+mn-ea"/>
          <a:cs typeface="+mn-cs"/>
        </a:defRPr>
      </a:lvl3pPr>
      <a:lvl4pPr marL="1028700">
        <a:defRPr>
          <a:latin typeface="+mn-lt"/>
          <a:ea typeface="+mn-ea"/>
          <a:cs typeface="+mn-cs"/>
        </a:defRPr>
      </a:lvl4pPr>
      <a:lvl5pPr marL="1371600">
        <a:defRPr>
          <a:latin typeface="+mn-lt"/>
          <a:ea typeface="+mn-ea"/>
          <a:cs typeface="+mn-cs"/>
        </a:defRPr>
      </a:lvl5pPr>
      <a:lvl6pPr marL="1714500">
        <a:defRPr>
          <a:latin typeface="+mn-lt"/>
          <a:ea typeface="+mn-ea"/>
          <a:cs typeface="+mn-cs"/>
        </a:defRPr>
      </a:lvl6pPr>
      <a:lvl7pPr marL="2057400">
        <a:defRPr>
          <a:latin typeface="+mn-lt"/>
          <a:ea typeface="+mn-ea"/>
          <a:cs typeface="+mn-cs"/>
        </a:defRPr>
      </a:lvl7pPr>
      <a:lvl8pPr marL="2400300">
        <a:defRPr>
          <a:latin typeface="+mn-lt"/>
          <a:ea typeface="+mn-ea"/>
          <a:cs typeface="+mn-cs"/>
        </a:defRPr>
      </a:lvl8pPr>
      <a:lvl9pPr marL="27432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draw.io/" TargetMode="External"/><Relationship Id="rId7" Type="http://schemas.openxmlformats.org/officeDocument/2006/relationships/hyperlink" Target="https://creately.com/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4.xml"/><Relationship Id="rId6" Type="http://schemas.openxmlformats.org/officeDocument/2006/relationships/hyperlink" Target="https://staruml.io/" TargetMode="External"/><Relationship Id="rId5" Type="http://schemas.openxmlformats.org/officeDocument/2006/relationships/hyperlink" Target="https://www.visual-paradigm.com/download/community.jsp" TargetMode="External"/><Relationship Id="rId4" Type="http://schemas.openxmlformats.org/officeDocument/2006/relationships/hyperlink" Target="https://www.lucidchart.com/" TargetMode="Externa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emf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8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4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3.png"/><Relationship Id="rId4" Type="http://schemas.openxmlformats.org/officeDocument/2006/relationships/notesSlide" Target="../notesSlides/notesSlide3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8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8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8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8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8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8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5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5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5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5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5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5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5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5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5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5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5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5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5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5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5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5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5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5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5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5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5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5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5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5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5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8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6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farshid-keivanian" TargetMode="External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86.xml"/><Relationship Id="rId4" Type="http://schemas.openxmlformats.org/officeDocument/2006/relationships/hyperlink" Target="https://github.com/FarshidKeivania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ACF62-ED9D-4C0F-A976-E9C35DDB3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630" y="750523"/>
            <a:ext cx="5119302" cy="2320693"/>
          </a:xfrm>
        </p:spPr>
        <p:txBody>
          <a:bodyPr/>
          <a:lstStyle/>
          <a:p>
            <a:r>
              <a:rPr lang="en-US" sz="3400" dirty="0"/>
              <a:t>Database Modelling</a:t>
            </a:r>
            <a:endParaRPr lang="en-AU" sz="3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EEDDFE-62E7-4B7A-B286-FF3EA6C173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6288" y="3893642"/>
            <a:ext cx="3867150" cy="447675"/>
          </a:xfrm>
        </p:spPr>
        <p:txBody>
          <a:bodyPr/>
          <a:lstStyle/>
          <a:p>
            <a:r>
              <a:rPr lang="en-AU" sz="2000" b="1" dirty="0"/>
              <a:t>Week 2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DAEE5F-D393-479E-8BB0-2D5C057945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/>
              <a:t>Dr. Farshid Keivanian</a:t>
            </a:r>
          </a:p>
        </p:txBody>
      </p:sp>
    </p:spTree>
    <p:extLst>
      <p:ext uri="{BB962C8B-B14F-4D97-AF65-F5344CB8AC3E}">
        <p14:creationId xmlns:p14="http://schemas.microsoft.com/office/powerpoint/2010/main" val="5816889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A77CA0-CFDC-4710-905A-A8D8E8AC01D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0"/>
            <a:ext cx="4343399" cy="462758"/>
          </a:xfrm>
        </p:spPr>
        <p:txBody>
          <a:bodyPr>
            <a:noAutofit/>
          </a:bodyPr>
          <a:lstStyle/>
          <a:p>
            <a:r>
              <a:rPr lang="en-AU" sz="3200" dirty="0">
                <a:latin typeface="Calibri" panose="020F0502020204030204" pitchFamily="34" charset="0"/>
                <a:cs typeface="Calibri" panose="020F0502020204030204" pitchFamily="34" charset="0"/>
              </a:rPr>
              <a:t>Week 2 overview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48241F-58BF-4D41-99BA-4E9BE3037F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2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7418FF-2021-4F13-BC58-508F61D2C9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Faculty of Business and Law | Peter Faber Business School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8DDF53D-16BA-C4C9-C92B-E8DB979CD7C9}"/>
              </a:ext>
            </a:extLst>
          </p:cNvPr>
          <p:cNvSpPr txBox="1"/>
          <p:nvPr/>
        </p:nvSpPr>
        <p:spPr>
          <a:xfrm>
            <a:off x="0" y="608903"/>
            <a:ext cx="7370956" cy="575542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What is a Data Model?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Why Do We Need It?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The 3 Main Types of Data Models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The Relational Model – The Heart of Modern Databases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Relational Table Basics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Relationships – Connecting the Dots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Tools for Drawing ERDs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Using Microsoft Visio for ERD Diagrams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Research Discussion Questions &amp; Sample Responses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Problem-Solving Activity – Relationships (5 minutes)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Understanding Primary and Foreign Keys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Understanding Relationships and Cardinality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Preparation Guidelines – Tutorial Week 2 (Part 1)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Practice Questions and Model Answers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Review and Feedback Tutorial Week 1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Submission of Tutorials &amp; Assessments</a:t>
            </a:r>
          </a:p>
        </p:txBody>
      </p:sp>
    </p:spTree>
    <p:extLst>
      <p:ext uri="{BB962C8B-B14F-4D97-AF65-F5344CB8AC3E}">
        <p14:creationId xmlns:p14="http://schemas.microsoft.com/office/powerpoint/2010/main" val="21480149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646AD0-6036-4879-B5D7-F60847E332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D78C77-E952-41E0-8B40-BAC1771F84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3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14796BC-CEFD-189B-E9D1-5A9CBE8BAF7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36029"/>
          </a:xfrm>
        </p:spPr>
        <p:txBody>
          <a:bodyPr>
            <a:noAutofit/>
          </a:bodyPr>
          <a:lstStyle/>
          <a:p>
            <a:r>
              <a:rPr lang="en-US" sz="3200" dirty="0"/>
              <a:t>What is a Data Model?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EE6214-3988-BA86-3529-05DB78221CDF}"/>
              </a:ext>
            </a:extLst>
          </p:cNvPr>
          <p:cNvSpPr txBox="1"/>
          <p:nvPr/>
        </p:nvSpPr>
        <p:spPr>
          <a:xfrm>
            <a:off x="0" y="1642891"/>
            <a:ext cx="9120249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Think of a data model as an architect’s plan, but instead of planning a building, we’re planning a database.</a:t>
            </a:r>
            <a:b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It’s the blueprint that says: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What data will be stored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How that data connects to other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5A02A8A1-F38B-B1C4-DA29-35E2DFCEA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A13A36-E5DF-D2EE-D2E6-D7DB294E5A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254D4C-69DD-F740-34D6-143E88BCD6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4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D9AB3D6-E8BA-71A4-106E-10544A94AAC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36029"/>
          </a:xfrm>
        </p:spPr>
        <p:txBody>
          <a:bodyPr>
            <a:noAutofit/>
          </a:bodyPr>
          <a:lstStyle/>
          <a:p>
            <a:r>
              <a:rPr lang="en-US" sz="3200" dirty="0"/>
              <a:t>Why Do We Need It?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3A802A-BC7F-8419-21C9-C161FE41E80D}"/>
              </a:ext>
            </a:extLst>
          </p:cNvPr>
          <p:cNvSpPr txBox="1"/>
          <p:nvPr/>
        </p:nvSpPr>
        <p:spPr>
          <a:xfrm>
            <a:off x="0" y="1642891"/>
            <a:ext cx="9120249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Without a data model, building a database is like trying to build a house without any plans — you’ll probably waste time, money, and end up with a mess.</a:t>
            </a:r>
            <a:b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A data model helps us: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Stay </a:t>
            </a:r>
            <a:r>
              <a:rPr lang="en-US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organised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Avoid confusion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Make sure the system works the way we want</a:t>
            </a:r>
          </a:p>
        </p:txBody>
      </p:sp>
    </p:spTree>
    <p:extLst>
      <p:ext uri="{BB962C8B-B14F-4D97-AF65-F5344CB8AC3E}">
        <p14:creationId xmlns:p14="http://schemas.microsoft.com/office/powerpoint/2010/main" val="22722443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906261D2-FF58-076E-ED07-7F243D66F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4357C7-A7EE-CEAF-FFD1-21983F41CD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17FC10-DC68-E1EC-3297-CB500FF729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5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237432BA-7B21-5F81-3940-6C02309E7E5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36029"/>
          </a:xfrm>
        </p:spPr>
        <p:txBody>
          <a:bodyPr>
            <a:noAutofit/>
          </a:bodyPr>
          <a:lstStyle/>
          <a:p>
            <a:r>
              <a:rPr lang="en-US" sz="3200" dirty="0"/>
              <a:t>The 3 Main Types of Data Models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86E29E8-3839-940A-161A-598EB8BB6827}"/>
              </a:ext>
            </a:extLst>
          </p:cNvPr>
          <p:cNvSpPr txBox="1"/>
          <p:nvPr/>
        </p:nvSpPr>
        <p:spPr>
          <a:xfrm>
            <a:off x="0" y="1642891"/>
            <a:ext cx="9120249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Conceptual Model – The Big Picture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Focuses on entities (things we store data about) and their relationships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Usually shown with an ERD (Entity Relationship Diagram)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No technical detail yet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— just the overall view</a:t>
            </a:r>
          </a:p>
        </p:txBody>
      </p:sp>
    </p:spTree>
    <p:extLst>
      <p:ext uri="{BB962C8B-B14F-4D97-AF65-F5344CB8AC3E}">
        <p14:creationId xmlns:p14="http://schemas.microsoft.com/office/powerpoint/2010/main" val="29390756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FBA11424-BE0A-3D37-0890-A2A2DE93D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047574-0EB1-EAC8-5C26-7D90334220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AE56B6-239A-CFF3-C060-BF160A34F2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6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E4A49895-9A26-A0BB-CC0E-1177293DE74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36029"/>
          </a:xfrm>
        </p:spPr>
        <p:txBody>
          <a:bodyPr>
            <a:noAutofit/>
          </a:bodyPr>
          <a:lstStyle/>
          <a:p>
            <a:r>
              <a:rPr lang="en-US" sz="3200" dirty="0"/>
              <a:t>The 3 Main Types of Data Models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8E54481-12E9-6C9E-8498-2BA4BE0A1A9A}"/>
              </a:ext>
            </a:extLst>
          </p:cNvPr>
          <p:cNvSpPr txBox="1"/>
          <p:nvPr/>
        </p:nvSpPr>
        <p:spPr>
          <a:xfrm>
            <a:off x="0" y="1642891"/>
            <a:ext cx="9120249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2.    Logical Model – More Details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Adds attributes (properties of each entity)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Defines keys (like student IDs) and rules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Still not about the actual storage, but much closer to the real thing</a:t>
            </a:r>
          </a:p>
        </p:txBody>
      </p:sp>
    </p:spTree>
    <p:extLst>
      <p:ext uri="{BB962C8B-B14F-4D97-AF65-F5344CB8AC3E}">
        <p14:creationId xmlns:p14="http://schemas.microsoft.com/office/powerpoint/2010/main" val="1918004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9AA67367-322F-1693-7A76-18F332DA3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644C2D-38C6-1A50-8EF3-C4CC168970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0C4954-B6FE-E9A8-A237-1E6D926985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7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8CF22EC3-AC84-169F-970E-967E347C497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36029"/>
          </a:xfrm>
        </p:spPr>
        <p:txBody>
          <a:bodyPr>
            <a:noAutofit/>
          </a:bodyPr>
          <a:lstStyle/>
          <a:p>
            <a:r>
              <a:rPr lang="en-US" sz="3200" dirty="0"/>
              <a:t>The 3 Main Types of Data Models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386EC1-844A-4978-688B-01E8D3C3F4D4}"/>
              </a:ext>
            </a:extLst>
          </p:cNvPr>
          <p:cNvSpPr txBox="1"/>
          <p:nvPr/>
        </p:nvSpPr>
        <p:spPr>
          <a:xfrm>
            <a:off x="0" y="1642891"/>
            <a:ext cx="9120249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3.    Physical Model – How It’s Actually Stored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Shows exactly how the database will be built in a specific system (like MySQL or Azure SQL)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Includes tables, column names, data types, indexes, and how it’s stored in hardware/software</a:t>
            </a:r>
          </a:p>
        </p:txBody>
      </p:sp>
    </p:spTree>
    <p:extLst>
      <p:ext uri="{BB962C8B-B14F-4D97-AF65-F5344CB8AC3E}">
        <p14:creationId xmlns:p14="http://schemas.microsoft.com/office/powerpoint/2010/main" val="42305807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60E50586-4D7C-8787-2F2B-EE4E6C682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561D05-FE57-633C-8424-2838CFCA6B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A436CF-2FE3-354B-D6C4-105416E46D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8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68E38D8E-26D2-5CFC-7D2F-62477B17E66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36029"/>
          </a:xfrm>
        </p:spPr>
        <p:txBody>
          <a:bodyPr>
            <a:noAutofit/>
          </a:bodyPr>
          <a:lstStyle/>
          <a:p>
            <a:r>
              <a:rPr lang="en-US" sz="3200" dirty="0"/>
              <a:t>The 3 Main Types of Data Models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10A160-DF87-8A5B-B253-1CE56198393A}"/>
              </a:ext>
            </a:extLst>
          </p:cNvPr>
          <p:cNvSpPr txBox="1"/>
          <p:nvPr/>
        </p:nvSpPr>
        <p:spPr>
          <a:xfrm>
            <a:off x="0" y="1642891"/>
            <a:ext cx="9120249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Analogy – Building a House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Conceptual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= Rough sketch of where rooms will be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Logical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= Exact measurements and materials list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Physical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= Laying bricks, wiring the house, installing plumbing</a:t>
            </a:r>
          </a:p>
        </p:txBody>
      </p:sp>
    </p:spTree>
    <p:extLst>
      <p:ext uri="{BB962C8B-B14F-4D97-AF65-F5344CB8AC3E}">
        <p14:creationId xmlns:p14="http://schemas.microsoft.com/office/powerpoint/2010/main" val="38491320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4D84AB3D-86F9-4FE1-2DB9-1A9C95EFA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DDF95C-41E9-4771-3496-288F74D2A7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DFADBE-49B7-298F-05DD-60C478ED46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9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9A594B22-5E58-68AA-1D3E-831883A68A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914401"/>
          </a:xfrm>
        </p:spPr>
        <p:txBody>
          <a:bodyPr>
            <a:noAutofit/>
          </a:bodyPr>
          <a:lstStyle/>
          <a:p>
            <a:r>
              <a:rPr lang="en-US" sz="3200" dirty="0"/>
              <a:t>The Relational Model – The Heart of Modern Databases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A7942F5-AAAF-C821-4332-F1AE1537A4D2}"/>
              </a:ext>
            </a:extLst>
          </p:cNvPr>
          <p:cNvSpPr txBox="1"/>
          <p:nvPr/>
        </p:nvSpPr>
        <p:spPr>
          <a:xfrm>
            <a:off x="0" y="1642891"/>
            <a:ext cx="9120249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What is it?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The relational model </a:t>
            </a:r>
            <a:r>
              <a:rPr lang="en-US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organises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data into tables (we also call them </a:t>
            </a:r>
            <a:r>
              <a:rPr lang="en-US" sz="2800" i="1" dirty="0">
                <a:latin typeface="Calibri" panose="020F0502020204030204" pitchFamily="34" charset="0"/>
                <a:cs typeface="Calibri" panose="020F0502020204030204" pitchFamily="34" charset="0"/>
              </a:rPr>
              <a:t>relations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).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Each row is a record — or in database terms, a </a:t>
            </a:r>
            <a:r>
              <a:rPr lang="en-US" sz="2800" i="1" dirty="0">
                <a:latin typeface="Calibri" panose="020F0502020204030204" pitchFamily="34" charset="0"/>
                <a:cs typeface="Calibri" panose="020F0502020204030204" pitchFamily="34" charset="0"/>
              </a:rPr>
              <a:t>tuple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Each column is an attribute — or simply a </a:t>
            </a:r>
            <a:r>
              <a:rPr lang="en-US" sz="2800" i="1" dirty="0">
                <a:latin typeface="Calibri" panose="020F0502020204030204" pitchFamily="34" charset="0"/>
                <a:cs typeface="Calibri" panose="020F0502020204030204" pitchFamily="34" charset="0"/>
              </a:rPr>
              <a:t>field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64892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3404392C-29ED-F864-3875-C9A741920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2FC64F-EA28-ED31-D1C3-223679D870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D72C60-6655-137E-E4B4-66E0BE590E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10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ADBAA195-41A9-8E14-4417-BED11209AA6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914401"/>
          </a:xfrm>
        </p:spPr>
        <p:txBody>
          <a:bodyPr>
            <a:noAutofit/>
          </a:bodyPr>
          <a:lstStyle/>
          <a:p>
            <a:r>
              <a:rPr lang="en-US" sz="3200" dirty="0"/>
              <a:t>The Relational Model – The Heart of Modern Databases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CE6747-17A2-71AD-4B9A-B06DC8FE71F8}"/>
              </a:ext>
            </a:extLst>
          </p:cNvPr>
          <p:cNvSpPr txBox="1"/>
          <p:nvPr/>
        </p:nvSpPr>
        <p:spPr>
          <a:xfrm>
            <a:off x="0" y="1642891"/>
            <a:ext cx="9120249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How it works: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Tables can be linked using keys (like Student ID, Medicare Number, etc.).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These links let us pull related data together without storing it twice.</a:t>
            </a:r>
          </a:p>
        </p:txBody>
      </p:sp>
    </p:spTree>
    <p:extLst>
      <p:ext uri="{BB962C8B-B14F-4D97-AF65-F5344CB8AC3E}">
        <p14:creationId xmlns:p14="http://schemas.microsoft.com/office/powerpoint/2010/main" val="1650198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8CB20152-A628-37E7-7FDF-546ED7FE7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5DDBF8-915D-2FF7-3F00-01C0CDD9CA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A0F757-5029-7C67-F04A-164648E11A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11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7EEA485-0811-E356-E5DF-3257B053BCD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914401"/>
          </a:xfrm>
        </p:spPr>
        <p:txBody>
          <a:bodyPr>
            <a:noAutofit/>
          </a:bodyPr>
          <a:lstStyle/>
          <a:p>
            <a:r>
              <a:rPr lang="en-US" sz="3200" dirty="0"/>
              <a:t>The Relational Model – The Heart of Modern Databases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B203BD9-5566-6653-BA6B-01636DF71761}"/>
              </a:ext>
            </a:extLst>
          </p:cNvPr>
          <p:cNvSpPr txBox="1"/>
          <p:nvPr/>
        </p:nvSpPr>
        <p:spPr>
          <a:xfrm>
            <a:off x="0" y="1642891"/>
            <a:ext cx="9120249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Why it’s awesome: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Reduces redundancy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– no need to repeat the same info in multiple places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Easy to query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– we can find what we need using SQL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Flexible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– we can add new data without redesigning everything</a:t>
            </a:r>
          </a:p>
        </p:txBody>
      </p:sp>
    </p:spTree>
    <p:extLst>
      <p:ext uri="{BB962C8B-B14F-4D97-AF65-F5344CB8AC3E}">
        <p14:creationId xmlns:p14="http://schemas.microsoft.com/office/powerpoint/2010/main" val="3861001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255A3570-E493-65BB-5D43-BC3C3ACC0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AA6D7E-F77B-428C-B2D4-1BDD65BEE8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CDD852-9699-4066-802D-A3F7BE32B7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12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88C8F5E-68FC-CFCC-2DA7-4FCF3D477D9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914401"/>
          </a:xfrm>
        </p:spPr>
        <p:txBody>
          <a:bodyPr>
            <a:noAutofit/>
          </a:bodyPr>
          <a:lstStyle/>
          <a:p>
            <a:r>
              <a:rPr lang="en-US" sz="3200" dirty="0"/>
              <a:t>The Relational Model – The Heart of Modern Databases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5D12B2B-F4FC-CAAA-B25C-59BCEF1B5B17}"/>
              </a:ext>
            </a:extLst>
          </p:cNvPr>
          <p:cNvSpPr txBox="1"/>
          <p:nvPr/>
        </p:nvSpPr>
        <p:spPr>
          <a:xfrm>
            <a:off x="0" y="1642891"/>
            <a:ext cx="9120249" cy="3254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Analogy:</a:t>
            </a:r>
            <a:b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Imagine different sheets in Excel that share a common column.</a:t>
            </a:r>
            <a:b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Example: One sheet has student details, another has their enrolments, both linked by </a:t>
            </a:r>
            <a:r>
              <a:rPr lang="en-US" sz="2800" i="1" dirty="0">
                <a:latin typeface="Calibri" panose="020F0502020204030204" pitchFamily="34" charset="0"/>
                <a:cs typeface="Calibri" panose="020F0502020204030204" pitchFamily="34" charset="0"/>
              </a:rPr>
              <a:t>Student ID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512084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1F9A51B1-B1A9-DAA6-F1D6-168245288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30DDCA-EF00-C2AF-284C-25C89AD64D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671A34-7911-C9FE-611F-052096E910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13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0B543F5A-005B-F358-5C88-1D70A963EA6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914401"/>
          </a:xfrm>
        </p:spPr>
        <p:txBody>
          <a:bodyPr>
            <a:noAutofit/>
          </a:bodyPr>
          <a:lstStyle/>
          <a:p>
            <a:r>
              <a:rPr lang="en-US" sz="3200" dirty="0"/>
              <a:t>The Relational Model – The Heart of Modern Databases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D4E39D2-028B-2205-92DA-F1C72AA53CD9}"/>
              </a:ext>
            </a:extLst>
          </p:cNvPr>
          <p:cNvSpPr txBox="1"/>
          <p:nvPr/>
        </p:nvSpPr>
        <p:spPr>
          <a:xfrm>
            <a:off x="0" y="1114352"/>
            <a:ext cx="9120249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Australian Example:</a:t>
            </a:r>
            <a:b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Think about Medicare: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One table stores </a:t>
            </a:r>
            <a:r>
              <a:rPr lang="en-US" sz="2800" i="1" dirty="0">
                <a:latin typeface="Calibri" panose="020F0502020204030204" pitchFamily="34" charset="0"/>
                <a:cs typeface="Calibri" panose="020F0502020204030204" pitchFamily="34" charset="0"/>
              </a:rPr>
              <a:t>Patients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(name, date of birth, Medicare number)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Another table stores </a:t>
            </a:r>
            <a:r>
              <a:rPr lang="en-US" sz="2800" i="1" dirty="0">
                <a:latin typeface="Calibri" panose="020F0502020204030204" pitchFamily="34" charset="0"/>
                <a:cs typeface="Calibri" panose="020F0502020204030204" pitchFamily="34" charset="0"/>
              </a:rPr>
              <a:t>Appointments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(date, doctor, clinic, Medicare number)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The Medicare Number links them together so we can see which patient has which appointments</a:t>
            </a:r>
          </a:p>
        </p:txBody>
      </p:sp>
    </p:spTree>
    <p:extLst>
      <p:ext uri="{BB962C8B-B14F-4D97-AF65-F5344CB8AC3E}">
        <p14:creationId xmlns:p14="http://schemas.microsoft.com/office/powerpoint/2010/main" val="14389546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A4A43338-F274-92CB-A56A-A1880543E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7D25BD-D5A7-0E23-6999-E7D86C536E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3C4490-65D9-4C89-D751-B53D086F2B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14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66DC4A2A-0BD0-825A-727D-DF71743FD8F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47483"/>
          </a:xfrm>
        </p:spPr>
        <p:txBody>
          <a:bodyPr>
            <a:noAutofit/>
          </a:bodyPr>
          <a:lstStyle/>
          <a:p>
            <a:r>
              <a:rPr lang="en-US" sz="3200" dirty="0"/>
              <a:t>Relational Table Basics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521138F-5395-1223-7DB0-0B487E80C94F}"/>
              </a:ext>
            </a:extLst>
          </p:cNvPr>
          <p:cNvSpPr txBox="1"/>
          <p:nvPr/>
        </p:nvSpPr>
        <p:spPr>
          <a:xfrm>
            <a:off x="0" y="791084"/>
            <a:ext cx="9120249" cy="584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What’s in a relational table?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Each row = one record (e.g., one student)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Each column = one attribute (e.g., Name, Date of Birth)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All values in a column must be the same data type (e.g., all dates, all numbers, all text)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Each column has a domain – the set of allowed values (e.g., GPA can only be between 0.0 and 7.0)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Order doesn’t matter – the sequence of rows or columns doesn’t change the meaning of the data</a:t>
            </a:r>
          </a:p>
        </p:txBody>
      </p:sp>
    </p:spTree>
    <p:extLst>
      <p:ext uri="{BB962C8B-B14F-4D97-AF65-F5344CB8AC3E}">
        <p14:creationId xmlns:p14="http://schemas.microsoft.com/office/powerpoint/2010/main" val="463364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6F902507-432C-29DF-68A5-9D34E8B80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97E201-FABD-048B-C32B-ED10DAD79C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F57D69-1AD6-CEC9-8B85-28385F3340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15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9F47610E-CEB2-A3BC-16FA-3B4B403391B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47483"/>
          </a:xfrm>
        </p:spPr>
        <p:txBody>
          <a:bodyPr>
            <a:noAutofit/>
          </a:bodyPr>
          <a:lstStyle/>
          <a:p>
            <a:r>
              <a:rPr lang="en-US" sz="3200" dirty="0"/>
              <a:t>Relational Table Basics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8E543F-757C-A11D-E3FF-EE1CF0D6D846}"/>
              </a:ext>
            </a:extLst>
          </p:cNvPr>
          <p:cNvSpPr txBox="1"/>
          <p:nvPr/>
        </p:nvSpPr>
        <p:spPr>
          <a:xfrm>
            <a:off x="0" y="791084"/>
            <a:ext cx="9120249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Analogy:</a:t>
            </a:r>
            <a:b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Think of a cricket team list: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Each row is a player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Each column is a detail about that player — name, position, jersey number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All jersey numbers are numbers, all positions are text, etc.</a:t>
            </a:r>
          </a:p>
        </p:txBody>
      </p:sp>
    </p:spTree>
    <p:extLst>
      <p:ext uri="{BB962C8B-B14F-4D97-AF65-F5344CB8AC3E}">
        <p14:creationId xmlns:p14="http://schemas.microsoft.com/office/powerpoint/2010/main" val="2168119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BB36AA6D-1126-1233-1D4C-E79FC4680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1B522F-9FBD-AB44-D69A-C1BE21DFB7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41DCFC-3F1F-8134-483E-24F29E9D09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16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066F32CF-2E96-4238-EBDD-2519D11E2EC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47483"/>
          </a:xfrm>
        </p:spPr>
        <p:txBody>
          <a:bodyPr>
            <a:noAutofit/>
          </a:bodyPr>
          <a:lstStyle/>
          <a:p>
            <a:r>
              <a:rPr lang="en-US" sz="3200" dirty="0"/>
              <a:t>Relational Table Basics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5E5BD7-7334-200B-1F87-1C1A80EE28CE}"/>
              </a:ext>
            </a:extLst>
          </p:cNvPr>
          <p:cNvSpPr txBox="1"/>
          <p:nvPr/>
        </p:nvSpPr>
        <p:spPr>
          <a:xfrm>
            <a:off x="0" y="791084"/>
            <a:ext cx="9120249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Australian Example:</a:t>
            </a:r>
            <a:b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At ACU, the </a:t>
            </a:r>
            <a:r>
              <a:rPr lang="en-US" sz="2800" i="1" dirty="0">
                <a:latin typeface="Calibri" panose="020F0502020204030204" pitchFamily="34" charset="0"/>
                <a:cs typeface="Calibri" panose="020F0502020204030204" pitchFamily="34" charset="0"/>
              </a:rPr>
              <a:t>Semester 2 Enrolment Table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might have: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Rows: Each enrolled student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Columns: Student ID, Name, Degree, Campus, Units Enrolled</a:t>
            </a:r>
          </a:p>
        </p:txBody>
      </p:sp>
    </p:spTree>
    <p:extLst>
      <p:ext uri="{BB962C8B-B14F-4D97-AF65-F5344CB8AC3E}">
        <p14:creationId xmlns:p14="http://schemas.microsoft.com/office/powerpoint/2010/main" val="7288840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8BE889EA-99A9-A103-8CAB-C8F17E9F5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5C0FF0-A01E-6C6D-5851-E5F2A49DBE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02BFD2-DBB2-0D2A-3D83-F5EC308205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17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5C8C648F-8B04-58F9-75DE-9184293EFB9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47483"/>
          </a:xfrm>
        </p:spPr>
        <p:txBody>
          <a:bodyPr>
            <a:noAutofit/>
          </a:bodyPr>
          <a:lstStyle/>
          <a:p>
            <a:r>
              <a:rPr lang="en-US" sz="3200" dirty="0"/>
              <a:t>Relationships – Connecting the Dots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2282D11-0C76-E666-6DBE-69FD3227258A}"/>
              </a:ext>
            </a:extLst>
          </p:cNvPr>
          <p:cNvSpPr txBox="1"/>
          <p:nvPr/>
        </p:nvSpPr>
        <p:spPr>
          <a:xfrm>
            <a:off x="0" y="791084"/>
            <a:ext cx="9120249" cy="1961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What are relationships in a relational database?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They describe how data in one table is connected to data in another.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547268-2D70-B67D-5325-2964DCDACEDC}"/>
              </a:ext>
            </a:extLst>
          </p:cNvPr>
          <p:cNvSpPr txBox="1"/>
          <p:nvPr/>
        </p:nvSpPr>
        <p:spPr>
          <a:xfrm>
            <a:off x="-1" y="2752839"/>
            <a:ext cx="9120249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The 3 main types: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One-to-One (1:1)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One student has one ID card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Each side matches to only one record on the other side</a:t>
            </a:r>
          </a:p>
        </p:txBody>
      </p:sp>
    </p:spTree>
    <p:extLst>
      <p:ext uri="{BB962C8B-B14F-4D97-AF65-F5344CB8AC3E}">
        <p14:creationId xmlns:p14="http://schemas.microsoft.com/office/powerpoint/2010/main" val="2369819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2CC8F54A-0D47-5B8C-BA00-7F56B28F2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877CAA-8768-E4CB-4775-752ECAC471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84978D-B2ED-4BC8-CC10-608AABEFF7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18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18EEE0F6-64E5-FCF0-048A-BAF5008DDC1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47483"/>
          </a:xfrm>
        </p:spPr>
        <p:txBody>
          <a:bodyPr>
            <a:noAutofit/>
          </a:bodyPr>
          <a:lstStyle/>
          <a:p>
            <a:r>
              <a:rPr lang="en-US" sz="3200" dirty="0"/>
              <a:t>Relationships – Connecting the Dots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30EFAD-DB42-DDF4-AB56-BD8AA56C3A99}"/>
              </a:ext>
            </a:extLst>
          </p:cNvPr>
          <p:cNvSpPr txBox="1"/>
          <p:nvPr/>
        </p:nvSpPr>
        <p:spPr>
          <a:xfrm>
            <a:off x="0" y="607728"/>
            <a:ext cx="9120249" cy="584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2"/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One-to-Many (1:M)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One course has many students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Common in real databases — one “parent” record, many “child” records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 startAt="3"/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Many-to-Many (M:N)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Students </a:t>
            </a:r>
            <a:r>
              <a:rPr lang="en-US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enrol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in many courses, and each course has many students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Needs a bridge (junction) table to make it work in a relational database</a:t>
            </a:r>
          </a:p>
        </p:txBody>
      </p:sp>
    </p:spTree>
    <p:extLst>
      <p:ext uri="{BB962C8B-B14F-4D97-AF65-F5344CB8AC3E}">
        <p14:creationId xmlns:p14="http://schemas.microsoft.com/office/powerpoint/2010/main" val="27151613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64F14247-7A93-E237-CA05-5654231F9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560ED7-D621-5AE4-EBA5-66775075E4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707694-EED8-0CCB-A777-8F6969D2AC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19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1C222BCF-71A0-05F8-974A-889DD5C92C2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47483"/>
          </a:xfrm>
        </p:spPr>
        <p:txBody>
          <a:bodyPr>
            <a:noAutofit/>
          </a:bodyPr>
          <a:lstStyle/>
          <a:p>
            <a:r>
              <a:rPr lang="en-US" sz="3200" dirty="0"/>
              <a:t>Relationships – Connecting the Dots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204E0A-1221-DFA9-9F8D-0B72C0FE194A}"/>
              </a:ext>
            </a:extLst>
          </p:cNvPr>
          <p:cNvSpPr txBox="1"/>
          <p:nvPr/>
        </p:nvSpPr>
        <p:spPr>
          <a:xfrm>
            <a:off x="0" y="607728"/>
            <a:ext cx="9120249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Analogy – Sports Teams: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1:M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→ One coach manages many players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M:N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→ A player can play in many matches, and each match has many players</a:t>
            </a:r>
          </a:p>
        </p:txBody>
      </p:sp>
    </p:spTree>
    <p:extLst>
      <p:ext uri="{BB962C8B-B14F-4D97-AF65-F5344CB8AC3E}">
        <p14:creationId xmlns:p14="http://schemas.microsoft.com/office/powerpoint/2010/main" val="11660239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D1B171E9-148C-167D-1F7F-FF146BB69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594813-0A27-1A96-1AD0-4F97B29A08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E0CFD7-6396-D0E2-D0D1-3060DF36FF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20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51EAAF1-2B83-C58E-D4A8-8C17CB9BCC0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47483"/>
          </a:xfrm>
        </p:spPr>
        <p:txBody>
          <a:bodyPr>
            <a:noAutofit/>
          </a:bodyPr>
          <a:lstStyle/>
          <a:p>
            <a:r>
              <a:rPr lang="en-US" sz="3200" dirty="0"/>
              <a:t>Relationships – Connecting the Dots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0982BC-647B-BF00-F7DC-CCF7261236CF}"/>
              </a:ext>
            </a:extLst>
          </p:cNvPr>
          <p:cNvSpPr txBox="1"/>
          <p:nvPr/>
        </p:nvSpPr>
        <p:spPr>
          <a:xfrm>
            <a:off x="0" y="607728"/>
            <a:ext cx="9120249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Australian Example:</a:t>
            </a:r>
            <a:b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Think of the Myki card system in Melbourne: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A </a:t>
            </a:r>
            <a:r>
              <a:rPr lang="en-US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traveller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can take many trips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Each trip can be taken by many different </a:t>
            </a:r>
            <a:r>
              <a:rPr lang="en-US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travellers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over time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The system uses linking tables to connect </a:t>
            </a:r>
            <a:r>
              <a:rPr lang="en-US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travellers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and trips efficiently</a:t>
            </a:r>
          </a:p>
        </p:txBody>
      </p:sp>
    </p:spTree>
    <p:extLst>
      <p:ext uri="{BB962C8B-B14F-4D97-AF65-F5344CB8AC3E}">
        <p14:creationId xmlns:p14="http://schemas.microsoft.com/office/powerpoint/2010/main" val="35097379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EC06AFFD-8849-EF94-6D3B-CC1F1AEEA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B148D8-8543-3276-0DF7-714B29430C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C33C70-0DB5-4E21-9CFF-A0D57CCC63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21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BF00CEB-52AB-5D07-4953-23918AA22AF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47483"/>
          </a:xfrm>
        </p:spPr>
        <p:txBody>
          <a:bodyPr>
            <a:noAutofit/>
          </a:bodyPr>
          <a:lstStyle/>
          <a:p>
            <a:r>
              <a:rPr lang="en-US" sz="3200" dirty="0"/>
              <a:t>Tools for Drawing ERDs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0E42F3-5C07-F988-7624-2BD382BCBDF3}"/>
              </a:ext>
            </a:extLst>
          </p:cNvPr>
          <p:cNvSpPr txBox="1"/>
          <p:nvPr/>
        </p:nvSpPr>
        <p:spPr>
          <a:xfrm>
            <a:off x="0" y="607728"/>
            <a:ext cx="9120249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Popular ERD Tools: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draw.io (also called diagrams.net)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Lucidchart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Creately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dbdiagram.io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Visio Drawing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98F2307-F2EB-F0A2-D0B7-6F739F09D39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2900"/>
          <a:stretch>
            <a:fillRect/>
          </a:stretch>
        </p:blipFill>
        <p:spPr>
          <a:xfrm>
            <a:off x="0" y="4571478"/>
            <a:ext cx="9144000" cy="1908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0966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03D01-4CB2-5356-182F-EE8A0B4E0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E8984DA-461F-F226-F552-6D9251540C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9578534"/>
              </p:ext>
            </p:extLst>
          </p:nvPr>
        </p:nvGraphicFramePr>
        <p:xfrm>
          <a:off x="263627" y="1156662"/>
          <a:ext cx="8616745" cy="557574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2367116">
                  <a:extLst>
                    <a:ext uri="{9D8B030D-6E8A-4147-A177-3AD203B41FA5}">
                      <a16:colId xmlns:a16="http://schemas.microsoft.com/office/drawing/2014/main" val="1931691816"/>
                    </a:ext>
                  </a:extLst>
                </a:gridCol>
                <a:gridCol w="1487137">
                  <a:extLst>
                    <a:ext uri="{9D8B030D-6E8A-4147-A177-3AD203B41FA5}">
                      <a16:colId xmlns:a16="http://schemas.microsoft.com/office/drawing/2014/main" val="668206716"/>
                    </a:ext>
                  </a:extLst>
                </a:gridCol>
                <a:gridCol w="1543657">
                  <a:extLst>
                    <a:ext uri="{9D8B030D-6E8A-4147-A177-3AD203B41FA5}">
                      <a16:colId xmlns:a16="http://schemas.microsoft.com/office/drawing/2014/main" val="1326575257"/>
                    </a:ext>
                  </a:extLst>
                </a:gridCol>
                <a:gridCol w="1161435">
                  <a:extLst>
                    <a:ext uri="{9D8B030D-6E8A-4147-A177-3AD203B41FA5}">
                      <a16:colId xmlns:a16="http://schemas.microsoft.com/office/drawing/2014/main" val="29698953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3126578611"/>
                    </a:ext>
                  </a:extLst>
                </a:gridCol>
              </a:tblGrid>
              <a:tr h="223170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Calibir"/>
                        </a:rPr>
                        <a:t>Tool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Calibir"/>
                        </a:rPr>
                        <a:t>Description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latin typeface="Calibir"/>
                        </a:rPr>
                        <a:t>Platform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latin typeface="Calibir"/>
                        </a:rPr>
                        <a:t>Best For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Calibir"/>
                        </a:rPr>
                        <a:t>Link</a:t>
                      </a:r>
                    </a:p>
                  </a:txBody>
                  <a:tcPr marL="40290" marR="40290" marT="20145" marB="20145" anchor="ctr"/>
                </a:tc>
                <a:extLst>
                  <a:ext uri="{0D108BD9-81ED-4DB2-BD59-A6C34878D82A}">
                    <a16:rowId xmlns:a16="http://schemas.microsoft.com/office/drawing/2014/main" val="3414072182"/>
                  </a:ext>
                </a:extLst>
              </a:tr>
              <a:tr h="771810"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Calibir"/>
                        </a:rPr>
                        <a:t>Draw.io (diagrams.net)</a:t>
                      </a:r>
                    </a:p>
                  </a:txBody>
                  <a:tcPr marL="40290" marR="40290" marT="20145" marB="20145" anchor="ctr"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alibir"/>
                        </a:rPr>
                        <a:t>Intuitive, browser-based diagramming tool with UML templates.</a:t>
                      </a:r>
                    </a:p>
                  </a:txBody>
                  <a:tcPr marL="40290" marR="40290" marT="20145" marB="20145" anchor="ctr"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alibir"/>
                        </a:rPr>
                        <a:t>Web, Desktop</a:t>
                      </a:r>
                    </a:p>
                  </a:txBody>
                  <a:tcPr marL="40290" marR="40290" marT="20145" marB="20145" anchor="ctr"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alibir"/>
                        </a:rPr>
                        <a:t>Class Diagrams, Use Case Diagrams, Flowcharts</a:t>
                      </a:r>
                    </a:p>
                  </a:txBody>
                  <a:tcPr marL="40290" marR="40290" marT="20145" marB="20145" anchor="ctr"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alibir"/>
                          <a:hlinkClick r:id="rId3"/>
                        </a:rPr>
                        <a:t>https://draw.io</a:t>
                      </a:r>
                      <a:endParaRPr lang="en-US" sz="1400" dirty="0">
                        <a:latin typeface="Calibir"/>
                      </a:endParaRPr>
                    </a:p>
                  </a:txBody>
                  <a:tcPr marL="40290" marR="40290" marT="20145" marB="20145" anchor="ctr"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2463714"/>
                  </a:ext>
                </a:extLst>
              </a:tr>
              <a:tr h="771810">
                <a:tc>
                  <a:txBody>
                    <a:bodyPr/>
                    <a:lstStyle/>
                    <a:p>
                      <a:r>
                        <a:rPr lang="en-US" sz="1400" b="0" dirty="0" err="1">
                          <a:latin typeface="Calibir"/>
                        </a:rPr>
                        <a:t>Lucidchart</a:t>
                      </a:r>
                      <a:r>
                        <a:rPr lang="en-US" sz="1400" b="0" dirty="0">
                          <a:latin typeface="Calibir"/>
                        </a:rPr>
                        <a:t> (Free Plan)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Calibir"/>
                        </a:rPr>
                        <a:t>Easy-to-use interface with real-time collaboration and UML templates.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alibir"/>
                        </a:rPr>
                        <a:t>Web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alibir"/>
                        </a:rPr>
                        <a:t>UML diagrams, Use Case design, Group work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alibir"/>
                          <a:hlinkClick r:id="rId4"/>
                        </a:rPr>
                        <a:t>https://www.lucidchart.com</a:t>
                      </a:r>
                      <a:endParaRPr lang="en-US" sz="1400" dirty="0">
                        <a:latin typeface="Calibir"/>
                      </a:endParaRPr>
                    </a:p>
                  </a:txBody>
                  <a:tcPr marL="40290" marR="40290" marT="20145" marB="20145" anchor="ctr"/>
                </a:tc>
                <a:extLst>
                  <a:ext uri="{0D108BD9-81ED-4DB2-BD59-A6C34878D82A}">
                    <a16:rowId xmlns:a16="http://schemas.microsoft.com/office/drawing/2014/main" val="3736296214"/>
                  </a:ext>
                </a:extLst>
              </a:tr>
              <a:tr h="771810"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Calibir"/>
                        </a:rPr>
                        <a:t>Visual Paradigm (Community Edition)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Calibir"/>
                        </a:rPr>
                        <a:t>Professional UML and system modeling tool with rich diagram support.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Calibir"/>
                        </a:rPr>
                        <a:t>Desktop (Windows/macOS/Linux)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alibir"/>
                        </a:rPr>
                        <a:t>Class Diagrams, Sequence Diagrams, DFDs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alibir"/>
                          <a:hlinkClick r:id="rId5"/>
                        </a:rPr>
                        <a:t>https://www.visual-paradigm.com/download/community.jsp</a:t>
                      </a:r>
                      <a:endParaRPr lang="en-US" sz="1400" dirty="0">
                        <a:latin typeface="Calibir"/>
                      </a:endParaRPr>
                    </a:p>
                  </a:txBody>
                  <a:tcPr marL="40290" marR="40290" marT="20145" marB="20145" anchor="ctr"/>
                </a:tc>
                <a:extLst>
                  <a:ext uri="{0D108BD9-81ED-4DB2-BD59-A6C34878D82A}">
                    <a16:rowId xmlns:a16="http://schemas.microsoft.com/office/drawing/2014/main" val="4204469160"/>
                  </a:ext>
                </a:extLst>
              </a:tr>
              <a:tr h="771810">
                <a:tc>
                  <a:txBody>
                    <a:bodyPr/>
                    <a:lstStyle/>
                    <a:p>
                      <a:r>
                        <a:rPr lang="en-US" sz="1400" b="0" dirty="0" err="1">
                          <a:latin typeface="Calibir"/>
                        </a:rPr>
                        <a:t>StarUML</a:t>
                      </a:r>
                      <a:r>
                        <a:rPr lang="en-US" sz="1400" b="0" dirty="0">
                          <a:latin typeface="Calibir"/>
                        </a:rPr>
                        <a:t> (Free Trial or License)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Calibir"/>
                        </a:rPr>
                        <a:t>Designed for software engineering students and professionals.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Calibir"/>
                        </a:rPr>
                        <a:t>Desktop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Calibir"/>
                        </a:rPr>
                        <a:t>Full UML diagram suite (recommended in course)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alibir"/>
                          <a:hlinkClick r:id="rId6"/>
                        </a:rPr>
                        <a:t>https://staruml.io</a:t>
                      </a:r>
                      <a:endParaRPr lang="en-US" sz="1400" dirty="0">
                        <a:latin typeface="Calibir"/>
                      </a:endParaRPr>
                    </a:p>
                  </a:txBody>
                  <a:tcPr marL="40290" marR="40290" marT="20145" marB="20145" anchor="ctr"/>
                </a:tc>
                <a:extLst>
                  <a:ext uri="{0D108BD9-81ED-4DB2-BD59-A6C34878D82A}">
                    <a16:rowId xmlns:a16="http://schemas.microsoft.com/office/drawing/2014/main" val="2258441048"/>
                  </a:ext>
                </a:extLst>
              </a:tr>
              <a:tr h="771810">
                <a:tc>
                  <a:txBody>
                    <a:bodyPr/>
                    <a:lstStyle/>
                    <a:p>
                      <a:r>
                        <a:rPr lang="en-US" sz="1400" b="0" dirty="0" err="1">
                          <a:latin typeface="Calibir"/>
                        </a:rPr>
                        <a:t>Creately</a:t>
                      </a:r>
                      <a:r>
                        <a:rPr lang="en-US" sz="1400" b="0" dirty="0">
                          <a:latin typeface="Calibir"/>
                        </a:rPr>
                        <a:t> (Free Tier)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Calibir"/>
                        </a:rPr>
                        <a:t>Collaborative visual workspace with multiple UML templates.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Calibir"/>
                        </a:rPr>
                        <a:t>Web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Calibir"/>
                        </a:rPr>
                        <a:t>Use Cases, Class Diagrams, ERDs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alibir"/>
                          <a:hlinkClick r:id="rId7"/>
                        </a:rPr>
                        <a:t>https://creately.com</a:t>
                      </a:r>
                      <a:endParaRPr lang="en-US" sz="1400" dirty="0">
                        <a:latin typeface="Calibir"/>
                      </a:endParaRPr>
                    </a:p>
                  </a:txBody>
                  <a:tcPr marL="40290" marR="40290" marT="20145" marB="20145" anchor="ctr"/>
                </a:tc>
                <a:extLst>
                  <a:ext uri="{0D108BD9-81ED-4DB2-BD59-A6C34878D82A}">
                    <a16:rowId xmlns:a16="http://schemas.microsoft.com/office/drawing/2014/main" val="2728068856"/>
                  </a:ext>
                </a:extLst>
              </a:tr>
            </a:tbl>
          </a:graphicData>
        </a:graphic>
      </p:graphicFrame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5675A470-EF89-90FC-5C4D-C793DE5E333B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7849590" cy="547483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533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2120C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D393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b="1" dirty="0"/>
              <a:t>Tools for Drawing ERDs</a:t>
            </a:r>
            <a:endParaRPr lang="en-AU" sz="30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03548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600C130C-848A-1D06-E323-68EF1134D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B80703-DE22-31F9-55C0-31507A498D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0F095A-B1FB-A2A9-7A96-2D273C84F5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23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C97FC685-7268-307E-0E90-AB20C6DA2A0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47483"/>
          </a:xfrm>
        </p:spPr>
        <p:txBody>
          <a:bodyPr>
            <a:noAutofit/>
          </a:bodyPr>
          <a:lstStyle/>
          <a:p>
            <a:r>
              <a:rPr lang="en-US" sz="3200" dirty="0"/>
              <a:t>Tools for Drawing ERDs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969ACD-360E-CED8-8874-A90AA6003EEA}"/>
              </a:ext>
            </a:extLst>
          </p:cNvPr>
          <p:cNvSpPr txBox="1"/>
          <p:nvPr/>
        </p:nvSpPr>
        <p:spPr>
          <a:xfrm>
            <a:off x="0" y="607728"/>
            <a:ext cx="9120249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In this unit → draw.io is recommended because: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It’s free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Works in the browser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Saves to OneDrive, Google Drive, Dropbox</a:t>
            </a:r>
          </a:p>
        </p:txBody>
      </p:sp>
    </p:spTree>
    <p:extLst>
      <p:ext uri="{BB962C8B-B14F-4D97-AF65-F5344CB8AC3E}">
        <p14:creationId xmlns:p14="http://schemas.microsoft.com/office/powerpoint/2010/main" val="27588046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91B2D180-016B-5369-04AA-58A7DEA3C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22847D-D30D-F042-6660-BD4C3A316B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00FD54-D4A1-7996-8A5B-29FBF5AC49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24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0B8AC3F-6676-9B8C-DFF8-8E9FE74BF1E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47483"/>
          </a:xfrm>
        </p:spPr>
        <p:txBody>
          <a:bodyPr>
            <a:noAutofit/>
          </a:bodyPr>
          <a:lstStyle/>
          <a:p>
            <a:r>
              <a:rPr lang="en-US" sz="3200" dirty="0"/>
              <a:t>Tools for Drawing ERDs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B0950F1-D256-9BD3-DA5A-941B8592093C}"/>
              </a:ext>
            </a:extLst>
          </p:cNvPr>
          <p:cNvSpPr txBox="1"/>
          <p:nvPr/>
        </p:nvSpPr>
        <p:spPr>
          <a:xfrm>
            <a:off x="119732" y="830917"/>
            <a:ext cx="8756225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Recommendation for Students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Beginner-friendly: Start with Draw.io or </a:t>
            </a:r>
            <a:r>
              <a:rPr lang="en-US" sz="2800" dirty="0" err="1">
                <a:latin typeface="Calibir"/>
              </a:rPr>
              <a:t>Lucidchart</a:t>
            </a:r>
            <a:r>
              <a:rPr lang="en-US" sz="2800" dirty="0">
                <a:latin typeface="Calibir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Professional-level UML modelling: Use </a:t>
            </a:r>
            <a:r>
              <a:rPr lang="en-US" sz="2800" dirty="0" err="1">
                <a:latin typeface="Calibir"/>
              </a:rPr>
              <a:t>StarUML</a:t>
            </a:r>
            <a:r>
              <a:rPr lang="en-US" sz="2800" dirty="0">
                <a:latin typeface="Calibir"/>
              </a:rPr>
              <a:t> or Visual Paradigm.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Offline work: Prefer Visual Paradigm or </a:t>
            </a:r>
            <a:r>
              <a:rPr lang="en-US" sz="2800" dirty="0" err="1">
                <a:latin typeface="Calibir"/>
              </a:rPr>
              <a:t>StarUML</a:t>
            </a:r>
            <a:r>
              <a:rPr lang="en-US" sz="2800" dirty="0">
                <a:latin typeface="Calibir"/>
              </a:rPr>
              <a:t> desktop versions.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Collaboration features: Use </a:t>
            </a:r>
            <a:r>
              <a:rPr lang="en-US" sz="2800" dirty="0" err="1">
                <a:latin typeface="Calibir"/>
              </a:rPr>
              <a:t>Lucidchart</a:t>
            </a:r>
            <a:r>
              <a:rPr lang="en-US" sz="2800" dirty="0">
                <a:latin typeface="Calibir"/>
              </a:rPr>
              <a:t> or </a:t>
            </a:r>
            <a:r>
              <a:rPr lang="en-US" sz="2800" dirty="0" err="1">
                <a:latin typeface="Calibir"/>
              </a:rPr>
              <a:t>Creately</a:t>
            </a:r>
            <a:r>
              <a:rPr lang="en-US" sz="2800" dirty="0">
                <a:latin typeface="Calibir"/>
              </a:rPr>
              <a:t> (great for group projects).</a:t>
            </a:r>
          </a:p>
        </p:txBody>
      </p:sp>
    </p:spTree>
    <p:extLst>
      <p:ext uri="{BB962C8B-B14F-4D97-AF65-F5344CB8AC3E}">
        <p14:creationId xmlns:p14="http://schemas.microsoft.com/office/powerpoint/2010/main" val="9784752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3AE047D1-00F9-E067-30DA-5DFDAF6A5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6A4764-ABB2-9827-6AA2-3A66E3A741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B377DD-743E-F5D5-B00D-F5087F615C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25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3C0DD04-6DD5-5DEF-82DA-7EAE206C8C9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47483"/>
          </a:xfrm>
        </p:spPr>
        <p:txBody>
          <a:bodyPr>
            <a:noAutofit/>
          </a:bodyPr>
          <a:lstStyle/>
          <a:p>
            <a:r>
              <a:rPr lang="en-US" sz="3200" dirty="0"/>
              <a:t>Tools for Drawing ERDs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8C6AC0-B066-563C-76FD-9CD68B4E71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7864" y="921406"/>
            <a:ext cx="5876136" cy="381461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0582A97-465B-61F5-D43C-426AD07B93B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7510"/>
          <a:stretch>
            <a:fillRect/>
          </a:stretch>
        </p:blipFill>
        <p:spPr>
          <a:xfrm>
            <a:off x="3045938" y="4736024"/>
            <a:ext cx="6098062" cy="2121976"/>
          </a:xfrm>
          <a:prstGeom prst="rect">
            <a:avLst/>
          </a:prstGeom>
        </p:spPr>
      </p:pic>
      <p:sp>
        <p:nvSpPr>
          <p:cNvPr id="7" name="Text Placeholder 23">
            <a:extLst>
              <a:ext uri="{FF2B5EF4-FFF2-40B4-BE49-F238E27FC236}">
                <a16:creationId xmlns:a16="http://schemas.microsoft.com/office/drawing/2014/main" id="{3EED533B-9071-5630-59A8-2C8154AC7342}"/>
              </a:ext>
            </a:extLst>
          </p:cNvPr>
          <p:cNvSpPr txBox="1">
            <a:spLocks/>
          </p:cNvSpPr>
          <p:nvPr/>
        </p:nvSpPr>
        <p:spPr>
          <a:xfrm>
            <a:off x="1" y="900791"/>
            <a:ext cx="3267864" cy="578805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In database design, "Optional" and "Mandatory" terms in cardinality refer to whether an entity is required to participate in a relationship with another entity.</a:t>
            </a:r>
          </a:p>
        </p:txBody>
      </p:sp>
    </p:spTree>
    <p:extLst>
      <p:ext uri="{BB962C8B-B14F-4D97-AF65-F5344CB8AC3E}">
        <p14:creationId xmlns:p14="http://schemas.microsoft.com/office/powerpoint/2010/main" val="6234946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0827A7A5-0393-08AD-328E-9C523C115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88AF49-5431-09F2-40E0-73A2277DF4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CB509D-EA0B-B763-C1CF-191F643D3C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26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CAF2D9D5-3796-5910-7C06-B252260864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47483"/>
          </a:xfrm>
        </p:spPr>
        <p:txBody>
          <a:bodyPr>
            <a:noAutofit/>
          </a:bodyPr>
          <a:lstStyle/>
          <a:p>
            <a:r>
              <a:rPr lang="en-US" sz="3200" dirty="0"/>
              <a:t>Tools for Drawing ERDs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91EA48-E290-776E-F144-8FCD836C60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7864" y="921406"/>
            <a:ext cx="5876136" cy="381461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58F38B1-061E-6E5F-ACF2-72CB2AF53E8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7510"/>
          <a:stretch>
            <a:fillRect/>
          </a:stretch>
        </p:blipFill>
        <p:spPr>
          <a:xfrm>
            <a:off x="3045938" y="4736024"/>
            <a:ext cx="6098062" cy="2121976"/>
          </a:xfrm>
          <a:prstGeom prst="rect">
            <a:avLst/>
          </a:prstGeom>
        </p:spPr>
      </p:pic>
      <p:sp>
        <p:nvSpPr>
          <p:cNvPr id="7" name="Text Placeholder 23">
            <a:extLst>
              <a:ext uri="{FF2B5EF4-FFF2-40B4-BE49-F238E27FC236}">
                <a16:creationId xmlns:a16="http://schemas.microsoft.com/office/drawing/2014/main" id="{4E3CA1A8-C88C-D413-6290-2B1750E0A42A}"/>
              </a:ext>
            </a:extLst>
          </p:cNvPr>
          <p:cNvSpPr txBox="1">
            <a:spLocks/>
          </p:cNvSpPr>
          <p:nvPr/>
        </p:nvSpPr>
        <p:spPr>
          <a:xfrm>
            <a:off x="1" y="900791"/>
            <a:ext cx="3267864" cy="578805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Let's explore these with a scenario and step-by-step SQL solution for better understanding.</a:t>
            </a:r>
          </a:p>
        </p:txBody>
      </p:sp>
    </p:spTree>
    <p:extLst>
      <p:ext uri="{BB962C8B-B14F-4D97-AF65-F5344CB8AC3E}">
        <p14:creationId xmlns:p14="http://schemas.microsoft.com/office/powerpoint/2010/main" val="39354692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5C03A725-C78B-5ADB-2BD8-AF4B0C9BC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69D97E-447B-36E9-F006-1E7C24C887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415F05-F0D8-FC08-AB7D-16C119A6EC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27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C7D133F0-5819-BA46-5498-376B9B4EBBF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47483"/>
          </a:xfrm>
        </p:spPr>
        <p:txBody>
          <a:bodyPr>
            <a:noAutofit/>
          </a:bodyPr>
          <a:lstStyle/>
          <a:p>
            <a:r>
              <a:rPr lang="en-US" sz="3200" dirty="0"/>
              <a:t>Tools for Drawing ERDs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374AAD-1298-61C4-77DB-0B9B3F4DD1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7864" y="921406"/>
            <a:ext cx="5876136" cy="381461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27656B7-9D83-A703-683F-25AD3B76AB9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7510"/>
          <a:stretch>
            <a:fillRect/>
          </a:stretch>
        </p:blipFill>
        <p:spPr>
          <a:xfrm>
            <a:off x="3045938" y="4736024"/>
            <a:ext cx="6098062" cy="2121976"/>
          </a:xfrm>
          <a:prstGeom prst="rect">
            <a:avLst/>
          </a:prstGeom>
        </p:spPr>
      </p:pic>
      <p:sp>
        <p:nvSpPr>
          <p:cNvPr id="7" name="Text Placeholder 23">
            <a:extLst>
              <a:ext uri="{FF2B5EF4-FFF2-40B4-BE49-F238E27FC236}">
                <a16:creationId xmlns:a16="http://schemas.microsoft.com/office/drawing/2014/main" id="{B6E42503-EB91-F390-558D-49377B658282}"/>
              </a:ext>
            </a:extLst>
          </p:cNvPr>
          <p:cNvSpPr txBox="1">
            <a:spLocks/>
          </p:cNvSpPr>
          <p:nvPr/>
        </p:nvSpPr>
        <p:spPr>
          <a:xfrm>
            <a:off x="1" y="900792"/>
            <a:ext cx="3267864" cy="516079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Mandatory Many (1)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- This means that one entity must have at least one or many associated records in another entity.</a:t>
            </a:r>
          </a:p>
        </p:txBody>
      </p:sp>
    </p:spTree>
    <p:extLst>
      <p:ext uri="{BB962C8B-B14F-4D97-AF65-F5344CB8AC3E}">
        <p14:creationId xmlns:p14="http://schemas.microsoft.com/office/powerpoint/2010/main" val="4744033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4D50EDF2-4576-6E09-B267-D2B6CF9C9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F78FFE-F5FA-849C-D8DE-B8FE903404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89D03A-168E-7276-22C0-B86DA0AF8E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28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6700F57A-53D0-67D4-AE45-1FE2E47878B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47483"/>
          </a:xfrm>
        </p:spPr>
        <p:txBody>
          <a:bodyPr>
            <a:noAutofit/>
          </a:bodyPr>
          <a:lstStyle/>
          <a:p>
            <a:r>
              <a:rPr lang="en-US" sz="3200" dirty="0"/>
              <a:t>Tools for Drawing ERDs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51C22A-06C6-8CAA-5291-9843449B59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7864" y="921406"/>
            <a:ext cx="5876136" cy="381461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33D513F-BD96-EB91-F8C4-BA5B98C93EA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7510"/>
          <a:stretch>
            <a:fillRect/>
          </a:stretch>
        </p:blipFill>
        <p:spPr>
          <a:xfrm>
            <a:off x="3045938" y="4736024"/>
            <a:ext cx="6098062" cy="2121976"/>
          </a:xfrm>
          <a:prstGeom prst="rect">
            <a:avLst/>
          </a:prstGeom>
        </p:spPr>
      </p:pic>
      <p:sp>
        <p:nvSpPr>
          <p:cNvPr id="7" name="Text Placeholder 23">
            <a:extLst>
              <a:ext uri="{FF2B5EF4-FFF2-40B4-BE49-F238E27FC236}">
                <a16:creationId xmlns:a16="http://schemas.microsoft.com/office/drawing/2014/main" id="{BA1616F3-6031-A5FE-990C-65280BF0BAAB}"/>
              </a:ext>
            </a:extLst>
          </p:cNvPr>
          <p:cNvSpPr txBox="1">
            <a:spLocks/>
          </p:cNvSpPr>
          <p:nvPr/>
        </p:nvSpPr>
        <p:spPr>
          <a:xfrm>
            <a:off x="1" y="900792"/>
            <a:ext cx="3267864" cy="5721234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150000"/>
              </a:lnSpc>
              <a:buFont typeface="+mj-lt"/>
              <a:buAutoNum type="arabicPeriod" startAt="2"/>
            </a:pPr>
            <a:r>
              <a:rPr lang="en-US" sz="2500" b="1" dirty="0">
                <a:latin typeface="Calibri" panose="020F0502020204030204" pitchFamily="34" charset="0"/>
                <a:cs typeface="Calibri" panose="020F0502020204030204" pitchFamily="34" charset="0"/>
              </a:rPr>
              <a:t>Optional Many (0)</a:t>
            </a:r>
            <a:r>
              <a:rPr lang="en-US" sz="2500" dirty="0">
                <a:latin typeface="Calibri" panose="020F0502020204030204" pitchFamily="34" charset="0"/>
                <a:cs typeface="Calibri" panose="020F0502020204030204" pitchFamily="34" charset="0"/>
              </a:rPr>
              <a:t> - This implies that one entity may have none, one, or many associated records in another entity, making participation in the relationship optional.</a:t>
            </a:r>
          </a:p>
        </p:txBody>
      </p:sp>
    </p:spTree>
    <p:extLst>
      <p:ext uri="{BB962C8B-B14F-4D97-AF65-F5344CB8AC3E}">
        <p14:creationId xmlns:p14="http://schemas.microsoft.com/office/powerpoint/2010/main" val="36985004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92B6B742-8048-C5E7-C0FD-4B2CE4CDC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23B763-19FA-2457-7FF2-BF7EC88BDE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5C4CFD-C252-0F9A-C8B0-018564F83E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29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2383EC8-7FD7-4F6F-E695-42726ECFECD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47483"/>
          </a:xfrm>
        </p:spPr>
        <p:txBody>
          <a:bodyPr>
            <a:noAutofit/>
          </a:bodyPr>
          <a:lstStyle/>
          <a:p>
            <a:r>
              <a:rPr lang="en-US" sz="3200" dirty="0"/>
              <a:t>Tools for Drawing ERDs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101D9A-0438-3D2A-1A8F-DC08D49100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7864" y="921406"/>
            <a:ext cx="5876136" cy="381461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0B41C19-1C50-C0AA-186A-DBFD42E3641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7510"/>
          <a:stretch>
            <a:fillRect/>
          </a:stretch>
        </p:blipFill>
        <p:spPr>
          <a:xfrm>
            <a:off x="3045938" y="4736024"/>
            <a:ext cx="6098062" cy="2121976"/>
          </a:xfrm>
          <a:prstGeom prst="rect">
            <a:avLst/>
          </a:prstGeom>
        </p:spPr>
      </p:pic>
      <p:sp>
        <p:nvSpPr>
          <p:cNvPr id="7" name="Text Placeholder 23">
            <a:extLst>
              <a:ext uri="{FF2B5EF4-FFF2-40B4-BE49-F238E27FC236}">
                <a16:creationId xmlns:a16="http://schemas.microsoft.com/office/drawing/2014/main" id="{ABB36406-A544-D0F0-48F4-47761311149A}"/>
              </a:ext>
            </a:extLst>
          </p:cNvPr>
          <p:cNvSpPr txBox="1">
            <a:spLocks/>
          </p:cNvSpPr>
          <p:nvPr/>
        </p:nvSpPr>
        <p:spPr>
          <a:xfrm>
            <a:off x="1" y="900792"/>
            <a:ext cx="3267864" cy="458560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150000"/>
              </a:lnSpc>
              <a:buFont typeface="+mj-lt"/>
              <a:buAutoNum type="arabicPeriod" startAt="3"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Mandatory One (1:1)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- This indicates that one entity must have exactly one associated record in another entity.</a:t>
            </a:r>
          </a:p>
        </p:txBody>
      </p:sp>
    </p:spTree>
    <p:extLst>
      <p:ext uri="{BB962C8B-B14F-4D97-AF65-F5344CB8AC3E}">
        <p14:creationId xmlns:p14="http://schemas.microsoft.com/office/powerpoint/2010/main" val="18666151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41779C92-FDE2-435D-2329-B3517B494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178EA6-F2F8-3774-D486-BCDD60A4EE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A60B14-CD4A-1337-DA4F-A3E8C31719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30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72E605D-CDBF-CCBC-8762-C68D6E963BB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47483"/>
          </a:xfrm>
        </p:spPr>
        <p:txBody>
          <a:bodyPr>
            <a:noAutofit/>
          </a:bodyPr>
          <a:lstStyle/>
          <a:p>
            <a:r>
              <a:rPr lang="en-US" sz="3200" dirty="0"/>
              <a:t>Tools for Drawing ERDs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E6D975-76A5-5C2D-F950-BFB5C6AA2F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7864" y="921406"/>
            <a:ext cx="5876136" cy="381461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8DED9CC-56AF-CBB0-D3CA-C700BE08274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7510"/>
          <a:stretch>
            <a:fillRect/>
          </a:stretch>
        </p:blipFill>
        <p:spPr>
          <a:xfrm>
            <a:off x="3045938" y="4736024"/>
            <a:ext cx="6098062" cy="2121976"/>
          </a:xfrm>
          <a:prstGeom prst="rect">
            <a:avLst/>
          </a:prstGeom>
        </p:spPr>
      </p:pic>
      <p:sp>
        <p:nvSpPr>
          <p:cNvPr id="7" name="Text Placeholder 23">
            <a:extLst>
              <a:ext uri="{FF2B5EF4-FFF2-40B4-BE49-F238E27FC236}">
                <a16:creationId xmlns:a16="http://schemas.microsoft.com/office/drawing/2014/main" id="{DB039776-6345-262A-1BC3-7483EA8ADEE6}"/>
              </a:ext>
            </a:extLst>
          </p:cNvPr>
          <p:cNvSpPr txBox="1">
            <a:spLocks/>
          </p:cNvSpPr>
          <p:nvPr/>
        </p:nvSpPr>
        <p:spPr>
          <a:xfrm>
            <a:off x="1" y="900792"/>
            <a:ext cx="3267864" cy="503580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Optional One (0:1)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- This means that one entity may have at most one associated record in another entity, but it’s not required.</a:t>
            </a:r>
          </a:p>
        </p:txBody>
      </p:sp>
    </p:spTree>
    <p:extLst>
      <p:ext uri="{BB962C8B-B14F-4D97-AF65-F5344CB8AC3E}">
        <p14:creationId xmlns:p14="http://schemas.microsoft.com/office/powerpoint/2010/main" val="22364017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6D665-713A-AA04-D500-DA67AEBB9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B924B742-A4CB-FE1B-2BF4-C1A3625F6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30942"/>
          </a:xfrm>
        </p:spPr>
        <p:txBody>
          <a:bodyPr anchor="b">
            <a:normAutofit fontScale="90000"/>
          </a:bodyPr>
          <a:lstStyle/>
          <a:p>
            <a:r>
              <a:rPr lang="en-US" sz="3000" dirty="0"/>
              <a:t>Using Microsoft Visio for ERD Diagrams</a:t>
            </a:r>
            <a:endParaRPr lang="en-AU" sz="3000" dirty="0">
              <a:latin typeface="Calibir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81728D8-0923-769D-3A17-DF9F8F7A4B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77805"/>
            <a:ext cx="9144000" cy="585442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Microsoft Visio can definitely be used to create ERDs.</a:t>
            </a:r>
          </a:p>
          <a:p>
            <a:pPr>
              <a:lnSpc>
                <a:spcPct val="150000"/>
              </a:lnSpc>
            </a:pP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In fact, Visio has built-in templates for Entity Relationship Diagrams, and if you’re using the Professional or Plan 2 version, it can even reverse-engineer a database (connect to MySQL, SQL Server, etc., and generate an ERD automatically).</a:t>
            </a:r>
          </a:p>
          <a:p>
            <a:pPr>
              <a:lnSpc>
                <a:spcPct val="150000"/>
              </a:lnSpc>
            </a:pP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However, a few points for students: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Pros: Professional look, lots of shapes, good for formal documentation.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Cons: Paid software (not free), may not be accessible to all students unless the university provides a license.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For class work, draw.io or other free tools are more practical, but Visio is great in industry settings.</a:t>
            </a:r>
          </a:p>
        </p:txBody>
      </p:sp>
    </p:spTree>
    <p:extLst>
      <p:ext uri="{BB962C8B-B14F-4D97-AF65-F5344CB8AC3E}">
        <p14:creationId xmlns:p14="http://schemas.microsoft.com/office/powerpoint/2010/main" val="9223883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2DC9A-0A92-E45F-2954-93F781E3B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75C8077C-C832-3A58-4E50-14EC5D896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30942"/>
          </a:xfrm>
        </p:spPr>
        <p:txBody>
          <a:bodyPr anchor="b">
            <a:normAutofit fontScale="90000"/>
          </a:bodyPr>
          <a:lstStyle/>
          <a:p>
            <a:r>
              <a:rPr lang="en-US" sz="3000" dirty="0"/>
              <a:t>Research Discussion Questions &amp; Sample Responses</a:t>
            </a:r>
            <a:endParaRPr lang="en-AU" sz="3000" dirty="0">
              <a:latin typeface="Calibir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563F879-AB84-4531-D32D-97CAC7ED0D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2810578"/>
              </p:ext>
            </p:extLst>
          </p:nvPr>
        </p:nvGraphicFramePr>
        <p:xfrm>
          <a:off x="0" y="444588"/>
          <a:ext cx="9144000" cy="6413412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2123769">
                  <a:extLst>
                    <a:ext uri="{9D8B030D-6E8A-4147-A177-3AD203B41FA5}">
                      <a16:colId xmlns:a16="http://schemas.microsoft.com/office/drawing/2014/main" val="2556162456"/>
                    </a:ext>
                  </a:extLst>
                </a:gridCol>
                <a:gridCol w="3972231">
                  <a:extLst>
                    <a:ext uri="{9D8B030D-6E8A-4147-A177-3AD203B41FA5}">
                      <a16:colId xmlns:a16="http://schemas.microsoft.com/office/drawing/2014/main" val="720562755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8354338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Concept</a:t>
                      </a:r>
                      <a:endParaRPr lang="en-US" sz="22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063" marR="63063" marT="31531" marB="3153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Discussion Question</a:t>
                      </a:r>
                      <a:endParaRPr lang="en-US" sz="22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063" marR="63063" marT="31531" marB="3153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Sample Concise Response</a:t>
                      </a:r>
                      <a:endParaRPr lang="en-US" sz="22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063" marR="63063" marT="31531" marB="31531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50616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Data Models</a:t>
                      </a:r>
                      <a:endParaRPr lang="en-US" sz="22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063" marR="63063" marT="31531" marB="3153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How does a conceptual model help avoid costly database redesigns?</a:t>
                      </a:r>
                    </a:p>
                  </a:txBody>
                  <a:tcPr marL="63063" marR="63063" marT="31531" marB="3153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It captures requirements early, so we don’t have to redo work later.</a:t>
                      </a:r>
                    </a:p>
                  </a:txBody>
                  <a:tcPr marL="63063" marR="63063" marT="31531" marB="31531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57961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Relational Model</a:t>
                      </a:r>
                      <a:endParaRPr lang="en-US" sz="22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063" marR="63063" marT="31531" marB="3153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Why is the relational model popular in Australian business systems?</a:t>
                      </a:r>
                    </a:p>
                  </a:txBody>
                  <a:tcPr marL="63063" marR="63063" marT="31531" marB="3153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It’s flexible, supported everywhere, and works well with reporting tools.</a:t>
                      </a:r>
                    </a:p>
                  </a:txBody>
                  <a:tcPr marL="63063" marR="63063" marT="31531" marB="31531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42393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Relational Tables</a:t>
                      </a:r>
                      <a:endParaRPr lang="en-US" sz="22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063" marR="63063" marT="31531" marB="3153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Why must a column have just one data type?</a:t>
                      </a:r>
                    </a:p>
                  </a:txBody>
                  <a:tcPr marL="63063" marR="63063" marT="31531" marB="3153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To keep data consistent, make queries accurate, and avoid errors.</a:t>
                      </a:r>
                    </a:p>
                  </a:txBody>
                  <a:tcPr marL="63063" marR="63063" marT="31531" marB="31531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8348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Relationships</a:t>
                      </a:r>
                      <a:endParaRPr lang="en-US" sz="22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063" marR="63063" marT="31531" marB="3153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Give an Australian example of a many-to-many relationship.</a:t>
                      </a:r>
                    </a:p>
                  </a:txBody>
                  <a:tcPr marL="63063" marR="63063" marT="31531" marB="3153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Students and units at ACU – students take many units, units have many students.</a:t>
                      </a:r>
                    </a:p>
                  </a:txBody>
                  <a:tcPr marL="63063" marR="63063" marT="31531" marB="31531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09623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ERD Tools</a:t>
                      </a:r>
                      <a:endParaRPr lang="en-US" sz="22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063" marR="63063" marT="31531" marB="3153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Why use a digital ERD tool instead of paper?</a:t>
                      </a:r>
                    </a:p>
                  </a:txBody>
                  <a:tcPr marL="63063" marR="63063" marT="31531" marB="31531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It’s easier to edit, share, and link to database software.</a:t>
                      </a:r>
                    </a:p>
                  </a:txBody>
                  <a:tcPr marL="63063" marR="63063" marT="31531" marB="31531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55804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577387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54B75C-2293-4537-99D4-0640629CE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3FAD4A4-25A4-AE16-A4FB-F9048DDB33B9}"/>
              </a:ext>
            </a:extLst>
          </p:cNvPr>
          <p:cNvSpPr txBox="1"/>
          <p:nvPr/>
        </p:nvSpPr>
        <p:spPr>
          <a:xfrm>
            <a:off x="-1" y="693174"/>
            <a:ext cx="9143999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Problem:</a:t>
            </a:r>
            <a:b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A university needs to track: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Which students take which courses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And when they take them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D29F0E-285C-16B8-668B-80EFD77BC292}"/>
              </a:ext>
            </a:extLst>
          </p:cNvPr>
          <p:cNvSpPr txBox="1"/>
          <p:nvPr/>
        </p:nvSpPr>
        <p:spPr>
          <a:xfrm>
            <a:off x="-2" y="3553984"/>
            <a:ext cx="9144000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Your task: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Think about what tables we might need.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What columns should each table have?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How would you connect them?</a:t>
            </a:r>
          </a:p>
        </p:txBody>
      </p:sp>
      <p:pic>
        <p:nvPicPr>
          <p:cNvPr id="8" name="Timer">
            <a:hlinkClick r:id="" action="ppaction://media"/>
            <a:extLst>
              <a:ext uri="{FF2B5EF4-FFF2-40B4-BE49-F238E27FC236}">
                <a16:creationId xmlns:a16="http://schemas.microsoft.com/office/drawing/2014/main" id="{74A6BAA3-F880-9025-038E-E121FA9CDCA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40427" t="44408" r="40373" b="40720"/>
          <a:stretch>
            <a:fillRect/>
          </a:stretch>
        </p:blipFill>
        <p:spPr>
          <a:xfrm>
            <a:off x="3807520" y="3304017"/>
            <a:ext cx="1528956" cy="666144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251092B8-8C31-9EE5-9373-D9B13E716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73570"/>
            <a:ext cx="9144000" cy="530942"/>
          </a:xfrm>
        </p:spPr>
        <p:txBody>
          <a:bodyPr anchor="b">
            <a:normAutofit fontScale="90000"/>
          </a:bodyPr>
          <a:lstStyle/>
          <a:p>
            <a:r>
              <a:rPr lang="en-US" sz="3000" dirty="0"/>
              <a:t>Problem-Solving Activity – Relationships (5 minutes)</a:t>
            </a:r>
            <a:endParaRPr lang="en-AU" sz="3000" dirty="0"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2080373327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7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54B75C-2293-4537-99D4-0640629CE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C608BCB-1FFC-6C7B-D945-7CB5FE60B9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1041936"/>
              </p:ext>
            </p:extLst>
          </p:nvPr>
        </p:nvGraphicFramePr>
        <p:xfrm>
          <a:off x="628650" y="2109942"/>
          <a:ext cx="7886700" cy="1554480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1971675">
                  <a:extLst>
                    <a:ext uri="{9D8B030D-6E8A-4147-A177-3AD203B41FA5}">
                      <a16:colId xmlns:a16="http://schemas.microsoft.com/office/drawing/2014/main" val="1812972337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1603130302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3581891200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23875384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StudentID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Campus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Program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44138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Mia Jones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Melbourne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67401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S002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Liam Smith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Brisbane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Business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3490581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CEB626B8-EE78-C86B-6406-384978DE35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54450"/>
            <a:ext cx="2819041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Possible Solution: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1. Students Table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6B1F3C0-ACF6-561A-3752-781F1D3FB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73570"/>
            <a:ext cx="9144000" cy="530942"/>
          </a:xfrm>
        </p:spPr>
        <p:txBody>
          <a:bodyPr anchor="b">
            <a:normAutofit fontScale="90000"/>
          </a:bodyPr>
          <a:lstStyle/>
          <a:p>
            <a:r>
              <a:rPr lang="en-US" sz="3000" dirty="0"/>
              <a:t>Problem-Solving Activity – Relationships (5 minutes)</a:t>
            </a:r>
            <a:endParaRPr lang="en-AU" sz="3000" dirty="0">
              <a:latin typeface="Calibir"/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AD8EDA22-5AC5-107F-223D-B8A8EB3F8F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5875429"/>
              </p:ext>
            </p:extLst>
          </p:nvPr>
        </p:nvGraphicFramePr>
        <p:xfrm>
          <a:off x="628650" y="4949320"/>
          <a:ext cx="7886700" cy="1554480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151294694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82205049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9170198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CourseID</a:t>
                      </a:r>
                      <a:endParaRPr lang="en-US" sz="2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CourseName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Credits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23031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IT101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Intro to 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70366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BUS102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Marketing Basics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4825970"/>
                  </a:ext>
                </a:extLst>
              </a:tr>
            </a:tbl>
          </a:graphicData>
        </a:graphic>
      </p:graphicFrame>
      <p:sp>
        <p:nvSpPr>
          <p:cNvPr id="13" name="Rectangle 1">
            <a:extLst>
              <a:ext uri="{FF2B5EF4-FFF2-40B4-BE49-F238E27FC236}">
                <a16:creationId xmlns:a16="http://schemas.microsoft.com/office/drawing/2014/main" id="{B46D5C1F-354D-E868-46C1-1E95A904F4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965807"/>
            <a:ext cx="258327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2. Courses Table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31104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C0FB1-26A2-B413-E12B-A7776E0DF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3F8805E5-2872-6698-206A-DF927139A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73570"/>
            <a:ext cx="9144000" cy="530942"/>
          </a:xfrm>
        </p:spPr>
        <p:txBody>
          <a:bodyPr anchor="b">
            <a:normAutofit fontScale="90000"/>
          </a:bodyPr>
          <a:lstStyle/>
          <a:p>
            <a:r>
              <a:rPr lang="en-US" sz="3000" dirty="0"/>
              <a:t>Problem-Solving Activity – Relationships (5 minutes)</a:t>
            </a:r>
            <a:endParaRPr lang="en-AU" sz="3000" dirty="0">
              <a:latin typeface="Calibir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A2415C5F-4216-D6DA-88D7-6D3B758116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91235"/>
            <a:ext cx="819237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3. Enrolments Table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i="1" dirty="0">
                <a:latin typeface="Calibri" panose="020F0502020204030204" pitchFamily="34" charset="0"/>
                <a:cs typeface="Calibri" panose="020F0502020204030204" pitchFamily="34" charset="0"/>
              </a:rPr>
              <a:t>(Bridge table for M:N relationship)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8B0226B2-C3AA-326F-FC93-F63B8B4831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6146438"/>
              </p:ext>
            </p:extLst>
          </p:nvPr>
        </p:nvGraphicFramePr>
        <p:xfrm>
          <a:off x="1669198" y="1660146"/>
          <a:ext cx="5805604" cy="2072640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1924979">
                  <a:extLst>
                    <a:ext uri="{9D8B030D-6E8A-4147-A177-3AD203B41FA5}">
                      <a16:colId xmlns:a16="http://schemas.microsoft.com/office/drawing/2014/main" val="2194396621"/>
                    </a:ext>
                  </a:extLst>
                </a:gridCol>
                <a:gridCol w="2062976">
                  <a:extLst>
                    <a:ext uri="{9D8B030D-6E8A-4147-A177-3AD203B41FA5}">
                      <a16:colId xmlns:a16="http://schemas.microsoft.com/office/drawing/2014/main" val="2201539718"/>
                    </a:ext>
                  </a:extLst>
                </a:gridCol>
                <a:gridCol w="1817649">
                  <a:extLst>
                    <a:ext uri="{9D8B030D-6E8A-4147-A177-3AD203B41FA5}">
                      <a16:colId xmlns:a16="http://schemas.microsoft.com/office/drawing/2014/main" val="42322750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StudentID</a:t>
                      </a:r>
                      <a:endParaRPr lang="en-US" sz="2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CourseID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Semester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94370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IT101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S2-2025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5010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BUS102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S2-2025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41008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S002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BUS102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S2-2025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25018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249968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78119-B4E4-EFA1-D8CE-D4091B2BB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39DF80B2-FC7E-18C3-2A62-5B981BE9D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73570"/>
            <a:ext cx="9144000" cy="530942"/>
          </a:xfrm>
        </p:spPr>
        <p:txBody>
          <a:bodyPr anchor="b">
            <a:normAutofit fontScale="90000"/>
          </a:bodyPr>
          <a:lstStyle/>
          <a:p>
            <a:r>
              <a:rPr lang="en-US" sz="3000" dirty="0"/>
              <a:t>Problem-Solving Activity – Relationships (5 minutes)</a:t>
            </a:r>
            <a:endParaRPr lang="en-AU" sz="3000" dirty="0">
              <a:latin typeface="Calibir"/>
            </a:endParaRPr>
          </a:p>
        </p:txBody>
      </p:sp>
      <p:pic>
        <p:nvPicPr>
          <p:cNvPr id="10" name="Picture 9" descr="A diagram of a program&#10;&#10;AI-generated content may be incorrect.">
            <a:extLst>
              <a:ext uri="{FF2B5EF4-FFF2-40B4-BE49-F238E27FC236}">
                <a16:creationId xmlns:a16="http://schemas.microsoft.com/office/drawing/2014/main" id="{63963189-3D55-BF8E-BAF9-C4C8F3CEC0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6599"/>
            <a:ext cx="8877958" cy="2601108"/>
          </a:xfrm>
          <a:prstGeom prst="rect">
            <a:avLst/>
          </a:prstGeom>
        </p:spPr>
      </p:pic>
      <p:sp>
        <p:nvSpPr>
          <p:cNvPr id="12" name="Rectangle 2">
            <a:extLst>
              <a:ext uri="{FF2B5EF4-FFF2-40B4-BE49-F238E27FC236}">
                <a16:creationId xmlns:a16="http://schemas.microsoft.com/office/drawing/2014/main" id="{E4BFDE4F-75A1-351D-2B93-1FE6B49851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57707"/>
            <a:ext cx="9144000" cy="3631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Students Table → Each student has a unique </a:t>
            </a:r>
            <a:r>
              <a:rPr kumimoji="0" lang="en-US" altLang="en-US" sz="2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StudentID</a:t>
            </a:r>
            <a:r>
              <a:rPr kumimoji="0" lang="en-US" altLang="en-US" sz="2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(e.g., S001).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Courses Table → Each course has a unique </a:t>
            </a:r>
            <a:r>
              <a:rPr kumimoji="0" lang="en-US" altLang="en-US" sz="2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CourseID</a:t>
            </a:r>
            <a:r>
              <a:rPr kumimoji="0" lang="en-US" altLang="en-US" sz="2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(e.g., IT101).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Enrolments Table → Connects students to courses they are taking in a specific semester.</a:t>
            </a:r>
          </a:p>
        </p:txBody>
      </p:sp>
    </p:spTree>
    <p:extLst>
      <p:ext uri="{BB962C8B-B14F-4D97-AF65-F5344CB8AC3E}">
        <p14:creationId xmlns:p14="http://schemas.microsoft.com/office/powerpoint/2010/main" val="415777016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2BD5EC-9F11-AD23-CBA3-997D26553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05A53AF5-0D8B-E86B-6A30-63ED12DAF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73570"/>
            <a:ext cx="9144000" cy="530942"/>
          </a:xfrm>
        </p:spPr>
        <p:txBody>
          <a:bodyPr anchor="b">
            <a:normAutofit fontScale="90000"/>
          </a:bodyPr>
          <a:lstStyle/>
          <a:p>
            <a:r>
              <a:rPr lang="en-US" sz="3000" dirty="0"/>
              <a:t>Problem-Solving Activity – Relationships (5 minutes)</a:t>
            </a:r>
            <a:endParaRPr lang="en-AU" sz="3000" dirty="0">
              <a:latin typeface="Calibir"/>
            </a:endParaRPr>
          </a:p>
        </p:txBody>
      </p:sp>
      <p:pic>
        <p:nvPicPr>
          <p:cNvPr id="10" name="Picture 9" descr="A diagram of a program&#10;&#10;AI-generated content may be incorrect.">
            <a:extLst>
              <a:ext uri="{FF2B5EF4-FFF2-40B4-BE49-F238E27FC236}">
                <a16:creationId xmlns:a16="http://schemas.microsoft.com/office/drawing/2014/main" id="{13EDA1D1-9F26-79AD-BFDA-33B5D38D68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6599"/>
            <a:ext cx="8877958" cy="2601108"/>
          </a:xfrm>
          <a:prstGeom prst="rect">
            <a:avLst/>
          </a:prstGeom>
        </p:spPr>
      </p:pic>
      <p:sp>
        <p:nvSpPr>
          <p:cNvPr id="12" name="Rectangle 2">
            <a:extLst>
              <a:ext uri="{FF2B5EF4-FFF2-40B4-BE49-F238E27FC236}">
                <a16:creationId xmlns:a16="http://schemas.microsoft.com/office/drawing/2014/main" id="{0BBE81BB-3DC1-CFF8-0E1D-BE19AA118A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444745"/>
            <a:ext cx="9144000" cy="32571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Relationships: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One student can have many enrolment records (1:M from Students to Enrolments).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One course can also have many enrolment records (1:M from Courses to Enrolments).</a:t>
            </a:r>
          </a:p>
        </p:txBody>
      </p:sp>
    </p:spTree>
    <p:extLst>
      <p:ext uri="{BB962C8B-B14F-4D97-AF65-F5344CB8AC3E}">
        <p14:creationId xmlns:p14="http://schemas.microsoft.com/office/powerpoint/2010/main" val="235358315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819F4-3F1E-C9EC-E8E0-05A26B2BD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645A9FBC-253E-79B0-E789-E9756666D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73570"/>
            <a:ext cx="9144000" cy="530942"/>
          </a:xfrm>
        </p:spPr>
        <p:txBody>
          <a:bodyPr anchor="b">
            <a:normAutofit fontScale="90000"/>
          </a:bodyPr>
          <a:lstStyle/>
          <a:p>
            <a:r>
              <a:rPr lang="en-US" sz="3000" dirty="0"/>
              <a:t>Problem-Solving Activity – Relationships (5 minutes)</a:t>
            </a:r>
            <a:endParaRPr lang="en-AU" sz="3000" dirty="0">
              <a:latin typeface="Calibir"/>
            </a:endParaRPr>
          </a:p>
        </p:txBody>
      </p:sp>
      <p:pic>
        <p:nvPicPr>
          <p:cNvPr id="10" name="Picture 9" descr="A diagram of a program&#10;&#10;AI-generated content may be incorrect.">
            <a:extLst>
              <a:ext uri="{FF2B5EF4-FFF2-40B4-BE49-F238E27FC236}">
                <a16:creationId xmlns:a16="http://schemas.microsoft.com/office/drawing/2014/main" id="{D6D4A1A6-FEAF-15F7-92E3-5BCEDAD2F7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6599"/>
            <a:ext cx="8877958" cy="2601108"/>
          </a:xfrm>
          <a:prstGeom prst="rect">
            <a:avLst/>
          </a:prstGeom>
        </p:spPr>
      </p:pic>
      <p:sp>
        <p:nvSpPr>
          <p:cNvPr id="12" name="Rectangle 2">
            <a:extLst>
              <a:ext uri="{FF2B5EF4-FFF2-40B4-BE49-F238E27FC236}">
                <a16:creationId xmlns:a16="http://schemas.microsoft.com/office/drawing/2014/main" id="{19C8D398-706F-5244-5B98-3892092ED5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89643"/>
            <a:ext cx="9144000" cy="37673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700" b="1" dirty="0">
                <a:latin typeface="Calibri" panose="020F0502020204030204" pitchFamily="34" charset="0"/>
                <a:cs typeface="Calibri" panose="020F0502020204030204" pitchFamily="34" charset="0"/>
              </a:rPr>
              <a:t>Why the middle table is needed: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700" dirty="0">
                <a:latin typeface="Calibri" panose="020F0502020204030204" pitchFamily="34" charset="0"/>
                <a:cs typeface="Calibri" panose="020F0502020204030204" pitchFamily="34" charset="0"/>
              </a:rPr>
              <a:t>Students and courses have a many-to-many relationship in real life.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700" dirty="0">
                <a:latin typeface="Calibri" panose="020F0502020204030204" pitchFamily="34" charset="0"/>
                <a:cs typeface="Calibri" panose="020F0502020204030204" pitchFamily="34" charset="0"/>
              </a:rPr>
              <a:t>In databases, we handle this by adding a bridge table (Enrolments) that stores both IDs plus extra info (like Semester).</a:t>
            </a:r>
          </a:p>
        </p:txBody>
      </p:sp>
    </p:spTree>
    <p:extLst>
      <p:ext uri="{BB962C8B-B14F-4D97-AF65-F5344CB8AC3E}">
        <p14:creationId xmlns:p14="http://schemas.microsoft.com/office/powerpoint/2010/main" val="2544414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E0ED3-06C1-7992-CA03-BF29AE7FF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954B3607-07CB-EED2-6F0B-CA50258CF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73570"/>
            <a:ext cx="9144000" cy="530942"/>
          </a:xfrm>
        </p:spPr>
        <p:txBody>
          <a:bodyPr anchor="b">
            <a:normAutofit fontScale="90000"/>
          </a:bodyPr>
          <a:lstStyle/>
          <a:p>
            <a:r>
              <a:rPr lang="en-US" sz="3000" dirty="0"/>
              <a:t>Problem-Solving Activity – Relationships (5 minutes)</a:t>
            </a:r>
            <a:endParaRPr lang="en-AU" sz="3000" dirty="0">
              <a:latin typeface="Calibir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2A3AA8-F485-BC6D-0F59-C5FD15BE449D}"/>
              </a:ext>
            </a:extLst>
          </p:cNvPr>
          <p:cNvSpPr txBox="1"/>
          <p:nvPr/>
        </p:nvSpPr>
        <p:spPr>
          <a:xfrm>
            <a:off x="0" y="2258487"/>
            <a:ext cx="9144000" cy="2341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500" b="1" dirty="0">
                <a:latin typeface="Calibri" panose="020F0502020204030204" pitchFamily="34" charset="0"/>
                <a:cs typeface="Calibri" panose="020F0502020204030204" pitchFamily="34" charset="0"/>
              </a:rPr>
              <a:t>Why this works: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Calibri" panose="020F0502020204030204" pitchFamily="34" charset="0"/>
                <a:cs typeface="Calibri" panose="020F0502020204030204" pitchFamily="34" charset="0"/>
              </a:rPr>
              <a:t>Students and Courses have a many-to-many relationship.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Calibri" panose="020F0502020204030204" pitchFamily="34" charset="0"/>
                <a:cs typeface="Calibri" panose="020F0502020204030204" pitchFamily="34" charset="0"/>
              </a:rPr>
              <a:t>Enrolments links them together, while storing extra info (like Semester).</a:t>
            </a:r>
          </a:p>
        </p:txBody>
      </p:sp>
    </p:spTree>
    <p:extLst>
      <p:ext uri="{BB962C8B-B14F-4D97-AF65-F5344CB8AC3E}">
        <p14:creationId xmlns:p14="http://schemas.microsoft.com/office/powerpoint/2010/main" val="179064066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8DF3ED2F-8821-8E57-8908-75B5430E0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3AF5AC-D8CE-951E-B7D5-7B641CB739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B4D606-9F22-D2CF-2AA2-B7990BAA15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40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AB9DF19C-07F1-94E2-6A33-99BB5835D8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795549"/>
          </a:xfrm>
        </p:spPr>
        <p:txBody>
          <a:bodyPr>
            <a:noAutofit/>
          </a:bodyPr>
          <a:lstStyle/>
          <a:p>
            <a:r>
              <a:rPr lang="en-US" sz="3200" dirty="0"/>
              <a:t>Understanding Primary and Foreign Keys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 Placeholder 23">
            <a:extLst>
              <a:ext uri="{FF2B5EF4-FFF2-40B4-BE49-F238E27FC236}">
                <a16:creationId xmlns:a16="http://schemas.microsoft.com/office/drawing/2014/main" id="{FD968C56-44BF-5E6A-F805-5BCD7F3DE438}"/>
              </a:ext>
            </a:extLst>
          </p:cNvPr>
          <p:cNvSpPr txBox="1">
            <a:spLocks/>
          </p:cNvSpPr>
          <p:nvPr/>
        </p:nvSpPr>
        <p:spPr>
          <a:xfrm>
            <a:off x="0" y="749502"/>
            <a:ext cx="9144000" cy="220034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Objective: Introduce relational database components.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We review the concept of tables and how they are related through keys (primary key, foreign key).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412485-9846-D2C7-FA76-4DFA377A8A0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36" t="30244" r="36158" b="57450"/>
          <a:stretch/>
        </p:blipFill>
        <p:spPr>
          <a:xfrm>
            <a:off x="0" y="3236206"/>
            <a:ext cx="9144000" cy="1037510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EF4B6FF-D3E9-CEF3-4575-2A16D1C55EA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36" t="54726" r="36158" b="30894"/>
          <a:stretch/>
        </p:blipFill>
        <p:spPr>
          <a:xfrm>
            <a:off x="0" y="4850041"/>
            <a:ext cx="9144000" cy="1212410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156372162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683BB17D-715F-48F4-814A-18B08945F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58926E-383D-EFE8-6088-58EEAD0911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4CB13A-0D2C-9555-0379-7261CD05D0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41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5CD1C9E5-5089-AE78-92CF-9EDD53AB179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884903"/>
          </a:xfrm>
        </p:spPr>
        <p:txBody>
          <a:bodyPr>
            <a:noAutofit/>
          </a:bodyPr>
          <a:lstStyle/>
          <a:p>
            <a:r>
              <a:rPr lang="en-US" sz="3200" dirty="0"/>
              <a:t>Understanding Primary and Foreign Keys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 Placeholder 23">
            <a:extLst>
              <a:ext uri="{FF2B5EF4-FFF2-40B4-BE49-F238E27FC236}">
                <a16:creationId xmlns:a16="http://schemas.microsoft.com/office/drawing/2014/main" id="{0A9C4831-3CC7-3712-B6DB-79A1DC0620C8}"/>
              </a:ext>
            </a:extLst>
          </p:cNvPr>
          <p:cNvSpPr txBox="1">
            <a:spLocks/>
          </p:cNvSpPr>
          <p:nvPr/>
        </p:nvSpPr>
        <p:spPr>
          <a:xfrm>
            <a:off x="0" y="749502"/>
            <a:ext cx="9144000" cy="299369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CustomerID: Primary key for each customer, uniquely identifying each record.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 err="1">
                <a:latin typeface="Calibri" panose="020F0502020204030204" pitchFamily="34" charset="0"/>
                <a:cs typeface="Calibri" panose="020F0502020204030204" pitchFamily="34" charset="0"/>
              </a:rPr>
              <a:t>OrderID</a:t>
            </a:r>
            <a:r>
              <a:rPr lang="en-US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: Foreign key referencing the primary key in the Orders table, linking each customer to a specific order.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 err="1">
                <a:latin typeface="Calibri" panose="020F0502020204030204" pitchFamily="34" charset="0"/>
                <a:cs typeface="Calibri" panose="020F0502020204030204" pitchFamily="34" charset="0"/>
              </a:rPr>
              <a:t>CustomerName</a:t>
            </a:r>
            <a:r>
              <a:rPr lang="en-US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altLang="en-US" sz="2200" dirty="0" err="1">
                <a:latin typeface="Calibri" panose="020F0502020204030204" pitchFamily="34" charset="0"/>
                <a:cs typeface="Calibri" panose="020F0502020204030204" pitchFamily="34" charset="0"/>
              </a:rPr>
              <a:t>OrderDate</a:t>
            </a:r>
            <a:r>
              <a:rPr lang="en-US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: Additional fields providing information about each customer and its order.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596A744-41EC-6556-3792-6D22FA1C7F0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36" t="30244" r="36158" b="57450"/>
          <a:stretch/>
        </p:blipFill>
        <p:spPr>
          <a:xfrm>
            <a:off x="0" y="4175640"/>
            <a:ext cx="9144000" cy="1037510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6B3945F-CE1B-E436-69AD-586A1444B91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36" t="54726" r="36158" b="30894"/>
          <a:stretch/>
        </p:blipFill>
        <p:spPr>
          <a:xfrm>
            <a:off x="32945" y="5645590"/>
            <a:ext cx="9144000" cy="1212410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180689884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D3EC159C-3ABF-6D85-19BF-9CD79FCD3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2BA8C8-BAD0-3BA5-C3D1-F0FFF721AC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F0E6DB-85C3-1F15-86D9-595878399D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42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8A52BF3D-77E5-2843-72B0-941717E6D4C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811161"/>
          </a:xfrm>
        </p:spPr>
        <p:txBody>
          <a:bodyPr>
            <a:noAutofit/>
          </a:bodyPr>
          <a:lstStyle/>
          <a:p>
            <a:r>
              <a:rPr lang="en-US" sz="3200" dirty="0"/>
              <a:t>Understanding Primary and Foreign Keys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 Placeholder 23">
            <a:extLst>
              <a:ext uri="{FF2B5EF4-FFF2-40B4-BE49-F238E27FC236}">
                <a16:creationId xmlns:a16="http://schemas.microsoft.com/office/drawing/2014/main" id="{9F9057E0-EADE-DF76-4965-3A8C5D691156}"/>
              </a:ext>
            </a:extLst>
          </p:cNvPr>
          <p:cNvSpPr txBox="1">
            <a:spLocks/>
          </p:cNvSpPr>
          <p:nvPr/>
        </p:nvSpPr>
        <p:spPr>
          <a:xfrm>
            <a:off x="0" y="648929"/>
            <a:ext cx="9144000" cy="3425403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500" dirty="0" err="1">
                <a:latin typeface="Calibri" panose="020F0502020204030204" pitchFamily="34" charset="0"/>
                <a:cs typeface="Calibri" panose="020F0502020204030204" pitchFamily="34" charset="0"/>
              </a:rPr>
              <a:t>OrderID</a:t>
            </a:r>
            <a:r>
              <a:rPr lang="en-US" altLang="en-US" sz="2500" dirty="0">
                <a:latin typeface="Calibri" panose="020F0502020204030204" pitchFamily="34" charset="0"/>
                <a:cs typeface="Calibri" panose="020F0502020204030204" pitchFamily="34" charset="0"/>
              </a:rPr>
              <a:t>: Primary key for each order, uniquely identifying each record.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500" dirty="0">
                <a:latin typeface="Calibri" panose="020F0502020204030204" pitchFamily="34" charset="0"/>
                <a:cs typeface="Calibri" panose="020F0502020204030204" pitchFamily="34" charset="0"/>
              </a:rPr>
              <a:t>CustomerID: Foreign key referencing the primary key in the Customers table, linking each order to a specific customer.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500" dirty="0" err="1">
                <a:latin typeface="Calibri" panose="020F0502020204030204" pitchFamily="34" charset="0"/>
                <a:cs typeface="Calibri" panose="020F0502020204030204" pitchFamily="34" charset="0"/>
              </a:rPr>
              <a:t>OrderDate</a:t>
            </a:r>
            <a:r>
              <a:rPr lang="en-US" altLang="en-US" sz="2500" dirty="0">
                <a:latin typeface="Calibri" panose="020F0502020204030204" pitchFamily="34" charset="0"/>
                <a:cs typeface="Calibri" panose="020F0502020204030204" pitchFamily="34" charset="0"/>
              </a:rPr>
              <a:t> and Amount: Additional fields providing information about each order.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A7175FD-3C96-B478-1500-E01C2224AC1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36" t="30244" r="36158" b="57450"/>
          <a:stretch/>
        </p:blipFill>
        <p:spPr>
          <a:xfrm>
            <a:off x="0" y="4175640"/>
            <a:ext cx="9144000" cy="1037510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BBB397B-ABBD-5564-C71A-E8E9DEDA89F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36" t="54726" r="36158" b="30894"/>
          <a:stretch/>
        </p:blipFill>
        <p:spPr>
          <a:xfrm>
            <a:off x="32945" y="5645590"/>
            <a:ext cx="9144000" cy="1212410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292034948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113A553C-1C39-228C-D94C-88913B67E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ABFAE9C-7F8C-2C2F-5194-21AD2908382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0"/>
            <a:ext cx="8908026" cy="412579"/>
          </a:xfrm>
        </p:spPr>
        <p:txBody>
          <a:bodyPr>
            <a:noAutofit/>
          </a:bodyPr>
          <a:lstStyle/>
          <a:p>
            <a:r>
              <a:rPr lang="en-US" sz="3200" dirty="0"/>
              <a:t>Understanding Primary and Foreign Keys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E1F4337-EDDC-8382-015E-5C212F2114B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36" t="30244" r="36158" b="57450"/>
          <a:stretch/>
        </p:blipFill>
        <p:spPr>
          <a:xfrm>
            <a:off x="0" y="412579"/>
            <a:ext cx="9144000" cy="1037510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7AA2D27-1FD3-D7C6-8184-72E0DB3A7A1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36" t="54726" r="36158" b="30894"/>
          <a:stretch/>
        </p:blipFill>
        <p:spPr>
          <a:xfrm>
            <a:off x="0" y="1548958"/>
            <a:ext cx="9144000" cy="1198722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59ABBB4-2F8E-0780-FBB4-CB36B95D93F0}"/>
              </a:ext>
            </a:extLst>
          </p:cNvPr>
          <p:cNvSpPr/>
          <p:nvPr/>
        </p:nvSpPr>
        <p:spPr>
          <a:xfrm>
            <a:off x="0" y="2846549"/>
            <a:ext cx="2709746" cy="343457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b="1" u="sng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CustomerID</a:t>
            </a:r>
            <a:r>
              <a:rPr lang="en-AU" sz="2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(PK)</a:t>
            </a:r>
          </a:p>
          <a:p>
            <a:pPr algn="ctr"/>
            <a:r>
              <a:rPr lang="en-AU" sz="2800" b="1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OrderID</a:t>
            </a:r>
            <a:r>
              <a:rPr lang="en-AU" sz="2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(FK)</a:t>
            </a:r>
          </a:p>
          <a:p>
            <a:pPr algn="ctr"/>
            <a:r>
              <a:rPr lang="en-AU" sz="2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----------------------</a:t>
            </a:r>
          </a:p>
          <a:p>
            <a:pPr algn="ctr"/>
            <a:endParaRPr lang="en-AU" sz="28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AU" sz="2800" b="1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CustomerName</a:t>
            </a:r>
            <a:endParaRPr lang="en-AU" sz="28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AU" sz="2800" b="1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OrderDate</a:t>
            </a:r>
            <a:endParaRPr lang="en-AU" sz="28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BD9342-6CCF-0BEC-E5F8-4EE5F12B404D}"/>
              </a:ext>
            </a:extLst>
          </p:cNvPr>
          <p:cNvSpPr/>
          <p:nvPr/>
        </p:nvSpPr>
        <p:spPr>
          <a:xfrm>
            <a:off x="2899311" y="2846549"/>
            <a:ext cx="2709746" cy="343457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b="1" u="sng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OrderID</a:t>
            </a:r>
            <a:r>
              <a:rPr lang="en-AU" sz="2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(PK)</a:t>
            </a:r>
          </a:p>
          <a:p>
            <a:pPr algn="ctr"/>
            <a:r>
              <a:rPr lang="en-AU" sz="2800" b="1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CustomerID</a:t>
            </a:r>
            <a:r>
              <a:rPr lang="en-AU" sz="2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(FK)</a:t>
            </a:r>
          </a:p>
          <a:p>
            <a:pPr algn="ctr"/>
            <a:r>
              <a:rPr lang="en-AU" sz="2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----------------------</a:t>
            </a:r>
          </a:p>
          <a:p>
            <a:pPr algn="ctr"/>
            <a:endParaRPr lang="en-AU" sz="28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AU" sz="2800" b="1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OrderDate</a:t>
            </a:r>
            <a:endParaRPr lang="en-AU" sz="28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AU" sz="2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Amount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100B3D-50C6-F48D-B04D-45FB7C62D857}"/>
              </a:ext>
            </a:extLst>
          </p:cNvPr>
          <p:cNvSpPr txBox="1"/>
          <p:nvPr/>
        </p:nvSpPr>
        <p:spPr>
          <a:xfrm>
            <a:off x="5609057" y="2846550"/>
            <a:ext cx="3534943" cy="3737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Relational Model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Primary Key: Each table has a primary key that uniquely identifies each record. In the Customers table, the primary key is </a:t>
            </a: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CustomerID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. In the Orders table, the primary key is </a:t>
            </a: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OrderID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7148522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76450ABD-C40C-5E15-10AD-7D29FA7F3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2BE9918-0103-70A7-382D-74C1D135BB9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0"/>
            <a:ext cx="8908026" cy="412579"/>
          </a:xfrm>
        </p:spPr>
        <p:txBody>
          <a:bodyPr>
            <a:noAutofit/>
          </a:bodyPr>
          <a:lstStyle/>
          <a:p>
            <a:r>
              <a:rPr lang="en-US" sz="3200" dirty="0"/>
              <a:t>Understanding Primary and Foreign Keys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F8BC3F2-56FA-8DD6-F4F4-A8672A6E21C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36" t="30244" r="36158" b="57450"/>
          <a:stretch/>
        </p:blipFill>
        <p:spPr>
          <a:xfrm>
            <a:off x="0" y="412579"/>
            <a:ext cx="9144000" cy="1037510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FB12262-D2E6-0035-DF24-95CC213A05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36" t="54726" r="36158" b="30894"/>
          <a:stretch/>
        </p:blipFill>
        <p:spPr>
          <a:xfrm>
            <a:off x="0" y="1548958"/>
            <a:ext cx="9144000" cy="1198722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09E5541-8849-5DB2-F251-26A38A91E347}"/>
              </a:ext>
            </a:extLst>
          </p:cNvPr>
          <p:cNvSpPr/>
          <p:nvPr/>
        </p:nvSpPr>
        <p:spPr>
          <a:xfrm>
            <a:off x="0" y="2846549"/>
            <a:ext cx="2709746" cy="343457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b="1" u="sng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CustomerID</a:t>
            </a:r>
            <a:r>
              <a:rPr lang="en-AU" sz="2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(PK)</a:t>
            </a:r>
          </a:p>
          <a:p>
            <a:pPr algn="ctr"/>
            <a:r>
              <a:rPr lang="en-AU" sz="2800" b="1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OrderID</a:t>
            </a:r>
            <a:r>
              <a:rPr lang="en-AU" sz="2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(FK)</a:t>
            </a:r>
          </a:p>
          <a:p>
            <a:pPr algn="ctr"/>
            <a:r>
              <a:rPr lang="en-AU" sz="2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----------------------</a:t>
            </a:r>
          </a:p>
          <a:p>
            <a:pPr algn="ctr"/>
            <a:endParaRPr lang="en-AU" sz="28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AU" sz="2800" b="1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CustomerName</a:t>
            </a:r>
            <a:endParaRPr lang="en-AU" sz="28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AU" sz="2800" b="1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OrderDate</a:t>
            </a:r>
            <a:endParaRPr lang="en-AU" sz="28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DA70367-5CB7-7450-010D-0893FD5E0371}"/>
              </a:ext>
            </a:extLst>
          </p:cNvPr>
          <p:cNvSpPr/>
          <p:nvPr/>
        </p:nvSpPr>
        <p:spPr>
          <a:xfrm>
            <a:off x="2899311" y="2846549"/>
            <a:ext cx="2709746" cy="343457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b="1" u="sng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OrderID</a:t>
            </a:r>
            <a:r>
              <a:rPr lang="en-AU" sz="2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(PK)</a:t>
            </a:r>
          </a:p>
          <a:p>
            <a:pPr algn="ctr"/>
            <a:r>
              <a:rPr lang="en-AU" sz="2800" b="1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CustomerID</a:t>
            </a:r>
            <a:r>
              <a:rPr lang="en-AU" sz="2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(FK)</a:t>
            </a:r>
          </a:p>
          <a:p>
            <a:pPr algn="ctr"/>
            <a:r>
              <a:rPr lang="en-AU" sz="2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----------------------</a:t>
            </a:r>
          </a:p>
          <a:p>
            <a:pPr algn="ctr"/>
            <a:endParaRPr lang="en-AU" sz="28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AU" sz="2800" b="1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OrderDate</a:t>
            </a:r>
            <a:endParaRPr lang="en-AU" sz="28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AU" sz="2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Amount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96BAE7-5F20-D45B-E285-F0F1B3DBEDD5}"/>
              </a:ext>
            </a:extLst>
          </p:cNvPr>
          <p:cNvSpPr txBox="1"/>
          <p:nvPr/>
        </p:nvSpPr>
        <p:spPr>
          <a:xfrm>
            <a:off x="5609057" y="2846550"/>
            <a:ext cx="3534943" cy="32762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Foreign Key: The </a:t>
            </a: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CustomerID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in the Orders table serves as a foreign key, linking each order to a customer in the Customers table. This creates a relationship between the two tables.</a:t>
            </a:r>
          </a:p>
        </p:txBody>
      </p:sp>
    </p:spTree>
    <p:extLst>
      <p:ext uri="{BB962C8B-B14F-4D97-AF65-F5344CB8AC3E}">
        <p14:creationId xmlns:p14="http://schemas.microsoft.com/office/powerpoint/2010/main" val="122469605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7DB53669-E37B-8AE5-E50E-762E29C46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FC599117-C0CC-2D77-325B-945C9652064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0"/>
            <a:ext cx="8908026" cy="412579"/>
          </a:xfrm>
        </p:spPr>
        <p:txBody>
          <a:bodyPr>
            <a:noAutofit/>
          </a:bodyPr>
          <a:lstStyle/>
          <a:p>
            <a:r>
              <a:rPr lang="en-US" sz="3200" dirty="0"/>
              <a:t>Understanding Relationships and Cardinality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D7289F3-4555-03E3-317A-933143D6463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590" t="21472" r="28993" b="34025"/>
          <a:stretch/>
        </p:blipFill>
        <p:spPr>
          <a:xfrm>
            <a:off x="0" y="412579"/>
            <a:ext cx="7449746" cy="4198652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F0346B06-88C2-20BB-6117-4CDE244FC6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4611231"/>
            <a:ext cx="9143999" cy="1964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Cardinality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A patient can have multiple appointments, and each appointment is associated with one patient.</a:t>
            </a:r>
          </a:p>
        </p:txBody>
      </p:sp>
    </p:spTree>
    <p:extLst>
      <p:ext uri="{BB962C8B-B14F-4D97-AF65-F5344CB8AC3E}">
        <p14:creationId xmlns:p14="http://schemas.microsoft.com/office/powerpoint/2010/main" val="221321793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5EAEB513-A214-ED9E-70A3-CB61128EE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A409C621-C4B6-3789-59F3-E9A9DBBF888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0"/>
            <a:ext cx="8908026" cy="412579"/>
          </a:xfrm>
        </p:spPr>
        <p:txBody>
          <a:bodyPr>
            <a:noAutofit/>
          </a:bodyPr>
          <a:lstStyle/>
          <a:p>
            <a:r>
              <a:rPr lang="en-US" sz="3200" dirty="0"/>
              <a:t>Understanding Relationships and Cardinality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D4E606-4C42-66F7-4D61-DF989A32757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590" t="21472" r="28993" b="34025"/>
          <a:stretch/>
        </p:blipFill>
        <p:spPr>
          <a:xfrm>
            <a:off x="0" y="412579"/>
            <a:ext cx="7449746" cy="4198652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842AD849-1E2D-971B-02D7-E6AD09B3E8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4934396"/>
            <a:ext cx="9143999" cy="13181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A doctor can have multiple appointments, and each appointment is associated with one doctor.</a:t>
            </a:r>
          </a:p>
        </p:txBody>
      </p:sp>
    </p:spTree>
    <p:extLst>
      <p:ext uri="{BB962C8B-B14F-4D97-AF65-F5344CB8AC3E}">
        <p14:creationId xmlns:p14="http://schemas.microsoft.com/office/powerpoint/2010/main" val="372393061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B3B82EB5-4DB5-5A4E-3446-A3DB4D484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05BC5D0-3FE8-04C4-8519-BB31D56AC9C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0"/>
            <a:ext cx="7849590" cy="988142"/>
          </a:xfrm>
        </p:spPr>
        <p:txBody>
          <a:bodyPr>
            <a:noAutofit/>
          </a:bodyPr>
          <a:lstStyle/>
          <a:p>
            <a:r>
              <a:rPr lang="en-US" sz="3200" dirty="0"/>
              <a:t>Preparation Guidelines – Tutorial Week 2 (Part 1)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BDCC95-D5F9-ACB0-0E0E-B59206628DE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292" t="35583" r="28049" b="18022"/>
          <a:stretch>
            <a:fillRect/>
          </a:stretch>
        </p:blipFill>
        <p:spPr>
          <a:xfrm>
            <a:off x="0" y="988142"/>
            <a:ext cx="9144000" cy="5465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08265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C780475A-2569-D003-DD28-F77CD0353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D9578AC-BD9F-E638-30C0-1CC11FDFB30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0"/>
            <a:ext cx="7849590" cy="988142"/>
          </a:xfrm>
        </p:spPr>
        <p:txBody>
          <a:bodyPr>
            <a:noAutofit/>
          </a:bodyPr>
          <a:lstStyle/>
          <a:p>
            <a:r>
              <a:rPr lang="en-US" sz="3200" dirty="0"/>
              <a:t>Preparation Guidelines – Tutorial Week 2 (Part 1)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Image 5" descr="The tables in the database named C h 0 3 underscore Bene Co. The tables are Employee, Benefit, Job, and Plan. The Employee table has 5 rows and 3 columns. It has the following column headings. E m p underscore Code. E m p underscore L Name. Job underscore Code. The row information in the table are the following. Row 1: E m p underscore Code, 14; E m p underscore L Name, Rudell; Job underscore Code, 2. Row 2: E m p underscore Code, 15; E m p underscore L Name, McDade; Job underscore Code, 1. Row 3: E m p underscore Code, 16; E m p underscore L Name, Ruellardo; Job underscore Code, 1. Row 4: E m p underscore Code, 17; E m p underscore L Name, Smith; Job underscore Code, 3. Row 5: E m p underscore Code, 20; E m p underscore L Name, Smith; Job underscore Code, 2. The Benefit table has 7 rows and 2 columns. It has the following column headings. E m p underscore Code. Plan underscore Code. The row information in the table are the following. Row 1: E m p underscore Code, 15; Plan underscore Code, 2. Row 2: E m p underscore Code, 15; Plan underscore Code, 3. Row 3: E m p underscore Code, 16; Plan underscore Code, 1. Row 4: E m p underscore Code, 17; Plan underscore Code, 1. Row 5: E m p underscore Code, 17; Plan underscore Code, 3. Row 6: E m p underscore Code, 17; Plan underscore Code, 4. Row 7: E m p underscore Code, 20; Plan underscore Code, 3. The Job table has 3 rows and 2 columns. It has the following column headings. Job underscore Code. Job underscore Description. The row information in the table are the following. Row 1: Job underscore Code, 1; Job underscore Description, Clerical. Row 2: Job underscore Code, 2; Job underscore Description, Technical. Row 3: Job underscore Code, 3; Job underscore Description, Managerial. The Plan table has 4 rows and 2 columns. It has the following column headings. Plan underscore Code. Plan underscore Description. The row information in the table are the following. Row 1: Plan underscore Code, 1; Plan underscore Description, Term Life. Row 2: Plan underscore Code, 2; Plan underscore Description, Stock purchase. Row 3: Plan underscore Code, 3; Plan underscore Description, Long-term disability. Row 4: Plan underscore Code, 4; Plan underscore Description, Dental.    ">
            <a:extLst>
              <a:ext uri="{FF2B5EF4-FFF2-40B4-BE49-F238E27FC236}">
                <a16:creationId xmlns:a16="http://schemas.microsoft.com/office/drawing/2014/main" id="{231F5E90-1670-D98C-6D19-07A4EFBCCCB2}"/>
              </a:ext>
            </a:extLst>
          </p:cNvPr>
          <p:cNvPicPr>
            <a:picLocks/>
          </p:cNvPicPr>
          <p:nvPr/>
        </p:nvPicPr>
        <p:blipFill>
          <a:blip r:embed="rId3" cstate="print"/>
          <a:srcRect t="5085" b="7264"/>
          <a:stretch>
            <a:fillRect/>
          </a:stretch>
        </p:blipFill>
        <p:spPr>
          <a:xfrm>
            <a:off x="1059366" y="988142"/>
            <a:ext cx="7025268" cy="403674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4B3E833-3811-0A24-9240-AC69CD622D3B}"/>
              </a:ext>
            </a:extLst>
          </p:cNvPr>
          <p:cNvSpPr txBox="1"/>
          <p:nvPr/>
        </p:nvSpPr>
        <p:spPr>
          <a:xfrm>
            <a:off x="0" y="4854195"/>
            <a:ext cx="8987882" cy="1891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000" b="1" dirty="0">
                <a:latin typeface="Calibir"/>
              </a:rPr>
              <a:t>Tables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latin typeface="Calibir"/>
              </a:rPr>
              <a:t>EMPLOYEE</a:t>
            </a:r>
            <a:endParaRPr lang="en-US" sz="2000" dirty="0">
              <a:latin typeface="Calibir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ir"/>
              </a:rPr>
              <a:t>Stores employee information.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ir"/>
              </a:rPr>
              <a:t>Fields: EMP_CODE, EMP_LNAME, JOB_CODE.</a:t>
            </a:r>
          </a:p>
        </p:txBody>
      </p:sp>
    </p:spTree>
    <p:extLst>
      <p:ext uri="{BB962C8B-B14F-4D97-AF65-F5344CB8AC3E}">
        <p14:creationId xmlns:p14="http://schemas.microsoft.com/office/powerpoint/2010/main" val="57117369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D167685A-BAB5-4A3D-07EF-6AB782AD1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CAB9DFA0-E3EE-18A2-E4B7-84B9A5D07BF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0"/>
            <a:ext cx="7849590" cy="988142"/>
          </a:xfrm>
        </p:spPr>
        <p:txBody>
          <a:bodyPr>
            <a:noAutofit/>
          </a:bodyPr>
          <a:lstStyle/>
          <a:p>
            <a:r>
              <a:rPr lang="en-US" sz="3200" dirty="0"/>
              <a:t>Preparation Guidelines – Tutorial Week 2 (Part 1)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Image 5" descr="The tables in the database named C h 0 3 underscore Bene Co. The tables are Employee, Benefit, Job, and Plan. The Employee table has 5 rows and 3 columns. It has the following column headings. E m p underscore Code. E m p underscore L Name. Job underscore Code. The row information in the table are the following. Row 1: E m p underscore Code, 14; E m p underscore L Name, Rudell; Job underscore Code, 2. Row 2: E m p underscore Code, 15; E m p underscore L Name, McDade; Job underscore Code, 1. Row 3: E m p underscore Code, 16; E m p underscore L Name, Ruellardo; Job underscore Code, 1. Row 4: E m p underscore Code, 17; E m p underscore L Name, Smith; Job underscore Code, 3. Row 5: E m p underscore Code, 20; E m p underscore L Name, Smith; Job underscore Code, 2. The Benefit table has 7 rows and 2 columns. It has the following column headings. E m p underscore Code. Plan underscore Code. The row information in the table are the following. Row 1: E m p underscore Code, 15; Plan underscore Code, 2. Row 2: E m p underscore Code, 15; Plan underscore Code, 3. Row 3: E m p underscore Code, 16; Plan underscore Code, 1. Row 4: E m p underscore Code, 17; Plan underscore Code, 1. Row 5: E m p underscore Code, 17; Plan underscore Code, 3. Row 6: E m p underscore Code, 17; Plan underscore Code, 4. Row 7: E m p underscore Code, 20; Plan underscore Code, 3. The Job table has 3 rows and 2 columns. It has the following column headings. Job underscore Code. Job underscore Description. The row information in the table are the following. Row 1: Job underscore Code, 1; Job underscore Description, Clerical. Row 2: Job underscore Code, 2; Job underscore Description, Technical. Row 3: Job underscore Code, 3; Job underscore Description, Managerial. The Plan table has 4 rows and 2 columns. It has the following column headings. Plan underscore Code. Plan underscore Description. The row information in the table are the following. Row 1: Plan underscore Code, 1; Plan underscore Description, Term Life. Row 2: Plan underscore Code, 2; Plan underscore Description, Stock purchase. Row 3: Plan underscore Code, 3; Plan underscore Description, Long-term disability. Row 4: Plan underscore Code, 4; Plan underscore Description, Dental.    ">
            <a:extLst>
              <a:ext uri="{FF2B5EF4-FFF2-40B4-BE49-F238E27FC236}">
                <a16:creationId xmlns:a16="http://schemas.microsoft.com/office/drawing/2014/main" id="{215D19C2-8A87-7623-A438-F44E9389486F}"/>
              </a:ext>
            </a:extLst>
          </p:cNvPr>
          <p:cNvPicPr>
            <a:picLocks/>
          </p:cNvPicPr>
          <p:nvPr/>
        </p:nvPicPr>
        <p:blipFill>
          <a:blip r:embed="rId3" cstate="print"/>
          <a:srcRect t="5085" b="7264"/>
          <a:stretch>
            <a:fillRect/>
          </a:stretch>
        </p:blipFill>
        <p:spPr>
          <a:xfrm>
            <a:off x="1059366" y="988142"/>
            <a:ext cx="7025268" cy="403674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9B5D8AE-F361-6E4E-2DE3-39B0EC4000E2}"/>
              </a:ext>
            </a:extLst>
          </p:cNvPr>
          <p:cNvSpPr txBox="1"/>
          <p:nvPr/>
        </p:nvSpPr>
        <p:spPr>
          <a:xfrm>
            <a:off x="0" y="5024883"/>
            <a:ext cx="8987882" cy="14296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 startAt="2"/>
            </a:pPr>
            <a:r>
              <a:rPr lang="en-US" sz="2000" b="1" dirty="0">
                <a:latin typeface="Calibir"/>
              </a:rPr>
              <a:t>JOB</a:t>
            </a:r>
            <a:endParaRPr lang="en-US" sz="2000" dirty="0">
              <a:latin typeface="Calibir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ir"/>
              </a:rPr>
              <a:t>Stores job types.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ir"/>
              </a:rPr>
              <a:t>Fields: JOB_CODE, JOB_DESCRIPTION.</a:t>
            </a:r>
          </a:p>
        </p:txBody>
      </p:sp>
    </p:spTree>
    <p:extLst>
      <p:ext uri="{BB962C8B-B14F-4D97-AF65-F5344CB8AC3E}">
        <p14:creationId xmlns:p14="http://schemas.microsoft.com/office/powerpoint/2010/main" val="185827769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69B539EA-545D-EE6A-B218-31C0993B4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51148D8-ABC3-1720-AF81-DD5696EBD06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0"/>
            <a:ext cx="7849590" cy="988142"/>
          </a:xfrm>
        </p:spPr>
        <p:txBody>
          <a:bodyPr>
            <a:noAutofit/>
          </a:bodyPr>
          <a:lstStyle/>
          <a:p>
            <a:r>
              <a:rPr lang="en-US" sz="3200" dirty="0"/>
              <a:t>Preparation Guidelines – Tutorial Week 2 (Part 1)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Image 5" descr="The tables in the database named C h 0 3 underscore Bene Co. The tables are Employee, Benefit, Job, and Plan. The Employee table has 5 rows and 3 columns. It has the following column headings. E m p underscore Code. E m p underscore L Name. Job underscore Code. The row information in the table are the following. Row 1: E m p underscore Code, 14; E m p underscore L Name, Rudell; Job underscore Code, 2. Row 2: E m p underscore Code, 15; E m p underscore L Name, McDade; Job underscore Code, 1. Row 3: E m p underscore Code, 16; E m p underscore L Name, Ruellardo; Job underscore Code, 1. Row 4: E m p underscore Code, 17; E m p underscore L Name, Smith; Job underscore Code, 3. Row 5: E m p underscore Code, 20; E m p underscore L Name, Smith; Job underscore Code, 2. The Benefit table has 7 rows and 2 columns. It has the following column headings. E m p underscore Code. Plan underscore Code. The row information in the table are the following. Row 1: E m p underscore Code, 15; Plan underscore Code, 2. Row 2: E m p underscore Code, 15; Plan underscore Code, 3. Row 3: E m p underscore Code, 16; Plan underscore Code, 1. Row 4: E m p underscore Code, 17; Plan underscore Code, 1. Row 5: E m p underscore Code, 17; Plan underscore Code, 3. Row 6: E m p underscore Code, 17; Plan underscore Code, 4. Row 7: E m p underscore Code, 20; Plan underscore Code, 3. The Job table has 3 rows and 2 columns. It has the following column headings. Job underscore Code. Job underscore Description. The row information in the table are the following. Row 1: Job underscore Code, 1; Job underscore Description, Clerical. Row 2: Job underscore Code, 2; Job underscore Description, Technical. Row 3: Job underscore Code, 3; Job underscore Description, Managerial. The Plan table has 4 rows and 2 columns. It has the following column headings. Plan underscore Code. Plan underscore Description. The row information in the table are the following. Row 1: Plan underscore Code, 1; Plan underscore Description, Term Life. Row 2: Plan underscore Code, 2; Plan underscore Description, Stock purchase. Row 3: Plan underscore Code, 3; Plan underscore Description, Long-term disability. Row 4: Plan underscore Code, 4; Plan underscore Description, Dental.    ">
            <a:extLst>
              <a:ext uri="{FF2B5EF4-FFF2-40B4-BE49-F238E27FC236}">
                <a16:creationId xmlns:a16="http://schemas.microsoft.com/office/drawing/2014/main" id="{1E6E837F-9511-5C1E-2754-AA1405546411}"/>
              </a:ext>
            </a:extLst>
          </p:cNvPr>
          <p:cNvPicPr>
            <a:picLocks/>
          </p:cNvPicPr>
          <p:nvPr/>
        </p:nvPicPr>
        <p:blipFill>
          <a:blip r:embed="rId3" cstate="print"/>
          <a:srcRect t="5085" b="7264"/>
          <a:stretch>
            <a:fillRect/>
          </a:stretch>
        </p:blipFill>
        <p:spPr>
          <a:xfrm>
            <a:off x="1059366" y="988142"/>
            <a:ext cx="7025268" cy="403674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75E7146-FFEA-5411-895D-3B883B78571A}"/>
              </a:ext>
            </a:extLst>
          </p:cNvPr>
          <p:cNvSpPr txBox="1"/>
          <p:nvPr/>
        </p:nvSpPr>
        <p:spPr>
          <a:xfrm>
            <a:off x="0" y="5024883"/>
            <a:ext cx="8987882" cy="14296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 startAt="3"/>
            </a:pPr>
            <a:r>
              <a:rPr lang="en-US" altLang="en-US" sz="2000" b="1" dirty="0">
                <a:latin typeface="Calibir"/>
              </a:rPr>
              <a:t>PLAN</a:t>
            </a:r>
            <a:endParaRPr lang="en-US" altLang="en-US" sz="2000" dirty="0">
              <a:latin typeface="Calibir"/>
            </a:endParaRPr>
          </a:p>
          <a:p>
            <a:pPr marL="814388" lvl="2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Calibir"/>
              </a:rPr>
              <a:t>Stores benefit plans offered by the company.</a:t>
            </a:r>
          </a:p>
          <a:p>
            <a:pPr marL="814388" lvl="2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Calibir"/>
              </a:rPr>
              <a:t>Fields: PLAN_CODE, PLAN_DESCRIPTION.</a:t>
            </a:r>
          </a:p>
        </p:txBody>
      </p:sp>
    </p:spTree>
    <p:extLst>
      <p:ext uri="{BB962C8B-B14F-4D97-AF65-F5344CB8AC3E}">
        <p14:creationId xmlns:p14="http://schemas.microsoft.com/office/powerpoint/2010/main" val="94629955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DD24FAA5-FB3A-CF54-AF88-D8B5FBF5A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C65C9A99-F7A8-A768-08C6-8B290C511CF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0"/>
            <a:ext cx="7849590" cy="988142"/>
          </a:xfrm>
        </p:spPr>
        <p:txBody>
          <a:bodyPr>
            <a:noAutofit/>
          </a:bodyPr>
          <a:lstStyle/>
          <a:p>
            <a:r>
              <a:rPr lang="en-US" sz="3200" dirty="0"/>
              <a:t>Preparation Guidelines – Tutorial Week 2 (Part 1)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Image 5" descr="The tables in the database named C h 0 3 underscore Bene Co. The tables are Employee, Benefit, Job, and Plan. The Employee table has 5 rows and 3 columns. It has the following column headings. E m p underscore Code. E m p underscore L Name. Job underscore Code. The row information in the table are the following. Row 1: E m p underscore Code, 14; E m p underscore L Name, Rudell; Job underscore Code, 2. Row 2: E m p underscore Code, 15; E m p underscore L Name, McDade; Job underscore Code, 1. Row 3: E m p underscore Code, 16; E m p underscore L Name, Ruellardo; Job underscore Code, 1. Row 4: E m p underscore Code, 17; E m p underscore L Name, Smith; Job underscore Code, 3. Row 5: E m p underscore Code, 20; E m p underscore L Name, Smith; Job underscore Code, 2. The Benefit table has 7 rows and 2 columns. It has the following column headings. E m p underscore Code. Plan underscore Code. The row information in the table are the following. Row 1: E m p underscore Code, 15; Plan underscore Code, 2. Row 2: E m p underscore Code, 15; Plan underscore Code, 3. Row 3: E m p underscore Code, 16; Plan underscore Code, 1. Row 4: E m p underscore Code, 17; Plan underscore Code, 1. Row 5: E m p underscore Code, 17; Plan underscore Code, 3. Row 6: E m p underscore Code, 17; Plan underscore Code, 4. Row 7: E m p underscore Code, 20; Plan underscore Code, 3. The Job table has 3 rows and 2 columns. It has the following column headings. Job underscore Code. Job underscore Description. The row information in the table are the following. Row 1: Job underscore Code, 1; Job underscore Description, Clerical. Row 2: Job underscore Code, 2; Job underscore Description, Technical. Row 3: Job underscore Code, 3; Job underscore Description, Managerial. The Plan table has 4 rows and 2 columns. It has the following column headings. Plan underscore Code. Plan underscore Description. The row information in the table are the following. Row 1: Plan underscore Code, 1; Plan underscore Description, Term Life. Row 2: Plan underscore Code, 2; Plan underscore Description, Stock purchase. Row 3: Plan underscore Code, 3; Plan underscore Description, Long-term disability. Row 4: Plan underscore Code, 4; Plan underscore Description, Dental.    ">
            <a:extLst>
              <a:ext uri="{FF2B5EF4-FFF2-40B4-BE49-F238E27FC236}">
                <a16:creationId xmlns:a16="http://schemas.microsoft.com/office/drawing/2014/main" id="{E84CE248-5DB4-C5CC-2A4A-33EED26E141B}"/>
              </a:ext>
            </a:extLst>
          </p:cNvPr>
          <p:cNvPicPr>
            <a:picLocks/>
          </p:cNvPicPr>
          <p:nvPr/>
        </p:nvPicPr>
        <p:blipFill>
          <a:blip r:embed="rId3" cstate="print"/>
          <a:srcRect t="5085" b="7264"/>
          <a:stretch>
            <a:fillRect/>
          </a:stretch>
        </p:blipFill>
        <p:spPr>
          <a:xfrm>
            <a:off x="1059366" y="988142"/>
            <a:ext cx="7025268" cy="403674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DAA26DC-2355-F8DF-A41F-BC0641DA2D86}"/>
              </a:ext>
            </a:extLst>
          </p:cNvPr>
          <p:cNvSpPr txBox="1"/>
          <p:nvPr/>
        </p:nvSpPr>
        <p:spPr>
          <a:xfrm>
            <a:off x="0" y="5024883"/>
            <a:ext cx="8987882" cy="14296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 startAt="4"/>
            </a:pPr>
            <a:r>
              <a:rPr lang="en-US" altLang="en-US" sz="2000" b="1" dirty="0">
                <a:latin typeface="Calibir"/>
              </a:rPr>
              <a:t>BENEFIT</a:t>
            </a:r>
            <a:endParaRPr lang="en-US" altLang="en-US" sz="2000" dirty="0">
              <a:latin typeface="Calibir"/>
            </a:endParaRP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Calibir"/>
              </a:rPr>
              <a:t>Connects employees with the benefit plans they have.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Calibir"/>
              </a:rPr>
              <a:t>Fields: EMP_CODE, PLAN_CODE.</a:t>
            </a:r>
          </a:p>
        </p:txBody>
      </p:sp>
    </p:spTree>
    <p:extLst>
      <p:ext uri="{BB962C8B-B14F-4D97-AF65-F5344CB8AC3E}">
        <p14:creationId xmlns:p14="http://schemas.microsoft.com/office/powerpoint/2010/main" val="13783855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16151E02-72F1-03FE-2668-ADA551B3B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29B3AB13-BFB3-F152-356E-5A1A10033C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0"/>
            <a:ext cx="7849590" cy="988142"/>
          </a:xfrm>
        </p:spPr>
        <p:txBody>
          <a:bodyPr>
            <a:noAutofit/>
          </a:bodyPr>
          <a:lstStyle/>
          <a:p>
            <a:r>
              <a:rPr lang="en-US" sz="3200" dirty="0"/>
              <a:t>Preparation Guidelines – Tutorial Week 2 (Part 1)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Image 5" descr="The tables in the database named C h 0 3 underscore Bene Co. The tables are Employee, Benefit, Job, and Plan. The Employee table has 5 rows and 3 columns. It has the following column headings. E m p underscore Code. E m p underscore L Name. Job underscore Code. The row information in the table are the following. Row 1: E m p underscore Code, 14; E m p underscore L Name, Rudell; Job underscore Code, 2. Row 2: E m p underscore Code, 15; E m p underscore L Name, McDade; Job underscore Code, 1. Row 3: E m p underscore Code, 16; E m p underscore L Name, Ruellardo; Job underscore Code, 1. Row 4: E m p underscore Code, 17; E m p underscore L Name, Smith; Job underscore Code, 3. Row 5: E m p underscore Code, 20; E m p underscore L Name, Smith; Job underscore Code, 2. The Benefit table has 7 rows and 2 columns. It has the following column headings. E m p underscore Code. Plan underscore Code. The row information in the table are the following. Row 1: E m p underscore Code, 15; Plan underscore Code, 2. Row 2: E m p underscore Code, 15; Plan underscore Code, 3. Row 3: E m p underscore Code, 16; Plan underscore Code, 1. Row 4: E m p underscore Code, 17; Plan underscore Code, 1. Row 5: E m p underscore Code, 17; Plan underscore Code, 3. Row 6: E m p underscore Code, 17; Plan underscore Code, 4. Row 7: E m p underscore Code, 20; Plan underscore Code, 3. The Job table has 3 rows and 2 columns. It has the following column headings. Job underscore Code. Job underscore Description. The row information in the table are the following. Row 1: Job underscore Code, 1; Job underscore Description, Clerical. Row 2: Job underscore Code, 2; Job underscore Description, Technical. Row 3: Job underscore Code, 3; Job underscore Description, Managerial. The Plan table has 4 rows and 2 columns. It has the following column headings. Plan underscore Code. Plan underscore Description. The row information in the table are the following. Row 1: Plan underscore Code, 1; Plan underscore Description, Term Life. Row 2: Plan underscore Code, 2; Plan underscore Description, Stock purchase. Row 3: Plan underscore Code, 3; Plan underscore Description, Long-term disability. Row 4: Plan underscore Code, 4; Plan underscore Description, Dental.    ">
            <a:extLst>
              <a:ext uri="{FF2B5EF4-FFF2-40B4-BE49-F238E27FC236}">
                <a16:creationId xmlns:a16="http://schemas.microsoft.com/office/drawing/2014/main" id="{4E63A4A6-2A77-519F-5810-D06521037453}"/>
              </a:ext>
            </a:extLst>
          </p:cNvPr>
          <p:cNvPicPr>
            <a:picLocks/>
          </p:cNvPicPr>
          <p:nvPr/>
        </p:nvPicPr>
        <p:blipFill>
          <a:blip r:embed="rId3" cstate="print"/>
          <a:srcRect t="5085" b="7264"/>
          <a:stretch>
            <a:fillRect/>
          </a:stretch>
        </p:blipFill>
        <p:spPr>
          <a:xfrm>
            <a:off x="1059366" y="988142"/>
            <a:ext cx="7025268" cy="403674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A08D086-730D-ECFE-B35B-B5751B5B7D6D}"/>
              </a:ext>
            </a:extLst>
          </p:cNvPr>
          <p:cNvSpPr txBox="1"/>
          <p:nvPr/>
        </p:nvSpPr>
        <p:spPr>
          <a:xfrm>
            <a:off x="0" y="5024883"/>
            <a:ext cx="8987882" cy="14296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Calibir"/>
              </a:rPr>
              <a:t>Relationships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ir"/>
              </a:rPr>
              <a:t>JOB → EMPLOYEE</a:t>
            </a:r>
            <a:br>
              <a:rPr lang="en-US" sz="2000" dirty="0">
                <a:latin typeface="Calibir"/>
              </a:rPr>
            </a:br>
            <a:r>
              <a:rPr lang="en-US" sz="2000" dirty="0">
                <a:latin typeface="Calibir"/>
              </a:rPr>
              <a:t>One job type can belong to many employees.</a:t>
            </a:r>
          </a:p>
        </p:txBody>
      </p:sp>
    </p:spTree>
    <p:extLst>
      <p:ext uri="{BB962C8B-B14F-4D97-AF65-F5344CB8AC3E}">
        <p14:creationId xmlns:p14="http://schemas.microsoft.com/office/powerpoint/2010/main" val="217541660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649A8192-056E-DA70-BFA7-DA9D74EE2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6D87317F-7A21-57DF-5897-3742492B26C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0"/>
            <a:ext cx="7849590" cy="988142"/>
          </a:xfrm>
        </p:spPr>
        <p:txBody>
          <a:bodyPr>
            <a:noAutofit/>
          </a:bodyPr>
          <a:lstStyle/>
          <a:p>
            <a:r>
              <a:rPr lang="en-US" sz="3200" dirty="0"/>
              <a:t>Preparation Guidelines – Tutorial Week 2 (Part 1)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Image 5" descr="The tables in the database named C h 0 3 underscore Bene Co. The tables are Employee, Benefit, Job, and Plan. The Employee table has 5 rows and 3 columns. It has the following column headings. E m p underscore Code. E m p underscore L Name. Job underscore Code. The row information in the table are the following. Row 1: E m p underscore Code, 14; E m p underscore L Name, Rudell; Job underscore Code, 2. Row 2: E m p underscore Code, 15; E m p underscore L Name, McDade; Job underscore Code, 1. Row 3: E m p underscore Code, 16; E m p underscore L Name, Ruellardo; Job underscore Code, 1. Row 4: E m p underscore Code, 17; E m p underscore L Name, Smith; Job underscore Code, 3. Row 5: E m p underscore Code, 20; E m p underscore L Name, Smith; Job underscore Code, 2. The Benefit table has 7 rows and 2 columns. It has the following column headings. E m p underscore Code. Plan underscore Code. The row information in the table are the following. Row 1: E m p underscore Code, 15; Plan underscore Code, 2. Row 2: E m p underscore Code, 15; Plan underscore Code, 3. Row 3: E m p underscore Code, 16; Plan underscore Code, 1. Row 4: E m p underscore Code, 17; Plan underscore Code, 1. Row 5: E m p underscore Code, 17; Plan underscore Code, 3. Row 6: E m p underscore Code, 17; Plan underscore Code, 4. Row 7: E m p underscore Code, 20; Plan underscore Code, 3. The Job table has 3 rows and 2 columns. It has the following column headings. Job underscore Code. Job underscore Description. The row information in the table are the following. Row 1: Job underscore Code, 1; Job underscore Description, Clerical. Row 2: Job underscore Code, 2; Job underscore Description, Technical. Row 3: Job underscore Code, 3; Job underscore Description, Managerial. The Plan table has 4 rows and 2 columns. It has the following column headings. Plan underscore Code. Plan underscore Description. The row information in the table are the following. Row 1: Plan underscore Code, 1; Plan underscore Description, Term Life. Row 2: Plan underscore Code, 2; Plan underscore Description, Stock purchase. Row 3: Plan underscore Code, 3; Plan underscore Description, Long-term disability. Row 4: Plan underscore Code, 4; Plan underscore Description, Dental.    ">
            <a:extLst>
              <a:ext uri="{FF2B5EF4-FFF2-40B4-BE49-F238E27FC236}">
                <a16:creationId xmlns:a16="http://schemas.microsoft.com/office/drawing/2014/main" id="{3753E225-2B26-57FD-ECA5-7A43C95764BF}"/>
              </a:ext>
            </a:extLst>
          </p:cNvPr>
          <p:cNvPicPr>
            <a:picLocks/>
          </p:cNvPicPr>
          <p:nvPr/>
        </p:nvPicPr>
        <p:blipFill>
          <a:blip r:embed="rId3" cstate="print"/>
          <a:srcRect t="5085" b="7264"/>
          <a:stretch>
            <a:fillRect/>
          </a:stretch>
        </p:blipFill>
        <p:spPr>
          <a:xfrm>
            <a:off x="1059366" y="988142"/>
            <a:ext cx="7025268" cy="403674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73AFD99-A04E-C01E-DF2A-BF4D42D8AF04}"/>
              </a:ext>
            </a:extLst>
          </p:cNvPr>
          <p:cNvSpPr txBox="1"/>
          <p:nvPr/>
        </p:nvSpPr>
        <p:spPr>
          <a:xfrm>
            <a:off x="0" y="5024883"/>
            <a:ext cx="8987882" cy="1891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ir"/>
              </a:rPr>
              <a:t>EMPLOYEE → BENEFIT</a:t>
            </a:r>
            <a:br>
              <a:rPr lang="en-US" sz="2000" dirty="0">
                <a:latin typeface="Calibir"/>
              </a:rPr>
            </a:br>
            <a:r>
              <a:rPr lang="en-US" sz="2000" dirty="0">
                <a:latin typeface="Calibir"/>
              </a:rPr>
              <a:t>One employee can have many benefits.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ir"/>
              </a:rPr>
              <a:t>PLAN → BENEFIT</a:t>
            </a:r>
            <a:br>
              <a:rPr lang="en-US" sz="2000" dirty="0">
                <a:latin typeface="Calibir"/>
              </a:rPr>
            </a:br>
            <a:r>
              <a:rPr lang="en-US" sz="2000" dirty="0">
                <a:latin typeface="Calibir"/>
              </a:rPr>
              <a:t>One plan can be used by many employees.</a:t>
            </a:r>
          </a:p>
        </p:txBody>
      </p:sp>
    </p:spTree>
    <p:extLst>
      <p:ext uri="{BB962C8B-B14F-4D97-AF65-F5344CB8AC3E}">
        <p14:creationId xmlns:p14="http://schemas.microsoft.com/office/powerpoint/2010/main" val="149190150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33C968D9-49EC-8D4B-969C-0E3F4EB62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C632B945-FDC6-40F7-FE79-224A784D630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0"/>
            <a:ext cx="7849590" cy="988142"/>
          </a:xfrm>
        </p:spPr>
        <p:txBody>
          <a:bodyPr>
            <a:noAutofit/>
          </a:bodyPr>
          <a:lstStyle/>
          <a:p>
            <a:r>
              <a:rPr lang="en-US" sz="3200" dirty="0"/>
              <a:t>Preparation Guidelines – Tutorial Week 2 (Part 1)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Image 5" descr="The tables in the database named C h 0 3 underscore Bene Co. The tables are Employee, Benefit, Job, and Plan. The Employee table has 5 rows and 3 columns. It has the following column headings. E m p underscore Code. E m p underscore L Name. Job underscore Code. The row information in the table are the following. Row 1: E m p underscore Code, 14; E m p underscore L Name, Rudell; Job underscore Code, 2. Row 2: E m p underscore Code, 15; E m p underscore L Name, McDade; Job underscore Code, 1. Row 3: E m p underscore Code, 16; E m p underscore L Name, Ruellardo; Job underscore Code, 1. Row 4: E m p underscore Code, 17; E m p underscore L Name, Smith; Job underscore Code, 3. Row 5: E m p underscore Code, 20; E m p underscore L Name, Smith; Job underscore Code, 2. The Benefit table has 7 rows and 2 columns. It has the following column headings. E m p underscore Code. Plan underscore Code. The row information in the table are the following. Row 1: E m p underscore Code, 15; Plan underscore Code, 2. Row 2: E m p underscore Code, 15; Plan underscore Code, 3. Row 3: E m p underscore Code, 16; Plan underscore Code, 1. Row 4: E m p underscore Code, 17; Plan underscore Code, 1. Row 5: E m p underscore Code, 17; Plan underscore Code, 3. Row 6: E m p underscore Code, 17; Plan underscore Code, 4. Row 7: E m p underscore Code, 20; Plan underscore Code, 3. The Job table has 3 rows and 2 columns. It has the following column headings. Job underscore Code. Job underscore Description. The row information in the table are the following. Row 1: Job underscore Code, 1; Job underscore Description, Clerical. Row 2: Job underscore Code, 2; Job underscore Description, Technical. Row 3: Job underscore Code, 3; Job underscore Description, Managerial. The Plan table has 4 rows and 2 columns. It has the following column headings. Plan underscore Code. Plan underscore Description. The row information in the table are the following. Row 1: Plan underscore Code, 1; Plan underscore Description, Term Life. Row 2: Plan underscore Code, 2; Plan underscore Description, Stock purchase. Row 3: Plan underscore Code, 3; Plan underscore Description, Long-term disability. Row 4: Plan underscore Code, 4; Plan underscore Description, Dental.    ">
            <a:extLst>
              <a:ext uri="{FF2B5EF4-FFF2-40B4-BE49-F238E27FC236}">
                <a16:creationId xmlns:a16="http://schemas.microsoft.com/office/drawing/2014/main" id="{C1D22B49-B0EC-944B-9EA3-D4428380A21A}"/>
              </a:ext>
            </a:extLst>
          </p:cNvPr>
          <p:cNvPicPr>
            <a:picLocks/>
          </p:cNvPicPr>
          <p:nvPr/>
        </p:nvPicPr>
        <p:blipFill>
          <a:blip r:embed="rId3" cstate="print"/>
          <a:srcRect t="5085" b="7264"/>
          <a:stretch>
            <a:fillRect/>
          </a:stretch>
        </p:blipFill>
        <p:spPr>
          <a:xfrm>
            <a:off x="1059366" y="988142"/>
            <a:ext cx="7025268" cy="403674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BBB98F9-D31B-5369-8A20-16DE6B5BA399}"/>
              </a:ext>
            </a:extLst>
          </p:cNvPr>
          <p:cNvSpPr txBox="1"/>
          <p:nvPr/>
        </p:nvSpPr>
        <p:spPr>
          <a:xfrm>
            <a:off x="0" y="5024883"/>
            <a:ext cx="8987882" cy="14296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ir"/>
              </a:rPr>
              <a:t>EMPLOYEE ↔ PLAN</a:t>
            </a:r>
            <a:br>
              <a:rPr lang="en-US" sz="2000" dirty="0">
                <a:latin typeface="Calibir"/>
              </a:rPr>
            </a:br>
            <a:r>
              <a:rPr lang="en-US" sz="2000" dirty="0">
                <a:latin typeface="Calibir"/>
              </a:rPr>
              <a:t>Employees can have many plans, and plans can belong to many employees.</a:t>
            </a:r>
            <a:br>
              <a:rPr lang="en-US" sz="2000" dirty="0">
                <a:latin typeface="Calibir"/>
              </a:rPr>
            </a:br>
            <a:r>
              <a:rPr lang="en-US" sz="2000" dirty="0">
                <a:latin typeface="Calibir"/>
              </a:rPr>
              <a:t>The BENEFIT table links them together.</a:t>
            </a:r>
          </a:p>
        </p:txBody>
      </p:sp>
    </p:spTree>
    <p:extLst>
      <p:ext uri="{BB962C8B-B14F-4D97-AF65-F5344CB8AC3E}">
        <p14:creationId xmlns:p14="http://schemas.microsoft.com/office/powerpoint/2010/main" val="330729554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08C4E7D6-FBCD-AEDB-D296-09B267BC5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984EE848-0CA1-3496-05A3-DB920438A2B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0"/>
            <a:ext cx="7849590" cy="988142"/>
          </a:xfrm>
        </p:spPr>
        <p:txBody>
          <a:bodyPr>
            <a:noAutofit/>
          </a:bodyPr>
          <a:lstStyle/>
          <a:p>
            <a:r>
              <a:rPr lang="en-US" sz="3200" dirty="0"/>
              <a:t>Preparation Guidelines – Tutorial Week 2 (Part 1)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Image 5" descr="The tables in the database named C h 0 3 underscore Bene Co. The tables are Employee, Benefit, Job, and Plan. The Employee table has 5 rows and 3 columns. It has the following column headings. E m p underscore Code. E m p underscore L Name. Job underscore Code. The row information in the table are the following. Row 1: E m p underscore Code, 14; E m p underscore L Name, Rudell; Job underscore Code, 2. Row 2: E m p underscore Code, 15; E m p underscore L Name, McDade; Job underscore Code, 1. Row 3: E m p underscore Code, 16; E m p underscore L Name, Ruellardo; Job underscore Code, 1. Row 4: E m p underscore Code, 17; E m p underscore L Name, Smith; Job underscore Code, 3. Row 5: E m p underscore Code, 20; E m p underscore L Name, Smith; Job underscore Code, 2. The Benefit table has 7 rows and 2 columns. It has the following column headings. E m p underscore Code. Plan underscore Code. The row information in the table are the following. Row 1: E m p underscore Code, 15; Plan underscore Code, 2. Row 2: E m p underscore Code, 15; Plan underscore Code, 3. Row 3: E m p underscore Code, 16; Plan underscore Code, 1. Row 4: E m p underscore Code, 17; Plan underscore Code, 1. Row 5: E m p underscore Code, 17; Plan underscore Code, 3. Row 6: E m p underscore Code, 17; Plan underscore Code, 4. Row 7: E m p underscore Code, 20; Plan underscore Code, 3. The Job table has 3 rows and 2 columns. It has the following column headings. Job underscore Code. Job underscore Description. The row information in the table are the following. Row 1: Job underscore Code, 1; Job underscore Description, Clerical. Row 2: Job underscore Code, 2; Job underscore Description, Technical. Row 3: Job underscore Code, 3; Job underscore Description, Managerial. The Plan table has 4 rows and 2 columns. It has the following column headings. Plan underscore Code. Plan underscore Description. The row information in the table are the following. Row 1: Plan underscore Code, 1; Plan underscore Description, Term Life. Row 2: Plan underscore Code, 2; Plan underscore Description, Stock purchase. Row 3: Plan underscore Code, 3; Plan underscore Description, Long-term disability. Row 4: Plan underscore Code, 4; Plan underscore Description, Dental.    ">
            <a:extLst>
              <a:ext uri="{FF2B5EF4-FFF2-40B4-BE49-F238E27FC236}">
                <a16:creationId xmlns:a16="http://schemas.microsoft.com/office/drawing/2014/main" id="{EA6CC974-2652-7103-697D-64485EA899BC}"/>
              </a:ext>
            </a:extLst>
          </p:cNvPr>
          <p:cNvPicPr>
            <a:picLocks/>
          </p:cNvPicPr>
          <p:nvPr/>
        </p:nvPicPr>
        <p:blipFill>
          <a:blip r:embed="rId3" cstate="print"/>
          <a:srcRect t="5085" b="7264"/>
          <a:stretch>
            <a:fillRect/>
          </a:stretch>
        </p:blipFill>
        <p:spPr>
          <a:xfrm>
            <a:off x="1059366" y="988142"/>
            <a:ext cx="7025268" cy="403674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DB37DEF-60F3-9D4E-94D9-1FFDEDF63B8C}"/>
              </a:ext>
            </a:extLst>
          </p:cNvPr>
          <p:cNvSpPr txBox="1"/>
          <p:nvPr/>
        </p:nvSpPr>
        <p:spPr>
          <a:xfrm>
            <a:off x="0" y="4991430"/>
            <a:ext cx="9144000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Employees have jobs, employees can choose benefit plans, and the BENEFIT table records which employee has which plan.</a:t>
            </a:r>
          </a:p>
        </p:txBody>
      </p:sp>
    </p:spTree>
    <p:extLst>
      <p:ext uri="{BB962C8B-B14F-4D97-AF65-F5344CB8AC3E}">
        <p14:creationId xmlns:p14="http://schemas.microsoft.com/office/powerpoint/2010/main" val="317211673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420AC2B9-8D27-9901-8EBF-1F0D406D7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ED2EAD0E-2C19-4AE8-B2C8-A1293D1CD04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0"/>
            <a:ext cx="7849590" cy="988142"/>
          </a:xfrm>
        </p:spPr>
        <p:txBody>
          <a:bodyPr>
            <a:noAutofit/>
          </a:bodyPr>
          <a:lstStyle/>
          <a:p>
            <a:r>
              <a:rPr lang="en-US" sz="3200" dirty="0"/>
              <a:t>Preparation Guidelines – Tutorial Week 2 (Part 1)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Image 5" descr="The tables in the database named C h 0 3 underscore Bene Co. The tables are Employee, Benefit, Job, and Plan. The Employee table has 5 rows and 3 columns. It has the following column headings. E m p underscore Code. E m p underscore L Name. Job underscore Code. The row information in the table are the following. Row 1: E m p underscore Code, 14; E m p underscore L Name, Rudell; Job underscore Code, 2. Row 2: E m p underscore Code, 15; E m p underscore L Name, McDade; Job underscore Code, 1. Row 3: E m p underscore Code, 16; E m p underscore L Name, Ruellardo; Job underscore Code, 1. Row 4: E m p underscore Code, 17; E m p underscore L Name, Smith; Job underscore Code, 3. Row 5: E m p underscore Code, 20; E m p underscore L Name, Smith; Job underscore Code, 2. The Benefit table has 7 rows and 2 columns. It has the following column headings. E m p underscore Code. Plan underscore Code. The row information in the table are the following. Row 1: E m p underscore Code, 15; Plan underscore Code, 2. Row 2: E m p underscore Code, 15; Plan underscore Code, 3. Row 3: E m p underscore Code, 16; Plan underscore Code, 1. Row 4: E m p underscore Code, 17; Plan underscore Code, 1. Row 5: E m p underscore Code, 17; Plan underscore Code, 3. Row 6: E m p underscore Code, 17; Plan underscore Code, 4. Row 7: E m p underscore Code, 20; Plan underscore Code, 3. The Job table has 3 rows and 2 columns. It has the following column headings. Job underscore Code. Job underscore Description. The row information in the table are the following. Row 1: Job underscore Code, 1; Job underscore Description, Clerical. Row 2: Job underscore Code, 2; Job underscore Description, Technical. Row 3: Job underscore Code, 3; Job underscore Description, Managerial. The Plan table has 4 rows and 2 columns. It has the following column headings. Plan underscore Code. Plan underscore Description. The row information in the table are the following. Row 1: Plan underscore Code, 1; Plan underscore Description, Term Life. Row 2: Plan underscore Code, 2; Plan underscore Description, Stock purchase. Row 3: Plan underscore Code, 3; Plan underscore Description, Long-term disability. Row 4: Plan underscore Code, 4; Plan underscore Description, Dental.    ">
            <a:extLst>
              <a:ext uri="{FF2B5EF4-FFF2-40B4-BE49-F238E27FC236}">
                <a16:creationId xmlns:a16="http://schemas.microsoft.com/office/drawing/2014/main" id="{4CD2121F-CD69-C710-EF73-670EFE05190A}"/>
              </a:ext>
            </a:extLst>
          </p:cNvPr>
          <p:cNvPicPr>
            <a:picLocks/>
          </p:cNvPicPr>
          <p:nvPr/>
        </p:nvPicPr>
        <p:blipFill>
          <a:blip r:embed="rId3" cstate="print"/>
          <a:srcRect t="5085" b="7264"/>
          <a:stretch>
            <a:fillRect/>
          </a:stretch>
        </p:blipFill>
        <p:spPr>
          <a:xfrm>
            <a:off x="1059366" y="988142"/>
            <a:ext cx="7025268" cy="403674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C3CE50A-B5E3-C2F3-3F94-465CA4DFA2BC}"/>
              </a:ext>
            </a:extLst>
          </p:cNvPr>
          <p:cNvSpPr txBox="1"/>
          <p:nvPr/>
        </p:nvSpPr>
        <p:spPr>
          <a:xfrm>
            <a:off x="0" y="4991430"/>
            <a:ext cx="9144000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2800" dirty="0">
                <a:latin typeface="Calibir"/>
              </a:rPr>
              <a:t>Q1) For each table in the database, identify the primary key and the foreign key(s). If a table does not have a foreign key, write </a:t>
            </a:r>
            <a:r>
              <a:rPr lang="en-US" sz="2800" i="1" dirty="0">
                <a:latin typeface="Calibir"/>
              </a:rPr>
              <a:t>None</a:t>
            </a:r>
            <a:r>
              <a:rPr lang="en-US" sz="2800" dirty="0">
                <a:latin typeface="Calibir"/>
              </a:rPr>
              <a:t>. (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2-3 minutes</a:t>
            </a:r>
            <a:r>
              <a:rPr lang="en-US" sz="2800" dirty="0">
                <a:latin typeface="Calibir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2935376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7D8C25D1-4782-05D7-A687-E4A4734BD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E797DED-C23C-7BAC-8774-1FFEC22495C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0"/>
            <a:ext cx="7849590" cy="988142"/>
          </a:xfrm>
        </p:spPr>
        <p:txBody>
          <a:bodyPr>
            <a:noAutofit/>
          </a:bodyPr>
          <a:lstStyle/>
          <a:p>
            <a:r>
              <a:rPr lang="en-US" sz="3200" dirty="0"/>
              <a:t>Preparation Guidelines – Tutorial Week 2 (Part 1)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Image 5" descr="The tables in the database named C h 0 3 underscore Bene Co. The tables are Employee, Benefit, Job, and Plan. The Employee table has 5 rows and 3 columns. It has the following column headings. E m p underscore Code. E m p underscore L Name. Job underscore Code. The row information in the table are the following. Row 1: E m p underscore Code, 14; E m p underscore L Name, Rudell; Job underscore Code, 2. Row 2: E m p underscore Code, 15; E m p underscore L Name, McDade; Job underscore Code, 1. Row 3: E m p underscore Code, 16; E m p underscore L Name, Ruellardo; Job underscore Code, 1. Row 4: E m p underscore Code, 17; E m p underscore L Name, Smith; Job underscore Code, 3. Row 5: E m p underscore Code, 20; E m p underscore L Name, Smith; Job underscore Code, 2. The Benefit table has 7 rows and 2 columns. It has the following column headings. E m p underscore Code. Plan underscore Code. The row information in the table are the following. Row 1: E m p underscore Code, 15; Plan underscore Code, 2. Row 2: E m p underscore Code, 15; Plan underscore Code, 3. Row 3: E m p underscore Code, 16; Plan underscore Code, 1. Row 4: E m p underscore Code, 17; Plan underscore Code, 1. Row 5: E m p underscore Code, 17; Plan underscore Code, 3. Row 6: E m p underscore Code, 17; Plan underscore Code, 4. Row 7: E m p underscore Code, 20; Plan underscore Code, 3. The Job table has 3 rows and 2 columns. It has the following column headings. Job underscore Code. Job underscore Description. The row information in the table are the following. Row 1: Job underscore Code, 1; Job underscore Description, Clerical. Row 2: Job underscore Code, 2; Job underscore Description, Technical. Row 3: Job underscore Code, 3; Job underscore Description, Managerial. The Plan table has 4 rows and 2 columns. It has the following column headings. Plan underscore Code. Plan underscore Description. The row information in the table are the following. Row 1: Plan underscore Code, 1; Plan underscore Description, Term Life. Row 2: Plan underscore Code, 2; Plan underscore Description, Stock purchase. Row 3: Plan underscore Code, 3; Plan underscore Description, Long-term disability. Row 4: Plan underscore Code, 4; Plan underscore Description, Dental.    ">
            <a:extLst>
              <a:ext uri="{FF2B5EF4-FFF2-40B4-BE49-F238E27FC236}">
                <a16:creationId xmlns:a16="http://schemas.microsoft.com/office/drawing/2014/main" id="{A815FD8D-6D10-D359-0580-CA2C915D5B67}"/>
              </a:ext>
            </a:extLst>
          </p:cNvPr>
          <p:cNvPicPr>
            <a:picLocks/>
          </p:cNvPicPr>
          <p:nvPr/>
        </p:nvPicPr>
        <p:blipFill>
          <a:blip r:embed="rId3" cstate="print"/>
          <a:srcRect l="4603" t="5085" b="7264"/>
          <a:stretch>
            <a:fillRect/>
          </a:stretch>
        </p:blipFill>
        <p:spPr>
          <a:xfrm>
            <a:off x="4114800" y="954689"/>
            <a:ext cx="5029199" cy="29388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36105FA-2E3B-8269-ECDA-F890FACED421}"/>
              </a:ext>
            </a:extLst>
          </p:cNvPr>
          <p:cNvSpPr txBox="1"/>
          <p:nvPr/>
        </p:nvSpPr>
        <p:spPr>
          <a:xfrm>
            <a:off x="0" y="2973059"/>
            <a:ext cx="9291484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To answer this:</a:t>
            </a:r>
          </a:p>
          <a:p>
            <a:pPr marL="63341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Look for the column that uniquely identifies each row. That is the primary key.</a:t>
            </a:r>
          </a:p>
          <a:p>
            <a:pPr marL="63341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Look for any column that connects to another table. That is a foreign key.</a:t>
            </a:r>
          </a:p>
          <a:p>
            <a:pPr marL="63341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If a table does not connect to another table, write None.</a:t>
            </a:r>
          </a:p>
        </p:txBody>
      </p:sp>
    </p:spTree>
    <p:extLst>
      <p:ext uri="{BB962C8B-B14F-4D97-AF65-F5344CB8AC3E}">
        <p14:creationId xmlns:p14="http://schemas.microsoft.com/office/powerpoint/2010/main" val="306741548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2C99C5F4-60DA-802F-3D77-9878CE039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038F59C-8813-4DDE-E12F-41EDED1111D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0"/>
            <a:ext cx="7849590" cy="988142"/>
          </a:xfrm>
        </p:spPr>
        <p:txBody>
          <a:bodyPr>
            <a:noAutofit/>
          </a:bodyPr>
          <a:lstStyle/>
          <a:p>
            <a:r>
              <a:rPr lang="en-US" sz="3200" dirty="0"/>
              <a:t>Preparation Guidelines – Tutorial Week 2 (Part 1)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Image 5" descr="The tables in the database named C h 0 3 underscore Bene Co. The tables are Employee, Benefit, Job, and Plan. The Employee table has 5 rows and 3 columns. It has the following column headings. E m p underscore Code. E m p underscore L Name. Job underscore Code. The row information in the table are the following. Row 1: E m p underscore Code, 14; E m p underscore L Name, Rudell; Job underscore Code, 2. Row 2: E m p underscore Code, 15; E m p underscore L Name, McDade; Job underscore Code, 1. Row 3: E m p underscore Code, 16; E m p underscore L Name, Ruellardo; Job underscore Code, 1. Row 4: E m p underscore Code, 17; E m p underscore L Name, Smith; Job underscore Code, 3. Row 5: E m p underscore Code, 20; E m p underscore L Name, Smith; Job underscore Code, 2. The Benefit table has 7 rows and 2 columns. It has the following column headings. E m p underscore Code. Plan underscore Code. The row information in the table are the following. Row 1: E m p underscore Code, 15; Plan underscore Code, 2. Row 2: E m p underscore Code, 15; Plan underscore Code, 3. Row 3: E m p underscore Code, 16; Plan underscore Code, 1. Row 4: E m p underscore Code, 17; Plan underscore Code, 1. Row 5: E m p underscore Code, 17; Plan underscore Code, 3. Row 6: E m p underscore Code, 17; Plan underscore Code, 4. Row 7: E m p underscore Code, 20; Plan underscore Code, 3. The Job table has 3 rows and 2 columns. It has the following column headings. Job underscore Code. Job underscore Description. The row information in the table are the following. Row 1: Job underscore Code, 1; Job underscore Description, Clerical. Row 2: Job underscore Code, 2; Job underscore Description, Technical. Row 3: Job underscore Code, 3; Job underscore Description, Managerial. The Plan table has 4 rows and 2 columns. It has the following column headings. Plan underscore Code. Plan underscore Description. The row information in the table are the following. Row 1: Plan underscore Code, 1; Plan underscore Description, Term Life. Row 2: Plan underscore Code, 2; Plan underscore Description, Stock purchase. Row 3: Plan underscore Code, 3; Plan underscore Description, Long-term disability. Row 4: Plan underscore Code, 4; Plan underscore Description, Dental.    ">
            <a:extLst>
              <a:ext uri="{FF2B5EF4-FFF2-40B4-BE49-F238E27FC236}">
                <a16:creationId xmlns:a16="http://schemas.microsoft.com/office/drawing/2014/main" id="{D817555B-4FAF-7886-F08E-4BA6A7C6F5CF}"/>
              </a:ext>
            </a:extLst>
          </p:cNvPr>
          <p:cNvPicPr>
            <a:picLocks/>
          </p:cNvPicPr>
          <p:nvPr/>
        </p:nvPicPr>
        <p:blipFill>
          <a:blip r:embed="rId3" cstate="print"/>
          <a:srcRect l="4603" t="5085" b="7264"/>
          <a:stretch>
            <a:fillRect/>
          </a:stretch>
        </p:blipFill>
        <p:spPr>
          <a:xfrm>
            <a:off x="4114800" y="954689"/>
            <a:ext cx="5029199" cy="29388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00EA33B-4906-4ADD-4917-DF708D571ECD}"/>
              </a:ext>
            </a:extLst>
          </p:cNvPr>
          <p:cNvSpPr txBox="1"/>
          <p:nvPr/>
        </p:nvSpPr>
        <p:spPr>
          <a:xfrm>
            <a:off x="147484" y="2973059"/>
            <a:ext cx="9144000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EMPLOYEE</a:t>
            </a:r>
            <a:endParaRPr lang="en-US" sz="2800" dirty="0">
              <a:latin typeface="Calibir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Primary key: EMP_CODE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Foreign key: JOB_CODE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JOB</a:t>
            </a:r>
            <a:endParaRPr lang="en-US" sz="2800" dirty="0">
              <a:latin typeface="Calibir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Primary key: JOB_CODE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Foreign key: None</a:t>
            </a:r>
          </a:p>
        </p:txBody>
      </p:sp>
    </p:spTree>
    <p:extLst>
      <p:ext uri="{BB962C8B-B14F-4D97-AF65-F5344CB8AC3E}">
        <p14:creationId xmlns:p14="http://schemas.microsoft.com/office/powerpoint/2010/main" val="58280126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33D8D277-ADD6-8559-E0D6-B5110EA39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2562700A-C281-0F66-B5E2-1D0BB1E7EDC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0"/>
            <a:ext cx="7849590" cy="988142"/>
          </a:xfrm>
        </p:spPr>
        <p:txBody>
          <a:bodyPr>
            <a:noAutofit/>
          </a:bodyPr>
          <a:lstStyle/>
          <a:p>
            <a:r>
              <a:rPr lang="en-US" sz="3200" dirty="0"/>
              <a:t>Preparation Guidelines – Tutorial Week 2 (Part 1)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Image 5" descr="The tables in the database named C h 0 3 underscore Bene Co. The tables are Employee, Benefit, Job, and Plan. The Employee table has 5 rows and 3 columns. It has the following column headings. E m p underscore Code. E m p underscore L Name. Job underscore Code. The row information in the table are the following. Row 1: E m p underscore Code, 14; E m p underscore L Name, Rudell; Job underscore Code, 2. Row 2: E m p underscore Code, 15; E m p underscore L Name, McDade; Job underscore Code, 1. Row 3: E m p underscore Code, 16; E m p underscore L Name, Ruellardo; Job underscore Code, 1. Row 4: E m p underscore Code, 17; E m p underscore L Name, Smith; Job underscore Code, 3. Row 5: E m p underscore Code, 20; E m p underscore L Name, Smith; Job underscore Code, 2. The Benefit table has 7 rows and 2 columns. It has the following column headings. E m p underscore Code. Plan underscore Code. The row information in the table are the following. Row 1: E m p underscore Code, 15; Plan underscore Code, 2. Row 2: E m p underscore Code, 15; Plan underscore Code, 3. Row 3: E m p underscore Code, 16; Plan underscore Code, 1. Row 4: E m p underscore Code, 17; Plan underscore Code, 1. Row 5: E m p underscore Code, 17; Plan underscore Code, 3. Row 6: E m p underscore Code, 17; Plan underscore Code, 4. Row 7: E m p underscore Code, 20; Plan underscore Code, 3. The Job table has 3 rows and 2 columns. It has the following column headings. Job underscore Code. Job underscore Description. The row information in the table are the following. Row 1: Job underscore Code, 1; Job underscore Description, Clerical. Row 2: Job underscore Code, 2; Job underscore Description, Technical. Row 3: Job underscore Code, 3; Job underscore Description, Managerial. The Plan table has 4 rows and 2 columns. It has the following column headings. Plan underscore Code. Plan underscore Description. The row information in the table are the following. Row 1: Plan underscore Code, 1; Plan underscore Description, Term Life. Row 2: Plan underscore Code, 2; Plan underscore Description, Stock purchase. Row 3: Plan underscore Code, 3; Plan underscore Description, Long-term disability. Row 4: Plan underscore Code, 4; Plan underscore Description, Dental.    ">
            <a:extLst>
              <a:ext uri="{FF2B5EF4-FFF2-40B4-BE49-F238E27FC236}">
                <a16:creationId xmlns:a16="http://schemas.microsoft.com/office/drawing/2014/main" id="{07F5EB89-C1C0-E28D-E8B7-AF4D0565AB7C}"/>
              </a:ext>
            </a:extLst>
          </p:cNvPr>
          <p:cNvPicPr>
            <a:picLocks/>
          </p:cNvPicPr>
          <p:nvPr/>
        </p:nvPicPr>
        <p:blipFill>
          <a:blip r:embed="rId3" cstate="print"/>
          <a:srcRect l="4603" t="5085" b="7264"/>
          <a:stretch>
            <a:fillRect/>
          </a:stretch>
        </p:blipFill>
        <p:spPr>
          <a:xfrm>
            <a:off x="4114800" y="954689"/>
            <a:ext cx="5029199" cy="29388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948773D-F711-E4CD-2026-D77C23EF9B7E}"/>
              </a:ext>
            </a:extLst>
          </p:cNvPr>
          <p:cNvSpPr txBox="1"/>
          <p:nvPr/>
        </p:nvSpPr>
        <p:spPr>
          <a:xfrm>
            <a:off x="147484" y="2973059"/>
            <a:ext cx="9144000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PLAN</a:t>
            </a:r>
            <a:endParaRPr lang="en-US" sz="2800" dirty="0">
              <a:latin typeface="Calibir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Primary key: PLAN_CODE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Foreign key: None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BENEFIT</a:t>
            </a:r>
            <a:endParaRPr lang="en-US" sz="2800" dirty="0">
              <a:latin typeface="Calibir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Primary key: (EMP_CODE, PLAN_CODE)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Foreign keys: EMP_CODE, PLAN_CODE</a:t>
            </a:r>
          </a:p>
        </p:txBody>
      </p:sp>
    </p:spTree>
    <p:extLst>
      <p:ext uri="{BB962C8B-B14F-4D97-AF65-F5344CB8AC3E}">
        <p14:creationId xmlns:p14="http://schemas.microsoft.com/office/powerpoint/2010/main" val="22034911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A1C7A6AF-96DB-ADA1-97C8-CAC6B4364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B6AA9EE-9B58-D2C1-8CB0-7D6B893F2A4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0"/>
            <a:ext cx="7849590" cy="988142"/>
          </a:xfrm>
        </p:spPr>
        <p:txBody>
          <a:bodyPr>
            <a:noAutofit/>
          </a:bodyPr>
          <a:lstStyle/>
          <a:p>
            <a:r>
              <a:rPr lang="en-US" sz="3200" dirty="0"/>
              <a:t>Preparation Guidelines – Tutorial Week 2 (Part 1)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Image 5" descr="The tables in the database named C h 0 3 underscore Bene Co. The tables are Employee, Benefit, Job, and Plan. The Employee table has 5 rows and 3 columns. It has the following column headings. E m p underscore Code. E m p underscore L Name. Job underscore Code. The row information in the table are the following. Row 1: E m p underscore Code, 14; E m p underscore L Name, Rudell; Job underscore Code, 2. Row 2: E m p underscore Code, 15; E m p underscore L Name, McDade; Job underscore Code, 1. Row 3: E m p underscore Code, 16; E m p underscore L Name, Ruellardo; Job underscore Code, 1. Row 4: E m p underscore Code, 17; E m p underscore L Name, Smith; Job underscore Code, 3. Row 5: E m p underscore Code, 20; E m p underscore L Name, Smith; Job underscore Code, 2. The Benefit table has 7 rows and 2 columns. It has the following column headings. E m p underscore Code. Plan underscore Code. The row information in the table are the following. Row 1: E m p underscore Code, 15; Plan underscore Code, 2. Row 2: E m p underscore Code, 15; Plan underscore Code, 3. Row 3: E m p underscore Code, 16; Plan underscore Code, 1. Row 4: E m p underscore Code, 17; Plan underscore Code, 1. Row 5: E m p underscore Code, 17; Plan underscore Code, 3. Row 6: E m p underscore Code, 17; Plan underscore Code, 4. Row 7: E m p underscore Code, 20; Plan underscore Code, 3. The Job table has 3 rows and 2 columns. It has the following column headings. Job underscore Code. Job underscore Description. The row information in the table are the following. Row 1: Job underscore Code, 1; Job underscore Description, Clerical. Row 2: Job underscore Code, 2; Job underscore Description, Technical. Row 3: Job underscore Code, 3; Job underscore Description, Managerial. The Plan table has 4 rows and 2 columns. It has the following column headings. Plan underscore Code. Plan underscore Description. The row information in the table are the following. Row 1: Plan underscore Code, 1; Plan underscore Description, Term Life. Row 2: Plan underscore Code, 2; Plan underscore Description, Stock purchase. Row 3: Plan underscore Code, 3; Plan underscore Description, Long-term disability. Row 4: Plan underscore Code, 4; Plan underscore Description, Dental.    ">
            <a:extLst>
              <a:ext uri="{FF2B5EF4-FFF2-40B4-BE49-F238E27FC236}">
                <a16:creationId xmlns:a16="http://schemas.microsoft.com/office/drawing/2014/main" id="{605585FB-93F6-EA21-7BDC-19951645D41D}"/>
              </a:ext>
            </a:extLst>
          </p:cNvPr>
          <p:cNvPicPr>
            <a:picLocks/>
          </p:cNvPicPr>
          <p:nvPr/>
        </p:nvPicPr>
        <p:blipFill>
          <a:blip r:embed="rId3" cstate="print"/>
          <a:srcRect l="4603" t="5085" b="7264"/>
          <a:stretch>
            <a:fillRect/>
          </a:stretch>
        </p:blipFill>
        <p:spPr>
          <a:xfrm>
            <a:off x="4114800" y="954689"/>
            <a:ext cx="5029199" cy="29388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093051E-DF17-012E-171F-7878A5301370}"/>
              </a:ext>
            </a:extLst>
          </p:cNvPr>
          <p:cNvSpPr txBox="1"/>
          <p:nvPr/>
        </p:nvSpPr>
        <p:spPr>
          <a:xfrm>
            <a:off x="0" y="954689"/>
            <a:ext cx="4114800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2800" dirty="0">
                <a:latin typeface="Calibir"/>
              </a:rPr>
              <a:t>Q2) Create the ERD to show the relationship between EMPLOYEE and JOB. (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2-3 minutes</a:t>
            </a:r>
            <a:r>
              <a:rPr lang="en-US" sz="2800" dirty="0">
                <a:latin typeface="Calibir"/>
              </a:rPr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3F93E2-AC46-00DF-BBD3-68CDD0098C23}"/>
              </a:ext>
            </a:extLst>
          </p:cNvPr>
          <p:cNvSpPr txBox="1"/>
          <p:nvPr/>
        </p:nvSpPr>
        <p:spPr>
          <a:xfrm>
            <a:off x="81115" y="3600826"/>
            <a:ext cx="9062883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To answer this:</a:t>
            </a:r>
          </a:p>
          <a:p>
            <a:pPr marL="530225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Check which table has the foreign key.</a:t>
            </a:r>
          </a:p>
          <a:p>
            <a:pPr marL="530225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EMPLOYEE has JOB_CODE, so EMPLOYEE depends on JOB.</a:t>
            </a:r>
          </a:p>
          <a:p>
            <a:pPr marL="530225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This means one JOB can belong to many EMPLOYEEs.</a:t>
            </a:r>
          </a:p>
        </p:txBody>
      </p:sp>
    </p:spTree>
    <p:extLst>
      <p:ext uri="{BB962C8B-B14F-4D97-AF65-F5344CB8AC3E}">
        <p14:creationId xmlns:p14="http://schemas.microsoft.com/office/powerpoint/2010/main" val="211097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9EFCFA28-EB16-AB9B-5FAF-BB59A0853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CAB0E6B-BCCE-FC16-14F0-594B95E5E25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0"/>
            <a:ext cx="7849590" cy="988142"/>
          </a:xfrm>
        </p:spPr>
        <p:txBody>
          <a:bodyPr>
            <a:noAutofit/>
          </a:bodyPr>
          <a:lstStyle/>
          <a:p>
            <a:r>
              <a:rPr lang="en-US" sz="3200" dirty="0"/>
              <a:t>Preparation Guidelines – Tutorial Week 2 (Part 1)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Image 5" descr="The tables in the database named C h 0 3 underscore Bene Co. The tables are Employee, Benefit, Job, and Plan. The Employee table has 5 rows and 3 columns. It has the following column headings. E m p underscore Code. E m p underscore L Name. Job underscore Code. The row information in the table are the following. Row 1: E m p underscore Code, 14; E m p underscore L Name, Rudell; Job underscore Code, 2. Row 2: E m p underscore Code, 15; E m p underscore L Name, McDade; Job underscore Code, 1. Row 3: E m p underscore Code, 16; E m p underscore L Name, Ruellardo; Job underscore Code, 1. Row 4: E m p underscore Code, 17; E m p underscore L Name, Smith; Job underscore Code, 3. Row 5: E m p underscore Code, 20; E m p underscore L Name, Smith; Job underscore Code, 2. The Benefit table has 7 rows and 2 columns. It has the following column headings. E m p underscore Code. Plan underscore Code. The row information in the table are the following. Row 1: E m p underscore Code, 15; Plan underscore Code, 2. Row 2: E m p underscore Code, 15; Plan underscore Code, 3. Row 3: E m p underscore Code, 16; Plan underscore Code, 1. Row 4: E m p underscore Code, 17; Plan underscore Code, 1. Row 5: E m p underscore Code, 17; Plan underscore Code, 3. Row 6: E m p underscore Code, 17; Plan underscore Code, 4. Row 7: E m p underscore Code, 20; Plan underscore Code, 3. The Job table has 3 rows and 2 columns. It has the following column headings. Job underscore Code. Job underscore Description. The row information in the table are the following. Row 1: Job underscore Code, 1; Job underscore Description, Clerical. Row 2: Job underscore Code, 2; Job underscore Description, Technical. Row 3: Job underscore Code, 3; Job underscore Description, Managerial. The Plan table has 4 rows and 2 columns. It has the following column headings. Plan underscore Code. Plan underscore Description. The row information in the table are the following. Row 1: Plan underscore Code, 1; Plan underscore Description, Term Life. Row 2: Plan underscore Code, 2; Plan underscore Description, Stock purchase. Row 3: Plan underscore Code, 3; Plan underscore Description, Long-term disability. Row 4: Plan underscore Code, 4; Plan underscore Description, Dental.    ">
            <a:extLst>
              <a:ext uri="{FF2B5EF4-FFF2-40B4-BE49-F238E27FC236}">
                <a16:creationId xmlns:a16="http://schemas.microsoft.com/office/drawing/2014/main" id="{C770AEC3-6D50-3180-6225-A25739197FE4}"/>
              </a:ext>
            </a:extLst>
          </p:cNvPr>
          <p:cNvPicPr>
            <a:picLocks/>
          </p:cNvPicPr>
          <p:nvPr/>
        </p:nvPicPr>
        <p:blipFill>
          <a:blip r:embed="rId3" cstate="print"/>
          <a:srcRect l="4603" t="5085" b="7264"/>
          <a:stretch>
            <a:fillRect/>
          </a:stretch>
        </p:blipFill>
        <p:spPr>
          <a:xfrm>
            <a:off x="4114800" y="954689"/>
            <a:ext cx="5029199" cy="29388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FD9506A-1744-F247-74B7-7A92E3D79929}"/>
              </a:ext>
            </a:extLst>
          </p:cNvPr>
          <p:cNvSpPr txBox="1"/>
          <p:nvPr/>
        </p:nvSpPr>
        <p:spPr>
          <a:xfrm>
            <a:off x="-13024" y="3861130"/>
            <a:ext cx="9062883" cy="1318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One job type can be given to many employees.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Each employee has one job code.</a:t>
            </a:r>
          </a:p>
        </p:txBody>
      </p:sp>
    </p:spTree>
    <p:extLst>
      <p:ext uri="{BB962C8B-B14F-4D97-AF65-F5344CB8AC3E}">
        <p14:creationId xmlns:p14="http://schemas.microsoft.com/office/powerpoint/2010/main" val="112704744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4AE99162-01B6-9A64-F779-0CFC2478B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EDC4F064-B76B-16BF-0461-B3E715561D8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0"/>
            <a:ext cx="7849590" cy="988142"/>
          </a:xfrm>
        </p:spPr>
        <p:txBody>
          <a:bodyPr>
            <a:noAutofit/>
          </a:bodyPr>
          <a:lstStyle/>
          <a:p>
            <a:r>
              <a:rPr lang="en-US" sz="3200" dirty="0"/>
              <a:t>Preparation Guidelines – Tutorial Week 2 (Part 1)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Image 5" descr="The tables in the database named C h 0 3 underscore Bene Co. The tables are Employee, Benefit, Job, and Plan. The Employee table has 5 rows and 3 columns. It has the following column headings. E m p underscore Code. E m p underscore L Name. Job underscore Code. The row information in the table are the following. Row 1: E m p underscore Code, 14; E m p underscore L Name, Rudell; Job underscore Code, 2. Row 2: E m p underscore Code, 15; E m p underscore L Name, McDade; Job underscore Code, 1. Row 3: E m p underscore Code, 16; E m p underscore L Name, Ruellardo; Job underscore Code, 1. Row 4: E m p underscore Code, 17; E m p underscore L Name, Smith; Job underscore Code, 3. Row 5: E m p underscore Code, 20; E m p underscore L Name, Smith; Job underscore Code, 2. The Benefit table has 7 rows and 2 columns. It has the following column headings. E m p underscore Code. Plan underscore Code. The row information in the table are the following. Row 1: E m p underscore Code, 15; Plan underscore Code, 2. Row 2: E m p underscore Code, 15; Plan underscore Code, 3. Row 3: E m p underscore Code, 16; Plan underscore Code, 1. Row 4: E m p underscore Code, 17; Plan underscore Code, 1. Row 5: E m p underscore Code, 17; Plan underscore Code, 3. Row 6: E m p underscore Code, 17; Plan underscore Code, 4. Row 7: E m p underscore Code, 20; Plan underscore Code, 3. The Job table has 3 rows and 2 columns. It has the following column headings. Job underscore Code. Job underscore Description. The row information in the table are the following. Row 1: Job underscore Code, 1; Job underscore Description, Clerical. Row 2: Job underscore Code, 2; Job underscore Description, Technical. Row 3: Job underscore Code, 3; Job underscore Description, Managerial. The Plan table has 4 rows and 2 columns. It has the following column headings. Plan underscore Code. Plan underscore Description. The row information in the table are the following. Row 1: Plan underscore Code, 1; Plan underscore Description, Term Life. Row 2: Plan underscore Code, 2; Plan underscore Description, Stock purchase. Row 3: Plan underscore Code, 3; Plan underscore Description, Long-term disability. Row 4: Plan underscore Code, 4; Plan underscore Description, Dental.    ">
            <a:extLst>
              <a:ext uri="{FF2B5EF4-FFF2-40B4-BE49-F238E27FC236}">
                <a16:creationId xmlns:a16="http://schemas.microsoft.com/office/drawing/2014/main" id="{C79F242E-EBE6-DE86-E4A2-2A376605BBCA}"/>
              </a:ext>
            </a:extLst>
          </p:cNvPr>
          <p:cNvPicPr>
            <a:picLocks/>
          </p:cNvPicPr>
          <p:nvPr/>
        </p:nvPicPr>
        <p:blipFill>
          <a:blip r:embed="rId3" cstate="print"/>
          <a:srcRect l="4603" t="5085" b="7264"/>
          <a:stretch>
            <a:fillRect/>
          </a:stretch>
        </p:blipFill>
        <p:spPr>
          <a:xfrm>
            <a:off x="4114800" y="954689"/>
            <a:ext cx="5029199" cy="29388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6060E60-5368-839B-66BA-451F409AFCD2}"/>
              </a:ext>
            </a:extLst>
          </p:cNvPr>
          <p:cNvSpPr txBox="1"/>
          <p:nvPr/>
        </p:nvSpPr>
        <p:spPr>
          <a:xfrm>
            <a:off x="0" y="954689"/>
            <a:ext cx="4114800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2800" dirty="0">
                <a:latin typeface="Calibir"/>
              </a:rPr>
              <a:t>Q3) Do the tables exhibit entity integrity? (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2-3 minutes</a:t>
            </a:r>
            <a:r>
              <a:rPr lang="en-US" sz="2800" dirty="0">
                <a:latin typeface="Calibir"/>
              </a:rPr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F5386C-12AC-B03B-78DD-99D2A9F7F547}"/>
              </a:ext>
            </a:extLst>
          </p:cNvPr>
          <p:cNvSpPr txBox="1"/>
          <p:nvPr/>
        </p:nvSpPr>
        <p:spPr>
          <a:xfrm>
            <a:off x="0" y="3713647"/>
            <a:ext cx="9062883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To answer this:</a:t>
            </a:r>
          </a:p>
          <a:p>
            <a:pPr marL="62865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Entity integrity means every table must have a primary key.</a:t>
            </a:r>
          </a:p>
          <a:p>
            <a:pPr marL="62865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The primary key cannot be empty and should uniquely identify each row.</a:t>
            </a:r>
          </a:p>
        </p:txBody>
      </p:sp>
    </p:spTree>
    <p:extLst>
      <p:ext uri="{BB962C8B-B14F-4D97-AF65-F5344CB8AC3E}">
        <p14:creationId xmlns:p14="http://schemas.microsoft.com/office/powerpoint/2010/main" val="2949726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AD166EDF-07EE-6111-22CD-FBF303D7B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652A9121-A10E-3B07-D2F0-E2C75AEF3F5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0"/>
            <a:ext cx="7849590" cy="988142"/>
          </a:xfrm>
        </p:spPr>
        <p:txBody>
          <a:bodyPr>
            <a:noAutofit/>
          </a:bodyPr>
          <a:lstStyle/>
          <a:p>
            <a:r>
              <a:rPr lang="en-US" sz="3200" dirty="0"/>
              <a:t>Preparation Guidelines – Tutorial Week 2 (Part 1)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Image 5" descr="The tables in the database named C h 0 3 underscore Bene Co. The tables are Employee, Benefit, Job, and Plan. The Employee table has 5 rows and 3 columns. It has the following column headings. E m p underscore Code. E m p underscore L Name. Job underscore Code. The row information in the table are the following. Row 1: E m p underscore Code, 14; E m p underscore L Name, Rudell; Job underscore Code, 2. Row 2: E m p underscore Code, 15; E m p underscore L Name, McDade; Job underscore Code, 1. Row 3: E m p underscore Code, 16; E m p underscore L Name, Ruellardo; Job underscore Code, 1. Row 4: E m p underscore Code, 17; E m p underscore L Name, Smith; Job underscore Code, 3. Row 5: E m p underscore Code, 20; E m p underscore L Name, Smith; Job underscore Code, 2. The Benefit table has 7 rows and 2 columns. It has the following column headings. E m p underscore Code. Plan underscore Code. The row information in the table are the following. Row 1: E m p underscore Code, 15; Plan underscore Code, 2. Row 2: E m p underscore Code, 15; Plan underscore Code, 3. Row 3: E m p underscore Code, 16; Plan underscore Code, 1. Row 4: E m p underscore Code, 17; Plan underscore Code, 1. Row 5: E m p underscore Code, 17; Plan underscore Code, 3. Row 6: E m p underscore Code, 17; Plan underscore Code, 4. Row 7: E m p underscore Code, 20; Plan underscore Code, 3. The Job table has 3 rows and 2 columns. It has the following column headings. Job underscore Code. Job underscore Description. The row information in the table are the following. Row 1: Job underscore Code, 1; Job underscore Description, Clerical. Row 2: Job underscore Code, 2; Job underscore Description, Technical. Row 3: Job underscore Code, 3; Job underscore Description, Managerial. The Plan table has 4 rows and 2 columns. It has the following column headings. Plan underscore Code. Plan underscore Description. The row information in the table are the following. Row 1: Plan underscore Code, 1; Plan underscore Description, Term Life. Row 2: Plan underscore Code, 2; Plan underscore Description, Stock purchase. Row 3: Plan underscore Code, 3; Plan underscore Description, Long-term disability. Row 4: Plan underscore Code, 4; Plan underscore Description, Dental.    ">
            <a:extLst>
              <a:ext uri="{FF2B5EF4-FFF2-40B4-BE49-F238E27FC236}">
                <a16:creationId xmlns:a16="http://schemas.microsoft.com/office/drawing/2014/main" id="{0EB0460D-509B-58D0-D7BC-D20F1B3B279C}"/>
              </a:ext>
            </a:extLst>
          </p:cNvPr>
          <p:cNvPicPr>
            <a:picLocks/>
          </p:cNvPicPr>
          <p:nvPr/>
        </p:nvPicPr>
        <p:blipFill>
          <a:blip r:embed="rId3" cstate="print"/>
          <a:srcRect l="4603" t="5085" b="7264"/>
          <a:stretch>
            <a:fillRect/>
          </a:stretch>
        </p:blipFill>
        <p:spPr>
          <a:xfrm>
            <a:off x="4114800" y="954689"/>
            <a:ext cx="5029199" cy="29388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69B0946-CC1F-FD9B-6247-697A4948C696}"/>
              </a:ext>
            </a:extLst>
          </p:cNvPr>
          <p:cNvSpPr txBox="1"/>
          <p:nvPr/>
        </p:nvSpPr>
        <p:spPr>
          <a:xfrm>
            <a:off x="0" y="1096571"/>
            <a:ext cx="4114799" cy="38717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All tables have a primary key: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Calibir"/>
              </a:rPr>
              <a:t>EMPLOYEE → EMP_CODE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Calibir"/>
              </a:rPr>
              <a:t>JOB → JOB_CODE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Calibir"/>
              </a:rPr>
              <a:t>PLAN → PLAN_CODE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Calibir"/>
              </a:rPr>
              <a:t>BENEFIT → (EMP_CODE, PLAN_CODE)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F24FC5-ED29-8832-45B4-6B9010596449}"/>
              </a:ext>
            </a:extLst>
          </p:cNvPr>
          <p:cNvSpPr txBox="1"/>
          <p:nvPr/>
        </p:nvSpPr>
        <p:spPr>
          <a:xfrm>
            <a:off x="0" y="4884540"/>
            <a:ext cx="9144000" cy="1318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So each row can be identified properly. That means the tables show entity integrity.</a:t>
            </a:r>
          </a:p>
        </p:txBody>
      </p:sp>
    </p:spTree>
    <p:extLst>
      <p:ext uri="{BB962C8B-B14F-4D97-AF65-F5344CB8AC3E}">
        <p14:creationId xmlns:p14="http://schemas.microsoft.com/office/powerpoint/2010/main" val="1769740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1388FD64-35AD-5D7A-EC3A-C662E7F75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47E61CD-4A5A-E87C-1E25-4E1EFFD72CA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0"/>
            <a:ext cx="7849590" cy="988142"/>
          </a:xfrm>
        </p:spPr>
        <p:txBody>
          <a:bodyPr>
            <a:noAutofit/>
          </a:bodyPr>
          <a:lstStyle/>
          <a:p>
            <a:r>
              <a:rPr lang="en-US" sz="3200" dirty="0"/>
              <a:t>Preparation Guidelines – Tutorial Week 2 (Part 1)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Image 5" descr="The tables in the database named C h 0 3 underscore Bene Co. The tables are Employee, Benefit, Job, and Plan. The Employee table has 5 rows and 3 columns. It has the following column headings. E m p underscore Code. E m p underscore L Name. Job underscore Code. The row information in the table are the following. Row 1: E m p underscore Code, 14; E m p underscore L Name, Rudell; Job underscore Code, 2. Row 2: E m p underscore Code, 15; E m p underscore L Name, McDade; Job underscore Code, 1. Row 3: E m p underscore Code, 16; E m p underscore L Name, Ruellardo; Job underscore Code, 1. Row 4: E m p underscore Code, 17; E m p underscore L Name, Smith; Job underscore Code, 3. Row 5: E m p underscore Code, 20; E m p underscore L Name, Smith; Job underscore Code, 2. The Benefit table has 7 rows and 2 columns. It has the following column headings. E m p underscore Code. Plan underscore Code. The row information in the table are the following. Row 1: E m p underscore Code, 15; Plan underscore Code, 2. Row 2: E m p underscore Code, 15; Plan underscore Code, 3. Row 3: E m p underscore Code, 16; Plan underscore Code, 1. Row 4: E m p underscore Code, 17; Plan underscore Code, 1. Row 5: E m p underscore Code, 17; Plan underscore Code, 3. Row 6: E m p underscore Code, 17; Plan underscore Code, 4. Row 7: E m p underscore Code, 20; Plan underscore Code, 3. The Job table has 3 rows and 2 columns. It has the following column headings. Job underscore Code. Job underscore Description. The row information in the table are the following. Row 1: Job underscore Code, 1; Job underscore Description, Clerical. Row 2: Job underscore Code, 2; Job underscore Description, Technical. Row 3: Job underscore Code, 3; Job underscore Description, Managerial. The Plan table has 4 rows and 2 columns. It has the following column headings. Plan underscore Code. Plan underscore Description. The row information in the table are the following. Row 1: Plan underscore Code, 1; Plan underscore Description, Term Life. Row 2: Plan underscore Code, 2; Plan underscore Description, Stock purchase. Row 3: Plan underscore Code, 3; Plan underscore Description, Long-term disability. Row 4: Plan underscore Code, 4; Plan underscore Description, Dental.    ">
            <a:extLst>
              <a:ext uri="{FF2B5EF4-FFF2-40B4-BE49-F238E27FC236}">
                <a16:creationId xmlns:a16="http://schemas.microsoft.com/office/drawing/2014/main" id="{20BEAA40-F20D-C312-7754-6534B3E9DBC4}"/>
              </a:ext>
            </a:extLst>
          </p:cNvPr>
          <p:cNvPicPr>
            <a:picLocks/>
          </p:cNvPicPr>
          <p:nvPr/>
        </p:nvPicPr>
        <p:blipFill>
          <a:blip r:embed="rId3" cstate="print"/>
          <a:srcRect l="4603" t="5085" b="7264"/>
          <a:stretch>
            <a:fillRect/>
          </a:stretch>
        </p:blipFill>
        <p:spPr>
          <a:xfrm>
            <a:off x="4114800" y="954689"/>
            <a:ext cx="5029199" cy="29388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3DF16A3-AF14-4700-F8FE-949AA8CA5309}"/>
              </a:ext>
            </a:extLst>
          </p:cNvPr>
          <p:cNvSpPr txBox="1"/>
          <p:nvPr/>
        </p:nvSpPr>
        <p:spPr>
          <a:xfrm>
            <a:off x="0" y="954689"/>
            <a:ext cx="4114800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2800" dirty="0">
                <a:latin typeface="Calibir"/>
              </a:rPr>
              <a:t>Q4) Do the tables exhibit referential integrity? (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2-3 minutes</a:t>
            </a:r>
            <a:r>
              <a:rPr lang="en-US" sz="2800" dirty="0">
                <a:latin typeface="Calibir"/>
              </a:rPr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ADC111-8AC9-C443-6AD2-FAFE001DEEFE}"/>
              </a:ext>
            </a:extLst>
          </p:cNvPr>
          <p:cNvSpPr txBox="1"/>
          <p:nvPr/>
        </p:nvSpPr>
        <p:spPr>
          <a:xfrm>
            <a:off x="0" y="3429000"/>
            <a:ext cx="9062883" cy="3631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Calibir"/>
              </a:rPr>
              <a:t>To answer this:</a:t>
            </a:r>
          </a:p>
          <a:p>
            <a:pPr marL="623888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Calibir"/>
              </a:rPr>
              <a:t>Referential integrity means every foreign key value must match an existing value in the parent table.</a:t>
            </a:r>
          </a:p>
          <a:p>
            <a:pPr marL="623888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Calibir"/>
              </a:rPr>
              <a:t>Check whether each foreign key points to a real row in another table.</a:t>
            </a:r>
          </a:p>
          <a:p>
            <a:pPr marL="623888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Calibir"/>
              </a:rPr>
              <a:t>If a table has no foreign key, write NA.</a:t>
            </a:r>
          </a:p>
        </p:txBody>
      </p:sp>
    </p:spTree>
    <p:extLst>
      <p:ext uri="{BB962C8B-B14F-4D97-AF65-F5344CB8AC3E}">
        <p14:creationId xmlns:p14="http://schemas.microsoft.com/office/powerpoint/2010/main" val="3811096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DD6572C3-7809-0C11-31F3-EF9B32AED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A684FE88-7CCA-87B8-7A1C-992C817CEFE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0"/>
            <a:ext cx="7849590" cy="988142"/>
          </a:xfrm>
        </p:spPr>
        <p:txBody>
          <a:bodyPr>
            <a:noAutofit/>
          </a:bodyPr>
          <a:lstStyle/>
          <a:p>
            <a:r>
              <a:rPr lang="en-US" sz="3200" dirty="0"/>
              <a:t>Preparation Guidelines – Tutorial Week 2 (Part 1)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Image 5" descr="The tables in the database named C h 0 3 underscore Bene Co. The tables are Employee, Benefit, Job, and Plan. The Employee table has 5 rows and 3 columns. It has the following column headings. E m p underscore Code. E m p underscore L Name. Job underscore Code. The row information in the table are the following. Row 1: E m p underscore Code, 14; E m p underscore L Name, Rudell; Job underscore Code, 2. Row 2: E m p underscore Code, 15; E m p underscore L Name, McDade; Job underscore Code, 1. Row 3: E m p underscore Code, 16; E m p underscore L Name, Ruellardo; Job underscore Code, 1. Row 4: E m p underscore Code, 17; E m p underscore L Name, Smith; Job underscore Code, 3. Row 5: E m p underscore Code, 20; E m p underscore L Name, Smith; Job underscore Code, 2. The Benefit table has 7 rows and 2 columns. It has the following column headings. E m p underscore Code. Plan underscore Code. The row information in the table are the following. Row 1: E m p underscore Code, 15; Plan underscore Code, 2. Row 2: E m p underscore Code, 15; Plan underscore Code, 3. Row 3: E m p underscore Code, 16; Plan underscore Code, 1. Row 4: E m p underscore Code, 17; Plan underscore Code, 1. Row 5: E m p underscore Code, 17; Plan underscore Code, 3. Row 6: E m p underscore Code, 17; Plan underscore Code, 4. Row 7: E m p underscore Code, 20; Plan underscore Code, 3. The Job table has 3 rows and 2 columns. It has the following column headings. Job underscore Code. Job underscore Description. The row information in the table are the following. Row 1: Job underscore Code, 1; Job underscore Description, Clerical. Row 2: Job underscore Code, 2; Job underscore Description, Technical. Row 3: Job underscore Code, 3; Job underscore Description, Managerial. The Plan table has 4 rows and 2 columns. It has the following column headings. Plan underscore Code. Plan underscore Description. The row information in the table are the following. Row 1: Plan underscore Code, 1; Plan underscore Description, Term Life. Row 2: Plan underscore Code, 2; Plan underscore Description, Stock purchase. Row 3: Plan underscore Code, 3; Plan underscore Description, Long-term disability. Row 4: Plan underscore Code, 4; Plan underscore Description, Dental.    ">
            <a:extLst>
              <a:ext uri="{FF2B5EF4-FFF2-40B4-BE49-F238E27FC236}">
                <a16:creationId xmlns:a16="http://schemas.microsoft.com/office/drawing/2014/main" id="{C7A0D3CE-B47B-B009-24CB-9802AAF8F10E}"/>
              </a:ext>
            </a:extLst>
          </p:cNvPr>
          <p:cNvPicPr>
            <a:picLocks/>
          </p:cNvPicPr>
          <p:nvPr/>
        </p:nvPicPr>
        <p:blipFill>
          <a:blip r:embed="rId3" cstate="print"/>
          <a:srcRect l="4603" t="5085" b="7264"/>
          <a:stretch>
            <a:fillRect/>
          </a:stretch>
        </p:blipFill>
        <p:spPr>
          <a:xfrm>
            <a:off x="4114800" y="954689"/>
            <a:ext cx="5029199" cy="29388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AE1FC0C-96FB-2E55-0404-9EC0A2D9E8F6}"/>
              </a:ext>
            </a:extLst>
          </p:cNvPr>
          <p:cNvSpPr txBox="1"/>
          <p:nvPr/>
        </p:nvSpPr>
        <p:spPr>
          <a:xfrm>
            <a:off x="0" y="954689"/>
            <a:ext cx="4114800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EMPLOYEE</a:t>
            </a:r>
          </a:p>
          <a:p>
            <a:pPr marL="623888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Answer: Yes</a:t>
            </a:r>
          </a:p>
          <a:p>
            <a:pPr marL="623888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JOB_CODE values in EMPLOYEE are 1, 2, and 3. These all exist in the JOB table.</a:t>
            </a:r>
          </a:p>
        </p:txBody>
      </p:sp>
    </p:spTree>
    <p:extLst>
      <p:ext uri="{BB962C8B-B14F-4D97-AF65-F5344CB8AC3E}">
        <p14:creationId xmlns:p14="http://schemas.microsoft.com/office/powerpoint/2010/main" val="360155890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ABD2EC79-EFDB-62FE-139C-9DE196873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14A2804F-A5B3-3487-4D55-4C8053D16A4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0"/>
            <a:ext cx="7849590" cy="988142"/>
          </a:xfrm>
        </p:spPr>
        <p:txBody>
          <a:bodyPr>
            <a:noAutofit/>
          </a:bodyPr>
          <a:lstStyle/>
          <a:p>
            <a:r>
              <a:rPr lang="en-US" sz="3200" dirty="0"/>
              <a:t>Preparation Guidelines – Tutorial Week 2 (Part 1)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Image 5" descr="The tables in the database named C h 0 3 underscore Bene Co. The tables are Employee, Benefit, Job, and Plan. The Employee table has 5 rows and 3 columns. It has the following column headings. E m p underscore Code. E m p underscore L Name. Job underscore Code. The row information in the table are the following. Row 1: E m p underscore Code, 14; E m p underscore L Name, Rudell; Job underscore Code, 2. Row 2: E m p underscore Code, 15; E m p underscore L Name, McDade; Job underscore Code, 1. Row 3: E m p underscore Code, 16; E m p underscore L Name, Ruellardo; Job underscore Code, 1. Row 4: E m p underscore Code, 17; E m p underscore L Name, Smith; Job underscore Code, 3. Row 5: E m p underscore Code, 20; E m p underscore L Name, Smith; Job underscore Code, 2. The Benefit table has 7 rows and 2 columns. It has the following column headings. E m p underscore Code. Plan underscore Code. The row information in the table are the following. Row 1: E m p underscore Code, 15; Plan underscore Code, 2. Row 2: E m p underscore Code, 15; Plan underscore Code, 3. Row 3: E m p underscore Code, 16; Plan underscore Code, 1. Row 4: E m p underscore Code, 17; Plan underscore Code, 1. Row 5: E m p underscore Code, 17; Plan underscore Code, 3. Row 6: E m p underscore Code, 17; Plan underscore Code, 4. Row 7: E m p underscore Code, 20; Plan underscore Code, 3. The Job table has 3 rows and 2 columns. It has the following column headings. Job underscore Code. Job underscore Description. The row information in the table are the following. Row 1: Job underscore Code, 1; Job underscore Description, Clerical. Row 2: Job underscore Code, 2; Job underscore Description, Technical. Row 3: Job underscore Code, 3; Job underscore Description, Managerial. The Plan table has 4 rows and 2 columns. It has the following column headings. Plan underscore Code. Plan underscore Description. The row information in the table are the following. Row 1: Plan underscore Code, 1; Plan underscore Description, Term Life. Row 2: Plan underscore Code, 2; Plan underscore Description, Stock purchase. Row 3: Plan underscore Code, 3; Plan underscore Description, Long-term disability. Row 4: Plan underscore Code, 4; Plan underscore Description, Dental.    ">
            <a:extLst>
              <a:ext uri="{FF2B5EF4-FFF2-40B4-BE49-F238E27FC236}">
                <a16:creationId xmlns:a16="http://schemas.microsoft.com/office/drawing/2014/main" id="{BC88586B-F456-212C-06DD-8AFBB0060CD4}"/>
              </a:ext>
            </a:extLst>
          </p:cNvPr>
          <p:cNvPicPr>
            <a:picLocks/>
          </p:cNvPicPr>
          <p:nvPr/>
        </p:nvPicPr>
        <p:blipFill>
          <a:blip r:embed="rId3" cstate="print"/>
          <a:srcRect l="4603" t="5085" b="7264"/>
          <a:stretch>
            <a:fillRect/>
          </a:stretch>
        </p:blipFill>
        <p:spPr>
          <a:xfrm>
            <a:off x="4114800" y="954689"/>
            <a:ext cx="5029199" cy="29388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5C5D043-2A16-D81E-73B2-7017F40184EB}"/>
              </a:ext>
            </a:extLst>
          </p:cNvPr>
          <p:cNvSpPr txBox="1"/>
          <p:nvPr/>
        </p:nvSpPr>
        <p:spPr>
          <a:xfrm>
            <a:off x="0" y="954689"/>
            <a:ext cx="4114800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JOB</a:t>
            </a:r>
            <a:endParaRPr lang="en-US" sz="2800" dirty="0">
              <a:latin typeface="Calibir"/>
            </a:endParaRPr>
          </a:p>
          <a:p>
            <a:pPr marL="623888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Answer: NA</a:t>
            </a:r>
          </a:p>
          <a:p>
            <a:pPr marL="623888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JOB has no foreign key.</a:t>
            </a:r>
          </a:p>
        </p:txBody>
      </p:sp>
    </p:spTree>
    <p:extLst>
      <p:ext uri="{BB962C8B-B14F-4D97-AF65-F5344CB8AC3E}">
        <p14:creationId xmlns:p14="http://schemas.microsoft.com/office/powerpoint/2010/main" val="112184224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001546C1-FBF9-A9FC-63CE-80549E813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BE53206-45F4-43F2-51D0-87A6F402E3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0"/>
            <a:ext cx="7849590" cy="988142"/>
          </a:xfrm>
        </p:spPr>
        <p:txBody>
          <a:bodyPr>
            <a:noAutofit/>
          </a:bodyPr>
          <a:lstStyle/>
          <a:p>
            <a:r>
              <a:rPr lang="en-US" sz="3200" dirty="0"/>
              <a:t>Preparation Guidelines – Tutorial Week 2 (Part 1)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Image 5" descr="The tables in the database named C h 0 3 underscore Bene Co. The tables are Employee, Benefit, Job, and Plan. The Employee table has 5 rows and 3 columns. It has the following column headings. E m p underscore Code. E m p underscore L Name. Job underscore Code. The row information in the table are the following. Row 1: E m p underscore Code, 14; E m p underscore L Name, Rudell; Job underscore Code, 2. Row 2: E m p underscore Code, 15; E m p underscore L Name, McDade; Job underscore Code, 1. Row 3: E m p underscore Code, 16; E m p underscore L Name, Ruellardo; Job underscore Code, 1. Row 4: E m p underscore Code, 17; E m p underscore L Name, Smith; Job underscore Code, 3. Row 5: E m p underscore Code, 20; E m p underscore L Name, Smith; Job underscore Code, 2. The Benefit table has 7 rows and 2 columns. It has the following column headings. E m p underscore Code. Plan underscore Code. The row information in the table are the following. Row 1: E m p underscore Code, 15; Plan underscore Code, 2. Row 2: E m p underscore Code, 15; Plan underscore Code, 3. Row 3: E m p underscore Code, 16; Plan underscore Code, 1. Row 4: E m p underscore Code, 17; Plan underscore Code, 1. Row 5: E m p underscore Code, 17; Plan underscore Code, 3. Row 6: E m p underscore Code, 17; Plan underscore Code, 4. Row 7: E m p underscore Code, 20; Plan underscore Code, 3. The Job table has 3 rows and 2 columns. It has the following column headings. Job underscore Code. Job underscore Description. The row information in the table are the following. Row 1: Job underscore Code, 1; Job underscore Description, Clerical. Row 2: Job underscore Code, 2; Job underscore Description, Technical. Row 3: Job underscore Code, 3; Job underscore Description, Managerial. The Plan table has 4 rows and 2 columns. It has the following column headings. Plan underscore Code. Plan underscore Description. The row information in the table are the following. Row 1: Plan underscore Code, 1; Plan underscore Description, Term Life. Row 2: Plan underscore Code, 2; Plan underscore Description, Stock purchase. Row 3: Plan underscore Code, 3; Plan underscore Description, Long-term disability. Row 4: Plan underscore Code, 4; Plan underscore Description, Dental.    ">
            <a:extLst>
              <a:ext uri="{FF2B5EF4-FFF2-40B4-BE49-F238E27FC236}">
                <a16:creationId xmlns:a16="http://schemas.microsoft.com/office/drawing/2014/main" id="{D88D23D1-F029-BC7E-7B5F-BFCEFE25D8A6}"/>
              </a:ext>
            </a:extLst>
          </p:cNvPr>
          <p:cNvPicPr>
            <a:picLocks/>
          </p:cNvPicPr>
          <p:nvPr/>
        </p:nvPicPr>
        <p:blipFill>
          <a:blip r:embed="rId3" cstate="print"/>
          <a:srcRect l="4603" t="5085" b="7264"/>
          <a:stretch>
            <a:fillRect/>
          </a:stretch>
        </p:blipFill>
        <p:spPr>
          <a:xfrm>
            <a:off x="4114800" y="954689"/>
            <a:ext cx="5029199" cy="29388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E612DA7-9E58-22D4-B64D-15B97500A31F}"/>
              </a:ext>
            </a:extLst>
          </p:cNvPr>
          <p:cNvSpPr txBox="1"/>
          <p:nvPr/>
        </p:nvSpPr>
        <p:spPr>
          <a:xfrm>
            <a:off x="0" y="954689"/>
            <a:ext cx="4114800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PLAN</a:t>
            </a:r>
            <a:endParaRPr lang="en-US" sz="2800" dirty="0">
              <a:latin typeface="Calibir"/>
            </a:endParaRPr>
          </a:p>
          <a:p>
            <a:pPr marL="623888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Answer: NA</a:t>
            </a:r>
          </a:p>
          <a:p>
            <a:pPr marL="623888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PLAN has no foreign key.</a:t>
            </a:r>
          </a:p>
        </p:txBody>
      </p:sp>
    </p:spTree>
    <p:extLst>
      <p:ext uri="{BB962C8B-B14F-4D97-AF65-F5344CB8AC3E}">
        <p14:creationId xmlns:p14="http://schemas.microsoft.com/office/powerpoint/2010/main" val="282961770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1E8B7A28-32F4-FD1B-2B40-0FF3E9194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2FEAA41-1483-A47B-7C31-DC8395E5E98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0"/>
            <a:ext cx="7849590" cy="988142"/>
          </a:xfrm>
        </p:spPr>
        <p:txBody>
          <a:bodyPr>
            <a:noAutofit/>
          </a:bodyPr>
          <a:lstStyle/>
          <a:p>
            <a:r>
              <a:rPr lang="en-US" sz="3200" dirty="0"/>
              <a:t>Preparation Guidelines – Tutorial Week 2 (Part 1)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Image 5" descr="The tables in the database named C h 0 3 underscore Bene Co. The tables are Employee, Benefit, Job, and Plan. The Employee table has 5 rows and 3 columns. It has the following column headings. E m p underscore Code. E m p underscore L Name. Job underscore Code. The row information in the table are the following. Row 1: E m p underscore Code, 14; E m p underscore L Name, Rudell; Job underscore Code, 2. Row 2: E m p underscore Code, 15; E m p underscore L Name, McDade; Job underscore Code, 1. Row 3: E m p underscore Code, 16; E m p underscore L Name, Ruellardo; Job underscore Code, 1. Row 4: E m p underscore Code, 17; E m p underscore L Name, Smith; Job underscore Code, 3. Row 5: E m p underscore Code, 20; E m p underscore L Name, Smith; Job underscore Code, 2. The Benefit table has 7 rows and 2 columns. It has the following column headings. E m p underscore Code. Plan underscore Code. The row information in the table are the following. Row 1: E m p underscore Code, 15; Plan underscore Code, 2. Row 2: E m p underscore Code, 15; Plan underscore Code, 3. Row 3: E m p underscore Code, 16; Plan underscore Code, 1. Row 4: E m p underscore Code, 17; Plan underscore Code, 1. Row 5: E m p underscore Code, 17; Plan underscore Code, 3. Row 6: E m p underscore Code, 17; Plan underscore Code, 4. Row 7: E m p underscore Code, 20; Plan underscore Code, 3. The Job table has 3 rows and 2 columns. It has the following column headings. Job underscore Code. Job underscore Description. The row information in the table are the following. Row 1: Job underscore Code, 1; Job underscore Description, Clerical. Row 2: Job underscore Code, 2; Job underscore Description, Technical. Row 3: Job underscore Code, 3; Job underscore Description, Managerial. The Plan table has 4 rows and 2 columns. It has the following column headings. Plan underscore Code. Plan underscore Description. The row information in the table are the following. Row 1: Plan underscore Code, 1; Plan underscore Description, Term Life. Row 2: Plan underscore Code, 2; Plan underscore Description, Stock purchase. Row 3: Plan underscore Code, 3; Plan underscore Description, Long-term disability. Row 4: Plan underscore Code, 4; Plan underscore Description, Dental.    ">
            <a:extLst>
              <a:ext uri="{FF2B5EF4-FFF2-40B4-BE49-F238E27FC236}">
                <a16:creationId xmlns:a16="http://schemas.microsoft.com/office/drawing/2014/main" id="{D49C94E8-1ABF-AB95-1D74-3D4FFED3FDDE}"/>
              </a:ext>
            </a:extLst>
          </p:cNvPr>
          <p:cNvPicPr>
            <a:picLocks/>
          </p:cNvPicPr>
          <p:nvPr/>
        </p:nvPicPr>
        <p:blipFill>
          <a:blip r:embed="rId3" cstate="print"/>
          <a:srcRect l="4603" t="5085" b="7264"/>
          <a:stretch>
            <a:fillRect/>
          </a:stretch>
        </p:blipFill>
        <p:spPr>
          <a:xfrm>
            <a:off x="4114800" y="954689"/>
            <a:ext cx="5029199" cy="29388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A3BA366-DEDC-C18A-7EC7-70B07EF7EDFE}"/>
              </a:ext>
            </a:extLst>
          </p:cNvPr>
          <p:cNvSpPr txBox="1"/>
          <p:nvPr/>
        </p:nvSpPr>
        <p:spPr>
          <a:xfrm>
            <a:off x="0" y="954689"/>
            <a:ext cx="4114800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BENEFIT</a:t>
            </a:r>
            <a:endParaRPr lang="en-US" sz="2800" dirty="0">
              <a:latin typeface="Calibir"/>
            </a:endParaRPr>
          </a:p>
          <a:p>
            <a:pPr marL="534988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Answer: Yes</a:t>
            </a:r>
          </a:p>
          <a:p>
            <a:pPr marL="534988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All EMP_CODE values in BENEFIT (15, 16, 17, 20) exist in EMPLOYEE.</a:t>
            </a:r>
          </a:p>
          <a:p>
            <a:pPr marL="534988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All PLAN_CODE values in BENEFIT (1, 2, 3, 4) exist in PLAN.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6E67DA-7E80-B861-0E9B-1646BF25E478}"/>
              </a:ext>
            </a:extLst>
          </p:cNvPr>
          <p:cNvSpPr txBox="1"/>
          <p:nvPr/>
        </p:nvSpPr>
        <p:spPr>
          <a:xfrm>
            <a:off x="78059" y="6244903"/>
            <a:ext cx="89878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Calibir"/>
              </a:rPr>
              <a:t>So the database shows referential integrity.</a:t>
            </a:r>
          </a:p>
        </p:txBody>
      </p:sp>
    </p:spTree>
    <p:extLst>
      <p:ext uri="{BB962C8B-B14F-4D97-AF65-F5344CB8AC3E}">
        <p14:creationId xmlns:p14="http://schemas.microsoft.com/office/powerpoint/2010/main" val="415555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4418970D-0C4A-291D-89E1-2F68AD3DA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3A63C91-12A4-DB53-735D-27CCA1BB591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0"/>
            <a:ext cx="7849590" cy="988142"/>
          </a:xfrm>
        </p:spPr>
        <p:txBody>
          <a:bodyPr>
            <a:noAutofit/>
          </a:bodyPr>
          <a:lstStyle/>
          <a:p>
            <a:r>
              <a:rPr lang="en-US" sz="3200" dirty="0"/>
              <a:t>Preparation Guidelines – Tutorial Week 2 (Part 1)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Image 5" descr="The tables in the database named C h 0 3 underscore Bene Co. The tables are Employee, Benefit, Job, and Plan. The Employee table has 5 rows and 3 columns. It has the following column headings. E m p underscore Code. E m p underscore L Name. Job underscore Code. The row information in the table are the following. Row 1: E m p underscore Code, 14; E m p underscore L Name, Rudell; Job underscore Code, 2. Row 2: E m p underscore Code, 15; E m p underscore L Name, McDade; Job underscore Code, 1. Row 3: E m p underscore Code, 16; E m p underscore L Name, Ruellardo; Job underscore Code, 1. Row 4: E m p underscore Code, 17; E m p underscore L Name, Smith; Job underscore Code, 3. Row 5: E m p underscore Code, 20; E m p underscore L Name, Smith; Job underscore Code, 2. The Benefit table has 7 rows and 2 columns. It has the following column headings. E m p underscore Code. Plan underscore Code. The row information in the table are the following. Row 1: E m p underscore Code, 15; Plan underscore Code, 2. Row 2: E m p underscore Code, 15; Plan underscore Code, 3. Row 3: E m p underscore Code, 16; Plan underscore Code, 1. Row 4: E m p underscore Code, 17; Plan underscore Code, 1. Row 5: E m p underscore Code, 17; Plan underscore Code, 3. Row 6: E m p underscore Code, 17; Plan underscore Code, 4. Row 7: E m p underscore Code, 20; Plan underscore Code, 3. The Job table has 3 rows and 2 columns. It has the following column headings. Job underscore Code. Job underscore Description. The row information in the table are the following. Row 1: Job underscore Code, 1; Job underscore Description, Clerical. Row 2: Job underscore Code, 2; Job underscore Description, Technical. Row 3: Job underscore Code, 3; Job underscore Description, Managerial. The Plan table has 4 rows and 2 columns. It has the following column headings. Plan underscore Code. Plan underscore Description. The row information in the table are the following. Row 1: Plan underscore Code, 1; Plan underscore Description, Term Life. Row 2: Plan underscore Code, 2; Plan underscore Description, Stock purchase. Row 3: Plan underscore Code, 3; Plan underscore Description, Long-term disability. Row 4: Plan underscore Code, 4; Plan underscore Description, Dental.    ">
            <a:extLst>
              <a:ext uri="{FF2B5EF4-FFF2-40B4-BE49-F238E27FC236}">
                <a16:creationId xmlns:a16="http://schemas.microsoft.com/office/drawing/2014/main" id="{87076C2F-7136-1D23-25F4-34D321D860E5}"/>
              </a:ext>
            </a:extLst>
          </p:cNvPr>
          <p:cNvPicPr>
            <a:picLocks/>
          </p:cNvPicPr>
          <p:nvPr/>
        </p:nvPicPr>
        <p:blipFill>
          <a:blip r:embed="rId3" cstate="print"/>
          <a:srcRect l="4603" t="5085" b="7264"/>
          <a:stretch>
            <a:fillRect/>
          </a:stretch>
        </p:blipFill>
        <p:spPr>
          <a:xfrm>
            <a:off x="4114800" y="954689"/>
            <a:ext cx="5029199" cy="29388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E78771D-406F-9E16-B2DB-022523A1986C}"/>
              </a:ext>
            </a:extLst>
          </p:cNvPr>
          <p:cNvSpPr txBox="1"/>
          <p:nvPr/>
        </p:nvSpPr>
        <p:spPr>
          <a:xfrm>
            <a:off x="0" y="954689"/>
            <a:ext cx="4114800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Q5) Create the ERD to show the relationships among EMPLOYEE, BENEFIT, JOB, and PLAN</a:t>
            </a:r>
            <a:endParaRPr lang="en-US" sz="2800" dirty="0">
              <a:latin typeface="Calibi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3A1B34-8C2D-3915-BF94-F96CA6BFDB12}"/>
              </a:ext>
            </a:extLst>
          </p:cNvPr>
          <p:cNvSpPr txBox="1"/>
          <p:nvPr/>
        </p:nvSpPr>
        <p:spPr>
          <a:xfrm>
            <a:off x="0" y="3893574"/>
            <a:ext cx="8987882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To answer this:</a:t>
            </a:r>
          </a:p>
          <a:p>
            <a:pPr marL="623888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Start from the foreign keys.</a:t>
            </a:r>
          </a:p>
          <a:p>
            <a:pPr marL="623888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EMPLOYEE connects to JOB</a:t>
            </a:r>
          </a:p>
          <a:p>
            <a:pPr marL="623888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BENEFIT connects to EMPLOYEE</a:t>
            </a:r>
          </a:p>
        </p:txBody>
      </p:sp>
    </p:spTree>
    <p:extLst>
      <p:ext uri="{BB962C8B-B14F-4D97-AF65-F5344CB8AC3E}">
        <p14:creationId xmlns:p14="http://schemas.microsoft.com/office/powerpoint/2010/main" val="3165711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041B043E-D4BB-BB6E-CA80-1C6BB30FB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FCC4A02-B4B2-7749-E69F-84A3BC37B2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0"/>
            <a:ext cx="7849590" cy="988142"/>
          </a:xfrm>
        </p:spPr>
        <p:txBody>
          <a:bodyPr>
            <a:noAutofit/>
          </a:bodyPr>
          <a:lstStyle/>
          <a:p>
            <a:r>
              <a:rPr lang="en-US" sz="3200" dirty="0"/>
              <a:t>Preparation Guidelines – Tutorial Week 2 (Part 1)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Image 5" descr="The tables in the database named C h 0 3 underscore Bene Co. The tables are Employee, Benefit, Job, and Plan. The Employee table has 5 rows and 3 columns. It has the following column headings. E m p underscore Code. E m p underscore L Name. Job underscore Code. The row information in the table are the following. Row 1: E m p underscore Code, 14; E m p underscore L Name, Rudell; Job underscore Code, 2. Row 2: E m p underscore Code, 15; E m p underscore L Name, McDade; Job underscore Code, 1. Row 3: E m p underscore Code, 16; E m p underscore L Name, Ruellardo; Job underscore Code, 1. Row 4: E m p underscore Code, 17; E m p underscore L Name, Smith; Job underscore Code, 3. Row 5: E m p underscore Code, 20; E m p underscore L Name, Smith; Job underscore Code, 2. The Benefit table has 7 rows and 2 columns. It has the following column headings. E m p underscore Code. Plan underscore Code. The row information in the table are the following. Row 1: E m p underscore Code, 15; Plan underscore Code, 2. Row 2: E m p underscore Code, 15; Plan underscore Code, 3. Row 3: E m p underscore Code, 16; Plan underscore Code, 1. Row 4: E m p underscore Code, 17; Plan underscore Code, 1. Row 5: E m p underscore Code, 17; Plan underscore Code, 3. Row 6: E m p underscore Code, 17; Plan underscore Code, 4. Row 7: E m p underscore Code, 20; Plan underscore Code, 3. The Job table has 3 rows and 2 columns. It has the following column headings. Job underscore Code. Job underscore Description. The row information in the table are the following. Row 1: Job underscore Code, 1; Job underscore Description, Clerical. Row 2: Job underscore Code, 2; Job underscore Description, Technical. Row 3: Job underscore Code, 3; Job underscore Description, Managerial. The Plan table has 4 rows and 2 columns. It has the following column headings. Plan underscore Code. Plan underscore Description. The row information in the table are the following. Row 1: Plan underscore Code, 1; Plan underscore Description, Term Life. Row 2: Plan underscore Code, 2; Plan underscore Description, Stock purchase. Row 3: Plan underscore Code, 3; Plan underscore Description, Long-term disability. Row 4: Plan underscore Code, 4; Plan underscore Description, Dental.    ">
            <a:extLst>
              <a:ext uri="{FF2B5EF4-FFF2-40B4-BE49-F238E27FC236}">
                <a16:creationId xmlns:a16="http://schemas.microsoft.com/office/drawing/2014/main" id="{0E320CAC-780C-B5F3-8BFA-2F4C5A0C8FE7}"/>
              </a:ext>
            </a:extLst>
          </p:cNvPr>
          <p:cNvPicPr>
            <a:picLocks/>
          </p:cNvPicPr>
          <p:nvPr/>
        </p:nvPicPr>
        <p:blipFill>
          <a:blip r:embed="rId3" cstate="print"/>
          <a:srcRect l="4603" t="5085" b="7264"/>
          <a:stretch>
            <a:fillRect/>
          </a:stretch>
        </p:blipFill>
        <p:spPr>
          <a:xfrm>
            <a:off x="4114800" y="954689"/>
            <a:ext cx="5029199" cy="29388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65964DD-7344-DFCF-420D-7F37F47448E3}"/>
              </a:ext>
            </a:extLst>
          </p:cNvPr>
          <p:cNvSpPr txBox="1"/>
          <p:nvPr/>
        </p:nvSpPr>
        <p:spPr>
          <a:xfrm>
            <a:off x="0" y="954689"/>
            <a:ext cx="4114800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Q5) Create the ERD to show the relationships among EMPLOYEE, BENEFIT, JOB, and PLAN</a:t>
            </a:r>
            <a:endParaRPr lang="en-US" sz="2800" dirty="0">
              <a:latin typeface="Calibi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EFBC63-973C-57C9-AE45-46E928650A37}"/>
              </a:ext>
            </a:extLst>
          </p:cNvPr>
          <p:cNvSpPr txBox="1"/>
          <p:nvPr/>
        </p:nvSpPr>
        <p:spPr>
          <a:xfrm>
            <a:off x="0" y="3893574"/>
            <a:ext cx="8987882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23888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BENEFIT also connects to PLAN</a:t>
            </a:r>
          </a:p>
          <a:p>
            <a:pPr marL="623888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This shows that EMPLOYEE and PLAN have a many-to-many relationship through BENEFIT.</a:t>
            </a:r>
          </a:p>
        </p:txBody>
      </p:sp>
    </p:spTree>
    <p:extLst>
      <p:ext uri="{BB962C8B-B14F-4D97-AF65-F5344CB8AC3E}">
        <p14:creationId xmlns:p14="http://schemas.microsoft.com/office/powerpoint/2010/main" val="299008141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2BD2D2D9-4BA8-761F-B382-D7D6CA0FA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2384C8F4-BB3C-327C-BC88-C8339E084E0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0"/>
            <a:ext cx="7849590" cy="988142"/>
          </a:xfrm>
        </p:spPr>
        <p:txBody>
          <a:bodyPr>
            <a:noAutofit/>
          </a:bodyPr>
          <a:lstStyle/>
          <a:p>
            <a:r>
              <a:rPr lang="en-US" sz="3200" dirty="0"/>
              <a:t>Preparation Guidelines – Tutorial Week 2 (Part 1)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Image 5" descr="The tables in the database named C h 0 3 underscore Bene Co. The tables are Employee, Benefit, Job, and Plan. The Employee table has 5 rows and 3 columns. It has the following column headings. E m p underscore Code. E m p underscore L Name. Job underscore Code. The row information in the table are the following. Row 1: E m p underscore Code, 14; E m p underscore L Name, Rudell; Job underscore Code, 2. Row 2: E m p underscore Code, 15; E m p underscore L Name, McDade; Job underscore Code, 1. Row 3: E m p underscore Code, 16; E m p underscore L Name, Ruellardo; Job underscore Code, 1. Row 4: E m p underscore Code, 17; E m p underscore L Name, Smith; Job underscore Code, 3. Row 5: E m p underscore Code, 20; E m p underscore L Name, Smith; Job underscore Code, 2. The Benefit table has 7 rows and 2 columns. It has the following column headings. E m p underscore Code. Plan underscore Code. The row information in the table are the following. Row 1: E m p underscore Code, 15; Plan underscore Code, 2. Row 2: E m p underscore Code, 15; Plan underscore Code, 3. Row 3: E m p underscore Code, 16; Plan underscore Code, 1. Row 4: E m p underscore Code, 17; Plan underscore Code, 1. Row 5: E m p underscore Code, 17; Plan underscore Code, 3. Row 6: E m p underscore Code, 17; Plan underscore Code, 4. Row 7: E m p underscore Code, 20; Plan underscore Code, 3. The Job table has 3 rows and 2 columns. It has the following column headings. Job underscore Code. Job underscore Description. The row information in the table are the following. Row 1: Job underscore Code, 1; Job underscore Description, Clerical. Row 2: Job underscore Code, 2; Job underscore Description, Technical. Row 3: Job underscore Code, 3; Job underscore Description, Managerial. The Plan table has 4 rows and 2 columns. It has the following column headings. Plan underscore Code. Plan underscore Description. The row information in the table are the following. Row 1: Plan underscore Code, 1; Plan underscore Description, Term Life. Row 2: Plan underscore Code, 2; Plan underscore Description, Stock purchase. Row 3: Plan underscore Code, 3; Plan underscore Description, Long-term disability. Row 4: Plan underscore Code, 4; Plan underscore Description, Dental.    ">
            <a:extLst>
              <a:ext uri="{FF2B5EF4-FFF2-40B4-BE49-F238E27FC236}">
                <a16:creationId xmlns:a16="http://schemas.microsoft.com/office/drawing/2014/main" id="{A89FAA45-16D0-B411-0EA4-3A6E24CA2046}"/>
              </a:ext>
            </a:extLst>
          </p:cNvPr>
          <p:cNvPicPr>
            <a:picLocks/>
          </p:cNvPicPr>
          <p:nvPr/>
        </p:nvPicPr>
        <p:blipFill>
          <a:blip r:embed="rId3" cstate="print"/>
          <a:srcRect l="4603" t="5085" b="7264"/>
          <a:stretch>
            <a:fillRect/>
          </a:stretch>
        </p:blipFill>
        <p:spPr>
          <a:xfrm>
            <a:off x="4114800" y="954689"/>
            <a:ext cx="5029199" cy="29388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2AB34C8-5815-87E9-0311-6B786E10D8CC}"/>
              </a:ext>
            </a:extLst>
          </p:cNvPr>
          <p:cNvSpPr txBox="1"/>
          <p:nvPr/>
        </p:nvSpPr>
        <p:spPr>
          <a:xfrm>
            <a:off x="0" y="954689"/>
            <a:ext cx="4114800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Q5) Create the ERD to show the relationships among EMPLOYEE, BENEFIT, JOB, and PLAN</a:t>
            </a:r>
            <a:endParaRPr lang="en-US" sz="2800" dirty="0">
              <a:latin typeface="Calibi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9847F8-0A2F-3F97-C683-F563A2D087FE}"/>
              </a:ext>
            </a:extLst>
          </p:cNvPr>
          <p:cNvSpPr txBox="1"/>
          <p:nvPr/>
        </p:nvSpPr>
        <p:spPr>
          <a:xfrm>
            <a:off x="-78058" y="3695563"/>
            <a:ext cx="8987882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23888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The ERD should reflect this: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980E7DA8-D32D-3839-FCFF-598BFFAB54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816" y="4247157"/>
            <a:ext cx="7286482" cy="26108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One job can have many employees.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One employee can have many benefit records.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One plan can appear in many benefit records.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BENEFIT links EMPLOYEE and PLAN.</a:t>
            </a:r>
          </a:p>
        </p:txBody>
      </p:sp>
    </p:spTree>
    <p:extLst>
      <p:ext uri="{BB962C8B-B14F-4D97-AF65-F5344CB8AC3E}">
        <p14:creationId xmlns:p14="http://schemas.microsoft.com/office/powerpoint/2010/main" val="343695792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F7FF9635-D5C0-5121-D690-3DBCE13C8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686E6E4-A233-AB5D-D01C-A883028728A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0"/>
            <a:ext cx="7849590" cy="988142"/>
          </a:xfrm>
        </p:spPr>
        <p:txBody>
          <a:bodyPr>
            <a:noAutofit/>
          </a:bodyPr>
          <a:lstStyle/>
          <a:p>
            <a:r>
              <a:rPr lang="en-US" sz="3200" dirty="0"/>
              <a:t>Preparation Guidelines – Tutorial Week 2 (Part 1)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Image 5" descr="The tables in the database named C h 0 3 underscore Bene Co. The tables are Employee, Benefit, Job, and Plan. The Employee table has 5 rows and 3 columns. It has the following column headings. E m p underscore Code. E m p underscore L Name. Job underscore Code. The row information in the table are the following. Row 1: E m p underscore Code, 14; E m p underscore L Name, Rudell; Job underscore Code, 2. Row 2: E m p underscore Code, 15; E m p underscore L Name, McDade; Job underscore Code, 1. Row 3: E m p underscore Code, 16; E m p underscore L Name, Ruellardo; Job underscore Code, 1. Row 4: E m p underscore Code, 17; E m p underscore L Name, Smith; Job underscore Code, 3. Row 5: E m p underscore Code, 20; E m p underscore L Name, Smith; Job underscore Code, 2. The Benefit table has 7 rows and 2 columns. It has the following column headings. E m p underscore Code. Plan underscore Code. The row information in the table are the following. Row 1: E m p underscore Code, 15; Plan underscore Code, 2. Row 2: E m p underscore Code, 15; Plan underscore Code, 3. Row 3: E m p underscore Code, 16; Plan underscore Code, 1. Row 4: E m p underscore Code, 17; Plan underscore Code, 1. Row 5: E m p underscore Code, 17; Plan underscore Code, 3. Row 6: E m p underscore Code, 17; Plan underscore Code, 4. Row 7: E m p underscore Code, 20; Plan underscore Code, 3. The Job table has 3 rows and 2 columns. It has the following column headings. Job underscore Code. Job underscore Description. The row information in the table are the following. Row 1: Job underscore Code, 1; Job underscore Description, Clerical. Row 2: Job underscore Code, 2; Job underscore Description, Technical. Row 3: Job underscore Code, 3; Job underscore Description, Managerial. The Plan table has 4 rows and 2 columns. It has the following column headings. Plan underscore Code. Plan underscore Description. The row information in the table are the following. Row 1: Plan underscore Code, 1; Plan underscore Description, Term Life. Row 2: Plan underscore Code, 2; Plan underscore Description, Stock purchase. Row 3: Plan underscore Code, 3; Plan underscore Description, Long-term disability. Row 4: Plan underscore Code, 4; Plan underscore Description, Dental.    ">
            <a:extLst>
              <a:ext uri="{FF2B5EF4-FFF2-40B4-BE49-F238E27FC236}">
                <a16:creationId xmlns:a16="http://schemas.microsoft.com/office/drawing/2014/main" id="{1010A28E-F891-37A6-4F11-6D4D214B8CDE}"/>
              </a:ext>
            </a:extLst>
          </p:cNvPr>
          <p:cNvPicPr>
            <a:picLocks/>
          </p:cNvPicPr>
          <p:nvPr/>
        </p:nvPicPr>
        <p:blipFill>
          <a:blip r:embed="rId3" cstate="print"/>
          <a:srcRect l="4603" t="5085" b="7264"/>
          <a:stretch>
            <a:fillRect/>
          </a:stretch>
        </p:blipFill>
        <p:spPr>
          <a:xfrm>
            <a:off x="4114800" y="954689"/>
            <a:ext cx="5029199" cy="29388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59FF7F0-AF4A-F3EB-84E3-304BCC15B683}"/>
              </a:ext>
            </a:extLst>
          </p:cNvPr>
          <p:cNvSpPr txBox="1"/>
          <p:nvPr/>
        </p:nvSpPr>
        <p:spPr>
          <a:xfrm>
            <a:off x="0" y="954689"/>
            <a:ext cx="4114800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Q5) Create the ERD to show the relationships among EMPLOYEE, BENEFIT, JOB, and PLAN</a:t>
            </a:r>
            <a:endParaRPr lang="en-US" sz="2800" dirty="0">
              <a:latin typeface="Calibir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6848107-C0BE-BCCB-9703-7155EAF02F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024863"/>
            <a:ext cx="8524513" cy="26108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JOB to EMPLOYEE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 = one-to-many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EMPLOYEE to BENEFIT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 = one-to-many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PLAN to BENEFIT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 = one-to-many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EMPLOYEE to PLAN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 = many-to-many through BENEFIT</a:t>
            </a:r>
          </a:p>
        </p:txBody>
      </p:sp>
    </p:spTree>
    <p:extLst>
      <p:ext uri="{BB962C8B-B14F-4D97-AF65-F5344CB8AC3E}">
        <p14:creationId xmlns:p14="http://schemas.microsoft.com/office/powerpoint/2010/main" val="292174981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0EE3313C-1815-598F-862F-1F59EEBF0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F01E0477-E0FE-4506-C976-AA261A105D0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0"/>
            <a:ext cx="7849590" cy="988142"/>
          </a:xfrm>
        </p:spPr>
        <p:txBody>
          <a:bodyPr>
            <a:noAutofit/>
          </a:bodyPr>
          <a:lstStyle/>
          <a:p>
            <a:r>
              <a:rPr lang="en-US" sz="3200" dirty="0"/>
              <a:t>Practice Questions and Model Answers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D86E7E-8F77-180C-A1F8-477A5FB34357}"/>
              </a:ext>
            </a:extLst>
          </p:cNvPr>
          <p:cNvSpPr txBox="1"/>
          <p:nvPr/>
        </p:nvSpPr>
        <p:spPr>
          <a:xfrm>
            <a:off x="0" y="988142"/>
            <a:ext cx="634180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Practice Set – “</a:t>
            </a:r>
            <a:r>
              <a:rPr lang="en-US" sz="2800" b="1" dirty="0" err="1">
                <a:latin typeface="Calibri" panose="020F0502020204030204" pitchFamily="34" charset="0"/>
                <a:cs typeface="Calibri" panose="020F0502020204030204" pitchFamily="34" charset="0"/>
              </a:rPr>
              <a:t>DataMartCo</a:t>
            </a: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” Database</a:t>
            </a:r>
            <a:endParaRPr lang="en-AU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8A6F7558-B54E-A645-06B5-301AD09BDA3F}"/>
              </a:ext>
            </a:extLst>
          </p:cNvPr>
          <p:cNvGraphicFramePr>
            <a:graphicFrameLocks noGrp="1"/>
          </p:cNvGraphicFramePr>
          <p:nvPr/>
        </p:nvGraphicFramePr>
        <p:xfrm>
          <a:off x="628650" y="2833381"/>
          <a:ext cx="7886700" cy="1996059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2335776">
                  <a:extLst>
                    <a:ext uri="{9D8B030D-6E8A-4147-A177-3AD203B41FA5}">
                      <a16:colId xmlns:a16="http://schemas.microsoft.com/office/drawing/2014/main" val="1692830414"/>
                    </a:ext>
                  </a:extLst>
                </a:gridCol>
                <a:gridCol w="5550924">
                  <a:extLst>
                    <a:ext uri="{9D8B030D-6E8A-4147-A177-3AD203B41FA5}">
                      <a16:colId xmlns:a16="http://schemas.microsoft.com/office/drawing/2014/main" val="111215312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REGION_CODE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REGION_DESCRIPT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31920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Northern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5120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Southern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638027"/>
                  </a:ext>
                </a:extLst>
              </a:tr>
            </a:tbl>
          </a:graphicData>
        </a:graphic>
      </p:graphicFrame>
      <p:sp>
        <p:nvSpPr>
          <p:cNvPr id="11" name="Rectangle 1">
            <a:extLst>
              <a:ext uri="{FF2B5EF4-FFF2-40B4-BE49-F238E27FC236}">
                <a16:creationId xmlns:a16="http://schemas.microsoft.com/office/drawing/2014/main" id="{FE632136-64DD-A3AA-0884-E4639B6704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714674"/>
            <a:ext cx="259680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Table 1: REGION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975918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B6E115E2-80D5-E8D1-CBBD-7CC828E23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117D44F-84D0-E3C4-D744-034E003AD84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0"/>
            <a:ext cx="7849590" cy="988142"/>
          </a:xfrm>
        </p:spPr>
        <p:txBody>
          <a:bodyPr>
            <a:noAutofit/>
          </a:bodyPr>
          <a:lstStyle/>
          <a:p>
            <a:r>
              <a:rPr lang="en-US" sz="3200" dirty="0"/>
              <a:t>Practice Questions and Model Answers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CC857B8-0487-DA70-6F42-FEDB1F6A16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0432899"/>
              </p:ext>
            </p:extLst>
          </p:nvPr>
        </p:nvGraphicFramePr>
        <p:xfrm>
          <a:off x="628650" y="1907183"/>
          <a:ext cx="7886700" cy="4206240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1577340">
                  <a:extLst>
                    <a:ext uri="{9D8B030D-6E8A-4147-A177-3AD203B41FA5}">
                      <a16:colId xmlns:a16="http://schemas.microsoft.com/office/drawing/2014/main" val="3782157220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4031186230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2550625440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3718172265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304977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STORE_CODE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STORE_NAME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STORE_YTD_SALES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REGION_CODE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EMP_CODE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80440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SQL Central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1,205,340.50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1003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33764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Table Town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954,200.00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1005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05870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Key Junction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1,445,990.20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08296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2B005E8F-EAAD-6AA4-0F7B-5F8F514B11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33934"/>
            <a:ext cx="237411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Table 2: STORE</a:t>
            </a:r>
          </a:p>
        </p:txBody>
      </p:sp>
    </p:spTree>
    <p:extLst>
      <p:ext uri="{BB962C8B-B14F-4D97-AF65-F5344CB8AC3E}">
        <p14:creationId xmlns:p14="http://schemas.microsoft.com/office/powerpoint/2010/main" val="151007806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BF2846E8-0F21-69E6-B6E0-EA48C9EB0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C6ADBBB4-A992-F378-A9C0-C01D99C0E2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0"/>
            <a:ext cx="7849590" cy="988142"/>
          </a:xfrm>
        </p:spPr>
        <p:txBody>
          <a:bodyPr>
            <a:noAutofit/>
          </a:bodyPr>
          <a:lstStyle/>
          <a:p>
            <a:r>
              <a:rPr lang="en-US" sz="3200" dirty="0"/>
              <a:t>Practice Questions and Model Answers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4F41748-475D-B4D0-FF61-98ABD797CE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3520034"/>
              </p:ext>
            </p:extLst>
          </p:nvPr>
        </p:nvGraphicFramePr>
        <p:xfrm>
          <a:off x="117987" y="1542466"/>
          <a:ext cx="9026013" cy="5315534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1489587">
                  <a:extLst>
                    <a:ext uri="{9D8B030D-6E8A-4147-A177-3AD203B41FA5}">
                      <a16:colId xmlns:a16="http://schemas.microsoft.com/office/drawing/2014/main" val="1477217312"/>
                    </a:ext>
                  </a:extLst>
                </a:gridCol>
                <a:gridCol w="1323160">
                  <a:extLst>
                    <a:ext uri="{9D8B030D-6E8A-4147-A177-3AD203B41FA5}">
                      <a16:colId xmlns:a16="http://schemas.microsoft.com/office/drawing/2014/main" val="971084924"/>
                    </a:ext>
                  </a:extLst>
                </a:gridCol>
                <a:gridCol w="1094177">
                  <a:extLst>
                    <a:ext uri="{9D8B030D-6E8A-4147-A177-3AD203B41FA5}">
                      <a16:colId xmlns:a16="http://schemas.microsoft.com/office/drawing/2014/main" val="3377779189"/>
                    </a:ext>
                  </a:extLst>
                </a:gridCol>
                <a:gridCol w="1094177">
                  <a:extLst>
                    <a:ext uri="{9D8B030D-6E8A-4147-A177-3AD203B41FA5}">
                      <a16:colId xmlns:a16="http://schemas.microsoft.com/office/drawing/2014/main" val="1503298176"/>
                    </a:ext>
                  </a:extLst>
                </a:gridCol>
                <a:gridCol w="1094177">
                  <a:extLst>
                    <a:ext uri="{9D8B030D-6E8A-4147-A177-3AD203B41FA5}">
                      <a16:colId xmlns:a16="http://schemas.microsoft.com/office/drawing/2014/main" val="1753442300"/>
                    </a:ext>
                  </a:extLst>
                </a:gridCol>
                <a:gridCol w="1382154">
                  <a:extLst>
                    <a:ext uri="{9D8B030D-6E8A-4147-A177-3AD203B41FA5}">
                      <a16:colId xmlns:a16="http://schemas.microsoft.com/office/drawing/2014/main" val="4118383467"/>
                    </a:ext>
                  </a:extLst>
                </a:gridCol>
                <a:gridCol w="1548581">
                  <a:extLst>
                    <a:ext uri="{9D8B030D-6E8A-4147-A177-3AD203B41FA5}">
                      <a16:colId xmlns:a16="http://schemas.microsoft.com/office/drawing/2014/main" val="1007134742"/>
                    </a:ext>
                  </a:extLst>
                </a:gridCol>
              </a:tblGrid>
              <a:tr h="6216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EMP_CODE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EMP_TITLE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EMP_LNAME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EMP_FNAME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EMP_INITIAL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EMP_DOB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STORE_CODE</a:t>
                      </a:r>
                    </a:p>
                  </a:txBody>
                  <a:tcPr marL="88803" marR="88803" marT="44401" marB="44401" anchor="ctr"/>
                </a:tc>
                <a:extLst>
                  <a:ext uri="{0D108BD9-81ED-4DB2-BD59-A6C34878D82A}">
                    <a16:rowId xmlns:a16="http://schemas.microsoft.com/office/drawing/2014/main" val="1469877504"/>
                  </a:ext>
                </a:extLst>
              </a:tr>
              <a:tr h="6216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1001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Mr.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Lopez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Carlos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J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1990-02-14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503</a:t>
                      </a:r>
                    </a:p>
                  </a:txBody>
                  <a:tcPr marL="88803" marR="88803" marT="44401" marB="44401" anchor="ctr"/>
                </a:tc>
                <a:extLst>
                  <a:ext uri="{0D108BD9-81ED-4DB2-BD59-A6C34878D82A}">
                    <a16:rowId xmlns:a16="http://schemas.microsoft.com/office/drawing/2014/main" val="1539525881"/>
                  </a:ext>
                </a:extLst>
              </a:tr>
              <a:tr h="6216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1002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Ms.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Patel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Aria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1994-08-29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503</a:t>
                      </a:r>
                    </a:p>
                  </a:txBody>
                  <a:tcPr marL="88803" marR="88803" marT="44401" marB="44401" anchor="ctr"/>
                </a:tc>
                <a:extLst>
                  <a:ext uri="{0D108BD9-81ED-4DB2-BD59-A6C34878D82A}">
                    <a16:rowId xmlns:a16="http://schemas.microsoft.com/office/drawing/2014/main" val="1204497172"/>
                  </a:ext>
                </a:extLst>
              </a:tr>
              <a:tr h="6216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1003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Mrs.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Nguyen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Emily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1988-05-22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501</a:t>
                      </a:r>
                    </a:p>
                  </a:txBody>
                  <a:tcPr marL="88803" marR="88803" marT="44401" marB="44401" anchor="ctr"/>
                </a:tc>
                <a:extLst>
                  <a:ext uri="{0D108BD9-81ED-4DB2-BD59-A6C34878D82A}">
                    <a16:rowId xmlns:a16="http://schemas.microsoft.com/office/drawing/2014/main" val="3143151863"/>
                  </a:ext>
                </a:extLst>
              </a:tr>
              <a:tr h="6216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1004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Mr.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Wong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David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1991-11-10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501</a:t>
                      </a:r>
                    </a:p>
                  </a:txBody>
                  <a:tcPr marL="88803" marR="88803" marT="44401" marB="44401" anchor="ctr"/>
                </a:tc>
                <a:extLst>
                  <a:ext uri="{0D108BD9-81ED-4DB2-BD59-A6C34878D82A}">
                    <a16:rowId xmlns:a16="http://schemas.microsoft.com/office/drawing/2014/main" val="285746323"/>
                  </a:ext>
                </a:extLst>
              </a:tr>
              <a:tr h="6216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1005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Ms.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Martin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Chloe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1987-12-05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502</a:t>
                      </a:r>
                    </a:p>
                  </a:txBody>
                  <a:tcPr marL="88803" marR="88803" marT="44401" marB="44401" anchor="ctr"/>
                </a:tc>
                <a:extLst>
                  <a:ext uri="{0D108BD9-81ED-4DB2-BD59-A6C34878D82A}">
                    <a16:rowId xmlns:a16="http://schemas.microsoft.com/office/drawing/2014/main" val="638581024"/>
                  </a:ext>
                </a:extLst>
              </a:tr>
              <a:tr h="6216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1006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Mr.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Singh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Aaron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1986-09-17</a:t>
                      </a: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502</a:t>
                      </a:r>
                    </a:p>
                  </a:txBody>
                  <a:tcPr marL="88803" marR="88803" marT="44401" marB="44401" anchor="ctr"/>
                </a:tc>
                <a:extLst>
                  <a:ext uri="{0D108BD9-81ED-4DB2-BD59-A6C34878D82A}">
                    <a16:rowId xmlns:a16="http://schemas.microsoft.com/office/drawing/2014/main" val="3353117062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B82541D5-3643-57D4-0349-988670DE01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58645"/>
            <a:ext cx="301236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Table 3: EMPLOYEE</a:t>
            </a:r>
          </a:p>
        </p:txBody>
      </p:sp>
    </p:spTree>
    <p:extLst>
      <p:ext uri="{BB962C8B-B14F-4D97-AF65-F5344CB8AC3E}">
        <p14:creationId xmlns:p14="http://schemas.microsoft.com/office/powerpoint/2010/main" val="405372778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54EB6B50-76A2-056A-F055-CB6C23E2A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4A22A46-76CB-1A68-EBCE-AB241E7218D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0"/>
            <a:ext cx="7849590" cy="988142"/>
          </a:xfrm>
        </p:spPr>
        <p:txBody>
          <a:bodyPr>
            <a:noAutofit/>
          </a:bodyPr>
          <a:lstStyle/>
          <a:p>
            <a:r>
              <a:rPr lang="en-US" sz="3200" dirty="0"/>
              <a:t>Practice Questions and Model Answers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17EC6A-CE7A-AC6D-CF66-453A1D87FA5B}"/>
              </a:ext>
            </a:extLst>
          </p:cNvPr>
          <p:cNvSpPr txBox="1"/>
          <p:nvPr/>
        </p:nvSpPr>
        <p:spPr>
          <a:xfrm>
            <a:off x="0" y="1313292"/>
            <a:ext cx="9144000" cy="4231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Questions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Q1. For each table, identify the Primary Key and any Foreign Key(s).</a:t>
            </a:r>
            <a:b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If a table has a foreign key, specify which table/column it references.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Q2. Do the tables exhibit entity integrity? Answer Yes or No for each table and explain briefly.</a:t>
            </a:r>
          </a:p>
        </p:txBody>
      </p:sp>
    </p:spTree>
    <p:extLst>
      <p:ext uri="{BB962C8B-B14F-4D97-AF65-F5344CB8AC3E}">
        <p14:creationId xmlns:p14="http://schemas.microsoft.com/office/powerpoint/2010/main" val="107774910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40BC0A2D-A804-17D9-E064-BD0694006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4D1756E-9705-D612-5F97-F26D0B663BB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0"/>
            <a:ext cx="7849590" cy="988142"/>
          </a:xfrm>
        </p:spPr>
        <p:txBody>
          <a:bodyPr>
            <a:noAutofit/>
          </a:bodyPr>
          <a:lstStyle/>
          <a:p>
            <a:r>
              <a:rPr lang="en-US" sz="3200" dirty="0"/>
              <a:t>Practice Questions and Model Answers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665DDA-D76C-75E6-65DC-7F89691EFA1D}"/>
              </a:ext>
            </a:extLst>
          </p:cNvPr>
          <p:cNvSpPr txBox="1"/>
          <p:nvPr/>
        </p:nvSpPr>
        <p:spPr>
          <a:xfrm>
            <a:off x="0" y="1800413"/>
            <a:ext cx="9144000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Q3. Do the tables exhibit referential integrity? Answer Yes or No for each foreign key and explain briefly. Write N/A if the table has no foreign key.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Q4. Describe the relationship(s) between STORE and REGION.</a:t>
            </a:r>
          </a:p>
        </p:txBody>
      </p:sp>
    </p:spTree>
    <p:extLst>
      <p:ext uri="{BB962C8B-B14F-4D97-AF65-F5344CB8AC3E}">
        <p14:creationId xmlns:p14="http://schemas.microsoft.com/office/powerpoint/2010/main" val="148577076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40BC0A2D-A804-17D9-E064-BD0694006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4D1756E-9705-D612-5F97-F26D0B663BB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0"/>
            <a:ext cx="7849590" cy="988142"/>
          </a:xfrm>
        </p:spPr>
        <p:txBody>
          <a:bodyPr>
            <a:noAutofit/>
          </a:bodyPr>
          <a:lstStyle/>
          <a:p>
            <a:r>
              <a:rPr lang="en-US" sz="3200" dirty="0"/>
              <a:t>Practice Questions and Model Answers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41969E8-14EB-2B82-4F61-DDEBA171A7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9237311"/>
              </p:ext>
            </p:extLst>
          </p:nvPr>
        </p:nvGraphicFramePr>
        <p:xfrm>
          <a:off x="628650" y="2115536"/>
          <a:ext cx="7886700" cy="4701540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1694136">
                  <a:extLst>
                    <a:ext uri="{9D8B030D-6E8A-4147-A177-3AD203B41FA5}">
                      <a16:colId xmlns:a16="http://schemas.microsoft.com/office/drawing/2014/main" val="975853099"/>
                    </a:ext>
                  </a:extLst>
                </a:gridCol>
                <a:gridCol w="2417380">
                  <a:extLst>
                    <a:ext uri="{9D8B030D-6E8A-4147-A177-3AD203B41FA5}">
                      <a16:colId xmlns:a16="http://schemas.microsoft.com/office/drawing/2014/main" val="1317723575"/>
                    </a:ext>
                  </a:extLst>
                </a:gridCol>
                <a:gridCol w="3775184">
                  <a:extLst>
                    <a:ext uri="{9D8B030D-6E8A-4147-A177-3AD203B41FA5}">
                      <a16:colId xmlns:a16="http://schemas.microsoft.com/office/drawing/2014/main" val="10337448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5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5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Primary Key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5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Foreign Key(s)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09734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5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REGION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5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REGION_CODE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5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None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69118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5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5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STORE_CODE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fr-FR" sz="25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REGION_CODE → REGION(REGION_CODE) </a:t>
                      </a:r>
                      <a:br>
                        <a:rPr lang="fr-FR" sz="25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fr-FR" sz="25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EMP_CODE → EMPLOYEE(EMP_CODE)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10139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5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EMPLOYEE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5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EMP_CODE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da-DK" sz="25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STORE_CODE → STORE(STORE_CODE)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8593979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A714E0BC-550C-6DF1-8A02-C1856B6FE2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88142"/>
            <a:ext cx="2713756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Model Answers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Q1 – PKs and FKs</a:t>
            </a:r>
          </a:p>
        </p:txBody>
      </p:sp>
    </p:spTree>
    <p:extLst>
      <p:ext uri="{BB962C8B-B14F-4D97-AF65-F5344CB8AC3E}">
        <p14:creationId xmlns:p14="http://schemas.microsoft.com/office/powerpoint/2010/main" val="63701146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1BFD2234-8796-9C4B-7487-D77226861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C80981BA-99FE-4C0A-4488-6D6757A12D4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0"/>
            <a:ext cx="7849590" cy="988142"/>
          </a:xfrm>
        </p:spPr>
        <p:txBody>
          <a:bodyPr>
            <a:noAutofit/>
          </a:bodyPr>
          <a:lstStyle/>
          <a:p>
            <a:r>
              <a:rPr lang="en-US" sz="3200" dirty="0"/>
              <a:t>Practice Questions and Model Answers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0BCB8DA-735E-2456-E05C-2CEC3CCF8A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203585"/>
            <a:ext cx="249850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Model Answers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1D4E0F-65E1-5F80-DFD5-AF8806D95078}"/>
              </a:ext>
            </a:extLst>
          </p:cNvPr>
          <p:cNvSpPr txBox="1"/>
          <p:nvPr/>
        </p:nvSpPr>
        <p:spPr>
          <a:xfrm>
            <a:off x="210207" y="1942249"/>
            <a:ext cx="8565930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Q2 – Entity Integrity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REGION: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Yes – REGION_CODE is unique &amp; not null.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STORE: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Yes – STORE_CODE is unique &amp; not null.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EMPLOYEE: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Yes – EMP_CODE is unique &amp; not null.</a:t>
            </a:r>
          </a:p>
        </p:txBody>
      </p:sp>
    </p:spTree>
    <p:extLst>
      <p:ext uri="{BB962C8B-B14F-4D97-AF65-F5344CB8AC3E}">
        <p14:creationId xmlns:p14="http://schemas.microsoft.com/office/powerpoint/2010/main" val="3475528922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78032FB5-7951-9988-A75A-D4B435294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F3A300A6-6E98-98AC-B348-62776F82F8B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0"/>
            <a:ext cx="7849590" cy="988142"/>
          </a:xfrm>
        </p:spPr>
        <p:txBody>
          <a:bodyPr>
            <a:noAutofit/>
          </a:bodyPr>
          <a:lstStyle/>
          <a:p>
            <a:r>
              <a:rPr lang="en-US" sz="3200" dirty="0"/>
              <a:t>Practice Questions and Model Answers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F5ED664-8034-3CA1-0C45-5E53010F7A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203585"/>
            <a:ext cx="249850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Model Answers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7A229B-C7AF-6EEA-FFEA-8F2BC36F1790}"/>
              </a:ext>
            </a:extLst>
          </p:cNvPr>
          <p:cNvSpPr txBox="1"/>
          <p:nvPr/>
        </p:nvSpPr>
        <p:spPr>
          <a:xfrm>
            <a:off x="289035" y="1661834"/>
            <a:ext cx="8565930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Q3 – Referential Integrity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STORE.REGION_CODE → Yes – all values (10, 20) exist in REGION.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STORE.EMP_CODE → Yes – all values exist in EMPLOYEE.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EMPLOYEE.STORE_CODE → Yes – all values exist in STORE.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REGION – N/A (no FK).</a:t>
            </a:r>
          </a:p>
        </p:txBody>
      </p:sp>
    </p:spTree>
    <p:extLst>
      <p:ext uri="{BB962C8B-B14F-4D97-AF65-F5344CB8AC3E}">
        <p14:creationId xmlns:p14="http://schemas.microsoft.com/office/powerpoint/2010/main" val="216817170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D35135F1-45EE-F8DC-2740-16DD8B2D3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8565D2C-7317-3921-3ACB-6FAB8AB1D75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0"/>
            <a:ext cx="7849590" cy="988142"/>
          </a:xfrm>
        </p:spPr>
        <p:txBody>
          <a:bodyPr>
            <a:noAutofit/>
          </a:bodyPr>
          <a:lstStyle/>
          <a:p>
            <a:r>
              <a:rPr lang="en-US" sz="3200" dirty="0"/>
              <a:t>Practice Questions and Model Answers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F3A3F3C-95C5-4964-69C5-1D349D5CDB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203585"/>
            <a:ext cx="249850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Model Answers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8EDB6F-26FF-F6A7-9950-9D64B4E9C93A}"/>
              </a:ext>
            </a:extLst>
          </p:cNvPr>
          <p:cNvSpPr txBox="1"/>
          <p:nvPr/>
        </p:nvSpPr>
        <p:spPr>
          <a:xfrm>
            <a:off x="289035" y="1661834"/>
            <a:ext cx="8565930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Q4 – Relationship STORE ↔ REGION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One REGION can have many STORES.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Each STORE belongs to exactly one REGION.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Relationship type: 1:M (REGION → STORE).</a:t>
            </a:r>
          </a:p>
        </p:txBody>
      </p:sp>
    </p:spTree>
    <p:extLst>
      <p:ext uri="{BB962C8B-B14F-4D97-AF65-F5344CB8AC3E}">
        <p14:creationId xmlns:p14="http://schemas.microsoft.com/office/powerpoint/2010/main" val="269511415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370BD1BE-B5D4-A8CB-6FD6-AD08A58FD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C7F1B9CC-B67C-1091-FC7A-EEB9A5803B9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0"/>
            <a:ext cx="7849590" cy="988142"/>
          </a:xfrm>
        </p:spPr>
        <p:txBody>
          <a:bodyPr>
            <a:noAutofit/>
          </a:bodyPr>
          <a:lstStyle/>
          <a:p>
            <a:r>
              <a:rPr lang="en-US" sz="3200" dirty="0"/>
              <a:t>Practice Questions and Model Answers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8595422-45A5-E9AF-1DA3-FD57350D69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29270"/>
            <a:ext cx="955583" cy="6718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Hints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A27B8E-4750-29D2-C7BC-05010F17E56A}"/>
              </a:ext>
            </a:extLst>
          </p:cNvPr>
          <p:cNvSpPr txBox="1"/>
          <p:nvPr/>
        </p:nvSpPr>
        <p:spPr>
          <a:xfrm>
            <a:off x="289035" y="1801121"/>
            <a:ext cx="8565930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Do: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Check PKs are unique &amp; not null before answering entity integrity.</a:t>
            </a:r>
            <a:b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Do: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Cross-check FK values exist in parent table for referential integrity.</a:t>
            </a:r>
            <a:b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Avoid: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Assuming a relationship is M:N without checking the data.</a:t>
            </a:r>
            <a:b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Do: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Use clear PK→FK notation in ERDs.</a:t>
            </a:r>
          </a:p>
        </p:txBody>
      </p:sp>
    </p:spTree>
    <p:extLst>
      <p:ext uri="{BB962C8B-B14F-4D97-AF65-F5344CB8AC3E}">
        <p14:creationId xmlns:p14="http://schemas.microsoft.com/office/powerpoint/2010/main" val="1801852133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D930FEFB-2A41-B5CB-76DE-C989E15FA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C2630492-9A33-0ADB-C412-18B47048596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0"/>
            <a:ext cx="7849590" cy="869795"/>
          </a:xfrm>
        </p:spPr>
        <p:txBody>
          <a:bodyPr>
            <a:noAutofit/>
          </a:bodyPr>
          <a:lstStyle/>
          <a:p>
            <a:r>
              <a:rPr lang="en-US" sz="3200" dirty="0"/>
              <a:t>Practice Questions and Model Answers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 descr="The tables in the database named C h 0 3 underscore Store Co. The tables are Employee, Store, and Region. The Employee table has 21 rows and 7 columns. It has the following column headings. E m p underscore Code. E m p underscore Title. E m p underscore L Name. E m p underscore F Name. E m p underscore Initial. E m p underscore D o b. Store underscore Code. The row information in the table are the following. Row 1: E m p underscore Code, 1; E m p underscore Title, Mr.; E m p underscore L Name, Williamson; E m p underscore F Name, John; E m p underscore Initial, W; E m p underscore D o b, 21 hyphen May hyphen 64; Store underscore Code, 3. Row 2: E m p underscore Code, 2; E m p underscore Title, Ms.; E m p underscore L Name, Ratula; E m p underscore F Name, Nancy; E m p underscore Initial, Blank; E m p underscore D o b, 09 hyphen Feb hyphen 69; Store underscore Code, 2. Row 3: E m p underscore Code, 3; E m p underscore Title, Ms.; E m p underscore L Name, Greenboro; E m p underscore F Name, Lottie; E m p underscore Initial, R; E m p underscore D o b, 02 hyphen Oct hyphen 61; Store underscore Code, 4. Row 4: E m p underscore Code, 4; E m p underscore Title, Mrs.; E m p underscore L Name, Rumpersfro; E m p underscore F Name, Jennie; E m p underscore Initial, S; E m p underscore D o b, 01 hyphen June hyphen 71; Store underscore Code, 5. Row 5: E m p underscore Code, 5; E m p underscore Title, Mr.; E m p underscore L Name, Smith; E m p underscore F Name, Robert; E m p underscore Initial, L; E m p underscore D o b, 23 hyphen November hyphen 59; Store underscore Code, 3. Row 6: E m p underscore Code, 6; E m p underscore Title, Mr.; E m p underscore L Name, Renselaer; E m p underscore F Name, Cary; E m p underscore Initial, A; E m p underscore D o b, 25 hyphen Dec hyphen 65; Store underscore Code, 1. Row 7: E m p underscore Code, 7; E m p underscore Title, Mr.; E m p underscore L Name, Ogallo; E m p underscore F Name, Roberto; E m p underscore Initial, S; E m p underscore D o b, 31 hyphen Jul hyphen 62; Store underscore Code, 3. Row 8: E m p underscore Code, 8; E m p underscore Title, Ms.; E m p underscore L Name, Johnsson; E m p underscore F Name, Elizabeth; E m p underscore Initial, I; E m p underscore D o b, 10 hyphen Sep 68; Store underscore Code, 1. Row 9: E m p underscore Code, 9; E m p underscore Title, Mr.; E m p underscore L Name, Eindsmar; E m p underscore F Name, Jack; E m p underscore Initial, W; E m p underscore D o b, 19 hyphen April 55; Store underscore Code, 2. Row 10: E m p underscore Code, 10; E m p underscore Title, Mrs.; E m p underscore L Name, Jones; E m p underscore F Name, Rose; E m p underscore Initial, R; E m p underscore D o b, 06 hyphen Mar hyphen 66; Store underscore Code, 4. Row 11: E m p underscore Code, 11; E m p underscore Title, Mr.; E m p underscore L Name, Broderick; E m p underscore F Name, Tom; E m p underscore Initial, Blank; E m p underscore D o b, 21 hyphen Oct hyphen 72; Store underscore Code, 3. Row 12: E m p underscore Code, 12; E m p underscore Title, Mr.; E m p underscore L Name, Washington; E m p underscore F Name, Alan; E m p underscore Initial, Y; E m p underscore D o b, 08 hyphen Sep hyphen 74; Store underscore Code, 2. Row 13: E m p underscore Code, 13; E m p underscore Title, Mr.; E m p underscore L Name, Smith; E m p underscore F Name, Sherry; E m p underscore Initial, H; E m p underscore D o b, 25 hyphen May hyphen 66; Store underscore Code, 4. Row 14: E m p underscore Code, 14; E m p underscore Title, Ms.; E m p underscore L Name, Smith; E m p underscore F Name, Sherry; E m p underscore Initial, H; E m p underscore D o b, 25 hyphen May hyphen 66; Store underscore Code, 4. Row 15: E m p underscore Code, 15.; E m p underscore Title, Mr.; E m p underscore L Name, Olenko; E m p underscore F Name, Howard; E m p underscore Initial, U; E m p underscore D o b, 24 hyphen May hyphen 64; Store underscore Code, 5. Row 16: E m p underscore Code, 16; E m p underscore Title, Mr.; E m p underscore L Name, Archialo; E m p underscore F Name, Barry; E m p underscore Initial, V; E m p underscore D o b, 03 hyphen Sep hyphen 60; Store underscore Code, 5. Row 17: E m p underscore Code, 17; E m p underscore Title, Ms.; E m p underscore L Name, Grimaldo; E m p underscore F Name, Jeanine; E m p underscore Initial, K; E m p underscore D o b, 12 hyphen Nov hyphen 70; Store underscore Code, 4. Row 18: E m p underscore Code, 18; E m p underscore Title, Mr.; E m p underscore L Name, Rosenberg; E m p underscore F Name, Andrew; E m p underscore Initial, D; E m p underscore D o b, 24 hyphen Jan hyphen 71; Store underscore Code, 4. Row 19: E m p underscore Code, 19; E m p underscore Title, Mr.; E m p underscore L Name, Rosten; E m p underscore F Name, Peter; E m p underscore Initial, F; E m p underscore D o b, 03 hyphen Oct hyphen 68; Store underscore Code, 4. Row 20: E m p underscore Code, 20; E m p underscore Title, Mr.; E m p underscore L Name, Mckee; E m p underscore F Name, Robert; E m p underscore Initial, S; E m p underscore D o b, 06 hyphen Mar hyphen 70; Store underscore Code, 1. Row 21: E m p underscore Code, 21; E m p underscore Title, Ms.; E m p underscore L Name, Baumann; E m p underscore F Name, Jennifer; E m p underscore Initial, A; E m p underscore D o b, 11 hyphen Dec hyphen 74; Store underscore Code, 3. The Store table has 5 rows and 5 columns. It has the following column headings. Store underscore Code. Store underscore Name. Store underscore Y T D underscore Sales. Region underscore Code. E m p underscore Code. The row information in the table are the following. Row 1: Store underscore Code, 1; Store underscore Name, Access Junction; Store underscore Y T D underscore Sales, 1003455.76; Region underscore Code, 2; E m p underscore Code, 8. Row 2: Store underscore Code, 2; Store underscore Name, Database Corner; Store underscore Y T D underscore Sales, 1421987.39; Region underscore Code, 2; E m p underscore Code, 12. Row 3: Store underscore Code, 3; Store underscore Name, Tuple Charge; Store underscore Y T D underscore Sales, 986783.22; Region underscore Code, 1; E m p underscore Code, 7. Row 4: Store underscore Code, 4; Store underscore Name, Attribute Alley; Store underscore Y T D underscore Sales, 944568.56; Region underscore Code, 2; E m p underscore Code, 3. Row 5: Store underscore Code, 5; Store underscore Name, Primary Key Point; Store underscore Y T D underscore Sales, 2930098.45; Region underscore Code, 1; E m p underscore Code, 15. The Region table has 2 rows and 2 columns. It has the following column headings. Region underscore Code. Region underscore Descript. The row information in the table are the following. Row 1: Region underscore Code, 1; Region underscore Descript, East. Row 2: Region underscore Code, 2; Region underscore Descript, West.      &#10;">
            <a:extLst>
              <a:ext uri="{FF2B5EF4-FFF2-40B4-BE49-F238E27FC236}">
                <a16:creationId xmlns:a16="http://schemas.microsoft.com/office/drawing/2014/main" id="{E5A56227-BE77-7E44-5748-A6DDCACE707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272" t="1939" r="4031" b="2689"/>
          <a:stretch>
            <a:fillRect/>
          </a:stretch>
        </p:blipFill>
        <p:spPr>
          <a:xfrm>
            <a:off x="4070194" y="1115122"/>
            <a:ext cx="5073806" cy="574287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F169003-95B9-A8E1-8B40-D6047C7F9C66}"/>
              </a:ext>
            </a:extLst>
          </p:cNvPr>
          <p:cNvSpPr txBox="1"/>
          <p:nvPr/>
        </p:nvSpPr>
        <p:spPr>
          <a:xfrm>
            <a:off x="0" y="1115122"/>
            <a:ext cx="4070194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rtl="0">
              <a:lnSpc>
                <a:spcPct val="150000"/>
              </a:lnSpc>
            </a:pPr>
            <a:r>
              <a:rPr lang="en-US" sz="28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Calibri" panose="020F0502020204030204" pitchFamily="34" charset="0"/>
              </a:rPr>
              <a:t>Q1. For each table, identify the primary key and the foreign key(s). If a table does not have a foreign key, write </a:t>
            </a:r>
            <a:r>
              <a:rPr lang="en-US" sz="2800" i="1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Calibri" panose="020F0502020204030204" pitchFamily="34" charset="0"/>
              </a:rPr>
              <a:t>None</a:t>
            </a:r>
            <a:r>
              <a:rPr lang="en-US" sz="28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Calibri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5496449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042B755A-B145-4D95-3839-1FBB62AFF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4A057D3-E450-6B0C-5DAA-C005965415A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0"/>
            <a:ext cx="7849590" cy="880946"/>
          </a:xfrm>
        </p:spPr>
        <p:txBody>
          <a:bodyPr>
            <a:noAutofit/>
          </a:bodyPr>
          <a:lstStyle/>
          <a:p>
            <a:r>
              <a:rPr lang="en-US" sz="3200" dirty="0"/>
              <a:t>Practice Questions and Model Answers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 descr="The tables in the database named C h 0 3 underscore Store Co. The tables are Employee, Store, and Region. The Employee table has 21 rows and 7 columns. It has the following column headings. E m p underscore Code. E m p underscore Title. E m p underscore L Name. E m p underscore F Name. E m p underscore Initial. E m p underscore D o b. Store underscore Code. The row information in the table are the following. Row 1: E m p underscore Code, 1; E m p underscore Title, Mr.; E m p underscore L Name, Williamson; E m p underscore F Name, John; E m p underscore Initial, W; E m p underscore D o b, 21 hyphen May hyphen 64; Store underscore Code, 3. Row 2: E m p underscore Code, 2; E m p underscore Title, Ms.; E m p underscore L Name, Ratula; E m p underscore F Name, Nancy; E m p underscore Initial, Blank; E m p underscore D o b, 09 hyphen Feb hyphen 69; Store underscore Code, 2. Row 3: E m p underscore Code, 3; E m p underscore Title, Ms.; E m p underscore L Name, Greenboro; E m p underscore F Name, Lottie; E m p underscore Initial, R; E m p underscore D o b, 02 hyphen Oct hyphen 61; Store underscore Code, 4. Row 4: E m p underscore Code, 4; E m p underscore Title, Mrs.; E m p underscore L Name, Rumpersfro; E m p underscore F Name, Jennie; E m p underscore Initial, S; E m p underscore D o b, 01 hyphen June hyphen 71; Store underscore Code, 5. Row 5: E m p underscore Code, 5; E m p underscore Title, Mr.; E m p underscore L Name, Smith; E m p underscore F Name, Robert; E m p underscore Initial, L; E m p underscore D o b, 23 hyphen November hyphen 59; Store underscore Code, 3. Row 6: E m p underscore Code, 6; E m p underscore Title, Mr.; E m p underscore L Name, Renselaer; E m p underscore F Name, Cary; E m p underscore Initial, A; E m p underscore D o b, 25 hyphen Dec hyphen 65; Store underscore Code, 1. Row 7: E m p underscore Code, 7; E m p underscore Title, Mr.; E m p underscore L Name, Ogallo; E m p underscore F Name, Roberto; E m p underscore Initial, S; E m p underscore D o b, 31 hyphen Jul hyphen 62; Store underscore Code, 3. Row 8: E m p underscore Code, 8; E m p underscore Title, Ms.; E m p underscore L Name, Johnsson; E m p underscore F Name, Elizabeth; E m p underscore Initial, I; E m p underscore D o b, 10 hyphen Sep 68; Store underscore Code, 1. Row 9: E m p underscore Code, 9; E m p underscore Title, Mr.; E m p underscore L Name, Eindsmar; E m p underscore F Name, Jack; E m p underscore Initial, W; E m p underscore D o b, 19 hyphen April 55; Store underscore Code, 2. Row 10: E m p underscore Code, 10; E m p underscore Title, Mrs.; E m p underscore L Name, Jones; E m p underscore F Name, Rose; E m p underscore Initial, R; E m p underscore D o b, 06 hyphen Mar hyphen 66; Store underscore Code, 4. Row 11: E m p underscore Code, 11; E m p underscore Title, Mr.; E m p underscore L Name, Broderick; E m p underscore F Name, Tom; E m p underscore Initial, Blank; E m p underscore D o b, 21 hyphen Oct hyphen 72; Store underscore Code, 3. Row 12: E m p underscore Code, 12; E m p underscore Title, Mr.; E m p underscore L Name, Washington; E m p underscore F Name, Alan; E m p underscore Initial, Y; E m p underscore D o b, 08 hyphen Sep hyphen 74; Store underscore Code, 2. Row 13: E m p underscore Code, 13; E m p underscore Title, Mr.; E m p underscore L Name, Smith; E m p underscore F Name, Sherry; E m p underscore Initial, H; E m p underscore D o b, 25 hyphen May hyphen 66; Store underscore Code, 4. Row 14: E m p underscore Code, 14; E m p underscore Title, Ms.; E m p underscore L Name, Smith; E m p underscore F Name, Sherry; E m p underscore Initial, H; E m p underscore D o b, 25 hyphen May hyphen 66; Store underscore Code, 4. Row 15: E m p underscore Code, 15.; E m p underscore Title, Mr.; E m p underscore L Name, Olenko; E m p underscore F Name, Howard; E m p underscore Initial, U; E m p underscore D o b, 24 hyphen May hyphen 64; Store underscore Code, 5. Row 16: E m p underscore Code, 16; E m p underscore Title, Mr.; E m p underscore L Name, Archialo; E m p underscore F Name, Barry; E m p underscore Initial, V; E m p underscore D o b, 03 hyphen Sep hyphen 60; Store underscore Code, 5. Row 17: E m p underscore Code, 17; E m p underscore Title, Ms.; E m p underscore L Name, Grimaldo; E m p underscore F Name, Jeanine; E m p underscore Initial, K; E m p underscore D o b, 12 hyphen Nov hyphen 70; Store underscore Code, 4. Row 18: E m p underscore Code, 18; E m p underscore Title, Mr.; E m p underscore L Name, Rosenberg; E m p underscore F Name, Andrew; E m p underscore Initial, D; E m p underscore D o b, 24 hyphen Jan hyphen 71; Store underscore Code, 4. Row 19: E m p underscore Code, 19; E m p underscore Title, Mr.; E m p underscore L Name, Rosten; E m p underscore F Name, Peter; E m p underscore Initial, F; E m p underscore D o b, 03 hyphen Oct hyphen 68; Store underscore Code, 4. Row 20: E m p underscore Code, 20; E m p underscore Title, Mr.; E m p underscore L Name, Mckee; E m p underscore F Name, Robert; E m p underscore Initial, S; E m p underscore D o b, 06 hyphen Mar hyphen 70; Store underscore Code, 1. Row 21: E m p underscore Code, 21; E m p underscore Title, Ms.; E m p underscore L Name, Baumann; E m p underscore F Name, Jennifer; E m p underscore Initial, A; E m p underscore D o b, 11 hyphen Dec hyphen 74; Store underscore Code, 3. The Store table has 5 rows and 5 columns. It has the following column headings. Store underscore Code. Store underscore Name. Store underscore Y T D underscore Sales. Region underscore Code. E m p underscore Code. The row information in the table are the following. Row 1: Store underscore Code, 1; Store underscore Name, Access Junction; Store underscore Y T D underscore Sales, 1003455.76; Region underscore Code, 2; E m p underscore Code, 8. Row 2: Store underscore Code, 2; Store underscore Name, Database Corner; Store underscore Y T D underscore Sales, 1421987.39; Region underscore Code, 2; E m p underscore Code, 12. Row 3: Store underscore Code, 3; Store underscore Name, Tuple Charge; Store underscore Y T D underscore Sales, 986783.22; Region underscore Code, 1; E m p underscore Code, 7. Row 4: Store underscore Code, 4; Store underscore Name, Attribute Alley; Store underscore Y T D underscore Sales, 944568.56; Region underscore Code, 2; E m p underscore Code, 3. Row 5: Store underscore Code, 5; Store underscore Name, Primary Key Point; Store underscore Y T D underscore Sales, 2930098.45; Region underscore Code, 1; E m p underscore Code, 15. The Region table has 2 rows and 2 columns. It has the following column headings. Region underscore Code. Region underscore Descript. The row information in the table are the following. Row 1: Region underscore Code, 1; Region underscore Descript, East. Row 2: Region underscore Code, 2; Region underscore Descript, West.      &#10;">
            <a:extLst>
              <a:ext uri="{FF2B5EF4-FFF2-40B4-BE49-F238E27FC236}">
                <a16:creationId xmlns:a16="http://schemas.microsoft.com/office/drawing/2014/main" id="{DFE870FC-C913-EB8A-C995-01C33B2A10C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272" t="1939" r="4031" b="2689"/>
          <a:stretch>
            <a:fillRect/>
          </a:stretch>
        </p:blipFill>
        <p:spPr>
          <a:xfrm>
            <a:off x="4070194" y="1115122"/>
            <a:ext cx="5073806" cy="5742878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2B2AF26A-4956-80A1-3248-5539711A8A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1115122"/>
            <a:ext cx="4070194" cy="56784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A1. Primary keys and foreign keys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REGION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PK: REGION_CODE</a:t>
            </a: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FK: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None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STORE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PK: STORE_CODE</a:t>
            </a: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FKs: REGION_CODE → REGION(REGION_CODE); EMP_CODE → EMPLOYEE(EMP_CODE) </a:t>
            </a:r>
            <a:r>
              <a:rPr kumimoji="0" lang="en-US" altLang="en-US" sz="2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(store manager)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EMPLOYEE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PK: EMP_CODE</a:t>
            </a: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FK: STORE_CODE → STORE(STORE_CODE)</a:t>
            </a:r>
          </a:p>
        </p:txBody>
      </p:sp>
    </p:spTree>
    <p:extLst>
      <p:ext uri="{BB962C8B-B14F-4D97-AF65-F5344CB8AC3E}">
        <p14:creationId xmlns:p14="http://schemas.microsoft.com/office/powerpoint/2010/main" val="219413920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EDE2B6A0-4EA1-FBC2-6C15-87448955C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69833FF-A308-C91B-45ED-8F9EB8F6C0A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0"/>
            <a:ext cx="7849590" cy="930108"/>
          </a:xfrm>
        </p:spPr>
        <p:txBody>
          <a:bodyPr>
            <a:noAutofit/>
          </a:bodyPr>
          <a:lstStyle/>
          <a:p>
            <a:r>
              <a:rPr lang="en-US" sz="3200" dirty="0"/>
              <a:t>Practice Questions and Model Answers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 descr="The tables in the database named C h 0 3 underscore Store Co. The tables are Employee, Store, and Region. The Employee table has 21 rows and 7 columns. It has the following column headings. E m p underscore Code. E m p underscore Title. E m p underscore L Name. E m p underscore F Name. E m p underscore Initial. E m p underscore D o b. Store underscore Code. The row information in the table are the following. Row 1: E m p underscore Code, 1; E m p underscore Title, Mr.; E m p underscore L Name, Williamson; E m p underscore F Name, John; E m p underscore Initial, W; E m p underscore D o b, 21 hyphen May hyphen 64; Store underscore Code, 3. Row 2: E m p underscore Code, 2; E m p underscore Title, Ms.; E m p underscore L Name, Ratula; E m p underscore F Name, Nancy; E m p underscore Initial, Blank; E m p underscore D o b, 09 hyphen Feb hyphen 69; Store underscore Code, 2. Row 3: E m p underscore Code, 3; E m p underscore Title, Ms.; E m p underscore L Name, Greenboro; E m p underscore F Name, Lottie; E m p underscore Initial, R; E m p underscore D o b, 02 hyphen Oct hyphen 61; Store underscore Code, 4. Row 4: E m p underscore Code, 4; E m p underscore Title, Mrs.; E m p underscore L Name, Rumpersfro; E m p underscore F Name, Jennie; E m p underscore Initial, S; E m p underscore D o b, 01 hyphen June hyphen 71; Store underscore Code, 5. Row 5: E m p underscore Code, 5; E m p underscore Title, Mr.; E m p underscore L Name, Smith; E m p underscore F Name, Robert; E m p underscore Initial, L; E m p underscore D o b, 23 hyphen November hyphen 59; Store underscore Code, 3. Row 6: E m p underscore Code, 6; E m p underscore Title, Mr.; E m p underscore L Name, Renselaer; E m p underscore F Name, Cary; E m p underscore Initial, A; E m p underscore D o b, 25 hyphen Dec hyphen 65; Store underscore Code, 1. Row 7: E m p underscore Code, 7; E m p underscore Title, Mr.; E m p underscore L Name, Ogallo; E m p underscore F Name, Roberto; E m p underscore Initial, S; E m p underscore D o b, 31 hyphen Jul hyphen 62; Store underscore Code, 3. Row 8: E m p underscore Code, 8; E m p underscore Title, Ms.; E m p underscore L Name, Johnsson; E m p underscore F Name, Elizabeth; E m p underscore Initial, I; E m p underscore D o b, 10 hyphen Sep 68; Store underscore Code, 1. Row 9: E m p underscore Code, 9; E m p underscore Title, Mr.; E m p underscore L Name, Eindsmar; E m p underscore F Name, Jack; E m p underscore Initial, W; E m p underscore D o b, 19 hyphen April 55; Store underscore Code, 2. Row 10: E m p underscore Code, 10; E m p underscore Title, Mrs.; E m p underscore L Name, Jones; E m p underscore F Name, Rose; E m p underscore Initial, R; E m p underscore D o b, 06 hyphen Mar hyphen 66; Store underscore Code, 4. Row 11: E m p underscore Code, 11; E m p underscore Title, Mr.; E m p underscore L Name, Broderick; E m p underscore F Name, Tom; E m p underscore Initial, Blank; E m p underscore D o b, 21 hyphen Oct hyphen 72; Store underscore Code, 3. Row 12: E m p underscore Code, 12; E m p underscore Title, Mr.; E m p underscore L Name, Washington; E m p underscore F Name, Alan; E m p underscore Initial, Y; E m p underscore D o b, 08 hyphen Sep hyphen 74; Store underscore Code, 2. Row 13: E m p underscore Code, 13; E m p underscore Title, Mr.; E m p underscore L Name, Smith; E m p underscore F Name, Sherry; E m p underscore Initial, H; E m p underscore D o b, 25 hyphen May hyphen 66; Store underscore Code, 4. Row 14: E m p underscore Code, 14; E m p underscore Title, Ms.; E m p underscore L Name, Smith; E m p underscore F Name, Sherry; E m p underscore Initial, H; E m p underscore D o b, 25 hyphen May hyphen 66; Store underscore Code, 4. Row 15: E m p underscore Code, 15.; E m p underscore Title, Mr.; E m p underscore L Name, Olenko; E m p underscore F Name, Howard; E m p underscore Initial, U; E m p underscore D o b, 24 hyphen May hyphen 64; Store underscore Code, 5. Row 16: E m p underscore Code, 16; E m p underscore Title, Mr.; E m p underscore L Name, Archialo; E m p underscore F Name, Barry; E m p underscore Initial, V; E m p underscore D o b, 03 hyphen Sep hyphen 60; Store underscore Code, 5. Row 17: E m p underscore Code, 17; E m p underscore Title, Ms.; E m p underscore L Name, Grimaldo; E m p underscore F Name, Jeanine; E m p underscore Initial, K; E m p underscore D o b, 12 hyphen Nov hyphen 70; Store underscore Code, 4. Row 18: E m p underscore Code, 18; E m p underscore Title, Mr.; E m p underscore L Name, Rosenberg; E m p underscore F Name, Andrew; E m p underscore Initial, D; E m p underscore D o b, 24 hyphen Jan hyphen 71; Store underscore Code, 4. Row 19: E m p underscore Code, 19; E m p underscore Title, Mr.; E m p underscore L Name, Rosten; E m p underscore F Name, Peter; E m p underscore Initial, F; E m p underscore D o b, 03 hyphen Oct hyphen 68; Store underscore Code, 4. Row 20: E m p underscore Code, 20; E m p underscore Title, Mr.; E m p underscore L Name, Mckee; E m p underscore F Name, Robert; E m p underscore Initial, S; E m p underscore D o b, 06 hyphen Mar hyphen 70; Store underscore Code, 1. Row 21: E m p underscore Code, 21; E m p underscore Title, Ms.; E m p underscore L Name, Baumann; E m p underscore F Name, Jennifer; E m p underscore Initial, A; E m p underscore D o b, 11 hyphen Dec hyphen 74; Store underscore Code, 3. The Store table has 5 rows and 5 columns. It has the following column headings. Store underscore Code. Store underscore Name. Store underscore Y T D underscore Sales. Region underscore Code. E m p underscore Code. The row information in the table are the following. Row 1: Store underscore Code, 1; Store underscore Name, Access Junction; Store underscore Y T D underscore Sales, 1003455.76; Region underscore Code, 2; E m p underscore Code, 8. Row 2: Store underscore Code, 2; Store underscore Name, Database Corner; Store underscore Y T D underscore Sales, 1421987.39; Region underscore Code, 2; E m p underscore Code, 12. Row 3: Store underscore Code, 3; Store underscore Name, Tuple Charge; Store underscore Y T D underscore Sales, 986783.22; Region underscore Code, 1; E m p underscore Code, 7. Row 4: Store underscore Code, 4; Store underscore Name, Attribute Alley; Store underscore Y T D underscore Sales, 944568.56; Region underscore Code, 2; E m p underscore Code, 3. Row 5: Store underscore Code, 5; Store underscore Name, Primary Key Point; Store underscore Y T D underscore Sales, 2930098.45; Region underscore Code, 1; E m p underscore Code, 15. The Region table has 2 rows and 2 columns. It has the following column headings. Region underscore Code. Region underscore Descript. The row information in the table are the following. Row 1: Region underscore Code, 1; Region underscore Descript, East. Row 2: Region underscore Code, 2; Region underscore Descript, West.      &#10;">
            <a:extLst>
              <a:ext uri="{FF2B5EF4-FFF2-40B4-BE49-F238E27FC236}">
                <a16:creationId xmlns:a16="http://schemas.microsoft.com/office/drawing/2014/main" id="{D80CB81E-B9AA-65F9-3DA3-EDEAF740745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272" t="1939" r="4031" b="2689"/>
          <a:stretch>
            <a:fillRect/>
          </a:stretch>
        </p:blipFill>
        <p:spPr>
          <a:xfrm>
            <a:off x="4070194" y="1115122"/>
            <a:ext cx="5073806" cy="574287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CD02B8F-740A-8EFA-05AE-0C363361DCD0}"/>
              </a:ext>
            </a:extLst>
          </p:cNvPr>
          <p:cNvSpPr txBox="1"/>
          <p:nvPr/>
        </p:nvSpPr>
        <p:spPr>
          <a:xfrm>
            <a:off x="0" y="727929"/>
            <a:ext cx="4070194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28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Calibri" panose="020F0502020204030204" pitchFamily="34" charset="0"/>
              </a:rPr>
              <a:t>Q2.  Do the tables exhibit entity integrity? Answer yes or no and then explain your answer.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BD7D65-D032-3227-FE3F-443AD3965129}"/>
              </a:ext>
            </a:extLst>
          </p:cNvPr>
          <p:cNvSpPr txBox="1"/>
          <p:nvPr/>
        </p:nvSpPr>
        <p:spPr>
          <a:xfrm>
            <a:off x="0" y="3523786"/>
            <a:ext cx="3986560" cy="2918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500" dirty="0">
                <a:latin typeface="Calibri" panose="020F0502020204030204" pitchFamily="34" charset="0"/>
                <a:cs typeface="Calibri" panose="020F0502020204030204" pitchFamily="34" charset="0"/>
              </a:rPr>
              <a:t>A2. Yes for all three tables.</a:t>
            </a:r>
            <a:br>
              <a:rPr lang="en-US" sz="25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500" dirty="0">
                <a:latin typeface="Calibri" panose="020F0502020204030204" pitchFamily="34" charset="0"/>
                <a:cs typeface="Calibri" panose="020F0502020204030204" pitchFamily="34" charset="0"/>
              </a:rPr>
              <a:t>Each table’s primary key column is present, unique, and not null in the rows shown.</a:t>
            </a:r>
          </a:p>
        </p:txBody>
      </p:sp>
    </p:spTree>
    <p:extLst>
      <p:ext uri="{BB962C8B-B14F-4D97-AF65-F5344CB8AC3E}">
        <p14:creationId xmlns:p14="http://schemas.microsoft.com/office/powerpoint/2010/main" val="3632228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E1E171FA-355A-BC83-0793-E25144153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CD5232E-A4AE-324D-B02A-6A28A4902F9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0"/>
            <a:ext cx="7849590" cy="591015"/>
          </a:xfrm>
        </p:spPr>
        <p:txBody>
          <a:bodyPr>
            <a:noAutofit/>
          </a:bodyPr>
          <a:lstStyle/>
          <a:p>
            <a:r>
              <a:rPr lang="en-US" sz="3200" dirty="0"/>
              <a:t>Practice Questions and Model Answers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 descr="The tables in the database named C h 0 3 underscore Store Co. The tables are Employee, Store, and Region. The Employee table has 21 rows and 7 columns. It has the following column headings. E m p underscore Code. E m p underscore Title. E m p underscore L Name. E m p underscore F Name. E m p underscore Initial. E m p underscore D o b. Store underscore Code. The row information in the table are the following. Row 1: E m p underscore Code, 1; E m p underscore Title, Mr.; E m p underscore L Name, Williamson; E m p underscore F Name, John; E m p underscore Initial, W; E m p underscore D o b, 21 hyphen May hyphen 64; Store underscore Code, 3. Row 2: E m p underscore Code, 2; E m p underscore Title, Ms.; E m p underscore L Name, Ratula; E m p underscore F Name, Nancy; E m p underscore Initial, Blank; E m p underscore D o b, 09 hyphen Feb hyphen 69; Store underscore Code, 2. Row 3: E m p underscore Code, 3; E m p underscore Title, Ms.; E m p underscore L Name, Greenboro; E m p underscore F Name, Lottie; E m p underscore Initial, R; E m p underscore D o b, 02 hyphen Oct hyphen 61; Store underscore Code, 4. Row 4: E m p underscore Code, 4; E m p underscore Title, Mrs.; E m p underscore L Name, Rumpersfro; E m p underscore F Name, Jennie; E m p underscore Initial, S; E m p underscore D o b, 01 hyphen June hyphen 71; Store underscore Code, 5. Row 5: E m p underscore Code, 5; E m p underscore Title, Mr.; E m p underscore L Name, Smith; E m p underscore F Name, Robert; E m p underscore Initial, L; E m p underscore D o b, 23 hyphen November hyphen 59; Store underscore Code, 3. Row 6: E m p underscore Code, 6; E m p underscore Title, Mr.; E m p underscore L Name, Renselaer; E m p underscore F Name, Cary; E m p underscore Initial, A; E m p underscore D o b, 25 hyphen Dec hyphen 65; Store underscore Code, 1. Row 7: E m p underscore Code, 7; E m p underscore Title, Mr.; E m p underscore L Name, Ogallo; E m p underscore F Name, Roberto; E m p underscore Initial, S; E m p underscore D o b, 31 hyphen Jul hyphen 62; Store underscore Code, 3. Row 8: E m p underscore Code, 8; E m p underscore Title, Ms.; E m p underscore L Name, Johnsson; E m p underscore F Name, Elizabeth; E m p underscore Initial, I; E m p underscore D o b, 10 hyphen Sep 68; Store underscore Code, 1. Row 9: E m p underscore Code, 9; E m p underscore Title, Mr.; E m p underscore L Name, Eindsmar; E m p underscore F Name, Jack; E m p underscore Initial, W; E m p underscore D o b, 19 hyphen April 55; Store underscore Code, 2. Row 10: E m p underscore Code, 10; E m p underscore Title, Mrs.; E m p underscore L Name, Jones; E m p underscore F Name, Rose; E m p underscore Initial, R; E m p underscore D o b, 06 hyphen Mar hyphen 66; Store underscore Code, 4. Row 11: E m p underscore Code, 11; E m p underscore Title, Mr.; E m p underscore L Name, Broderick; E m p underscore F Name, Tom; E m p underscore Initial, Blank; E m p underscore D o b, 21 hyphen Oct hyphen 72; Store underscore Code, 3. Row 12: E m p underscore Code, 12; E m p underscore Title, Mr.; E m p underscore L Name, Washington; E m p underscore F Name, Alan; E m p underscore Initial, Y; E m p underscore D o b, 08 hyphen Sep hyphen 74; Store underscore Code, 2. Row 13: E m p underscore Code, 13; E m p underscore Title, Mr.; E m p underscore L Name, Smith; E m p underscore F Name, Sherry; E m p underscore Initial, H; E m p underscore D o b, 25 hyphen May hyphen 66; Store underscore Code, 4. Row 14: E m p underscore Code, 14; E m p underscore Title, Ms.; E m p underscore L Name, Smith; E m p underscore F Name, Sherry; E m p underscore Initial, H; E m p underscore D o b, 25 hyphen May hyphen 66; Store underscore Code, 4. Row 15: E m p underscore Code, 15.; E m p underscore Title, Mr.; E m p underscore L Name, Olenko; E m p underscore F Name, Howard; E m p underscore Initial, U; E m p underscore D o b, 24 hyphen May hyphen 64; Store underscore Code, 5. Row 16: E m p underscore Code, 16; E m p underscore Title, Mr.; E m p underscore L Name, Archialo; E m p underscore F Name, Barry; E m p underscore Initial, V; E m p underscore D o b, 03 hyphen Sep hyphen 60; Store underscore Code, 5. Row 17: E m p underscore Code, 17; E m p underscore Title, Ms.; E m p underscore L Name, Grimaldo; E m p underscore F Name, Jeanine; E m p underscore Initial, K; E m p underscore D o b, 12 hyphen Nov hyphen 70; Store underscore Code, 4. Row 18: E m p underscore Code, 18; E m p underscore Title, Mr.; E m p underscore L Name, Rosenberg; E m p underscore F Name, Andrew; E m p underscore Initial, D; E m p underscore D o b, 24 hyphen Jan hyphen 71; Store underscore Code, 4. Row 19: E m p underscore Code, 19; E m p underscore Title, Mr.; E m p underscore L Name, Rosten; E m p underscore F Name, Peter; E m p underscore Initial, F; E m p underscore D o b, 03 hyphen Oct hyphen 68; Store underscore Code, 4. Row 20: E m p underscore Code, 20; E m p underscore Title, Mr.; E m p underscore L Name, Mckee; E m p underscore F Name, Robert; E m p underscore Initial, S; E m p underscore D o b, 06 hyphen Mar hyphen 70; Store underscore Code, 1. Row 21: E m p underscore Code, 21; E m p underscore Title, Ms.; E m p underscore L Name, Baumann; E m p underscore F Name, Jennifer; E m p underscore Initial, A; E m p underscore D o b, 11 hyphen Dec hyphen 74; Store underscore Code, 3. The Store table has 5 rows and 5 columns. It has the following column headings. Store underscore Code. Store underscore Name. Store underscore Y T D underscore Sales. Region underscore Code. E m p underscore Code. The row information in the table are the following. Row 1: Store underscore Code, 1; Store underscore Name, Access Junction; Store underscore Y T D underscore Sales, 1003455.76; Region underscore Code, 2; E m p underscore Code, 8. Row 2: Store underscore Code, 2; Store underscore Name, Database Corner; Store underscore Y T D underscore Sales, 1421987.39; Region underscore Code, 2; E m p underscore Code, 12. Row 3: Store underscore Code, 3; Store underscore Name, Tuple Charge; Store underscore Y T D underscore Sales, 986783.22; Region underscore Code, 1; E m p underscore Code, 7. Row 4: Store underscore Code, 4; Store underscore Name, Attribute Alley; Store underscore Y T D underscore Sales, 944568.56; Region underscore Code, 2; E m p underscore Code, 3. Row 5: Store underscore Code, 5; Store underscore Name, Primary Key Point; Store underscore Y T D underscore Sales, 2930098.45; Region underscore Code, 1; E m p underscore Code, 15. The Region table has 2 rows and 2 columns. It has the following column headings. Region underscore Code. Region underscore Descript. The row information in the table are the following. Row 1: Region underscore Code, 1; Region underscore Descript, East. Row 2: Region underscore Code, 2; Region underscore Descript, West.      &#10;">
            <a:extLst>
              <a:ext uri="{FF2B5EF4-FFF2-40B4-BE49-F238E27FC236}">
                <a16:creationId xmlns:a16="http://schemas.microsoft.com/office/drawing/2014/main" id="{5316C88B-A3E3-8718-4777-04E384A5D1F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272" t="1939" r="4031" b="2689"/>
          <a:stretch>
            <a:fillRect/>
          </a:stretch>
        </p:blipFill>
        <p:spPr>
          <a:xfrm>
            <a:off x="4070194" y="1115122"/>
            <a:ext cx="5073806" cy="574287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6ACAFD7-E3E5-2EAA-7D14-08B4D26B6A5B}"/>
              </a:ext>
            </a:extLst>
          </p:cNvPr>
          <p:cNvSpPr txBox="1"/>
          <p:nvPr/>
        </p:nvSpPr>
        <p:spPr>
          <a:xfrm>
            <a:off x="0" y="490654"/>
            <a:ext cx="4070194" cy="21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spcBef>
                <a:spcPts val="600"/>
              </a:spcBef>
              <a:spcAft>
                <a:spcPts val="800"/>
              </a:spcAft>
            </a:pPr>
            <a:r>
              <a:rPr lang="en-US" dirty="0">
                <a:latin typeface="Calibri" panose="020F0502020204030204" pitchFamily="34" charset="0"/>
                <a:ea typeface="MS Mincho" panose="02020609040205080304" pitchFamily="49" charset="-128"/>
                <a:cs typeface="Calibri" panose="020F0502020204030204" pitchFamily="34" charset="0"/>
              </a:rPr>
              <a:t>Q3. Do the tables exhibit referential integrity? Answer yes or no and then explain your answer. Write </a:t>
            </a:r>
            <a:r>
              <a:rPr lang="en-US" i="1" dirty="0">
                <a:latin typeface="Calibri" panose="020F0502020204030204" pitchFamily="34" charset="0"/>
                <a:ea typeface="MS Mincho" panose="02020609040205080304" pitchFamily="49" charset="-128"/>
                <a:cs typeface="Calibri" panose="020F0502020204030204" pitchFamily="34" charset="0"/>
              </a:rPr>
              <a:t>NA</a:t>
            </a:r>
            <a:r>
              <a:rPr lang="en-US" dirty="0">
                <a:latin typeface="Calibri" panose="020F0502020204030204" pitchFamily="34" charset="0"/>
                <a:ea typeface="MS Mincho" panose="02020609040205080304" pitchFamily="49" charset="-128"/>
                <a:cs typeface="Calibri" panose="020F0502020204030204" pitchFamily="34" charset="0"/>
              </a:rPr>
              <a:t> (Not Applicable) if the table does not have a foreign key.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CC3B82A-FC86-AFA3-A6B7-B7C91F852E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17518"/>
            <a:ext cx="4070194" cy="41025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A3) EMPLOYEE.STORE_CODE → all values (1–5) exist in STORE: Yes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STORE.REGION_CODE → only 1 or 2, both exist in REGION: Yes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STORE.EMP_CODE → values {8,12,7,3,15} exist in EMPLOYEE: Yes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REGION has no FK: N/A</a:t>
            </a:r>
          </a:p>
        </p:txBody>
      </p:sp>
    </p:spTree>
    <p:extLst>
      <p:ext uri="{BB962C8B-B14F-4D97-AF65-F5344CB8AC3E}">
        <p14:creationId xmlns:p14="http://schemas.microsoft.com/office/powerpoint/2010/main" val="628381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82E5A7DA-2BCA-B1CB-02A7-70013FF72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8805072C-CCB1-980C-DC81-154063792AE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0"/>
            <a:ext cx="7849590" cy="977391"/>
          </a:xfrm>
        </p:spPr>
        <p:txBody>
          <a:bodyPr>
            <a:noAutofit/>
          </a:bodyPr>
          <a:lstStyle/>
          <a:p>
            <a:r>
              <a:rPr lang="en-US" sz="3200" dirty="0"/>
              <a:t>Practice Questions and Model Answers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 descr="The tables in the database named C h 0 3 underscore Store Co. The tables are Employee, Store, and Region. The Employee table has 21 rows and 7 columns. It has the following column headings. E m p underscore Code. E m p underscore Title. E m p underscore L Name. E m p underscore F Name. E m p underscore Initial. E m p underscore D o b. Store underscore Code. The row information in the table are the following. Row 1: E m p underscore Code, 1; E m p underscore Title, Mr.; E m p underscore L Name, Williamson; E m p underscore F Name, John; E m p underscore Initial, W; E m p underscore D o b, 21 hyphen May hyphen 64; Store underscore Code, 3. Row 2: E m p underscore Code, 2; E m p underscore Title, Ms.; E m p underscore L Name, Ratula; E m p underscore F Name, Nancy; E m p underscore Initial, Blank; E m p underscore D o b, 09 hyphen Feb hyphen 69; Store underscore Code, 2. Row 3: E m p underscore Code, 3; E m p underscore Title, Ms.; E m p underscore L Name, Greenboro; E m p underscore F Name, Lottie; E m p underscore Initial, R; E m p underscore D o b, 02 hyphen Oct hyphen 61; Store underscore Code, 4. Row 4: E m p underscore Code, 4; E m p underscore Title, Mrs.; E m p underscore L Name, Rumpersfro; E m p underscore F Name, Jennie; E m p underscore Initial, S; E m p underscore D o b, 01 hyphen June hyphen 71; Store underscore Code, 5. Row 5: E m p underscore Code, 5; E m p underscore Title, Mr.; E m p underscore L Name, Smith; E m p underscore F Name, Robert; E m p underscore Initial, L; E m p underscore D o b, 23 hyphen November hyphen 59; Store underscore Code, 3. Row 6: E m p underscore Code, 6; E m p underscore Title, Mr.; E m p underscore L Name, Renselaer; E m p underscore F Name, Cary; E m p underscore Initial, A; E m p underscore D o b, 25 hyphen Dec hyphen 65; Store underscore Code, 1. Row 7: E m p underscore Code, 7; E m p underscore Title, Mr.; E m p underscore L Name, Ogallo; E m p underscore F Name, Roberto; E m p underscore Initial, S; E m p underscore D o b, 31 hyphen Jul hyphen 62; Store underscore Code, 3. Row 8: E m p underscore Code, 8; E m p underscore Title, Ms.; E m p underscore L Name, Johnsson; E m p underscore F Name, Elizabeth; E m p underscore Initial, I; E m p underscore D o b, 10 hyphen Sep 68; Store underscore Code, 1. Row 9: E m p underscore Code, 9; E m p underscore Title, Mr.; E m p underscore L Name, Eindsmar; E m p underscore F Name, Jack; E m p underscore Initial, W; E m p underscore D o b, 19 hyphen April 55; Store underscore Code, 2. Row 10: E m p underscore Code, 10; E m p underscore Title, Mrs.; E m p underscore L Name, Jones; E m p underscore F Name, Rose; E m p underscore Initial, R; E m p underscore D o b, 06 hyphen Mar hyphen 66; Store underscore Code, 4. Row 11: E m p underscore Code, 11; E m p underscore Title, Mr.; E m p underscore L Name, Broderick; E m p underscore F Name, Tom; E m p underscore Initial, Blank; E m p underscore D o b, 21 hyphen Oct hyphen 72; Store underscore Code, 3. Row 12: E m p underscore Code, 12; E m p underscore Title, Mr.; E m p underscore L Name, Washington; E m p underscore F Name, Alan; E m p underscore Initial, Y; E m p underscore D o b, 08 hyphen Sep hyphen 74; Store underscore Code, 2. Row 13: E m p underscore Code, 13; E m p underscore Title, Mr.; E m p underscore L Name, Smith; E m p underscore F Name, Sherry; E m p underscore Initial, H; E m p underscore D o b, 25 hyphen May hyphen 66; Store underscore Code, 4. Row 14: E m p underscore Code, 14; E m p underscore Title, Ms.; E m p underscore L Name, Smith; E m p underscore F Name, Sherry; E m p underscore Initial, H; E m p underscore D o b, 25 hyphen May hyphen 66; Store underscore Code, 4. Row 15: E m p underscore Code, 15.; E m p underscore Title, Mr.; E m p underscore L Name, Olenko; E m p underscore F Name, Howard; E m p underscore Initial, U; E m p underscore D o b, 24 hyphen May hyphen 64; Store underscore Code, 5. Row 16: E m p underscore Code, 16; E m p underscore Title, Mr.; E m p underscore L Name, Archialo; E m p underscore F Name, Barry; E m p underscore Initial, V; E m p underscore D o b, 03 hyphen Sep hyphen 60; Store underscore Code, 5. Row 17: E m p underscore Code, 17; E m p underscore Title, Ms.; E m p underscore L Name, Grimaldo; E m p underscore F Name, Jeanine; E m p underscore Initial, K; E m p underscore D o b, 12 hyphen Nov hyphen 70; Store underscore Code, 4. Row 18: E m p underscore Code, 18; E m p underscore Title, Mr.; E m p underscore L Name, Rosenberg; E m p underscore F Name, Andrew; E m p underscore Initial, D; E m p underscore D o b, 24 hyphen Jan hyphen 71; Store underscore Code, 4. Row 19: E m p underscore Code, 19; E m p underscore Title, Mr.; E m p underscore L Name, Rosten; E m p underscore F Name, Peter; E m p underscore Initial, F; E m p underscore D o b, 03 hyphen Oct hyphen 68; Store underscore Code, 4. Row 20: E m p underscore Code, 20; E m p underscore Title, Mr.; E m p underscore L Name, Mckee; E m p underscore F Name, Robert; E m p underscore Initial, S; E m p underscore D o b, 06 hyphen Mar hyphen 70; Store underscore Code, 1. Row 21: E m p underscore Code, 21; E m p underscore Title, Ms.; E m p underscore L Name, Baumann; E m p underscore F Name, Jennifer; E m p underscore Initial, A; E m p underscore D o b, 11 hyphen Dec hyphen 74; Store underscore Code, 3. The Store table has 5 rows and 5 columns. It has the following column headings. Store underscore Code. Store underscore Name. Store underscore Y T D underscore Sales. Region underscore Code. E m p underscore Code. The row information in the table are the following. Row 1: Store underscore Code, 1; Store underscore Name, Access Junction; Store underscore Y T D underscore Sales, 1003455.76; Region underscore Code, 2; E m p underscore Code, 8. Row 2: Store underscore Code, 2; Store underscore Name, Database Corner; Store underscore Y T D underscore Sales, 1421987.39; Region underscore Code, 2; E m p underscore Code, 12. Row 3: Store underscore Code, 3; Store underscore Name, Tuple Charge; Store underscore Y T D underscore Sales, 986783.22; Region underscore Code, 1; E m p underscore Code, 7. Row 4: Store underscore Code, 4; Store underscore Name, Attribute Alley; Store underscore Y T D underscore Sales, 944568.56; Region underscore Code, 2; E m p underscore Code, 3. Row 5: Store underscore Code, 5; Store underscore Name, Primary Key Point; Store underscore Y T D underscore Sales, 2930098.45; Region underscore Code, 1; E m p underscore Code, 15. The Region table has 2 rows and 2 columns. It has the following column headings. Region underscore Code. Region underscore Descript. The row information in the table are the following. Row 1: Region underscore Code, 1; Region underscore Descript, East. Row 2: Region underscore Code, 2; Region underscore Descript, West.      &#10;">
            <a:extLst>
              <a:ext uri="{FF2B5EF4-FFF2-40B4-BE49-F238E27FC236}">
                <a16:creationId xmlns:a16="http://schemas.microsoft.com/office/drawing/2014/main" id="{57C06D0A-9506-5D5B-10BA-0A789A5C5C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272" t="1939" r="4031" b="2689"/>
          <a:stretch>
            <a:fillRect/>
          </a:stretch>
        </p:blipFill>
        <p:spPr>
          <a:xfrm>
            <a:off x="4070194" y="1115122"/>
            <a:ext cx="5073806" cy="574287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0790EE9-60D2-A4D3-8ED3-9DA32C403462}"/>
              </a:ext>
            </a:extLst>
          </p:cNvPr>
          <p:cNvSpPr txBox="1"/>
          <p:nvPr/>
        </p:nvSpPr>
        <p:spPr>
          <a:xfrm>
            <a:off x="0" y="1115122"/>
            <a:ext cx="4070194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spcAft>
                <a:spcPts val="800"/>
              </a:spcAft>
            </a:pPr>
            <a:r>
              <a:rPr lang="en-US" sz="28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Calibri" panose="020F0502020204030204" pitchFamily="34" charset="0"/>
              </a:rPr>
              <a:t>Q4) Describe the type(s) of relationship(s) between STORE and REGION.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C9FAAE-9059-DE45-4000-AC0083E61FA3}"/>
              </a:ext>
            </a:extLst>
          </p:cNvPr>
          <p:cNvSpPr txBox="1"/>
          <p:nvPr/>
        </p:nvSpPr>
        <p:spPr>
          <a:xfrm>
            <a:off x="0" y="3886015"/>
            <a:ext cx="4070194" cy="2607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REGION 1 : M STORE</a:t>
            </a:r>
            <a:b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One region has many stores; each store belongs to exactly one region.</a:t>
            </a:r>
            <a:endParaRPr lang="en-AU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3164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3B7825A4-FF02-6935-1D7B-E0A1D19A8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1EA7FBF-B179-1462-E16E-32D0E99E99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0"/>
            <a:ext cx="7849590" cy="591015"/>
          </a:xfrm>
        </p:spPr>
        <p:txBody>
          <a:bodyPr>
            <a:noAutofit/>
          </a:bodyPr>
          <a:lstStyle/>
          <a:p>
            <a:r>
              <a:rPr lang="en-US" sz="3200" dirty="0"/>
              <a:t>Review and Feedback Tutorial Week 1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 descr="feedback Icon vector illustration , business 8325189 Vector Art at Vecteezy">
            <a:extLst>
              <a:ext uri="{FF2B5EF4-FFF2-40B4-BE49-F238E27FC236}">
                <a16:creationId xmlns:a16="http://schemas.microsoft.com/office/drawing/2014/main" id="{1264099F-4B8D-84ED-7DEA-60FE2CD6F0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4278" y="1429139"/>
            <a:ext cx="3999722" cy="3999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752FEB8-80BA-EB27-C7F7-2B9F08F788A7}"/>
              </a:ext>
            </a:extLst>
          </p:cNvPr>
          <p:cNvSpPr txBox="1"/>
          <p:nvPr/>
        </p:nvSpPr>
        <p:spPr>
          <a:xfrm>
            <a:off x="0" y="1429139"/>
            <a:ext cx="5324168" cy="454983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Tutorial Week 1 submissions will be reviewed this week and next week.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Common strengths and errors will be identified to support your learning.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Results and feedback will be published after the review.</a:t>
            </a:r>
            <a:endParaRPr lang="en-AU" sz="2800" dirty="0">
              <a:latin typeface="Calibir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8832781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387AAA-CDD7-14D9-F3F2-7750965A9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>
            <a:extLst>
              <a:ext uri="{FF2B5EF4-FFF2-40B4-BE49-F238E27FC236}">
                <a16:creationId xmlns:a16="http://schemas.microsoft.com/office/drawing/2014/main" id="{5669F4BD-7260-8C96-81B2-B35F9DA1CF5A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76" rIns="0" bIns="0" rtlCol="0">
            <a:spAutoFit/>
          </a:bodyPr>
          <a:lstStyle/>
          <a:p>
            <a:pPr marL="28575" defTabSz="685800">
              <a:spcBef>
                <a:spcPts val="4"/>
              </a:spcBef>
            </a:pPr>
            <a:fld id="{81D60167-4931-47E6-BA6A-407CBD079E47}" type="slidenum">
              <a:rPr dirty="0"/>
              <a:pPr marL="28575" defTabSz="685800">
                <a:spcBef>
                  <a:spcPts val="4"/>
                </a:spcBef>
              </a:pPr>
              <a:t>89</a:t>
            </a:fld>
            <a:r>
              <a:rPr spc="176" dirty="0"/>
              <a:t> </a:t>
            </a:r>
            <a:r>
              <a:rPr dirty="0"/>
              <a:t>|</a:t>
            </a:r>
            <a:r>
              <a:rPr spc="300" dirty="0"/>
              <a:t> </a:t>
            </a:r>
            <a:r>
              <a:rPr dirty="0"/>
              <a:t>Faculty</a:t>
            </a:r>
            <a:r>
              <a:rPr spc="-11" dirty="0"/>
              <a:t> </a:t>
            </a:r>
            <a:r>
              <a:rPr dirty="0"/>
              <a:t>of</a:t>
            </a:r>
            <a:r>
              <a:rPr spc="-15" dirty="0"/>
              <a:t> </a:t>
            </a:r>
            <a:r>
              <a:rPr dirty="0"/>
              <a:t>Business</a:t>
            </a:r>
            <a:r>
              <a:rPr spc="-15" dirty="0"/>
              <a:t> </a:t>
            </a:r>
            <a:r>
              <a:rPr dirty="0"/>
              <a:t>and</a:t>
            </a:r>
            <a:r>
              <a:rPr spc="-15" dirty="0"/>
              <a:t> </a:t>
            </a:r>
            <a:r>
              <a:rPr dirty="0"/>
              <a:t>Law</a:t>
            </a:r>
            <a:r>
              <a:rPr spc="-11" dirty="0"/>
              <a:t> </a:t>
            </a:r>
            <a:r>
              <a:rPr dirty="0"/>
              <a:t>|</a:t>
            </a:r>
            <a:r>
              <a:rPr spc="-11" dirty="0"/>
              <a:t> </a:t>
            </a:r>
            <a:r>
              <a:rPr dirty="0"/>
              <a:t>Peter</a:t>
            </a:r>
            <a:r>
              <a:rPr spc="-8" dirty="0"/>
              <a:t> </a:t>
            </a:r>
            <a:r>
              <a:rPr dirty="0"/>
              <a:t>Faber</a:t>
            </a:r>
            <a:r>
              <a:rPr spc="-11" dirty="0"/>
              <a:t> </a:t>
            </a:r>
            <a:r>
              <a:rPr dirty="0"/>
              <a:t>Business</a:t>
            </a:r>
            <a:r>
              <a:rPr spc="-11" dirty="0"/>
              <a:t> </a:t>
            </a:r>
            <a:r>
              <a:rPr spc="-8" dirty="0"/>
              <a:t>School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C5375A7-EFFE-CBBB-27C1-753C2CBECA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11955"/>
            <a:ext cx="9144000" cy="32340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prstClr val="black"/>
                </a:solidFill>
                <a:latin typeface="Calibri"/>
              </a:rPr>
              <a:t>These guidelines are designed to support your learning and help you apply necessary techniques effectively. Please do the </a:t>
            </a:r>
            <a:r>
              <a:rPr lang="en-US" sz="2800" dirty="0">
                <a:solidFill>
                  <a:prstClr val="black"/>
                </a:solidFill>
                <a:highlight>
                  <a:srgbClr val="FFFF00"/>
                </a:highlight>
                <a:latin typeface="Calibri"/>
              </a:rPr>
              <a:t>remaining parts/questions</a:t>
            </a:r>
            <a:r>
              <a:rPr lang="en-US" sz="2800" dirty="0">
                <a:solidFill>
                  <a:prstClr val="black"/>
                </a:solidFill>
                <a:latin typeface="Calibri"/>
              </a:rPr>
              <a:t> and follow the instructions based on </a:t>
            </a:r>
            <a:r>
              <a:rPr lang="en-US" sz="2800" dirty="0">
                <a:solidFill>
                  <a:prstClr val="black"/>
                </a:solidFill>
                <a:highlight>
                  <a:srgbClr val="FFFF00"/>
                </a:highlight>
                <a:latin typeface="Calibri"/>
              </a:rPr>
              <a:t>Canvas</a:t>
            </a:r>
            <a:r>
              <a:rPr lang="en-US" sz="2800" dirty="0">
                <a:solidFill>
                  <a:prstClr val="black"/>
                </a:solidFill>
                <a:latin typeface="Calibri"/>
              </a:rPr>
              <a:t>. If you have any questions, feel free to ask—I’m happy to help!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2EA3DD23-80EE-0261-9214-F4FC0F567A4A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7471317" cy="994503"/>
          </a:xfrm>
          <a:prstGeom prst="rect">
            <a:avLst/>
          </a:prstGeom>
          <a:noFill/>
        </p:spPr>
        <p:txBody>
          <a:bodyPr vert="horz" wrap="square" lIns="0" tIns="9525" rIns="0" bIns="0" rtlCol="0">
            <a:spAutoFit/>
          </a:bodyPr>
          <a:lstStyle>
            <a:lvl1pPr>
              <a:defRPr sz="2900" b="1" i="0">
                <a:solidFill>
                  <a:srgbClr val="3D3935"/>
                </a:solidFill>
                <a:latin typeface="Arial"/>
                <a:ea typeface="+mj-ea"/>
                <a:cs typeface="Arial"/>
              </a:defRPr>
            </a:lvl1pPr>
          </a:lstStyle>
          <a:p>
            <a:pPr marL="9525" defTabSz="685800">
              <a:spcBef>
                <a:spcPts val="75"/>
              </a:spcBef>
            </a:pPr>
            <a:r>
              <a:rPr lang="en-US" sz="3200" kern="0" spc="-8" dirty="0"/>
              <a:t>Submission of Tutorials &amp; Assessments</a:t>
            </a:r>
          </a:p>
        </p:txBody>
      </p:sp>
    </p:spTree>
    <p:extLst>
      <p:ext uri="{BB962C8B-B14F-4D97-AF65-F5344CB8AC3E}">
        <p14:creationId xmlns:p14="http://schemas.microsoft.com/office/powerpoint/2010/main" val="2918983775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8FB26E-E4E6-9277-F546-F5A9A65F4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AF2B1819-398A-6A16-1BAD-7C6C9AEEF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77517"/>
          </a:xfrm>
        </p:spPr>
        <p:txBody>
          <a:bodyPr>
            <a:noAutofit/>
          </a:bodyPr>
          <a:lstStyle/>
          <a:p>
            <a:r>
              <a:rPr lang="en-US" sz="35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Let’s Answer Your Questions</a:t>
            </a:r>
            <a:endParaRPr lang="en-AU" sz="35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28" name="Picture 4" descr="Answering Questions In Complete Sentences">
            <a:extLst>
              <a:ext uri="{FF2B5EF4-FFF2-40B4-BE49-F238E27FC236}">
                <a16:creationId xmlns:a16="http://schemas.microsoft.com/office/drawing/2014/main" id="{F3F39DD1-1664-A2BF-97E5-6BA3145EE9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9244" y="1340457"/>
            <a:ext cx="3385511" cy="2115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F84D911-33A5-B864-56FB-887C30BDEF0D}"/>
              </a:ext>
            </a:extLst>
          </p:cNvPr>
          <p:cNvSpPr txBox="1"/>
          <p:nvPr/>
        </p:nvSpPr>
        <p:spPr>
          <a:xfrm>
            <a:off x="16727" y="3429000"/>
            <a:ext cx="9144000" cy="3257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5763" marR="0" lvl="0" indent="-385763" algn="l" defTabSz="6858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Live during class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– Ask directly during sessions.</a:t>
            </a:r>
          </a:p>
          <a:p>
            <a:pPr marL="385763" marR="0" lvl="0" indent="-385763" algn="l" defTabSz="6858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Canvas Inbox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– For structured academic queries.</a:t>
            </a:r>
          </a:p>
          <a:p>
            <a:pPr marL="385763" marR="0" lvl="0" indent="-385763" algn="l" defTabSz="6858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Email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– For formal communications or attachments.</a:t>
            </a:r>
          </a:p>
          <a:p>
            <a:pPr marL="385763" marR="0" lvl="0" indent="-385763" algn="l" defTabSz="6858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Canvas Discussion Forum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– Everyone can see and learn from your question.</a:t>
            </a:r>
          </a:p>
        </p:txBody>
      </p:sp>
    </p:spTree>
    <p:extLst>
      <p:ext uri="{BB962C8B-B14F-4D97-AF65-F5344CB8AC3E}">
        <p14:creationId xmlns:p14="http://schemas.microsoft.com/office/powerpoint/2010/main" val="2475363991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C101F-C65F-1D84-0824-C2471518F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Tying a bow in an arrangment of presents">
            <a:extLst>
              <a:ext uri="{FF2B5EF4-FFF2-40B4-BE49-F238E27FC236}">
                <a16:creationId xmlns:a16="http://schemas.microsoft.com/office/drawing/2014/main" id="{E6D721DE-1453-5AA6-9447-209B227E212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081" r="16168" b="-2"/>
          <a:stretch/>
        </p:blipFill>
        <p:spPr>
          <a:xfrm>
            <a:off x="206930" y="1420349"/>
            <a:ext cx="4306642" cy="4306642"/>
          </a:xfrm>
          <a:custGeom>
            <a:avLst/>
            <a:gdLst/>
            <a:ahLst/>
            <a:cxnLst/>
            <a:rect l="l" t="t" r="r" b="b"/>
            <a:pathLst>
              <a:path w="1838528" h="1838528">
                <a:moveTo>
                  <a:pt x="919264" y="0"/>
                </a:moveTo>
                <a:cubicBezTo>
                  <a:pt x="1426959" y="0"/>
                  <a:pt x="1838528" y="411569"/>
                  <a:pt x="1838528" y="919264"/>
                </a:cubicBezTo>
                <a:cubicBezTo>
                  <a:pt x="1838528" y="1426959"/>
                  <a:pt x="1426959" y="1838528"/>
                  <a:pt x="919264" y="1838528"/>
                </a:cubicBezTo>
                <a:cubicBezTo>
                  <a:pt x="411569" y="1838528"/>
                  <a:pt x="0" y="1426959"/>
                  <a:pt x="0" y="919264"/>
                </a:cubicBezTo>
                <a:cubicBezTo>
                  <a:pt x="0" y="411569"/>
                  <a:pt x="411569" y="0"/>
                  <a:pt x="919264" y="0"/>
                </a:cubicBezTo>
                <a:close/>
              </a:path>
            </a:pathLst>
          </a:cu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4845029-98A4-9C92-04B4-320B6AFDD1B8}"/>
              </a:ext>
            </a:extLst>
          </p:cNvPr>
          <p:cNvSpPr txBox="1"/>
          <p:nvPr/>
        </p:nvSpPr>
        <p:spPr>
          <a:xfrm>
            <a:off x="4630429" y="1594466"/>
            <a:ext cx="4513571" cy="4543576"/>
          </a:xfrm>
          <a:prstGeom prst="rect">
            <a:avLst/>
          </a:prstGeom>
        </p:spPr>
        <p:txBody>
          <a:bodyPr vert="horz" lIns="68580" tIns="34290" rIns="68580" bIns="34290" rtlCol="0" anchor="t">
            <a:noAutofit/>
          </a:bodyPr>
          <a:lstStyle/>
          <a:p>
            <a:pPr lvl="0" defTabSz="685800">
              <a:lnSpc>
                <a:spcPct val="150000"/>
              </a:lnSpc>
              <a:spcAft>
                <a:spcPts val="450"/>
              </a:spcAft>
              <a:defRPr/>
            </a:pPr>
            <a:r>
              <a:rPr lang="en-US" sz="2400" spc="-20" dirty="0">
                <a:latin typeface="Calibri" panose="020F0502020204030204" pitchFamily="34" charset="0"/>
                <a:cs typeface="Calibri" panose="020F0502020204030204" pitchFamily="34" charset="0"/>
              </a:rPr>
              <a:t>Happy Learning and Bright Futures Ahead!</a:t>
            </a:r>
          </a:p>
          <a:p>
            <a:pPr lvl="0" defTabSz="685800">
              <a:lnSpc>
                <a:spcPct val="150000"/>
              </a:lnSpc>
              <a:spcAft>
                <a:spcPts val="450"/>
              </a:spcAft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Stay Connected: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hlinkClick r:id="rId3"/>
              </a:rPr>
              <a:t>linkedin.com/in/farshid-keivanian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hlinkClick r:id="rId4"/>
              </a:rPr>
              <a:t>github.com/FarshidKeivanian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0" marR="0" lvl="0" indent="-17145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Education is the most powerful weapon you can use to change the world.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— Nelson Mandela</a:t>
            </a:r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92EB8C87-8395-5CF8-FB02-8B57ECDD50A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-285031"/>
            <a:ext cx="6920865" cy="800732"/>
          </a:xfrm>
          <a:prstGeom prst="rect">
            <a:avLst/>
          </a:prstGeom>
        </p:spPr>
        <p:txBody>
          <a:bodyPr vert="horz" wrap="square" lIns="0" tIns="259588" rIns="0" bIns="0" rtlCol="0">
            <a:spAutoFit/>
          </a:bodyPr>
          <a:lstStyle/>
          <a:p>
            <a:pPr marL="123825">
              <a:lnSpc>
                <a:spcPct val="100000"/>
              </a:lnSpc>
              <a:spcBef>
                <a:spcPts val="100"/>
              </a:spcBef>
            </a:pPr>
            <a:r>
              <a:rPr lang="en-US" sz="3500" spc="-20" dirty="0">
                <a:latin typeface="Calibri" panose="020F0502020204030204" pitchFamily="34" charset="0"/>
                <a:cs typeface="Calibri" panose="020F0502020204030204" pitchFamily="34" charset="0"/>
              </a:rPr>
              <a:t>Thank You</a:t>
            </a:r>
            <a:endParaRPr sz="3500" spc="-2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215110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ACU Presentation">
  <a:themeElements>
    <a:clrScheme name="ACUColourScheme">
      <a:dk1>
        <a:srgbClr val="3C1053"/>
      </a:dk1>
      <a:lt1>
        <a:srgbClr val="FFFFFF"/>
      </a:lt1>
      <a:dk2>
        <a:srgbClr val="3C1053"/>
      </a:dk2>
      <a:lt2>
        <a:srgbClr val="E8E3DB"/>
      </a:lt2>
      <a:accent1>
        <a:srgbClr val="F2120C"/>
      </a:accent1>
      <a:accent2>
        <a:srgbClr val="3D3935"/>
      </a:accent2>
      <a:accent3>
        <a:srgbClr val="8C857B"/>
      </a:accent3>
      <a:accent4>
        <a:srgbClr val="3C1053"/>
      </a:accent4>
      <a:accent5>
        <a:srgbClr val="E8E3DB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dirty="0" err="1" smtClean="0">
            <a:solidFill>
              <a:srgbClr val="3D3935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_Template_4_3_V2.potx" id="{F3B38964-EE74-4E1D-A3FE-21D8EB788CBF}" vid="{2C9D612A-0DB5-43BD-9B9F-0A9FAAF24DC0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CDC8B17FFF79F46AB892AACDE15F09D" ma:contentTypeVersion="1" ma:contentTypeDescription="Create a new document." ma:contentTypeScope="" ma:versionID="a5ba99c893f738a110fead59b8aec54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6c96ba11fc0b0f11135d6dc28d8a2ff0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19D6D79-91EF-4340-8C3D-E484566A2E2F}">
  <ds:schemaRefs>
    <ds:schemaRef ds:uri="http://purl.org/dc/dcmitype/"/>
    <ds:schemaRef ds:uri="http://schemas.microsoft.com/office/2006/documentManagement/types"/>
    <ds:schemaRef ds:uri="http://www.w3.org/XML/1998/namespace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05866CA7-3031-48D4-BC56-8127880CD39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360E499-BA5F-475B-94B4-A8CCAB27634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PPT_Template_4_3_V2.potx</Template>
  <TotalTime>2628</TotalTime>
  <Words>4823</Words>
  <Application>Microsoft Office PowerPoint</Application>
  <PresentationFormat>On-screen Show (4:3)</PresentationFormat>
  <Paragraphs>1189</Paragraphs>
  <Slides>91</Slides>
  <Notes>86</Notes>
  <HiddenSlides>0</HiddenSlides>
  <MMClips>1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91</vt:i4>
      </vt:variant>
    </vt:vector>
  </HeadingPairs>
  <TitlesOfParts>
    <vt:vector size="97" baseType="lpstr">
      <vt:lpstr>Arial</vt:lpstr>
      <vt:lpstr>Calibir</vt:lpstr>
      <vt:lpstr>Calibri</vt:lpstr>
      <vt:lpstr>ACU Presentation</vt:lpstr>
      <vt:lpstr>1_Office Theme</vt:lpstr>
      <vt:lpstr>think-cell Slide</vt:lpstr>
      <vt:lpstr>Database Modelling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Using Microsoft Visio for ERD Diagrams</vt:lpstr>
      <vt:lpstr>Research Discussion Questions &amp; Sample Responses</vt:lpstr>
      <vt:lpstr>Problem-Solving Activity – Relationships (5 minutes)</vt:lpstr>
      <vt:lpstr>Problem-Solving Activity – Relationships (5 minutes)</vt:lpstr>
      <vt:lpstr>Problem-Solving Activity – Relationships (5 minutes)</vt:lpstr>
      <vt:lpstr>Problem-Solving Activity – Relationships (5 minutes)</vt:lpstr>
      <vt:lpstr>Problem-Solving Activity – Relationships (5 minutes)</vt:lpstr>
      <vt:lpstr>Problem-Solving Activity – Relationships (5 minutes)</vt:lpstr>
      <vt:lpstr>Problem-Solving Activity – Relationships (5 minutes)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Let’s Answer Your Questions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ACU Presentation</dc:title>
  <dc:creator>Husnen Rupani;Simone.Byrnes@acu.edu.au</dc:creator>
  <cp:lastModifiedBy>Farshid Keivanian</cp:lastModifiedBy>
  <cp:revision>359</cp:revision>
  <cp:lastPrinted>2017-08-03T04:07:41Z</cp:lastPrinted>
  <dcterms:created xsi:type="dcterms:W3CDTF">2017-05-11T09:33:32Z</dcterms:created>
  <dcterms:modified xsi:type="dcterms:W3CDTF">2026-03-07T10:46:10Z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0x0101007CDC8B17FFF79F46AB892AACDE15F09D</vt:lpwstr>
  </property>
</Properties>
</file>