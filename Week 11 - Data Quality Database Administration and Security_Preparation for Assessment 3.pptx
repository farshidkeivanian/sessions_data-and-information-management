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01"/>
  </p:notesMasterIdLst>
  <p:sldIdLst>
    <p:sldId id="421" r:id="rId5"/>
    <p:sldId id="2984" r:id="rId6"/>
    <p:sldId id="3317" r:id="rId7"/>
    <p:sldId id="3216" r:id="rId8"/>
    <p:sldId id="3217" r:id="rId9"/>
    <p:sldId id="3235" r:id="rId10"/>
    <p:sldId id="3218" r:id="rId11"/>
    <p:sldId id="3221" r:id="rId12"/>
    <p:sldId id="3220" r:id="rId13"/>
    <p:sldId id="3222" r:id="rId14"/>
    <p:sldId id="3223" r:id="rId15"/>
    <p:sldId id="3237" r:id="rId16"/>
    <p:sldId id="3238" r:id="rId17"/>
    <p:sldId id="3239" r:id="rId18"/>
    <p:sldId id="3240" r:id="rId19"/>
    <p:sldId id="3225" r:id="rId20"/>
    <p:sldId id="3226" r:id="rId21"/>
    <p:sldId id="3232" r:id="rId22"/>
    <p:sldId id="3236" r:id="rId23"/>
    <p:sldId id="3241" r:id="rId24"/>
    <p:sldId id="3242" r:id="rId25"/>
    <p:sldId id="3243" r:id="rId26"/>
    <p:sldId id="3244" r:id="rId27"/>
    <p:sldId id="3245" r:id="rId28"/>
    <p:sldId id="3246" r:id="rId29"/>
    <p:sldId id="3247" r:id="rId30"/>
    <p:sldId id="3248" r:id="rId31"/>
    <p:sldId id="3249" r:id="rId32"/>
    <p:sldId id="3250" r:id="rId33"/>
    <p:sldId id="3251" r:id="rId34"/>
    <p:sldId id="3252" r:id="rId35"/>
    <p:sldId id="3253" r:id="rId36"/>
    <p:sldId id="3254" r:id="rId37"/>
    <p:sldId id="3260" r:id="rId38"/>
    <p:sldId id="3261" r:id="rId39"/>
    <p:sldId id="3255" r:id="rId40"/>
    <p:sldId id="3257" r:id="rId41"/>
    <p:sldId id="3258" r:id="rId42"/>
    <p:sldId id="3256" r:id="rId43"/>
    <p:sldId id="3262" r:id="rId44"/>
    <p:sldId id="3259" r:id="rId45"/>
    <p:sldId id="3263" r:id="rId46"/>
    <p:sldId id="3264" r:id="rId47"/>
    <p:sldId id="3265" r:id="rId48"/>
    <p:sldId id="3266" r:id="rId49"/>
    <p:sldId id="3267" r:id="rId50"/>
    <p:sldId id="3268" r:id="rId51"/>
    <p:sldId id="3269" r:id="rId52"/>
    <p:sldId id="3270" r:id="rId53"/>
    <p:sldId id="3271" r:id="rId54"/>
    <p:sldId id="3272" r:id="rId55"/>
    <p:sldId id="3273" r:id="rId56"/>
    <p:sldId id="3274" r:id="rId57"/>
    <p:sldId id="3275" r:id="rId58"/>
    <p:sldId id="3276" r:id="rId59"/>
    <p:sldId id="3277" r:id="rId60"/>
    <p:sldId id="3278" r:id="rId61"/>
    <p:sldId id="3279" r:id="rId62"/>
    <p:sldId id="3280" r:id="rId63"/>
    <p:sldId id="3281" r:id="rId64"/>
    <p:sldId id="3282" r:id="rId65"/>
    <p:sldId id="3283" r:id="rId66"/>
    <p:sldId id="3284" r:id="rId67"/>
    <p:sldId id="3285" r:id="rId68"/>
    <p:sldId id="3286" r:id="rId69"/>
    <p:sldId id="3287" r:id="rId70"/>
    <p:sldId id="3288" r:id="rId71"/>
    <p:sldId id="3289" r:id="rId72"/>
    <p:sldId id="3290" r:id="rId73"/>
    <p:sldId id="3301" r:id="rId74"/>
    <p:sldId id="3302" r:id="rId75"/>
    <p:sldId id="3303" r:id="rId76"/>
    <p:sldId id="3304" r:id="rId77"/>
    <p:sldId id="3305" r:id="rId78"/>
    <p:sldId id="3306" r:id="rId79"/>
    <p:sldId id="3307" r:id="rId80"/>
    <p:sldId id="3308" r:id="rId81"/>
    <p:sldId id="3309" r:id="rId82"/>
    <p:sldId id="3310" r:id="rId83"/>
    <p:sldId id="3311" r:id="rId84"/>
    <p:sldId id="3312" r:id="rId85"/>
    <p:sldId id="3313" r:id="rId86"/>
    <p:sldId id="3314" r:id="rId87"/>
    <p:sldId id="3315" r:id="rId88"/>
    <p:sldId id="3316" r:id="rId89"/>
    <p:sldId id="3291" r:id="rId90"/>
    <p:sldId id="3292" r:id="rId91"/>
    <p:sldId id="3293" r:id="rId92"/>
    <p:sldId id="3294" r:id="rId93"/>
    <p:sldId id="3295" r:id="rId94"/>
    <p:sldId id="3296" r:id="rId95"/>
    <p:sldId id="3297" r:id="rId96"/>
    <p:sldId id="3298" r:id="rId97"/>
    <p:sldId id="3299" r:id="rId98"/>
    <p:sldId id="3300" r:id="rId99"/>
    <p:sldId id="749" r:id="rId100"/>
  </p:sldIdLst>
  <p:sldSz cx="9144000" cy="6858000" type="screen4x3"/>
  <p:notesSz cx="6805613" cy="9939338"/>
  <p:custDataLst>
    <p:tags r:id="rId10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8C857B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4694"/>
  </p:normalViewPr>
  <p:slideViewPr>
    <p:cSldViewPr snapToGrid="0">
      <p:cViewPr varScale="1">
        <p:scale>
          <a:sx n="70" d="100"/>
          <a:sy n="70" d="100"/>
        </p:scale>
        <p:origin x="968" y="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tags" Target="tags/tag1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6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19/10/2025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8A5C1-1CB9-4F08-9AE0-90C38B1EBB9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80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4DDECE2-2C03-6D0D-7451-4AD87CF2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746AA02-44F0-E41C-8C34-0C7E413EE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C6DF3DA-5601-6BB4-ADB8-0C2E64FC1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492648-6074-1426-5629-8D50B61CB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04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0165CFB-8541-91EB-4135-A06C815D4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790794-CB67-1935-310B-A353F84E6B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ABF011-E06E-3BB7-14A2-DF68BAAAD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91A767E-BB00-08F1-D12A-246C684D4E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602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DE29AD8-8665-8516-7B45-F502BFFD3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5C1F099-CAA9-B40F-3352-33410D5BDA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7F9161-3A3F-7299-4957-51DBAB7451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44FD42-0390-34FD-60C5-CD0121BD99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4384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948EDD-3930-32A6-49A0-3B166DF7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AA162D6-37F9-830F-3A79-894A2D96EA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BCA56E-9FA7-42BD-11B6-92CF0E360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0B4E6A4-2DE3-DFE3-2F9D-33864E1A14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1259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D2B9AFF-0BE1-7942-0FF9-74B3E3ACC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20DF84E-D626-2F5F-ECD8-60E5C3CDC6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22F8C46-B1D8-A124-FE6B-6D2D44AE91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7703118-CEBE-206F-8D7D-47EAE79C19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5849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118C6AC-E6CF-2258-05BD-C41E9F3AD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E3315A-C06C-E0DF-6795-FF56197006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FDD90CD-BDB0-F0A3-33D7-233331EFC7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629639-3BCF-F645-2762-4D0A7CFFA0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3464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EEF2AC6-6526-A8A5-72F7-6B17A9ECA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D54249-B18C-99AD-18DC-53F5C444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A6B1452-220D-D9E6-939F-FFCD3472BC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38C17B-8A35-0A97-E435-D6BF1BDD4F6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75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113A40B-4F6E-6BFF-7E74-D3A2E1EF7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CE2C24F-6128-855D-6182-3717D364DE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D00E9A5-C2B4-5DF7-CB7C-B865D4303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E98F727-F7B8-2012-726F-655B09A972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4127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AC19188-2E81-D839-B107-222359FD9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6C38F92-E628-888A-A1D3-8590B62A8E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BFB6351-FF59-4CB0-F6D7-F47B7C0417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8DA608-634D-8200-EF60-F6D967BA70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144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80C0E0D-7184-5DCF-D613-6E7817EC2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5FE6759-E896-5587-C790-BD601DBC8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B38F90-ECCF-8AAA-6A43-5BFD298317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D9013F6-9944-21F2-9ED3-91DF2AA370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40115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1D2B5B4-E1EC-239C-5149-D8E1332C8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A2C0B2-DD85-1E1F-1285-AB5EC0F3A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5655C02-EAC6-3FC4-78FC-F21F3B4D7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CA995C2-AB48-1FD4-3DF7-E1D5ED2CD4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849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CA7588D-01A9-C8B7-FBED-F7D9B4492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8094C41-CD79-8504-4E70-B194CCDE3B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3DB776-EECE-E583-E610-1534DCB259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8B89B49-2987-701F-CC47-DDA7DA2761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00922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2D5FA0-4C13-77A4-1B52-377BCAC35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2481FC1-5AD8-1D78-4BFA-E25E79B8B6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226CCD-A111-770D-5D4A-9199176EBD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DC2C93-48F6-9A36-DBBF-DDFEC4DA5D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3275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4EBED32-350F-B433-AC59-B86F987EE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A38B43-0B20-5415-F360-8C31F2F7FD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F45B4B-4EDD-7CAB-131E-52B7124500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13F307-56D7-B8B2-FCE9-9C59FD44E6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85385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6D39294-2EC7-C284-B73E-DD3336033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7A79FE1-981D-36DC-37A7-C0E420660E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4B75DFC-EBC5-AFD0-BF7B-D454CFAF62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DE3E80-1ED8-CF4E-AD41-AACD16D2C2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81018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FDE5CF5-2D89-4E9A-F1A0-8442CD894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7610E13-5BF1-131C-11BF-8E8A2C0711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768FCD-DEBE-3CC0-A44D-16B3E7B29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2EAE630-298F-6C79-6914-9963FFCC03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503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9ABDF6A-77D5-6AE9-730A-A5E06366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B78BB45-7DFF-5D9E-5E15-7A73500974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8CCB7F2-F8FC-07BE-290A-AF85D6B60C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E3B04A8-DE79-BDDF-07A2-B3045CF0EA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4342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0FBB50-8149-04F9-3997-FC3F54180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F10B1BB-41EC-9A6E-C7B1-ED58F286E5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90CAE50-EE94-5466-34E2-2EC7293A75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3563169-F886-07D1-8265-0F4419E9834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41313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B808DED-F78A-E414-E9E6-637B40551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90632F0-A651-6469-1762-90AE5932C5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63BDDC-B8B0-0B69-CCCB-57513439E7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6D7E9E9-17A3-A932-CFAF-51EB752C328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46982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688C831-FA62-2D89-A1E2-96924B629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4E2F28-88F1-480A-A546-5DDF8823E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FF6516C-ADD5-223C-F279-653DFE4BBC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A668D8-20F2-49AA-7837-7A7C0974BB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60619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08A0DAA-41D7-4448-9C64-589791534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2B22F68-E4AF-CFA2-F121-3C4FBE68DC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AD610E7-4CCC-1E66-22F9-305ECE5E0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F77291A-6BFD-02DE-9BC2-8D403D1D81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91586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4A8EC4F-DA6E-C506-8277-59415A378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22C083-8F93-EC0D-5CE4-7E1CD34DD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416DF07-1CD7-F618-C364-00329ED1E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FC23F3-D93B-55AF-86DB-9260113F33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01391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61F9A9-1895-9EB0-1FD6-34D1A9A79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5F34BCD-4454-32A1-2D6D-54DAD4B0B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3DDDAAC-BCF7-71E6-D864-82B3CA6AAB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96A3EF8-0B9A-3888-3BF8-E5F616476C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963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FBEC3C-0B85-7DE7-C6BC-07A05CBA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C38978-31AB-A2CB-3EDE-527A4F24CF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267BDA4-901C-DDF6-D10C-AAD36FD54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6458384-9922-B703-D413-B871C3ADBD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28031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D5D7B8-6265-56D1-F2C8-9E2B33FE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36F6AA9-DA29-504A-D9E1-348EE1E796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AE26E14-B24F-0A7D-6C27-1A9243A116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FC655D9-8A8F-4996-0D83-3A197586F4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7448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2B99A9-281D-EFFD-9725-6A28647A8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6B7A666-0464-BE2E-0B54-4835072022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0E7619-C716-23D3-7A47-C86D7DD359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06A595E-214D-9B80-9620-6010BB670F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7909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B25E68-CF5E-FC06-57EF-50D3B3C2F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C258747-E691-F1EE-84B3-0A3FD61297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473FE55-D9A5-7449-B7BA-F228229A0D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6D55445-54DC-B311-2793-5503506E72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9426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8E3324-BDDF-20DE-840B-646772D7C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225AD7-D03E-DB43-B5A0-9AA789C3D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16A911F-70D9-7712-0504-7DACD130E6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084F4E6-5D48-B59D-AFFD-70BB57B648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5608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ED7D627-B97D-AADF-157F-F629B45EB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2E7BD4E-3F13-BA7A-3B78-6CADC37D2D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D71F9C-4EE5-ABD7-CF06-0154FA268E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09605A-5DB3-543B-4143-96371A9A0D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3385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F58945-A6E1-F50D-3D35-9156AAB1C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CBBC2F8-60FB-1E38-3B41-3CD1785EC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641E54C-6284-3C5D-BC3C-87B25E4BA1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0A8E4AA-0EDD-BDB8-AC3E-BD6F293987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4891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539E07-BD82-7457-E320-3FAAA279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1BA6BDC-02A5-610C-4530-1846398E1E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3739510-A0A4-87E7-8992-086FF6D926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3129CA5-952E-972E-45A6-2546211942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09339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734B9B5-40A3-3C83-0195-EBB9611B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258712F-81DD-F331-AFC9-A699222E5E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E85A2A9-9694-8DE3-51E5-C00F288E4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491E667-A4E3-706C-A28E-C84381A112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38293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364D478-CBCD-5038-4E7F-446088C0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7A0204B-0081-1F26-79A2-21643C2F8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5679BFD-1CC1-1790-F1F5-4E724FBA9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23011A-DFB7-D26E-C59F-787CD5F5A95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476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DB5E12F-E00C-FA38-E7C5-1D7457B4A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347A556-945D-D136-BADA-F9A812D6B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C02CE6-81AD-B19A-EB48-5C52C26108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AD3A829-4EC9-CB3E-7D68-2E702EF447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9845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5C829D-F952-29A9-2521-B096B5AE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D933E5D-3DB8-B30B-335D-4D3FE0263C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2E5CCE-2BDC-8DA8-C7D2-5949377C6C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3A600E-BAB1-AC18-A918-04A9F15981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55014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93CED0-8B64-ADC2-202E-F535B50B1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1FC6060-1699-1A36-A7B3-DF2DE53BB6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749343F-95B4-891C-5B81-129003328E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FFFDF6C-769F-EFE2-8A63-70A953BBCC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0948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250EFB-E22B-9AF5-D2DD-D92ECA12C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43B838-CE8E-56C0-7693-7E2D947C90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96326BA-454D-4D9F-2911-32DDAD9645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0D8D3D-0025-8C58-D1FF-D3E7BFE0AB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0913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3DD8FB-DAF2-E1DE-72AF-7AF8104E5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E8FB361-C9C8-BDF8-521C-F37735CC1E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4FA9C7-1ECA-1437-6664-E9CB1923E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54F8BA-8767-358D-452B-FFF9F5B2CE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50147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A15A8F-ED10-07DE-E291-0F35B8F94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736139-9532-D427-6687-95C2F53FAC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90EB30-559E-A00D-D035-9319F9A990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DF5AB7-3DDD-07F9-EE2D-C9617D409B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13277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8F6A2A-958D-B2C7-5427-BE8CBA1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FA52E8-2A4B-3003-2FE9-AE223E39C1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6C07CC-459E-ADC9-14F6-13638C6E9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371DE7-F433-7DAE-CBC5-DA71E6438A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80361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128BF35-D695-F811-26AC-F477A0272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6AEEF17-08B3-C427-A9A8-77C640663A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5BBE4F5-5ACF-5C47-7806-C5F432CA5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134D15E-4880-FA1F-07A9-2753624B49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81767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B8A2124-70EE-6AD6-E82C-4ACEFFDDE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25AFA2-9BDB-E2D6-EEF8-474DCF0BC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2971D82-65C4-0F67-07F9-5B5455981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2A0BE90-F3CD-A837-788D-99092177AA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156573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5D5C5B-3058-316E-4D40-3839C6696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C7976A5-F36E-AB7B-578F-490984518A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36DA19E-EE4D-2A5F-DEF4-A9F23B96AC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5990411-2892-94FB-A285-3ABE4BCCA9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4775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6F8C8E9-5F41-CA28-6259-7C837BDAA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8ADE9CD-5B1F-F492-FEAA-380626D4B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5F851A-3DAD-9274-9003-B44AF0057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9DDA7DC-4B25-302F-912D-56E8547425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73453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0B1C4A5-85C7-B858-2EBE-3FCA0B8A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D63211E-470D-DC12-74CA-A59D257920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3FF9C4-B567-DE9A-E451-E102B851E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3EC0A52-CF69-B235-48E1-571266586F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15750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BB5331E-5F40-6DDF-0347-D94433B7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2C6DAE2-2FD2-97AE-82A7-E886AA32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CAEDD1-CE08-6D3E-947A-226FC23573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89E2F5-9054-BDCF-4788-CED9EEFDD4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84965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2F5988B-5FE6-93CD-EBEA-843766860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B693D4A-19DB-65DC-D369-9D80628A9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24BF208-9304-3281-B833-3863634DED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ACF3BF5-9431-59B6-2677-44105F91CA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97854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8ABB176-F709-F818-B74E-193085F80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2D80403-18B1-58F8-8058-5C7A188631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495275-D577-1549-6CD9-79FC2CF57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9B5BCE-389E-C199-C81F-32B25E3D20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0472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0A2F28C-96D3-09B5-1E09-924EB9011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A1C65D0-FDFA-21AB-B117-6FF6A801F4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76FB402-A5AE-60F0-699F-62C69C51C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193DCF-989E-7BA8-A009-C219FC0347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008588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FC61FB-1373-75A6-CE4A-621DB61C9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883B77-C260-76CB-2C77-A7D997942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35C5FA-EBA9-A58B-DFB0-0B0FFA326B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784717-6F7C-929D-946D-158CC907032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0834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DE5D51-1433-2004-5597-E5E0E46F6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2794D18-923E-4A3C-2A99-68579360B4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1150B4-A73E-7C0D-4A20-BB0EB7B76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7B70C6-A853-E26D-E1AA-B660E3FFFB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21567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6ACD6B-4C4D-9FFE-7391-B9BD84754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D7175E6-DC4B-DCA5-7774-1BA6F7D4C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6ACB55C-6C46-8D6F-64FD-2632BA950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8EC450C-D3DB-3654-8A54-664F5A0817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14420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6D95723-5716-DFCD-3BB2-45466C5D2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66EF51E-A4E1-776F-6112-E5A3579485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B5A24C6-BB1C-CC6D-0B14-7CAC70A9CB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A3BEFA-97DA-989F-5F8B-593C4BDB8B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7297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BB7C8B4-BAD8-EDB1-3B00-357C4F33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CD61A6-220F-1FB1-D766-D97A83F249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0827F6-E1B8-E795-472C-E1EA4B1D68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FD4781D-40D5-F22B-54DC-3289034047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230302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CB99392-6CA7-8BCC-7D43-2FF62A792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7782ECC-8042-58B2-2048-76FACF1BC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D3B683-AF8C-1843-9D61-833C21FFC4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5ABA27-F8A1-1824-8D62-B9DB7B32AC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74915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BD2257-D13D-A705-8700-7CBF44E9C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0307A03-8BB2-62A0-C967-2C387DCB8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4B78A1D-5A17-3BB5-A484-A7DB1B0C88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74882D-D1BA-4815-A7B6-EAD4E39D64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72365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A814465-FCA3-74F6-FB53-DC01DD9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A13B84-6860-E249-BB2F-3554EBEDA7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4F255F4-4EC4-9621-17E8-20814A81D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AC6C048-ADEF-6192-A894-D3C5CF5A54C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13006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9747E0-1A49-7BE0-793E-2004639FF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770895-85FA-F16A-3082-AFCEEC92D9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6C77186-5118-E297-1822-DED984CD68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5E81764-65C6-E96D-D935-F5FCE34612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172152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AC1DEDB-6988-E6E3-B4A6-34EC55969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227A88-52B4-09B5-C0F4-923AAC9D56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394E43-322F-74E2-A4B8-A1BA3A55B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24C96C3-1527-0E65-0F90-D4C720CC3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5701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894FCD-9031-9792-94BC-547CC7BBB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C66BEC4-1E2B-1C6A-A0A1-FE6B25068C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93438E-EB12-A50C-7B8B-FCFAB5317B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8D1EC43-D55B-930F-C735-6E3FD3738B6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275860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ECA4ED2-CD4B-061E-DBAA-FA997F703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E8330CD-9DAA-A748-A10D-BF496309B1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17DBEF-839F-D0E8-4384-00C6260EC7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DA0CA82-AB16-039C-46F9-C55B994B6F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222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4A6003F-FEF0-80A1-676C-2D2C3B3B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6F7F6FA-2DE5-3FC3-1C44-3B753D4662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1A31BA-09FB-6CF6-BF07-70D73B2E5B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D596235-659D-8A5B-0ECE-9449A43AF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554329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78AC7D7-9498-A2B3-EC47-F728FA0A9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30902AB-3679-D129-4C4C-2E8FE1130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5638D9F-5679-F7AE-55E5-C372B2F7AA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893855E-D583-B106-0FCB-C487AC7610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13922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4753E5C-DB7D-2701-EA9B-3FC3FD40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9F17EBC-871E-13D1-04F7-47FC32DB87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E8CC8B8-54F3-ED2D-2D91-D632A7FCE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EFE6B3A-4BE2-D57C-CC59-2F8AF70126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49136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12F51F4-EE0D-77A8-1002-5A9196108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D37A6A5-607B-9E1C-D130-16833934E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FA22DE-9CB3-B64E-5214-35EB9CC9F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110A402-92AC-1977-11D0-69660148F3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900063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133A834-0F60-C21C-BF73-896D8C160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8250D01-FA8E-673E-32BF-CFF3940A9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F75FEED-C63E-386E-E799-A6F6184422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9A751B-CC27-BC6A-B0C2-5EEBF08922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078378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A2BC5EA-7FB6-6EB4-78DE-350343C5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B33161F-B219-CDA7-8AA1-26B47AAE54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88D086-E61D-CC37-50F9-09C282745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F299FF-EA6A-F260-25FD-B1885CAC91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94620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9ECBCB8-8670-7867-DFE7-7E5EE34B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9751EF7-514F-FFA7-773D-EA3FC04F85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DBBA7E-5040-309F-2993-FDA1E849D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C202B3E-089C-5BC7-4B13-9A81DAB430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775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FE8F8AE-147D-FEC8-884E-974872FF6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B57A0E0-2E4B-FA93-F31C-0539BA69D4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D7D0F6-8BBB-E03F-AC0B-F3B2762A3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12060F-0777-C31C-B726-8F8A21F14E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583765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74EFCD4-5398-7731-476A-C0B47566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E3557CF-244C-C924-9079-BD7E305F43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1FA2542-88A8-71EA-D9B7-F296C9B71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036AA93-AFD5-891D-DF60-7E84D7C94F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805420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4BC69D8-B10B-2AE3-7844-E04DB932C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7DD14BE-5E37-722E-44BA-603BC4DD0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E52DB0D-518B-0373-4287-7316DD2054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AC0C21-F1BE-FD94-5975-66788AFEBE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293208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62C665-2E8F-DB58-F5A0-9BD33861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F6E4CC-2D90-16EC-1239-87918E865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65A4F37-F6CD-8C9F-DA99-E2BBD1F077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CF818D6-E5AE-5B94-2904-C9FA075021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746460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DF78DA-BCDB-FA6C-75F6-59EF5C018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E3D8D0D-0479-88A6-B433-80D380A00A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48AD960-4F5D-40C2-EB9B-B3DDB7BB2A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CD5442-BEB4-3AB3-929A-0D18CFD324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24321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0BAE0E-41B0-BF05-FDB0-7CF32A581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C8A6EE-A1F6-165F-093A-1CDAF935E9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546C6A8-660F-ADB2-D467-FDA24553E5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C01146-8150-9736-BD62-E09AE7816A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53478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2E1FA4D-D3DD-E3C0-7D7E-688CA4BF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0BCACC4-A137-AF42-8263-3D55F0568A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DE6549-5AB9-3ED1-AEA2-B47278DCB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5DF953-74B3-3E83-2707-0470839B77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952756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BA75D40-C208-BADE-A946-1946A1324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C232BE2-E475-2300-FB7C-9D2CBB1A48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CC6B6E-0B89-21FF-8297-B7D3F94B8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9974ED-E25B-991A-054A-3818D97B19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758660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1F67EBD-0755-F0AE-4886-CE0C0E02D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86C85D-924F-AB37-61C2-02E599A261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5EEF29A-A6C3-6EDE-4EE6-45E0A8A4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4AEC4A2-DFE7-6091-E0AE-4231A86597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080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C70302-FE64-6DD4-80BD-4DCAAAD5F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4DE1993-5F53-FCE5-AD40-D404DD0D4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8E79DAA-D42D-019E-BD52-6CD1D3BEF5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6F99982-DB8F-419C-5C07-FE41619CD5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806886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E57DDA6-3FBE-C28A-DEBB-5AD5BAB8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EC04ED9-6F41-C4CD-89A8-D8FDF3E01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293384-0CDF-4487-E65A-E4802263DE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729D8C-0789-8532-1207-E965A99010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05362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EF679C9-D5AC-A77D-51DF-A10373518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065A211-A24F-9592-4289-F9657E893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1AE5EF-9534-6317-A23A-F745FBB13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7AD7FC-BC07-AD54-8D68-37221E797D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04138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45EAB5-27F6-B092-673E-9AEF064AC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FEAA0EC-11D6-95E2-4525-0A332AEB7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3E915E-9BCD-8FE3-7C4B-7639DF658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2084D12-2601-6FED-F7AA-DD402E9F2C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94016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B9C801A-ACB3-0BB8-B771-93497784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5EDBAA0-FB4D-0F6E-34CE-AFBF0C245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678813B-8625-86D9-4704-B55D84DB20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F2D157-461E-127F-BC4A-64C0A76CD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218210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2E93D8-F841-7BDE-5683-4E6071DC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F28989-AF33-2711-3566-C356EC393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1550992-23C6-6BB7-9A02-CB27ECF2B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649662E-D22A-9165-CC18-F8AE7E7D22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903375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079FBC-0705-D345-9F42-53754D290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C9BF4E-2166-E0CF-B30C-43CA979A6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C9349AB-B53E-3ECB-E35E-8F221650DE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EF84AAB-59DD-D3BE-43DF-0BDD78A24E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145836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A1CDDA3-F39B-395C-EF2B-7372193AB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14CE692-0BE1-C440-EBCF-89F5916377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3A7A4E-BC9A-2CBA-C659-5F4E3F4BB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E581518-C717-C72A-A8CF-5263848E02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948010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5996D57-1DDC-EF36-BEB7-8E9EABC5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C0E316-8039-1162-F003-63B4E6AE6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BA68E7-8820-5365-AC56-A0E896923F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8F0809-58A6-6E6F-D8E4-E2883B608E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6043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7B3A70B-BB4C-2479-1B1C-D2CF511C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117E3EC-3037-D971-262C-48E606DFCA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752824-FE20-B929-A597-7050CFBB6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FFE6A38-585B-2484-935F-B76BCBB304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13064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0613F9-3A05-E503-86DF-5403D4A56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A66192A-7206-A5F7-35E0-F6AFE6C9D4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67CF378-36B8-2F20-4312-B26A3FBB0E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FBEDAE-B712-7918-7C0A-26D510D061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296081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13B852F-6EC4-C6AD-4CD3-C15CEB9B4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CFF6641-F004-5AB3-2197-3E25121AB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E2B9697-4276-CEAB-889F-AF7144C50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FF9F3D4-D8BB-42A6-39DF-F283A71D50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24644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3E4FC7-79CC-E6E3-B30F-8FC45C9F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F36538F-C379-2194-DB3A-57FCEC8662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9F1E693-D086-8FF3-AB51-568ED63C4C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D869BA5-B006-0289-562E-F12109FF38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827079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B98D00-7645-4A36-6C7E-782ED05DF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7CC025-CC7E-5FF6-0631-0B18A57829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8DF54D9-8C75-F1E2-7945-E942ED4963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0D010B-E571-0513-04E4-B7CAC6B88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813350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67D4AB-5345-C202-2C50-8F2F43EE7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BF1B5E-2CCA-08E6-1C75-64504861D1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2BC6B7-5DCB-D8C1-70E5-680BA9310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50F2BB-00E2-69BF-19FF-4DB2DA81F2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576045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9A59E7-FEBF-4CB8-1271-317E1E9E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FD2078-DE99-5848-F5E4-03C10D7068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F07034A-376E-5399-6738-C20CD10BAC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D3DA868-D05C-BE56-4EAD-C283F04BA8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724123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F62036-0975-5FFD-33AB-8A4821BD4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2F11BF0-73B8-D3E6-1231-F7B3CCD88F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96836D4-8746-EB95-45ED-EA4717FDA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90505A0-BDE5-5C4A-7016-B2DA6D746EA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436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/>
              <a:t>‹#›</a:t>
            </a:fld>
            <a:r>
              <a:rPr spc="240" dirty="0"/>
              <a:t> </a:t>
            </a:r>
            <a:r>
              <a:rPr dirty="0"/>
              <a:t>|</a:t>
            </a:r>
            <a:r>
              <a:rPr spc="409" dirty="0"/>
              <a:t> </a:t>
            </a:r>
            <a:r>
              <a:rPr dirty="0"/>
              <a:t>Directorate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Office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Faculty</a:t>
            </a:r>
            <a:r>
              <a:rPr spc="-15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spc="-10" dirty="0"/>
              <a:t>School</a:t>
            </a:r>
          </a:p>
        </p:txBody>
      </p:sp>
    </p:spTree>
    <p:extLst>
      <p:ext uri="{BB962C8B-B14F-4D97-AF65-F5344CB8AC3E}">
        <p14:creationId xmlns:p14="http://schemas.microsoft.com/office/powerpoint/2010/main" val="4118294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oleObject" Target="../embeddings/oleObject1.bin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6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7" imgW="347" imgH="348" progId="TCLayout.ActiveDocument.1">
                  <p:embed/>
                </p:oleObj>
              </mc:Choice>
              <mc:Fallback>
                <p:oleObj name="think-cell Slide" r:id="rId87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  <p:sldLayoutId id="2147483775" r:id="rId8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linkedin.com/in/farshid-keivanian" TargetMode="External"/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84.xml"/><Relationship Id="rId4" Type="http://schemas.openxmlformats.org/officeDocument/2006/relationships/hyperlink" Target="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0"/>
            <a:ext cx="4373370" cy="2130422"/>
          </a:xfrm>
        </p:spPr>
        <p:txBody>
          <a:bodyPr/>
          <a:lstStyle/>
          <a:p>
            <a:r>
              <a:rPr lang="en-US" sz="3400" dirty="0"/>
              <a:t>Data Quality, Database Administration and Security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11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660180-C222-1C0E-972D-3D88A9D4F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5A6B1-8B80-DB67-9023-1B2F212A7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A225C-DA99-BC7A-E7E6-1795A0912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EF29E-E553-F396-FF4A-DC7E74AA1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93987"/>
          </a:xfrm>
        </p:spPr>
        <p:txBody>
          <a:bodyPr>
            <a:noAutofit/>
          </a:bodyPr>
          <a:lstStyle/>
          <a:p>
            <a:r>
              <a:rPr lang="en-US" sz="3200" dirty="0"/>
              <a:t>Week 11: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ED2261-8415-F09D-030E-8807BD50DF84}"/>
              </a:ext>
            </a:extLst>
          </p:cNvPr>
          <p:cNvSpPr txBox="1"/>
          <p:nvPr/>
        </p:nvSpPr>
        <p:spPr>
          <a:xfrm>
            <a:off x="0" y="900657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Data Quality: The “Good Ingredients” of Analysis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Dirty Data Types – How to Spot &amp; Fix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Step 1 – Tutor Presentation of Lecture Slides (20 minutes)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Step 2 – Story 1: The Forecasting Failure at </a:t>
            </a:r>
            <a:r>
              <a:rPr lang="en-US" sz="2800" dirty="0" err="1">
                <a:latin typeface="Calibir"/>
              </a:rPr>
              <a:t>BrightHome</a:t>
            </a:r>
            <a:r>
              <a:rPr lang="en-US" sz="2800" dirty="0">
                <a:latin typeface="Calibir"/>
              </a:rPr>
              <a:t> Appliances (20 minutes)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Step 3 – Story 2: The System Crash at </a:t>
            </a: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Health (20 minutes)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Part B – Independent Work on Assessment 3 (60 minutes)</a:t>
            </a:r>
          </a:p>
        </p:txBody>
      </p:sp>
    </p:spTree>
    <p:extLst>
      <p:ext uri="{BB962C8B-B14F-4D97-AF65-F5344CB8AC3E}">
        <p14:creationId xmlns:p14="http://schemas.microsoft.com/office/powerpoint/2010/main" val="1874798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CA32C4-3A90-B3BC-ECFF-A9884C0F0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670B4B-0FB7-D1AC-14F1-A7A1151E9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2364-B592-0252-ACD8-BF5D52103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D4C312C-0715-64DB-7869-9ABC8AC91D1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7564"/>
          </a:xfrm>
        </p:spPr>
        <p:txBody>
          <a:bodyPr>
            <a:noAutofit/>
          </a:bodyPr>
          <a:lstStyle/>
          <a:p>
            <a:r>
              <a:rPr lang="en-US" sz="3200" dirty="0"/>
              <a:t>Data Quality: The “Good Ingredients” of Analysis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E716B9-66EF-A698-1F73-F42B9E995153}"/>
              </a:ext>
            </a:extLst>
          </p:cNvPr>
          <p:cNvSpPr txBox="1"/>
          <p:nvPr/>
        </p:nvSpPr>
        <p:spPr>
          <a:xfrm>
            <a:off x="0" y="900657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Main idea: </a:t>
            </a:r>
            <a:r>
              <a:rPr lang="en-US" sz="2800" dirty="0">
                <a:latin typeface="Calibir"/>
              </a:rPr>
              <a:t>If your data is messy, your results will be wrong — just like a bad meal made from spoiled ingredients.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6 Key Qualities (Dimensions):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Accuracy:</a:t>
            </a:r>
            <a:r>
              <a:rPr lang="en-US" sz="2800" dirty="0">
                <a:latin typeface="Calibir"/>
              </a:rPr>
              <a:t> Correct and truthful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Completeness:</a:t>
            </a:r>
            <a:r>
              <a:rPr lang="en-US" sz="2800" dirty="0">
                <a:latin typeface="Calibir"/>
              </a:rPr>
              <a:t> No missing parts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Consistency:</a:t>
            </a:r>
            <a:r>
              <a:rPr lang="en-US" sz="2800" dirty="0">
                <a:latin typeface="Calibir"/>
              </a:rPr>
              <a:t> Same info everywhere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Timeliness:</a:t>
            </a:r>
            <a:r>
              <a:rPr lang="en-US" sz="2800" dirty="0">
                <a:latin typeface="Calibir"/>
              </a:rPr>
              <a:t> Up to date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Validity:</a:t>
            </a:r>
            <a:r>
              <a:rPr lang="en-US" sz="2800" dirty="0">
                <a:latin typeface="Calibir"/>
              </a:rPr>
              <a:t> Right format or value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Uniqueness:</a:t>
            </a:r>
            <a:r>
              <a:rPr lang="en-US" sz="2800" dirty="0">
                <a:latin typeface="Calibir"/>
              </a:rPr>
              <a:t> No duplicates</a:t>
            </a:r>
          </a:p>
        </p:txBody>
      </p:sp>
    </p:spTree>
    <p:extLst>
      <p:ext uri="{BB962C8B-B14F-4D97-AF65-F5344CB8AC3E}">
        <p14:creationId xmlns:p14="http://schemas.microsoft.com/office/powerpoint/2010/main" val="3957137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719382A-BA8C-1F73-BDD6-5C7A6BD7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65B344-B42C-970F-214C-6F3E994758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B3C5-9E9B-4D2B-85DF-393FD4368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D8170DA-217E-9985-AE54-4036734F5A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657923"/>
          </a:xfrm>
        </p:spPr>
        <p:txBody>
          <a:bodyPr>
            <a:noAutofit/>
          </a:bodyPr>
          <a:lstStyle/>
          <a:p>
            <a:r>
              <a:rPr lang="en-US" sz="3200" dirty="0"/>
              <a:t>Dirty Data Types – How to Spot &amp; Fix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3C281-BE1D-0761-B88F-3AFF782ED35B}"/>
              </a:ext>
            </a:extLst>
          </p:cNvPr>
          <p:cNvSpPr txBox="1"/>
          <p:nvPr/>
        </p:nvSpPr>
        <p:spPr>
          <a:xfrm>
            <a:off x="0" y="1154082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Common Problems: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dates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Product codes written differently (BH1001 vs B-H1001)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Mixed units (cm vs inches)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Wrong data formats (text instead of number)</a:t>
            </a:r>
          </a:p>
        </p:txBody>
      </p:sp>
    </p:spTree>
    <p:extLst>
      <p:ext uri="{BB962C8B-B14F-4D97-AF65-F5344CB8AC3E}">
        <p14:creationId xmlns:p14="http://schemas.microsoft.com/office/powerpoint/2010/main" val="3983709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598617E-53FB-F21C-CD00-F53673981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B90A3-59FF-BE11-BFEC-DFDBFDE0D4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895AF7-A299-BC40-4AE7-54E36AF7C6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0799C71-EF34-8C5C-E259-6E58EC4876B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657923"/>
          </a:xfrm>
        </p:spPr>
        <p:txBody>
          <a:bodyPr>
            <a:noAutofit/>
          </a:bodyPr>
          <a:lstStyle/>
          <a:p>
            <a:r>
              <a:rPr lang="en-US" sz="3200" dirty="0"/>
              <a:t>Dirty Data Types – How to Spot &amp; Fix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01A6A-3108-0AD0-33B1-58402EB8FB4D}"/>
              </a:ext>
            </a:extLst>
          </p:cNvPr>
          <p:cNvSpPr txBox="1"/>
          <p:nvPr/>
        </p:nvSpPr>
        <p:spPr>
          <a:xfrm>
            <a:off x="0" y="1154082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Fix Tools (Your Cleaning Kit):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Standardise</a:t>
            </a:r>
            <a:r>
              <a:rPr lang="en-US" sz="2800" dirty="0">
                <a:latin typeface="Calibir"/>
              </a:rPr>
              <a:t> codes (make them look the same)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lookup lists to control entries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default values where needed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Turn on Referential Integrity to keep tables linked correctly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Remove duplicates (de-dup)</a:t>
            </a:r>
          </a:p>
        </p:txBody>
      </p:sp>
    </p:spTree>
    <p:extLst>
      <p:ext uri="{BB962C8B-B14F-4D97-AF65-F5344CB8AC3E}">
        <p14:creationId xmlns:p14="http://schemas.microsoft.com/office/powerpoint/2010/main" val="2900970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6F0A9E-E0AE-B29F-5867-2944FB48C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490FB3-8CA5-193C-8E53-1D822E4A3D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0F252-2784-BC62-01B0-B180C4740E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F41B48-D339-2112-576E-A90DF2AA1A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657923"/>
          </a:xfrm>
        </p:spPr>
        <p:txBody>
          <a:bodyPr>
            <a:noAutofit/>
          </a:bodyPr>
          <a:lstStyle/>
          <a:p>
            <a:r>
              <a:rPr lang="en-US" sz="3200" dirty="0"/>
              <a:t>Dirty Data Types – How to Spot &amp; Fix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728D2-DB47-E1F9-29C1-222F7EA33860}"/>
              </a:ext>
            </a:extLst>
          </p:cNvPr>
          <p:cNvSpPr txBox="1"/>
          <p:nvPr/>
        </p:nvSpPr>
        <p:spPr>
          <a:xfrm>
            <a:off x="0" y="779933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Security: CIA triad (Confidentiality–Integrity–Availability)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Confidentiality: Only the right people see data (e.g., role-based access).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Integrity: Data is correct &amp; unchanged (constraints, checks, hashing).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Availability: Systems are up when needed (backups, failover).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Analogy: House security—locks (Confidentiality), tamper seals (Integrity), spare keys/power (Availability).</a:t>
            </a:r>
          </a:p>
        </p:txBody>
      </p:sp>
    </p:spTree>
    <p:extLst>
      <p:ext uri="{BB962C8B-B14F-4D97-AF65-F5344CB8AC3E}">
        <p14:creationId xmlns:p14="http://schemas.microsoft.com/office/powerpoint/2010/main" val="238699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E7D8528-2A65-7402-29AD-40F95966C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073670-DA1F-DA43-9FBD-EF67B9FAB8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03C36-07D4-6A76-726B-F5E1BB5A4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D34D5FD-30B7-81CA-602C-41A2C8CF3D5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59006"/>
          </a:xfrm>
        </p:spPr>
        <p:txBody>
          <a:bodyPr>
            <a:noAutofit/>
          </a:bodyPr>
          <a:lstStyle/>
          <a:p>
            <a:r>
              <a:rPr lang="en-US" sz="3200" dirty="0"/>
              <a:t>Step 1 – Tutor Presentation of Lecture Slides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7DB3DB-AED6-C86B-A42B-E577B5191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93" b="16882"/>
          <a:stretch>
            <a:fillRect/>
          </a:stretch>
        </p:blipFill>
        <p:spPr>
          <a:xfrm>
            <a:off x="0" y="1514581"/>
            <a:ext cx="9144000" cy="3864079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2E9F2F-720A-1A36-6E63-B8C0A9A34E35}"/>
              </a:ext>
            </a:extLst>
          </p:cNvPr>
          <p:cNvSpPr/>
          <p:nvPr/>
        </p:nvSpPr>
        <p:spPr>
          <a:xfrm>
            <a:off x="1650380" y="3757961"/>
            <a:ext cx="5664820" cy="158347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914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B82A36C-A0FF-3B6D-9043-DDBEC86C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A8E93C-C1C2-615B-D619-FE0863FF5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4C313-1328-FCC8-38C9-9AA8187272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306F2D1-491B-BCA6-D2F2-F46F75ADD60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03250"/>
          </a:xfrm>
        </p:spPr>
        <p:txBody>
          <a:bodyPr>
            <a:noAutofit/>
          </a:bodyPr>
          <a:lstStyle/>
          <a:p>
            <a:r>
              <a:rPr lang="en-US" sz="3200" dirty="0"/>
              <a:t>Step 1 – Tutor Presentation of Lecture Slides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45534F-B361-C92C-3367-22DC9C677B1A}"/>
              </a:ext>
            </a:extLst>
          </p:cNvPr>
          <p:cNvSpPr txBox="1"/>
          <p:nvPr/>
        </p:nvSpPr>
        <p:spPr>
          <a:xfrm>
            <a:off x="0" y="873350"/>
            <a:ext cx="9144000" cy="5013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i="1" dirty="0">
                <a:latin typeface="Calibir"/>
              </a:rPr>
              <a:t>Purpose:</a:t>
            </a:r>
            <a:r>
              <a:rPr lang="en-US" sz="2700" dirty="0">
                <a:latin typeface="Calibir"/>
              </a:rPr>
              <a:t> good data = good decisions.</a:t>
            </a:r>
            <a:br>
              <a:rPr lang="en-US" sz="2700" dirty="0">
                <a:latin typeface="Calibir"/>
              </a:rPr>
            </a:br>
            <a:r>
              <a:rPr lang="en-US" sz="2700" b="1" dirty="0">
                <a:latin typeface="Calibir"/>
              </a:rPr>
              <a:t>Data quality dimensions:</a:t>
            </a:r>
            <a:endParaRPr lang="en-US" sz="27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Accuracy</a:t>
            </a:r>
            <a:r>
              <a:rPr lang="en-US" sz="2700" dirty="0">
                <a:latin typeface="Calibir"/>
              </a:rPr>
              <a:t> → data must be correct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Completeness</a:t>
            </a:r>
            <a:r>
              <a:rPr lang="en-US" sz="2700" dirty="0">
                <a:latin typeface="Calibir"/>
              </a:rPr>
              <a:t> → no missing parts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Consistency</a:t>
            </a:r>
            <a:r>
              <a:rPr lang="en-US" sz="2700" dirty="0">
                <a:latin typeface="Calibir"/>
              </a:rPr>
              <a:t> → same info across systems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Timeliness</a:t>
            </a:r>
            <a:r>
              <a:rPr lang="en-US" sz="2700" dirty="0">
                <a:latin typeface="Calibir"/>
              </a:rPr>
              <a:t> → data updated on time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Validity</a:t>
            </a:r>
            <a:r>
              <a:rPr lang="en-US" sz="2700" dirty="0">
                <a:latin typeface="Calibir"/>
              </a:rPr>
              <a:t> → correct format or type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i="1" dirty="0">
                <a:latin typeface="Calibir"/>
              </a:rPr>
              <a:t>Uniqueness</a:t>
            </a:r>
            <a:r>
              <a:rPr lang="en-US" sz="2700" dirty="0">
                <a:latin typeface="Calibir"/>
              </a:rPr>
              <a:t> → no duplicates</a:t>
            </a:r>
          </a:p>
        </p:txBody>
      </p:sp>
    </p:spTree>
    <p:extLst>
      <p:ext uri="{BB962C8B-B14F-4D97-AF65-F5344CB8AC3E}">
        <p14:creationId xmlns:p14="http://schemas.microsoft.com/office/powerpoint/2010/main" val="2066246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B981E2-C95F-464B-4415-64C12F92B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B59304-42B8-5291-C485-839A97AE45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2D9E8-A322-3E6B-B6F5-548B512D2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43E823-A293-65D0-0B3D-CA9B596019C7}"/>
              </a:ext>
            </a:extLst>
          </p:cNvPr>
          <p:cNvSpPr txBox="1"/>
          <p:nvPr/>
        </p:nvSpPr>
        <p:spPr>
          <a:xfrm>
            <a:off x="0" y="903249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CIA Triad: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Confidentiality</a:t>
            </a:r>
            <a:r>
              <a:rPr lang="en-US" altLang="en-US" sz="2800" dirty="0">
                <a:latin typeface="Calibir"/>
              </a:rPr>
              <a:t> → protect data access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Integrity</a:t>
            </a:r>
            <a:r>
              <a:rPr lang="en-US" altLang="en-US" sz="2800" dirty="0">
                <a:latin typeface="Calibir"/>
              </a:rPr>
              <a:t> → data stays correct and unchanged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Availability</a:t>
            </a:r>
            <a:r>
              <a:rPr lang="en-US" altLang="en-US" sz="2800" dirty="0">
                <a:latin typeface="Calibir"/>
              </a:rPr>
              <a:t> → data ready when needed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DBA vs DA: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Database Administrator (DBA)</a:t>
            </a:r>
            <a:r>
              <a:rPr lang="en-US" altLang="en-US" sz="2800" dirty="0">
                <a:latin typeface="Calibir"/>
              </a:rPr>
              <a:t> → focuses on technical side (security, backups, performance).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Data Administrator (DA)</a:t>
            </a:r>
            <a:r>
              <a:rPr lang="en-US" altLang="en-US" sz="2800" dirty="0">
                <a:latin typeface="Calibir"/>
              </a:rPr>
              <a:t> → focuses on data policies (naming rules, data quality, consistency).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F78D6EE-68C0-8D3F-FFA5-22293207132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03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1 – Tutor Presentation of Lecture Slides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5621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49AEE2B-3DAD-720A-528D-D99FD2502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820DA-F31D-2B41-B87C-110E13F0F2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82CC36-8B7D-CEAA-D61D-4F1107AC50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9890EB-9228-7966-2640-7F9B3969D6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170" t="30163" r="17684" b="7832"/>
          <a:stretch>
            <a:fillRect/>
          </a:stretch>
        </p:blipFill>
        <p:spPr>
          <a:xfrm>
            <a:off x="0" y="1882930"/>
            <a:ext cx="9149950" cy="497507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01C8E1-3B80-2230-335A-8C0F5521679A}"/>
              </a:ext>
            </a:extLst>
          </p:cNvPr>
          <p:cNvSpPr/>
          <p:nvPr/>
        </p:nvSpPr>
        <p:spPr>
          <a:xfrm>
            <a:off x="0" y="1605774"/>
            <a:ext cx="9144000" cy="525222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216E009-5914-69AF-D7BE-4EB455A101E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98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E93AB73-3D9C-2FF9-0063-EE512F069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8406AA-FFB9-C944-1443-ED58DD13F4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C3D20-3AA8-5523-D3AC-F7271F566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DEEF08-21E2-187A-75A4-DCA9E3CF99FC}"/>
              </a:ext>
            </a:extLst>
          </p:cNvPr>
          <p:cNvSpPr txBox="1"/>
          <p:nvPr/>
        </p:nvSpPr>
        <p:spPr>
          <a:xfrm>
            <a:off x="0" y="1639230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Problems (and what type they are):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Product codes written in different ways → Consistency / Validity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supplier contact info → Completeness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Sales and inventory not updated together → Timeliness / Consistency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or wrong dates → Validity / Accuracy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B0F17C4-9605-110F-5C42-84B37BE954E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0273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629D78-3D6A-5C0A-7997-94A2311CD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CDF76A-02DD-70BE-91F2-B6B9A24F68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5DC27-0B3E-2F7D-56AB-AC06DE5955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A9DFCF-94F4-4EBA-0DF6-8481E0BB6B4D}"/>
              </a:ext>
            </a:extLst>
          </p:cNvPr>
          <p:cNvSpPr txBox="1"/>
          <p:nvPr/>
        </p:nvSpPr>
        <p:spPr>
          <a:xfrm>
            <a:off x="0" y="1800413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It Hurt Decisions: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Reports showed wrong “trending” products → marketing pushed the wrong blender.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Buyers ordered too many blenders and ran out of air fryers.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EF3CAD9-E5C4-4205-3C70-AD32B61D2F0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921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A4D74FD-CA68-E817-7C38-AC34F699D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F93685-72D3-32AD-B43C-BBE435069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264C36-7862-94B2-E6A0-95FAB3880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72B06-89F9-8108-CC64-2120150AA667}"/>
              </a:ext>
            </a:extLst>
          </p:cNvPr>
          <p:cNvSpPr txBox="1"/>
          <p:nvPr/>
        </p:nvSpPr>
        <p:spPr>
          <a:xfrm>
            <a:off x="0" y="1477248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to Fix It (3 Key Strategies):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Use one master rule for product codes – one standard code for each item.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Sync systems regularly – align update times and add date/time stamps.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Add validation rules – make supplier info required, fix date format, assign someone to check data quality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B9E5368-2E7B-BCC0-40ED-8D20CECCB3F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553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F15FD6B-5D20-ABC3-AC27-CAA8261B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8476A9-371A-47B1-2096-F99985E5CF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4A8AA-F329-A7ED-1031-682E01A003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36AA8-2930-9794-F819-8765B1A5398B}"/>
              </a:ext>
            </a:extLst>
          </p:cNvPr>
          <p:cNvSpPr txBox="1"/>
          <p:nvPr/>
        </p:nvSpPr>
        <p:spPr>
          <a:xfrm>
            <a:off x="0" y="1477248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Group Presentation Tip (5–7 min):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one slide per section (Problems → Impact → Fixes).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it short, clear, and use real examples.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CBD61B4-CED2-9C17-3331-08E8C2BC8D5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103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84BD0E6-5DB9-2603-942E-21475480B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4FADE7-B301-B85B-CC44-A6B91632F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60B5A-1B54-2F16-8DEA-1894AC20A6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F737281-3CC8-13AF-9B23-6CA27643868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0D5578-79A2-EEBB-CD1F-91DE7EF270C4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Group Presentation Tip (5–7 min):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Remind groups to: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Be concise (pick top 3–4 problems and fixes).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Explain </a:t>
            </a:r>
            <a:r>
              <a:rPr lang="en-US" sz="2800" i="1" dirty="0">
                <a:latin typeface="Calibir"/>
              </a:rPr>
              <a:t>how</a:t>
            </a:r>
            <a:r>
              <a:rPr lang="en-US" sz="2800" dirty="0">
                <a:latin typeface="Calibir"/>
              </a:rPr>
              <a:t> each fix improves decisions.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Optional: use examples or short visuals from Access or Excel to show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3309528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A4E1BEA-F846-0A2E-9E46-B20810F5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7913A-8FA2-859A-F856-1FFA23D36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B5169-4996-2E8C-EDE4-E09CDC5743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412C85-D15C-38AA-F726-2A0C0FE65F14}"/>
              </a:ext>
            </a:extLst>
          </p:cNvPr>
          <p:cNvSpPr txBox="1"/>
          <p:nvPr/>
        </p:nvSpPr>
        <p:spPr>
          <a:xfrm>
            <a:off x="0" y="1800413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Clarification: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business didn’t fail because of bad decisions alone — they failed because those decisions were based on </a:t>
            </a:r>
            <a:r>
              <a:rPr lang="en-US" sz="2800" i="1" dirty="0">
                <a:latin typeface="Calibir"/>
              </a:rPr>
              <a:t>wrong or incomplete data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Emphasise</a:t>
            </a:r>
            <a:r>
              <a:rPr lang="en-US" sz="2800" dirty="0">
                <a:latin typeface="Calibir"/>
              </a:rPr>
              <a:t>: “Garbage in → Garbage out.”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CD6F2C5-94F2-4ADD-E8B6-CB38805FDC3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147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2 – Story 1: The Forecasting Failure at </a:t>
            </a:r>
            <a:r>
              <a:rPr lang="en-US" sz="3200" dirty="0" err="1"/>
              <a:t>BrightHome</a:t>
            </a:r>
            <a:r>
              <a:rPr lang="en-US" sz="3200" dirty="0"/>
              <a:t> Appliances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147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0258DD-FA00-7623-4B9F-BC587D85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A772DE-C188-F9EA-C04E-3A78B73A4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D8C569-13E9-CE54-3292-2B83262A40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E36F2-C29D-3EA6-E5C4-DB9CA8CF05B9}"/>
              </a:ext>
            </a:extLst>
          </p:cNvPr>
          <p:cNvSpPr txBox="1"/>
          <p:nvPr/>
        </p:nvSpPr>
        <p:spPr>
          <a:xfrm>
            <a:off x="0" y="355915"/>
            <a:ext cx="9144000" cy="614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50" b="1" dirty="0">
                <a:latin typeface="Calibir"/>
              </a:rPr>
              <a:t>Improvement Strategies (Brainstorm Guide)</a:t>
            </a:r>
          </a:p>
          <a:p>
            <a:pPr>
              <a:lnSpc>
                <a:spcPct val="150000"/>
              </a:lnSpc>
            </a:pPr>
            <a:r>
              <a:rPr lang="en-US" sz="2650" dirty="0">
                <a:latin typeface="Calibir"/>
              </a:rPr>
              <a:t>Think about </a:t>
            </a:r>
            <a:r>
              <a:rPr lang="en-US" sz="2650" i="1" dirty="0">
                <a:latin typeface="Calibir"/>
              </a:rPr>
              <a:t>how to fix or prevent</a:t>
            </a:r>
            <a:r>
              <a:rPr lang="en-US" sz="2650" dirty="0">
                <a:latin typeface="Calibir"/>
              </a:rPr>
              <a:t> such problems: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 err="1">
                <a:latin typeface="Calibir"/>
              </a:rPr>
              <a:t>Standardise</a:t>
            </a:r>
            <a:r>
              <a:rPr lang="en-US" sz="2650" dirty="0">
                <a:latin typeface="Calibir"/>
              </a:rPr>
              <a:t> product codes using lookup lists or validation rules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Use scheduled synchronization between systems (real-time or daily updates)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Make important fields required (no blank supplier contact)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Add input masks or validation for correct formats (dates, codes)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50" dirty="0">
                <a:latin typeface="Calibir"/>
              </a:rPr>
              <a:t>Regularly run duplicate checks or data audits</a:t>
            </a:r>
          </a:p>
        </p:txBody>
      </p:sp>
    </p:spTree>
    <p:extLst>
      <p:ext uri="{BB962C8B-B14F-4D97-AF65-F5344CB8AC3E}">
        <p14:creationId xmlns:p14="http://schemas.microsoft.com/office/powerpoint/2010/main" val="1834404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89D736-6C4C-DE07-0B96-232B3FDE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ACAF36-0150-9C5B-A1B2-BEB9E402EB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0D21E-241D-D0A4-49D8-672B7439D1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D6FD9FD-6765-9B6E-D4AB-CE618A54A5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8059"/>
          </a:xfrm>
        </p:spPr>
        <p:txBody>
          <a:bodyPr>
            <a:noAutofit/>
          </a:bodyPr>
          <a:lstStyle/>
          <a:p>
            <a:r>
              <a:rPr lang="en-US" sz="3200" dirty="0"/>
              <a:t>Step 3 – Story 2: The System Crash at </a:t>
            </a:r>
            <a:r>
              <a:rPr lang="en-US" sz="3200" dirty="0" err="1"/>
              <a:t>MediSys</a:t>
            </a:r>
            <a:r>
              <a:rPr lang="en-US" sz="3200" dirty="0"/>
              <a:t>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980F40-2A67-27C7-889B-D4DC6F8E6D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36" t="18889" r="17561" b="7398"/>
          <a:stretch>
            <a:fillRect/>
          </a:stretch>
        </p:blipFill>
        <p:spPr>
          <a:xfrm>
            <a:off x="301083" y="1091169"/>
            <a:ext cx="8541834" cy="554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8881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CB6208-0E22-8475-464F-AE1E8D54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5464FD-074D-6EFE-E635-C48ECCB9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5EC90-0083-E06E-D5B8-5C9DD2F88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72D2494-02D7-C587-1FCB-3A49E81AD4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8059"/>
          </a:xfrm>
        </p:spPr>
        <p:txBody>
          <a:bodyPr>
            <a:noAutofit/>
          </a:bodyPr>
          <a:lstStyle/>
          <a:p>
            <a:r>
              <a:rPr lang="en-US" sz="3200" dirty="0"/>
              <a:t>Step 3 – Story 2: The System Crash at </a:t>
            </a:r>
            <a:r>
              <a:rPr lang="en-US" sz="3200" dirty="0" err="1"/>
              <a:t>MediSys</a:t>
            </a:r>
            <a:r>
              <a:rPr lang="en-US" sz="3200" dirty="0"/>
              <a:t>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C1D324-3D98-0D33-BAC9-0A5F98AFAC25}"/>
              </a:ext>
            </a:extLst>
          </p:cNvPr>
          <p:cNvSpPr txBox="1"/>
          <p:nvPr/>
        </p:nvSpPr>
        <p:spPr>
          <a:xfrm>
            <a:off x="0" y="1773044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Background Summary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Health’s system crash wasn’t just a technical failure — it was also a governance failure.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 problem wasn’t only the missed backup, but that no one was responsible for checking it.</a:t>
            </a:r>
          </a:p>
        </p:txBody>
      </p:sp>
    </p:spTree>
    <p:extLst>
      <p:ext uri="{BB962C8B-B14F-4D97-AF65-F5344CB8AC3E}">
        <p14:creationId xmlns:p14="http://schemas.microsoft.com/office/powerpoint/2010/main" val="3841238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38611E-879E-4D73-0E1D-24983E649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0176F9-A4FB-5EE8-E0DE-00ACC45FCE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56783-942A-495F-FDC9-E7946B967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AD6968-DD15-8B7E-789C-3A1CB3E082FB}"/>
              </a:ext>
            </a:extLst>
          </p:cNvPr>
          <p:cNvSpPr txBox="1"/>
          <p:nvPr/>
        </p:nvSpPr>
        <p:spPr>
          <a:xfrm>
            <a:off x="0" y="291115"/>
            <a:ext cx="8987882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Key Concepts to Review Before Discussion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DBA (Database Administrator):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Manages the technical side — backups, performance, access control, security setup.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Makes sure the database runs smoothly and data is available.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DA (Data Administrator):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Focuses on policies, data standards, and governance.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Ensures there are rules, documentation, and accountability for data handling.</a:t>
            </a:r>
          </a:p>
        </p:txBody>
      </p:sp>
    </p:spTree>
    <p:extLst>
      <p:ext uri="{BB962C8B-B14F-4D97-AF65-F5344CB8AC3E}">
        <p14:creationId xmlns:p14="http://schemas.microsoft.com/office/powerpoint/2010/main" val="4184701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A68CA5C-4366-BBFF-A61B-FB969B58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2C3C79-0953-1B76-E07E-B7677EEBD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DC833-DB2E-A7C0-5F33-E09B318F87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DEE9C7-7E1F-648A-4709-791EA5EF4D00}"/>
              </a:ext>
            </a:extLst>
          </p:cNvPr>
          <p:cNvSpPr txBox="1"/>
          <p:nvPr/>
        </p:nvSpPr>
        <p:spPr>
          <a:xfrm>
            <a:off x="0" y="1060549"/>
            <a:ext cx="89878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Discussion (</a:t>
            </a:r>
            <a:r>
              <a:rPr lang="en-US" sz="2800" b="1" dirty="0">
                <a:highlight>
                  <a:srgbClr val="FFFF00"/>
                </a:highlight>
                <a:latin typeface="Calibir"/>
              </a:rPr>
              <a:t>1-2 min</a:t>
            </a:r>
            <a:r>
              <a:rPr lang="en-US" sz="2800" b="1" dirty="0">
                <a:latin typeface="Calibir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went wrong technically? (Backup, firewall, permissions)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went wrong in management or process? (No checks, shared logins, no clear roles)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could good CIA principles (Confidentiality, Integrity, Availability) have helped?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BF82EC8-6752-4B8E-58D6-2F85E6C286C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3 – Story 2: The System Crash at </a:t>
            </a:r>
            <a:r>
              <a:rPr lang="en-US" sz="3200" dirty="0" err="1"/>
              <a:t>MediSys</a:t>
            </a:r>
            <a:r>
              <a:rPr lang="en-US" sz="3200" dirty="0"/>
              <a:t>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86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869313-D8D3-5E7F-CBCC-8773AEA79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DBAAC0-66F0-AE1B-8F89-C62FB869B5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82A9-748D-7B19-6FC2-9504272A96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912E39-B0FB-2948-73B5-5320D980EED4}"/>
              </a:ext>
            </a:extLst>
          </p:cNvPr>
          <p:cNvSpPr txBox="1"/>
          <p:nvPr/>
        </p:nvSpPr>
        <p:spPr>
          <a:xfrm>
            <a:off x="78059" y="2446744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Separate technical errors (permissions, firewalls) from governance errors (no process, no accountability).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 about both people and system problems.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587B9F6-9AA8-B52E-3272-C5A804F8AE9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55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2507B1C-DDCE-F03A-BDCA-7143CEB82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679788-6A49-C042-14E7-CEF30A38F8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54664-8D25-7CF7-9F8D-5FFDC9343D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02C59-DDDE-6F5A-C53F-B6DDAF34C78B}"/>
              </a:ext>
            </a:extLst>
          </p:cNvPr>
          <p:cNvSpPr txBox="1"/>
          <p:nvPr/>
        </p:nvSpPr>
        <p:spPr>
          <a:xfrm>
            <a:off x="0" y="1126049"/>
            <a:ext cx="8987882" cy="522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Brainstorm – 3 Security Improvements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Automated backup monitoring</a:t>
            </a:r>
            <a:r>
              <a:rPr lang="en-US" sz="2500" dirty="0">
                <a:latin typeface="Calibir"/>
              </a:rPr>
              <a:t> → ensures backups happen and alert if they fail.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Unique logins / role-based access</a:t>
            </a:r>
            <a:r>
              <a:rPr lang="en-US" sz="2500" dirty="0">
                <a:latin typeface="Calibir"/>
              </a:rPr>
              <a:t> → every user has their own permissions.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Firewall tightening &amp; regular audits</a:t>
            </a:r>
            <a:r>
              <a:rPr lang="en-US" sz="2500" dirty="0">
                <a:latin typeface="Calibir"/>
              </a:rPr>
              <a:t> → only allow trusted connections.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Clear DBA/DA boundaries</a:t>
            </a:r>
            <a:r>
              <a:rPr lang="en-US" sz="2500" dirty="0">
                <a:latin typeface="Calibir"/>
              </a:rPr>
              <a:t> → DBA handles systems; DA enforces policies.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305187C-391F-9B97-C9B3-FB21CC34BA8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84752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49D3BFD-85AB-9815-6353-E4F47AE28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D19AC5-AEB4-AC9E-2E27-655104C8BA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48BD2-143B-389B-9351-A8ED408772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96F778-C920-900E-67E9-20BC141AEC9B}"/>
              </a:ext>
            </a:extLst>
          </p:cNvPr>
          <p:cNvSpPr txBox="1"/>
          <p:nvPr/>
        </p:nvSpPr>
        <p:spPr>
          <a:xfrm>
            <a:off x="0" y="1126049"/>
            <a:ext cx="8987882" cy="5226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Brainstorm – 3 Security Improvements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Automated backup monitoring</a:t>
            </a:r>
            <a:r>
              <a:rPr lang="en-US" sz="2500" dirty="0">
                <a:latin typeface="Calibir"/>
              </a:rPr>
              <a:t> → ensures backups happen and alert if they fail.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Unique logins / role-based access</a:t>
            </a:r>
            <a:r>
              <a:rPr lang="en-US" sz="2500" dirty="0">
                <a:latin typeface="Calibir"/>
              </a:rPr>
              <a:t> → every user has their own permissions.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Firewall tightening &amp; regular audits</a:t>
            </a:r>
            <a:r>
              <a:rPr lang="en-US" sz="2500" dirty="0">
                <a:latin typeface="Calibir"/>
              </a:rPr>
              <a:t> → only allow trusted connections.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500" b="1" dirty="0">
                <a:latin typeface="Calibir"/>
              </a:rPr>
              <a:t>Clear DBA/DA boundaries</a:t>
            </a:r>
            <a:r>
              <a:rPr lang="en-US" sz="2500" dirty="0">
                <a:latin typeface="Calibir"/>
              </a:rPr>
              <a:t> → DBA handles systems; DA enforces policies.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0C322C2-11E8-7775-9882-AF5164779D5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498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19CD990-42AB-2705-DA13-8E1D89284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9631C8-BAFF-E20F-F342-97D9B0E04B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14625-9341-4FB7-259D-6F85348D32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209CF4-6D23-BFF9-46D3-BE7B90356D26}"/>
              </a:ext>
            </a:extLst>
          </p:cNvPr>
          <p:cNvSpPr txBox="1"/>
          <p:nvPr/>
        </p:nvSpPr>
        <p:spPr>
          <a:xfrm>
            <a:off x="0" y="1126049"/>
            <a:ext cx="89878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 – Roles and Responsibilities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Question:  “What’s the main job of a DBA and how is it different from a DA?” (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1-2 min</a:t>
            </a:r>
            <a:r>
              <a:rPr lang="en-US" sz="2800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Sample Answer: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DBA: Handles technical work — backups, security, performance, and system access.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DA: Sets the rules — data standards, documentation, and who is responsible for checks.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70B854A-BD84-E380-C9E8-566E7DB4F36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61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97729D-8950-38C4-256B-45A8566B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F1DC2-B913-DB2F-FE76-B7B65AC29C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DBB457-CEBF-D5E7-7859-D36C1B554E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B594-CA16-65BD-5B3B-3AF25B5E15DD}"/>
              </a:ext>
            </a:extLst>
          </p:cNvPr>
          <p:cNvSpPr txBox="1"/>
          <p:nvPr/>
        </p:nvSpPr>
        <p:spPr>
          <a:xfrm>
            <a:off x="0" y="914195"/>
            <a:ext cx="8987882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 – What Went Wrong? (</a:t>
            </a:r>
            <a:r>
              <a:rPr lang="en-US" sz="2800" b="1" dirty="0">
                <a:highlight>
                  <a:srgbClr val="FFFF00"/>
                </a:highlight>
                <a:latin typeface="Calibir"/>
              </a:rPr>
              <a:t>1-2 min</a:t>
            </a:r>
            <a:r>
              <a:rPr lang="en-US" sz="2800" b="1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“Which governance or management issues made the system crash worse?”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Sample Answer: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one checked if backups worked.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Shared logins → no accountability.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Weak firewall and everyone had full access.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clear process or role separation.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FE5518E-85D7-F9C7-A2EC-5AB4CEAB27F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372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86EA4E-C25C-2BFE-0E8E-151ED6759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CC6096-0F67-5516-0A2C-E098A2577D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44D02-92C1-28F1-287B-CDD40F44DF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E08749-F569-05B4-91CE-4949944D249F}"/>
              </a:ext>
            </a:extLst>
          </p:cNvPr>
          <p:cNvSpPr txBox="1"/>
          <p:nvPr/>
        </p:nvSpPr>
        <p:spPr>
          <a:xfrm>
            <a:off x="0" y="914195"/>
            <a:ext cx="8987882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Q3 – Why Did It Hurt the Business?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“How did these problems affect </a:t>
            </a: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and its clients?”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Sample Answer: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System down for 36 hours → hospitals lost access to patient data.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Clients lost trust and paused data sharing.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Damaged company reputation and reliability.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0458529-1EDB-9E7F-E343-9C28630018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363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2999830-C684-30BC-F53E-52296C249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B3BA3C-5D8A-E0F4-DD16-8B54EA5D01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B2703-AB5E-82CE-0460-6CFA435237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414482-B39D-11B1-237B-5B33172146E3}"/>
              </a:ext>
            </a:extLst>
          </p:cNvPr>
          <p:cNvSpPr txBox="1"/>
          <p:nvPr/>
        </p:nvSpPr>
        <p:spPr>
          <a:xfrm>
            <a:off x="0" y="914195"/>
            <a:ext cx="8987882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Q4 – How to Prevent It?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“What three actions could </a:t>
            </a:r>
            <a:r>
              <a:rPr lang="en-US" sz="2800" dirty="0" err="1">
                <a:latin typeface="Calibir"/>
              </a:rPr>
              <a:t>MediSys</a:t>
            </a:r>
            <a:r>
              <a:rPr lang="en-US" sz="2800" dirty="0">
                <a:latin typeface="Calibir"/>
              </a:rPr>
              <a:t> take to stop this happening again?”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Sample Answer: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Set up automatic backup monitoring with alerts.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Give each user a unique login and role-based access.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Tighten firewall rules and keep written security checks.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DB4ADE8-130A-02A7-D318-74A17B13753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924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CBF1E0E-B154-4693-F1D0-F5489441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726383-66F2-AA1C-0849-77CF256C21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3D15-82DA-F6C9-B63A-3174EAD51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FCE5D3-5952-05F5-5909-806A4441D8AA}"/>
              </a:ext>
            </a:extLst>
          </p:cNvPr>
          <p:cNvSpPr txBox="1"/>
          <p:nvPr/>
        </p:nvSpPr>
        <p:spPr>
          <a:xfrm>
            <a:off x="78059" y="2123578"/>
            <a:ext cx="898788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we’ve learned that database security isn’t just about technology — it’s about clear roles, strong policies, and constant checks. Both the DBA and DA must work together to protect the system.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E80598F-9EB2-FAF5-133D-D8A27BA72B0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Step 3 – Story 2: The System Crash at MediSys Health (20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3532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FF48CE-FAA0-E000-9FB1-448247079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EF6DD8-01C1-09CA-71A2-1EFB08F89F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3FB63-AC4F-71B8-B3B2-ECC091C6D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8E4392F-39DB-5E3A-CF34-47766EC8AA7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5BF8F2-522D-4D92-976F-C445EE5D84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82" b="17805"/>
          <a:stretch>
            <a:fillRect/>
          </a:stretch>
        </p:blipFill>
        <p:spPr>
          <a:xfrm>
            <a:off x="0" y="1533292"/>
            <a:ext cx="9144000" cy="379141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2192C7E-3E73-7685-64D3-AFBE5FE21B6A}"/>
              </a:ext>
            </a:extLst>
          </p:cNvPr>
          <p:cNvSpPr/>
          <p:nvPr/>
        </p:nvSpPr>
        <p:spPr>
          <a:xfrm>
            <a:off x="1605776" y="3769112"/>
            <a:ext cx="5575609" cy="156117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1394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AF3CF1D-3787-BB1E-A65D-94C8B3E8C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C92000-97A2-752D-92A3-ABC4C21D64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4A4BD-8612-1735-759D-194F7D8557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3BD306-54E6-C788-8A46-62C9AAAE119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38B27-341C-D32F-79BF-478443751A17}"/>
              </a:ext>
            </a:extLst>
          </p:cNvPr>
          <p:cNvSpPr txBox="1"/>
          <p:nvPr/>
        </p:nvSpPr>
        <p:spPr>
          <a:xfrm>
            <a:off x="0" y="1661652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ITEC200 – Assessment Task 3 (AT3)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Database + Recorded Presentation (35 %)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Due Date:</a:t>
            </a:r>
            <a:r>
              <a:rPr lang="en-US" sz="2800" dirty="0">
                <a:latin typeface="Calibir"/>
              </a:rPr>
              <a:t> 5 pm Sunday 10 Nov 2025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Weighting:</a:t>
            </a:r>
            <a:r>
              <a:rPr lang="en-US" sz="2800" dirty="0">
                <a:latin typeface="Calibir"/>
              </a:rPr>
              <a:t> 35 %  </a:t>
            </a:r>
            <a:r>
              <a:rPr lang="en-US" sz="2800" b="1" dirty="0">
                <a:latin typeface="Calibir"/>
              </a:rPr>
              <a:t>Learning Outcomes:</a:t>
            </a:r>
            <a:r>
              <a:rPr lang="en-US" sz="2800" dirty="0">
                <a:latin typeface="Calibir"/>
              </a:rPr>
              <a:t> LO2 &amp; LO4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Submission:</a:t>
            </a:r>
            <a:r>
              <a:rPr lang="en-US" sz="2800" dirty="0">
                <a:latin typeface="Calibir"/>
              </a:rPr>
              <a:t> via Canvas (upload two files)</a:t>
            </a:r>
          </a:p>
        </p:txBody>
      </p:sp>
    </p:spTree>
    <p:extLst>
      <p:ext uri="{BB962C8B-B14F-4D97-AF65-F5344CB8AC3E}">
        <p14:creationId xmlns:p14="http://schemas.microsoft.com/office/powerpoint/2010/main" val="3698771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D316EB-90E2-55C0-3332-8612C58A3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F6A6D3-F397-8772-5DCE-300AD88CF9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F4EA3-CD7A-7B31-4288-2634F81E36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6BB0892-6AB8-E928-5246-25CEBF6CD3E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549C35-343B-4C8A-E9E0-84257674D324}"/>
              </a:ext>
            </a:extLst>
          </p:cNvPr>
          <p:cNvSpPr txBox="1"/>
          <p:nvPr/>
        </p:nvSpPr>
        <p:spPr>
          <a:xfrm>
            <a:off x="0" y="1661652"/>
            <a:ext cx="89878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A – Database Queries (15 marks)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test your ability to create and run SQL queries in Microsoft Access using real data from the </a:t>
            </a:r>
            <a:r>
              <a:rPr lang="en-US" sz="2800" dirty="0" err="1">
                <a:latin typeface="Calibir"/>
              </a:rPr>
              <a:t>OzCo</a:t>
            </a:r>
            <a:r>
              <a:rPr lang="en-US" sz="2800" dirty="0">
                <a:latin typeface="Calibir"/>
              </a:rPr>
              <a:t> database, which stores information about customers, products, vendors, employees, and sales.</a:t>
            </a:r>
          </a:p>
        </p:txBody>
      </p:sp>
    </p:spTree>
    <p:extLst>
      <p:ext uri="{BB962C8B-B14F-4D97-AF65-F5344CB8AC3E}">
        <p14:creationId xmlns:p14="http://schemas.microsoft.com/office/powerpoint/2010/main" val="13891738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AC56F08-C590-457A-9A7B-2ACE5A5D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93543-DE3A-D895-5DD3-05DFD0AFA7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5816C-E563-A4F0-F264-ADAE852012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3FB2CD1-D4F0-AA4D-E6FE-8EE08AB4827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30C4D4-5179-6F2E-7D30-50BAAE369446}"/>
              </a:ext>
            </a:extLst>
          </p:cNvPr>
          <p:cNvSpPr txBox="1"/>
          <p:nvPr/>
        </p:nvSpPr>
        <p:spPr>
          <a:xfrm>
            <a:off x="0" y="914195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Step-by-Step Instructions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Prepare the Database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Download the file OzCo-1-1.mdb.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C6D6AD-08FD-169D-7053-2CD5786839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8566" r="61506" b="39821"/>
          <a:stretch>
            <a:fillRect/>
          </a:stretch>
        </p:blipFill>
        <p:spPr>
          <a:xfrm>
            <a:off x="5624052" y="1003757"/>
            <a:ext cx="3519948" cy="265471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15F1B3-3EE2-971F-4F56-C79BD38628B0}"/>
              </a:ext>
            </a:extLst>
          </p:cNvPr>
          <p:cNvCxnSpPr/>
          <p:nvPr/>
        </p:nvCxnSpPr>
        <p:spPr>
          <a:xfrm>
            <a:off x="7482349" y="3028340"/>
            <a:ext cx="914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9037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2D45AFF-CC9E-1909-DFD5-975EF5734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860273-EC7B-3313-B075-8B29194873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8BAD5-45C3-8D0D-27CE-059F70EC76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8DD3C12-A67E-2BA1-A877-0E2483150F8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B4EAC3-04AC-78C4-001F-FE8423B10CAC}"/>
              </a:ext>
            </a:extLst>
          </p:cNvPr>
          <p:cNvSpPr txBox="1"/>
          <p:nvPr/>
        </p:nvSpPr>
        <p:spPr>
          <a:xfrm>
            <a:off x="0" y="914195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Move your OzCo-1-1.mdb file from Downloads to a trusted local folder, e.g.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E:\ITEC200\Assessment 3</a:t>
            </a:r>
          </a:p>
        </p:txBody>
      </p:sp>
    </p:spTree>
    <p:extLst>
      <p:ext uri="{BB962C8B-B14F-4D97-AF65-F5344CB8AC3E}">
        <p14:creationId xmlns:p14="http://schemas.microsoft.com/office/powerpoint/2010/main" val="10997606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C9B939-9832-ABDC-AB4E-7AE80D544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1AE619-E7CE-1AC2-8B5B-BF4F8AD3E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BBE0-9E01-4034-9102-73010439E6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D0CFF06-971E-87EB-8B30-2B0B1CD5464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73F4D-F658-C722-7B67-E619D943D4BC}"/>
              </a:ext>
            </a:extLst>
          </p:cNvPr>
          <p:cNvSpPr txBox="1"/>
          <p:nvPr/>
        </p:nvSpPr>
        <p:spPr>
          <a:xfrm>
            <a:off x="0" y="914195"/>
            <a:ext cx="8987882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 Microsoft Access as Administrator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D3FF96-C829-1BB7-1855-DA3B009C83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581" t="7037" r="25699" b="42689"/>
          <a:stretch>
            <a:fillRect/>
          </a:stretch>
        </p:blipFill>
        <p:spPr>
          <a:xfrm>
            <a:off x="1702499" y="2233838"/>
            <a:ext cx="6636774" cy="362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6448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D6D1E16-BC58-D0DA-CE4B-70496D219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02FF99-FE34-6568-F275-84907EB7A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63407-24AA-6CB7-A8E6-4E11FEB14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7250EE6-4CF0-509A-E5C4-D8ACC8D9C1D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D08F9C-C01F-E99F-402E-6AFAB3DD57B1}"/>
              </a:ext>
            </a:extLst>
          </p:cNvPr>
          <p:cNvSpPr txBox="1"/>
          <p:nvPr/>
        </p:nvSpPr>
        <p:spPr>
          <a:xfrm>
            <a:off x="0" y="914195"/>
            <a:ext cx="89878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Access → File → Options → Trust Center → Trust Center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Settings.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581274-5068-D9D2-6B89-C38180A273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51" t="6655" r="22365" b="12676"/>
          <a:stretch>
            <a:fillRect/>
          </a:stretch>
        </p:blipFill>
        <p:spPr>
          <a:xfrm>
            <a:off x="4640826" y="3209476"/>
            <a:ext cx="4503174" cy="3682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8933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91C3720-26DF-D26C-4759-EF14F920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F4EE9-3158-39E9-7D5A-15E91475B2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ACB8C9-BF2F-2C57-F98A-85E506B3E1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DB8FF6B-2F01-4136-60FB-DAFD658D4B5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FD78B0-1DB7-643D-F6F4-23171D01FB19}"/>
              </a:ext>
            </a:extLst>
          </p:cNvPr>
          <p:cNvSpPr txBox="1"/>
          <p:nvPr/>
        </p:nvSpPr>
        <p:spPr>
          <a:xfrm>
            <a:off x="0" y="914195"/>
            <a:ext cx="898788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 to Trusted Locations → Add new location.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the folder where you saved OzCo-2.mdb (</a:t>
            </a:r>
            <a:r>
              <a:rPr lang="en-US" sz="2800" dirty="0" err="1">
                <a:latin typeface="Calibir"/>
              </a:rPr>
              <a:t>e.g</a:t>
            </a:r>
            <a:r>
              <a:rPr lang="en-US" sz="2800" dirty="0">
                <a:latin typeface="Calibir"/>
              </a:rPr>
              <a:t> E:\ITEC200\Assessment 3)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5F01F5-F5F9-CC68-2FC3-420C06D43F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903" t="7419" r="21721" b="11542"/>
          <a:stretch>
            <a:fillRect/>
          </a:stretch>
        </p:blipFill>
        <p:spPr>
          <a:xfrm>
            <a:off x="4109545" y="2678810"/>
            <a:ext cx="5076939" cy="417919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EE3A8CF-AA4B-E083-2BB5-BA59B51BB86A}"/>
              </a:ext>
            </a:extLst>
          </p:cNvPr>
          <p:cNvSpPr/>
          <p:nvPr/>
        </p:nvSpPr>
        <p:spPr>
          <a:xfrm>
            <a:off x="7499385" y="6076661"/>
            <a:ext cx="740725" cy="26107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486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3B5059-B245-7F2B-BF73-EA5A7A56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764238-2651-AF0B-E834-1595FBD33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D4FE6-BEA4-51B6-AF3C-84CE5A38B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959C22-7180-73E8-445F-7AD2FD9DF7E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973783-2E9D-7F7E-D067-A2ECFF4AA52E}"/>
              </a:ext>
            </a:extLst>
          </p:cNvPr>
          <p:cNvSpPr txBox="1"/>
          <p:nvPr/>
        </p:nvSpPr>
        <p:spPr>
          <a:xfrm>
            <a:off x="0" y="2110677"/>
            <a:ext cx="89878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 “Subfolders of this location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are also trusted.” Click OK → OK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OK. This ensures any future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Access databases in that folder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open without warnings.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9DB609-2B83-E1D0-414F-7E5347B776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978" t="30332" r="34942" b="32273"/>
          <a:stretch>
            <a:fillRect/>
          </a:stretch>
        </p:blipFill>
        <p:spPr>
          <a:xfrm>
            <a:off x="4861501" y="2270233"/>
            <a:ext cx="4282499" cy="309761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B468A5-D6E5-24A1-A82F-64381C3F4CBB}"/>
              </a:ext>
            </a:extLst>
          </p:cNvPr>
          <p:cNvSpPr/>
          <p:nvPr/>
        </p:nvSpPr>
        <p:spPr>
          <a:xfrm>
            <a:off x="4887310" y="3794234"/>
            <a:ext cx="2501462" cy="2102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494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C9089AF-3C6A-0EF6-484C-115C68CAE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97583C-1737-5FBF-2E78-4BE8ED225E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9CC88-DFBE-568F-E482-CEF5563019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003425D-2B27-629F-5DD6-F4D7354901B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46D889-B9AF-F92C-AEF3-B6EE07A910D8}"/>
              </a:ext>
            </a:extLst>
          </p:cNvPr>
          <p:cNvSpPr txBox="1"/>
          <p:nvPr/>
        </p:nvSpPr>
        <p:spPr>
          <a:xfrm>
            <a:off x="78059" y="968058"/>
            <a:ext cx="8004396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Now open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browse  Open Exclusive</a:t>
            </a:r>
            <a:endParaRPr lang="en-US" sz="2800" dirty="0">
              <a:latin typeface="Calibir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13E52C-216D-6437-D29A-564BF9771B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2886"/>
          <a:stretch>
            <a:fillRect/>
          </a:stretch>
        </p:blipFill>
        <p:spPr>
          <a:xfrm>
            <a:off x="2093755" y="1863743"/>
            <a:ext cx="5854262" cy="4420136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B561199-AA03-C667-A13D-B5D1B881C124}"/>
              </a:ext>
            </a:extLst>
          </p:cNvPr>
          <p:cNvSpPr/>
          <p:nvPr/>
        </p:nvSpPr>
        <p:spPr>
          <a:xfrm>
            <a:off x="6180085" y="5864771"/>
            <a:ext cx="1839310" cy="18918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2982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D45079-D304-0C43-7EB5-57C36F0F0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DBDDF0-D1FC-D69E-E6F3-12E1F24968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13A906-5C0D-7322-ED94-0C2F38072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002C886-19F7-DA11-AA71-08CB048C218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FED096-DFA9-DC13-2CBD-F6237411A06D}"/>
              </a:ext>
            </a:extLst>
          </p:cNvPr>
          <p:cNvSpPr txBox="1"/>
          <p:nvPr/>
        </p:nvSpPr>
        <p:spPr>
          <a:xfrm>
            <a:off x="78060" y="968058"/>
            <a:ext cx="439357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Then Open Database Tools → Relationships </a:t>
            </a:r>
            <a:r>
              <a:rPr lang="en-US" sz="2700" dirty="0">
                <a:latin typeface="Calibir"/>
                <a:sym typeface="Wingdings" panose="05000000000000000000" pitchFamily="2" charset="2"/>
              </a:rPr>
              <a:t> Hold Ctrl and Select All Tables  Add Selected Tables  Create</a:t>
            </a:r>
            <a:r>
              <a:rPr lang="en-US" sz="2700" dirty="0">
                <a:latin typeface="Calibir"/>
              </a:rPr>
              <a:t> the ERD which is matched to the figure provided on Canvas. Save the relationships before creating queries.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E404D-A9D5-71BF-618D-C57300C382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968" b="40777"/>
          <a:stretch>
            <a:fillRect/>
          </a:stretch>
        </p:blipFill>
        <p:spPr>
          <a:xfrm>
            <a:off x="4385187" y="1314305"/>
            <a:ext cx="4680754" cy="197300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D4522B2-8961-D178-7321-879A005DA51E}"/>
              </a:ext>
            </a:extLst>
          </p:cNvPr>
          <p:cNvSpPr/>
          <p:nvPr/>
        </p:nvSpPr>
        <p:spPr>
          <a:xfrm>
            <a:off x="5624051" y="1612491"/>
            <a:ext cx="383458" cy="35396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96AE83-4529-BDB4-A466-AD238FBA6A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812" t="728" b="8886"/>
          <a:stretch>
            <a:fillRect/>
          </a:stretch>
        </p:blipFill>
        <p:spPr>
          <a:xfrm>
            <a:off x="5849561" y="3570694"/>
            <a:ext cx="3309786" cy="3287305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A34D8A2-8A1C-7DF6-02A3-CB759551A0B0}"/>
              </a:ext>
            </a:extLst>
          </p:cNvPr>
          <p:cNvSpPr/>
          <p:nvPr/>
        </p:nvSpPr>
        <p:spPr>
          <a:xfrm>
            <a:off x="8062452" y="4316361"/>
            <a:ext cx="1081548" cy="254163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9F5C9DE-3078-5646-2A59-F6D6C7D91278}"/>
              </a:ext>
            </a:extLst>
          </p:cNvPr>
          <p:cNvCxnSpPr>
            <a:endCxn id="11" idx="1"/>
          </p:cNvCxnSpPr>
          <p:nvPr/>
        </p:nvCxnSpPr>
        <p:spPr>
          <a:xfrm rot="16200000" flipH="1">
            <a:off x="4375080" y="3739865"/>
            <a:ext cx="1927041" cy="102192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1927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42C36E6-6299-E2E6-4D61-7EAD5D72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EDCCA3-6E2A-9995-E132-B5F336F32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899F0-6FCF-AC23-4903-728D65CE5A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F5F2A05-BB6B-3EB3-EBBB-99DD26D6229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514C39C-A6BB-133A-5C7E-D5DA603732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0" y="1002913"/>
            <a:ext cx="9144000" cy="4852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473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41958A-ED04-0E72-E671-2964C4BEA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541BA8-61A0-8527-49DF-9E50C2480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86C7B-181A-CAF3-E94B-70D9169CE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64D9718-C3C6-31A2-007E-86340930AE9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 descr="A diagram of a company&#10;&#10;AI-generated content may be incorrect.">
            <a:extLst>
              <a:ext uri="{FF2B5EF4-FFF2-40B4-BE49-F238E27FC236}">
                <a16:creationId xmlns:a16="http://schemas.microsoft.com/office/drawing/2014/main" id="{64C3EE86-46CE-C641-0B48-F2EDF5951F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9840" y="1674277"/>
            <a:ext cx="3394160" cy="427257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FD8DB8E-0747-521F-BC02-D5E8CC0CF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658283"/>
              </p:ext>
            </p:extLst>
          </p:nvPr>
        </p:nvGraphicFramePr>
        <p:xfrm>
          <a:off x="-1" y="1674277"/>
          <a:ext cx="5724232" cy="47548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2457192084"/>
                    </a:ext>
                  </a:extLst>
                </a:gridCol>
                <a:gridCol w="1382752">
                  <a:extLst>
                    <a:ext uri="{9D8B030D-6E8A-4147-A177-3AD203B41FA5}">
                      <a16:colId xmlns:a16="http://schemas.microsoft.com/office/drawing/2014/main" val="2211605784"/>
                    </a:ext>
                  </a:extLst>
                </a:gridCol>
                <a:gridCol w="1550019">
                  <a:extLst>
                    <a:ext uri="{9D8B030D-6E8A-4147-A177-3AD203B41FA5}">
                      <a16:colId xmlns:a16="http://schemas.microsoft.com/office/drawing/2014/main" val="600917532"/>
                    </a:ext>
                  </a:extLst>
                </a:gridCol>
                <a:gridCol w="1360449">
                  <a:extLst>
                    <a:ext uri="{9D8B030D-6E8A-4147-A177-3AD203B41FA5}">
                      <a16:colId xmlns:a16="http://schemas.microsoft.com/office/drawing/2014/main" val="1774947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64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Cust_Code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LGCUSTOMER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Cust_Code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965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Employee_ID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160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2538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788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LGBRAND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39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LGVENDOR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077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0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LGDEPARTMENT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089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LGSALARY_HISTORY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72910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C8007F77-D30B-E8EE-4204-8CF45699E9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</p:spTree>
    <p:extLst>
      <p:ext uri="{BB962C8B-B14F-4D97-AF65-F5344CB8AC3E}">
        <p14:creationId xmlns:p14="http://schemas.microsoft.com/office/powerpoint/2010/main" val="18366825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5B387E-0266-C110-651D-E0548857B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BC00F3-1C71-8F7F-9B0C-28D4390D8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914E3-38F5-5CD3-D01B-ECE4732E9D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88E15B-B25E-8F64-86C6-1F71ABFCDA6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CD06A9F5-DB4E-B80E-7AC7-A3EFCDBA56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572288-2765-9880-04CF-3126F77F7B09}"/>
              </a:ext>
            </a:extLst>
          </p:cNvPr>
          <p:cNvSpPr txBox="1"/>
          <p:nvPr/>
        </p:nvSpPr>
        <p:spPr>
          <a:xfrm>
            <a:off x="5804210" y="1717288"/>
            <a:ext cx="3339790" cy="4102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Connect customers with their invoices.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From LGINVOICE, drag </a:t>
            </a:r>
            <a:r>
              <a:rPr lang="en-US" sz="2200" dirty="0" err="1">
                <a:latin typeface="Calibir"/>
              </a:rPr>
              <a:t>Cust_Code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Drop it onto </a:t>
            </a:r>
            <a:r>
              <a:rPr lang="en-US" sz="2200" dirty="0" err="1">
                <a:latin typeface="Calibir"/>
              </a:rPr>
              <a:t>Cust_Code</a:t>
            </a:r>
            <a:r>
              <a:rPr lang="en-US" sz="2200" dirty="0">
                <a:latin typeface="Calibir"/>
              </a:rPr>
              <a:t> in LGCUSTOMER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6E5F90-1B97-0CE9-97DF-922F4B92D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85" t="20406" r="21707" b="20239"/>
          <a:stretch>
            <a:fillRect/>
          </a:stretch>
        </p:blipFill>
        <p:spPr>
          <a:xfrm>
            <a:off x="0" y="1717288"/>
            <a:ext cx="5804210" cy="374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241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1528E7-55D7-F81D-7900-EB907C43E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DFB39-0F81-7584-A51D-5352581E2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52354-8D70-C67A-1A59-F7D7ED15A1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1A3D2D0-688B-CBE0-52E2-78602000E8B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F874DAE-F0D1-F381-1C25-5A4B524A7AEF}"/>
              </a:ext>
            </a:extLst>
          </p:cNvPr>
          <p:cNvGraphicFramePr>
            <a:graphicFrameLocks noGrp="1"/>
          </p:cNvGraphicFramePr>
          <p:nvPr/>
        </p:nvGraphicFramePr>
        <p:xfrm>
          <a:off x="-1" y="1674277"/>
          <a:ext cx="5724232" cy="47548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2457192084"/>
                    </a:ext>
                  </a:extLst>
                </a:gridCol>
                <a:gridCol w="1382752">
                  <a:extLst>
                    <a:ext uri="{9D8B030D-6E8A-4147-A177-3AD203B41FA5}">
                      <a16:colId xmlns:a16="http://schemas.microsoft.com/office/drawing/2014/main" val="2211605784"/>
                    </a:ext>
                  </a:extLst>
                </a:gridCol>
                <a:gridCol w="1550019">
                  <a:extLst>
                    <a:ext uri="{9D8B030D-6E8A-4147-A177-3AD203B41FA5}">
                      <a16:colId xmlns:a16="http://schemas.microsoft.com/office/drawing/2014/main" val="600917532"/>
                    </a:ext>
                  </a:extLst>
                </a:gridCol>
                <a:gridCol w="1360449">
                  <a:extLst>
                    <a:ext uri="{9D8B030D-6E8A-4147-A177-3AD203B41FA5}">
                      <a16:colId xmlns:a16="http://schemas.microsoft.com/office/drawing/2014/main" val="1774947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Table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Related Field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64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Cust_Code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LGCUSTOMER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Cust_Code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5965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Employee_ID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Emp_Num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160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LGINVOICE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Inv_Num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2538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788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LGBRAND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Brand_ID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390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LGVENDOR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Vend_ID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7077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LGSUPPLIES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Prod_SKU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40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LGDEPARTMENT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Dept_Num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089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LGSALARY_HISTORY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alibir"/>
                        </a:rPr>
                        <a:t>LGEMPLOYEE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alibir"/>
                        </a:rPr>
                        <a:t>Emp_Num</a:t>
                      </a:r>
                      <a:endParaRPr lang="en-US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272910"/>
                  </a:ext>
                </a:extLst>
              </a:tr>
            </a:tbl>
          </a:graphicData>
        </a:graphic>
      </p:graphicFrame>
      <p:sp>
        <p:nvSpPr>
          <p:cNvPr id="9" name="Rectangle 3">
            <a:extLst>
              <a:ext uri="{FF2B5EF4-FFF2-40B4-BE49-F238E27FC236}">
                <a16:creationId xmlns:a16="http://schemas.microsoft.com/office/drawing/2014/main" id="{0C16E68A-7D64-5C6E-BC8E-D249FA57B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1069744"/>
            <a:ext cx="25515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Create manually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9335B6-754E-791F-7EEE-39966E51A6A2}"/>
              </a:ext>
            </a:extLst>
          </p:cNvPr>
          <p:cNvSpPr txBox="1"/>
          <p:nvPr/>
        </p:nvSpPr>
        <p:spPr>
          <a:xfrm>
            <a:off x="5804210" y="1717288"/>
            <a:ext cx="3339790" cy="359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Tick: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i="1" dirty="0">
                <a:latin typeface="Calibir"/>
              </a:rPr>
              <a:t>Enforce Referential Integrity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i="1" dirty="0">
                <a:latin typeface="Calibir"/>
              </a:rPr>
              <a:t>Cascade Update Related Fields (optional)</a:t>
            </a:r>
            <a:endParaRPr lang="en-US" sz="2200" dirty="0">
              <a:latin typeface="Calibir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Click Create</a:t>
            </a:r>
          </a:p>
        </p:txBody>
      </p:sp>
    </p:spTree>
    <p:extLst>
      <p:ext uri="{BB962C8B-B14F-4D97-AF65-F5344CB8AC3E}">
        <p14:creationId xmlns:p14="http://schemas.microsoft.com/office/powerpoint/2010/main" val="15106848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11E9292-6D2E-EE8D-DC14-412BC6382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8B70A6-2E89-9D03-4709-F90B510348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5D52D-5338-587E-647D-490A102A4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CFFBF6D-74D9-5A20-C5F2-CB0757B8D93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D2441C-D3C8-FBB6-E688-42EEDAE67D75}"/>
              </a:ext>
            </a:extLst>
          </p:cNvPr>
          <p:cNvSpPr txBox="1"/>
          <p:nvPr/>
        </p:nvSpPr>
        <p:spPr>
          <a:xfrm>
            <a:off x="5804210" y="1228737"/>
            <a:ext cx="3339790" cy="502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When you enforce referential integrity, Access needs one side of the relationship to be a primary key or uniquely indexed field (so it can ensure every invoice belongs to a valid customer).</a:t>
            </a:r>
            <a:endParaRPr lang="en-US" sz="22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A0CE94-7011-27FC-E608-08CD3F9F11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561" t="36883" r="38293" b="42954"/>
          <a:stretch>
            <a:fillRect/>
          </a:stretch>
        </p:blipFill>
        <p:spPr>
          <a:xfrm>
            <a:off x="0" y="1416205"/>
            <a:ext cx="5620215" cy="263980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800966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61A297-59A7-1DFC-FF13-B69A6A58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8010D-959F-4117-BE5F-8E16E32356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EAC6B-080D-259A-B1FD-B862EBCAF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43D2CD8-9030-B834-73E4-896F9C6503A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7F7043-C075-601B-AB74-376E48C51593}"/>
              </a:ext>
            </a:extLst>
          </p:cNvPr>
          <p:cNvSpPr txBox="1"/>
          <p:nvPr/>
        </p:nvSpPr>
        <p:spPr>
          <a:xfrm>
            <a:off x="2988527" y="1131151"/>
            <a:ext cx="6155473" cy="280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Step 1. Open LGCUSTOMER in Design View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Close the Relationships window first (click Close).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In the Navigation Pane (left side), right-click LGCUSTOMER → Design View.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157CE7-AF9C-7871-DB83-A82FB5459C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3659" b="10650"/>
          <a:stretch>
            <a:fillRect/>
          </a:stretch>
        </p:blipFill>
        <p:spPr>
          <a:xfrm>
            <a:off x="0" y="1131151"/>
            <a:ext cx="2988527" cy="5702069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E6E9EC-DF33-E5D4-24AE-8C62B4276F4E}"/>
              </a:ext>
            </a:extLst>
          </p:cNvPr>
          <p:cNvSpPr/>
          <p:nvPr/>
        </p:nvSpPr>
        <p:spPr>
          <a:xfrm>
            <a:off x="1471961" y="3523785"/>
            <a:ext cx="1293542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0362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175C47E-4F7B-3860-A064-EFF81745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01F7DE-8782-6DC6-5872-FC7A56547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B97D5-88F8-5CCE-835A-6F4F0AC80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D51A5D3-8134-C0DC-F775-CF7142A1E2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D71F0A-6CF9-CACF-3307-BB4BF4D4B73E}"/>
              </a:ext>
            </a:extLst>
          </p:cNvPr>
          <p:cNvSpPr txBox="1"/>
          <p:nvPr/>
        </p:nvSpPr>
        <p:spPr>
          <a:xfrm>
            <a:off x="4371278" y="1031532"/>
            <a:ext cx="4772722" cy="563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Step 2. Set the Primary Key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In the design view, click on the first row — </a:t>
            </a:r>
            <a:r>
              <a:rPr lang="en-US" sz="2700" dirty="0" err="1">
                <a:latin typeface="Calibir"/>
              </a:rPr>
              <a:t>Cust_Code</a:t>
            </a:r>
            <a:r>
              <a:rPr lang="en-US" sz="27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On the top ribbon, click the Primary Key icon (under the Design tab).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You’ll now see a small key icon next to </a:t>
            </a:r>
            <a:r>
              <a:rPr lang="en-US" sz="2700" dirty="0" err="1">
                <a:latin typeface="Calibir"/>
              </a:rPr>
              <a:t>Cust_Code</a:t>
            </a:r>
            <a:r>
              <a:rPr lang="en-US" sz="27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Press </a:t>
            </a:r>
            <a:r>
              <a:rPr lang="en-US" sz="2700" dirty="0" err="1">
                <a:latin typeface="Calibir"/>
              </a:rPr>
              <a:t>Ctrl+S</a:t>
            </a:r>
            <a:r>
              <a:rPr lang="en-US" sz="2700" dirty="0">
                <a:latin typeface="Calibir"/>
              </a:rPr>
              <a:t> to save the table.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3E5D2-881C-E875-B95D-D7FC197230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195" b="38401"/>
          <a:stretch>
            <a:fillRect/>
          </a:stretch>
        </p:blipFill>
        <p:spPr>
          <a:xfrm>
            <a:off x="0" y="1131151"/>
            <a:ext cx="4371278" cy="31683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3132A6A-3C0D-BE88-F09F-EA29A7CF1CFA}"/>
              </a:ext>
            </a:extLst>
          </p:cNvPr>
          <p:cNvSpPr/>
          <p:nvPr/>
        </p:nvSpPr>
        <p:spPr>
          <a:xfrm>
            <a:off x="409721" y="1616927"/>
            <a:ext cx="448128" cy="5241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408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659C915-6AAE-1B97-B511-6E7A6FFAB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A0D84-8BF5-E532-A976-7AC6C2E8D8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2A69A-9EE7-3BEF-537D-C71F1079C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A70B0A2-59C2-8B63-0ABB-045D920BF11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97D9E6-7FB7-A92B-9BBB-47D73991BA8E}"/>
              </a:ext>
            </a:extLst>
          </p:cNvPr>
          <p:cNvSpPr txBox="1"/>
          <p:nvPr/>
        </p:nvSpPr>
        <p:spPr>
          <a:xfrm>
            <a:off x="4371278" y="1031532"/>
            <a:ext cx="477272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Repeat for Other Tables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While you’re here, check the other tables too — each one should have its key field set as follows: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8428C2-9D66-E8AF-08E2-5EE65D6B77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195" b="38401"/>
          <a:stretch>
            <a:fillRect/>
          </a:stretch>
        </p:blipFill>
        <p:spPr>
          <a:xfrm>
            <a:off x="0" y="1131151"/>
            <a:ext cx="4371278" cy="31683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12B703-6E8C-7A3B-E04C-910F6F0E0BE8}"/>
              </a:ext>
            </a:extLst>
          </p:cNvPr>
          <p:cNvSpPr/>
          <p:nvPr/>
        </p:nvSpPr>
        <p:spPr>
          <a:xfrm>
            <a:off x="409721" y="1616927"/>
            <a:ext cx="448128" cy="5241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567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6DADF62-9F01-F102-70EE-A0AE3BC69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3290C-26F7-4DA2-1F93-1E4606AA2A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E8C79-92F6-FD52-C977-68B44E160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1FF5D4C-7B27-5823-D893-7D994169729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ECBB6A3-FA17-9769-17D6-067D89ECC7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690974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LGCUSTOMER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Cust_Code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Brand_ID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LGDEPARTMENT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Dept_Num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LGEMPLOYEE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LGINVOICE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Inv_Num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LGLINE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Inv_Num + Line_Num)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LGPRODUCT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Prod_SKU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LGSALARY_HISTORY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Emp_Num + Sal_From)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82474295-0D9C-05E1-2BC2-353500D525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146" b="39485"/>
          <a:stretch>
            <a:fillRect/>
          </a:stretch>
        </p:blipFill>
        <p:spPr>
          <a:xfrm>
            <a:off x="0" y="1131150"/>
            <a:ext cx="4504373" cy="3753083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64E0EB1-1F6A-D03F-F9EF-9DBF84E6233C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2560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4DE2013-50BF-637F-1E0D-834797CD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25A0BC-5B92-1023-D5F0-2884AA202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38F9E-2861-78D9-70E6-F31A60053B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174C478-6B41-92C7-2C13-F87D726A705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AC441C4-9360-19A0-5490-8B18AA18D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526907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LGPRODUCT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Prod_SKU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LGSALARY_HISTORY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Emp_Num + Sal_From)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6E4850-E936-9F77-7292-AF300E9044F1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FF964E-9A23-9C55-CCAA-20A87C64E0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8835"/>
          <a:stretch>
            <a:fillRect/>
          </a:stretch>
        </p:blipFill>
        <p:spPr>
          <a:xfrm>
            <a:off x="0" y="1131151"/>
            <a:ext cx="4572000" cy="3146038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C1127CA9-783C-14EB-A3DD-B7F2E3EC4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INV_NUM,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LINE_NUM.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FCF9450-0B30-0FF4-3685-272C1140BAD7}"/>
              </a:ext>
            </a:extLst>
          </p:cNvPr>
          <p:cNvSpPr/>
          <p:nvPr/>
        </p:nvSpPr>
        <p:spPr>
          <a:xfrm>
            <a:off x="4654844" y="3462453"/>
            <a:ext cx="4388795" cy="96458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0261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482A558-2112-BA07-94CA-D767D8F9C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6BC2D-8BDD-2CB4-0D28-35FCA4CB83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9D4FD-34FC-26ED-5A04-99A3BEF646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28B781-24AA-DE5A-A800-3674B34A1AF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3A82EEE-1D03-1FFA-4E4E-4A158D29D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913721"/>
              </p:ext>
            </p:extLst>
          </p:nvPr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C739F3-CCD5-63DB-FE76-9110F6E49118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C8F3EAB4-C493-44E5-5641-AFB4F3C31C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Emp_Num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Sal_From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00F421-4F1C-66E8-FFCC-6FE071529B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8425"/>
          <a:stretch>
            <a:fillRect/>
          </a:stretch>
        </p:blipFill>
        <p:spPr>
          <a:xfrm>
            <a:off x="0" y="1097892"/>
            <a:ext cx="4572000" cy="3167093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2EF897-3B2B-4649-CC0A-EF8BF59A21BE}"/>
              </a:ext>
            </a:extLst>
          </p:cNvPr>
          <p:cNvSpPr/>
          <p:nvPr/>
        </p:nvSpPr>
        <p:spPr>
          <a:xfrm>
            <a:off x="4654844" y="4817327"/>
            <a:ext cx="4388795" cy="103706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510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410087E-CBC8-C8BF-079B-B3940BF17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FC5103-1E01-179E-FACA-2DE77E70C7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AD51F-AC31-4A92-1475-CA75BFD247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813CB86-B989-ECD0-3479-BC95A3FFF34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81497E-0353-1940-7C06-BACE4F05E11B}"/>
              </a:ext>
            </a:extLst>
          </p:cNvPr>
          <p:cNvGraphicFramePr>
            <a:graphicFrameLocks noGrp="1"/>
          </p:cNvGraphicFramePr>
          <p:nvPr/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2FAD3E-6944-395D-467D-A9429DF177FA}"/>
              </a:ext>
            </a:extLst>
          </p:cNvPr>
          <p:cNvSpPr/>
          <p:nvPr/>
        </p:nvSpPr>
        <p:spPr>
          <a:xfrm>
            <a:off x="512956" y="1717290"/>
            <a:ext cx="476958" cy="68022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3B61C31-71AC-98F3-592C-99EB361F4B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264985"/>
            <a:ext cx="4654844" cy="22510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Vend_ID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hold down the Ctrl key on the keyboard.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While holding Ctrl, click the row selector for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Prod_SKU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251773-44CC-AA71-0241-D68CD9EAE2E9}"/>
              </a:ext>
            </a:extLst>
          </p:cNvPr>
          <p:cNvSpPr/>
          <p:nvPr/>
        </p:nvSpPr>
        <p:spPr>
          <a:xfrm>
            <a:off x="4654844" y="5854390"/>
            <a:ext cx="4388795" cy="63377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517A8B-9522-6D09-068D-D652115C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906" b="38425"/>
          <a:stretch>
            <a:fillRect/>
          </a:stretch>
        </p:blipFill>
        <p:spPr>
          <a:xfrm>
            <a:off x="0" y="1131151"/>
            <a:ext cx="4489157" cy="3167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2432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52408B5-0E11-3E35-19E0-A0420DDE2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F9497C-25F3-C3F4-7687-A0DE27ED7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F5A889-FC90-E3E9-CDD0-290DBDE7E4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14EE0B0-01B5-0357-3308-47B85DFA052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D56F9B-6F6A-DB56-7E61-556D1C81668D}"/>
              </a:ext>
            </a:extLst>
          </p:cNvPr>
          <p:cNvGraphicFramePr>
            <a:graphicFrameLocks noGrp="1"/>
          </p:cNvGraphicFramePr>
          <p:nvPr/>
        </p:nvGraphicFramePr>
        <p:xfrm>
          <a:off x="4654844" y="1131151"/>
          <a:ext cx="4388795" cy="577990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3029210933"/>
                    </a:ext>
                  </a:extLst>
                </a:gridCol>
                <a:gridCol w="2464420">
                  <a:extLst>
                    <a:ext uri="{9D8B030D-6E8A-4147-A177-3AD203B41FA5}">
                      <a16:colId xmlns:a16="http://schemas.microsoft.com/office/drawing/2014/main" val="1934848403"/>
                    </a:ext>
                  </a:extLst>
                </a:gridCol>
              </a:tblGrid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Table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Primary Key Field</a:t>
                      </a:r>
                    </a:p>
                  </a:txBody>
                  <a:tcPr marL="82101" marR="82101" marT="41050" marB="41050"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0025564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LGCUSTOMER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Cust_Code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836616182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LGBRAND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Brand_ID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00117318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LGDEPARTMENT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Dept_Num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9018037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LGEMPLOYEE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854831646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LGINVOICE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400355638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LGLINE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Inv_Num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Line_Num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966695041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LGPRODUCT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Prod_SKU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2392902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>
                          <a:latin typeface="Calibir"/>
                        </a:rPr>
                        <a:t>LGSALARY_HISTORY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Calibir"/>
                        </a:rPr>
                        <a:t>(Composite Key: </a:t>
                      </a:r>
                      <a:r>
                        <a:rPr lang="en-US" sz="2000" dirty="0" err="1">
                          <a:latin typeface="Calibir"/>
                        </a:rPr>
                        <a:t>Emp_Num</a:t>
                      </a:r>
                      <a:r>
                        <a:rPr lang="en-US" sz="2000" dirty="0">
                          <a:latin typeface="Calibir"/>
                        </a:rPr>
                        <a:t> + </a:t>
                      </a:r>
                      <a:r>
                        <a:rPr lang="en-US" sz="2000" dirty="0" err="1">
                          <a:latin typeface="Calibir"/>
                        </a:rPr>
                        <a:t>Sal_From</a:t>
                      </a:r>
                      <a:r>
                        <a:rPr lang="en-US" sz="2000" dirty="0">
                          <a:latin typeface="Calibir"/>
                        </a:rPr>
                        <a:t>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2367499309"/>
                  </a:ext>
                </a:extLst>
              </a:tr>
              <a:tr h="5747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LGSUPPLIES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Calibir"/>
                        </a:rPr>
                        <a:t>(Composite Key: Vend_ID + Prod_SKU)</a:t>
                      </a: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3062470799"/>
                  </a:ext>
                </a:extLst>
              </a:tr>
              <a:tr h="3284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>
                          <a:latin typeface="Calibir"/>
                        </a:rPr>
                        <a:t>LGVENDOR</a:t>
                      </a:r>
                      <a:endParaRPr lang="en-US" sz="200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>
                          <a:latin typeface="Calibir"/>
                        </a:rPr>
                        <a:t>Vend_ID</a:t>
                      </a:r>
                      <a:endParaRPr lang="en-US" sz="2000" dirty="0">
                        <a:latin typeface="Calibir"/>
                      </a:endParaRPr>
                    </a:p>
                  </a:txBody>
                  <a:tcPr marL="82101" marR="82101" marT="41050" marB="41050" anchor="ctr"/>
                </a:tc>
                <a:extLst>
                  <a:ext uri="{0D108BD9-81ED-4DB2-BD59-A6C34878D82A}">
                    <a16:rowId xmlns:a16="http://schemas.microsoft.com/office/drawing/2014/main" val="4140716763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843C023C-0241-8691-07D4-52520CB256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490511"/>
            <a:ext cx="4654844" cy="1143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Once all finished, Ctrl + S to save it.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B656D2-E123-C02A-C1D0-55D42F0CE0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12819"/>
          <a:stretch>
            <a:fillRect/>
          </a:stretch>
        </p:blipFill>
        <p:spPr>
          <a:xfrm>
            <a:off x="41422" y="1131151"/>
            <a:ext cx="4572000" cy="448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3148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9E60D0-F261-6449-473B-51A121ABF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CC239B-7530-62AF-65C9-BF6C0C012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969D7-6B92-3805-C4FB-7602B5AE45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991E3D2-1684-BA54-CBFF-E9F8EBD6CE5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A4A56DB-D19A-7796-8E4F-BA1AB8821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1143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Databased Tools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  <a:sym typeface="Wingdings" panose="05000000000000000000" pitchFamily="2" charset="2"/>
              </a:rPr>
              <a:t> Relationships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Calibir"/>
              </a:rPr>
              <a:t>If you see the key is not showing, click design view on that table and Ctrl + S (to save the PK)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BA50A5-96C3-0312-65F9-2784A4A5B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540"/>
          <a:stretch>
            <a:fillRect/>
          </a:stretch>
        </p:blipFill>
        <p:spPr>
          <a:xfrm>
            <a:off x="283159" y="2111128"/>
            <a:ext cx="8577681" cy="4461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8833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B4ECAE-4E25-B797-6306-E789F9FB8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9F111-6FFB-7E1F-BD21-800D1707AC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6B70C-42CC-3CAB-8CB4-0C468B15D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F1AAD3-1C42-1F25-B0BF-C4E365D20AB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49DFF1A-43C7-2FB0-6679-87A53AFBA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45057"/>
            <a:ext cx="9144000" cy="589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Now we should see this</a:t>
            </a: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EBC7AD-2C41-167C-F1A7-A4C56331E1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022"/>
          <a:stretch>
            <a:fillRect/>
          </a:stretch>
        </p:blipFill>
        <p:spPr>
          <a:xfrm>
            <a:off x="0" y="1834129"/>
            <a:ext cx="9144000" cy="4216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6571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FAF7550-BAC8-5D25-27AE-0928612B5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52A231-0F6F-014F-85F2-745FC6BFA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2F6F2-B3F6-C54E-2353-D59EE5C99C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56B3ED8-0221-3B0A-9FB6-B78E5D3F8EE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8D5FB32-F371-6972-14D2-FB860A0E6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90033"/>
            <a:ext cx="9144000" cy="234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Now that all Primary Keys (PKs) are set, we’re ready to rebuild all relationships cleanly and correctly.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Calibir"/>
              </a:rPr>
              <a:t>Close All other windows (tables or windows), Only Relationships Window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7FFA1A-62B4-E7BB-78D7-31FE303527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604"/>
          <a:stretch>
            <a:fillRect/>
          </a:stretch>
        </p:blipFill>
        <p:spPr>
          <a:xfrm>
            <a:off x="451346" y="3131058"/>
            <a:ext cx="8241307" cy="372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24981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03F2D6F-1D2D-2350-C789-B4D53946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5F78EE-CB93-4D09-E5D9-EEED4CB6CA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52FEF-4DDF-A0A2-AC4F-A11D324A4F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7ED05D9-5D06-1A77-7E7F-8641A8B952F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CBEE55A-4AD4-FBD4-470A-5004826B7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belongs to one customer.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LGINVOICE.Cust_Code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LGCUSTOMER.Cust_Code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</a:t>
            </a:r>
            <a:br>
              <a:rPr lang="en-US" sz="2800" i="1" dirty="0">
                <a:latin typeface="Calibir"/>
              </a:rPr>
            </a:br>
            <a:r>
              <a:rPr lang="en-US" sz="2800" i="1" dirty="0">
                <a:latin typeface="Calibir"/>
              </a:rPr>
              <a:t>Fields (optional)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65469-B618-1F3F-21AB-5BDF60BF49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22" t="20975" r="37701" b="39017"/>
          <a:stretch>
            <a:fillRect/>
          </a:stretch>
        </p:blipFill>
        <p:spPr>
          <a:xfrm>
            <a:off x="4850979" y="4172607"/>
            <a:ext cx="4293021" cy="2685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9279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B0973D-0172-4DB2-5057-466B898F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F54B1-3B45-0DD7-F772-810AA2B09E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4C41E-1E13-E9A8-F75E-4547ED58B3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222EE68-7B44-6A0C-8E07-044CE642ED3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F1D615C-83C5-A1E1-F297-E0B665FADF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LGCUSTOMER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belongs to one customer.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LGINVOICE.Cust_Code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LGCUSTOMER.Cust_Code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</a:t>
            </a:r>
            <a:br>
              <a:rPr lang="en-US" sz="2800" i="1" dirty="0">
                <a:latin typeface="Calibir"/>
              </a:rPr>
            </a:br>
            <a:r>
              <a:rPr lang="en-US" sz="2800" i="1" dirty="0">
                <a:latin typeface="Calibir"/>
              </a:rPr>
              <a:t>Fields (optional)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04E259-2685-568A-87EF-48469AF5F1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62" t="20976" r="47816" b="38199"/>
          <a:stretch>
            <a:fillRect/>
          </a:stretch>
        </p:blipFill>
        <p:spPr>
          <a:xfrm>
            <a:off x="5304107" y="3507914"/>
            <a:ext cx="3839893" cy="335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19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B4DB0AE-0712-9047-ADEF-1A387C4F3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2F8D0F-52BB-D84D-0E4F-52A00FD4A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043562-EF3F-9080-2848-51CCE74DC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2D7B256-CE30-2C4F-6F9A-975FDCC6F37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6B03A2A-DB97-2789-8950-8382046F90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LGINVOICE ↔ LGEMPLOYEE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invoice is issued by one employee.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LGINVOICE.Employee_ID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LGEMPLOYEE.Emp_Num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173E51-D5CD-5111-2277-284CA899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56" t="20524" r="37471" b="48416"/>
          <a:stretch>
            <a:fillRect/>
          </a:stretch>
        </p:blipFill>
        <p:spPr>
          <a:xfrm>
            <a:off x="5456630" y="4287142"/>
            <a:ext cx="3687370" cy="2559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7082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359482-0668-79F8-3482-35E93B7C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442C3-EF7C-EFDF-0456-4607364C73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28D3A-5A04-F01E-28B8-613FCE0D62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B79ECFD-9BFA-C52D-4D0C-E91A96C98FE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4AB1593-7DAA-AE07-F24D-3D6A162088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LGLINE ↔ LGINVOICE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line item belongs to one invoice.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LGLINE.Inv_Num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LGINVOICE.Inv_Num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E124E-5067-ABF4-9FB2-A5A5EB3403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71" t="21137" r="37931" b="48416"/>
          <a:stretch>
            <a:fillRect/>
          </a:stretch>
        </p:blipFill>
        <p:spPr>
          <a:xfrm>
            <a:off x="5454515" y="4267201"/>
            <a:ext cx="3721016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1978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7F32A5-5EBB-53F6-FA1D-FE74405F7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1A2C6C-2DB0-FD86-D749-4230667F1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2928D-61AC-C56D-BF6E-8B97044611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E7AEBF6-D2EE-A7C1-7C42-1CA6F5776AD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5EF675BB-E835-CAFC-5840-CE5EB978A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LGLINE ↔ LGPRODUCT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line item refers to one product.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LGPRODUCT.Prod_SKU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>
                <a:latin typeface="Calibir"/>
                <a:sym typeface="Wingdings" panose="05000000000000000000" pitchFamily="2" charset="2"/>
              </a:rPr>
              <a:t> </a:t>
            </a:r>
            <a:r>
              <a:rPr lang="en-US" sz="2800" dirty="0" err="1">
                <a:latin typeface="Calibir"/>
              </a:rPr>
              <a:t>LGLINE.Prod_SKU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</p:spTree>
    <p:extLst>
      <p:ext uri="{BB962C8B-B14F-4D97-AF65-F5344CB8AC3E}">
        <p14:creationId xmlns:p14="http://schemas.microsoft.com/office/powerpoint/2010/main" val="42587340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3E5C1FC-DDFD-02E8-4114-B72345ED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9FCE75-F484-FE7B-4B59-135B8D3E47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A79CC-DDA3-C3C5-E9AE-BEF59877E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6E6E57-E324-6890-733B-9E249F7F558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58C8173-9E9F-3AE4-A78F-3A45C230F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LGPRODUCT ↔ LGBRAND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</a:t>
            </a:r>
            <a:r>
              <a:rPr lang="en-US" sz="2800" dirty="0">
                <a:latin typeface="Calibir"/>
              </a:rPr>
              <a:t> Each product belongs to one brand.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b="1" dirty="0" err="1">
                <a:latin typeface="Calibir"/>
              </a:rPr>
              <a:t>LGPRODUCT.Brand_ID</a:t>
            </a:r>
            <a:r>
              <a:rPr lang="en-US" sz="2800" b="1" dirty="0">
                <a:latin typeface="Calibir"/>
              </a:rPr>
              <a:t> → </a:t>
            </a:r>
            <a:r>
              <a:rPr lang="en-US" sz="2800" b="1" dirty="0" err="1">
                <a:latin typeface="Calibir"/>
              </a:rPr>
              <a:t>LGBRAND.Brand_ID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9AF81F-00C6-CF9E-4C42-7DB936628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816" t="20728" r="38046" b="48212"/>
          <a:stretch>
            <a:fillRect/>
          </a:stretch>
        </p:blipFill>
        <p:spPr>
          <a:xfrm>
            <a:off x="5419396" y="4162097"/>
            <a:ext cx="3724604" cy="269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959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3AEA9E4-593B-2AD5-3B7C-9A6835952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9AD475-E141-606C-FCB0-7C0781D06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6D506-6E6D-341D-628A-533F144224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C12C731-8ACB-AC18-7917-95D280EB689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0C465F1-7669-DF08-BE9E-E5C2524C7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LGSUPPLIES ↔ LGVENDOR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 </a:t>
            </a:r>
            <a:r>
              <a:rPr lang="en-US" sz="2800" dirty="0">
                <a:latin typeface="Calibir"/>
              </a:rPr>
              <a:t>Each record shows which vendor supplies a product.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LGSUPPLIES.Vend_ID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LGVENDOR.Vend_ID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86EF86-35B6-97F5-2AF1-8D7A77747D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356" t="20728" r="37357" b="48416"/>
          <a:stretch>
            <a:fillRect/>
          </a:stretch>
        </p:blipFill>
        <p:spPr>
          <a:xfrm>
            <a:off x="5507421" y="4361985"/>
            <a:ext cx="3636579" cy="2496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270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D4F473E-1E3F-5F31-C16F-10AB9289B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4CF6D-0259-E272-DF57-BC501F8BC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288FA-5959-3E11-FEFA-978F3A79D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536F1BA-996B-F62F-E58D-41A78F48242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5CAAC4E-9FEC-D9C3-F103-3E2A405C8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LGSUPPLIES ↔ LGPRODUCT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Purpose:</a:t>
            </a:r>
            <a:r>
              <a:rPr lang="en-US" sz="2800" dirty="0">
                <a:latin typeface="Calibir"/>
              </a:rPr>
              <a:t> Each record also links to the product being supplied.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b="1" dirty="0" err="1">
                <a:latin typeface="Calibir"/>
              </a:rPr>
              <a:t>LGSUPPLIES.Prod_SKU</a:t>
            </a:r>
            <a:r>
              <a:rPr lang="en-US" sz="2800" b="1" dirty="0">
                <a:latin typeface="Calibir"/>
              </a:rPr>
              <a:t> → </a:t>
            </a:r>
            <a:r>
              <a:rPr lang="en-US" sz="2800" b="1" dirty="0" err="1">
                <a:latin typeface="Calibir"/>
              </a:rPr>
              <a:t>LGPRODUCT.Prod_SKU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A4402A-8FF2-308A-82F8-9F9AD1E504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0524" r="37816" b="48212"/>
          <a:stretch>
            <a:fillRect/>
          </a:stretch>
        </p:blipFill>
        <p:spPr>
          <a:xfrm>
            <a:off x="5518445" y="4246179"/>
            <a:ext cx="3636065" cy="261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5561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727E567-431B-63EB-0778-0EFE6B55A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9EAD2D-F418-D5C6-24F5-68D84F393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1A5F4-E09F-0DDF-53DA-B4D4537A2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1CA2FC5-C4E2-21B2-C395-67C48B403D3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748FBFF7-FDCE-C608-FFCE-376CC4399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91223"/>
            <a:ext cx="9144000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LGEMPLOYEE ↔ LGDEPARTMENT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employee works in one department.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LGEMPLOYEE.Dept_Num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LGDEPARTMENT.Dept_Num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8A9DAD-311C-691C-A987-5386A7200B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1137" r="37586" b="50000"/>
          <a:stretch>
            <a:fillRect/>
          </a:stretch>
        </p:blipFill>
        <p:spPr>
          <a:xfrm>
            <a:off x="5536440" y="4487917"/>
            <a:ext cx="3607560" cy="237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075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8A10A5-D147-84B8-E146-A2938AA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DE09E5-496B-F2C0-7841-F9D2C2F2F8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FD610-61CE-EE42-8FD2-712C056DC8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21F5B4D-CB08-1DA5-7916-CF44F16E7B8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73B9D70-6788-E822-653E-FE816C82D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LGSALARY_HISTORY ↔ LGEMPLOYEE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Purpose: Each salary record belongs to one employee.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Drag: </a:t>
            </a:r>
            <a:r>
              <a:rPr lang="en-US" sz="2800" dirty="0" err="1">
                <a:latin typeface="Calibir"/>
              </a:rPr>
              <a:t>LGSALARY_HISTORY.Emp_Num</a:t>
            </a:r>
            <a:r>
              <a:rPr lang="en-US" sz="2800" dirty="0">
                <a:latin typeface="Calibir"/>
              </a:rPr>
              <a:t> → </a:t>
            </a:r>
            <a:r>
              <a:rPr lang="en-US" sz="2800" dirty="0" err="1">
                <a:latin typeface="Calibir"/>
              </a:rPr>
              <a:t>LGEMPLOYEE.Emp_Num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Tick:</a:t>
            </a: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Enforce Referential Integrity</a:t>
            </a:r>
            <a:endParaRPr lang="fa-IR" sz="2800" i="1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i="1" dirty="0">
                <a:latin typeface="Calibir"/>
              </a:rPr>
              <a:t>Cascade Update Related Fields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F91417-7D8A-E508-7789-5102B9784F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701" t="21341" r="38161" b="48212"/>
          <a:stretch>
            <a:fillRect/>
          </a:stretch>
        </p:blipFill>
        <p:spPr>
          <a:xfrm>
            <a:off x="5465379" y="4247930"/>
            <a:ext cx="3678621" cy="261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7233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54456-A46A-CADF-7274-FC9ED47BE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4A3BB-A4C2-00C6-7AB6-B13BBED8F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D9CE0-5D7D-2603-D9AC-F18AA88936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4D68BED-B61A-C091-02A7-4B9F376B89F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8BF9589-64CF-E883-4A17-01A705BD6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Save and Verify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Save Layout (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should now see all relationship lines with 1–∞ symbols.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Close the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5B1D0D-C8FA-F19B-8CAE-B3064C495B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092" t="20976" r="12644" b="12043"/>
          <a:stretch>
            <a:fillRect/>
          </a:stretch>
        </p:blipFill>
        <p:spPr>
          <a:xfrm>
            <a:off x="2638097" y="2856938"/>
            <a:ext cx="6505903" cy="400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1282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59CDDBC-BA08-4E56-65B8-8FBA73AD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81366D-ACCB-8666-4807-C57683071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D13B8-5AFB-48ED-7BB7-C6689BDE1C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00F07D7-3E1C-3CAC-9BEE-6574B39C4B0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B6DA2C-7BDB-EAE6-057A-A9CE3E1DD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82716"/>
              </p:ext>
            </p:extLst>
          </p:nvPr>
        </p:nvGraphicFramePr>
        <p:xfrm>
          <a:off x="161692" y="2069624"/>
          <a:ext cx="8820615" cy="33392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282391">
                  <a:extLst>
                    <a:ext uri="{9D8B030D-6E8A-4147-A177-3AD203B41FA5}">
                      <a16:colId xmlns:a16="http://schemas.microsoft.com/office/drawing/2014/main" val="3851823202"/>
                    </a:ext>
                  </a:extLst>
                </a:gridCol>
                <a:gridCol w="2051824">
                  <a:extLst>
                    <a:ext uri="{9D8B030D-6E8A-4147-A177-3AD203B41FA5}">
                      <a16:colId xmlns:a16="http://schemas.microsoft.com/office/drawing/2014/main" val="3828465692"/>
                    </a:ext>
                  </a:extLst>
                </a:gridCol>
                <a:gridCol w="1622503">
                  <a:extLst>
                    <a:ext uri="{9D8B030D-6E8A-4147-A177-3AD203B41FA5}">
                      <a16:colId xmlns:a16="http://schemas.microsoft.com/office/drawing/2014/main" val="4056478516"/>
                    </a:ext>
                  </a:extLst>
                </a:gridCol>
                <a:gridCol w="1789770">
                  <a:extLst>
                    <a:ext uri="{9D8B030D-6E8A-4147-A177-3AD203B41FA5}">
                      <a16:colId xmlns:a16="http://schemas.microsoft.com/office/drawing/2014/main" val="780147630"/>
                    </a:ext>
                  </a:extLst>
                </a:gridCol>
                <a:gridCol w="1248937">
                  <a:extLst>
                    <a:ext uri="{9D8B030D-6E8A-4147-A177-3AD203B41FA5}">
                      <a16:colId xmlns:a16="http://schemas.microsoft.com/office/drawing/2014/main" val="413904290"/>
                    </a:ext>
                  </a:extLst>
                </a:gridCol>
                <a:gridCol w="825190">
                  <a:extLst>
                    <a:ext uri="{9D8B030D-6E8A-4147-A177-3AD203B41FA5}">
                      <a16:colId xmlns:a16="http://schemas.microsoft.com/office/drawing/2014/main" val="21471768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Relationship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From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To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Type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6694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LGCUSTOMER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837997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2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Employee_ID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99578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3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371250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4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Prod_SKU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531890144"/>
                  </a:ext>
                </a:extLst>
              </a:tr>
              <a:tr h="213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Brand_ID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LGBRAND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Brand_ID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845638787"/>
                  </a:ext>
                </a:extLst>
              </a:tr>
              <a:tr h="25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6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LGVENDOR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2714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7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8248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8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LGDEPARTMENT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29995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9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LGSALARY_HISTORY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65220111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FE2B86D4-432D-2DD0-0BC8-6C3D7B2F78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39277"/>
            <a:ext cx="35605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Visual Check Summary</a:t>
            </a:r>
          </a:p>
        </p:txBody>
      </p:sp>
    </p:spTree>
    <p:extLst>
      <p:ext uri="{BB962C8B-B14F-4D97-AF65-F5344CB8AC3E}">
        <p14:creationId xmlns:p14="http://schemas.microsoft.com/office/powerpoint/2010/main" val="33943543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72F196-4BFE-348D-80FE-DD8BBFB3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50A5C-3C15-C94B-C780-C12B2B1187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DA299-8A28-A7C6-D973-A6E703998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3528E3D-9138-9E04-DBCE-A0CBE5AB7BC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26B0FD-B39F-026B-577E-D11D16D3D180}"/>
              </a:ext>
            </a:extLst>
          </p:cNvPr>
          <p:cNvSpPr txBox="1"/>
          <p:nvPr/>
        </p:nvSpPr>
        <p:spPr>
          <a:xfrm>
            <a:off x="0" y="1315844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2. Create Each Query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Query Design (QBE) or SQL View.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Name them exactly: Query 1, Query 2, … Query 15.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query must correspond to the question number below.</a:t>
            </a:r>
          </a:p>
        </p:txBody>
      </p:sp>
    </p:spTree>
    <p:extLst>
      <p:ext uri="{BB962C8B-B14F-4D97-AF65-F5344CB8AC3E}">
        <p14:creationId xmlns:p14="http://schemas.microsoft.com/office/powerpoint/2010/main" val="37612457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E92901-DC56-3CF5-DCE9-19FA3D6C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19D3B-1DAF-160C-BB37-6FCAEC291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AD889-5CFE-5B8B-86C4-435341AA7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EA3F3ED-F564-4C03-44F5-5DCD20274EA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FA1E7A-7BD1-23D3-66F6-99DEA6EA73F7}"/>
              </a:ext>
            </a:extLst>
          </p:cNvPr>
          <p:cNvSpPr txBox="1"/>
          <p:nvPr/>
        </p:nvSpPr>
        <p:spPr>
          <a:xfrm>
            <a:off x="0" y="1315844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to Create Each Query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 the Create tab → click Query Design.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the required table(s).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SQL View (bottom-right corner).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Paste the SQL statement below.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Save as Query 1, Query 2, 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9CB727-ADB3-EDF0-551A-F0096C6C25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484" b="63047"/>
          <a:stretch>
            <a:fillRect/>
          </a:stretch>
        </p:blipFill>
        <p:spPr>
          <a:xfrm>
            <a:off x="5354715" y="4533277"/>
            <a:ext cx="3789286" cy="228198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114242-B1D0-91DA-B11D-9CF97C7F7C04}"/>
              </a:ext>
            </a:extLst>
          </p:cNvPr>
          <p:cNvSpPr/>
          <p:nvPr/>
        </p:nvSpPr>
        <p:spPr>
          <a:xfrm>
            <a:off x="7725103" y="5108027"/>
            <a:ext cx="336331" cy="65164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086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CB335A2-4F45-4125-DECA-41FD85E23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09DFE4-A7DA-13D1-31CB-5A012D8339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40EFC-B50D-F119-C328-BA00146D7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876A839-61F2-837F-88A1-74780115FC8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4B6D9-F06C-4988-6239-DADBE3997454}"/>
              </a:ext>
            </a:extLst>
          </p:cNvPr>
          <p:cNvSpPr txBox="1"/>
          <p:nvPr/>
        </p:nvSpPr>
        <p:spPr>
          <a:xfrm>
            <a:off x="0" y="1315844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1 – Customers in NY or OH with balance &gt; $1000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E0B22-65DB-DF46-CDEB-5A3D4CD094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1149" b="65581"/>
          <a:stretch>
            <a:fillRect/>
          </a:stretch>
        </p:blipFill>
        <p:spPr>
          <a:xfrm>
            <a:off x="0" y="2213083"/>
            <a:ext cx="3993931" cy="4101997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08C6B0-EBB6-A9B2-3FB4-EF34210DA7B5}"/>
              </a:ext>
            </a:extLst>
          </p:cNvPr>
          <p:cNvSpPr/>
          <p:nvPr/>
        </p:nvSpPr>
        <p:spPr>
          <a:xfrm>
            <a:off x="315310" y="4487917"/>
            <a:ext cx="2081049" cy="66909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163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DB970C-4418-61BF-7C59-EBEA21712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17294C-E328-475F-5C04-83526FADC4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D27AD-70F4-E987-D4F4-89700048D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F71F09-CFEE-CD74-38F4-1E9EAC9971A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1D4E8C-1A7D-A84C-6905-E6F9E2AC72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560175"/>
            <a:ext cx="9144000" cy="48813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5F8EE6-6BC4-9D9F-8786-8763765F63F2}"/>
              </a:ext>
            </a:extLst>
          </p:cNvPr>
          <p:cNvSpPr txBox="1"/>
          <p:nvPr/>
        </p:nvSpPr>
        <p:spPr>
          <a:xfrm>
            <a:off x="-2221" y="1036955"/>
            <a:ext cx="4288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Run</a:t>
            </a:r>
          </a:p>
        </p:txBody>
      </p:sp>
    </p:spTree>
    <p:extLst>
      <p:ext uri="{BB962C8B-B14F-4D97-AF65-F5344CB8AC3E}">
        <p14:creationId xmlns:p14="http://schemas.microsoft.com/office/powerpoint/2010/main" val="400236034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DB6942B-9210-4EE6-728E-8B94B2A4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BF955-8C78-4B1D-DEFD-E49D7E19C6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E1BC0-1F5C-0A1C-5FD2-6AB6D12F2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044902B-E38E-2444-EA6F-605BA57758E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2B5524-FFD9-7F2D-43DE-5DB3BAE1D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2" b="7139"/>
          <a:stretch>
            <a:fillRect/>
          </a:stretch>
        </p:blipFill>
        <p:spPr>
          <a:xfrm>
            <a:off x="832757" y="1351117"/>
            <a:ext cx="7651531" cy="477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77357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FD9761F-9512-B564-3254-6D653EA6A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0A8DB8-A3C5-708D-C583-6251ED5A5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B7458-6F1B-A29D-6539-1F49E55A44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44648A1-A391-E30A-EAEA-7F5689293B6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A203A4-D9F7-093F-4A9A-1FA680653261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37F8EB-D078-FD4E-F56A-5242CE58F0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5A231C2-1074-7027-B779-6F3B0F9E1970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8C8B0E-EE39-6498-050C-9FAA23DD45E3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47451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2317453-A915-F443-DE62-BC5C8EB30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1F34D9-5BDF-1C07-FF7A-D36482130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6D283-CE5E-A7F9-37A2-B6A5C6142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E23B707-C5A9-73EB-1C51-4D0EF3B20A7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85A349-F72B-7679-9374-033074F9F745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A0CF7-0017-49C6-937A-11A9C8B6B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6973"/>
          <a:stretch>
            <a:fillRect/>
          </a:stretch>
        </p:blipFill>
        <p:spPr>
          <a:xfrm>
            <a:off x="0" y="2058113"/>
            <a:ext cx="9144000" cy="324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00196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FFC5057-76AD-B402-D69E-2DB723823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B31CDD-56FD-B20D-BE6D-6ED165169E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DAEEB-6DE2-B0BE-5DFB-79081BC920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C8CCDA1-F824-650F-1A13-B92E36D57CC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A2CDE7-6CFA-43BE-ECEA-F705C7A6AAE9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3 – Customers with last name starting M or B,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F49D36-5808-9933-5D2D-938667B102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220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0DBFD9-17AF-ACD0-257F-9C42438D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5C684C-22BF-C5DE-97EE-E54DEE1E94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CF93DC-B8E5-936C-3AEF-677DEFBC1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531-F1BF-A03A-C8B5-70EC0547C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A2A8487-13AC-225F-2E05-A4B093C0BCF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65D68-A74D-D89C-5BEB-490AEBE02468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</p:spTree>
    <p:extLst>
      <p:ext uri="{BB962C8B-B14F-4D97-AF65-F5344CB8AC3E}">
        <p14:creationId xmlns:p14="http://schemas.microsoft.com/office/powerpoint/2010/main" val="406314805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A972FB-065B-CAA2-1DCF-C29C9B5A0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647D8A-BB99-DA15-9A63-3391061F8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0F607-BE78-8053-53D9-1B43E98D5D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49E16B2-139A-A345-9805-44158CBE7D3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F479-0192-0B59-7B51-DC4A2A233D98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5 – PREMIUM or VALUE brands whose vendors are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52A7D4-6C29-9F10-1ADE-6C63EE0CFC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499554" y="2492585"/>
            <a:ext cx="8145517" cy="436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4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4A72FF8-6B5B-B906-C08A-519D9804D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B717A2-0669-DA95-F052-AF1177942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36174-C28D-E471-0D5E-5C9F36241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4D7F681-A38D-AE71-2DCA-59B50885706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5183F0-105A-2FA7-1A99-C3E6F96B82C0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6 – Products in VALUE brands with quantity on hand &lt; 50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A35CD-9563-1972-3306-F1B3DB1870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525517" y="2519077"/>
            <a:ext cx="8092966" cy="4338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7242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A040BE8-FDE4-92B4-63C7-C9119817F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EFA122-BD70-22D9-DE4A-BD85F0D56F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F484C-E5D7-06F8-2058-20E27F9E8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911E451-4817-1A5B-0733-C0316C8A81D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3652E-4486-EF8B-39DC-CB5C0290C87D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7 – Vendors supplying PREMIUM-brand products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28B666-09FB-B79E-D448-09EFB047CA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0" y="1846254"/>
            <a:ext cx="9144000" cy="4891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4996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8790DF-9719-FB21-8CD0-DB1471B48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7A9E60-26C4-9EC2-DD68-E6797E8CA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7D12-F2A1-5E91-D30D-0048AD009E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19465CA-304E-9466-4363-A923BE774AD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FA7B98-425A-A485-B50F-079469B0C03C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00F91-64CC-28F3-4161-65E1C3D5CF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01806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2255A30-34C1-FA08-B273-2AC6490BB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4C2A00-03F2-F5AE-9897-E1E5E951EA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61BA7-270A-01FB-B279-0274893AC9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2C7291E-2FE2-823A-BD46-9E1385B747C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EC3C56-C19D-8E55-0989-2F3E65CE23A0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6D15E9-2FBF-41AD-05BA-739C3975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0" y="1955581"/>
            <a:ext cx="9144000" cy="490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70826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F87D6EF-CAF3-1B01-EBC1-8E36E0359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CEB267-0B11-F3D4-4CF4-C7FF7FCC0C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07A39-3F50-A43F-3801-73A92B9AA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DF1A05D-7C00-CA9E-84D5-64CA2367445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62B6B9-789A-A80E-0FBA-AB04A76C8BC6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87C32A-06D6-6237-92CF-20ACBFCDDD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5896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98A928A-BE11-F342-A44E-B46BA9E9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BE23C5-4325-2514-B28C-34EE3952D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1EBEF-3638-6A68-3A58-758CA5E48B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BC08BC-1DE0-7557-AA69-1EDE1F3C3BE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7DBC6E-5BE7-5867-B239-304F00D698EF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2AE321-90F6-9ADE-9471-C8A06E29C1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198" b="30638"/>
          <a:stretch>
            <a:fillRect/>
          </a:stretch>
        </p:blipFill>
        <p:spPr>
          <a:xfrm>
            <a:off x="1923392" y="1998105"/>
            <a:ext cx="5297216" cy="451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31759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711ACB-F251-4E48-A3E1-C058083F7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35B35-BF52-B14D-FBF9-D53674BA9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B9AFC-796F-F499-919B-5FFD735193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85C5BEF-11A4-34A4-A255-E6A1D05C38F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843E6-F9D7-9133-28EB-79B82557D492}"/>
              </a:ext>
            </a:extLst>
          </p:cNvPr>
          <p:cNvSpPr txBox="1"/>
          <p:nvPr/>
        </p:nvSpPr>
        <p:spPr>
          <a:xfrm>
            <a:off x="0" y="117716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You’re Done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Save each as Query 1, Query 2, … Query 9...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 each query once to ensure results display correctly.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the database saved as OzCo-2.accdb (or .</a:t>
            </a:r>
            <a:r>
              <a:rPr lang="en-US" sz="2800" dirty="0" err="1">
                <a:latin typeface="Calibir"/>
              </a:rPr>
              <a:t>mdb</a:t>
            </a:r>
            <a:r>
              <a:rPr lang="en-US" sz="2800" dirty="0">
                <a:latin typeface="Calibir"/>
              </a:rPr>
              <a:t>) and upload it for Part A submission.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9941B-7F97-4B74-D999-00262531CBF0}"/>
              </a:ext>
            </a:extLst>
          </p:cNvPr>
          <p:cNvSpPr txBox="1"/>
          <p:nvPr/>
        </p:nvSpPr>
        <p:spPr>
          <a:xfrm>
            <a:off x="0" y="4643436"/>
            <a:ext cx="914399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Continue working on the rest of Part A — to Query 15 (there are 15 total queries in the assessment).</a:t>
            </a:r>
          </a:p>
        </p:txBody>
      </p:sp>
    </p:spTree>
    <p:extLst>
      <p:ext uri="{BB962C8B-B14F-4D97-AF65-F5344CB8AC3E}">
        <p14:creationId xmlns:p14="http://schemas.microsoft.com/office/powerpoint/2010/main" val="19987761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DE31CB7-96E7-2B52-0056-A1B6FBEE5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AF6D6-BC8C-7D0E-91BB-61C0BFE1D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D8ADD-509A-3E74-8574-96038A42C1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E282F7B-252E-172C-D38C-813C22ED1A0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0B203E-66CC-EE8C-34ED-42AE8904E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121365"/>
              </p:ext>
            </p:extLst>
          </p:nvPr>
        </p:nvGraphicFramePr>
        <p:xfrm>
          <a:off x="98314" y="1817741"/>
          <a:ext cx="8947372" cy="48158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4326674">
                  <a:extLst>
                    <a:ext uri="{9D8B030D-6E8A-4147-A177-3AD203B41FA5}">
                      <a16:colId xmlns:a16="http://schemas.microsoft.com/office/drawing/2014/main" val="1526934532"/>
                    </a:ext>
                  </a:extLst>
                </a:gridCol>
                <a:gridCol w="4620698">
                  <a:extLst>
                    <a:ext uri="{9D8B030D-6E8A-4147-A177-3AD203B41FA5}">
                      <a16:colId xmlns:a16="http://schemas.microsoft.com/office/drawing/2014/main" val="3529468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Common Issue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Correct Practice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13577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Wrong query names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Always “Query 1” … “Query 15”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2481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Missing relationships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Re-link foreign keys before running queries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569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Using wrong comparison syntax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Text values → in quotes ('VA'); wildcards → LIKE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571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Only screenshots submitted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Upload the actual Access file (.</a:t>
                      </a:r>
                      <a:r>
                        <a:rPr lang="en-US" sz="2800" dirty="0" err="1">
                          <a:latin typeface="Calibir"/>
                        </a:rPr>
                        <a:t>mdb</a:t>
                      </a:r>
                      <a:r>
                        <a:rPr lang="en-US" sz="2800" dirty="0">
                          <a:latin typeface="Calibir"/>
                        </a:rPr>
                        <a:t> or .</a:t>
                      </a:r>
                      <a:r>
                        <a:rPr lang="en-US" sz="2800" dirty="0" err="1">
                          <a:latin typeface="Calibir"/>
                        </a:rPr>
                        <a:t>accdb</a:t>
                      </a:r>
                      <a:r>
                        <a:rPr lang="en-US" sz="2800" dirty="0">
                          <a:latin typeface="Calibir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2066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&lt;10 working queries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Implement all 15 for full credit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980757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3C2CF009-3CD6-A5BC-7A67-8459FF3725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66473"/>
            <a:ext cx="232813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2238413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B8379D3-0E03-0136-3A86-BDE432859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5CC66E-45EC-B991-976A-17AF544602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6DF78-1DC7-EA1B-C406-679ACD3D94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A562BE8-EA31-A753-460F-DAAEC3EF759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445A7F5-44F5-550F-A013-435A73134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66473"/>
            <a:ext cx="40448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Submission Requirements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CD80357-B76A-1DC2-B660-D612E59179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330737"/>
              </p:ext>
            </p:extLst>
          </p:nvPr>
        </p:nvGraphicFramePr>
        <p:xfrm>
          <a:off x="628650" y="2455354"/>
          <a:ext cx="7886700" cy="32613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4566539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055084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628944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Item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What to Submit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Format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5108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Part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Completed </a:t>
                      </a:r>
                      <a:r>
                        <a:rPr lang="en-US" sz="2800" dirty="0" err="1">
                          <a:latin typeface="Calibir"/>
                        </a:rPr>
                        <a:t>OzCo</a:t>
                      </a:r>
                      <a:r>
                        <a:rPr lang="en-US" sz="2800" dirty="0">
                          <a:latin typeface="Calibir"/>
                        </a:rPr>
                        <a:t> database with Queries 1–15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.accdb or .mdb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4920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File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ITEC200_AT3A_StudentID_FullName.accdb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24071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22916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B5D14E2-A924-7D1A-68F9-C22E2B25A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C38B1D-4853-B412-BAC8-D83D60AD1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88F41-D4F0-A7B3-7ED2-2210BE7B6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D0A4B4F-2B8C-3983-EC98-F30AA0703BA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B9AB3E9-872B-B01E-8186-76DE23AD9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B – Recorded Presentation (20 marks)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Scenario: </a:t>
            </a:r>
            <a:r>
              <a:rPr lang="en-US" sz="2800" b="1" dirty="0" err="1">
                <a:latin typeface="Calibir"/>
              </a:rPr>
              <a:t>EcoMart</a:t>
            </a:r>
            <a:r>
              <a:rPr lang="en-US" sz="2800" b="1" dirty="0">
                <a:latin typeface="Calibir"/>
              </a:rPr>
              <a:t> — “The Data Dilemma”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fast-growing eco-retailer faces serious data quality, security, and privacy issues.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are the Data Governance Consultant tasked with </a:t>
            </a:r>
            <a:r>
              <a:rPr lang="en-US" sz="2800" dirty="0" err="1">
                <a:latin typeface="Calibir"/>
              </a:rPr>
              <a:t>analysing</a:t>
            </a:r>
            <a:r>
              <a:rPr lang="en-US" sz="2800" dirty="0">
                <a:latin typeface="Calibir"/>
              </a:rPr>
              <a:t> the situation and recommending solutions.</a:t>
            </a:r>
          </a:p>
        </p:txBody>
      </p:sp>
    </p:spTree>
    <p:extLst>
      <p:ext uri="{BB962C8B-B14F-4D97-AF65-F5344CB8AC3E}">
        <p14:creationId xmlns:p14="http://schemas.microsoft.com/office/powerpoint/2010/main" val="427617354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45D107F-16D5-4C4B-98CF-F7DCE4EA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289F04-10E5-D10F-8F7F-B279F22EB6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BA5F7-B7C5-7E64-4D49-297BB6EFE2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DA807A8-8ECB-900F-414D-B0540EC69EF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1A49AD-6D27-3975-F361-F99FA5A423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Presentation Goals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Identify and evaluate data-related issues.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Classify issues into: Data Quality, Database Administration &amp; Security, Privacy &amp; Ethics.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Recommend ethical and legally compliant solutions.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a 7-minute narrated PowerPoint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7466156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F87A0B-FA56-4D41-90F6-79392B4B2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BF510B-E4E8-F767-2C5E-C85537F7A6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E7FC5-96E0-F7EE-8F93-6241133B4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C261FD9-0D6F-CD36-8513-CC15CE4CD81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9775D1D-C7FC-EAC1-B88F-93451D4C50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061472"/>
              </p:ext>
            </p:extLst>
          </p:nvPr>
        </p:nvGraphicFramePr>
        <p:xfrm>
          <a:off x="94593" y="1801304"/>
          <a:ext cx="8975835" cy="473466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858814">
                  <a:extLst>
                    <a:ext uri="{9D8B030D-6E8A-4147-A177-3AD203B41FA5}">
                      <a16:colId xmlns:a16="http://schemas.microsoft.com/office/drawing/2014/main" val="4147727980"/>
                    </a:ext>
                  </a:extLst>
                </a:gridCol>
                <a:gridCol w="1161393">
                  <a:extLst>
                    <a:ext uri="{9D8B030D-6E8A-4147-A177-3AD203B41FA5}">
                      <a16:colId xmlns:a16="http://schemas.microsoft.com/office/drawing/2014/main" val="3214569713"/>
                    </a:ext>
                  </a:extLst>
                </a:gridCol>
                <a:gridCol w="4955628">
                  <a:extLst>
                    <a:ext uri="{9D8B030D-6E8A-4147-A177-3AD203B41FA5}">
                      <a16:colId xmlns:a16="http://schemas.microsoft.com/office/drawing/2014/main" val="1266326564"/>
                    </a:ext>
                  </a:extLst>
                </a:gridCol>
              </a:tblGrid>
              <a:tr h="3763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Section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Slides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Guidance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172148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1. Introduction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1–2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Introduce EcoMart + why data governance matters + presentation overview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932288071"/>
                  </a:ext>
                </a:extLst>
              </a:tr>
              <a:tr h="1925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2. Data Quality &amp; Decision-Making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1–2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Define data quality; identify 3 issues (e.g., duplicate IDs, missing timestamps, unsynchronised data); explain business impact &amp; solutions (ETL, validation rules, automated refresh)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415375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3. Database Administration &amp; Security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2–3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Differentiate DBA vs DA; identify 2 admin issues and 2 security flaws (unrestricted IP access, shared logins); recommend role-based access, VPN firewall rules, MFA, audit logging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8920144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FAB8A1D0-418E-BF6F-2FAC-B5D3E7CAC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1" y="920257"/>
            <a:ext cx="28434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Content Structure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2778434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87A51B-56C2-DB08-66F6-44B74234C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039E93-3CD4-401B-A227-3A2322F39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F29E-DBEF-AB66-EE81-AA4138A26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1C55168-BD47-31D7-CF98-12437908ADA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036EC45-4961-9112-D0A7-29F33C85C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387854"/>
              </p:ext>
            </p:extLst>
          </p:nvPr>
        </p:nvGraphicFramePr>
        <p:xfrm>
          <a:off x="94593" y="1801304"/>
          <a:ext cx="8975835" cy="372882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858814">
                  <a:extLst>
                    <a:ext uri="{9D8B030D-6E8A-4147-A177-3AD203B41FA5}">
                      <a16:colId xmlns:a16="http://schemas.microsoft.com/office/drawing/2014/main" val="4147727980"/>
                    </a:ext>
                  </a:extLst>
                </a:gridCol>
                <a:gridCol w="1161393">
                  <a:extLst>
                    <a:ext uri="{9D8B030D-6E8A-4147-A177-3AD203B41FA5}">
                      <a16:colId xmlns:a16="http://schemas.microsoft.com/office/drawing/2014/main" val="3214569713"/>
                    </a:ext>
                  </a:extLst>
                </a:gridCol>
                <a:gridCol w="4955628">
                  <a:extLst>
                    <a:ext uri="{9D8B030D-6E8A-4147-A177-3AD203B41FA5}">
                      <a16:colId xmlns:a16="http://schemas.microsoft.com/office/drawing/2014/main" val="1266326564"/>
                    </a:ext>
                  </a:extLst>
                </a:gridCol>
              </a:tblGrid>
              <a:tr h="3763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Section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Slides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Guidance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172148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4. Data Privacy &amp; Ethics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2–3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Identify ethical/legal risks (no deletion policy, third-party non-GDPR vendor); link to APPs &amp; GDPR compliance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932288071"/>
                  </a:ext>
                </a:extLst>
              </a:tr>
              <a:tr h="1925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5. Conclusion &amp; Recommendations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 err="1">
                          <a:latin typeface="Calibir"/>
                        </a:rPr>
                        <a:t>Summarise</a:t>
                      </a:r>
                      <a:r>
                        <a:rPr lang="en-US" sz="2200" b="0" dirty="0">
                          <a:latin typeface="Calibir"/>
                        </a:rPr>
                        <a:t> key actions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415375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6. References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APA 7th style, ≥ 5 academic sources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8920144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61CD898A-DB15-8BCE-9AFF-9E0825C985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1" y="920257"/>
            <a:ext cx="28434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Content Structure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8285983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F39FBF-4599-E739-A80E-EE93363A7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68DB7-FC55-F630-BBAB-2E0EE161A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FDC36-59B6-D190-3B9B-0B9C646F1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DBD2ECD-9582-F2F5-1AE4-8CA6095C8F6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637A778E-1345-83FE-63A4-DDE53AA09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55203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Recording and Submission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Record in PowerPoint: Slide Show → Record Slide Show → Record from Beginning.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Speak clearly; total length ≈ 6–8 minutes (ideal 7 min).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Export to Video: File → Export → Create a Video (Standard 480p).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Ensure timings/narrations enabled.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Keep file &lt; 50 MB (verify via Properties).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Submit MP4 file on Canvas.</a:t>
            </a:r>
          </a:p>
        </p:txBody>
      </p:sp>
    </p:spTree>
    <p:extLst>
      <p:ext uri="{BB962C8B-B14F-4D97-AF65-F5344CB8AC3E}">
        <p14:creationId xmlns:p14="http://schemas.microsoft.com/office/powerpoint/2010/main" val="20967087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7B5C3DD-F48D-B8BE-F74B-04E7C6FF2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DA55C0-01CB-A5DB-17C4-07BC0E4CF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E724-EB96-D819-2CDC-03BEB9F73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ECECF7A-ABC7-1A64-0456-46F86FBDE33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D2DADBD-AB45-2E62-F66C-A1929BA0A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772305"/>
              </p:ext>
            </p:extLst>
          </p:nvPr>
        </p:nvGraphicFramePr>
        <p:xfrm>
          <a:off x="628650" y="2697480"/>
          <a:ext cx="7886700" cy="14630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126408">
                  <a:extLst>
                    <a:ext uri="{9D8B030D-6E8A-4147-A177-3AD203B41FA5}">
                      <a16:colId xmlns:a16="http://schemas.microsoft.com/office/drawing/2014/main" val="266606813"/>
                    </a:ext>
                  </a:extLst>
                </a:gridCol>
                <a:gridCol w="4131392">
                  <a:extLst>
                    <a:ext uri="{9D8B030D-6E8A-4147-A177-3AD203B41FA5}">
                      <a16:colId xmlns:a16="http://schemas.microsoft.com/office/drawing/2014/main" val="61200153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337951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File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Format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167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Part B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ITEC200_AT3B_StudentID_FullName.mp4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MP4 (video)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35701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18962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185AD9B-8D72-F949-80ED-A82E7D3E8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4B4DAF-712E-0715-157B-9D02F425A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87CFD-DE3B-C012-AF67-E391D9CCB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223DF87-B897-4090-2162-390AE407C14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2C08F4-CF00-82AB-07C6-B555B291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553209"/>
              </p:ext>
            </p:extLst>
          </p:nvPr>
        </p:nvGraphicFramePr>
        <p:xfrm>
          <a:off x="514757" y="1973376"/>
          <a:ext cx="7886700" cy="46329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2344983465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34169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Category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Key Criteria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6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Content (10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Identifies and analyses all major issues; accurate and logical recommendations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6226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Professionalism (5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Clear speech, logical structure, visual design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9294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Referencing (5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≥ 5 academic APA sources, in-text citations + reference slide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597021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E6F5BA3-307D-57A4-8D96-57E444A85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456" y="1213126"/>
            <a:ext cx="234916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Marking Focus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767671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4B3A8C6-F182-A470-1748-E14101413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D00D98-D823-4253-A83E-8F29F322D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B8C84-347B-3582-352A-4988D21A13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3AAF548-1B7C-D7F6-A775-4C85863F930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3E099-813C-5E21-8400-D7D351D16756}"/>
              </a:ext>
            </a:extLst>
          </p:cNvPr>
          <p:cNvSpPr txBox="1"/>
          <p:nvPr/>
        </p:nvSpPr>
        <p:spPr>
          <a:xfrm>
            <a:off x="0" y="1194619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Final Checklist Before Submission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15 queries named and tested successfully.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Database file (.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 /.</a:t>
            </a:r>
            <a:r>
              <a:rPr lang="en-US" sz="2800" dirty="0" err="1">
                <a:latin typeface="Calibir"/>
              </a:rPr>
              <a:t>mdb</a:t>
            </a:r>
            <a:r>
              <a:rPr lang="en-US" sz="2800" dirty="0">
                <a:latin typeface="Calibir"/>
              </a:rPr>
              <a:t>) runs without errors.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Presentation 6–8 minutes long and under 50 MB.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References use APA 7th edition.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AI-generated content (except grammar checking).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Both files uploaded before 5 pm 10 Nov 2025.</a:t>
            </a:r>
          </a:p>
        </p:txBody>
      </p:sp>
    </p:spTree>
    <p:extLst>
      <p:ext uri="{BB962C8B-B14F-4D97-AF65-F5344CB8AC3E}">
        <p14:creationId xmlns:p14="http://schemas.microsoft.com/office/powerpoint/2010/main" val="337398991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637624-0BBE-F959-CF34-04F3E9ABA6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8032" y="734568"/>
            <a:ext cx="6920865" cy="737108"/>
          </a:xfrm>
        </p:spPr>
        <p:txBody>
          <a:bodyPr vert="horz" wrap="square" lIns="0" tIns="0" rIns="0" bIns="0" rtlCol="0">
            <a:normAutofit/>
          </a:bodyPr>
          <a:lstStyle/>
          <a:p>
            <a:pPr marL="12700">
              <a:spcBef>
                <a:spcPts val="100"/>
              </a:spcBef>
            </a:pPr>
            <a:r>
              <a:rPr lang="en-US" b="1" i="0" dirty="0">
                <a:latin typeface="Arial"/>
                <a:ea typeface="+mj-ea"/>
                <a:cs typeface="Arial"/>
              </a:rPr>
              <a:t>Thank You</a:t>
            </a:r>
            <a:endParaRPr lang="en-US" b="1" i="0" spc="-10" dirty="0">
              <a:latin typeface="Arial"/>
              <a:ea typeface="+mj-ea"/>
              <a:cs typeface="Arial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127" r="20212" b="-2"/>
          <a:stretch>
            <a:fillRect/>
          </a:stretch>
        </p:blipFill>
        <p:spPr>
          <a:xfrm>
            <a:off x="457200" y="1577340"/>
            <a:ext cx="3977640" cy="4526280"/>
          </a:xfrm>
          <a:prstGeom prst="rect">
            <a:avLst/>
          </a:prstGeom>
          <a:noFill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709160" y="1577340"/>
            <a:ext cx="3977640" cy="4061460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defTabSz="685800" rtl="0">
              <a:lnSpc>
                <a:spcPct val="150000"/>
              </a:lnSpc>
              <a:spcAft>
                <a:spcPts val="450"/>
              </a:spcAft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Happy Learning and Bright Futures Ahead!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Dr. Farshid Keivanian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Stay Connected: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linkedin.com/in/farshid-keivanian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 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github.com/</a:t>
            </a:r>
            <a:r>
              <a:rPr lang="en-US" sz="1900" i="0" kern="1200" dirty="0" err="1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FarshidKeivanian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 </a:t>
            </a:r>
            <a:endParaRPr lang="en-US" sz="1900" i="0" kern="1200" dirty="0">
              <a:solidFill>
                <a:schemeClr val="tx1"/>
              </a:solidFill>
              <a:latin typeface="+mj-lt"/>
              <a:ea typeface="+mn-ea"/>
              <a:cs typeface="Arial"/>
            </a:endParaRPr>
          </a:p>
          <a:p>
            <a:pPr indent="-171450" defTabSz="685800" rtl="0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Education is the most powerful weapon you can use to change the world. 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5429</TotalTime>
  <Words>6085</Words>
  <Application>Microsoft Office PowerPoint</Application>
  <PresentationFormat>On-screen Show (4:3)</PresentationFormat>
  <Paragraphs>1558</Paragraphs>
  <Slides>96</Slides>
  <Notes>95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96</vt:i4>
      </vt:variant>
    </vt:vector>
  </HeadingPairs>
  <TitlesOfParts>
    <vt:vector size="102" baseType="lpstr">
      <vt:lpstr>Arial</vt:lpstr>
      <vt:lpstr>Calibir</vt:lpstr>
      <vt:lpstr>Calibri</vt:lpstr>
      <vt:lpstr>Wingdings</vt:lpstr>
      <vt:lpstr>ACU Presentation</vt:lpstr>
      <vt:lpstr>think-cell Slide</vt:lpstr>
      <vt:lpstr>Data Quality, Database Administration and Security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1407</cp:revision>
  <cp:lastPrinted>2017-08-03T04:07:41Z</cp:lastPrinted>
  <dcterms:created xsi:type="dcterms:W3CDTF">2017-05-11T09:33:32Z</dcterms:created>
  <dcterms:modified xsi:type="dcterms:W3CDTF">2025-10-19T10:02:40Z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