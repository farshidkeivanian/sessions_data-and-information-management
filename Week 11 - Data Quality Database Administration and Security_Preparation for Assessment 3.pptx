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74"/>
  </p:notesMasterIdLst>
  <p:sldIdLst>
    <p:sldId id="421" r:id="rId5"/>
    <p:sldId id="2984" r:id="rId6"/>
    <p:sldId id="3317" r:id="rId7"/>
    <p:sldId id="3216" r:id="rId8"/>
    <p:sldId id="3217" r:id="rId9"/>
    <p:sldId id="3235" r:id="rId10"/>
    <p:sldId id="3218" r:id="rId11"/>
    <p:sldId id="3221" r:id="rId12"/>
    <p:sldId id="3220" r:id="rId13"/>
    <p:sldId id="3222" r:id="rId14"/>
    <p:sldId id="3223" r:id="rId15"/>
    <p:sldId id="3237" r:id="rId16"/>
    <p:sldId id="3238" r:id="rId17"/>
    <p:sldId id="3239" r:id="rId18"/>
    <p:sldId id="3240" r:id="rId19"/>
    <p:sldId id="3225" r:id="rId20"/>
    <p:sldId id="3226" r:id="rId21"/>
    <p:sldId id="3232" r:id="rId22"/>
    <p:sldId id="3236" r:id="rId23"/>
    <p:sldId id="3241" r:id="rId24"/>
    <p:sldId id="3242" r:id="rId25"/>
    <p:sldId id="3243" r:id="rId26"/>
    <p:sldId id="3244" r:id="rId27"/>
    <p:sldId id="3245" r:id="rId28"/>
    <p:sldId id="3246" r:id="rId29"/>
    <p:sldId id="3247" r:id="rId30"/>
    <p:sldId id="3248" r:id="rId31"/>
    <p:sldId id="3249" r:id="rId32"/>
    <p:sldId id="3250" r:id="rId33"/>
    <p:sldId id="3251" r:id="rId34"/>
    <p:sldId id="3252" r:id="rId35"/>
    <p:sldId id="3253" r:id="rId36"/>
    <p:sldId id="3254" r:id="rId37"/>
    <p:sldId id="3260" r:id="rId38"/>
    <p:sldId id="3261" r:id="rId39"/>
    <p:sldId id="3255" r:id="rId40"/>
    <p:sldId id="3257" r:id="rId41"/>
    <p:sldId id="3258" r:id="rId42"/>
    <p:sldId id="3256" r:id="rId43"/>
    <p:sldId id="3262" r:id="rId44"/>
    <p:sldId id="3259" r:id="rId45"/>
    <p:sldId id="3263" r:id="rId46"/>
    <p:sldId id="3264" r:id="rId47"/>
    <p:sldId id="3265" r:id="rId48"/>
    <p:sldId id="3266" r:id="rId49"/>
    <p:sldId id="3267" r:id="rId50"/>
    <p:sldId id="3268" r:id="rId51"/>
    <p:sldId id="3269" r:id="rId52"/>
    <p:sldId id="3270" r:id="rId53"/>
    <p:sldId id="3271" r:id="rId54"/>
    <p:sldId id="3272" r:id="rId55"/>
    <p:sldId id="3273" r:id="rId56"/>
    <p:sldId id="3274" r:id="rId57"/>
    <p:sldId id="3275" r:id="rId58"/>
    <p:sldId id="3276" r:id="rId59"/>
    <p:sldId id="3277" r:id="rId60"/>
    <p:sldId id="3278" r:id="rId61"/>
    <p:sldId id="3279" r:id="rId62"/>
    <p:sldId id="3280" r:id="rId63"/>
    <p:sldId id="3281" r:id="rId64"/>
    <p:sldId id="3282" r:id="rId65"/>
    <p:sldId id="3283" r:id="rId66"/>
    <p:sldId id="3284" r:id="rId67"/>
    <p:sldId id="3285" r:id="rId68"/>
    <p:sldId id="3286" r:id="rId69"/>
    <p:sldId id="3287" r:id="rId70"/>
    <p:sldId id="3288" r:id="rId71"/>
    <p:sldId id="3289" r:id="rId72"/>
    <p:sldId id="749" r:id="rId73"/>
  </p:sldIdLst>
  <p:sldSz cx="9144000" cy="6858000" type="screen4x3"/>
  <p:notesSz cx="6805613" cy="9939338"/>
  <p:custDataLst>
    <p:tags r:id="rId7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120C"/>
    <a:srgbClr val="8C857B"/>
    <a:srgbClr val="3C1053"/>
    <a:srgbClr val="3D39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30" autoAdjust="0"/>
    <p:restoredTop sz="94694"/>
  </p:normalViewPr>
  <p:slideViewPr>
    <p:cSldViewPr snapToGrid="0">
      <p:cViewPr varScale="1">
        <p:scale>
          <a:sx n="70" d="100"/>
          <a:sy n="70" d="100"/>
        </p:scale>
        <p:origin x="1677" y="6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notesMaster" Target="notesMasters/notesMaster1.xml"/><Relationship Id="rId79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presProps" Target="presProp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69E031-7821-4947-9A91-EC03C15F7566}" type="datetimeFigureOut">
              <a:rPr lang="en-AU" smtClean="0"/>
              <a:t>27/10/2025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3013"/>
            <a:ext cx="4471987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98A5C1-1CB9-4F08-9AE0-90C38B1EBB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2559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98A5C1-1CB9-4F08-9AE0-90C38B1EBB91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64807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A4DDECE2-2C03-6D0D-7451-4AD87CF2B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E746AA02-44F0-E41C-8C34-0C7E413EE9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FC6DF3DA-5601-6BB4-ADB8-0C2E64FC18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F5492648-6074-1426-5629-8D50B61CBAC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2044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60165CFB-8541-91EB-4135-A06C815D4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58790794-CB67-1935-310B-A353F84E6B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B7ABF011-E06E-3BB7-14A2-DF68BAAADD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191A767E-BB00-08F1-D12A-246C684D4ED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66023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2DE29AD8-8665-8516-7B45-F502BFFD3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E5C1F099-CAA9-B40F-3352-33410D5BDA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F67F9161-3A3F-7299-4957-51DBAB7451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B344FD42-0390-34FD-60C5-CD0121BD99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43845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76948EDD-3930-32A6-49A0-3B166DF77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6AA162D6-37F9-830F-3A79-894A2D96EA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16BCA56E-9FA7-42BD-11B6-92CF0E360E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50B4E6A4-2DE3-DFE3-2F9D-33864E1A140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12597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0D2B9AFF-0BE1-7942-0FF9-74B3E3ACC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A20DF84E-D626-2F5F-ECD8-60E5C3CDC6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922F8C46-B1D8-A124-FE6B-6D2D44AE91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37703118-CEBE-206F-8D7D-47EAE79C19E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58494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9118C6AC-E6CF-2258-05BD-C41E9F3AD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7AE3315A-C06C-E0DF-6795-FF56197006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0FDD90CD-BDB0-F0A3-33D7-233331EFC7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4B629639-3BCF-F645-2762-4D0A7CFFA04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34642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AEEF2AC6-6526-A8A5-72F7-6B17A9ECA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FFD54249-B18C-99AD-18DC-53F5C44439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6A6B1452-220D-D9E6-939F-FFCD3472BC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2738C17B-8A35-0A97-E435-D6BF1BDD4F6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75016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A113A40B-4F6E-6BFF-7E74-D3A2E1EF7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7CE2C24F-6128-855D-6182-3717D364DE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7D00E9A5-C2B4-5DF7-CB7C-B865D43037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BE98F727-F7B8-2012-726F-655B09A972E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41279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BAC19188-2E81-D839-B107-222359FD9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36C38F92-E628-888A-A1D3-8590B62A8E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FBFB6351-FF59-4CB0-F6D7-F47B7C0417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048DA608-634D-8200-EF60-F6D967BA70A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81446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580C0E0D-7184-5DCF-D613-6E7817EC2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B5FE6759-E896-5587-C790-BD601DBC87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90B38F90-ECCF-8AAA-6A43-5BFD298317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4D9013F6-9944-21F2-9ED3-91DF2AA370C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40115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91D2B5B4-E1EC-239C-5149-D8E1332C8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23A2C0B2-DD85-1E1F-1285-AB5EC0F3A6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F5655C02-EAC6-3FC4-78FC-F21F3B4D76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7CA995C2-AB48-1FD4-3DF7-E1D5ED2CD4F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88495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8CA7588D-01A9-C8B7-FBED-F7D9B4492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D8094C41-CD79-8504-4E70-B194CCDE3B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BE3DB776-EECE-E583-E610-1534DCB259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C8B89B49-2987-701F-CC47-DDA7DA27612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00922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1D2D5FA0-4C13-77A4-1B52-377BCAC35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22481FC1-5AD8-1D78-4BFA-E25E79B8B6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4E226CCD-A111-770D-5D4A-9199176EBD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1CDC2C93-48F6-9A36-DBBF-DDFEC4DA5D4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43275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84EBED32-350F-B433-AC59-B86F987EE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77A38B43-0B20-5415-F360-8C31F2F7FD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81F45B4B-4EDD-7CAB-131E-52B7124500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4913F307-56D7-B8B2-FCE9-9C59FD44E63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85385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B6D39294-2EC7-C284-B73E-DD3336033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47A79FE1-981D-36DC-37A7-C0E420660E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D4B75DFC-EBC5-AFD0-BF7B-D454CFAF62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49DE3E80-1ED8-CF4E-AD41-AACD16D2C2E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81018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DFDE5CF5-2D89-4E9A-F1A0-8442CD894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67610E13-5BF1-131C-11BF-8E8A2C0711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00768FCD-DEBE-3CC0-A44D-16B3E7B296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B2EAE630-298F-6C79-6914-9963FFCC033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5032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79ABDF6A-77D5-6AE9-730A-A5E063669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6B78BB45-7DFF-5D9E-5E15-7A73500974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38CCB7F2-F8FC-07BE-290A-AF85D6B60C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CE3B04A8-DE79-BDDF-07A2-B3045CF0EA6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43422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350FBB50-8149-04F9-3997-FC3F54180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DF10B1BB-41EC-9A6E-C7B1-ED58F286E5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C90CAE50-EE94-5466-34E2-2EC7293A75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53563169-F886-07D1-8265-0F4419E9834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41313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FB808DED-F78A-E414-E9E6-637B40551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E90632F0-A651-6469-1762-90AE5932C5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9F63BDDC-B8B0-0B69-CCCB-57513439E7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F6D7E9E9-17A3-A932-CFAF-51EB752C328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46982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A688C831-FA62-2D89-A1E2-96924B629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524E2F28-88F1-480A-A546-5DDF8823EE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8FF6516C-ADD5-223C-F279-653DFE4BBC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E2A668D8-20F2-49AA-7837-7A7C0974BB7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60619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808A0DAA-41D7-4448-9C64-589791534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A2B22F68-E4AF-CFA2-F121-3C4FBE68DC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EAD610E7-4CCC-1E66-22F9-305ECE5E02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8F77291A-6BFD-02DE-9BC2-8D403D1D813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91586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E4A8EC4F-DA6E-C506-8277-59415A378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7A22C083-8F93-EC0D-5CE4-7E1CD34DD5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E416DF07-1CD7-F618-C364-00329ED1E3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2EFC23F3-D93B-55AF-86DB-9260113F334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01391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2861F9A9-1895-9EB0-1FD6-34D1A9A79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85F34BCD-4454-32A1-2D6D-54DAD4B0B1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83DDDAAC-BCF7-71E6-D864-82B3CA6AAB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B96A3EF8-0B9A-3888-3BF8-E5F616476C6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89631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22FBEC3C-0B85-7DE7-C6BC-07A05CBA1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8EC38978-31AB-A2CB-3EDE-527A4F24CF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0267BDA4-901C-DDF6-D10C-AAD36FD543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06458384-9922-B703-D413-B871C3ADBD9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280315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8ED5D7B8-6265-56D1-F2C8-9E2B33FEE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B36F6AA9-DA29-504A-D9E1-348EE1E796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BAE26E14-B24F-0A7D-6C27-1A9243A116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7FC655D9-8A8F-4996-0D83-3A197586F41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74486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272B99A9-281D-EFFD-9725-6A28647A8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86B7A666-0464-BE2E-0B54-4835072022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F80E7619-C716-23D3-7A47-C86D7DD359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C06A595E-214D-9B80-9620-6010BB670F3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479091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4CB25E68-CF5E-FC06-57EF-50D3B3C2F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1C258747-E691-F1EE-84B3-0A3FD61297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6473FE55-D9A5-7449-B7BA-F228229A0D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56D55445-54DC-B311-2793-5503506E72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894267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2B8E3324-BDDF-20DE-840B-646772D7C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01225AD7-D03E-DB43-B5A0-9AA789C3D1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716A911F-70D9-7712-0504-7DACD130E6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E084F4E6-5D48-B59D-AFFD-70BB57B648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556089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5ED7D627-B97D-AADF-157F-F629B45EB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D2E7BD4E-3F13-BA7A-3B78-6CADC37D2D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A1D71F9C-4EE5-ABD7-CF06-0154FA268E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8A09605A-5DB3-543B-4143-96371A9A0D0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633858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6CF58945-A6E1-F50D-3D35-9156AAB1C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ACBBC2F8-60FB-1E38-3B41-3CD1785EC4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4641E54C-6284-3C5D-BC3C-87B25E4BA1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D0A8E4AA-0EDD-BDB8-AC3E-BD6F2939870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48912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B8539E07-BD82-7457-E320-3FAAA2798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31BA6BDC-02A5-610C-4530-1846398E1E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73739510-A0A4-87E7-8992-086FF6D926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E3129CA5-952E-972E-45A6-2546211942D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093397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6734B9B5-40A3-3C83-0195-EBB9611BC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B258712F-81DD-F331-AFC9-A699222E5E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DE85A2A9-9694-8DE3-51E5-C00F288E40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3491E667-A4E3-706C-A28E-C84381A112B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382935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7364D478-CBCD-5038-4E7F-446088C0F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B7A0204B-0081-1F26-79A2-21643C2F8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05679BFD-1CC1-1790-F1F5-4E724FBA95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A723011A-DFB7-D26E-C59F-787CD5F5A95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81476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DDB5E12F-E00C-FA38-E7C5-1D7457B4A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D347A556-945D-D136-BADA-F9A812D6BA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14C02CE6-81AD-B19A-EB48-5C52C26108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CAD3A829-4EC9-CB3E-7D68-2E702EF4471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098452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F35C829D-F952-29A9-2521-B096B5AE4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3D933E5D-3DB8-B30B-335D-4D3FE0263C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632E5CCE-2BDC-8DA8-C7D2-5949377C6C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4B3A600E-BAB1-AC18-A918-04A9F159811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550147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B993CED0-8B64-ADC2-202E-F535B50B1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F1FC6060-1699-1A36-A7B3-DF2DE53BB6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F749343F-95B4-891C-5B81-129003328E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9FFFDF6C-769F-EFE2-8A63-70A953BBCC8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709485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0E250EFB-E22B-9AF5-D2DD-D92ECA12C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8E43B838-CE8E-56C0-7693-7E2D947C90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B96326BA-454D-4D9F-2911-32DDAD9645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A90D8D3D-0025-8C58-D1FF-D3E7BFE0AB9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109135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D53DD8FB-DAF2-E1DE-72AF-7AF8104E5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AE8FB361-C9C8-BDF8-521C-F37735CC1E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114FA9C7-1ECA-1437-6664-E9CB1923ED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A054F8BA-8767-358D-452B-FFF9F5B2CE6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501479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B2A15A8F-ED10-07DE-E291-0F35B8F94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92736139-9532-D427-6687-95C2F53FAC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9E90EB30-559E-A00D-D035-9319F9A990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D9DF5AB7-3DDD-07F9-EE2D-C9617D409B5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132770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7A8F6A2A-958D-B2C7-5427-BE8CBA1FE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6CFA52E8-2A4B-3003-2FE9-AE223E39C1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A46C07CC-459E-ADC9-14F6-13638C6E90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3F371DE7-F433-7DAE-CBC5-DA71E6438AF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803618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E128BF35-D695-F811-26AC-F477A0272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96AEEF17-08B3-C427-A9A8-77C640663A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35BBE4F5-5ACF-5C47-7806-C5F432CA50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E134D15E-4880-FA1F-07A9-2753624B49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817674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7B8A2124-70EE-6AD6-E82C-4ACEFFDDE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6925AFA2-9BDB-E2D6-EEF8-474DCF0BC6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72971D82-65C4-0F67-07F9-5B54559817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52A0BE90-F3CD-A837-788D-99092177AA0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156573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3E5D5C5B-3058-316E-4D40-3839C6696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7C7976A5-F36E-AB7B-578F-490984518A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D36DA19E-EE4D-2A5F-DEF4-A9F23B96AC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65990411-2892-94FB-A285-3ABE4BCCA96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447757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06F8C8E9-5F41-CA28-6259-7C837BDAA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28ADE9CD-5B1F-F492-FEAA-380626D4B4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AC5F851A-3DAD-9274-9003-B44AF00579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C9DDA7DC-4B25-302F-912D-56E8547425C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673453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70B1C4A5-85C7-B858-2EBE-3FCA0B8A4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8D63211E-470D-DC12-74CA-A59D257920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143FF9C4-B567-DE9A-E451-E102B851E4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83EC0A52-CF69-B235-48E1-571266586F7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15750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7BB5331E-5F40-6DDF-0347-D94433B74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02C6DAE2-2FD2-97AE-82A7-E886AA328F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C2CAEDD1-CE08-6D3E-947A-226FC23573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F089E2F5-9054-BDCF-4788-CED9EEFDD49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849655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32F5988B-5FE6-93CD-EBEA-843766860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6B693D4A-19DB-65DC-D369-9D80628A90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A24BF208-9304-3281-B833-3863634DED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2ACF3BF5-9431-59B6-2677-44105F91C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897854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E8ABB176-F709-F818-B74E-193085F80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62D80403-18B1-58F8-8058-5C7A188631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E1495275-D577-1549-6CD9-79FC2CF57A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9E9B5BCE-389E-C199-C81F-32B25E3D20E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204725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90A2F28C-96D3-09B5-1E09-924EB9011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1A1C65D0-FDFA-21AB-B117-6FF6A801F4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676FB402-A5AE-60F0-699F-62C69C51CC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5D193DCF-989E-7BA8-A009-C219FC03473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008588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ACFC61FB-1373-75A6-CE4A-621DB61C9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37883B77-C260-76CB-2C77-A7D997942F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F435C5FA-EBA9-A58B-DFB0-0B0FFA326B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32784717-6F7C-929D-946D-158CC907032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08346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76DE5D51-1433-2004-5597-E5E0E46F6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32794D18-923E-4A3C-2A99-68579360B4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8B1150B4-A73E-7C0D-4A20-BB0EB7B767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B37B70C6-A853-E26D-E1AA-B660E3FFFB8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821567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0E6ACD6B-4C4D-9FFE-7391-B9BD84754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AD7175E6-DC4B-DCA5-7774-1BA6F7D4C0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E6ACB55C-6C46-8D6F-64FD-2632BA950D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E8EC450C-D3DB-3654-8A54-664F5A0817F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614420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36D95723-5716-DFCD-3BB2-45466C5D2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C66EF51E-A4E1-776F-6112-E5A3579485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6B5A24C6-BB1C-CC6D-0B14-7CAC70A9CB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D1A3BEFA-97DA-989F-5F8B-593C4BDB8B9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7297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5BB7C8B4-BAD8-EDB1-3B00-357C4F337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69CD61A6-220F-1FB1-D766-D97A83F249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AC0827F6-E1B8-E795-472C-E1EA4B1D68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DFD4781D-40D5-F22B-54DC-32890340474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230302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ECB99392-6CA7-8BCC-7D43-2FF62A792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F7782ECC-8042-58B2-2048-76FACF1BCE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B7D3B683-AF8C-1843-9D61-833C21FFC4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255ABA27-F8A1-1824-8D62-B9DB7B32ACD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874915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8FBD2257-D13D-A705-8700-7CBF44E9C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00307A03-8BB2-62A0-C967-2C387DCB8B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C4B78A1D-5A17-3BB5-A484-A7DB1B0C88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A974882D-D1BA-4815-A7B6-EAD4E39D641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723655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0A814465-FCA3-74F6-FB53-DC01DD9C8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64A13B84-6860-E249-BB2F-3554EBEDA7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24F255F4-4EC4-9621-17E8-20814A81D1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7AC6C048-ADEF-6192-A894-D3C5CF5A54C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13006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6C9747E0-1A49-7BE0-793E-2004639FF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23770895-85FA-F16A-3082-AFCEEC92D9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E6C77186-5118-E297-1822-DED984CD68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D5E81764-65C6-E96D-D935-F5FCE34612F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172152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5AC1DEDB-6988-E6E3-B4A6-34EC55969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7A227A88-52B4-09B5-C0F4-923AAC9D56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16394E43-322F-74E2-A4B8-A1BA3A55BD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224C96C3-1527-0E65-0F90-D4C720CC34B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545701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EA894FCD-9031-9792-94BC-547CC7BBB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2C66BEC4-1E2B-1C6A-A0A1-FE6B25068C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BB93438E-EB12-A50C-7B8B-FCFAB5317B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38D1EC43-D55B-930F-C735-6E3FD3738B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2758609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9ECA4ED2-CD4B-061E-DBAA-FA997F70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FE8330CD-9DAA-A748-A10D-BF496309B1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A417DBEF-839F-D0E8-4384-00C6260EC7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7DA0CA82-AB16-039C-46F9-C55B994B6FF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492222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44A6003F-FEF0-80A1-676C-2D2C3B3B9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F6F7F6FA-2DE5-3FC3-1C44-3B753D4662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1B1A31BA-09FB-6CF6-BF07-70D73B2E5B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6D596235-659D-8A5B-0ECE-9449A43AF89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554329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478AC7D7-9498-A2B3-EC47-F728FA0A9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230902AB-3679-D129-4C4C-2E8FE1130B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E5638D9F-5679-F7AE-55E5-C372B2F7AA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2893855E-D583-B106-0FCB-C487AC76107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1392206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F4753E5C-DB7D-2701-EA9B-3FC3FD407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29F17EBC-871E-13D1-04F7-47FC32DB87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1E8CC8B8-54F3-ED2D-2D91-D632A7FCE3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BEFE6B3A-4BE2-D57C-CC59-2F8AF701266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6491367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312F51F4-EE0D-77A8-1002-5A9196108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2D37A6A5-607B-9E1C-D130-16833934E9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55FA22DE-9CB3-B64E-5214-35EB9CC9F1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A110A402-92AC-1977-11D0-69660148F37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9000639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2133A834-0F60-C21C-BF73-896D8C160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68250D01-FA8E-673E-32BF-CFF3940A9D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DF75FEED-C63E-386E-E799-A6F6184422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319A751B-CC27-BC6A-B0C2-5EEBF089223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0783786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3A2BC5EA-7FB6-6EB4-78DE-350343C57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8B33161F-B219-CDA7-8AA1-26B47AAE54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CE88D086-E61D-CC37-50F9-09C282745B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7BF299FF-EA6A-F260-25FD-B1885CAC915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0946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/>
          <p:cNvSpPr/>
          <p:nvPr userDrawn="1"/>
        </p:nvSpPr>
        <p:spPr>
          <a:xfrm>
            <a:off x="0" y="-3175"/>
            <a:ext cx="914241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5" name="Group 4"/>
          <p:cNvGrpSpPr>
            <a:grpSpLocks noChangeAspect="1"/>
          </p:cNvGrpSpPr>
          <p:nvPr userDrawn="1"/>
        </p:nvGrpSpPr>
        <p:grpSpPr bwMode="auto">
          <a:xfrm>
            <a:off x="0" y="0"/>
            <a:ext cx="9144227" cy="6858000"/>
            <a:chOff x="5" y="0"/>
            <a:chExt cx="5750" cy="4320"/>
          </a:xfrm>
        </p:grpSpPr>
        <p:sp>
          <p:nvSpPr>
            <p:cNvPr id="6" name="AutoShape 3"/>
            <p:cNvSpPr>
              <a:spLocks noChangeAspect="1" noChangeArrowheads="1" noTextEdit="1"/>
            </p:cNvSpPr>
            <p:nvPr userDrawn="1"/>
          </p:nvSpPr>
          <p:spPr bwMode="auto">
            <a:xfrm>
              <a:off x="5" y="0"/>
              <a:ext cx="5750" cy="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Freeform 5"/>
            <p:cNvSpPr>
              <a:spLocks/>
            </p:cNvSpPr>
            <p:nvPr userDrawn="1"/>
          </p:nvSpPr>
          <p:spPr bwMode="auto">
            <a:xfrm>
              <a:off x="5" y="288"/>
              <a:ext cx="2875" cy="1871"/>
            </a:xfrm>
            <a:custGeom>
              <a:avLst/>
              <a:gdLst>
                <a:gd name="T0" fmla="*/ 2875 w 2875"/>
                <a:gd name="T1" fmla="*/ 0 h 1871"/>
                <a:gd name="T2" fmla="*/ 2875 w 2875"/>
                <a:gd name="T3" fmla="*/ 1871 h 1871"/>
                <a:gd name="T4" fmla="*/ 0 w 2875"/>
                <a:gd name="T5" fmla="*/ 1871 h 1871"/>
                <a:gd name="T6" fmla="*/ 0 w 2875"/>
                <a:gd name="T7" fmla="*/ 0 h 1871"/>
                <a:gd name="T8" fmla="*/ 2875 w 2875"/>
                <a:gd name="T9" fmla="*/ 0 h 1871"/>
                <a:gd name="T10" fmla="*/ 2875 w 2875"/>
                <a:gd name="T11" fmla="*/ 0 h 18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75" h="1871">
                  <a:moveTo>
                    <a:pt x="2875" y="0"/>
                  </a:moveTo>
                  <a:lnTo>
                    <a:pt x="2875" y="1871"/>
                  </a:lnTo>
                  <a:lnTo>
                    <a:pt x="0" y="1871"/>
                  </a:lnTo>
                  <a:lnTo>
                    <a:pt x="0" y="0"/>
                  </a:lnTo>
                  <a:lnTo>
                    <a:pt x="2875" y="0"/>
                  </a:lnTo>
                  <a:lnTo>
                    <a:pt x="2875" y="0"/>
                  </a:lnTo>
                  <a:close/>
                </a:path>
              </a:pathLst>
            </a:custGeom>
            <a:solidFill>
              <a:srgbClr val="3D39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2880" y="2159"/>
              <a:ext cx="2875" cy="2159"/>
            </a:xfrm>
            <a:custGeom>
              <a:avLst/>
              <a:gdLst>
                <a:gd name="T0" fmla="*/ 2875 w 2875"/>
                <a:gd name="T1" fmla="*/ 0 h 2159"/>
                <a:gd name="T2" fmla="*/ 2875 w 2875"/>
                <a:gd name="T3" fmla="*/ 1869 h 2159"/>
                <a:gd name="T4" fmla="*/ 290 w 2875"/>
                <a:gd name="T5" fmla="*/ 1869 h 2159"/>
                <a:gd name="T6" fmla="*/ 0 w 2875"/>
                <a:gd name="T7" fmla="*/ 2159 h 2159"/>
                <a:gd name="T8" fmla="*/ 0 w 2875"/>
                <a:gd name="T9" fmla="*/ 0 h 2159"/>
                <a:gd name="T10" fmla="*/ 2875 w 2875"/>
                <a:gd name="T11" fmla="*/ 0 h 2159"/>
                <a:gd name="T12" fmla="*/ 2875 w 2875"/>
                <a:gd name="T13" fmla="*/ 0 h 2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75" h="2159">
                  <a:moveTo>
                    <a:pt x="2875" y="0"/>
                  </a:moveTo>
                  <a:lnTo>
                    <a:pt x="2875" y="1869"/>
                  </a:lnTo>
                  <a:lnTo>
                    <a:pt x="290" y="1869"/>
                  </a:lnTo>
                  <a:lnTo>
                    <a:pt x="0" y="2159"/>
                  </a:lnTo>
                  <a:lnTo>
                    <a:pt x="0" y="0"/>
                  </a:lnTo>
                  <a:lnTo>
                    <a:pt x="2875" y="0"/>
                  </a:lnTo>
                  <a:lnTo>
                    <a:pt x="2875" y="0"/>
                  </a:lnTo>
                  <a:close/>
                </a:path>
              </a:pathLst>
            </a:custGeom>
            <a:solidFill>
              <a:srgbClr val="F2120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5" y="2159"/>
              <a:ext cx="2875" cy="2155"/>
            </a:xfrm>
            <a:custGeom>
              <a:avLst/>
              <a:gdLst>
                <a:gd name="T0" fmla="*/ 2875 w 2875"/>
                <a:gd name="T1" fmla="*/ 0 h 2155"/>
                <a:gd name="T2" fmla="*/ 2875 w 2875"/>
                <a:gd name="T3" fmla="*/ 2155 h 2155"/>
                <a:gd name="T4" fmla="*/ 0 w 2875"/>
                <a:gd name="T5" fmla="*/ 2155 h 2155"/>
                <a:gd name="T6" fmla="*/ 0 w 2875"/>
                <a:gd name="T7" fmla="*/ 0 h 2155"/>
                <a:gd name="T8" fmla="*/ 2875 w 2875"/>
                <a:gd name="T9" fmla="*/ 0 h 2155"/>
                <a:gd name="T10" fmla="*/ 2875 w 2875"/>
                <a:gd name="T11" fmla="*/ 0 h 2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75" h="2155">
                  <a:moveTo>
                    <a:pt x="2875" y="0"/>
                  </a:moveTo>
                  <a:lnTo>
                    <a:pt x="2875" y="2155"/>
                  </a:lnTo>
                  <a:lnTo>
                    <a:pt x="0" y="2155"/>
                  </a:lnTo>
                  <a:lnTo>
                    <a:pt x="0" y="0"/>
                  </a:lnTo>
                  <a:lnTo>
                    <a:pt x="2875" y="0"/>
                  </a:lnTo>
                  <a:lnTo>
                    <a:pt x="2875" y="0"/>
                  </a:lnTo>
                  <a:close/>
                </a:path>
              </a:pathLst>
            </a:custGeom>
            <a:solidFill>
              <a:srgbClr val="8C85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Freeform 8"/>
            <p:cNvSpPr>
              <a:spLocks/>
            </p:cNvSpPr>
            <p:nvPr userDrawn="1"/>
          </p:nvSpPr>
          <p:spPr bwMode="auto">
            <a:xfrm>
              <a:off x="2880" y="-2"/>
              <a:ext cx="2875" cy="2161"/>
            </a:xfrm>
            <a:custGeom>
              <a:avLst/>
              <a:gdLst>
                <a:gd name="T0" fmla="*/ 2875 w 2875"/>
                <a:gd name="T1" fmla="*/ 0 h 2161"/>
                <a:gd name="T2" fmla="*/ 2875 w 2875"/>
                <a:gd name="T3" fmla="*/ 2161 h 2161"/>
                <a:gd name="T4" fmla="*/ 0 w 2875"/>
                <a:gd name="T5" fmla="*/ 2161 h 2161"/>
                <a:gd name="T6" fmla="*/ 0 w 2875"/>
                <a:gd name="T7" fmla="*/ 290 h 2161"/>
                <a:gd name="T8" fmla="*/ 290 w 2875"/>
                <a:gd name="T9" fmla="*/ 0 h 2161"/>
                <a:gd name="T10" fmla="*/ 2875 w 2875"/>
                <a:gd name="T11" fmla="*/ 0 h 2161"/>
                <a:gd name="T12" fmla="*/ 2875 w 2875"/>
                <a:gd name="T13" fmla="*/ 0 h 2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75" h="2161">
                  <a:moveTo>
                    <a:pt x="2875" y="0"/>
                  </a:moveTo>
                  <a:lnTo>
                    <a:pt x="2875" y="2161"/>
                  </a:lnTo>
                  <a:lnTo>
                    <a:pt x="0" y="2161"/>
                  </a:lnTo>
                  <a:lnTo>
                    <a:pt x="0" y="290"/>
                  </a:lnTo>
                  <a:lnTo>
                    <a:pt x="290" y="0"/>
                  </a:lnTo>
                  <a:lnTo>
                    <a:pt x="2875" y="0"/>
                  </a:lnTo>
                  <a:lnTo>
                    <a:pt x="2875" y="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Freeform 9"/>
            <p:cNvSpPr>
              <a:spLocks/>
            </p:cNvSpPr>
            <p:nvPr userDrawn="1"/>
          </p:nvSpPr>
          <p:spPr bwMode="auto">
            <a:xfrm>
              <a:off x="4659" y="234"/>
              <a:ext cx="182" cy="233"/>
            </a:xfrm>
            <a:custGeom>
              <a:avLst/>
              <a:gdLst>
                <a:gd name="T0" fmla="*/ 91 w 91"/>
                <a:gd name="T1" fmla="*/ 0 h 117"/>
                <a:gd name="T2" fmla="*/ 91 w 91"/>
                <a:gd name="T3" fmla="*/ 51 h 117"/>
                <a:gd name="T4" fmla="*/ 46 w 91"/>
                <a:gd name="T5" fmla="*/ 117 h 117"/>
                <a:gd name="T6" fmla="*/ 0 w 91"/>
                <a:gd name="T7" fmla="*/ 51 h 117"/>
                <a:gd name="T8" fmla="*/ 0 w 91"/>
                <a:gd name="T9" fmla="*/ 0 h 117"/>
                <a:gd name="T10" fmla="*/ 91 w 91"/>
                <a:gd name="T11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1" h="117">
                  <a:moveTo>
                    <a:pt x="91" y="0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77"/>
                    <a:pt x="74" y="105"/>
                    <a:pt x="46" y="117"/>
                  </a:cubicBezTo>
                  <a:cubicBezTo>
                    <a:pt x="18" y="105"/>
                    <a:pt x="0" y="77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1" y="0"/>
                    <a:pt x="91" y="0"/>
                    <a:pt x="91" y="0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Freeform 10"/>
            <p:cNvSpPr>
              <a:spLocks/>
            </p:cNvSpPr>
            <p:nvPr userDrawn="1"/>
          </p:nvSpPr>
          <p:spPr bwMode="auto">
            <a:xfrm>
              <a:off x="4693" y="262"/>
              <a:ext cx="114" cy="149"/>
            </a:xfrm>
            <a:custGeom>
              <a:avLst/>
              <a:gdLst>
                <a:gd name="T0" fmla="*/ 0 w 114"/>
                <a:gd name="T1" fmla="*/ 74 h 149"/>
                <a:gd name="T2" fmla="*/ 58 w 114"/>
                <a:gd name="T3" fmla="*/ 0 h 149"/>
                <a:gd name="T4" fmla="*/ 114 w 114"/>
                <a:gd name="T5" fmla="*/ 74 h 149"/>
                <a:gd name="T6" fmla="*/ 58 w 114"/>
                <a:gd name="T7" fmla="*/ 149 h 149"/>
                <a:gd name="T8" fmla="*/ 0 w 114"/>
                <a:gd name="T9" fmla="*/ 74 h 149"/>
                <a:gd name="T10" fmla="*/ 0 w 114"/>
                <a:gd name="T11" fmla="*/ 74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4" h="149">
                  <a:moveTo>
                    <a:pt x="0" y="74"/>
                  </a:moveTo>
                  <a:lnTo>
                    <a:pt x="58" y="0"/>
                  </a:lnTo>
                  <a:lnTo>
                    <a:pt x="114" y="74"/>
                  </a:lnTo>
                  <a:lnTo>
                    <a:pt x="58" y="149"/>
                  </a:lnTo>
                  <a:lnTo>
                    <a:pt x="0" y="74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Freeform 11"/>
            <p:cNvSpPr>
              <a:spLocks/>
            </p:cNvSpPr>
            <p:nvPr userDrawn="1"/>
          </p:nvSpPr>
          <p:spPr bwMode="auto">
            <a:xfrm>
              <a:off x="4709" y="294"/>
              <a:ext cx="82" cy="97"/>
            </a:xfrm>
            <a:custGeom>
              <a:avLst/>
              <a:gdLst>
                <a:gd name="T0" fmla="*/ 18 w 41"/>
                <a:gd name="T1" fmla="*/ 26 h 49"/>
                <a:gd name="T2" fmla="*/ 21 w 41"/>
                <a:gd name="T3" fmla="*/ 49 h 49"/>
                <a:gd name="T4" fmla="*/ 21 w 41"/>
                <a:gd name="T5" fmla="*/ 49 h 49"/>
                <a:gd name="T6" fmla="*/ 21 w 41"/>
                <a:gd name="T7" fmla="*/ 49 h 49"/>
                <a:gd name="T8" fmla="*/ 23 w 41"/>
                <a:gd name="T9" fmla="*/ 26 h 49"/>
                <a:gd name="T10" fmla="*/ 23 w 41"/>
                <a:gd name="T11" fmla="*/ 24 h 49"/>
                <a:gd name="T12" fmla="*/ 32 w 41"/>
                <a:gd name="T13" fmla="*/ 24 h 49"/>
                <a:gd name="T14" fmla="*/ 32 w 41"/>
                <a:gd name="T15" fmla="*/ 25 h 49"/>
                <a:gd name="T16" fmla="*/ 35 w 41"/>
                <a:gd name="T17" fmla="*/ 28 h 49"/>
                <a:gd name="T18" fmla="*/ 37 w 41"/>
                <a:gd name="T19" fmla="*/ 25 h 49"/>
                <a:gd name="T20" fmla="*/ 37 w 41"/>
                <a:gd name="T21" fmla="*/ 24 h 49"/>
                <a:gd name="T22" fmla="*/ 38 w 41"/>
                <a:gd name="T23" fmla="*/ 24 h 49"/>
                <a:gd name="T24" fmla="*/ 41 w 41"/>
                <a:gd name="T25" fmla="*/ 21 h 49"/>
                <a:gd name="T26" fmla="*/ 38 w 41"/>
                <a:gd name="T27" fmla="*/ 19 h 49"/>
                <a:gd name="T28" fmla="*/ 37 w 41"/>
                <a:gd name="T29" fmla="*/ 19 h 49"/>
                <a:gd name="T30" fmla="*/ 37 w 41"/>
                <a:gd name="T31" fmla="*/ 18 h 49"/>
                <a:gd name="T32" fmla="*/ 35 w 41"/>
                <a:gd name="T33" fmla="*/ 15 h 49"/>
                <a:gd name="T34" fmla="*/ 32 w 41"/>
                <a:gd name="T35" fmla="*/ 18 h 49"/>
                <a:gd name="T36" fmla="*/ 32 w 41"/>
                <a:gd name="T37" fmla="*/ 19 h 49"/>
                <a:gd name="T38" fmla="*/ 23 w 41"/>
                <a:gd name="T39" fmla="*/ 19 h 49"/>
                <a:gd name="T40" fmla="*/ 23 w 41"/>
                <a:gd name="T41" fmla="*/ 9 h 49"/>
                <a:gd name="T42" fmla="*/ 24 w 41"/>
                <a:gd name="T43" fmla="*/ 9 h 49"/>
                <a:gd name="T44" fmla="*/ 27 w 41"/>
                <a:gd name="T45" fmla="*/ 6 h 49"/>
                <a:gd name="T46" fmla="*/ 24 w 41"/>
                <a:gd name="T47" fmla="*/ 3 h 49"/>
                <a:gd name="T48" fmla="*/ 23 w 41"/>
                <a:gd name="T49" fmla="*/ 3 h 49"/>
                <a:gd name="T50" fmla="*/ 23 w 41"/>
                <a:gd name="T51" fmla="*/ 3 h 49"/>
                <a:gd name="T52" fmla="*/ 21 w 41"/>
                <a:gd name="T53" fmla="*/ 0 h 49"/>
                <a:gd name="T54" fmla="*/ 18 w 41"/>
                <a:gd name="T55" fmla="*/ 3 h 49"/>
                <a:gd name="T56" fmla="*/ 18 w 41"/>
                <a:gd name="T57" fmla="*/ 3 h 49"/>
                <a:gd name="T58" fmla="*/ 17 w 41"/>
                <a:gd name="T59" fmla="*/ 3 h 49"/>
                <a:gd name="T60" fmla="*/ 14 w 41"/>
                <a:gd name="T61" fmla="*/ 6 h 49"/>
                <a:gd name="T62" fmla="*/ 17 w 41"/>
                <a:gd name="T63" fmla="*/ 9 h 49"/>
                <a:gd name="T64" fmla="*/ 18 w 41"/>
                <a:gd name="T65" fmla="*/ 9 h 49"/>
                <a:gd name="T66" fmla="*/ 18 w 41"/>
                <a:gd name="T67" fmla="*/ 19 h 49"/>
                <a:gd name="T68" fmla="*/ 18 w 41"/>
                <a:gd name="T69" fmla="*/ 19 h 49"/>
                <a:gd name="T70" fmla="*/ 10 w 41"/>
                <a:gd name="T71" fmla="*/ 19 h 49"/>
                <a:gd name="T72" fmla="*/ 10 w 41"/>
                <a:gd name="T73" fmla="*/ 18 h 49"/>
                <a:gd name="T74" fmla="*/ 7 w 41"/>
                <a:gd name="T75" fmla="*/ 15 h 49"/>
                <a:gd name="T76" fmla="*/ 4 w 41"/>
                <a:gd name="T77" fmla="*/ 18 h 49"/>
                <a:gd name="T78" fmla="*/ 4 w 41"/>
                <a:gd name="T79" fmla="*/ 19 h 49"/>
                <a:gd name="T80" fmla="*/ 4 w 41"/>
                <a:gd name="T81" fmla="*/ 19 h 49"/>
                <a:gd name="T82" fmla="*/ 0 w 41"/>
                <a:gd name="T83" fmla="*/ 21 h 49"/>
                <a:gd name="T84" fmla="*/ 4 w 41"/>
                <a:gd name="T85" fmla="*/ 24 h 49"/>
                <a:gd name="T86" fmla="*/ 4 w 41"/>
                <a:gd name="T87" fmla="*/ 24 h 49"/>
                <a:gd name="T88" fmla="*/ 4 w 41"/>
                <a:gd name="T89" fmla="*/ 25 h 49"/>
                <a:gd name="T90" fmla="*/ 7 w 41"/>
                <a:gd name="T91" fmla="*/ 28 h 49"/>
                <a:gd name="T92" fmla="*/ 10 w 41"/>
                <a:gd name="T93" fmla="*/ 25 h 49"/>
                <a:gd name="T94" fmla="*/ 10 w 41"/>
                <a:gd name="T95" fmla="*/ 24 h 49"/>
                <a:gd name="T96" fmla="*/ 18 w 41"/>
                <a:gd name="T97" fmla="*/ 24 h 49"/>
                <a:gd name="T98" fmla="*/ 18 w 41"/>
                <a:gd name="T99" fmla="*/ 26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1" h="49">
                  <a:moveTo>
                    <a:pt x="18" y="26"/>
                  </a:moveTo>
                  <a:cubicBezTo>
                    <a:pt x="18" y="36"/>
                    <a:pt x="20" y="48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8"/>
                    <a:pt x="23" y="36"/>
                    <a:pt x="23" y="26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3" y="28"/>
                    <a:pt x="35" y="28"/>
                  </a:cubicBezTo>
                  <a:cubicBezTo>
                    <a:pt x="36" y="28"/>
                    <a:pt x="37" y="26"/>
                    <a:pt x="37" y="25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9" y="24"/>
                    <a:pt x="41" y="23"/>
                    <a:pt x="41" y="21"/>
                  </a:cubicBezTo>
                  <a:cubicBezTo>
                    <a:pt x="41" y="20"/>
                    <a:pt x="39" y="19"/>
                    <a:pt x="38" y="19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17"/>
                    <a:pt x="36" y="15"/>
                    <a:pt x="35" y="15"/>
                  </a:cubicBezTo>
                  <a:cubicBezTo>
                    <a:pt x="33" y="15"/>
                    <a:pt x="32" y="17"/>
                    <a:pt x="32" y="18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5" y="9"/>
                    <a:pt x="27" y="8"/>
                    <a:pt x="27" y="6"/>
                  </a:cubicBezTo>
                  <a:cubicBezTo>
                    <a:pt x="27" y="5"/>
                    <a:pt x="25" y="3"/>
                    <a:pt x="24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"/>
                    <a:pt x="22" y="0"/>
                    <a:pt x="21" y="0"/>
                  </a:cubicBezTo>
                  <a:cubicBezTo>
                    <a:pt x="19" y="0"/>
                    <a:pt x="18" y="1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6" y="3"/>
                    <a:pt x="14" y="5"/>
                    <a:pt x="14" y="6"/>
                  </a:cubicBezTo>
                  <a:cubicBezTo>
                    <a:pt x="14" y="8"/>
                    <a:pt x="16" y="9"/>
                    <a:pt x="17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7"/>
                    <a:pt x="8" y="15"/>
                    <a:pt x="7" y="15"/>
                  </a:cubicBezTo>
                  <a:cubicBezTo>
                    <a:pt x="5" y="15"/>
                    <a:pt x="4" y="17"/>
                    <a:pt x="4" y="18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2" y="19"/>
                    <a:pt x="0" y="20"/>
                    <a:pt x="0" y="21"/>
                  </a:cubicBezTo>
                  <a:cubicBezTo>
                    <a:pt x="0" y="23"/>
                    <a:pt x="2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4" y="26"/>
                    <a:pt x="5" y="28"/>
                    <a:pt x="7" y="28"/>
                  </a:cubicBezTo>
                  <a:cubicBezTo>
                    <a:pt x="8" y="28"/>
                    <a:pt x="10" y="26"/>
                    <a:pt x="10" y="25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18" y="26"/>
                    <a:pt x="18" y="26"/>
                    <a:pt x="18" y="26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Freeform 12"/>
            <p:cNvSpPr>
              <a:spLocks noEditPoints="1"/>
            </p:cNvSpPr>
            <p:nvPr userDrawn="1"/>
          </p:nvSpPr>
          <p:spPr bwMode="auto">
            <a:xfrm>
              <a:off x="4659" y="503"/>
              <a:ext cx="34" cy="32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10 w 34"/>
                <a:gd name="T9" fmla="*/ 26 h 32"/>
                <a:gd name="T10" fmla="*/ 26 w 34"/>
                <a:gd name="T11" fmla="*/ 26 h 32"/>
                <a:gd name="T12" fmla="*/ 30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2 w 34"/>
                <a:gd name="T25" fmla="*/ 20 h 32"/>
                <a:gd name="T26" fmla="*/ 18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10" y="26"/>
                  </a:lnTo>
                  <a:lnTo>
                    <a:pt x="26" y="26"/>
                  </a:lnTo>
                  <a:lnTo>
                    <a:pt x="30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2" y="20"/>
                  </a:lnTo>
                  <a:lnTo>
                    <a:pt x="18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Freeform 13"/>
            <p:cNvSpPr>
              <a:spLocks/>
            </p:cNvSpPr>
            <p:nvPr userDrawn="1"/>
          </p:nvSpPr>
          <p:spPr bwMode="auto">
            <a:xfrm>
              <a:off x="4695" y="503"/>
              <a:ext cx="28" cy="32"/>
            </a:xfrm>
            <a:custGeom>
              <a:avLst/>
              <a:gdLst>
                <a:gd name="T0" fmla="*/ 11 w 14"/>
                <a:gd name="T1" fmla="*/ 9 h 16"/>
                <a:gd name="T2" fmla="*/ 7 w 14"/>
                <a:gd name="T3" fmla="*/ 14 h 16"/>
                <a:gd name="T4" fmla="*/ 3 w 14"/>
                <a:gd name="T5" fmla="*/ 9 h 16"/>
                <a:gd name="T6" fmla="*/ 3 w 14"/>
                <a:gd name="T7" fmla="*/ 0 h 16"/>
                <a:gd name="T8" fmla="*/ 0 w 14"/>
                <a:gd name="T9" fmla="*/ 0 h 16"/>
                <a:gd name="T10" fmla="*/ 0 w 14"/>
                <a:gd name="T11" fmla="*/ 9 h 16"/>
                <a:gd name="T12" fmla="*/ 7 w 14"/>
                <a:gd name="T13" fmla="*/ 16 h 16"/>
                <a:gd name="T14" fmla="*/ 14 w 14"/>
                <a:gd name="T15" fmla="*/ 9 h 16"/>
                <a:gd name="T16" fmla="*/ 14 w 14"/>
                <a:gd name="T17" fmla="*/ 0 h 16"/>
                <a:gd name="T18" fmla="*/ 11 w 14"/>
                <a:gd name="T19" fmla="*/ 0 h 16"/>
                <a:gd name="T20" fmla="*/ 11 w 14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3" y="12"/>
                    <a:pt x="3" y="9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4" y="16"/>
                    <a:pt x="7" y="16"/>
                  </a:cubicBezTo>
                  <a:cubicBezTo>
                    <a:pt x="10" y="16"/>
                    <a:pt x="14" y="14"/>
                    <a:pt x="14" y="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Freeform 14"/>
            <p:cNvSpPr>
              <a:spLocks/>
            </p:cNvSpPr>
            <p:nvPr userDrawn="1"/>
          </p:nvSpPr>
          <p:spPr bwMode="auto">
            <a:xfrm>
              <a:off x="4729" y="501"/>
              <a:ext cx="26" cy="34"/>
            </a:xfrm>
            <a:custGeom>
              <a:avLst/>
              <a:gdLst>
                <a:gd name="T0" fmla="*/ 7 w 13"/>
                <a:gd name="T1" fmla="*/ 7 h 17"/>
                <a:gd name="T2" fmla="*/ 3 w 13"/>
                <a:gd name="T3" fmla="*/ 5 h 17"/>
                <a:gd name="T4" fmla="*/ 7 w 13"/>
                <a:gd name="T5" fmla="*/ 3 h 17"/>
                <a:gd name="T6" fmla="*/ 11 w 13"/>
                <a:gd name="T7" fmla="*/ 5 h 17"/>
                <a:gd name="T8" fmla="*/ 11 w 13"/>
                <a:gd name="T9" fmla="*/ 5 h 17"/>
                <a:gd name="T10" fmla="*/ 13 w 13"/>
                <a:gd name="T11" fmla="*/ 4 h 17"/>
                <a:gd name="T12" fmla="*/ 13 w 13"/>
                <a:gd name="T13" fmla="*/ 3 h 17"/>
                <a:gd name="T14" fmla="*/ 7 w 13"/>
                <a:gd name="T15" fmla="*/ 0 h 17"/>
                <a:gd name="T16" fmla="*/ 2 w 13"/>
                <a:gd name="T17" fmla="*/ 2 h 17"/>
                <a:gd name="T18" fmla="*/ 0 w 13"/>
                <a:gd name="T19" fmla="*/ 5 h 17"/>
                <a:gd name="T20" fmla="*/ 7 w 13"/>
                <a:gd name="T21" fmla="*/ 10 h 17"/>
                <a:gd name="T22" fmla="*/ 11 w 13"/>
                <a:gd name="T23" fmla="*/ 12 h 17"/>
                <a:gd name="T24" fmla="*/ 7 w 13"/>
                <a:gd name="T25" fmla="*/ 15 h 17"/>
                <a:gd name="T26" fmla="*/ 2 w 13"/>
                <a:gd name="T27" fmla="*/ 12 h 17"/>
                <a:gd name="T28" fmla="*/ 2 w 13"/>
                <a:gd name="T29" fmla="*/ 12 h 17"/>
                <a:gd name="T30" fmla="*/ 0 w 13"/>
                <a:gd name="T31" fmla="*/ 13 h 17"/>
                <a:gd name="T32" fmla="*/ 0 w 13"/>
                <a:gd name="T33" fmla="*/ 14 h 17"/>
                <a:gd name="T34" fmla="*/ 7 w 13"/>
                <a:gd name="T35" fmla="*/ 17 h 17"/>
                <a:gd name="T36" fmla="*/ 13 w 13"/>
                <a:gd name="T37" fmla="*/ 12 h 17"/>
                <a:gd name="T38" fmla="*/ 7 w 13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" h="17">
                  <a:moveTo>
                    <a:pt x="7" y="7"/>
                  </a:moveTo>
                  <a:cubicBezTo>
                    <a:pt x="5" y="7"/>
                    <a:pt x="3" y="6"/>
                    <a:pt x="3" y="5"/>
                  </a:cubicBezTo>
                  <a:cubicBezTo>
                    <a:pt x="3" y="4"/>
                    <a:pt x="5" y="3"/>
                    <a:pt x="7" y="3"/>
                  </a:cubicBezTo>
                  <a:cubicBezTo>
                    <a:pt x="9" y="3"/>
                    <a:pt x="10" y="3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5" y="0"/>
                    <a:pt x="3" y="1"/>
                    <a:pt x="2" y="2"/>
                  </a:cubicBezTo>
                  <a:cubicBezTo>
                    <a:pt x="1" y="3"/>
                    <a:pt x="0" y="4"/>
                    <a:pt x="0" y="5"/>
                  </a:cubicBezTo>
                  <a:cubicBezTo>
                    <a:pt x="0" y="9"/>
                    <a:pt x="4" y="9"/>
                    <a:pt x="7" y="10"/>
                  </a:cubicBezTo>
                  <a:cubicBezTo>
                    <a:pt x="9" y="10"/>
                    <a:pt x="11" y="11"/>
                    <a:pt x="11" y="12"/>
                  </a:cubicBezTo>
                  <a:cubicBezTo>
                    <a:pt x="11" y="15"/>
                    <a:pt x="8" y="15"/>
                    <a:pt x="7" y="15"/>
                  </a:cubicBezTo>
                  <a:cubicBezTo>
                    <a:pt x="5" y="15"/>
                    <a:pt x="3" y="14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6"/>
                    <a:pt x="3" y="17"/>
                    <a:pt x="7" y="17"/>
                  </a:cubicBezTo>
                  <a:cubicBezTo>
                    <a:pt x="10" y="17"/>
                    <a:pt x="13" y="16"/>
                    <a:pt x="13" y="12"/>
                  </a:cubicBezTo>
                  <a:cubicBezTo>
                    <a:pt x="13" y="9"/>
                    <a:pt x="10" y="8"/>
                    <a:pt x="7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Freeform 15"/>
            <p:cNvSpPr>
              <a:spLocks/>
            </p:cNvSpPr>
            <p:nvPr userDrawn="1"/>
          </p:nvSpPr>
          <p:spPr bwMode="auto">
            <a:xfrm>
              <a:off x="4759" y="503"/>
              <a:ext cx="26" cy="32"/>
            </a:xfrm>
            <a:custGeom>
              <a:avLst/>
              <a:gdLst>
                <a:gd name="T0" fmla="*/ 0 w 26"/>
                <a:gd name="T1" fmla="*/ 4 h 32"/>
                <a:gd name="T2" fmla="*/ 10 w 26"/>
                <a:gd name="T3" fmla="*/ 4 h 32"/>
                <a:gd name="T4" fmla="*/ 10 w 26"/>
                <a:gd name="T5" fmla="*/ 32 h 32"/>
                <a:gd name="T6" fmla="*/ 16 w 26"/>
                <a:gd name="T7" fmla="*/ 32 h 32"/>
                <a:gd name="T8" fmla="*/ 16 w 26"/>
                <a:gd name="T9" fmla="*/ 4 h 32"/>
                <a:gd name="T10" fmla="*/ 26 w 26"/>
                <a:gd name="T11" fmla="*/ 4 h 32"/>
                <a:gd name="T12" fmla="*/ 26 w 26"/>
                <a:gd name="T13" fmla="*/ 0 h 32"/>
                <a:gd name="T14" fmla="*/ 0 w 26"/>
                <a:gd name="T15" fmla="*/ 0 h 32"/>
                <a:gd name="T16" fmla="*/ 0 w 26"/>
                <a:gd name="T17" fmla="*/ 4 h 32"/>
                <a:gd name="T18" fmla="*/ 0 w 26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32">
                  <a:moveTo>
                    <a:pt x="0" y="4"/>
                  </a:moveTo>
                  <a:lnTo>
                    <a:pt x="10" y="4"/>
                  </a:lnTo>
                  <a:lnTo>
                    <a:pt x="10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6" y="4"/>
                  </a:lnTo>
                  <a:lnTo>
                    <a:pt x="26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Freeform 16"/>
            <p:cNvSpPr>
              <a:spLocks noEditPoints="1"/>
            </p:cNvSpPr>
            <p:nvPr userDrawn="1"/>
          </p:nvSpPr>
          <p:spPr bwMode="auto">
            <a:xfrm>
              <a:off x="4791" y="503"/>
              <a:ext cx="28" cy="32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0 w 14"/>
                <a:gd name="T15" fmla="*/ 16 h 16"/>
                <a:gd name="T16" fmla="*/ 14 w 14"/>
                <a:gd name="T17" fmla="*/ 16 h 16"/>
                <a:gd name="T18" fmla="*/ 8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Freeform 17"/>
            <p:cNvSpPr>
              <a:spLocks noEditPoints="1"/>
            </p:cNvSpPr>
            <p:nvPr userDrawn="1"/>
          </p:nvSpPr>
          <p:spPr bwMode="auto">
            <a:xfrm>
              <a:off x="4821" y="503"/>
              <a:ext cx="34" cy="32"/>
            </a:xfrm>
            <a:custGeom>
              <a:avLst/>
              <a:gdLst>
                <a:gd name="T0" fmla="*/ 18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4 w 34"/>
                <a:gd name="T7" fmla="*/ 32 h 32"/>
                <a:gd name="T8" fmla="*/ 8 w 34"/>
                <a:gd name="T9" fmla="*/ 26 h 32"/>
                <a:gd name="T10" fmla="*/ 24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18 w 34"/>
                <a:gd name="T19" fmla="*/ 0 h 32"/>
                <a:gd name="T20" fmla="*/ 18 w 34"/>
                <a:gd name="T21" fmla="*/ 0 h 32"/>
                <a:gd name="T22" fmla="*/ 22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2 w 34"/>
                <a:gd name="T29" fmla="*/ 20 h 32"/>
                <a:gd name="T30" fmla="*/ 22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18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8" y="26"/>
                  </a:lnTo>
                  <a:lnTo>
                    <a:pt x="24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18" y="0"/>
                  </a:lnTo>
                  <a:lnTo>
                    <a:pt x="18" y="0"/>
                  </a:lnTo>
                  <a:close/>
                  <a:moveTo>
                    <a:pt x="22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2" y="20"/>
                  </a:lnTo>
                  <a:lnTo>
                    <a:pt x="22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Freeform 18"/>
            <p:cNvSpPr>
              <a:spLocks/>
            </p:cNvSpPr>
            <p:nvPr userDrawn="1"/>
          </p:nvSpPr>
          <p:spPr bwMode="auto">
            <a:xfrm>
              <a:off x="4859" y="503"/>
              <a:ext cx="22" cy="32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Freeform 19"/>
            <p:cNvSpPr>
              <a:spLocks/>
            </p:cNvSpPr>
            <p:nvPr userDrawn="1"/>
          </p:nvSpPr>
          <p:spPr bwMode="auto">
            <a:xfrm>
              <a:off x="4887" y="503"/>
              <a:ext cx="4" cy="32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Freeform 20"/>
            <p:cNvSpPr>
              <a:spLocks noEditPoints="1"/>
            </p:cNvSpPr>
            <p:nvPr userDrawn="1"/>
          </p:nvSpPr>
          <p:spPr bwMode="auto">
            <a:xfrm>
              <a:off x="4897" y="503"/>
              <a:ext cx="33" cy="32"/>
            </a:xfrm>
            <a:custGeom>
              <a:avLst/>
              <a:gdLst>
                <a:gd name="T0" fmla="*/ 19 w 33"/>
                <a:gd name="T1" fmla="*/ 0 h 32"/>
                <a:gd name="T2" fmla="*/ 13 w 33"/>
                <a:gd name="T3" fmla="*/ 0 h 32"/>
                <a:gd name="T4" fmla="*/ 0 w 33"/>
                <a:gd name="T5" fmla="*/ 32 h 32"/>
                <a:gd name="T6" fmla="*/ 6 w 33"/>
                <a:gd name="T7" fmla="*/ 32 h 32"/>
                <a:gd name="T8" fmla="*/ 7 w 33"/>
                <a:gd name="T9" fmla="*/ 26 h 32"/>
                <a:gd name="T10" fmla="*/ 25 w 33"/>
                <a:gd name="T11" fmla="*/ 26 h 32"/>
                <a:gd name="T12" fmla="*/ 27 w 33"/>
                <a:gd name="T13" fmla="*/ 32 h 32"/>
                <a:gd name="T14" fmla="*/ 33 w 33"/>
                <a:gd name="T15" fmla="*/ 32 h 32"/>
                <a:gd name="T16" fmla="*/ 19 w 33"/>
                <a:gd name="T17" fmla="*/ 0 h 32"/>
                <a:gd name="T18" fmla="*/ 19 w 33"/>
                <a:gd name="T19" fmla="*/ 0 h 32"/>
                <a:gd name="T20" fmla="*/ 19 w 33"/>
                <a:gd name="T21" fmla="*/ 0 h 32"/>
                <a:gd name="T22" fmla="*/ 23 w 33"/>
                <a:gd name="T23" fmla="*/ 20 h 32"/>
                <a:gd name="T24" fmla="*/ 9 w 33"/>
                <a:gd name="T25" fmla="*/ 20 h 32"/>
                <a:gd name="T26" fmla="*/ 17 w 33"/>
                <a:gd name="T27" fmla="*/ 6 h 32"/>
                <a:gd name="T28" fmla="*/ 23 w 33"/>
                <a:gd name="T29" fmla="*/ 20 h 32"/>
                <a:gd name="T30" fmla="*/ 23 w 33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3" h="32">
                  <a:moveTo>
                    <a:pt x="19" y="0"/>
                  </a:moveTo>
                  <a:lnTo>
                    <a:pt x="13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7" y="26"/>
                  </a:lnTo>
                  <a:lnTo>
                    <a:pt x="25" y="26"/>
                  </a:lnTo>
                  <a:lnTo>
                    <a:pt x="27" y="32"/>
                  </a:lnTo>
                  <a:lnTo>
                    <a:pt x="33" y="32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0"/>
                  </a:lnTo>
                  <a:close/>
                  <a:moveTo>
                    <a:pt x="23" y="20"/>
                  </a:moveTo>
                  <a:lnTo>
                    <a:pt x="9" y="20"/>
                  </a:lnTo>
                  <a:lnTo>
                    <a:pt x="17" y="6"/>
                  </a:lnTo>
                  <a:lnTo>
                    <a:pt x="23" y="20"/>
                  </a:lnTo>
                  <a:lnTo>
                    <a:pt x="23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Freeform 21"/>
            <p:cNvSpPr>
              <a:spLocks/>
            </p:cNvSpPr>
            <p:nvPr userDrawn="1"/>
          </p:nvSpPr>
          <p:spPr bwMode="auto">
            <a:xfrm>
              <a:off x="4936" y="503"/>
              <a:ext cx="26" cy="32"/>
            </a:xfrm>
            <a:custGeom>
              <a:avLst/>
              <a:gdLst>
                <a:gd name="T0" fmla="*/ 22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2 w 26"/>
                <a:gd name="T19" fmla="*/ 0 h 32"/>
                <a:gd name="T20" fmla="*/ 22 w 26"/>
                <a:gd name="T21" fmla="*/ 22 h 32"/>
                <a:gd name="T22" fmla="*/ 22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2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22" y="22"/>
                  </a:lnTo>
                  <a:lnTo>
                    <a:pt x="22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Freeform 22"/>
            <p:cNvSpPr>
              <a:spLocks/>
            </p:cNvSpPr>
            <p:nvPr userDrawn="1"/>
          </p:nvSpPr>
          <p:spPr bwMode="auto">
            <a:xfrm>
              <a:off x="4986" y="501"/>
              <a:ext cx="30" cy="34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2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4" y="15"/>
                    <a:pt x="3" y="12"/>
                    <a:pt x="3" y="9"/>
                  </a:cubicBezTo>
                  <a:cubicBezTo>
                    <a:pt x="3" y="6"/>
                    <a:pt x="4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2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Freeform 23"/>
            <p:cNvSpPr>
              <a:spLocks noEditPoints="1"/>
            </p:cNvSpPr>
            <p:nvPr userDrawn="1"/>
          </p:nvSpPr>
          <p:spPr bwMode="auto">
            <a:xfrm>
              <a:off x="5018" y="503"/>
              <a:ext cx="34" cy="32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8 w 34"/>
                <a:gd name="T9" fmla="*/ 26 h 32"/>
                <a:gd name="T10" fmla="*/ 26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8" y="26"/>
                  </a:lnTo>
                  <a:lnTo>
                    <a:pt x="26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Freeform 24"/>
            <p:cNvSpPr>
              <a:spLocks/>
            </p:cNvSpPr>
            <p:nvPr userDrawn="1"/>
          </p:nvSpPr>
          <p:spPr bwMode="auto">
            <a:xfrm>
              <a:off x="5050" y="503"/>
              <a:ext cx="28" cy="32"/>
            </a:xfrm>
            <a:custGeom>
              <a:avLst/>
              <a:gdLst>
                <a:gd name="T0" fmla="*/ 0 w 28"/>
                <a:gd name="T1" fmla="*/ 4 h 32"/>
                <a:gd name="T2" fmla="*/ 12 w 28"/>
                <a:gd name="T3" fmla="*/ 4 h 32"/>
                <a:gd name="T4" fmla="*/ 12 w 28"/>
                <a:gd name="T5" fmla="*/ 32 h 32"/>
                <a:gd name="T6" fmla="*/ 16 w 28"/>
                <a:gd name="T7" fmla="*/ 32 h 32"/>
                <a:gd name="T8" fmla="*/ 16 w 28"/>
                <a:gd name="T9" fmla="*/ 4 h 32"/>
                <a:gd name="T10" fmla="*/ 28 w 28"/>
                <a:gd name="T11" fmla="*/ 4 h 32"/>
                <a:gd name="T12" fmla="*/ 28 w 28"/>
                <a:gd name="T13" fmla="*/ 0 h 32"/>
                <a:gd name="T14" fmla="*/ 0 w 28"/>
                <a:gd name="T15" fmla="*/ 0 h 32"/>
                <a:gd name="T16" fmla="*/ 0 w 28"/>
                <a:gd name="T17" fmla="*/ 4 h 32"/>
                <a:gd name="T18" fmla="*/ 0 w 28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32">
                  <a:moveTo>
                    <a:pt x="0" y="4"/>
                  </a:moveTo>
                  <a:lnTo>
                    <a:pt x="12" y="4"/>
                  </a:lnTo>
                  <a:lnTo>
                    <a:pt x="12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8" y="4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Freeform 25"/>
            <p:cNvSpPr>
              <a:spLocks/>
            </p:cNvSpPr>
            <p:nvPr userDrawn="1"/>
          </p:nvSpPr>
          <p:spPr bwMode="auto">
            <a:xfrm>
              <a:off x="5082" y="503"/>
              <a:ext cx="28" cy="32"/>
            </a:xfrm>
            <a:custGeom>
              <a:avLst/>
              <a:gdLst>
                <a:gd name="T0" fmla="*/ 22 w 28"/>
                <a:gd name="T1" fmla="*/ 12 h 32"/>
                <a:gd name="T2" fmla="*/ 6 w 28"/>
                <a:gd name="T3" fmla="*/ 12 h 32"/>
                <a:gd name="T4" fmla="*/ 6 w 28"/>
                <a:gd name="T5" fmla="*/ 0 h 32"/>
                <a:gd name="T6" fmla="*/ 0 w 28"/>
                <a:gd name="T7" fmla="*/ 0 h 32"/>
                <a:gd name="T8" fmla="*/ 0 w 28"/>
                <a:gd name="T9" fmla="*/ 32 h 32"/>
                <a:gd name="T10" fmla="*/ 6 w 28"/>
                <a:gd name="T11" fmla="*/ 32 h 32"/>
                <a:gd name="T12" fmla="*/ 6 w 28"/>
                <a:gd name="T13" fmla="*/ 18 h 32"/>
                <a:gd name="T14" fmla="*/ 22 w 28"/>
                <a:gd name="T15" fmla="*/ 18 h 32"/>
                <a:gd name="T16" fmla="*/ 22 w 28"/>
                <a:gd name="T17" fmla="*/ 32 h 32"/>
                <a:gd name="T18" fmla="*/ 28 w 28"/>
                <a:gd name="T19" fmla="*/ 32 h 32"/>
                <a:gd name="T20" fmla="*/ 28 w 28"/>
                <a:gd name="T21" fmla="*/ 0 h 32"/>
                <a:gd name="T22" fmla="*/ 22 w 28"/>
                <a:gd name="T23" fmla="*/ 0 h 32"/>
                <a:gd name="T24" fmla="*/ 22 w 28"/>
                <a:gd name="T25" fmla="*/ 12 h 32"/>
                <a:gd name="T26" fmla="*/ 22 w 28"/>
                <a:gd name="T27" fmla="*/ 1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2">
                  <a:moveTo>
                    <a:pt x="22" y="12"/>
                  </a:moveTo>
                  <a:lnTo>
                    <a:pt x="6" y="1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6" y="18"/>
                  </a:lnTo>
                  <a:lnTo>
                    <a:pt x="22" y="18"/>
                  </a:lnTo>
                  <a:lnTo>
                    <a:pt x="22" y="32"/>
                  </a:lnTo>
                  <a:lnTo>
                    <a:pt x="28" y="32"/>
                  </a:lnTo>
                  <a:lnTo>
                    <a:pt x="28" y="0"/>
                  </a:lnTo>
                  <a:lnTo>
                    <a:pt x="22" y="0"/>
                  </a:lnTo>
                  <a:lnTo>
                    <a:pt x="22" y="12"/>
                  </a:lnTo>
                  <a:lnTo>
                    <a:pt x="22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Freeform 26"/>
            <p:cNvSpPr>
              <a:spLocks noEditPoints="1"/>
            </p:cNvSpPr>
            <p:nvPr userDrawn="1"/>
          </p:nvSpPr>
          <p:spPr bwMode="auto">
            <a:xfrm>
              <a:off x="5116" y="501"/>
              <a:ext cx="32" cy="34"/>
            </a:xfrm>
            <a:custGeom>
              <a:avLst/>
              <a:gdLst>
                <a:gd name="T0" fmla="*/ 8 w 16"/>
                <a:gd name="T1" fmla="*/ 0 h 17"/>
                <a:gd name="T2" fmla="*/ 0 w 16"/>
                <a:gd name="T3" fmla="*/ 9 h 17"/>
                <a:gd name="T4" fmla="*/ 8 w 16"/>
                <a:gd name="T5" fmla="*/ 17 h 17"/>
                <a:gd name="T6" fmla="*/ 16 w 16"/>
                <a:gd name="T7" fmla="*/ 9 h 17"/>
                <a:gd name="T8" fmla="*/ 8 w 16"/>
                <a:gd name="T9" fmla="*/ 0 h 17"/>
                <a:gd name="T10" fmla="*/ 8 w 16"/>
                <a:gd name="T11" fmla="*/ 15 h 17"/>
                <a:gd name="T12" fmla="*/ 2 w 16"/>
                <a:gd name="T13" fmla="*/ 9 h 17"/>
                <a:gd name="T14" fmla="*/ 8 w 16"/>
                <a:gd name="T15" fmla="*/ 3 h 17"/>
                <a:gd name="T16" fmla="*/ 14 w 16"/>
                <a:gd name="T17" fmla="*/ 9 h 17"/>
                <a:gd name="T18" fmla="*/ 8 w 16"/>
                <a:gd name="T19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17"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2" y="17"/>
                    <a:pt x="8" y="17"/>
                  </a:cubicBezTo>
                  <a:cubicBezTo>
                    <a:pt x="14" y="17"/>
                    <a:pt x="16" y="13"/>
                    <a:pt x="16" y="9"/>
                  </a:cubicBezTo>
                  <a:cubicBezTo>
                    <a:pt x="16" y="5"/>
                    <a:pt x="14" y="0"/>
                    <a:pt x="8" y="0"/>
                  </a:cubicBezTo>
                  <a:close/>
                  <a:moveTo>
                    <a:pt x="8" y="15"/>
                  </a:moveTo>
                  <a:cubicBezTo>
                    <a:pt x="4" y="15"/>
                    <a:pt x="2" y="12"/>
                    <a:pt x="2" y="9"/>
                  </a:cubicBezTo>
                  <a:cubicBezTo>
                    <a:pt x="2" y="6"/>
                    <a:pt x="4" y="3"/>
                    <a:pt x="8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5"/>
                    <a:pt x="8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Freeform 27"/>
            <p:cNvSpPr>
              <a:spLocks/>
            </p:cNvSpPr>
            <p:nvPr userDrawn="1"/>
          </p:nvSpPr>
          <p:spPr bwMode="auto">
            <a:xfrm>
              <a:off x="5154" y="503"/>
              <a:ext cx="22" cy="32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Freeform 28"/>
            <p:cNvSpPr>
              <a:spLocks/>
            </p:cNvSpPr>
            <p:nvPr userDrawn="1"/>
          </p:nvSpPr>
          <p:spPr bwMode="auto">
            <a:xfrm>
              <a:off x="5182" y="503"/>
              <a:ext cx="4" cy="32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Freeform 29"/>
            <p:cNvSpPr>
              <a:spLocks/>
            </p:cNvSpPr>
            <p:nvPr userDrawn="1"/>
          </p:nvSpPr>
          <p:spPr bwMode="auto">
            <a:xfrm>
              <a:off x="5192" y="501"/>
              <a:ext cx="30" cy="34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3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5" y="15"/>
                    <a:pt x="3" y="12"/>
                    <a:pt x="3" y="9"/>
                  </a:cubicBezTo>
                  <a:cubicBezTo>
                    <a:pt x="3" y="6"/>
                    <a:pt x="5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Freeform 30"/>
            <p:cNvSpPr>
              <a:spLocks/>
            </p:cNvSpPr>
            <p:nvPr userDrawn="1"/>
          </p:nvSpPr>
          <p:spPr bwMode="auto">
            <a:xfrm>
              <a:off x="5244" y="503"/>
              <a:ext cx="26" cy="32"/>
            </a:xfrm>
            <a:custGeom>
              <a:avLst/>
              <a:gdLst>
                <a:gd name="T0" fmla="*/ 11 w 13"/>
                <a:gd name="T1" fmla="*/ 9 h 16"/>
                <a:gd name="T2" fmla="*/ 7 w 13"/>
                <a:gd name="T3" fmla="*/ 14 h 16"/>
                <a:gd name="T4" fmla="*/ 2 w 13"/>
                <a:gd name="T5" fmla="*/ 9 h 16"/>
                <a:gd name="T6" fmla="*/ 2 w 13"/>
                <a:gd name="T7" fmla="*/ 0 h 16"/>
                <a:gd name="T8" fmla="*/ 0 w 13"/>
                <a:gd name="T9" fmla="*/ 0 h 16"/>
                <a:gd name="T10" fmla="*/ 0 w 13"/>
                <a:gd name="T11" fmla="*/ 9 h 16"/>
                <a:gd name="T12" fmla="*/ 7 w 13"/>
                <a:gd name="T13" fmla="*/ 16 h 16"/>
                <a:gd name="T14" fmla="*/ 13 w 13"/>
                <a:gd name="T15" fmla="*/ 9 h 16"/>
                <a:gd name="T16" fmla="*/ 13 w 13"/>
                <a:gd name="T17" fmla="*/ 0 h 16"/>
                <a:gd name="T18" fmla="*/ 11 w 13"/>
                <a:gd name="T19" fmla="*/ 0 h 16"/>
                <a:gd name="T20" fmla="*/ 11 w 13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2" y="12"/>
                    <a:pt x="2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3" y="16"/>
                    <a:pt x="7" y="16"/>
                  </a:cubicBezTo>
                  <a:cubicBezTo>
                    <a:pt x="10" y="16"/>
                    <a:pt x="13" y="14"/>
                    <a:pt x="13" y="9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Freeform 31"/>
            <p:cNvSpPr>
              <a:spLocks/>
            </p:cNvSpPr>
            <p:nvPr userDrawn="1"/>
          </p:nvSpPr>
          <p:spPr bwMode="auto">
            <a:xfrm>
              <a:off x="5280" y="503"/>
              <a:ext cx="26" cy="32"/>
            </a:xfrm>
            <a:custGeom>
              <a:avLst/>
              <a:gdLst>
                <a:gd name="T0" fmla="*/ 20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0 w 26"/>
                <a:gd name="T19" fmla="*/ 0 h 32"/>
                <a:gd name="T20" fmla="*/ 20 w 26"/>
                <a:gd name="T21" fmla="*/ 22 h 32"/>
                <a:gd name="T22" fmla="*/ 20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0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20" y="22"/>
                  </a:lnTo>
                  <a:lnTo>
                    <a:pt x="20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Freeform 32"/>
            <p:cNvSpPr>
              <a:spLocks/>
            </p:cNvSpPr>
            <p:nvPr userDrawn="1"/>
          </p:nvSpPr>
          <p:spPr bwMode="auto">
            <a:xfrm>
              <a:off x="5314" y="503"/>
              <a:ext cx="6" cy="32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Freeform 33"/>
            <p:cNvSpPr>
              <a:spLocks/>
            </p:cNvSpPr>
            <p:nvPr userDrawn="1"/>
          </p:nvSpPr>
          <p:spPr bwMode="auto">
            <a:xfrm>
              <a:off x="5326" y="503"/>
              <a:ext cx="32" cy="32"/>
            </a:xfrm>
            <a:custGeom>
              <a:avLst/>
              <a:gdLst>
                <a:gd name="T0" fmla="*/ 6 w 32"/>
                <a:gd name="T1" fmla="*/ 0 h 32"/>
                <a:gd name="T2" fmla="*/ 0 w 32"/>
                <a:gd name="T3" fmla="*/ 0 h 32"/>
                <a:gd name="T4" fmla="*/ 12 w 32"/>
                <a:gd name="T5" fmla="*/ 32 h 32"/>
                <a:gd name="T6" fmla="*/ 18 w 32"/>
                <a:gd name="T7" fmla="*/ 32 h 32"/>
                <a:gd name="T8" fmla="*/ 32 w 32"/>
                <a:gd name="T9" fmla="*/ 0 h 32"/>
                <a:gd name="T10" fmla="*/ 26 w 32"/>
                <a:gd name="T11" fmla="*/ 0 h 32"/>
                <a:gd name="T12" fmla="*/ 16 w 32"/>
                <a:gd name="T13" fmla="*/ 26 h 32"/>
                <a:gd name="T14" fmla="*/ 6 w 32"/>
                <a:gd name="T15" fmla="*/ 0 h 32"/>
                <a:gd name="T16" fmla="*/ 6 w 32"/>
                <a:gd name="T1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2">
                  <a:moveTo>
                    <a:pt x="6" y="0"/>
                  </a:moveTo>
                  <a:lnTo>
                    <a:pt x="0" y="0"/>
                  </a:lnTo>
                  <a:lnTo>
                    <a:pt x="12" y="32"/>
                  </a:lnTo>
                  <a:lnTo>
                    <a:pt x="18" y="32"/>
                  </a:lnTo>
                  <a:lnTo>
                    <a:pt x="32" y="0"/>
                  </a:lnTo>
                  <a:lnTo>
                    <a:pt x="26" y="0"/>
                  </a:lnTo>
                  <a:lnTo>
                    <a:pt x="16" y="2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Freeform 34"/>
            <p:cNvSpPr>
              <a:spLocks/>
            </p:cNvSpPr>
            <p:nvPr userDrawn="1"/>
          </p:nvSpPr>
          <p:spPr bwMode="auto">
            <a:xfrm>
              <a:off x="5362" y="503"/>
              <a:ext cx="24" cy="32"/>
            </a:xfrm>
            <a:custGeom>
              <a:avLst/>
              <a:gdLst>
                <a:gd name="T0" fmla="*/ 6 w 24"/>
                <a:gd name="T1" fmla="*/ 18 h 32"/>
                <a:gd name="T2" fmla="*/ 24 w 24"/>
                <a:gd name="T3" fmla="*/ 18 h 32"/>
                <a:gd name="T4" fmla="*/ 24 w 24"/>
                <a:gd name="T5" fmla="*/ 12 h 32"/>
                <a:gd name="T6" fmla="*/ 6 w 24"/>
                <a:gd name="T7" fmla="*/ 12 h 32"/>
                <a:gd name="T8" fmla="*/ 6 w 24"/>
                <a:gd name="T9" fmla="*/ 4 h 32"/>
                <a:gd name="T10" fmla="*/ 24 w 24"/>
                <a:gd name="T11" fmla="*/ 4 h 32"/>
                <a:gd name="T12" fmla="*/ 24 w 24"/>
                <a:gd name="T13" fmla="*/ 0 h 32"/>
                <a:gd name="T14" fmla="*/ 0 w 24"/>
                <a:gd name="T15" fmla="*/ 0 h 32"/>
                <a:gd name="T16" fmla="*/ 0 w 24"/>
                <a:gd name="T17" fmla="*/ 32 h 32"/>
                <a:gd name="T18" fmla="*/ 24 w 24"/>
                <a:gd name="T19" fmla="*/ 32 h 32"/>
                <a:gd name="T20" fmla="*/ 24 w 24"/>
                <a:gd name="T21" fmla="*/ 26 h 32"/>
                <a:gd name="T22" fmla="*/ 6 w 24"/>
                <a:gd name="T23" fmla="*/ 26 h 32"/>
                <a:gd name="T24" fmla="*/ 6 w 24"/>
                <a:gd name="T25" fmla="*/ 18 h 32"/>
                <a:gd name="T26" fmla="*/ 6 w 24"/>
                <a:gd name="T27" fmla="*/ 1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" h="32">
                  <a:moveTo>
                    <a:pt x="6" y="18"/>
                  </a:moveTo>
                  <a:lnTo>
                    <a:pt x="24" y="18"/>
                  </a:lnTo>
                  <a:lnTo>
                    <a:pt x="24" y="12"/>
                  </a:lnTo>
                  <a:lnTo>
                    <a:pt x="6" y="12"/>
                  </a:lnTo>
                  <a:lnTo>
                    <a:pt x="6" y="4"/>
                  </a:lnTo>
                  <a:lnTo>
                    <a:pt x="24" y="4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24" y="32"/>
                  </a:lnTo>
                  <a:lnTo>
                    <a:pt x="24" y="26"/>
                  </a:lnTo>
                  <a:lnTo>
                    <a:pt x="6" y="26"/>
                  </a:lnTo>
                  <a:lnTo>
                    <a:pt x="6" y="18"/>
                  </a:lnTo>
                  <a:lnTo>
                    <a:pt x="6" y="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Freeform 35"/>
            <p:cNvSpPr>
              <a:spLocks noEditPoints="1"/>
            </p:cNvSpPr>
            <p:nvPr userDrawn="1"/>
          </p:nvSpPr>
          <p:spPr bwMode="auto">
            <a:xfrm>
              <a:off x="5394" y="503"/>
              <a:ext cx="28" cy="32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1 w 14"/>
                <a:gd name="T15" fmla="*/ 16 h 16"/>
                <a:gd name="T16" fmla="*/ 14 w 14"/>
                <a:gd name="T17" fmla="*/ 16 h 16"/>
                <a:gd name="T18" fmla="*/ 9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Freeform 36"/>
            <p:cNvSpPr>
              <a:spLocks/>
            </p:cNvSpPr>
            <p:nvPr userDrawn="1"/>
          </p:nvSpPr>
          <p:spPr bwMode="auto">
            <a:xfrm>
              <a:off x="5424" y="501"/>
              <a:ext cx="28" cy="34"/>
            </a:xfrm>
            <a:custGeom>
              <a:avLst/>
              <a:gdLst>
                <a:gd name="T0" fmla="*/ 8 w 14"/>
                <a:gd name="T1" fmla="*/ 7 h 17"/>
                <a:gd name="T2" fmla="*/ 4 w 14"/>
                <a:gd name="T3" fmla="*/ 5 h 17"/>
                <a:gd name="T4" fmla="*/ 7 w 14"/>
                <a:gd name="T5" fmla="*/ 3 h 17"/>
                <a:gd name="T6" fmla="*/ 12 w 14"/>
                <a:gd name="T7" fmla="*/ 5 h 17"/>
                <a:gd name="T8" fmla="*/ 12 w 14"/>
                <a:gd name="T9" fmla="*/ 5 h 17"/>
                <a:gd name="T10" fmla="*/ 14 w 14"/>
                <a:gd name="T11" fmla="*/ 4 h 17"/>
                <a:gd name="T12" fmla="*/ 14 w 14"/>
                <a:gd name="T13" fmla="*/ 3 h 17"/>
                <a:gd name="T14" fmla="*/ 7 w 14"/>
                <a:gd name="T15" fmla="*/ 0 h 17"/>
                <a:gd name="T16" fmla="*/ 2 w 14"/>
                <a:gd name="T17" fmla="*/ 2 h 17"/>
                <a:gd name="T18" fmla="*/ 1 w 14"/>
                <a:gd name="T19" fmla="*/ 5 h 17"/>
                <a:gd name="T20" fmla="*/ 7 w 14"/>
                <a:gd name="T21" fmla="*/ 10 h 17"/>
                <a:gd name="T22" fmla="*/ 12 w 14"/>
                <a:gd name="T23" fmla="*/ 12 h 17"/>
                <a:gd name="T24" fmla="*/ 7 w 14"/>
                <a:gd name="T25" fmla="*/ 15 h 17"/>
                <a:gd name="T26" fmla="*/ 3 w 14"/>
                <a:gd name="T27" fmla="*/ 12 h 17"/>
                <a:gd name="T28" fmla="*/ 2 w 14"/>
                <a:gd name="T29" fmla="*/ 12 h 17"/>
                <a:gd name="T30" fmla="*/ 0 w 14"/>
                <a:gd name="T31" fmla="*/ 13 h 17"/>
                <a:gd name="T32" fmla="*/ 0 w 14"/>
                <a:gd name="T33" fmla="*/ 14 h 17"/>
                <a:gd name="T34" fmla="*/ 7 w 14"/>
                <a:gd name="T35" fmla="*/ 17 h 17"/>
                <a:gd name="T36" fmla="*/ 14 w 14"/>
                <a:gd name="T37" fmla="*/ 12 h 17"/>
                <a:gd name="T38" fmla="*/ 8 w 14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17">
                  <a:moveTo>
                    <a:pt x="8" y="7"/>
                  </a:moveTo>
                  <a:cubicBezTo>
                    <a:pt x="5" y="7"/>
                    <a:pt x="4" y="6"/>
                    <a:pt x="4" y="5"/>
                  </a:cubicBezTo>
                  <a:cubicBezTo>
                    <a:pt x="4" y="4"/>
                    <a:pt x="5" y="3"/>
                    <a:pt x="7" y="3"/>
                  </a:cubicBezTo>
                  <a:cubicBezTo>
                    <a:pt x="9" y="3"/>
                    <a:pt x="11" y="3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6" y="0"/>
                    <a:pt x="3" y="1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5" y="9"/>
                    <a:pt x="7" y="10"/>
                  </a:cubicBezTo>
                  <a:cubicBezTo>
                    <a:pt x="10" y="10"/>
                    <a:pt x="12" y="11"/>
                    <a:pt x="12" y="12"/>
                  </a:cubicBezTo>
                  <a:cubicBezTo>
                    <a:pt x="12" y="15"/>
                    <a:pt x="8" y="15"/>
                    <a:pt x="7" y="15"/>
                  </a:cubicBezTo>
                  <a:cubicBezTo>
                    <a:pt x="6" y="15"/>
                    <a:pt x="4" y="14"/>
                    <a:pt x="3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6"/>
                    <a:pt x="4" y="17"/>
                    <a:pt x="7" y="17"/>
                  </a:cubicBezTo>
                  <a:cubicBezTo>
                    <a:pt x="11" y="17"/>
                    <a:pt x="14" y="16"/>
                    <a:pt x="14" y="12"/>
                  </a:cubicBezTo>
                  <a:cubicBezTo>
                    <a:pt x="14" y="9"/>
                    <a:pt x="11" y="8"/>
                    <a:pt x="8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Freeform 37"/>
            <p:cNvSpPr>
              <a:spLocks/>
            </p:cNvSpPr>
            <p:nvPr userDrawn="1"/>
          </p:nvSpPr>
          <p:spPr bwMode="auto">
            <a:xfrm>
              <a:off x="5458" y="503"/>
              <a:ext cx="6" cy="32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Freeform 38"/>
            <p:cNvSpPr>
              <a:spLocks/>
            </p:cNvSpPr>
            <p:nvPr userDrawn="1"/>
          </p:nvSpPr>
          <p:spPr bwMode="auto">
            <a:xfrm>
              <a:off x="5470" y="503"/>
              <a:ext cx="53" cy="32"/>
            </a:xfrm>
            <a:custGeom>
              <a:avLst/>
              <a:gdLst>
                <a:gd name="T0" fmla="*/ 29 w 53"/>
                <a:gd name="T1" fmla="*/ 0 h 32"/>
                <a:gd name="T2" fmla="*/ 0 w 53"/>
                <a:gd name="T3" fmla="*/ 0 h 32"/>
                <a:gd name="T4" fmla="*/ 0 w 53"/>
                <a:gd name="T5" fmla="*/ 4 h 32"/>
                <a:gd name="T6" fmla="*/ 9 w 53"/>
                <a:gd name="T7" fmla="*/ 4 h 32"/>
                <a:gd name="T8" fmla="*/ 9 w 53"/>
                <a:gd name="T9" fmla="*/ 32 h 32"/>
                <a:gd name="T10" fmla="*/ 15 w 53"/>
                <a:gd name="T11" fmla="*/ 32 h 32"/>
                <a:gd name="T12" fmla="*/ 15 w 53"/>
                <a:gd name="T13" fmla="*/ 4 h 32"/>
                <a:gd name="T14" fmla="*/ 25 w 53"/>
                <a:gd name="T15" fmla="*/ 4 h 32"/>
                <a:gd name="T16" fmla="*/ 35 w 53"/>
                <a:gd name="T17" fmla="*/ 18 h 32"/>
                <a:gd name="T18" fmla="*/ 35 w 53"/>
                <a:gd name="T19" fmla="*/ 32 h 32"/>
                <a:gd name="T20" fmla="*/ 41 w 53"/>
                <a:gd name="T21" fmla="*/ 32 h 32"/>
                <a:gd name="T22" fmla="*/ 41 w 53"/>
                <a:gd name="T23" fmla="*/ 18 h 32"/>
                <a:gd name="T24" fmla="*/ 53 w 53"/>
                <a:gd name="T25" fmla="*/ 0 h 32"/>
                <a:gd name="T26" fmla="*/ 53 w 53"/>
                <a:gd name="T27" fmla="*/ 0 h 32"/>
                <a:gd name="T28" fmla="*/ 53 w 53"/>
                <a:gd name="T29" fmla="*/ 0 h 32"/>
                <a:gd name="T30" fmla="*/ 47 w 53"/>
                <a:gd name="T31" fmla="*/ 0 h 32"/>
                <a:gd name="T32" fmla="*/ 37 w 53"/>
                <a:gd name="T33" fmla="*/ 14 h 32"/>
                <a:gd name="T34" fmla="*/ 29 w 53"/>
                <a:gd name="T35" fmla="*/ 0 h 32"/>
                <a:gd name="T36" fmla="*/ 29 w 53"/>
                <a:gd name="T3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3" h="32">
                  <a:moveTo>
                    <a:pt x="29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9" y="4"/>
                  </a:lnTo>
                  <a:lnTo>
                    <a:pt x="9" y="32"/>
                  </a:lnTo>
                  <a:lnTo>
                    <a:pt x="15" y="32"/>
                  </a:lnTo>
                  <a:lnTo>
                    <a:pt x="15" y="4"/>
                  </a:lnTo>
                  <a:lnTo>
                    <a:pt x="25" y="4"/>
                  </a:lnTo>
                  <a:lnTo>
                    <a:pt x="35" y="18"/>
                  </a:lnTo>
                  <a:lnTo>
                    <a:pt x="35" y="32"/>
                  </a:lnTo>
                  <a:lnTo>
                    <a:pt x="41" y="32"/>
                  </a:lnTo>
                  <a:lnTo>
                    <a:pt x="41" y="18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47" y="0"/>
                  </a:lnTo>
                  <a:lnTo>
                    <a:pt x="37" y="14"/>
                  </a:lnTo>
                  <a:lnTo>
                    <a:pt x="29" y="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Freeform 39"/>
            <p:cNvSpPr>
              <a:spLocks/>
            </p:cNvSpPr>
            <p:nvPr userDrawn="1"/>
          </p:nvSpPr>
          <p:spPr bwMode="auto">
            <a:xfrm>
              <a:off x="5340" y="234"/>
              <a:ext cx="183" cy="229"/>
            </a:xfrm>
            <a:custGeom>
              <a:avLst/>
              <a:gdLst>
                <a:gd name="T0" fmla="*/ 92 w 92"/>
                <a:gd name="T1" fmla="*/ 0 h 115"/>
                <a:gd name="T2" fmla="*/ 92 w 92"/>
                <a:gd name="T3" fmla="*/ 71 h 115"/>
                <a:gd name="T4" fmla="*/ 49 w 92"/>
                <a:gd name="T5" fmla="*/ 115 h 115"/>
                <a:gd name="T6" fmla="*/ 0 w 92"/>
                <a:gd name="T7" fmla="*/ 70 h 115"/>
                <a:gd name="T8" fmla="*/ 0 w 92"/>
                <a:gd name="T9" fmla="*/ 0 h 115"/>
                <a:gd name="T10" fmla="*/ 22 w 92"/>
                <a:gd name="T11" fmla="*/ 0 h 115"/>
                <a:gd name="T12" fmla="*/ 22 w 92"/>
                <a:gd name="T13" fmla="*/ 72 h 115"/>
                <a:gd name="T14" fmla="*/ 50 w 92"/>
                <a:gd name="T15" fmla="*/ 105 h 115"/>
                <a:gd name="T16" fmla="*/ 79 w 92"/>
                <a:gd name="T17" fmla="*/ 73 h 115"/>
                <a:gd name="T18" fmla="*/ 79 w 92"/>
                <a:gd name="T19" fmla="*/ 0 h 115"/>
                <a:gd name="T20" fmla="*/ 92 w 92"/>
                <a:gd name="T21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5">
                  <a:moveTo>
                    <a:pt x="92" y="0"/>
                  </a:moveTo>
                  <a:cubicBezTo>
                    <a:pt x="92" y="71"/>
                    <a:pt x="92" y="71"/>
                    <a:pt x="92" y="71"/>
                  </a:cubicBezTo>
                  <a:cubicBezTo>
                    <a:pt x="92" y="109"/>
                    <a:pt x="62" y="115"/>
                    <a:pt x="49" y="115"/>
                  </a:cubicBezTo>
                  <a:cubicBezTo>
                    <a:pt x="25" y="115"/>
                    <a:pt x="0" y="107"/>
                    <a:pt x="0" y="7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2" y="93"/>
                    <a:pt x="32" y="105"/>
                    <a:pt x="50" y="105"/>
                  </a:cubicBezTo>
                  <a:cubicBezTo>
                    <a:pt x="66" y="105"/>
                    <a:pt x="79" y="95"/>
                    <a:pt x="79" y="73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92" y="0"/>
                    <a:pt x="92" y="0"/>
                    <a:pt x="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Freeform 40"/>
            <p:cNvSpPr>
              <a:spLocks/>
            </p:cNvSpPr>
            <p:nvPr userDrawn="1"/>
          </p:nvSpPr>
          <p:spPr bwMode="auto">
            <a:xfrm>
              <a:off x="5096" y="230"/>
              <a:ext cx="212" cy="233"/>
            </a:xfrm>
            <a:custGeom>
              <a:avLst/>
              <a:gdLst>
                <a:gd name="T0" fmla="*/ 61 w 106"/>
                <a:gd name="T1" fmla="*/ 117 h 117"/>
                <a:gd name="T2" fmla="*/ 0 w 106"/>
                <a:gd name="T3" fmla="*/ 60 h 117"/>
                <a:gd name="T4" fmla="*/ 63 w 106"/>
                <a:gd name="T5" fmla="*/ 0 h 117"/>
                <a:gd name="T6" fmla="*/ 97 w 106"/>
                <a:gd name="T7" fmla="*/ 13 h 117"/>
                <a:gd name="T8" fmla="*/ 106 w 106"/>
                <a:gd name="T9" fmla="*/ 28 h 117"/>
                <a:gd name="T10" fmla="*/ 94 w 106"/>
                <a:gd name="T11" fmla="*/ 39 h 117"/>
                <a:gd name="T12" fmla="*/ 83 w 106"/>
                <a:gd name="T13" fmla="*/ 28 h 117"/>
                <a:gd name="T14" fmla="*/ 86 w 106"/>
                <a:gd name="T15" fmla="*/ 20 h 117"/>
                <a:gd name="T16" fmla="*/ 63 w 106"/>
                <a:gd name="T17" fmla="*/ 10 h 117"/>
                <a:gd name="T18" fmla="*/ 21 w 106"/>
                <a:gd name="T19" fmla="*/ 58 h 117"/>
                <a:gd name="T20" fmla="*/ 65 w 106"/>
                <a:gd name="T21" fmla="*/ 108 h 117"/>
                <a:gd name="T22" fmla="*/ 102 w 106"/>
                <a:gd name="T23" fmla="*/ 93 h 117"/>
                <a:gd name="T24" fmla="*/ 106 w 106"/>
                <a:gd name="T25" fmla="*/ 99 h 117"/>
                <a:gd name="T26" fmla="*/ 61 w 106"/>
                <a:gd name="T2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6" h="117">
                  <a:moveTo>
                    <a:pt x="61" y="117"/>
                  </a:moveTo>
                  <a:cubicBezTo>
                    <a:pt x="23" y="117"/>
                    <a:pt x="0" y="91"/>
                    <a:pt x="0" y="60"/>
                  </a:cubicBezTo>
                  <a:cubicBezTo>
                    <a:pt x="0" y="29"/>
                    <a:pt x="24" y="0"/>
                    <a:pt x="63" y="0"/>
                  </a:cubicBezTo>
                  <a:cubicBezTo>
                    <a:pt x="74" y="0"/>
                    <a:pt x="88" y="4"/>
                    <a:pt x="97" y="13"/>
                  </a:cubicBezTo>
                  <a:cubicBezTo>
                    <a:pt x="102" y="16"/>
                    <a:pt x="106" y="23"/>
                    <a:pt x="106" y="28"/>
                  </a:cubicBezTo>
                  <a:cubicBezTo>
                    <a:pt x="106" y="34"/>
                    <a:pt x="101" y="39"/>
                    <a:pt x="94" y="39"/>
                  </a:cubicBezTo>
                  <a:cubicBezTo>
                    <a:pt x="88" y="39"/>
                    <a:pt x="83" y="34"/>
                    <a:pt x="83" y="28"/>
                  </a:cubicBezTo>
                  <a:cubicBezTo>
                    <a:pt x="83" y="25"/>
                    <a:pt x="84" y="22"/>
                    <a:pt x="86" y="20"/>
                  </a:cubicBezTo>
                  <a:cubicBezTo>
                    <a:pt x="81" y="14"/>
                    <a:pt x="71" y="10"/>
                    <a:pt x="63" y="10"/>
                  </a:cubicBezTo>
                  <a:cubicBezTo>
                    <a:pt x="36" y="10"/>
                    <a:pt x="21" y="35"/>
                    <a:pt x="21" y="58"/>
                  </a:cubicBezTo>
                  <a:cubicBezTo>
                    <a:pt x="21" y="85"/>
                    <a:pt x="38" y="108"/>
                    <a:pt x="65" y="108"/>
                  </a:cubicBezTo>
                  <a:cubicBezTo>
                    <a:pt x="79" y="108"/>
                    <a:pt x="90" y="102"/>
                    <a:pt x="102" y="93"/>
                  </a:cubicBezTo>
                  <a:cubicBezTo>
                    <a:pt x="106" y="99"/>
                    <a:pt x="106" y="99"/>
                    <a:pt x="106" y="99"/>
                  </a:cubicBezTo>
                  <a:cubicBezTo>
                    <a:pt x="94" y="111"/>
                    <a:pt x="77" y="117"/>
                    <a:pt x="61" y="1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Freeform 41"/>
            <p:cNvSpPr>
              <a:spLocks noEditPoints="1"/>
            </p:cNvSpPr>
            <p:nvPr userDrawn="1"/>
          </p:nvSpPr>
          <p:spPr bwMode="auto">
            <a:xfrm>
              <a:off x="4885" y="234"/>
              <a:ext cx="207" cy="225"/>
            </a:xfrm>
            <a:custGeom>
              <a:avLst/>
              <a:gdLst>
                <a:gd name="T0" fmla="*/ 163 w 207"/>
                <a:gd name="T1" fmla="*/ 225 h 225"/>
                <a:gd name="T2" fmla="*/ 207 w 207"/>
                <a:gd name="T3" fmla="*/ 225 h 225"/>
                <a:gd name="T4" fmla="*/ 119 w 207"/>
                <a:gd name="T5" fmla="*/ 0 h 225"/>
                <a:gd name="T6" fmla="*/ 85 w 207"/>
                <a:gd name="T7" fmla="*/ 0 h 225"/>
                <a:gd name="T8" fmla="*/ 0 w 207"/>
                <a:gd name="T9" fmla="*/ 225 h 225"/>
                <a:gd name="T10" fmla="*/ 21 w 207"/>
                <a:gd name="T11" fmla="*/ 225 h 225"/>
                <a:gd name="T12" fmla="*/ 47 w 207"/>
                <a:gd name="T13" fmla="*/ 161 h 225"/>
                <a:gd name="T14" fmla="*/ 139 w 207"/>
                <a:gd name="T15" fmla="*/ 161 h 225"/>
                <a:gd name="T16" fmla="*/ 163 w 207"/>
                <a:gd name="T17" fmla="*/ 225 h 225"/>
                <a:gd name="T18" fmla="*/ 163 w 207"/>
                <a:gd name="T19" fmla="*/ 225 h 225"/>
                <a:gd name="T20" fmla="*/ 53 w 207"/>
                <a:gd name="T21" fmla="*/ 141 h 225"/>
                <a:gd name="T22" fmla="*/ 93 w 207"/>
                <a:gd name="T23" fmla="*/ 36 h 225"/>
                <a:gd name="T24" fmla="*/ 133 w 207"/>
                <a:gd name="T25" fmla="*/ 141 h 225"/>
                <a:gd name="T26" fmla="*/ 53 w 207"/>
                <a:gd name="T27" fmla="*/ 141 h 225"/>
                <a:gd name="T28" fmla="*/ 53 w 207"/>
                <a:gd name="T29" fmla="*/ 14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7" h="225">
                  <a:moveTo>
                    <a:pt x="163" y="225"/>
                  </a:moveTo>
                  <a:lnTo>
                    <a:pt x="207" y="225"/>
                  </a:lnTo>
                  <a:lnTo>
                    <a:pt x="119" y="0"/>
                  </a:lnTo>
                  <a:lnTo>
                    <a:pt x="85" y="0"/>
                  </a:lnTo>
                  <a:lnTo>
                    <a:pt x="0" y="225"/>
                  </a:lnTo>
                  <a:lnTo>
                    <a:pt x="21" y="225"/>
                  </a:lnTo>
                  <a:lnTo>
                    <a:pt x="47" y="161"/>
                  </a:lnTo>
                  <a:lnTo>
                    <a:pt x="139" y="161"/>
                  </a:lnTo>
                  <a:lnTo>
                    <a:pt x="163" y="225"/>
                  </a:lnTo>
                  <a:lnTo>
                    <a:pt x="163" y="225"/>
                  </a:lnTo>
                  <a:close/>
                  <a:moveTo>
                    <a:pt x="53" y="141"/>
                  </a:moveTo>
                  <a:lnTo>
                    <a:pt x="93" y="36"/>
                  </a:lnTo>
                  <a:lnTo>
                    <a:pt x="133" y="141"/>
                  </a:lnTo>
                  <a:lnTo>
                    <a:pt x="53" y="141"/>
                  </a:lnTo>
                  <a:lnTo>
                    <a:pt x="53" y="1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003513" y="1366463"/>
            <a:ext cx="3770617" cy="1137024"/>
          </a:xfrm>
        </p:spPr>
        <p:txBody>
          <a:bodyPr anchor="b">
            <a:normAutofit/>
          </a:bodyPr>
          <a:lstStyle>
            <a:lvl1pPr algn="l">
              <a:defRPr sz="386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003513" y="2503487"/>
            <a:ext cx="3770617" cy="599309"/>
          </a:xfrm>
        </p:spPr>
        <p:txBody>
          <a:bodyPr anchor="b">
            <a:noAutofit/>
          </a:bodyPr>
          <a:lstStyle>
            <a:lvl1pPr marL="0" indent="0" algn="l">
              <a:buNone/>
              <a:defRPr sz="1863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Subheading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5003800" y="3944938"/>
            <a:ext cx="3770313" cy="294882"/>
          </a:xfrm>
        </p:spPr>
        <p:txBody>
          <a:bodyPr>
            <a:normAutofit/>
          </a:bodyPr>
          <a:lstStyle>
            <a:lvl1pPr marL="0" indent="0">
              <a:buNone/>
              <a:defRPr sz="1597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Presenter Name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003800" y="4239820"/>
            <a:ext cx="3770313" cy="328773"/>
          </a:xfrm>
        </p:spPr>
        <p:txBody>
          <a:bodyPr>
            <a:normAutofit/>
          </a:bodyPr>
          <a:lstStyle>
            <a:lvl1pPr marL="0" indent="0">
              <a:buNone/>
              <a:defRPr sz="1597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Date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2"/>
          </p:nvPr>
        </p:nvSpPr>
        <p:spPr>
          <a:xfrm>
            <a:off x="0" y="469901"/>
            <a:ext cx="4565649" cy="2952750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Drag picture to placeholder or click icon to add</a:t>
            </a:r>
            <a:endParaRPr lang="en-AU" dirty="0"/>
          </a:p>
        </p:txBody>
      </p:sp>
      <p:sp>
        <p:nvSpPr>
          <p:cNvPr id="13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0" y="3422650"/>
            <a:ext cx="4565649" cy="3435349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Drag picture to placeholder or click icon to add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77774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co-brand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/>
          <p:cNvSpPr/>
          <p:nvPr userDrawn="1"/>
        </p:nvSpPr>
        <p:spPr>
          <a:xfrm>
            <a:off x="0" y="-3175"/>
            <a:ext cx="914241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873125" y="2658154"/>
            <a:ext cx="3867150" cy="580346"/>
          </a:xfrm>
        </p:spPr>
        <p:txBody>
          <a:bodyPr anchor="b">
            <a:noAutofit/>
          </a:bodyPr>
          <a:lstStyle>
            <a:lvl1pPr>
              <a:defRPr sz="386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7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873125" y="3652838"/>
            <a:ext cx="3867150" cy="447675"/>
          </a:xfrm>
        </p:spPr>
        <p:txBody>
          <a:bodyPr anchor="b">
            <a:noAutofit/>
          </a:bodyPr>
          <a:lstStyle>
            <a:lvl1pPr marL="0" indent="0" algn="l">
              <a:buNone/>
              <a:defRPr sz="1863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Subheading</a:t>
            </a:r>
          </a:p>
        </p:txBody>
      </p:sp>
      <p:sp>
        <p:nvSpPr>
          <p:cNvPr id="8" name="Text Placeholder 7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873125" y="5316538"/>
            <a:ext cx="3770313" cy="294882"/>
          </a:xfrm>
        </p:spPr>
        <p:txBody>
          <a:bodyPr>
            <a:normAutofit/>
          </a:bodyPr>
          <a:lstStyle>
            <a:lvl1pPr marL="0" indent="0">
              <a:buNone/>
              <a:defRPr sz="1597" b="1" baseline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Presenter Name</a:t>
            </a:r>
          </a:p>
        </p:txBody>
      </p:sp>
      <p:sp>
        <p:nvSpPr>
          <p:cNvPr id="9" name="Text Placeholder 7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873125" y="5611420"/>
            <a:ext cx="3770313" cy="328773"/>
          </a:xfrm>
        </p:spPr>
        <p:txBody>
          <a:bodyPr>
            <a:normAutofit/>
          </a:bodyPr>
          <a:lstStyle>
            <a:lvl1pPr marL="0" indent="0">
              <a:buNone/>
              <a:defRPr sz="1597" baseline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Date</a:t>
            </a:r>
          </a:p>
        </p:txBody>
      </p:sp>
      <p:sp>
        <p:nvSpPr>
          <p:cNvPr id="44" name="Picture Placeholder 85"/>
          <p:cNvSpPr>
            <a:spLocks noGrp="1"/>
          </p:cNvSpPr>
          <p:nvPr userDrawn="1">
            <p:ph type="pic" sz="quarter" idx="13" hasCustomPrompt="1"/>
          </p:nvPr>
        </p:nvSpPr>
        <p:spPr>
          <a:xfrm>
            <a:off x="6639194" y="2653276"/>
            <a:ext cx="1766125" cy="502731"/>
          </a:xfrm>
        </p:spPr>
        <p:txBody>
          <a:bodyPr/>
          <a:lstStyle>
            <a:lvl1pPr marL="0" indent="0">
              <a:buNone/>
              <a:defRPr sz="120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Drag co-branded logo to placeholder or click icon to add</a:t>
            </a:r>
            <a:endParaRPr lang="en-AU" dirty="0"/>
          </a:p>
        </p:txBody>
      </p:sp>
      <p:grpSp>
        <p:nvGrpSpPr>
          <p:cNvPr id="45" name="Group 44"/>
          <p:cNvGrpSpPr/>
          <p:nvPr userDrawn="1"/>
        </p:nvGrpSpPr>
        <p:grpSpPr>
          <a:xfrm>
            <a:off x="7401258" y="6092825"/>
            <a:ext cx="1374019" cy="484188"/>
            <a:chOff x="7401258" y="365125"/>
            <a:chExt cx="1374019" cy="484188"/>
          </a:xfrm>
        </p:grpSpPr>
        <p:sp>
          <p:nvSpPr>
            <p:cNvPr id="46" name="Freeform 7"/>
            <p:cNvSpPr>
              <a:spLocks/>
            </p:cNvSpPr>
            <p:nvPr userDrawn="1"/>
          </p:nvSpPr>
          <p:spPr bwMode="auto">
            <a:xfrm>
              <a:off x="7401258" y="371475"/>
              <a:ext cx="289435" cy="369888"/>
            </a:xfrm>
            <a:custGeom>
              <a:avLst/>
              <a:gdLst>
                <a:gd name="T0" fmla="*/ 91 w 91"/>
                <a:gd name="T1" fmla="*/ 0 h 117"/>
                <a:gd name="T2" fmla="*/ 91 w 91"/>
                <a:gd name="T3" fmla="*/ 51 h 117"/>
                <a:gd name="T4" fmla="*/ 46 w 91"/>
                <a:gd name="T5" fmla="*/ 117 h 117"/>
                <a:gd name="T6" fmla="*/ 0 w 91"/>
                <a:gd name="T7" fmla="*/ 51 h 117"/>
                <a:gd name="T8" fmla="*/ 0 w 91"/>
                <a:gd name="T9" fmla="*/ 0 h 117"/>
                <a:gd name="T10" fmla="*/ 91 w 91"/>
                <a:gd name="T11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1" h="117">
                  <a:moveTo>
                    <a:pt x="91" y="0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77"/>
                    <a:pt x="74" y="105"/>
                    <a:pt x="46" y="117"/>
                  </a:cubicBezTo>
                  <a:cubicBezTo>
                    <a:pt x="18" y="105"/>
                    <a:pt x="0" y="77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1" y="0"/>
                    <a:pt x="91" y="0"/>
                    <a:pt x="91" y="0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Freeform 8"/>
            <p:cNvSpPr>
              <a:spLocks/>
            </p:cNvSpPr>
            <p:nvPr userDrawn="1"/>
          </p:nvSpPr>
          <p:spPr bwMode="auto">
            <a:xfrm>
              <a:off x="7455328" y="415925"/>
              <a:ext cx="181294" cy="236538"/>
            </a:xfrm>
            <a:custGeom>
              <a:avLst/>
              <a:gdLst>
                <a:gd name="T0" fmla="*/ 0 w 114"/>
                <a:gd name="T1" fmla="*/ 74 h 149"/>
                <a:gd name="T2" fmla="*/ 58 w 114"/>
                <a:gd name="T3" fmla="*/ 0 h 149"/>
                <a:gd name="T4" fmla="*/ 114 w 114"/>
                <a:gd name="T5" fmla="*/ 74 h 149"/>
                <a:gd name="T6" fmla="*/ 58 w 114"/>
                <a:gd name="T7" fmla="*/ 149 h 149"/>
                <a:gd name="T8" fmla="*/ 0 w 114"/>
                <a:gd name="T9" fmla="*/ 74 h 149"/>
                <a:gd name="T10" fmla="*/ 0 w 114"/>
                <a:gd name="T11" fmla="*/ 74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4" h="149">
                  <a:moveTo>
                    <a:pt x="0" y="74"/>
                  </a:moveTo>
                  <a:lnTo>
                    <a:pt x="58" y="0"/>
                  </a:lnTo>
                  <a:lnTo>
                    <a:pt x="114" y="74"/>
                  </a:lnTo>
                  <a:lnTo>
                    <a:pt x="58" y="149"/>
                  </a:lnTo>
                  <a:lnTo>
                    <a:pt x="0" y="74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Freeform 9"/>
            <p:cNvSpPr>
              <a:spLocks/>
            </p:cNvSpPr>
            <p:nvPr userDrawn="1"/>
          </p:nvSpPr>
          <p:spPr bwMode="auto">
            <a:xfrm>
              <a:off x="7480773" y="466725"/>
              <a:ext cx="130405" cy="153988"/>
            </a:xfrm>
            <a:custGeom>
              <a:avLst/>
              <a:gdLst>
                <a:gd name="T0" fmla="*/ 18 w 41"/>
                <a:gd name="T1" fmla="*/ 26 h 49"/>
                <a:gd name="T2" fmla="*/ 21 w 41"/>
                <a:gd name="T3" fmla="*/ 49 h 49"/>
                <a:gd name="T4" fmla="*/ 21 w 41"/>
                <a:gd name="T5" fmla="*/ 49 h 49"/>
                <a:gd name="T6" fmla="*/ 21 w 41"/>
                <a:gd name="T7" fmla="*/ 49 h 49"/>
                <a:gd name="T8" fmla="*/ 23 w 41"/>
                <a:gd name="T9" fmla="*/ 26 h 49"/>
                <a:gd name="T10" fmla="*/ 23 w 41"/>
                <a:gd name="T11" fmla="*/ 24 h 49"/>
                <a:gd name="T12" fmla="*/ 32 w 41"/>
                <a:gd name="T13" fmla="*/ 24 h 49"/>
                <a:gd name="T14" fmla="*/ 32 w 41"/>
                <a:gd name="T15" fmla="*/ 25 h 49"/>
                <a:gd name="T16" fmla="*/ 35 w 41"/>
                <a:gd name="T17" fmla="*/ 28 h 49"/>
                <a:gd name="T18" fmla="*/ 37 w 41"/>
                <a:gd name="T19" fmla="*/ 25 h 49"/>
                <a:gd name="T20" fmla="*/ 37 w 41"/>
                <a:gd name="T21" fmla="*/ 24 h 49"/>
                <a:gd name="T22" fmla="*/ 38 w 41"/>
                <a:gd name="T23" fmla="*/ 24 h 49"/>
                <a:gd name="T24" fmla="*/ 41 w 41"/>
                <a:gd name="T25" fmla="*/ 21 h 49"/>
                <a:gd name="T26" fmla="*/ 38 w 41"/>
                <a:gd name="T27" fmla="*/ 19 h 49"/>
                <a:gd name="T28" fmla="*/ 37 w 41"/>
                <a:gd name="T29" fmla="*/ 19 h 49"/>
                <a:gd name="T30" fmla="*/ 37 w 41"/>
                <a:gd name="T31" fmla="*/ 18 h 49"/>
                <a:gd name="T32" fmla="*/ 35 w 41"/>
                <a:gd name="T33" fmla="*/ 15 h 49"/>
                <a:gd name="T34" fmla="*/ 32 w 41"/>
                <a:gd name="T35" fmla="*/ 18 h 49"/>
                <a:gd name="T36" fmla="*/ 32 w 41"/>
                <a:gd name="T37" fmla="*/ 19 h 49"/>
                <a:gd name="T38" fmla="*/ 23 w 41"/>
                <a:gd name="T39" fmla="*/ 19 h 49"/>
                <a:gd name="T40" fmla="*/ 23 w 41"/>
                <a:gd name="T41" fmla="*/ 9 h 49"/>
                <a:gd name="T42" fmla="*/ 24 w 41"/>
                <a:gd name="T43" fmla="*/ 9 h 49"/>
                <a:gd name="T44" fmla="*/ 27 w 41"/>
                <a:gd name="T45" fmla="*/ 6 h 49"/>
                <a:gd name="T46" fmla="*/ 24 w 41"/>
                <a:gd name="T47" fmla="*/ 3 h 49"/>
                <a:gd name="T48" fmla="*/ 23 w 41"/>
                <a:gd name="T49" fmla="*/ 3 h 49"/>
                <a:gd name="T50" fmla="*/ 23 w 41"/>
                <a:gd name="T51" fmla="*/ 3 h 49"/>
                <a:gd name="T52" fmla="*/ 21 w 41"/>
                <a:gd name="T53" fmla="*/ 0 h 49"/>
                <a:gd name="T54" fmla="*/ 18 w 41"/>
                <a:gd name="T55" fmla="*/ 3 h 49"/>
                <a:gd name="T56" fmla="*/ 18 w 41"/>
                <a:gd name="T57" fmla="*/ 3 h 49"/>
                <a:gd name="T58" fmla="*/ 17 w 41"/>
                <a:gd name="T59" fmla="*/ 3 h 49"/>
                <a:gd name="T60" fmla="*/ 14 w 41"/>
                <a:gd name="T61" fmla="*/ 6 h 49"/>
                <a:gd name="T62" fmla="*/ 17 w 41"/>
                <a:gd name="T63" fmla="*/ 9 h 49"/>
                <a:gd name="T64" fmla="*/ 18 w 41"/>
                <a:gd name="T65" fmla="*/ 9 h 49"/>
                <a:gd name="T66" fmla="*/ 18 w 41"/>
                <a:gd name="T67" fmla="*/ 19 h 49"/>
                <a:gd name="T68" fmla="*/ 18 w 41"/>
                <a:gd name="T69" fmla="*/ 19 h 49"/>
                <a:gd name="T70" fmla="*/ 10 w 41"/>
                <a:gd name="T71" fmla="*/ 19 h 49"/>
                <a:gd name="T72" fmla="*/ 10 w 41"/>
                <a:gd name="T73" fmla="*/ 18 h 49"/>
                <a:gd name="T74" fmla="*/ 7 w 41"/>
                <a:gd name="T75" fmla="*/ 15 h 49"/>
                <a:gd name="T76" fmla="*/ 4 w 41"/>
                <a:gd name="T77" fmla="*/ 18 h 49"/>
                <a:gd name="T78" fmla="*/ 4 w 41"/>
                <a:gd name="T79" fmla="*/ 19 h 49"/>
                <a:gd name="T80" fmla="*/ 4 w 41"/>
                <a:gd name="T81" fmla="*/ 19 h 49"/>
                <a:gd name="T82" fmla="*/ 0 w 41"/>
                <a:gd name="T83" fmla="*/ 21 h 49"/>
                <a:gd name="T84" fmla="*/ 4 w 41"/>
                <a:gd name="T85" fmla="*/ 24 h 49"/>
                <a:gd name="T86" fmla="*/ 4 w 41"/>
                <a:gd name="T87" fmla="*/ 24 h 49"/>
                <a:gd name="T88" fmla="*/ 4 w 41"/>
                <a:gd name="T89" fmla="*/ 25 h 49"/>
                <a:gd name="T90" fmla="*/ 7 w 41"/>
                <a:gd name="T91" fmla="*/ 28 h 49"/>
                <a:gd name="T92" fmla="*/ 10 w 41"/>
                <a:gd name="T93" fmla="*/ 25 h 49"/>
                <a:gd name="T94" fmla="*/ 10 w 41"/>
                <a:gd name="T95" fmla="*/ 24 h 49"/>
                <a:gd name="T96" fmla="*/ 18 w 41"/>
                <a:gd name="T97" fmla="*/ 24 h 49"/>
                <a:gd name="T98" fmla="*/ 18 w 41"/>
                <a:gd name="T99" fmla="*/ 26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1" h="49">
                  <a:moveTo>
                    <a:pt x="18" y="26"/>
                  </a:moveTo>
                  <a:cubicBezTo>
                    <a:pt x="18" y="36"/>
                    <a:pt x="20" y="48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8"/>
                    <a:pt x="23" y="36"/>
                    <a:pt x="23" y="26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3" y="28"/>
                    <a:pt x="35" y="28"/>
                  </a:cubicBezTo>
                  <a:cubicBezTo>
                    <a:pt x="36" y="28"/>
                    <a:pt x="37" y="26"/>
                    <a:pt x="37" y="25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9" y="24"/>
                    <a:pt x="41" y="23"/>
                    <a:pt x="41" y="21"/>
                  </a:cubicBezTo>
                  <a:cubicBezTo>
                    <a:pt x="41" y="20"/>
                    <a:pt x="39" y="19"/>
                    <a:pt x="38" y="19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17"/>
                    <a:pt x="36" y="15"/>
                    <a:pt x="35" y="15"/>
                  </a:cubicBezTo>
                  <a:cubicBezTo>
                    <a:pt x="33" y="15"/>
                    <a:pt x="32" y="17"/>
                    <a:pt x="32" y="18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5" y="9"/>
                    <a:pt x="27" y="8"/>
                    <a:pt x="27" y="6"/>
                  </a:cubicBezTo>
                  <a:cubicBezTo>
                    <a:pt x="27" y="5"/>
                    <a:pt x="25" y="3"/>
                    <a:pt x="24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"/>
                    <a:pt x="22" y="0"/>
                    <a:pt x="21" y="0"/>
                  </a:cubicBezTo>
                  <a:cubicBezTo>
                    <a:pt x="19" y="0"/>
                    <a:pt x="18" y="1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6" y="3"/>
                    <a:pt x="14" y="5"/>
                    <a:pt x="14" y="6"/>
                  </a:cubicBezTo>
                  <a:cubicBezTo>
                    <a:pt x="14" y="8"/>
                    <a:pt x="16" y="9"/>
                    <a:pt x="17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7"/>
                    <a:pt x="8" y="15"/>
                    <a:pt x="7" y="15"/>
                  </a:cubicBezTo>
                  <a:cubicBezTo>
                    <a:pt x="5" y="15"/>
                    <a:pt x="4" y="17"/>
                    <a:pt x="4" y="18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2" y="19"/>
                    <a:pt x="0" y="20"/>
                    <a:pt x="0" y="21"/>
                  </a:cubicBezTo>
                  <a:cubicBezTo>
                    <a:pt x="0" y="23"/>
                    <a:pt x="2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4" y="26"/>
                    <a:pt x="5" y="28"/>
                    <a:pt x="7" y="28"/>
                  </a:cubicBezTo>
                  <a:cubicBezTo>
                    <a:pt x="8" y="28"/>
                    <a:pt x="10" y="26"/>
                    <a:pt x="10" y="25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18" y="26"/>
                    <a:pt x="18" y="26"/>
                    <a:pt x="18" y="26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Freeform 10"/>
            <p:cNvSpPr>
              <a:spLocks noEditPoints="1"/>
            </p:cNvSpPr>
            <p:nvPr userDrawn="1"/>
          </p:nvSpPr>
          <p:spPr bwMode="auto">
            <a:xfrm>
              <a:off x="7401258" y="798513"/>
              <a:ext cx="54070" cy="50800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10 w 34"/>
                <a:gd name="T9" fmla="*/ 26 h 32"/>
                <a:gd name="T10" fmla="*/ 26 w 34"/>
                <a:gd name="T11" fmla="*/ 26 h 32"/>
                <a:gd name="T12" fmla="*/ 30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2 w 34"/>
                <a:gd name="T25" fmla="*/ 20 h 32"/>
                <a:gd name="T26" fmla="*/ 18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10" y="26"/>
                  </a:lnTo>
                  <a:lnTo>
                    <a:pt x="26" y="26"/>
                  </a:lnTo>
                  <a:lnTo>
                    <a:pt x="30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2" y="20"/>
                  </a:lnTo>
                  <a:lnTo>
                    <a:pt x="18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Freeform 11"/>
            <p:cNvSpPr>
              <a:spLocks/>
            </p:cNvSpPr>
            <p:nvPr userDrawn="1"/>
          </p:nvSpPr>
          <p:spPr bwMode="auto">
            <a:xfrm>
              <a:off x="7458509" y="798513"/>
              <a:ext cx="44528" cy="50800"/>
            </a:xfrm>
            <a:custGeom>
              <a:avLst/>
              <a:gdLst>
                <a:gd name="T0" fmla="*/ 11 w 14"/>
                <a:gd name="T1" fmla="*/ 9 h 16"/>
                <a:gd name="T2" fmla="*/ 7 w 14"/>
                <a:gd name="T3" fmla="*/ 14 h 16"/>
                <a:gd name="T4" fmla="*/ 3 w 14"/>
                <a:gd name="T5" fmla="*/ 9 h 16"/>
                <a:gd name="T6" fmla="*/ 3 w 14"/>
                <a:gd name="T7" fmla="*/ 0 h 16"/>
                <a:gd name="T8" fmla="*/ 0 w 14"/>
                <a:gd name="T9" fmla="*/ 0 h 16"/>
                <a:gd name="T10" fmla="*/ 0 w 14"/>
                <a:gd name="T11" fmla="*/ 9 h 16"/>
                <a:gd name="T12" fmla="*/ 7 w 14"/>
                <a:gd name="T13" fmla="*/ 16 h 16"/>
                <a:gd name="T14" fmla="*/ 14 w 14"/>
                <a:gd name="T15" fmla="*/ 9 h 16"/>
                <a:gd name="T16" fmla="*/ 14 w 14"/>
                <a:gd name="T17" fmla="*/ 0 h 16"/>
                <a:gd name="T18" fmla="*/ 11 w 14"/>
                <a:gd name="T19" fmla="*/ 0 h 16"/>
                <a:gd name="T20" fmla="*/ 11 w 14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3" y="12"/>
                    <a:pt x="3" y="9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4" y="16"/>
                    <a:pt x="7" y="16"/>
                  </a:cubicBezTo>
                  <a:cubicBezTo>
                    <a:pt x="10" y="16"/>
                    <a:pt x="14" y="14"/>
                    <a:pt x="14" y="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Freeform 12"/>
            <p:cNvSpPr>
              <a:spLocks/>
            </p:cNvSpPr>
            <p:nvPr userDrawn="1"/>
          </p:nvSpPr>
          <p:spPr bwMode="auto">
            <a:xfrm>
              <a:off x="7512579" y="795338"/>
              <a:ext cx="41348" cy="53975"/>
            </a:xfrm>
            <a:custGeom>
              <a:avLst/>
              <a:gdLst>
                <a:gd name="T0" fmla="*/ 7 w 13"/>
                <a:gd name="T1" fmla="*/ 7 h 17"/>
                <a:gd name="T2" fmla="*/ 3 w 13"/>
                <a:gd name="T3" fmla="*/ 5 h 17"/>
                <a:gd name="T4" fmla="*/ 7 w 13"/>
                <a:gd name="T5" fmla="*/ 3 h 17"/>
                <a:gd name="T6" fmla="*/ 11 w 13"/>
                <a:gd name="T7" fmla="*/ 5 h 17"/>
                <a:gd name="T8" fmla="*/ 11 w 13"/>
                <a:gd name="T9" fmla="*/ 5 h 17"/>
                <a:gd name="T10" fmla="*/ 13 w 13"/>
                <a:gd name="T11" fmla="*/ 4 h 17"/>
                <a:gd name="T12" fmla="*/ 13 w 13"/>
                <a:gd name="T13" fmla="*/ 3 h 17"/>
                <a:gd name="T14" fmla="*/ 7 w 13"/>
                <a:gd name="T15" fmla="*/ 0 h 17"/>
                <a:gd name="T16" fmla="*/ 2 w 13"/>
                <a:gd name="T17" fmla="*/ 2 h 17"/>
                <a:gd name="T18" fmla="*/ 0 w 13"/>
                <a:gd name="T19" fmla="*/ 5 h 17"/>
                <a:gd name="T20" fmla="*/ 7 w 13"/>
                <a:gd name="T21" fmla="*/ 10 h 17"/>
                <a:gd name="T22" fmla="*/ 11 w 13"/>
                <a:gd name="T23" fmla="*/ 12 h 17"/>
                <a:gd name="T24" fmla="*/ 7 w 13"/>
                <a:gd name="T25" fmla="*/ 15 h 17"/>
                <a:gd name="T26" fmla="*/ 2 w 13"/>
                <a:gd name="T27" fmla="*/ 12 h 17"/>
                <a:gd name="T28" fmla="*/ 2 w 13"/>
                <a:gd name="T29" fmla="*/ 12 h 17"/>
                <a:gd name="T30" fmla="*/ 0 w 13"/>
                <a:gd name="T31" fmla="*/ 13 h 17"/>
                <a:gd name="T32" fmla="*/ 0 w 13"/>
                <a:gd name="T33" fmla="*/ 14 h 17"/>
                <a:gd name="T34" fmla="*/ 7 w 13"/>
                <a:gd name="T35" fmla="*/ 17 h 17"/>
                <a:gd name="T36" fmla="*/ 13 w 13"/>
                <a:gd name="T37" fmla="*/ 12 h 17"/>
                <a:gd name="T38" fmla="*/ 7 w 13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" h="17">
                  <a:moveTo>
                    <a:pt x="7" y="7"/>
                  </a:moveTo>
                  <a:cubicBezTo>
                    <a:pt x="5" y="7"/>
                    <a:pt x="3" y="6"/>
                    <a:pt x="3" y="5"/>
                  </a:cubicBezTo>
                  <a:cubicBezTo>
                    <a:pt x="3" y="4"/>
                    <a:pt x="5" y="3"/>
                    <a:pt x="7" y="3"/>
                  </a:cubicBezTo>
                  <a:cubicBezTo>
                    <a:pt x="9" y="3"/>
                    <a:pt x="10" y="3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5" y="0"/>
                    <a:pt x="3" y="1"/>
                    <a:pt x="2" y="2"/>
                  </a:cubicBezTo>
                  <a:cubicBezTo>
                    <a:pt x="1" y="3"/>
                    <a:pt x="0" y="4"/>
                    <a:pt x="0" y="5"/>
                  </a:cubicBezTo>
                  <a:cubicBezTo>
                    <a:pt x="0" y="9"/>
                    <a:pt x="4" y="9"/>
                    <a:pt x="7" y="10"/>
                  </a:cubicBezTo>
                  <a:cubicBezTo>
                    <a:pt x="9" y="10"/>
                    <a:pt x="11" y="11"/>
                    <a:pt x="11" y="12"/>
                  </a:cubicBezTo>
                  <a:cubicBezTo>
                    <a:pt x="11" y="15"/>
                    <a:pt x="8" y="15"/>
                    <a:pt x="7" y="15"/>
                  </a:cubicBezTo>
                  <a:cubicBezTo>
                    <a:pt x="5" y="15"/>
                    <a:pt x="3" y="14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6"/>
                    <a:pt x="3" y="17"/>
                    <a:pt x="7" y="17"/>
                  </a:cubicBezTo>
                  <a:cubicBezTo>
                    <a:pt x="10" y="17"/>
                    <a:pt x="13" y="16"/>
                    <a:pt x="13" y="12"/>
                  </a:cubicBezTo>
                  <a:cubicBezTo>
                    <a:pt x="13" y="9"/>
                    <a:pt x="10" y="8"/>
                    <a:pt x="7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Freeform 13"/>
            <p:cNvSpPr>
              <a:spLocks/>
            </p:cNvSpPr>
            <p:nvPr userDrawn="1"/>
          </p:nvSpPr>
          <p:spPr bwMode="auto">
            <a:xfrm>
              <a:off x="7560288" y="798513"/>
              <a:ext cx="41348" cy="50800"/>
            </a:xfrm>
            <a:custGeom>
              <a:avLst/>
              <a:gdLst>
                <a:gd name="T0" fmla="*/ 0 w 26"/>
                <a:gd name="T1" fmla="*/ 4 h 32"/>
                <a:gd name="T2" fmla="*/ 10 w 26"/>
                <a:gd name="T3" fmla="*/ 4 h 32"/>
                <a:gd name="T4" fmla="*/ 10 w 26"/>
                <a:gd name="T5" fmla="*/ 32 h 32"/>
                <a:gd name="T6" fmla="*/ 16 w 26"/>
                <a:gd name="T7" fmla="*/ 32 h 32"/>
                <a:gd name="T8" fmla="*/ 16 w 26"/>
                <a:gd name="T9" fmla="*/ 4 h 32"/>
                <a:gd name="T10" fmla="*/ 26 w 26"/>
                <a:gd name="T11" fmla="*/ 4 h 32"/>
                <a:gd name="T12" fmla="*/ 26 w 26"/>
                <a:gd name="T13" fmla="*/ 0 h 32"/>
                <a:gd name="T14" fmla="*/ 0 w 26"/>
                <a:gd name="T15" fmla="*/ 0 h 32"/>
                <a:gd name="T16" fmla="*/ 0 w 26"/>
                <a:gd name="T17" fmla="*/ 4 h 32"/>
                <a:gd name="T18" fmla="*/ 0 w 26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32">
                  <a:moveTo>
                    <a:pt x="0" y="4"/>
                  </a:moveTo>
                  <a:lnTo>
                    <a:pt x="10" y="4"/>
                  </a:lnTo>
                  <a:lnTo>
                    <a:pt x="10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6" y="4"/>
                  </a:lnTo>
                  <a:lnTo>
                    <a:pt x="26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Freeform 14"/>
            <p:cNvSpPr>
              <a:spLocks noEditPoints="1"/>
            </p:cNvSpPr>
            <p:nvPr userDrawn="1"/>
          </p:nvSpPr>
          <p:spPr bwMode="auto">
            <a:xfrm>
              <a:off x="7611177" y="798513"/>
              <a:ext cx="44528" cy="50800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0 w 14"/>
                <a:gd name="T15" fmla="*/ 16 h 16"/>
                <a:gd name="T16" fmla="*/ 14 w 14"/>
                <a:gd name="T17" fmla="*/ 16 h 16"/>
                <a:gd name="T18" fmla="*/ 8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Freeform 15"/>
            <p:cNvSpPr>
              <a:spLocks noEditPoints="1"/>
            </p:cNvSpPr>
            <p:nvPr userDrawn="1"/>
          </p:nvSpPr>
          <p:spPr bwMode="auto">
            <a:xfrm>
              <a:off x="7658886" y="798513"/>
              <a:ext cx="54070" cy="50800"/>
            </a:xfrm>
            <a:custGeom>
              <a:avLst/>
              <a:gdLst>
                <a:gd name="T0" fmla="*/ 18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4 w 34"/>
                <a:gd name="T7" fmla="*/ 32 h 32"/>
                <a:gd name="T8" fmla="*/ 8 w 34"/>
                <a:gd name="T9" fmla="*/ 26 h 32"/>
                <a:gd name="T10" fmla="*/ 24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18 w 34"/>
                <a:gd name="T19" fmla="*/ 0 h 32"/>
                <a:gd name="T20" fmla="*/ 18 w 34"/>
                <a:gd name="T21" fmla="*/ 0 h 32"/>
                <a:gd name="T22" fmla="*/ 22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2 w 34"/>
                <a:gd name="T29" fmla="*/ 20 h 32"/>
                <a:gd name="T30" fmla="*/ 22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18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8" y="26"/>
                  </a:lnTo>
                  <a:lnTo>
                    <a:pt x="24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18" y="0"/>
                  </a:lnTo>
                  <a:lnTo>
                    <a:pt x="18" y="0"/>
                  </a:lnTo>
                  <a:close/>
                  <a:moveTo>
                    <a:pt x="22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2" y="20"/>
                  </a:lnTo>
                  <a:lnTo>
                    <a:pt x="22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Freeform 16"/>
            <p:cNvSpPr>
              <a:spLocks/>
            </p:cNvSpPr>
            <p:nvPr userDrawn="1"/>
          </p:nvSpPr>
          <p:spPr bwMode="auto">
            <a:xfrm>
              <a:off x="7719318" y="798513"/>
              <a:ext cx="34987" cy="50800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Freeform 17"/>
            <p:cNvSpPr>
              <a:spLocks/>
            </p:cNvSpPr>
            <p:nvPr userDrawn="1"/>
          </p:nvSpPr>
          <p:spPr bwMode="auto">
            <a:xfrm>
              <a:off x="7763846" y="798513"/>
              <a:ext cx="6361" cy="50800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Freeform 18"/>
            <p:cNvSpPr>
              <a:spLocks noEditPoints="1"/>
            </p:cNvSpPr>
            <p:nvPr userDrawn="1"/>
          </p:nvSpPr>
          <p:spPr bwMode="auto">
            <a:xfrm>
              <a:off x="7779749" y="798513"/>
              <a:ext cx="52480" cy="50800"/>
            </a:xfrm>
            <a:custGeom>
              <a:avLst/>
              <a:gdLst>
                <a:gd name="T0" fmla="*/ 19 w 33"/>
                <a:gd name="T1" fmla="*/ 0 h 32"/>
                <a:gd name="T2" fmla="*/ 13 w 33"/>
                <a:gd name="T3" fmla="*/ 0 h 32"/>
                <a:gd name="T4" fmla="*/ 0 w 33"/>
                <a:gd name="T5" fmla="*/ 32 h 32"/>
                <a:gd name="T6" fmla="*/ 6 w 33"/>
                <a:gd name="T7" fmla="*/ 32 h 32"/>
                <a:gd name="T8" fmla="*/ 7 w 33"/>
                <a:gd name="T9" fmla="*/ 26 h 32"/>
                <a:gd name="T10" fmla="*/ 25 w 33"/>
                <a:gd name="T11" fmla="*/ 26 h 32"/>
                <a:gd name="T12" fmla="*/ 27 w 33"/>
                <a:gd name="T13" fmla="*/ 32 h 32"/>
                <a:gd name="T14" fmla="*/ 33 w 33"/>
                <a:gd name="T15" fmla="*/ 32 h 32"/>
                <a:gd name="T16" fmla="*/ 19 w 33"/>
                <a:gd name="T17" fmla="*/ 0 h 32"/>
                <a:gd name="T18" fmla="*/ 19 w 33"/>
                <a:gd name="T19" fmla="*/ 0 h 32"/>
                <a:gd name="T20" fmla="*/ 19 w 33"/>
                <a:gd name="T21" fmla="*/ 0 h 32"/>
                <a:gd name="T22" fmla="*/ 23 w 33"/>
                <a:gd name="T23" fmla="*/ 20 h 32"/>
                <a:gd name="T24" fmla="*/ 9 w 33"/>
                <a:gd name="T25" fmla="*/ 20 h 32"/>
                <a:gd name="T26" fmla="*/ 17 w 33"/>
                <a:gd name="T27" fmla="*/ 6 h 32"/>
                <a:gd name="T28" fmla="*/ 23 w 33"/>
                <a:gd name="T29" fmla="*/ 20 h 32"/>
                <a:gd name="T30" fmla="*/ 23 w 33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3" h="32">
                  <a:moveTo>
                    <a:pt x="19" y="0"/>
                  </a:moveTo>
                  <a:lnTo>
                    <a:pt x="13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7" y="26"/>
                  </a:lnTo>
                  <a:lnTo>
                    <a:pt x="25" y="26"/>
                  </a:lnTo>
                  <a:lnTo>
                    <a:pt x="27" y="32"/>
                  </a:lnTo>
                  <a:lnTo>
                    <a:pt x="33" y="32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0"/>
                  </a:lnTo>
                  <a:close/>
                  <a:moveTo>
                    <a:pt x="23" y="20"/>
                  </a:moveTo>
                  <a:lnTo>
                    <a:pt x="9" y="20"/>
                  </a:lnTo>
                  <a:lnTo>
                    <a:pt x="17" y="6"/>
                  </a:lnTo>
                  <a:lnTo>
                    <a:pt x="23" y="20"/>
                  </a:lnTo>
                  <a:lnTo>
                    <a:pt x="23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Freeform 19"/>
            <p:cNvSpPr>
              <a:spLocks/>
            </p:cNvSpPr>
            <p:nvPr userDrawn="1"/>
          </p:nvSpPr>
          <p:spPr bwMode="auto">
            <a:xfrm>
              <a:off x="7841771" y="798513"/>
              <a:ext cx="41348" cy="50800"/>
            </a:xfrm>
            <a:custGeom>
              <a:avLst/>
              <a:gdLst>
                <a:gd name="T0" fmla="*/ 22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2 w 26"/>
                <a:gd name="T19" fmla="*/ 0 h 32"/>
                <a:gd name="T20" fmla="*/ 22 w 26"/>
                <a:gd name="T21" fmla="*/ 22 h 32"/>
                <a:gd name="T22" fmla="*/ 22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2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22" y="22"/>
                  </a:lnTo>
                  <a:lnTo>
                    <a:pt x="22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Freeform 20"/>
            <p:cNvSpPr>
              <a:spLocks/>
            </p:cNvSpPr>
            <p:nvPr userDrawn="1"/>
          </p:nvSpPr>
          <p:spPr bwMode="auto">
            <a:xfrm>
              <a:off x="7921286" y="795338"/>
              <a:ext cx="47709" cy="53975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2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4" y="15"/>
                    <a:pt x="3" y="12"/>
                    <a:pt x="3" y="9"/>
                  </a:cubicBezTo>
                  <a:cubicBezTo>
                    <a:pt x="3" y="6"/>
                    <a:pt x="4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2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Freeform 21"/>
            <p:cNvSpPr>
              <a:spLocks noEditPoints="1"/>
            </p:cNvSpPr>
            <p:nvPr userDrawn="1"/>
          </p:nvSpPr>
          <p:spPr bwMode="auto">
            <a:xfrm>
              <a:off x="7972176" y="798513"/>
              <a:ext cx="54070" cy="50800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8 w 34"/>
                <a:gd name="T9" fmla="*/ 26 h 32"/>
                <a:gd name="T10" fmla="*/ 26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8" y="26"/>
                  </a:lnTo>
                  <a:lnTo>
                    <a:pt x="26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Freeform 22"/>
            <p:cNvSpPr>
              <a:spLocks/>
            </p:cNvSpPr>
            <p:nvPr userDrawn="1"/>
          </p:nvSpPr>
          <p:spPr bwMode="auto">
            <a:xfrm>
              <a:off x="8023065" y="798513"/>
              <a:ext cx="44528" cy="50800"/>
            </a:xfrm>
            <a:custGeom>
              <a:avLst/>
              <a:gdLst>
                <a:gd name="T0" fmla="*/ 0 w 28"/>
                <a:gd name="T1" fmla="*/ 4 h 32"/>
                <a:gd name="T2" fmla="*/ 12 w 28"/>
                <a:gd name="T3" fmla="*/ 4 h 32"/>
                <a:gd name="T4" fmla="*/ 12 w 28"/>
                <a:gd name="T5" fmla="*/ 32 h 32"/>
                <a:gd name="T6" fmla="*/ 16 w 28"/>
                <a:gd name="T7" fmla="*/ 32 h 32"/>
                <a:gd name="T8" fmla="*/ 16 w 28"/>
                <a:gd name="T9" fmla="*/ 4 h 32"/>
                <a:gd name="T10" fmla="*/ 28 w 28"/>
                <a:gd name="T11" fmla="*/ 4 h 32"/>
                <a:gd name="T12" fmla="*/ 28 w 28"/>
                <a:gd name="T13" fmla="*/ 0 h 32"/>
                <a:gd name="T14" fmla="*/ 0 w 28"/>
                <a:gd name="T15" fmla="*/ 0 h 32"/>
                <a:gd name="T16" fmla="*/ 0 w 28"/>
                <a:gd name="T17" fmla="*/ 4 h 32"/>
                <a:gd name="T18" fmla="*/ 0 w 28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32">
                  <a:moveTo>
                    <a:pt x="0" y="4"/>
                  </a:moveTo>
                  <a:lnTo>
                    <a:pt x="12" y="4"/>
                  </a:lnTo>
                  <a:lnTo>
                    <a:pt x="12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8" y="4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Freeform 23"/>
            <p:cNvSpPr>
              <a:spLocks/>
            </p:cNvSpPr>
            <p:nvPr userDrawn="1"/>
          </p:nvSpPr>
          <p:spPr bwMode="auto">
            <a:xfrm>
              <a:off x="8073955" y="798513"/>
              <a:ext cx="44528" cy="50800"/>
            </a:xfrm>
            <a:custGeom>
              <a:avLst/>
              <a:gdLst>
                <a:gd name="T0" fmla="*/ 22 w 28"/>
                <a:gd name="T1" fmla="*/ 12 h 32"/>
                <a:gd name="T2" fmla="*/ 6 w 28"/>
                <a:gd name="T3" fmla="*/ 12 h 32"/>
                <a:gd name="T4" fmla="*/ 6 w 28"/>
                <a:gd name="T5" fmla="*/ 0 h 32"/>
                <a:gd name="T6" fmla="*/ 0 w 28"/>
                <a:gd name="T7" fmla="*/ 0 h 32"/>
                <a:gd name="T8" fmla="*/ 0 w 28"/>
                <a:gd name="T9" fmla="*/ 32 h 32"/>
                <a:gd name="T10" fmla="*/ 6 w 28"/>
                <a:gd name="T11" fmla="*/ 32 h 32"/>
                <a:gd name="T12" fmla="*/ 6 w 28"/>
                <a:gd name="T13" fmla="*/ 18 h 32"/>
                <a:gd name="T14" fmla="*/ 22 w 28"/>
                <a:gd name="T15" fmla="*/ 18 h 32"/>
                <a:gd name="T16" fmla="*/ 22 w 28"/>
                <a:gd name="T17" fmla="*/ 32 h 32"/>
                <a:gd name="T18" fmla="*/ 28 w 28"/>
                <a:gd name="T19" fmla="*/ 32 h 32"/>
                <a:gd name="T20" fmla="*/ 28 w 28"/>
                <a:gd name="T21" fmla="*/ 0 h 32"/>
                <a:gd name="T22" fmla="*/ 22 w 28"/>
                <a:gd name="T23" fmla="*/ 0 h 32"/>
                <a:gd name="T24" fmla="*/ 22 w 28"/>
                <a:gd name="T25" fmla="*/ 12 h 32"/>
                <a:gd name="T26" fmla="*/ 22 w 28"/>
                <a:gd name="T27" fmla="*/ 1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2">
                  <a:moveTo>
                    <a:pt x="22" y="12"/>
                  </a:moveTo>
                  <a:lnTo>
                    <a:pt x="6" y="1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6" y="18"/>
                  </a:lnTo>
                  <a:lnTo>
                    <a:pt x="22" y="18"/>
                  </a:lnTo>
                  <a:lnTo>
                    <a:pt x="22" y="32"/>
                  </a:lnTo>
                  <a:lnTo>
                    <a:pt x="28" y="32"/>
                  </a:lnTo>
                  <a:lnTo>
                    <a:pt x="28" y="0"/>
                  </a:lnTo>
                  <a:lnTo>
                    <a:pt x="22" y="0"/>
                  </a:lnTo>
                  <a:lnTo>
                    <a:pt x="22" y="12"/>
                  </a:lnTo>
                  <a:lnTo>
                    <a:pt x="22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Freeform 24"/>
            <p:cNvSpPr>
              <a:spLocks noEditPoints="1"/>
            </p:cNvSpPr>
            <p:nvPr userDrawn="1"/>
          </p:nvSpPr>
          <p:spPr bwMode="auto">
            <a:xfrm>
              <a:off x="8128025" y="795338"/>
              <a:ext cx="50890" cy="53975"/>
            </a:xfrm>
            <a:custGeom>
              <a:avLst/>
              <a:gdLst>
                <a:gd name="T0" fmla="*/ 8 w 16"/>
                <a:gd name="T1" fmla="*/ 0 h 17"/>
                <a:gd name="T2" fmla="*/ 0 w 16"/>
                <a:gd name="T3" fmla="*/ 9 h 17"/>
                <a:gd name="T4" fmla="*/ 8 w 16"/>
                <a:gd name="T5" fmla="*/ 17 h 17"/>
                <a:gd name="T6" fmla="*/ 16 w 16"/>
                <a:gd name="T7" fmla="*/ 9 h 17"/>
                <a:gd name="T8" fmla="*/ 8 w 16"/>
                <a:gd name="T9" fmla="*/ 0 h 17"/>
                <a:gd name="T10" fmla="*/ 8 w 16"/>
                <a:gd name="T11" fmla="*/ 15 h 17"/>
                <a:gd name="T12" fmla="*/ 2 w 16"/>
                <a:gd name="T13" fmla="*/ 9 h 17"/>
                <a:gd name="T14" fmla="*/ 8 w 16"/>
                <a:gd name="T15" fmla="*/ 3 h 17"/>
                <a:gd name="T16" fmla="*/ 14 w 16"/>
                <a:gd name="T17" fmla="*/ 9 h 17"/>
                <a:gd name="T18" fmla="*/ 8 w 16"/>
                <a:gd name="T19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17"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2" y="17"/>
                    <a:pt x="8" y="17"/>
                  </a:cubicBezTo>
                  <a:cubicBezTo>
                    <a:pt x="14" y="17"/>
                    <a:pt x="16" y="13"/>
                    <a:pt x="16" y="9"/>
                  </a:cubicBezTo>
                  <a:cubicBezTo>
                    <a:pt x="16" y="5"/>
                    <a:pt x="14" y="0"/>
                    <a:pt x="8" y="0"/>
                  </a:cubicBezTo>
                  <a:close/>
                  <a:moveTo>
                    <a:pt x="8" y="15"/>
                  </a:moveTo>
                  <a:cubicBezTo>
                    <a:pt x="4" y="15"/>
                    <a:pt x="2" y="12"/>
                    <a:pt x="2" y="9"/>
                  </a:cubicBezTo>
                  <a:cubicBezTo>
                    <a:pt x="2" y="6"/>
                    <a:pt x="4" y="3"/>
                    <a:pt x="8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5"/>
                    <a:pt x="8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Freeform 25"/>
            <p:cNvSpPr>
              <a:spLocks/>
            </p:cNvSpPr>
            <p:nvPr userDrawn="1"/>
          </p:nvSpPr>
          <p:spPr bwMode="auto">
            <a:xfrm>
              <a:off x="8188456" y="798513"/>
              <a:ext cx="34987" cy="50800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Freeform 26"/>
            <p:cNvSpPr>
              <a:spLocks/>
            </p:cNvSpPr>
            <p:nvPr userDrawn="1"/>
          </p:nvSpPr>
          <p:spPr bwMode="auto">
            <a:xfrm>
              <a:off x="8232985" y="798513"/>
              <a:ext cx="6361" cy="50800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Freeform 27"/>
            <p:cNvSpPr>
              <a:spLocks/>
            </p:cNvSpPr>
            <p:nvPr userDrawn="1"/>
          </p:nvSpPr>
          <p:spPr bwMode="auto">
            <a:xfrm>
              <a:off x="8248888" y="795338"/>
              <a:ext cx="47709" cy="53975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3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5" y="15"/>
                    <a:pt x="3" y="12"/>
                    <a:pt x="3" y="9"/>
                  </a:cubicBezTo>
                  <a:cubicBezTo>
                    <a:pt x="3" y="6"/>
                    <a:pt x="5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Freeform 28"/>
            <p:cNvSpPr>
              <a:spLocks/>
            </p:cNvSpPr>
            <p:nvPr userDrawn="1"/>
          </p:nvSpPr>
          <p:spPr bwMode="auto">
            <a:xfrm>
              <a:off x="8331584" y="798513"/>
              <a:ext cx="41348" cy="50800"/>
            </a:xfrm>
            <a:custGeom>
              <a:avLst/>
              <a:gdLst>
                <a:gd name="T0" fmla="*/ 11 w 13"/>
                <a:gd name="T1" fmla="*/ 9 h 16"/>
                <a:gd name="T2" fmla="*/ 7 w 13"/>
                <a:gd name="T3" fmla="*/ 14 h 16"/>
                <a:gd name="T4" fmla="*/ 2 w 13"/>
                <a:gd name="T5" fmla="*/ 9 h 16"/>
                <a:gd name="T6" fmla="*/ 2 w 13"/>
                <a:gd name="T7" fmla="*/ 0 h 16"/>
                <a:gd name="T8" fmla="*/ 0 w 13"/>
                <a:gd name="T9" fmla="*/ 0 h 16"/>
                <a:gd name="T10" fmla="*/ 0 w 13"/>
                <a:gd name="T11" fmla="*/ 9 h 16"/>
                <a:gd name="T12" fmla="*/ 7 w 13"/>
                <a:gd name="T13" fmla="*/ 16 h 16"/>
                <a:gd name="T14" fmla="*/ 13 w 13"/>
                <a:gd name="T15" fmla="*/ 9 h 16"/>
                <a:gd name="T16" fmla="*/ 13 w 13"/>
                <a:gd name="T17" fmla="*/ 0 h 16"/>
                <a:gd name="T18" fmla="*/ 11 w 13"/>
                <a:gd name="T19" fmla="*/ 0 h 16"/>
                <a:gd name="T20" fmla="*/ 11 w 13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2" y="12"/>
                    <a:pt x="2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3" y="16"/>
                    <a:pt x="7" y="16"/>
                  </a:cubicBezTo>
                  <a:cubicBezTo>
                    <a:pt x="10" y="16"/>
                    <a:pt x="13" y="14"/>
                    <a:pt x="13" y="9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Freeform 29"/>
            <p:cNvSpPr>
              <a:spLocks/>
            </p:cNvSpPr>
            <p:nvPr userDrawn="1"/>
          </p:nvSpPr>
          <p:spPr bwMode="auto">
            <a:xfrm>
              <a:off x="8388834" y="798513"/>
              <a:ext cx="41348" cy="50800"/>
            </a:xfrm>
            <a:custGeom>
              <a:avLst/>
              <a:gdLst>
                <a:gd name="T0" fmla="*/ 20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0 w 26"/>
                <a:gd name="T19" fmla="*/ 0 h 32"/>
                <a:gd name="T20" fmla="*/ 20 w 26"/>
                <a:gd name="T21" fmla="*/ 22 h 32"/>
                <a:gd name="T22" fmla="*/ 20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0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20" y="22"/>
                  </a:lnTo>
                  <a:lnTo>
                    <a:pt x="20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Freeform 30"/>
            <p:cNvSpPr>
              <a:spLocks/>
            </p:cNvSpPr>
            <p:nvPr userDrawn="1"/>
          </p:nvSpPr>
          <p:spPr bwMode="auto">
            <a:xfrm>
              <a:off x="8442905" y="798513"/>
              <a:ext cx="9542" cy="50800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Freeform 31"/>
            <p:cNvSpPr>
              <a:spLocks/>
            </p:cNvSpPr>
            <p:nvPr userDrawn="1"/>
          </p:nvSpPr>
          <p:spPr bwMode="auto">
            <a:xfrm>
              <a:off x="8461988" y="798513"/>
              <a:ext cx="50890" cy="50800"/>
            </a:xfrm>
            <a:custGeom>
              <a:avLst/>
              <a:gdLst>
                <a:gd name="T0" fmla="*/ 6 w 32"/>
                <a:gd name="T1" fmla="*/ 0 h 32"/>
                <a:gd name="T2" fmla="*/ 0 w 32"/>
                <a:gd name="T3" fmla="*/ 0 h 32"/>
                <a:gd name="T4" fmla="*/ 12 w 32"/>
                <a:gd name="T5" fmla="*/ 32 h 32"/>
                <a:gd name="T6" fmla="*/ 18 w 32"/>
                <a:gd name="T7" fmla="*/ 32 h 32"/>
                <a:gd name="T8" fmla="*/ 32 w 32"/>
                <a:gd name="T9" fmla="*/ 0 h 32"/>
                <a:gd name="T10" fmla="*/ 26 w 32"/>
                <a:gd name="T11" fmla="*/ 0 h 32"/>
                <a:gd name="T12" fmla="*/ 16 w 32"/>
                <a:gd name="T13" fmla="*/ 26 h 32"/>
                <a:gd name="T14" fmla="*/ 6 w 32"/>
                <a:gd name="T15" fmla="*/ 0 h 32"/>
                <a:gd name="T16" fmla="*/ 6 w 32"/>
                <a:gd name="T1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2">
                  <a:moveTo>
                    <a:pt x="6" y="0"/>
                  </a:moveTo>
                  <a:lnTo>
                    <a:pt x="0" y="0"/>
                  </a:lnTo>
                  <a:lnTo>
                    <a:pt x="12" y="32"/>
                  </a:lnTo>
                  <a:lnTo>
                    <a:pt x="18" y="32"/>
                  </a:lnTo>
                  <a:lnTo>
                    <a:pt x="32" y="0"/>
                  </a:lnTo>
                  <a:lnTo>
                    <a:pt x="26" y="0"/>
                  </a:lnTo>
                  <a:lnTo>
                    <a:pt x="16" y="2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Freeform 32"/>
            <p:cNvSpPr>
              <a:spLocks/>
            </p:cNvSpPr>
            <p:nvPr userDrawn="1"/>
          </p:nvSpPr>
          <p:spPr bwMode="auto">
            <a:xfrm>
              <a:off x="8519239" y="798513"/>
              <a:ext cx="38167" cy="50800"/>
            </a:xfrm>
            <a:custGeom>
              <a:avLst/>
              <a:gdLst>
                <a:gd name="T0" fmla="*/ 6 w 24"/>
                <a:gd name="T1" fmla="*/ 18 h 32"/>
                <a:gd name="T2" fmla="*/ 24 w 24"/>
                <a:gd name="T3" fmla="*/ 18 h 32"/>
                <a:gd name="T4" fmla="*/ 24 w 24"/>
                <a:gd name="T5" fmla="*/ 12 h 32"/>
                <a:gd name="T6" fmla="*/ 6 w 24"/>
                <a:gd name="T7" fmla="*/ 12 h 32"/>
                <a:gd name="T8" fmla="*/ 6 w 24"/>
                <a:gd name="T9" fmla="*/ 4 h 32"/>
                <a:gd name="T10" fmla="*/ 24 w 24"/>
                <a:gd name="T11" fmla="*/ 4 h 32"/>
                <a:gd name="T12" fmla="*/ 24 w 24"/>
                <a:gd name="T13" fmla="*/ 0 h 32"/>
                <a:gd name="T14" fmla="*/ 0 w 24"/>
                <a:gd name="T15" fmla="*/ 0 h 32"/>
                <a:gd name="T16" fmla="*/ 0 w 24"/>
                <a:gd name="T17" fmla="*/ 32 h 32"/>
                <a:gd name="T18" fmla="*/ 24 w 24"/>
                <a:gd name="T19" fmla="*/ 32 h 32"/>
                <a:gd name="T20" fmla="*/ 24 w 24"/>
                <a:gd name="T21" fmla="*/ 26 h 32"/>
                <a:gd name="T22" fmla="*/ 6 w 24"/>
                <a:gd name="T23" fmla="*/ 26 h 32"/>
                <a:gd name="T24" fmla="*/ 6 w 24"/>
                <a:gd name="T25" fmla="*/ 18 h 32"/>
                <a:gd name="T26" fmla="*/ 6 w 24"/>
                <a:gd name="T27" fmla="*/ 1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" h="32">
                  <a:moveTo>
                    <a:pt x="6" y="18"/>
                  </a:moveTo>
                  <a:lnTo>
                    <a:pt x="24" y="18"/>
                  </a:lnTo>
                  <a:lnTo>
                    <a:pt x="24" y="12"/>
                  </a:lnTo>
                  <a:lnTo>
                    <a:pt x="6" y="12"/>
                  </a:lnTo>
                  <a:lnTo>
                    <a:pt x="6" y="4"/>
                  </a:lnTo>
                  <a:lnTo>
                    <a:pt x="24" y="4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24" y="32"/>
                  </a:lnTo>
                  <a:lnTo>
                    <a:pt x="24" y="26"/>
                  </a:lnTo>
                  <a:lnTo>
                    <a:pt x="6" y="26"/>
                  </a:lnTo>
                  <a:lnTo>
                    <a:pt x="6" y="18"/>
                  </a:lnTo>
                  <a:lnTo>
                    <a:pt x="6" y="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Freeform 33"/>
            <p:cNvSpPr>
              <a:spLocks noEditPoints="1"/>
            </p:cNvSpPr>
            <p:nvPr userDrawn="1"/>
          </p:nvSpPr>
          <p:spPr bwMode="auto">
            <a:xfrm>
              <a:off x="8570129" y="798513"/>
              <a:ext cx="44528" cy="50800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1 w 14"/>
                <a:gd name="T15" fmla="*/ 16 h 16"/>
                <a:gd name="T16" fmla="*/ 14 w 14"/>
                <a:gd name="T17" fmla="*/ 16 h 16"/>
                <a:gd name="T18" fmla="*/ 9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Freeform 34"/>
            <p:cNvSpPr>
              <a:spLocks/>
            </p:cNvSpPr>
            <p:nvPr userDrawn="1"/>
          </p:nvSpPr>
          <p:spPr bwMode="auto">
            <a:xfrm>
              <a:off x="8617838" y="795338"/>
              <a:ext cx="44528" cy="53975"/>
            </a:xfrm>
            <a:custGeom>
              <a:avLst/>
              <a:gdLst>
                <a:gd name="T0" fmla="*/ 8 w 14"/>
                <a:gd name="T1" fmla="*/ 7 h 17"/>
                <a:gd name="T2" fmla="*/ 4 w 14"/>
                <a:gd name="T3" fmla="*/ 5 h 17"/>
                <a:gd name="T4" fmla="*/ 7 w 14"/>
                <a:gd name="T5" fmla="*/ 3 h 17"/>
                <a:gd name="T6" fmla="*/ 12 w 14"/>
                <a:gd name="T7" fmla="*/ 5 h 17"/>
                <a:gd name="T8" fmla="*/ 12 w 14"/>
                <a:gd name="T9" fmla="*/ 5 h 17"/>
                <a:gd name="T10" fmla="*/ 14 w 14"/>
                <a:gd name="T11" fmla="*/ 4 h 17"/>
                <a:gd name="T12" fmla="*/ 14 w 14"/>
                <a:gd name="T13" fmla="*/ 3 h 17"/>
                <a:gd name="T14" fmla="*/ 7 w 14"/>
                <a:gd name="T15" fmla="*/ 0 h 17"/>
                <a:gd name="T16" fmla="*/ 2 w 14"/>
                <a:gd name="T17" fmla="*/ 2 h 17"/>
                <a:gd name="T18" fmla="*/ 1 w 14"/>
                <a:gd name="T19" fmla="*/ 5 h 17"/>
                <a:gd name="T20" fmla="*/ 7 w 14"/>
                <a:gd name="T21" fmla="*/ 10 h 17"/>
                <a:gd name="T22" fmla="*/ 12 w 14"/>
                <a:gd name="T23" fmla="*/ 12 h 17"/>
                <a:gd name="T24" fmla="*/ 7 w 14"/>
                <a:gd name="T25" fmla="*/ 15 h 17"/>
                <a:gd name="T26" fmla="*/ 3 w 14"/>
                <a:gd name="T27" fmla="*/ 12 h 17"/>
                <a:gd name="T28" fmla="*/ 2 w 14"/>
                <a:gd name="T29" fmla="*/ 12 h 17"/>
                <a:gd name="T30" fmla="*/ 0 w 14"/>
                <a:gd name="T31" fmla="*/ 13 h 17"/>
                <a:gd name="T32" fmla="*/ 0 w 14"/>
                <a:gd name="T33" fmla="*/ 14 h 17"/>
                <a:gd name="T34" fmla="*/ 7 w 14"/>
                <a:gd name="T35" fmla="*/ 17 h 17"/>
                <a:gd name="T36" fmla="*/ 14 w 14"/>
                <a:gd name="T37" fmla="*/ 12 h 17"/>
                <a:gd name="T38" fmla="*/ 8 w 14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17">
                  <a:moveTo>
                    <a:pt x="8" y="7"/>
                  </a:moveTo>
                  <a:cubicBezTo>
                    <a:pt x="5" y="7"/>
                    <a:pt x="4" y="6"/>
                    <a:pt x="4" y="5"/>
                  </a:cubicBezTo>
                  <a:cubicBezTo>
                    <a:pt x="4" y="4"/>
                    <a:pt x="5" y="3"/>
                    <a:pt x="7" y="3"/>
                  </a:cubicBezTo>
                  <a:cubicBezTo>
                    <a:pt x="9" y="3"/>
                    <a:pt x="11" y="3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6" y="0"/>
                    <a:pt x="3" y="1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5" y="9"/>
                    <a:pt x="7" y="10"/>
                  </a:cubicBezTo>
                  <a:cubicBezTo>
                    <a:pt x="10" y="10"/>
                    <a:pt x="12" y="11"/>
                    <a:pt x="12" y="12"/>
                  </a:cubicBezTo>
                  <a:cubicBezTo>
                    <a:pt x="12" y="15"/>
                    <a:pt x="8" y="15"/>
                    <a:pt x="7" y="15"/>
                  </a:cubicBezTo>
                  <a:cubicBezTo>
                    <a:pt x="6" y="15"/>
                    <a:pt x="4" y="14"/>
                    <a:pt x="3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6"/>
                    <a:pt x="4" y="17"/>
                    <a:pt x="7" y="17"/>
                  </a:cubicBezTo>
                  <a:cubicBezTo>
                    <a:pt x="11" y="17"/>
                    <a:pt x="14" y="16"/>
                    <a:pt x="14" y="12"/>
                  </a:cubicBezTo>
                  <a:cubicBezTo>
                    <a:pt x="14" y="9"/>
                    <a:pt x="11" y="8"/>
                    <a:pt x="8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Freeform 35"/>
            <p:cNvSpPr>
              <a:spLocks/>
            </p:cNvSpPr>
            <p:nvPr userDrawn="1"/>
          </p:nvSpPr>
          <p:spPr bwMode="auto">
            <a:xfrm>
              <a:off x="8671908" y="798513"/>
              <a:ext cx="9542" cy="50800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Freeform 36"/>
            <p:cNvSpPr>
              <a:spLocks/>
            </p:cNvSpPr>
            <p:nvPr userDrawn="1"/>
          </p:nvSpPr>
          <p:spPr bwMode="auto">
            <a:xfrm>
              <a:off x="8690991" y="798513"/>
              <a:ext cx="84286" cy="50800"/>
            </a:xfrm>
            <a:custGeom>
              <a:avLst/>
              <a:gdLst>
                <a:gd name="T0" fmla="*/ 29 w 53"/>
                <a:gd name="T1" fmla="*/ 0 h 32"/>
                <a:gd name="T2" fmla="*/ 0 w 53"/>
                <a:gd name="T3" fmla="*/ 0 h 32"/>
                <a:gd name="T4" fmla="*/ 0 w 53"/>
                <a:gd name="T5" fmla="*/ 4 h 32"/>
                <a:gd name="T6" fmla="*/ 9 w 53"/>
                <a:gd name="T7" fmla="*/ 4 h 32"/>
                <a:gd name="T8" fmla="*/ 9 w 53"/>
                <a:gd name="T9" fmla="*/ 32 h 32"/>
                <a:gd name="T10" fmla="*/ 15 w 53"/>
                <a:gd name="T11" fmla="*/ 32 h 32"/>
                <a:gd name="T12" fmla="*/ 15 w 53"/>
                <a:gd name="T13" fmla="*/ 4 h 32"/>
                <a:gd name="T14" fmla="*/ 25 w 53"/>
                <a:gd name="T15" fmla="*/ 4 h 32"/>
                <a:gd name="T16" fmla="*/ 35 w 53"/>
                <a:gd name="T17" fmla="*/ 18 h 32"/>
                <a:gd name="T18" fmla="*/ 35 w 53"/>
                <a:gd name="T19" fmla="*/ 32 h 32"/>
                <a:gd name="T20" fmla="*/ 41 w 53"/>
                <a:gd name="T21" fmla="*/ 32 h 32"/>
                <a:gd name="T22" fmla="*/ 41 w 53"/>
                <a:gd name="T23" fmla="*/ 18 h 32"/>
                <a:gd name="T24" fmla="*/ 53 w 53"/>
                <a:gd name="T25" fmla="*/ 0 h 32"/>
                <a:gd name="T26" fmla="*/ 53 w 53"/>
                <a:gd name="T27" fmla="*/ 0 h 32"/>
                <a:gd name="T28" fmla="*/ 53 w 53"/>
                <a:gd name="T29" fmla="*/ 0 h 32"/>
                <a:gd name="T30" fmla="*/ 47 w 53"/>
                <a:gd name="T31" fmla="*/ 0 h 32"/>
                <a:gd name="T32" fmla="*/ 37 w 53"/>
                <a:gd name="T33" fmla="*/ 14 h 32"/>
                <a:gd name="T34" fmla="*/ 29 w 53"/>
                <a:gd name="T35" fmla="*/ 0 h 32"/>
                <a:gd name="T36" fmla="*/ 29 w 53"/>
                <a:gd name="T3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3" h="32">
                  <a:moveTo>
                    <a:pt x="29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9" y="4"/>
                  </a:lnTo>
                  <a:lnTo>
                    <a:pt x="9" y="32"/>
                  </a:lnTo>
                  <a:lnTo>
                    <a:pt x="15" y="32"/>
                  </a:lnTo>
                  <a:lnTo>
                    <a:pt x="15" y="4"/>
                  </a:lnTo>
                  <a:lnTo>
                    <a:pt x="25" y="4"/>
                  </a:lnTo>
                  <a:lnTo>
                    <a:pt x="35" y="18"/>
                  </a:lnTo>
                  <a:lnTo>
                    <a:pt x="35" y="32"/>
                  </a:lnTo>
                  <a:lnTo>
                    <a:pt x="41" y="32"/>
                  </a:lnTo>
                  <a:lnTo>
                    <a:pt x="41" y="18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47" y="0"/>
                  </a:lnTo>
                  <a:lnTo>
                    <a:pt x="37" y="14"/>
                  </a:lnTo>
                  <a:lnTo>
                    <a:pt x="29" y="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Freeform 37"/>
            <p:cNvSpPr>
              <a:spLocks/>
            </p:cNvSpPr>
            <p:nvPr userDrawn="1"/>
          </p:nvSpPr>
          <p:spPr bwMode="auto">
            <a:xfrm>
              <a:off x="8484252" y="371475"/>
              <a:ext cx="291025" cy="363538"/>
            </a:xfrm>
            <a:custGeom>
              <a:avLst/>
              <a:gdLst>
                <a:gd name="T0" fmla="*/ 92 w 92"/>
                <a:gd name="T1" fmla="*/ 0 h 115"/>
                <a:gd name="T2" fmla="*/ 92 w 92"/>
                <a:gd name="T3" fmla="*/ 71 h 115"/>
                <a:gd name="T4" fmla="*/ 49 w 92"/>
                <a:gd name="T5" fmla="*/ 115 h 115"/>
                <a:gd name="T6" fmla="*/ 0 w 92"/>
                <a:gd name="T7" fmla="*/ 70 h 115"/>
                <a:gd name="T8" fmla="*/ 0 w 92"/>
                <a:gd name="T9" fmla="*/ 0 h 115"/>
                <a:gd name="T10" fmla="*/ 22 w 92"/>
                <a:gd name="T11" fmla="*/ 0 h 115"/>
                <a:gd name="T12" fmla="*/ 22 w 92"/>
                <a:gd name="T13" fmla="*/ 72 h 115"/>
                <a:gd name="T14" fmla="*/ 50 w 92"/>
                <a:gd name="T15" fmla="*/ 105 h 115"/>
                <a:gd name="T16" fmla="*/ 79 w 92"/>
                <a:gd name="T17" fmla="*/ 73 h 115"/>
                <a:gd name="T18" fmla="*/ 79 w 92"/>
                <a:gd name="T19" fmla="*/ 0 h 115"/>
                <a:gd name="T20" fmla="*/ 92 w 92"/>
                <a:gd name="T21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5">
                  <a:moveTo>
                    <a:pt x="92" y="0"/>
                  </a:moveTo>
                  <a:cubicBezTo>
                    <a:pt x="92" y="71"/>
                    <a:pt x="92" y="71"/>
                    <a:pt x="92" y="71"/>
                  </a:cubicBezTo>
                  <a:cubicBezTo>
                    <a:pt x="92" y="109"/>
                    <a:pt x="62" y="115"/>
                    <a:pt x="49" y="115"/>
                  </a:cubicBezTo>
                  <a:cubicBezTo>
                    <a:pt x="25" y="115"/>
                    <a:pt x="0" y="107"/>
                    <a:pt x="0" y="7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2" y="93"/>
                    <a:pt x="32" y="105"/>
                    <a:pt x="50" y="105"/>
                  </a:cubicBezTo>
                  <a:cubicBezTo>
                    <a:pt x="66" y="105"/>
                    <a:pt x="79" y="95"/>
                    <a:pt x="79" y="73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92" y="0"/>
                    <a:pt x="92" y="0"/>
                    <a:pt x="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Freeform 38"/>
            <p:cNvSpPr>
              <a:spLocks/>
            </p:cNvSpPr>
            <p:nvPr userDrawn="1"/>
          </p:nvSpPr>
          <p:spPr bwMode="auto">
            <a:xfrm>
              <a:off x="8096219" y="365125"/>
              <a:ext cx="337144" cy="369888"/>
            </a:xfrm>
            <a:custGeom>
              <a:avLst/>
              <a:gdLst>
                <a:gd name="T0" fmla="*/ 61 w 106"/>
                <a:gd name="T1" fmla="*/ 117 h 117"/>
                <a:gd name="T2" fmla="*/ 0 w 106"/>
                <a:gd name="T3" fmla="*/ 60 h 117"/>
                <a:gd name="T4" fmla="*/ 63 w 106"/>
                <a:gd name="T5" fmla="*/ 0 h 117"/>
                <a:gd name="T6" fmla="*/ 97 w 106"/>
                <a:gd name="T7" fmla="*/ 13 h 117"/>
                <a:gd name="T8" fmla="*/ 106 w 106"/>
                <a:gd name="T9" fmla="*/ 28 h 117"/>
                <a:gd name="T10" fmla="*/ 94 w 106"/>
                <a:gd name="T11" fmla="*/ 39 h 117"/>
                <a:gd name="T12" fmla="*/ 83 w 106"/>
                <a:gd name="T13" fmla="*/ 28 h 117"/>
                <a:gd name="T14" fmla="*/ 86 w 106"/>
                <a:gd name="T15" fmla="*/ 20 h 117"/>
                <a:gd name="T16" fmla="*/ 63 w 106"/>
                <a:gd name="T17" fmla="*/ 10 h 117"/>
                <a:gd name="T18" fmla="*/ 21 w 106"/>
                <a:gd name="T19" fmla="*/ 58 h 117"/>
                <a:gd name="T20" fmla="*/ 65 w 106"/>
                <a:gd name="T21" fmla="*/ 108 h 117"/>
                <a:gd name="T22" fmla="*/ 102 w 106"/>
                <a:gd name="T23" fmla="*/ 93 h 117"/>
                <a:gd name="T24" fmla="*/ 106 w 106"/>
                <a:gd name="T25" fmla="*/ 99 h 117"/>
                <a:gd name="T26" fmla="*/ 61 w 106"/>
                <a:gd name="T2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6" h="117">
                  <a:moveTo>
                    <a:pt x="61" y="117"/>
                  </a:moveTo>
                  <a:cubicBezTo>
                    <a:pt x="23" y="117"/>
                    <a:pt x="0" y="91"/>
                    <a:pt x="0" y="60"/>
                  </a:cubicBezTo>
                  <a:cubicBezTo>
                    <a:pt x="0" y="29"/>
                    <a:pt x="24" y="0"/>
                    <a:pt x="63" y="0"/>
                  </a:cubicBezTo>
                  <a:cubicBezTo>
                    <a:pt x="74" y="0"/>
                    <a:pt x="88" y="4"/>
                    <a:pt x="97" y="13"/>
                  </a:cubicBezTo>
                  <a:cubicBezTo>
                    <a:pt x="102" y="16"/>
                    <a:pt x="106" y="23"/>
                    <a:pt x="106" y="28"/>
                  </a:cubicBezTo>
                  <a:cubicBezTo>
                    <a:pt x="106" y="34"/>
                    <a:pt x="101" y="39"/>
                    <a:pt x="94" y="39"/>
                  </a:cubicBezTo>
                  <a:cubicBezTo>
                    <a:pt x="88" y="39"/>
                    <a:pt x="83" y="34"/>
                    <a:pt x="83" y="28"/>
                  </a:cubicBezTo>
                  <a:cubicBezTo>
                    <a:pt x="83" y="25"/>
                    <a:pt x="84" y="22"/>
                    <a:pt x="86" y="20"/>
                  </a:cubicBezTo>
                  <a:cubicBezTo>
                    <a:pt x="81" y="14"/>
                    <a:pt x="71" y="10"/>
                    <a:pt x="63" y="10"/>
                  </a:cubicBezTo>
                  <a:cubicBezTo>
                    <a:pt x="36" y="10"/>
                    <a:pt x="21" y="35"/>
                    <a:pt x="21" y="58"/>
                  </a:cubicBezTo>
                  <a:cubicBezTo>
                    <a:pt x="21" y="85"/>
                    <a:pt x="38" y="108"/>
                    <a:pt x="65" y="108"/>
                  </a:cubicBezTo>
                  <a:cubicBezTo>
                    <a:pt x="79" y="108"/>
                    <a:pt x="90" y="102"/>
                    <a:pt x="102" y="93"/>
                  </a:cubicBezTo>
                  <a:cubicBezTo>
                    <a:pt x="106" y="99"/>
                    <a:pt x="106" y="99"/>
                    <a:pt x="106" y="99"/>
                  </a:cubicBezTo>
                  <a:cubicBezTo>
                    <a:pt x="94" y="111"/>
                    <a:pt x="77" y="117"/>
                    <a:pt x="61" y="1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Freeform 39"/>
            <p:cNvSpPr>
              <a:spLocks noEditPoints="1"/>
            </p:cNvSpPr>
            <p:nvPr userDrawn="1"/>
          </p:nvSpPr>
          <p:spPr bwMode="auto">
            <a:xfrm>
              <a:off x="7760666" y="371475"/>
              <a:ext cx="329192" cy="357188"/>
            </a:xfrm>
            <a:custGeom>
              <a:avLst/>
              <a:gdLst>
                <a:gd name="T0" fmla="*/ 163 w 207"/>
                <a:gd name="T1" fmla="*/ 225 h 225"/>
                <a:gd name="T2" fmla="*/ 207 w 207"/>
                <a:gd name="T3" fmla="*/ 225 h 225"/>
                <a:gd name="T4" fmla="*/ 119 w 207"/>
                <a:gd name="T5" fmla="*/ 0 h 225"/>
                <a:gd name="T6" fmla="*/ 85 w 207"/>
                <a:gd name="T7" fmla="*/ 0 h 225"/>
                <a:gd name="T8" fmla="*/ 0 w 207"/>
                <a:gd name="T9" fmla="*/ 225 h 225"/>
                <a:gd name="T10" fmla="*/ 21 w 207"/>
                <a:gd name="T11" fmla="*/ 225 h 225"/>
                <a:gd name="T12" fmla="*/ 47 w 207"/>
                <a:gd name="T13" fmla="*/ 161 h 225"/>
                <a:gd name="T14" fmla="*/ 139 w 207"/>
                <a:gd name="T15" fmla="*/ 161 h 225"/>
                <a:gd name="T16" fmla="*/ 163 w 207"/>
                <a:gd name="T17" fmla="*/ 225 h 225"/>
                <a:gd name="T18" fmla="*/ 163 w 207"/>
                <a:gd name="T19" fmla="*/ 225 h 225"/>
                <a:gd name="T20" fmla="*/ 53 w 207"/>
                <a:gd name="T21" fmla="*/ 141 h 225"/>
                <a:gd name="T22" fmla="*/ 93 w 207"/>
                <a:gd name="T23" fmla="*/ 36 h 225"/>
                <a:gd name="T24" fmla="*/ 133 w 207"/>
                <a:gd name="T25" fmla="*/ 141 h 225"/>
                <a:gd name="T26" fmla="*/ 53 w 207"/>
                <a:gd name="T27" fmla="*/ 141 h 225"/>
                <a:gd name="T28" fmla="*/ 53 w 207"/>
                <a:gd name="T29" fmla="*/ 14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7" h="225">
                  <a:moveTo>
                    <a:pt x="163" y="225"/>
                  </a:moveTo>
                  <a:lnTo>
                    <a:pt x="207" y="225"/>
                  </a:lnTo>
                  <a:lnTo>
                    <a:pt x="119" y="0"/>
                  </a:lnTo>
                  <a:lnTo>
                    <a:pt x="85" y="0"/>
                  </a:lnTo>
                  <a:lnTo>
                    <a:pt x="0" y="225"/>
                  </a:lnTo>
                  <a:lnTo>
                    <a:pt x="21" y="225"/>
                  </a:lnTo>
                  <a:lnTo>
                    <a:pt x="47" y="161"/>
                  </a:lnTo>
                  <a:lnTo>
                    <a:pt x="139" y="161"/>
                  </a:lnTo>
                  <a:lnTo>
                    <a:pt x="163" y="225"/>
                  </a:lnTo>
                  <a:lnTo>
                    <a:pt x="163" y="225"/>
                  </a:lnTo>
                  <a:close/>
                  <a:moveTo>
                    <a:pt x="53" y="141"/>
                  </a:moveTo>
                  <a:lnTo>
                    <a:pt x="93" y="36"/>
                  </a:lnTo>
                  <a:lnTo>
                    <a:pt x="133" y="141"/>
                  </a:lnTo>
                  <a:lnTo>
                    <a:pt x="53" y="141"/>
                  </a:lnTo>
                  <a:lnTo>
                    <a:pt x="53" y="1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8878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/>
          <p:cNvSpPr/>
          <p:nvPr userDrawn="1"/>
        </p:nvSpPr>
        <p:spPr>
          <a:xfrm>
            <a:off x="0" y="-3175"/>
            <a:ext cx="914241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5" name="AutoShape 3"/>
          <p:cNvSpPr>
            <a:spLocks noChangeAspect="1" noChangeArrowheads="1" noTextEdit="1"/>
          </p:cNvSpPr>
          <p:nvPr userDrawn="1"/>
        </p:nvSpPr>
        <p:spPr bwMode="auto">
          <a:xfrm>
            <a:off x="0" y="0"/>
            <a:ext cx="914422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Freeform 5"/>
          <p:cNvSpPr>
            <a:spLocks/>
          </p:cNvSpPr>
          <p:nvPr userDrawn="1"/>
        </p:nvSpPr>
        <p:spPr bwMode="auto">
          <a:xfrm>
            <a:off x="0" y="457200"/>
            <a:ext cx="4572114" cy="6388100"/>
          </a:xfrm>
          <a:custGeom>
            <a:avLst/>
            <a:gdLst>
              <a:gd name="T0" fmla="*/ 2875 w 2875"/>
              <a:gd name="T1" fmla="*/ 0 h 4024"/>
              <a:gd name="T2" fmla="*/ 2875 w 2875"/>
              <a:gd name="T3" fmla="*/ 4024 h 4024"/>
              <a:gd name="T4" fmla="*/ 0 w 2875"/>
              <a:gd name="T5" fmla="*/ 4024 h 4024"/>
              <a:gd name="T6" fmla="*/ 0 w 2875"/>
              <a:gd name="T7" fmla="*/ 0 h 4024"/>
              <a:gd name="T8" fmla="*/ 2875 w 2875"/>
              <a:gd name="T9" fmla="*/ 0 h 4024"/>
              <a:gd name="T10" fmla="*/ 2875 w 2875"/>
              <a:gd name="T11" fmla="*/ 0 h 4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875" h="4024">
                <a:moveTo>
                  <a:pt x="2875" y="0"/>
                </a:moveTo>
                <a:lnTo>
                  <a:pt x="2875" y="4024"/>
                </a:lnTo>
                <a:lnTo>
                  <a:pt x="0" y="4024"/>
                </a:lnTo>
                <a:lnTo>
                  <a:pt x="0" y="0"/>
                </a:lnTo>
                <a:lnTo>
                  <a:pt x="2875" y="0"/>
                </a:lnTo>
                <a:lnTo>
                  <a:pt x="2875" y="0"/>
                </a:lnTo>
                <a:close/>
              </a:path>
            </a:pathLst>
          </a:custGeom>
          <a:solidFill>
            <a:srgbClr val="8C857B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Freeform 6"/>
          <p:cNvSpPr>
            <a:spLocks/>
          </p:cNvSpPr>
          <p:nvPr userDrawn="1"/>
        </p:nvSpPr>
        <p:spPr bwMode="auto">
          <a:xfrm>
            <a:off x="4572114" y="-3175"/>
            <a:ext cx="4572114" cy="6858000"/>
          </a:xfrm>
          <a:custGeom>
            <a:avLst/>
            <a:gdLst>
              <a:gd name="T0" fmla="*/ 2875 w 2875"/>
              <a:gd name="T1" fmla="*/ 0 h 4320"/>
              <a:gd name="T2" fmla="*/ 2875 w 2875"/>
              <a:gd name="T3" fmla="*/ 4030 h 4320"/>
              <a:gd name="T4" fmla="*/ 290 w 2875"/>
              <a:gd name="T5" fmla="*/ 4030 h 4320"/>
              <a:gd name="T6" fmla="*/ 0 w 2875"/>
              <a:gd name="T7" fmla="*/ 4320 h 4320"/>
              <a:gd name="T8" fmla="*/ 0 w 2875"/>
              <a:gd name="T9" fmla="*/ 290 h 4320"/>
              <a:gd name="T10" fmla="*/ 290 w 2875"/>
              <a:gd name="T11" fmla="*/ 0 h 4320"/>
              <a:gd name="T12" fmla="*/ 2875 w 2875"/>
              <a:gd name="T13" fmla="*/ 0 h 4320"/>
              <a:gd name="T14" fmla="*/ 2875 w 2875"/>
              <a:gd name="T15" fmla="*/ 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875" h="4320">
                <a:moveTo>
                  <a:pt x="2875" y="0"/>
                </a:moveTo>
                <a:lnTo>
                  <a:pt x="2875" y="4030"/>
                </a:lnTo>
                <a:lnTo>
                  <a:pt x="290" y="4030"/>
                </a:lnTo>
                <a:lnTo>
                  <a:pt x="0" y="4320"/>
                </a:lnTo>
                <a:lnTo>
                  <a:pt x="0" y="290"/>
                </a:lnTo>
                <a:lnTo>
                  <a:pt x="290" y="0"/>
                </a:lnTo>
                <a:lnTo>
                  <a:pt x="2875" y="0"/>
                </a:lnTo>
                <a:lnTo>
                  <a:pt x="2875" y="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/>
          <p:cNvGrpSpPr/>
          <p:nvPr userDrawn="1"/>
        </p:nvGrpSpPr>
        <p:grpSpPr>
          <a:xfrm>
            <a:off x="7401258" y="365125"/>
            <a:ext cx="1374019" cy="484188"/>
            <a:chOff x="7401258" y="365125"/>
            <a:chExt cx="1374019" cy="484188"/>
          </a:xfrm>
        </p:grpSpPr>
        <p:sp>
          <p:nvSpPr>
            <p:cNvPr id="48" name="Freeform 7"/>
            <p:cNvSpPr>
              <a:spLocks/>
            </p:cNvSpPr>
            <p:nvPr userDrawn="1"/>
          </p:nvSpPr>
          <p:spPr bwMode="auto">
            <a:xfrm>
              <a:off x="7401258" y="371475"/>
              <a:ext cx="289435" cy="369888"/>
            </a:xfrm>
            <a:custGeom>
              <a:avLst/>
              <a:gdLst>
                <a:gd name="T0" fmla="*/ 91 w 91"/>
                <a:gd name="T1" fmla="*/ 0 h 117"/>
                <a:gd name="T2" fmla="*/ 91 w 91"/>
                <a:gd name="T3" fmla="*/ 51 h 117"/>
                <a:gd name="T4" fmla="*/ 46 w 91"/>
                <a:gd name="T5" fmla="*/ 117 h 117"/>
                <a:gd name="T6" fmla="*/ 0 w 91"/>
                <a:gd name="T7" fmla="*/ 51 h 117"/>
                <a:gd name="T8" fmla="*/ 0 w 91"/>
                <a:gd name="T9" fmla="*/ 0 h 117"/>
                <a:gd name="T10" fmla="*/ 91 w 91"/>
                <a:gd name="T11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1" h="117">
                  <a:moveTo>
                    <a:pt x="91" y="0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77"/>
                    <a:pt x="74" y="105"/>
                    <a:pt x="46" y="117"/>
                  </a:cubicBezTo>
                  <a:cubicBezTo>
                    <a:pt x="18" y="105"/>
                    <a:pt x="0" y="77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1" y="0"/>
                    <a:pt x="91" y="0"/>
                    <a:pt x="91" y="0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Freeform 8"/>
            <p:cNvSpPr>
              <a:spLocks/>
            </p:cNvSpPr>
            <p:nvPr userDrawn="1"/>
          </p:nvSpPr>
          <p:spPr bwMode="auto">
            <a:xfrm>
              <a:off x="7455328" y="415925"/>
              <a:ext cx="181294" cy="236538"/>
            </a:xfrm>
            <a:custGeom>
              <a:avLst/>
              <a:gdLst>
                <a:gd name="T0" fmla="*/ 0 w 114"/>
                <a:gd name="T1" fmla="*/ 74 h 149"/>
                <a:gd name="T2" fmla="*/ 58 w 114"/>
                <a:gd name="T3" fmla="*/ 0 h 149"/>
                <a:gd name="T4" fmla="*/ 114 w 114"/>
                <a:gd name="T5" fmla="*/ 74 h 149"/>
                <a:gd name="T6" fmla="*/ 58 w 114"/>
                <a:gd name="T7" fmla="*/ 149 h 149"/>
                <a:gd name="T8" fmla="*/ 0 w 114"/>
                <a:gd name="T9" fmla="*/ 74 h 149"/>
                <a:gd name="T10" fmla="*/ 0 w 114"/>
                <a:gd name="T11" fmla="*/ 74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4" h="149">
                  <a:moveTo>
                    <a:pt x="0" y="74"/>
                  </a:moveTo>
                  <a:lnTo>
                    <a:pt x="58" y="0"/>
                  </a:lnTo>
                  <a:lnTo>
                    <a:pt x="114" y="74"/>
                  </a:lnTo>
                  <a:lnTo>
                    <a:pt x="58" y="149"/>
                  </a:lnTo>
                  <a:lnTo>
                    <a:pt x="0" y="74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Freeform 9"/>
            <p:cNvSpPr>
              <a:spLocks/>
            </p:cNvSpPr>
            <p:nvPr userDrawn="1"/>
          </p:nvSpPr>
          <p:spPr bwMode="auto">
            <a:xfrm>
              <a:off x="7480773" y="466725"/>
              <a:ext cx="130405" cy="153988"/>
            </a:xfrm>
            <a:custGeom>
              <a:avLst/>
              <a:gdLst>
                <a:gd name="T0" fmla="*/ 18 w 41"/>
                <a:gd name="T1" fmla="*/ 26 h 49"/>
                <a:gd name="T2" fmla="*/ 21 w 41"/>
                <a:gd name="T3" fmla="*/ 49 h 49"/>
                <a:gd name="T4" fmla="*/ 21 w 41"/>
                <a:gd name="T5" fmla="*/ 49 h 49"/>
                <a:gd name="T6" fmla="*/ 21 w 41"/>
                <a:gd name="T7" fmla="*/ 49 h 49"/>
                <a:gd name="T8" fmla="*/ 23 w 41"/>
                <a:gd name="T9" fmla="*/ 26 h 49"/>
                <a:gd name="T10" fmla="*/ 23 w 41"/>
                <a:gd name="T11" fmla="*/ 24 h 49"/>
                <a:gd name="T12" fmla="*/ 32 w 41"/>
                <a:gd name="T13" fmla="*/ 24 h 49"/>
                <a:gd name="T14" fmla="*/ 32 w 41"/>
                <a:gd name="T15" fmla="*/ 25 h 49"/>
                <a:gd name="T16" fmla="*/ 35 w 41"/>
                <a:gd name="T17" fmla="*/ 28 h 49"/>
                <a:gd name="T18" fmla="*/ 37 w 41"/>
                <a:gd name="T19" fmla="*/ 25 h 49"/>
                <a:gd name="T20" fmla="*/ 37 w 41"/>
                <a:gd name="T21" fmla="*/ 24 h 49"/>
                <a:gd name="T22" fmla="*/ 38 w 41"/>
                <a:gd name="T23" fmla="*/ 24 h 49"/>
                <a:gd name="T24" fmla="*/ 41 w 41"/>
                <a:gd name="T25" fmla="*/ 21 h 49"/>
                <a:gd name="T26" fmla="*/ 38 w 41"/>
                <a:gd name="T27" fmla="*/ 19 h 49"/>
                <a:gd name="T28" fmla="*/ 37 w 41"/>
                <a:gd name="T29" fmla="*/ 19 h 49"/>
                <a:gd name="T30" fmla="*/ 37 w 41"/>
                <a:gd name="T31" fmla="*/ 18 h 49"/>
                <a:gd name="T32" fmla="*/ 35 w 41"/>
                <a:gd name="T33" fmla="*/ 15 h 49"/>
                <a:gd name="T34" fmla="*/ 32 w 41"/>
                <a:gd name="T35" fmla="*/ 18 h 49"/>
                <a:gd name="T36" fmla="*/ 32 w 41"/>
                <a:gd name="T37" fmla="*/ 19 h 49"/>
                <a:gd name="T38" fmla="*/ 23 w 41"/>
                <a:gd name="T39" fmla="*/ 19 h 49"/>
                <a:gd name="T40" fmla="*/ 23 w 41"/>
                <a:gd name="T41" fmla="*/ 9 h 49"/>
                <a:gd name="T42" fmla="*/ 24 w 41"/>
                <a:gd name="T43" fmla="*/ 9 h 49"/>
                <a:gd name="T44" fmla="*/ 27 w 41"/>
                <a:gd name="T45" fmla="*/ 6 h 49"/>
                <a:gd name="T46" fmla="*/ 24 w 41"/>
                <a:gd name="T47" fmla="*/ 3 h 49"/>
                <a:gd name="T48" fmla="*/ 23 w 41"/>
                <a:gd name="T49" fmla="*/ 3 h 49"/>
                <a:gd name="T50" fmla="*/ 23 w 41"/>
                <a:gd name="T51" fmla="*/ 3 h 49"/>
                <a:gd name="T52" fmla="*/ 21 w 41"/>
                <a:gd name="T53" fmla="*/ 0 h 49"/>
                <a:gd name="T54" fmla="*/ 18 w 41"/>
                <a:gd name="T55" fmla="*/ 3 h 49"/>
                <a:gd name="T56" fmla="*/ 18 w 41"/>
                <a:gd name="T57" fmla="*/ 3 h 49"/>
                <a:gd name="T58" fmla="*/ 17 w 41"/>
                <a:gd name="T59" fmla="*/ 3 h 49"/>
                <a:gd name="T60" fmla="*/ 14 w 41"/>
                <a:gd name="T61" fmla="*/ 6 h 49"/>
                <a:gd name="T62" fmla="*/ 17 w 41"/>
                <a:gd name="T63" fmla="*/ 9 h 49"/>
                <a:gd name="T64" fmla="*/ 18 w 41"/>
                <a:gd name="T65" fmla="*/ 9 h 49"/>
                <a:gd name="T66" fmla="*/ 18 w 41"/>
                <a:gd name="T67" fmla="*/ 19 h 49"/>
                <a:gd name="T68" fmla="*/ 18 w 41"/>
                <a:gd name="T69" fmla="*/ 19 h 49"/>
                <a:gd name="T70" fmla="*/ 10 w 41"/>
                <a:gd name="T71" fmla="*/ 19 h 49"/>
                <a:gd name="T72" fmla="*/ 10 w 41"/>
                <a:gd name="T73" fmla="*/ 18 h 49"/>
                <a:gd name="T74" fmla="*/ 7 w 41"/>
                <a:gd name="T75" fmla="*/ 15 h 49"/>
                <a:gd name="T76" fmla="*/ 4 w 41"/>
                <a:gd name="T77" fmla="*/ 18 h 49"/>
                <a:gd name="T78" fmla="*/ 4 w 41"/>
                <a:gd name="T79" fmla="*/ 19 h 49"/>
                <a:gd name="T80" fmla="*/ 4 w 41"/>
                <a:gd name="T81" fmla="*/ 19 h 49"/>
                <a:gd name="T82" fmla="*/ 0 w 41"/>
                <a:gd name="T83" fmla="*/ 21 h 49"/>
                <a:gd name="T84" fmla="*/ 4 w 41"/>
                <a:gd name="T85" fmla="*/ 24 h 49"/>
                <a:gd name="T86" fmla="*/ 4 w 41"/>
                <a:gd name="T87" fmla="*/ 24 h 49"/>
                <a:gd name="T88" fmla="*/ 4 w 41"/>
                <a:gd name="T89" fmla="*/ 25 h 49"/>
                <a:gd name="T90" fmla="*/ 7 w 41"/>
                <a:gd name="T91" fmla="*/ 28 h 49"/>
                <a:gd name="T92" fmla="*/ 10 w 41"/>
                <a:gd name="T93" fmla="*/ 25 h 49"/>
                <a:gd name="T94" fmla="*/ 10 w 41"/>
                <a:gd name="T95" fmla="*/ 24 h 49"/>
                <a:gd name="T96" fmla="*/ 18 w 41"/>
                <a:gd name="T97" fmla="*/ 24 h 49"/>
                <a:gd name="T98" fmla="*/ 18 w 41"/>
                <a:gd name="T99" fmla="*/ 26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1" h="49">
                  <a:moveTo>
                    <a:pt x="18" y="26"/>
                  </a:moveTo>
                  <a:cubicBezTo>
                    <a:pt x="18" y="36"/>
                    <a:pt x="20" y="48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8"/>
                    <a:pt x="23" y="36"/>
                    <a:pt x="23" y="26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3" y="28"/>
                    <a:pt x="35" y="28"/>
                  </a:cubicBezTo>
                  <a:cubicBezTo>
                    <a:pt x="36" y="28"/>
                    <a:pt x="37" y="26"/>
                    <a:pt x="37" y="25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9" y="24"/>
                    <a:pt x="41" y="23"/>
                    <a:pt x="41" y="21"/>
                  </a:cubicBezTo>
                  <a:cubicBezTo>
                    <a:pt x="41" y="20"/>
                    <a:pt x="39" y="19"/>
                    <a:pt x="38" y="19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17"/>
                    <a:pt x="36" y="15"/>
                    <a:pt x="35" y="15"/>
                  </a:cubicBezTo>
                  <a:cubicBezTo>
                    <a:pt x="33" y="15"/>
                    <a:pt x="32" y="17"/>
                    <a:pt x="32" y="18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5" y="9"/>
                    <a:pt x="27" y="8"/>
                    <a:pt x="27" y="6"/>
                  </a:cubicBezTo>
                  <a:cubicBezTo>
                    <a:pt x="27" y="5"/>
                    <a:pt x="25" y="3"/>
                    <a:pt x="24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"/>
                    <a:pt x="22" y="0"/>
                    <a:pt x="21" y="0"/>
                  </a:cubicBezTo>
                  <a:cubicBezTo>
                    <a:pt x="19" y="0"/>
                    <a:pt x="18" y="1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6" y="3"/>
                    <a:pt x="14" y="5"/>
                    <a:pt x="14" y="6"/>
                  </a:cubicBezTo>
                  <a:cubicBezTo>
                    <a:pt x="14" y="8"/>
                    <a:pt x="16" y="9"/>
                    <a:pt x="17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7"/>
                    <a:pt x="8" y="15"/>
                    <a:pt x="7" y="15"/>
                  </a:cubicBezTo>
                  <a:cubicBezTo>
                    <a:pt x="5" y="15"/>
                    <a:pt x="4" y="17"/>
                    <a:pt x="4" y="18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2" y="19"/>
                    <a:pt x="0" y="20"/>
                    <a:pt x="0" y="21"/>
                  </a:cubicBezTo>
                  <a:cubicBezTo>
                    <a:pt x="0" y="23"/>
                    <a:pt x="2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4" y="26"/>
                    <a:pt x="5" y="28"/>
                    <a:pt x="7" y="28"/>
                  </a:cubicBezTo>
                  <a:cubicBezTo>
                    <a:pt x="8" y="28"/>
                    <a:pt x="10" y="26"/>
                    <a:pt x="10" y="25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18" y="26"/>
                    <a:pt x="18" y="26"/>
                    <a:pt x="18" y="26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Freeform 10"/>
            <p:cNvSpPr>
              <a:spLocks noEditPoints="1"/>
            </p:cNvSpPr>
            <p:nvPr userDrawn="1"/>
          </p:nvSpPr>
          <p:spPr bwMode="auto">
            <a:xfrm>
              <a:off x="7401258" y="798513"/>
              <a:ext cx="54070" cy="50800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10 w 34"/>
                <a:gd name="T9" fmla="*/ 26 h 32"/>
                <a:gd name="T10" fmla="*/ 26 w 34"/>
                <a:gd name="T11" fmla="*/ 26 h 32"/>
                <a:gd name="T12" fmla="*/ 30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2 w 34"/>
                <a:gd name="T25" fmla="*/ 20 h 32"/>
                <a:gd name="T26" fmla="*/ 18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10" y="26"/>
                  </a:lnTo>
                  <a:lnTo>
                    <a:pt x="26" y="26"/>
                  </a:lnTo>
                  <a:lnTo>
                    <a:pt x="30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2" y="20"/>
                  </a:lnTo>
                  <a:lnTo>
                    <a:pt x="18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Freeform 11"/>
            <p:cNvSpPr>
              <a:spLocks/>
            </p:cNvSpPr>
            <p:nvPr userDrawn="1"/>
          </p:nvSpPr>
          <p:spPr bwMode="auto">
            <a:xfrm>
              <a:off x="7458509" y="798513"/>
              <a:ext cx="44528" cy="50800"/>
            </a:xfrm>
            <a:custGeom>
              <a:avLst/>
              <a:gdLst>
                <a:gd name="T0" fmla="*/ 11 w 14"/>
                <a:gd name="T1" fmla="*/ 9 h 16"/>
                <a:gd name="T2" fmla="*/ 7 w 14"/>
                <a:gd name="T3" fmla="*/ 14 h 16"/>
                <a:gd name="T4" fmla="*/ 3 w 14"/>
                <a:gd name="T5" fmla="*/ 9 h 16"/>
                <a:gd name="T6" fmla="*/ 3 w 14"/>
                <a:gd name="T7" fmla="*/ 0 h 16"/>
                <a:gd name="T8" fmla="*/ 0 w 14"/>
                <a:gd name="T9" fmla="*/ 0 h 16"/>
                <a:gd name="T10" fmla="*/ 0 w 14"/>
                <a:gd name="T11" fmla="*/ 9 h 16"/>
                <a:gd name="T12" fmla="*/ 7 w 14"/>
                <a:gd name="T13" fmla="*/ 16 h 16"/>
                <a:gd name="T14" fmla="*/ 14 w 14"/>
                <a:gd name="T15" fmla="*/ 9 h 16"/>
                <a:gd name="T16" fmla="*/ 14 w 14"/>
                <a:gd name="T17" fmla="*/ 0 h 16"/>
                <a:gd name="T18" fmla="*/ 11 w 14"/>
                <a:gd name="T19" fmla="*/ 0 h 16"/>
                <a:gd name="T20" fmla="*/ 11 w 14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3" y="12"/>
                    <a:pt x="3" y="9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4" y="16"/>
                    <a:pt x="7" y="16"/>
                  </a:cubicBezTo>
                  <a:cubicBezTo>
                    <a:pt x="10" y="16"/>
                    <a:pt x="14" y="14"/>
                    <a:pt x="14" y="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Freeform 12"/>
            <p:cNvSpPr>
              <a:spLocks/>
            </p:cNvSpPr>
            <p:nvPr userDrawn="1"/>
          </p:nvSpPr>
          <p:spPr bwMode="auto">
            <a:xfrm>
              <a:off x="7512579" y="795338"/>
              <a:ext cx="41348" cy="53975"/>
            </a:xfrm>
            <a:custGeom>
              <a:avLst/>
              <a:gdLst>
                <a:gd name="T0" fmla="*/ 7 w 13"/>
                <a:gd name="T1" fmla="*/ 7 h 17"/>
                <a:gd name="T2" fmla="*/ 3 w 13"/>
                <a:gd name="T3" fmla="*/ 5 h 17"/>
                <a:gd name="T4" fmla="*/ 7 w 13"/>
                <a:gd name="T5" fmla="*/ 3 h 17"/>
                <a:gd name="T6" fmla="*/ 11 w 13"/>
                <a:gd name="T7" fmla="*/ 5 h 17"/>
                <a:gd name="T8" fmla="*/ 11 w 13"/>
                <a:gd name="T9" fmla="*/ 5 h 17"/>
                <a:gd name="T10" fmla="*/ 13 w 13"/>
                <a:gd name="T11" fmla="*/ 4 h 17"/>
                <a:gd name="T12" fmla="*/ 13 w 13"/>
                <a:gd name="T13" fmla="*/ 3 h 17"/>
                <a:gd name="T14" fmla="*/ 7 w 13"/>
                <a:gd name="T15" fmla="*/ 0 h 17"/>
                <a:gd name="T16" fmla="*/ 2 w 13"/>
                <a:gd name="T17" fmla="*/ 2 h 17"/>
                <a:gd name="T18" fmla="*/ 0 w 13"/>
                <a:gd name="T19" fmla="*/ 5 h 17"/>
                <a:gd name="T20" fmla="*/ 7 w 13"/>
                <a:gd name="T21" fmla="*/ 10 h 17"/>
                <a:gd name="T22" fmla="*/ 11 w 13"/>
                <a:gd name="T23" fmla="*/ 12 h 17"/>
                <a:gd name="T24" fmla="*/ 7 w 13"/>
                <a:gd name="T25" fmla="*/ 15 h 17"/>
                <a:gd name="T26" fmla="*/ 2 w 13"/>
                <a:gd name="T27" fmla="*/ 12 h 17"/>
                <a:gd name="T28" fmla="*/ 2 w 13"/>
                <a:gd name="T29" fmla="*/ 12 h 17"/>
                <a:gd name="T30" fmla="*/ 0 w 13"/>
                <a:gd name="T31" fmla="*/ 13 h 17"/>
                <a:gd name="T32" fmla="*/ 0 w 13"/>
                <a:gd name="T33" fmla="*/ 14 h 17"/>
                <a:gd name="T34" fmla="*/ 7 w 13"/>
                <a:gd name="T35" fmla="*/ 17 h 17"/>
                <a:gd name="T36" fmla="*/ 13 w 13"/>
                <a:gd name="T37" fmla="*/ 12 h 17"/>
                <a:gd name="T38" fmla="*/ 7 w 13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" h="17">
                  <a:moveTo>
                    <a:pt x="7" y="7"/>
                  </a:moveTo>
                  <a:cubicBezTo>
                    <a:pt x="5" y="7"/>
                    <a:pt x="3" y="6"/>
                    <a:pt x="3" y="5"/>
                  </a:cubicBezTo>
                  <a:cubicBezTo>
                    <a:pt x="3" y="4"/>
                    <a:pt x="5" y="3"/>
                    <a:pt x="7" y="3"/>
                  </a:cubicBezTo>
                  <a:cubicBezTo>
                    <a:pt x="9" y="3"/>
                    <a:pt x="10" y="3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5" y="0"/>
                    <a:pt x="3" y="1"/>
                    <a:pt x="2" y="2"/>
                  </a:cubicBezTo>
                  <a:cubicBezTo>
                    <a:pt x="1" y="3"/>
                    <a:pt x="0" y="4"/>
                    <a:pt x="0" y="5"/>
                  </a:cubicBezTo>
                  <a:cubicBezTo>
                    <a:pt x="0" y="9"/>
                    <a:pt x="4" y="9"/>
                    <a:pt x="7" y="10"/>
                  </a:cubicBezTo>
                  <a:cubicBezTo>
                    <a:pt x="9" y="10"/>
                    <a:pt x="11" y="11"/>
                    <a:pt x="11" y="12"/>
                  </a:cubicBezTo>
                  <a:cubicBezTo>
                    <a:pt x="11" y="15"/>
                    <a:pt x="8" y="15"/>
                    <a:pt x="7" y="15"/>
                  </a:cubicBezTo>
                  <a:cubicBezTo>
                    <a:pt x="5" y="15"/>
                    <a:pt x="3" y="14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6"/>
                    <a:pt x="3" y="17"/>
                    <a:pt x="7" y="17"/>
                  </a:cubicBezTo>
                  <a:cubicBezTo>
                    <a:pt x="10" y="17"/>
                    <a:pt x="13" y="16"/>
                    <a:pt x="13" y="12"/>
                  </a:cubicBezTo>
                  <a:cubicBezTo>
                    <a:pt x="13" y="9"/>
                    <a:pt x="10" y="8"/>
                    <a:pt x="7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Freeform 13"/>
            <p:cNvSpPr>
              <a:spLocks/>
            </p:cNvSpPr>
            <p:nvPr userDrawn="1"/>
          </p:nvSpPr>
          <p:spPr bwMode="auto">
            <a:xfrm>
              <a:off x="7560288" y="798513"/>
              <a:ext cx="41348" cy="50800"/>
            </a:xfrm>
            <a:custGeom>
              <a:avLst/>
              <a:gdLst>
                <a:gd name="T0" fmla="*/ 0 w 26"/>
                <a:gd name="T1" fmla="*/ 4 h 32"/>
                <a:gd name="T2" fmla="*/ 10 w 26"/>
                <a:gd name="T3" fmla="*/ 4 h 32"/>
                <a:gd name="T4" fmla="*/ 10 w 26"/>
                <a:gd name="T5" fmla="*/ 32 h 32"/>
                <a:gd name="T6" fmla="*/ 16 w 26"/>
                <a:gd name="T7" fmla="*/ 32 h 32"/>
                <a:gd name="T8" fmla="*/ 16 w 26"/>
                <a:gd name="T9" fmla="*/ 4 h 32"/>
                <a:gd name="T10" fmla="*/ 26 w 26"/>
                <a:gd name="T11" fmla="*/ 4 h 32"/>
                <a:gd name="T12" fmla="*/ 26 w 26"/>
                <a:gd name="T13" fmla="*/ 0 h 32"/>
                <a:gd name="T14" fmla="*/ 0 w 26"/>
                <a:gd name="T15" fmla="*/ 0 h 32"/>
                <a:gd name="T16" fmla="*/ 0 w 26"/>
                <a:gd name="T17" fmla="*/ 4 h 32"/>
                <a:gd name="T18" fmla="*/ 0 w 26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32">
                  <a:moveTo>
                    <a:pt x="0" y="4"/>
                  </a:moveTo>
                  <a:lnTo>
                    <a:pt x="10" y="4"/>
                  </a:lnTo>
                  <a:lnTo>
                    <a:pt x="10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6" y="4"/>
                  </a:lnTo>
                  <a:lnTo>
                    <a:pt x="26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Freeform 14"/>
            <p:cNvSpPr>
              <a:spLocks noEditPoints="1"/>
            </p:cNvSpPr>
            <p:nvPr userDrawn="1"/>
          </p:nvSpPr>
          <p:spPr bwMode="auto">
            <a:xfrm>
              <a:off x="7611177" y="798513"/>
              <a:ext cx="44528" cy="50800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0 w 14"/>
                <a:gd name="T15" fmla="*/ 16 h 16"/>
                <a:gd name="T16" fmla="*/ 14 w 14"/>
                <a:gd name="T17" fmla="*/ 16 h 16"/>
                <a:gd name="T18" fmla="*/ 8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Freeform 15"/>
            <p:cNvSpPr>
              <a:spLocks noEditPoints="1"/>
            </p:cNvSpPr>
            <p:nvPr userDrawn="1"/>
          </p:nvSpPr>
          <p:spPr bwMode="auto">
            <a:xfrm>
              <a:off x="7658886" y="798513"/>
              <a:ext cx="54070" cy="50800"/>
            </a:xfrm>
            <a:custGeom>
              <a:avLst/>
              <a:gdLst>
                <a:gd name="T0" fmla="*/ 18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4 w 34"/>
                <a:gd name="T7" fmla="*/ 32 h 32"/>
                <a:gd name="T8" fmla="*/ 8 w 34"/>
                <a:gd name="T9" fmla="*/ 26 h 32"/>
                <a:gd name="T10" fmla="*/ 24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18 w 34"/>
                <a:gd name="T19" fmla="*/ 0 h 32"/>
                <a:gd name="T20" fmla="*/ 18 w 34"/>
                <a:gd name="T21" fmla="*/ 0 h 32"/>
                <a:gd name="T22" fmla="*/ 22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2 w 34"/>
                <a:gd name="T29" fmla="*/ 20 h 32"/>
                <a:gd name="T30" fmla="*/ 22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18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8" y="26"/>
                  </a:lnTo>
                  <a:lnTo>
                    <a:pt x="24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18" y="0"/>
                  </a:lnTo>
                  <a:lnTo>
                    <a:pt x="18" y="0"/>
                  </a:lnTo>
                  <a:close/>
                  <a:moveTo>
                    <a:pt x="22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2" y="20"/>
                  </a:lnTo>
                  <a:lnTo>
                    <a:pt x="22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Freeform 16"/>
            <p:cNvSpPr>
              <a:spLocks/>
            </p:cNvSpPr>
            <p:nvPr userDrawn="1"/>
          </p:nvSpPr>
          <p:spPr bwMode="auto">
            <a:xfrm>
              <a:off x="7719318" y="798513"/>
              <a:ext cx="34987" cy="50800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Freeform 17"/>
            <p:cNvSpPr>
              <a:spLocks/>
            </p:cNvSpPr>
            <p:nvPr userDrawn="1"/>
          </p:nvSpPr>
          <p:spPr bwMode="auto">
            <a:xfrm>
              <a:off x="7763846" y="798513"/>
              <a:ext cx="6361" cy="50800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Freeform 18"/>
            <p:cNvSpPr>
              <a:spLocks noEditPoints="1"/>
            </p:cNvSpPr>
            <p:nvPr userDrawn="1"/>
          </p:nvSpPr>
          <p:spPr bwMode="auto">
            <a:xfrm>
              <a:off x="7779749" y="798513"/>
              <a:ext cx="52480" cy="50800"/>
            </a:xfrm>
            <a:custGeom>
              <a:avLst/>
              <a:gdLst>
                <a:gd name="T0" fmla="*/ 19 w 33"/>
                <a:gd name="T1" fmla="*/ 0 h 32"/>
                <a:gd name="T2" fmla="*/ 13 w 33"/>
                <a:gd name="T3" fmla="*/ 0 h 32"/>
                <a:gd name="T4" fmla="*/ 0 w 33"/>
                <a:gd name="T5" fmla="*/ 32 h 32"/>
                <a:gd name="T6" fmla="*/ 6 w 33"/>
                <a:gd name="T7" fmla="*/ 32 h 32"/>
                <a:gd name="T8" fmla="*/ 7 w 33"/>
                <a:gd name="T9" fmla="*/ 26 h 32"/>
                <a:gd name="T10" fmla="*/ 25 w 33"/>
                <a:gd name="T11" fmla="*/ 26 h 32"/>
                <a:gd name="T12" fmla="*/ 27 w 33"/>
                <a:gd name="T13" fmla="*/ 32 h 32"/>
                <a:gd name="T14" fmla="*/ 33 w 33"/>
                <a:gd name="T15" fmla="*/ 32 h 32"/>
                <a:gd name="T16" fmla="*/ 19 w 33"/>
                <a:gd name="T17" fmla="*/ 0 h 32"/>
                <a:gd name="T18" fmla="*/ 19 w 33"/>
                <a:gd name="T19" fmla="*/ 0 h 32"/>
                <a:gd name="T20" fmla="*/ 19 w 33"/>
                <a:gd name="T21" fmla="*/ 0 h 32"/>
                <a:gd name="T22" fmla="*/ 23 w 33"/>
                <a:gd name="T23" fmla="*/ 20 h 32"/>
                <a:gd name="T24" fmla="*/ 9 w 33"/>
                <a:gd name="T25" fmla="*/ 20 h 32"/>
                <a:gd name="T26" fmla="*/ 17 w 33"/>
                <a:gd name="T27" fmla="*/ 6 h 32"/>
                <a:gd name="T28" fmla="*/ 23 w 33"/>
                <a:gd name="T29" fmla="*/ 20 h 32"/>
                <a:gd name="T30" fmla="*/ 23 w 33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3" h="32">
                  <a:moveTo>
                    <a:pt x="19" y="0"/>
                  </a:moveTo>
                  <a:lnTo>
                    <a:pt x="13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7" y="26"/>
                  </a:lnTo>
                  <a:lnTo>
                    <a:pt x="25" y="26"/>
                  </a:lnTo>
                  <a:lnTo>
                    <a:pt x="27" y="32"/>
                  </a:lnTo>
                  <a:lnTo>
                    <a:pt x="33" y="32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0"/>
                  </a:lnTo>
                  <a:close/>
                  <a:moveTo>
                    <a:pt x="23" y="20"/>
                  </a:moveTo>
                  <a:lnTo>
                    <a:pt x="9" y="20"/>
                  </a:lnTo>
                  <a:lnTo>
                    <a:pt x="17" y="6"/>
                  </a:lnTo>
                  <a:lnTo>
                    <a:pt x="23" y="20"/>
                  </a:lnTo>
                  <a:lnTo>
                    <a:pt x="23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Freeform 19"/>
            <p:cNvSpPr>
              <a:spLocks/>
            </p:cNvSpPr>
            <p:nvPr userDrawn="1"/>
          </p:nvSpPr>
          <p:spPr bwMode="auto">
            <a:xfrm>
              <a:off x="7841771" y="798513"/>
              <a:ext cx="41348" cy="50800"/>
            </a:xfrm>
            <a:custGeom>
              <a:avLst/>
              <a:gdLst>
                <a:gd name="T0" fmla="*/ 22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2 w 26"/>
                <a:gd name="T19" fmla="*/ 0 h 32"/>
                <a:gd name="T20" fmla="*/ 22 w 26"/>
                <a:gd name="T21" fmla="*/ 22 h 32"/>
                <a:gd name="T22" fmla="*/ 22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2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22" y="22"/>
                  </a:lnTo>
                  <a:lnTo>
                    <a:pt x="22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Freeform 20"/>
            <p:cNvSpPr>
              <a:spLocks/>
            </p:cNvSpPr>
            <p:nvPr userDrawn="1"/>
          </p:nvSpPr>
          <p:spPr bwMode="auto">
            <a:xfrm>
              <a:off x="7921286" y="795338"/>
              <a:ext cx="47709" cy="53975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2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4" y="15"/>
                    <a:pt x="3" y="12"/>
                    <a:pt x="3" y="9"/>
                  </a:cubicBezTo>
                  <a:cubicBezTo>
                    <a:pt x="3" y="6"/>
                    <a:pt x="4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2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Freeform 21"/>
            <p:cNvSpPr>
              <a:spLocks noEditPoints="1"/>
            </p:cNvSpPr>
            <p:nvPr userDrawn="1"/>
          </p:nvSpPr>
          <p:spPr bwMode="auto">
            <a:xfrm>
              <a:off x="7972176" y="798513"/>
              <a:ext cx="54070" cy="50800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8 w 34"/>
                <a:gd name="T9" fmla="*/ 26 h 32"/>
                <a:gd name="T10" fmla="*/ 26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8" y="26"/>
                  </a:lnTo>
                  <a:lnTo>
                    <a:pt x="26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Freeform 22"/>
            <p:cNvSpPr>
              <a:spLocks/>
            </p:cNvSpPr>
            <p:nvPr userDrawn="1"/>
          </p:nvSpPr>
          <p:spPr bwMode="auto">
            <a:xfrm>
              <a:off x="8023065" y="798513"/>
              <a:ext cx="44528" cy="50800"/>
            </a:xfrm>
            <a:custGeom>
              <a:avLst/>
              <a:gdLst>
                <a:gd name="T0" fmla="*/ 0 w 28"/>
                <a:gd name="T1" fmla="*/ 4 h 32"/>
                <a:gd name="T2" fmla="*/ 12 w 28"/>
                <a:gd name="T3" fmla="*/ 4 h 32"/>
                <a:gd name="T4" fmla="*/ 12 w 28"/>
                <a:gd name="T5" fmla="*/ 32 h 32"/>
                <a:gd name="T6" fmla="*/ 16 w 28"/>
                <a:gd name="T7" fmla="*/ 32 h 32"/>
                <a:gd name="T8" fmla="*/ 16 w 28"/>
                <a:gd name="T9" fmla="*/ 4 h 32"/>
                <a:gd name="T10" fmla="*/ 28 w 28"/>
                <a:gd name="T11" fmla="*/ 4 h 32"/>
                <a:gd name="T12" fmla="*/ 28 w 28"/>
                <a:gd name="T13" fmla="*/ 0 h 32"/>
                <a:gd name="T14" fmla="*/ 0 w 28"/>
                <a:gd name="T15" fmla="*/ 0 h 32"/>
                <a:gd name="T16" fmla="*/ 0 w 28"/>
                <a:gd name="T17" fmla="*/ 4 h 32"/>
                <a:gd name="T18" fmla="*/ 0 w 28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32">
                  <a:moveTo>
                    <a:pt x="0" y="4"/>
                  </a:moveTo>
                  <a:lnTo>
                    <a:pt x="12" y="4"/>
                  </a:lnTo>
                  <a:lnTo>
                    <a:pt x="12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8" y="4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" name="Freeform 23"/>
            <p:cNvSpPr>
              <a:spLocks/>
            </p:cNvSpPr>
            <p:nvPr userDrawn="1"/>
          </p:nvSpPr>
          <p:spPr bwMode="auto">
            <a:xfrm>
              <a:off x="8073955" y="798513"/>
              <a:ext cx="44528" cy="50800"/>
            </a:xfrm>
            <a:custGeom>
              <a:avLst/>
              <a:gdLst>
                <a:gd name="T0" fmla="*/ 22 w 28"/>
                <a:gd name="T1" fmla="*/ 12 h 32"/>
                <a:gd name="T2" fmla="*/ 6 w 28"/>
                <a:gd name="T3" fmla="*/ 12 h 32"/>
                <a:gd name="T4" fmla="*/ 6 w 28"/>
                <a:gd name="T5" fmla="*/ 0 h 32"/>
                <a:gd name="T6" fmla="*/ 0 w 28"/>
                <a:gd name="T7" fmla="*/ 0 h 32"/>
                <a:gd name="T8" fmla="*/ 0 w 28"/>
                <a:gd name="T9" fmla="*/ 32 h 32"/>
                <a:gd name="T10" fmla="*/ 6 w 28"/>
                <a:gd name="T11" fmla="*/ 32 h 32"/>
                <a:gd name="T12" fmla="*/ 6 w 28"/>
                <a:gd name="T13" fmla="*/ 18 h 32"/>
                <a:gd name="T14" fmla="*/ 22 w 28"/>
                <a:gd name="T15" fmla="*/ 18 h 32"/>
                <a:gd name="T16" fmla="*/ 22 w 28"/>
                <a:gd name="T17" fmla="*/ 32 h 32"/>
                <a:gd name="T18" fmla="*/ 28 w 28"/>
                <a:gd name="T19" fmla="*/ 32 h 32"/>
                <a:gd name="T20" fmla="*/ 28 w 28"/>
                <a:gd name="T21" fmla="*/ 0 h 32"/>
                <a:gd name="T22" fmla="*/ 22 w 28"/>
                <a:gd name="T23" fmla="*/ 0 h 32"/>
                <a:gd name="T24" fmla="*/ 22 w 28"/>
                <a:gd name="T25" fmla="*/ 12 h 32"/>
                <a:gd name="T26" fmla="*/ 22 w 28"/>
                <a:gd name="T27" fmla="*/ 1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2">
                  <a:moveTo>
                    <a:pt x="22" y="12"/>
                  </a:moveTo>
                  <a:lnTo>
                    <a:pt x="6" y="1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6" y="18"/>
                  </a:lnTo>
                  <a:lnTo>
                    <a:pt x="22" y="18"/>
                  </a:lnTo>
                  <a:lnTo>
                    <a:pt x="22" y="32"/>
                  </a:lnTo>
                  <a:lnTo>
                    <a:pt x="28" y="32"/>
                  </a:lnTo>
                  <a:lnTo>
                    <a:pt x="28" y="0"/>
                  </a:lnTo>
                  <a:lnTo>
                    <a:pt x="22" y="0"/>
                  </a:lnTo>
                  <a:lnTo>
                    <a:pt x="22" y="12"/>
                  </a:lnTo>
                  <a:lnTo>
                    <a:pt x="22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Freeform 24"/>
            <p:cNvSpPr>
              <a:spLocks noEditPoints="1"/>
            </p:cNvSpPr>
            <p:nvPr userDrawn="1"/>
          </p:nvSpPr>
          <p:spPr bwMode="auto">
            <a:xfrm>
              <a:off x="8128025" y="795338"/>
              <a:ext cx="50890" cy="53975"/>
            </a:xfrm>
            <a:custGeom>
              <a:avLst/>
              <a:gdLst>
                <a:gd name="T0" fmla="*/ 8 w 16"/>
                <a:gd name="T1" fmla="*/ 0 h 17"/>
                <a:gd name="T2" fmla="*/ 0 w 16"/>
                <a:gd name="T3" fmla="*/ 9 h 17"/>
                <a:gd name="T4" fmla="*/ 8 w 16"/>
                <a:gd name="T5" fmla="*/ 17 h 17"/>
                <a:gd name="T6" fmla="*/ 16 w 16"/>
                <a:gd name="T7" fmla="*/ 9 h 17"/>
                <a:gd name="T8" fmla="*/ 8 w 16"/>
                <a:gd name="T9" fmla="*/ 0 h 17"/>
                <a:gd name="T10" fmla="*/ 8 w 16"/>
                <a:gd name="T11" fmla="*/ 15 h 17"/>
                <a:gd name="T12" fmla="*/ 2 w 16"/>
                <a:gd name="T13" fmla="*/ 9 h 17"/>
                <a:gd name="T14" fmla="*/ 8 w 16"/>
                <a:gd name="T15" fmla="*/ 3 h 17"/>
                <a:gd name="T16" fmla="*/ 14 w 16"/>
                <a:gd name="T17" fmla="*/ 9 h 17"/>
                <a:gd name="T18" fmla="*/ 8 w 16"/>
                <a:gd name="T19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17"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2" y="17"/>
                    <a:pt x="8" y="17"/>
                  </a:cubicBezTo>
                  <a:cubicBezTo>
                    <a:pt x="14" y="17"/>
                    <a:pt x="16" y="13"/>
                    <a:pt x="16" y="9"/>
                  </a:cubicBezTo>
                  <a:cubicBezTo>
                    <a:pt x="16" y="5"/>
                    <a:pt x="14" y="0"/>
                    <a:pt x="8" y="0"/>
                  </a:cubicBezTo>
                  <a:close/>
                  <a:moveTo>
                    <a:pt x="8" y="15"/>
                  </a:moveTo>
                  <a:cubicBezTo>
                    <a:pt x="4" y="15"/>
                    <a:pt x="2" y="12"/>
                    <a:pt x="2" y="9"/>
                  </a:cubicBezTo>
                  <a:cubicBezTo>
                    <a:pt x="2" y="6"/>
                    <a:pt x="4" y="3"/>
                    <a:pt x="8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5"/>
                    <a:pt x="8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Freeform 25"/>
            <p:cNvSpPr>
              <a:spLocks/>
            </p:cNvSpPr>
            <p:nvPr userDrawn="1"/>
          </p:nvSpPr>
          <p:spPr bwMode="auto">
            <a:xfrm>
              <a:off x="8188456" y="798513"/>
              <a:ext cx="34987" cy="50800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Freeform 26"/>
            <p:cNvSpPr>
              <a:spLocks/>
            </p:cNvSpPr>
            <p:nvPr userDrawn="1"/>
          </p:nvSpPr>
          <p:spPr bwMode="auto">
            <a:xfrm>
              <a:off x="8232985" y="798513"/>
              <a:ext cx="6361" cy="50800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Freeform 27"/>
            <p:cNvSpPr>
              <a:spLocks/>
            </p:cNvSpPr>
            <p:nvPr userDrawn="1"/>
          </p:nvSpPr>
          <p:spPr bwMode="auto">
            <a:xfrm>
              <a:off x="8248888" y="795338"/>
              <a:ext cx="47709" cy="53975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3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5" y="15"/>
                    <a:pt x="3" y="12"/>
                    <a:pt x="3" y="9"/>
                  </a:cubicBezTo>
                  <a:cubicBezTo>
                    <a:pt x="3" y="6"/>
                    <a:pt x="5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Freeform 28"/>
            <p:cNvSpPr>
              <a:spLocks/>
            </p:cNvSpPr>
            <p:nvPr userDrawn="1"/>
          </p:nvSpPr>
          <p:spPr bwMode="auto">
            <a:xfrm>
              <a:off x="8331584" y="798513"/>
              <a:ext cx="41348" cy="50800"/>
            </a:xfrm>
            <a:custGeom>
              <a:avLst/>
              <a:gdLst>
                <a:gd name="T0" fmla="*/ 11 w 13"/>
                <a:gd name="T1" fmla="*/ 9 h 16"/>
                <a:gd name="T2" fmla="*/ 7 w 13"/>
                <a:gd name="T3" fmla="*/ 14 h 16"/>
                <a:gd name="T4" fmla="*/ 2 w 13"/>
                <a:gd name="T5" fmla="*/ 9 h 16"/>
                <a:gd name="T6" fmla="*/ 2 w 13"/>
                <a:gd name="T7" fmla="*/ 0 h 16"/>
                <a:gd name="T8" fmla="*/ 0 w 13"/>
                <a:gd name="T9" fmla="*/ 0 h 16"/>
                <a:gd name="T10" fmla="*/ 0 w 13"/>
                <a:gd name="T11" fmla="*/ 9 h 16"/>
                <a:gd name="T12" fmla="*/ 7 w 13"/>
                <a:gd name="T13" fmla="*/ 16 h 16"/>
                <a:gd name="T14" fmla="*/ 13 w 13"/>
                <a:gd name="T15" fmla="*/ 9 h 16"/>
                <a:gd name="T16" fmla="*/ 13 w 13"/>
                <a:gd name="T17" fmla="*/ 0 h 16"/>
                <a:gd name="T18" fmla="*/ 11 w 13"/>
                <a:gd name="T19" fmla="*/ 0 h 16"/>
                <a:gd name="T20" fmla="*/ 11 w 13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2" y="12"/>
                    <a:pt x="2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3" y="16"/>
                    <a:pt x="7" y="16"/>
                  </a:cubicBezTo>
                  <a:cubicBezTo>
                    <a:pt x="10" y="16"/>
                    <a:pt x="13" y="14"/>
                    <a:pt x="13" y="9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" name="Freeform 29"/>
            <p:cNvSpPr>
              <a:spLocks/>
            </p:cNvSpPr>
            <p:nvPr userDrawn="1"/>
          </p:nvSpPr>
          <p:spPr bwMode="auto">
            <a:xfrm>
              <a:off x="8388834" y="798513"/>
              <a:ext cx="41348" cy="50800"/>
            </a:xfrm>
            <a:custGeom>
              <a:avLst/>
              <a:gdLst>
                <a:gd name="T0" fmla="*/ 20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0 w 26"/>
                <a:gd name="T19" fmla="*/ 0 h 32"/>
                <a:gd name="T20" fmla="*/ 20 w 26"/>
                <a:gd name="T21" fmla="*/ 22 h 32"/>
                <a:gd name="T22" fmla="*/ 20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0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20" y="22"/>
                  </a:lnTo>
                  <a:lnTo>
                    <a:pt x="20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Freeform 30"/>
            <p:cNvSpPr>
              <a:spLocks/>
            </p:cNvSpPr>
            <p:nvPr userDrawn="1"/>
          </p:nvSpPr>
          <p:spPr bwMode="auto">
            <a:xfrm>
              <a:off x="8442905" y="798513"/>
              <a:ext cx="9542" cy="50800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" name="Freeform 31"/>
            <p:cNvSpPr>
              <a:spLocks/>
            </p:cNvSpPr>
            <p:nvPr userDrawn="1"/>
          </p:nvSpPr>
          <p:spPr bwMode="auto">
            <a:xfrm>
              <a:off x="8461988" y="798513"/>
              <a:ext cx="50890" cy="50800"/>
            </a:xfrm>
            <a:custGeom>
              <a:avLst/>
              <a:gdLst>
                <a:gd name="T0" fmla="*/ 6 w 32"/>
                <a:gd name="T1" fmla="*/ 0 h 32"/>
                <a:gd name="T2" fmla="*/ 0 w 32"/>
                <a:gd name="T3" fmla="*/ 0 h 32"/>
                <a:gd name="T4" fmla="*/ 12 w 32"/>
                <a:gd name="T5" fmla="*/ 32 h 32"/>
                <a:gd name="T6" fmla="*/ 18 w 32"/>
                <a:gd name="T7" fmla="*/ 32 h 32"/>
                <a:gd name="T8" fmla="*/ 32 w 32"/>
                <a:gd name="T9" fmla="*/ 0 h 32"/>
                <a:gd name="T10" fmla="*/ 26 w 32"/>
                <a:gd name="T11" fmla="*/ 0 h 32"/>
                <a:gd name="T12" fmla="*/ 16 w 32"/>
                <a:gd name="T13" fmla="*/ 26 h 32"/>
                <a:gd name="T14" fmla="*/ 6 w 32"/>
                <a:gd name="T15" fmla="*/ 0 h 32"/>
                <a:gd name="T16" fmla="*/ 6 w 32"/>
                <a:gd name="T1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2">
                  <a:moveTo>
                    <a:pt x="6" y="0"/>
                  </a:moveTo>
                  <a:lnTo>
                    <a:pt x="0" y="0"/>
                  </a:lnTo>
                  <a:lnTo>
                    <a:pt x="12" y="32"/>
                  </a:lnTo>
                  <a:lnTo>
                    <a:pt x="18" y="32"/>
                  </a:lnTo>
                  <a:lnTo>
                    <a:pt x="32" y="0"/>
                  </a:lnTo>
                  <a:lnTo>
                    <a:pt x="26" y="0"/>
                  </a:lnTo>
                  <a:lnTo>
                    <a:pt x="16" y="2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Freeform 32"/>
            <p:cNvSpPr>
              <a:spLocks/>
            </p:cNvSpPr>
            <p:nvPr userDrawn="1"/>
          </p:nvSpPr>
          <p:spPr bwMode="auto">
            <a:xfrm>
              <a:off x="8519239" y="798513"/>
              <a:ext cx="38167" cy="50800"/>
            </a:xfrm>
            <a:custGeom>
              <a:avLst/>
              <a:gdLst>
                <a:gd name="T0" fmla="*/ 6 w 24"/>
                <a:gd name="T1" fmla="*/ 18 h 32"/>
                <a:gd name="T2" fmla="*/ 24 w 24"/>
                <a:gd name="T3" fmla="*/ 18 h 32"/>
                <a:gd name="T4" fmla="*/ 24 w 24"/>
                <a:gd name="T5" fmla="*/ 12 h 32"/>
                <a:gd name="T6" fmla="*/ 6 w 24"/>
                <a:gd name="T7" fmla="*/ 12 h 32"/>
                <a:gd name="T8" fmla="*/ 6 w 24"/>
                <a:gd name="T9" fmla="*/ 4 h 32"/>
                <a:gd name="T10" fmla="*/ 24 w 24"/>
                <a:gd name="T11" fmla="*/ 4 h 32"/>
                <a:gd name="T12" fmla="*/ 24 w 24"/>
                <a:gd name="T13" fmla="*/ 0 h 32"/>
                <a:gd name="T14" fmla="*/ 0 w 24"/>
                <a:gd name="T15" fmla="*/ 0 h 32"/>
                <a:gd name="T16" fmla="*/ 0 w 24"/>
                <a:gd name="T17" fmla="*/ 32 h 32"/>
                <a:gd name="T18" fmla="*/ 24 w 24"/>
                <a:gd name="T19" fmla="*/ 32 h 32"/>
                <a:gd name="T20" fmla="*/ 24 w 24"/>
                <a:gd name="T21" fmla="*/ 26 h 32"/>
                <a:gd name="T22" fmla="*/ 6 w 24"/>
                <a:gd name="T23" fmla="*/ 26 h 32"/>
                <a:gd name="T24" fmla="*/ 6 w 24"/>
                <a:gd name="T25" fmla="*/ 18 h 32"/>
                <a:gd name="T26" fmla="*/ 6 w 24"/>
                <a:gd name="T27" fmla="*/ 1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" h="32">
                  <a:moveTo>
                    <a:pt x="6" y="18"/>
                  </a:moveTo>
                  <a:lnTo>
                    <a:pt x="24" y="18"/>
                  </a:lnTo>
                  <a:lnTo>
                    <a:pt x="24" y="12"/>
                  </a:lnTo>
                  <a:lnTo>
                    <a:pt x="6" y="12"/>
                  </a:lnTo>
                  <a:lnTo>
                    <a:pt x="6" y="4"/>
                  </a:lnTo>
                  <a:lnTo>
                    <a:pt x="24" y="4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24" y="32"/>
                  </a:lnTo>
                  <a:lnTo>
                    <a:pt x="24" y="26"/>
                  </a:lnTo>
                  <a:lnTo>
                    <a:pt x="6" y="26"/>
                  </a:lnTo>
                  <a:lnTo>
                    <a:pt x="6" y="18"/>
                  </a:lnTo>
                  <a:lnTo>
                    <a:pt x="6" y="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Freeform 33"/>
            <p:cNvSpPr>
              <a:spLocks noEditPoints="1"/>
            </p:cNvSpPr>
            <p:nvPr userDrawn="1"/>
          </p:nvSpPr>
          <p:spPr bwMode="auto">
            <a:xfrm>
              <a:off x="8570129" y="798513"/>
              <a:ext cx="44528" cy="50800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1 w 14"/>
                <a:gd name="T15" fmla="*/ 16 h 16"/>
                <a:gd name="T16" fmla="*/ 14 w 14"/>
                <a:gd name="T17" fmla="*/ 16 h 16"/>
                <a:gd name="T18" fmla="*/ 9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" name="Freeform 34"/>
            <p:cNvSpPr>
              <a:spLocks/>
            </p:cNvSpPr>
            <p:nvPr userDrawn="1"/>
          </p:nvSpPr>
          <p:spPr bwMode="auto">
            <a:xfrm>
              <a:off x="8617838" y="795338"/>
              <a:ext cx="44528" cy="53975"/>
            </a:xfrm>
            <a:custGeom>
              <a:avLst/>
              <a:gdLst>
                <a:gd name="T0" fmla="*/ 8 w 14"/>
                <a:gd name="T1" fmla="*/ 7 h 17"/>
                <a:gd name="T2" fmla="*/ 4 w 14"/>
                <a:gd name="T3" fmla="*/ 5 h 17"/>
                <a:gd name="T4" fmla="*/ 7 w 14"/>
                <a:gd name="T5" fmla="*/ 3 h 17"/>
                <a:gd name="T6" fmla="*/ 12 w 14"/>
                <a:gd name="T7" fmla="*/ 5 h 17"/>
                <a:gd name="T8" fmla="*/ 12 w 14"/>
                <a:gd name="T9" fmla="*/ 5 h 17"/>
                <a:gd name="T10" fmla="*/ 14 w 14"/>
                <a:gd name="T11" fmla="*/ 4 h 17"/>
                <a:gd name="T12" fmla="*/ 14 w 14"/>
                <a:gd name="T13" fmla="*/ 3 h 17"/>
                <a:gd name="T14" fmla="*/ 7 w 14"/>
                <a:gd name="T15" fmla="*/ 0 h 17"/>
                <a:gd name="T16" fmla="*/ 2 w 14"/>
                <a:gd name="T17" fmla="*/ 2 h 17"/>
                <a:gd name="T18" fmla="*/ 1 w 14"/>
                <a:gd name="T19" fmla="*/ 5 h 17"/>
                <a:gd name="T20" fmla="*/ 7 w 14"/>
                <a:gd name="T21" fmla="*/ 10 h 17"/>
                <a:gd name="T22" fmla="*/ 12 w 14"/>
                <a:gd name="T23" fmla="*/ 12 h 17"/>
                <a:gd name="T24" fmla="*/ 7 w 14"/>
                <a:gd name="T25" fmla="*/ 15 h 17"/>
                <a:gd name="T26" fmla="*/ 3 w 14"/>
                <a:gd name="T27" fmla="*/ 12 h 17"/>
                <a:gd name="T28" fmla="*/ 2 w 14"/>
                <a:gd name="T29" fmla="*/ 12 h 17"/>
                <a:gd name="T30" fmla="*/ 0 w 14"/>
                <a:gd name="T31" fmla="*/ 13 h 17"/>
                <a:gd name="T32" fmla="*/ 0 w 14"/>
                <a:gd name="T33" fmla="*/ 14 h 17"/>
                <a:gd name="T34" fmla="*/ 7 w 14"/>
                <a:gd name="T35" fmla="*/ 17 h 17"/>
                <a:gd name="T36" fmla="*/ 14 w 14"/>
                <a:gd name="T37" fmla="*/ 12 h 17"/>
                <a:gd name="T38" fmla="*/ 8 w 14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17">
                  <a:moveTo>
                    <a:pt x="8" y="7"/>
                  </a:moveTo>
                  <a:cubicBezTo>
                    <a:pt x="5" y="7"/>
                    <a:pt x="4" y="6"/>
                    <a:pt x="4" y="5"/>
                  </a:cubicBezTo>
                  <a:cubicBezTo>
                    <a:pt x="4" y="4"/>
                    <a:pt x="5" y="3"/>
                    <a:pt x="7" y="3"/>
                  </a:cubicBezTo>
                  <a:cubicBezTo>
                    <a:pt x="9" y="3"/>
                    <a:pt x="11" y="3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6" y="0"/>
                    <a:pt x="3" y="1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5" y="9"/>
                    <a:pt x="7" y="10"/>
                  </a:cubicBezTo>
                  <a:cubicBezTo>
                    <a:pt x="10" y="10"/>
                    <a:pt x="12" y="11"/>
                    <a:pt x="12" y="12"/>
                  </a:cubicBezTo>
                  <a:cubicBezTo>
                    <a:pt x="12" y="15"/>
                    <a:pt x="8" y="15"/>
                    <a:pt x="7" y="15"/>
                  </a:cubicBezTo>
                  <a:cubicBezTo>
                    <a:pt x="6" y="15"/>
                    <a:pt x="4" y="14"/>
                    <a:pt x="3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6"/>
                    <a:pt x="4" y="17"/>
                    <a:pt x="7" y="17"/>
                  </a:cubicBezTo>
                  <a:cubicBezTo>
                    <a:pt x="11" y="17"/>
                    <a:pt x="14" y="16"/>
                    <a:pt x="14" y="12"/>
                  </a:cubicBezTo>
                  <a:cubicBezTo>
                    <a:pt x="14" y="9"/>
                    <a:pt x="11" y="8"/>
                    <a:pt x="8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" name="Freeform 35"/>
            <p:cNvSpPr>
              <a:spLocks/>
            </p:cNvSpPr>
            <p:nvPr userDrawn="1"/>
          </p:nvSpPr>
          <p:spPr bwMode="auto">
            <a:xfrm>
              <a:off x="8671908" y="798513"/>
              <a:ext cx="9542" cy="50800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" name="Freeform 36"/>
            <p:cNvSpPr>
              <a:spLocks/>
            </p:cNvSpPr>
            <p:nvPr userDrawn="1"/>
          </p:nvSpPr>
          <p:spPr bwMode="auto">
            <a:xfrm>
              <a:off x="8690991" y="798513"/>
              <a:ext cx="84286" cy="50800"/>
            </a:xfrm>
            <a:custGeom>
              <a:avLst/>
              <a:gdLst>
                <a:gd name="T0" fmla="*/ 29 w 53"/>
                <a:gd name="T1" fmla="*/ 0 h 32"/>
                <a:gd name="T2" fmla="*/ 0 w 53"/>
                <a:gd name="T3" fmla="*/ 0 h 32"/>
                <a:gd name="T4" fmla="*/ 0 w 53"/>
                <a:gd name="T5" fmla="*/ 4 h 32"/>
                <a:gd name="T6" fmla="*/ 9 w 53"/>
                <a:gd name="T7" fmla="*/ 4 h 32"/>
                <a:gd name="T8" fmla="*/ 9 w 53"/>
                <a:gd name="T9" fmla="*/ 32 h 32"/>
                <a:gd name="T10" fmla="*/ 15 w 53"/>
                <a:gd name="T11" fmla="*/ 32 h 32"/>
                <a:gd name="T12" fmla="*/ 15 w 53"/>
                <a:gd name="T13" fmla="*/ 4 h 32"/>
                <a:gd name="T14" fmla="*/ 25 w 53"/>
                <a:gd name="T15" fmla="*/ 4 h 32"/>
                <a:gd name="T16" fmla="*/ 35 w 53"/>
                <a:gd name="T17" fmla="*/ 18 h 32"/>
                <a:gd name="T18" fmla="*/ 35 w 53"/>
                <a:gd name="T19" fmla="*/ 32 h 32"/>
                <a:gd name="T20" fmla="*/ 41 w 53"/>
                <a:gd name="T21" fmla="*/ 32 h 32"/>
                <a:gd name="T22" fmla="*/ 41 w 53"/>
                <a:gd name="T23" fmla="*/ 18 h 32"/>
                <a:gd name="T24" fmla="*/ 53 w 53"/>
                <a:gd name="T25" fmla="*/ 0 h 32"/>
                <a:gd name="T26" fmla="*/ 53 w 53"/>
                <a:gd name="T27" fmla="*/ 0 h 32"/>
                <a:gd name="T28" fmla="*/ 53 w 53"/>
                <a:gd name="T29" fmla="*/ 0 h 32"/>
                <a:gd name="T30" fmla="*/ 47 w 53"/>
                <a:gd name="T31" fmla="*/ 0 h 32"/>
                <a:gd name="T32" fmla="*/ 37 w 53"/>
                <a:gd name="T33" fmla="*/ 14 h 32"/>
                <a:gd name="T34" fmla="*/ 29 w 53"/>
                <a:gd name="T35" fmla="*/ 0 h 32"/>
                <a:gd name="T36" fmla="*/ 29 w 53"/>
                <a:gd name="T3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3" h="32">
                  <a:moveTo>
                    <a:pt x="29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9" y="4"/>
                  </a:lnTo>
                  <a:lnTo>
                    <a:pt x="9" y="32"/>
                  </a:lnTo>
                  <a:lnTo>
                    <a:pt x="15" y="32"/>
                  </a:lnTo>
                  <a:lnTo>
                    <a:pt x="15" y="4"/>
                  </a:lnTo>
                  <a:lnTo>
                    <a:pt x="25" y="4"/>
                  </a:lnTo>
                  <a:lnTo>
                    <a:pt x="35" y="18"/>
                  </a:lnTo>
                  <a:lnTo>
                    <a:pt x="35" y="32"/>
                  </a:lnTo>
                  <a:lnTo>
                    <a:pt x="41" y="32"/>
                  </a:lnTo>
                  <a:lnTo>
                    <a:pt x="41" y="18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47" y="0"/>
                  </a:lnTo>
                  <a:lnTo>
                    <a:pt x="37" y="14"/>
                  </a:lnTo>
                  <a:lnTo>
                    <a:pt x="29" y="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Freeform 37"/>
            <p:cNvSpPr>
              <a:spLocks/>
            </p:cNvSpPr>
            <p:nvPr userDrawn="1"/>
          </p:nvSpPr>
          <p:spPr bwMode="auto">
            <a:xfrm>
              <a:off x="8484252" y="371475"/>
              <a:ext cx="291025" cy="363538"/>
            </a:xfrm>
            <a:custGeom>
              <a:avLst/>
              <a:gdLst>
                <a:gd name="T0" fmla="*/ 92 w 92"/>
                <a:gd name="T1" fmla="*/ 0 h 115"/>
                <a:gd name="T2" fmla="*/ 92 w 92"/>
                <a:gd name="T3" fmla="*/ 71 h 115"/>
                <a:gd name="T4" fmla="*/ 49 w 92"/>
                <a:gd name="T5" fmla="*/ 115 h 115"/>
                <a:gd name="T6" fmla="*/ 0 w 92"/>
                <a:gd name="T7" fmla="*/ 70 h 115"/>
                <a:gd name="T8" fmla="*/ 0 w 92"/>
                <a:gd name="T9" fmla="*/ 0 h 115"/>
                <a:gd name="T10" fmla="*/ 22 w 92"/>
                <a:gd name="T11" fmla="*/ 0 h 115"/>
                <a:gd name="T12" fmla="*/ 22 w 92"/>
                <a:gd name="T13" fmla="*/ 72 h 115"/>
                <a:gd name="T14" fmla="*/ 50 w 92"/>
                <a:gd name="T15" fmla="*/ 105 h 115"/>
                <a:gd name="T16" fmla="*/ 79 w 92"/>
                <a:gd name="T17" fmla="*/ 73 h 115"/>
                <a:gd name="T18" fmla="*/ 79 w 92"/>
                <a:gd name="T19" fmla="*/ 0 h 115"/>
                <a:gd name="T20" fmla="*/ 92 w 92"/>
                <a:gd name="T21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5">
                  <a:moveTo>
                    <a:pt x="92" y="0"/>
                  </a:moveTo>
                  <a:cubicBezTo>
                    <a:pt x="92" y="71"/>
                    <a:pt x="92" y="71"/>
                    <a:pt x="92" y="71"/>
                  </a:cubicBezTo>
                  <a:cubicBezTo>
                    <a:pt x="92" y="109"/>
                    <a:pt x="62" y="115"/>
                    <a:pt x="49" y="115"/>
                  </a:cubicBezTo>
                  <a:cubicBezTo>
                    <a:pt x="25" y="115"/>
                    <a:pt x="0" y="107"/>
                    <a:pt x="0" y="7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2" y="93"/>
                    <a:pt x="32" y="105"/>
                    <a:pt x="50" y="105"/>
                  </a:cubicBezTo>
                  <a:cubicBezTo>
                    <a:pt x="66" y="105"/>
                    <a:pt x="79" y="95"/>
                    <a:pt x="79" y="73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92" y="0"/>
                    <a:pt x="92" y="0"/>
                    <a:pt x="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Freeform 38"/>
            <p:cNvSpPr>
              <a:spLocks/>
            </p:cNvSpPr>
            <p:nvPr userDrawn="1"/>
          </p:nvSpPr>
          <p:spPr bwMode="auto">
            <a:xfrm>
              <a:off x="8096219" y="365125"/>
              <a:ext cx="337144" cy="369888"/>
            </a:xfrm>
            <a:custGeom>
              <a:avLst/>
              <a:gdLst>
                <a:gd name="T0" fmla="*/ 61 w 106"/>
                <a:gd name="T1" fmla="*/ 117 h 117"/>
                <a:gd name="T2" fmla="*/ 0 w 106"/>
                <a:gd name="T3" fmla="*/ 60 h 117"/>
                <a:gd name="T4" fmla="*/ 63 w 106"/>
                <a:gd name="T5" fmla="*/ 0 h 117"/>
                <a:gd name="T6" fmla="*/ 97 w 106"/>
                <a:gd name="T7" fmla="*/ 13 h 117"/>
                <a:gd name="T8" fmla="*/ 106 w 106"/>
                <a:gd name="T9" fmla="*/ 28 h 117"/>
                <a:gd name="T10" fmla="*/ 94 w 106"/>
                <a:gd name="T11" fmla="*/ 39 h 117"/>
                <a:gd name="T12" fmla="*/ 83 w 106"/>
                <a:gd name="T13" fmla="*/ 28 h 117"/>
                <a:gd name="T14" fmla="*/ 86 w 106"/>
                <a:gd name="T15" fmla="*/ 20 h 117"/>
                <a:gd name="T16" fmla="*/ 63 w 106"/>
                <a:gd name="T17" fmla="*/ 10 h 117"/>
                <a:gd name="T18" fmla="*/ 21 w 106"/>
                <a:gd name="T19" fmla="*/ 58 h 117"/>
                <a:gd name="T20" fmla="*/ 65 w 106"/>
                <a:gd name="T21" fmla="*/ 108 h 117"/>
                <a:gd name="T22" fmla="*/ 102 w 106"/>
                <a:gd name="T23" fmla="*/ 93 h 117"/>
                <a:gd name="T24" fmla="*/ 106 w 106"/>
                <a:gd name="T25" fmla="*/ 99 h 117"/>
                <a:gd name="T26" fmla="*/ 61 w 106"/>
                <a:gd name="T2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6" h="117">
                  <a:moveTo>
                    <a:pt x="61" y="117"/>
                  </a:moveTo>
                  <a:cubicBezTo>
                    <a:pt x="23" y="117"/>
                    <a:pt x="0" y="91"/>
                    <a:pt x="0" y="60"/>
                  </a:cubicBezTo>
                  <a:cubicBezTo>
                    <a:pt x="0" y="29"/>
                    <a:pt x="24" y="0"/>
                    <a:pt x="63" y="0"/>
                  </a:cubicBezTo>
                  <a:cubicBezTo>
                    <a:pt x="74" y="0"/>
                    <a:pt x="88" y="4"/>
                    <a:pt x="97" y="13"/>
                  </a:cubicBezTo>
                  <a:cubicBezTo>
                    <a:pt x="102" y="16"/>
                    <a:pt x="106" y="23"/>
                    <a:pt x="106" y="28"/>
                  </a:cubicBezTo>
                  <a:cubicBezTo>
                    <a:pt x="106" y="34"/>
                    <a:pt x="101" y="39"/>
                    <a:pt x="94" y="39"/>
                  </a:cubicBezTo>
                  <a:cubicBezTo>
                    <a:pt x="88" y="39"/>
                    <a:pt x="83" y="34"/>
                    <a:pt x="83" y="28"/>
                  </a:cubicBezTo>
                  <a:cubicBezTo>
                    <a:pt x="83" y="25"/>
                    <a:pt x="84" y="22"/>
                    <a:pt x="86" y="20"/>
                  </a:cubicBezTo>
                  <a:cubicBezTo>
                    <a:pt x="81" y="14"/>
                    <a:pt x="71" y="10"/>
                    <a:pt x="63" y="10"/>
                  </a:cubicBezTo>
                  <a:cubicBezTo>
                    <a:pt x="36" y="10"/>
                    <a:pt x="21" y="35"/>
                    <a:pt x="21" y="58"/>
                  </a:cubicBezTo>
                  <a:cubicBezTo>
                    <a:pt x="21" y="85"/>
                    <a:pt x="38" y="108"/>
                    <a:pt x="65" y="108"/>
                  </a:cubicBezTo>
                  <a:cubicBezTo>
                    <a:pt x="79" y="108"/>
                    <a:pt x="90" y="102"/>
                    <a:pt x="102" y="93"/>
                  </a:cubicBezTo>
                  <a:cubicBezTo>
                    <a:pt x="106" y="99"/>
                    <a:pt x="106" y="99"/>
                    <a:pt x="106" y="99"/>
                  </a:cubicBezTo>
                  <a:cubicBezTo>
                    <a:pt x="94" y="111"/>
                    <a:pt x="77" y="117"/>
                    <a:pt x="61" y="1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Freeform 39"/>
            <p:cNvSpPr>
              <a:spLocks noEditPoints="1"/>
            </p:cNvSpPr>
            <p:nvPr userDrawn="1"/>
          </p:nvSpPr>
          <p:spPr bwMode="auto">
            <a:xfrm>
              <a:off x="7760666" y="371475"/>
              <a:ext cx="329192" cy="357188"/>
            </a:xfrm>
            <a:custGeom>
              <a:avLst/>
              <a:gdLst>
                <a:gd name="T0" fmla="*/ 163 w 207"/>
                <a:gd name="T1" fmla="*/ 225 h 225"/>
                <a:gd name="T2" fmla="*/ 207 w 207"/>
                <a:gd name="T3" fmla="*/ 225 h 225"/>
                <a:gd name="T4" fmla="*/ 119 w 207"/>
                <a:gd name="T5" fmla="*/ 0 h 225"/>
                <a:gd name="T6" fmla="*/ 85 w 207"/>
                <a:gd name="T7" fmla="*/ 0 h 225"/>
                <a:gd name="T8" fmla="*/ 0 w 207"/>
                <a:gd name="T9" fmla="*/ 225 h 225"/>
                <a:gd name="T10" fmla="*/ 21 w 207"/>
                <a:gd name="T11" fmla="*/ 225 h 225"/>
                <a:gd name="T12" fmla="*/ 47 w 207"/>
                <a:gd name="T13" fmla="*/ 161 h 225"/>
                <a:gd name="T14" fmla="*/ 139 w 207"/>
                <a:gd name="T15" fmla="*/ 161 h 225"/>
                <a:gd name="T16" fmla="*/ 163 w 207"/>
                <a:gd name="T17" fmla="*/ 225 h 225"/>
                <a:gd name="T18" fmla="*/ 163 w 207"/>
                <a:gd name="T19" fmla="*/ 225 h 225"/>
                <a:gd name="T20" fmla="*/ 53 w 207"/>
                <a:gd name="T21" fmla="*/ 141 h 225"/>
                <a:gd name="T22" fmla="*/ 93 w 207"/>
                <a:gd name="T23" fmla="*/ 36 h 225"/>
                <a:gd name="T24" fmla="*/ 133 w 207"/>
                <a:gd name="T25" fmla="*/ 141 h 225"/>
                <a:gd name="T26" fmla="*/ 53 w 207"/>
                <a:gd name="T27" fmla="*/ 141 h 225"/>
                <a:gd name="T28" fmla="*/ 53 w 207"/>
                <a:gd name="T29" fmla="*/ 14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7" h="225">
                  <a:moveTo>
                    <a:pt x="163" y="225"/>
                  </a:moveTo>
                  <a:lnTo>
                    <a:pt x="207" y="225"/>
                  </a:lnTo>
                  <a:lnTo>
                    <a:pt x="119" y="0"/>
                  </a:lnTo>
                  <a:lnTo>
                    <a:pt x="85" y="0"/>
                  </a:lnTo>
                  <a:lnTo>
                    <a:pt x="0" y="225"/>
                  </a:lnTo>
                  <a:lnTo>
                    <a:pt x="21" y="225"/>
                  </a:lnTo>
                  <a:lnTo>
                    <a:pt x="47" y="161"/>
                  </a:lnTo>
                  <a:lnTo>
                    <a:pt x="139" y="161"/>
                  </a:lnTo>
                  <a:lnTo>
                    <a:pt x="163" y="225"/>
                  </a:lnTo>
                  <a:lnTo>
                    <a:pt x="163" y="225"/>
                  </a:lnTo>
                  <a:close/>
                  <a:moveTo>
                    <a:pt x="53" y="141"/>
                  </a:moveTo>
                  <a:lnTo>
                    <a:pt x="93" y="36"/>
                  </a:lnTo>
                  <a:lnTo>
                    <a:pt x="133" y="141"/>
                  </a:lnTo>
                  <a:lnTo>
                    <a:pt x="53" y="141"/>
                  </a:lnTo>
                  <a:lnTo>
                    <a:pt x="53" y="1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038725" y="2848654"/>
            <a:ext cx="3867150" cy="580346"/>
          </a:xfrm>
        </p:spPr>
        <p:txBody>
          <a:bodyPr anchor="b">
            <a:noAutofit/>
          </a:bodyPr>
          <a:lstStyle>
            <a:lvl1pPr>
              <a:defRPr sz="386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82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5038725" y="3652838"/>
            <a:ext cx="3867150" cy="447675"/>
          </a:xfrm>
        </p:spPr>
        <p:txBody>
          <a:bodyPr anchor="b">
            <a:noAutofit/>
          </a:bodyPr>
          <a:lstStyle>
            <a:lvl1pPr marL="0" indent="0" algn="l">
              <a:buNone/>
              <a:defRPr sz="1863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Subheading</a:t>
            </a:r>
          </a:p>
        </p:txBody>
      </p:sp>
      <p:sp>
        <p:nvSpPr>
          <p:cNvPr id="83" name="Text Placeholder 7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5038725" y="5316538"/>
            <a:ext cx="3770313" cy="294882"/>
          </a:xfrm>
        </p:spPr>
        <p:txBody>
          <a:bodyPr>
            <a:normAutofit/>
          </a:bodyPr>
          <a:lstStyle>
            <a:lvl1pPr marL="0" indent="0">
              <a:buNone/>
              <a:defRPr sz="1597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Presenter Name</a:t>
            </a:r>
          </a:p>
        </p:txBody>
      </p:sp>
      <p:sp>
        <p:nvSpPr>
          <p:cNvPr id="84" name="Text Placeholder 7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5038725" y="5611420"/>
            <a:ext cx="3770313" cy="328773"/>
          </a:xfrm>
        </p:spPr>
        <p:txBody>
          <a:bodyPr>
            <a:normAutofit/>
          </a:bodyPr>
          <a:lstStyle>
            <a:lvl1pPr marL="0" indent="0">
              <a:buNone/>
              <a:defRPr sz="1597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Date</a:t>
            </a:r>
          </a:p>
        </p:txBody>
      </p:sp>
      <p:sp>
        <p:nvSpPr>
          <p:cNvPr id="86" name="Picture Placeholder 85"/>
          <p:cNvSpPr>
            <a:spLocks noGrp="1"/>
          </p:cNvSpPr>
          <p:nvPr userDrawn="1">
            <p:ph type="pic" sz="quarter" idx="12"/>
          </p:nvPr>
        </p:nvSpPr>
        <p:spPr>
          <a:xfrm>
            <a:off x="0" y="457200"/>
            <a:ext cx="4572000" cy="6388100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Drag picture to placeholder or click icon to add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77701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/>
          <p:cNvSpPr/>
          <p:nvPr userDrawn="1"/>
        </p:nvSpPr>
        <p:spPr>
          <a:xfrm>
            <a:off x="0" y="-3175"/>
            <a:ext cx="914241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6073272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" name="Freeform 5"/>
          <p:cNvSpPr>
            <a:spLocks/>
          </p:cNvSpPr>
          <p:nvPr userDrawn="1"/>
        </p:nvSpPr>
        <p:spPr bwMode="auto">
          <a:xfrm>
            <a:off x="0" y="457201"/>
            <a:ext cx="4572232" cy="6388107"/>
          </a:xfrm>
          <a:custGeom>
            <a:avLst/>
            <a:gdLst>
              <a:gd name="T0" fmla="*/ 2875 w 2875"/>
              <a:gd name="T1" fmla="*/ 0 h 4024"/>
              <a:gd name="T2" fmla="*/ 2875 w 2875"/>
              <a:gd name="T3" fmla="*/ 4024 h 4024"/>
              <a:gd name="T4" fmla="*/ 0 w 2875"/>
              <a:gd name="T5" fmla="*/ 4024 h 4024"/>
              <a:gd name="T6" fmla="*/ 0 w 2875"/>
              <a:gd name="T7" fmla="*/ 0 h 4024"/>
              <a:gd name="T8" fmla="*/ 2875 w 2875"/>
              <a:gd name="T9" fmla="*/ 0 h 4024"/>
              <a:gd name="T10" fmla="*/ 2875 w 2875"/>
              <a:gd name="T11" fmla="*/ 0 h 4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875" h="4024">
                <a:moveTo>
                  <a:pt x="2875" y="0"/>
                </a:moveTo>
                <a:lnTo>
                  <a:pt x="2875" y="4024"/>
                </a:lnTo>
                <a:lnTo>
                  <a:pt x="0" y="4024"/>
                </a:lnTo>
                <a:lnTo>
                  <a:pt x="0" y="0"/>
                </a:lnTo>
                <a:lnTo>
                  <a:pt x="2875" y="0"/>
                </a:lnTo>
                <a:lnTo>
                  <a:pt x="2875" y="0"/>
                </a:lnTo>
                <a:close/>
              </a:path>
            </a:pathLst>
          </a:custGeom>
          <a:solidFill>
            <a:srgbClr val="F2120D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7" name="Freeform 6"/>
          <p:cNvSpPr>
            <a:spLocks/>
          </p:cNvSpPr>
          <p:nvPr userDrawn="1"/>
        </p:nvSpPr>
        <p:spPr bwMode="auto">
          <a:xfrm>
            <a:off x="4572232" y="-3174"/>
            <a:ext cx="4572232" cy="6858007"/>
          </a:xfrm>
          <a:custGeom>
            <a:avLst/>
            <a:gdLst>
              <a:gd name="T0" fmla="*/ 2875 w 2875"/>
              <a:gd name="T1" fmla="*/ 0 h 4320"/>
              <a:gd name="T2" fmla="*/ 2875 w 2875"/>
              <a:gd name="T3" fmla="*/ 4030 h 4320"/>
              <a:gd name="T4" fmla="*/ 290 w 2875"/>
              <a:gd name="T5" fmla="*/ 4030 h 4320"/>
              <a:gd name="T6" fmla="*/ 0 w 2875"/>
              <a:gd name="T7" fmla="*/ 4320 h 4320"/>
              <a:gd name="T8" fmla="*/ 0 w 2875"/>
              <a:gd name="T9" fmla="*/ 290 h 4320"/>
              <a:gd name="T10" fmla="*/ 290 w 2875"/>
              <a:gd name="T11" fmla="*/ 0 h 4320"/>
              <a:gd name="T12" fmla="*/ 2875 w 2875"/>
              <a:gd name="T13" fmla="*/ 0 h 4320"/>
              <a:gd name="T14" fmla="*/ 2875 w 2875"/>
              <a:gd name="T15" fmla="*/ 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875" h="4320">
                <a:moveTo>
                  <a:pt x="2875" y="0"/>
                </a:moveTo>
                <a:lnTo>
                  <a:pt x="2875" y="4030"/>
                </a:lnTo>
                <a:lnTo>
                  <a:pt x="290" y="4030"/>
                </a:lnTo>
                <a:lnTo>
                  <a:pt x="0" y="4320"/>
                </a:lnTo>
                <a:lnTo>
                  <a:pt x="0" y="290"/>
                </a:lnTo>
                <a:lnTo>
                  <a:pt x="290" y="0"/>
                </a:lnTo>
                <a:lnTo>
                  <a:pt x="2875" y="0"/>
                </a:lnTo>
                <a:lnTo>
                  <a:pt x="2875" y="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AutoShape 3"/>
          <p:cNvSpPr>
            <a:spLocks noChangeAspect="1" noChangeArrowheads="1" noTextEdit="1"/>
          </p:cNvSpPr>
          <p:nvPr userDrawn="1"/>
        </p:nvSpPr>
        <p:spPr bwMode="auto">
          <a:xfrm>
            <a:off x="0" y="1"/>
            <a:ext cx="9144464" cy="6858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804755" y="1054317"/>
            <a:ext cx="4247805" cy="4749367"/>
          </a:xfrm>
        </p:spPr>
        <p:txBody>
          <a:bodyPr lIns="0" tIns="0" rIns="0" bIns="0" anchor="ctr" anchorCtr="0">
            <a:noAutofit/>
          </a:bodyPr>
          <a:lstStyle>
            <a:lvl1pPr>
              <a:defRPr sz="37857" spc="-1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1</a:t>
            </a:r>
            <a:endParaRPr lang="en-AU" dirty="0"/>
          </a:p>
        </p:txBody>
      </p:sp>
      <p:sp>
        <p:nvSpPr>
          <p:cNvPr id="47" name="Text Placeholder 4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74420" y="3246827"/>
            <a:ext cx="3092450" cy="357995"/>
          </a:xfrm>
        </p:spPr>
        <p:txBody>
          <a:bodyPr>
            <a:normAutofit/>
          </a:bodyPr>
          <a:lstStyle>
            <a:lvl1pPr marL="0" indent="0">
              <a:buNone/>
              <a:defRPr sz="1997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Section title</a:t>
            </a:r>
          </a:p>
        </p:txBody>
      </p:sp>
      <p:grpSp>
        <p:nvGrpSpPr>
          <p:cNvPr id="82" name="Group 81"/>
          <p:cNvGrpSpPr/>
          <p:nvPr userDrawn="1"/>
        </p:nvGrpSpPr>
        <p:grpSpPr>
          <a:xfrm>
            <a:off x="7401258" y="365125"/>
            <a:ext cx="1374019" cy="484188"/>
            <a:chOff x="7401258" y="365125"/>
            <a:chExt cx="1374019" cy="484188"/>
          </a:xfrm>
        </p:grpSpPr>
        <p:sp>
          <p:nvSpPr>
            <p:cNvPr id="83" name="Freeform 7"/>
            <p:cNvSpPr>
              <a:spLocks/>
            </p:cNvSpPr>
            <p:nvPr userDrawn="1"/>
          </p:nvSpPr>
          <p:spPr bwMode="auto">
            <a:xfrm>
              <a:off x="7401258" y="371475"/>
              <a:ext cx="289435" cy="369888"/>
            </a:xfrm>
            <a:custGeom>
              <a:avLst/>
              <a:gdLst>
                <a:gd name="T0" fmla="*/ 91 w 91"/>
                <a:gd name="T1" fmla="*/ 0 h 117"/>
                <a:gd name="T2" fmla="*/ 91 w 91"/>
                <a:gd name="T3" fmla="*/ 51 h 117"/>
                <a:gd name="T4" fmla="*/ 46 w 91"/>
                <a:gd name="T5" fmla="*/ 117 h 117"/>
                <a:gd name="T6" fmla="*/ 0 w 91"/>
                <a:gd name="T7" fmla="*/ 51 h 117"/>
                <a:gd name="T8" fmla="*/ 0 w 91"/>
                <a:gd name="T9" fmla="*/ 0 h 117"/>
                <a:gd name="T10" fmla="*/ 91 w 91"/>
                <a:gd name="T11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1" h="117">
                  <a:moveTo>
                    <a:pt x="91" y="0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77"/>
                    <a:pt x="74" y="105"/>
                    <a:pt x="46" y="117"/>
                  </a:cubicBezTo>
                  <a:cubicBezTo>
                    <a:pt x="18" y="105"/>
                    <a:pt x="0" y="77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1" y="0"/>
                    <a:pt x="91" y="0"/>
                    <a:pt x="91" y="0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" name="Freeform 8"/>
            <p:cNvSpPr>
              <a:spLocks/>
            </p:cNvSpPr>
            <p:nvPr userDrawn="1"/>
          </p:nvSpPr>
          <p:spPr bwMode="auto">
            <a:xfrm>
              <a:off x="7455328" y="415925"/>
              <a:ext cx="181294" cy="236538"/>
            </a:xfrm>
            <a:custGeom>
              <a:avLst/>
              <a:gdLst>
                <a:gd name="T0" fmla="*/ 0 w 114"/>
                <a:gd name="T1" fmla="*/ 74 h 149"/>
                <a:gd name="T2" fmla="*/ 58 w 114"/>
                <a:gd name="T3" fmla="*/ 0 h 149"/>
                <a:gd name="T4" fmla="*/ 114 w 114"/>
                <a:gd name="T5" fmla="*/ 74 h 149"/>
                <a:gd name="T6" fmla="*/ 58 w 114"/>
                <a:gd name="T7" fmla="*/ 149 h 149"/>
                <a:gd name="T8" fmla="*/ 0 w 114"/>
                <a:gd name="T9" fmla="*/ 74 h 149"/>
                <a:gd name="T10" fmla="*/ 0 w 114"/>
                <a:gd name="T11" fmla="*/ 74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4" h="149">
                  <a:moveTo>
                    <a:pt x="0" y="74"/>
                  </a:moveTo>
                  <a:lnTo>
                    <a:pt x="58" y="0"/>
                  </a:lnTo>
                  <a:lnTo>
                    <a:pt x="114" y="74"/>
                  </a:lnTo>
                  <a:lnTo>
                    <a:pt x="58" y="149"/>
                  </a:lnTo>
                  <a:lnTo>
                    <a:pt x="0" y="74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" name="Freeform 9"/>
            <p:cNvSpPr>
              <a:spLocks/>
            </p:cNvSpPr>
            <p:nvPr userDrawn="1"/>
          </p:nvSpPr>
          <p:spPr bwMode="auto">
            <a:xfrm>
              <a:off x="7480773" y="466725"/>
              <a:ext cx="130405" cy="153988"/>
            </a:xfrm>
            <a:custGeom>
              <a:avLst/>
              <a:gdLst>
                <a:gd name="T0" fmla="*/ 18 w 41"/>
                <a:gd name="T1" fmla="*/ 26 h 49"/>
                <a:gd name="T2" fmla="*/ 21 w 41"/>
                <a:gd name="T3" fmla="*/ 49 h 49"/>
                <a:gd name="T4" fmla="*/ 21 w 41"/>
                <a:gd name="T5" fmla="*/ 49 h 49"/>
                <a:gd name="T6" fmla="*/ 21 w 41"/>
                <a:gd name="T7" fmla="*/ 49 h 49"/>
                <a:gd name="T8" fmla="*/ 23 w 41"/>
                <a:gd name="T9" fmla="*/ 26 h 49"/>
                <a:gd name="T10" fmla="*/ 23 w 41"/>
                <a:gd name="T11" fmla="*/ 24 h 49"/>
                <a:gd name="T12" fmla="*/ 32 w 41"/>
                <a:gd name="T13" fmla="*/ 24 h 49"/>
                <a:gd name="T14" fmla="*/ 32 w 41"/>
                <a:gd name="T15" fmla="*/ 25 h 49"/>
                <a:gd name="T16" fmla="*/ 35 w 41"/>
                <a:gd name="T17" fmla="*/ 28 h 49"/>
                <a:gd name="T18" fmla="*/ 37 w 41"/>
                <a:gd name="T19" fmla="*/ 25 h 49"/>
                <a:gd name="T20" fmla="*/ 37 w 41"/>
                <a:gd name="T21" fmla="*/ 24 h 49"/>
                <a:gd name="T22" fmla="*/ 38 w 41"/>
                <a:gd name="T23" fmla="*/ 24 h 49"/>
                <a:gd name="T24" fmla="*/ 41 w 41"/>
                <a:gd name="T25" fmla="*/ 21 h 49"/>
                <a:gd name="T26" fmla="*/ 38 w 41"/>
                <a:gd name="T27" fmla="*/ 19 h 49"/>
                <a:gd name="T28" fmla="*/ 37 w 41"/>
                <a:gd name="T29" fmla="*/ 19 h 49"/>
                <a:gd name="T30" fmla="*/ 37 w 41"/>
                <a:gd name="T31" fmla="*/ 18 h 49"/>
                <a:gd name="T32" fmla="*/ 35 w 41"/>
                <a:gd name="T33" fmla="*/ 15 h 49"/>
                <a:gd name="T34" fmla="*/ 32 w 41"/>
                <a:gd name="T35" fmla="*/ 18 h 49"/>
                <a:gd name="T36" fmla="*/ 32 w 41"/>
                <a:gd name="T37" fmla="*/ 19 h 49"/>
                <a:gd name="T38" fmla="*/ 23 w 41"/>
                <a:gd name="T39" fmla="*/ 19 h 49"/>
                <a:gd name="T40" fmla="*/ 23 w 41"/>
                <a:gd name="T41" fmla="*/ 9 h 49"/>
                <a:gd name="T42" fmla="*/ 24 w 41"/>
                <a:gd name="T43" fmla="*/ 9 h 49"/>
                <a:gd name="T44" fmla="*/ 27 w 41"/>
                <a:gd name="T45" fmla="*/ 6 h 49"/>
                <a:gd name="T46" fmla="*/ 24 w 41"/>
                <a:gd name="T47" fmla="*/ 3 h 49"/>
                <a:gd name="T48" fmla="*/ 23 w 41"/>
                <a:gd name="T49" fmla="*/ 3 h 49"/>
                <a:gd name="T50" fmla="*/ 23 w 41"/>
                <a:gd name="T51" fmla="*/ 3 h 49"/>
                <a:gd name="T52" fmla="*/ 21 w 41"/>
                <a:gd name="T53" fmla="*/ 0 h 49"/>
                <a:gd name="T54" fmla="*/ 18 w 41"/>
                <a:gd name="T55" fmla="*/ 3 h 49"/>
                <a:gd name="T56" fmla="*/ 18 w 41"/>
                <a:gd name="T57" fmla="*/ 3 h 49"/>
                <a:gd name="T58" fmla="*/ 17 w 41"/>
                <a:gd name="T59" fmla="*/ 3 h 49"/>
                <a:gd name="T60" fmla="*/ 14 w 41"/>
                <a:gd name="T61" fmla="*/ 6 h 49"/>
                <a:gd name="T62" fmla="*/ 17 w 41"/>
                <a:gd name="T63" fmla="*/ 9 h 49"/>
                <a:gd name="T64" fmla="*/ 18 w 41"/>
                <a:gd name="T65" fmla="*/ 9 h 49"/>
                <a:gd name="T66" fmla="*/ 18 w 41"/>
                <a:gd name="T67" fmla="*/ 19 h 49"/>
                <a:gd name="T68" fmla="*/ 18 w 41"/>
                <a:gd name="T69" fmla="*/ 19 h 49"/>
                <a:gd name="T70" fmla="*/ 10 w 41"/>
                <a:gd name="T71" fmla="*/ 19 h 49"/>
                <a:gd name="T72" fmla="*/ 10 w 41"/>
                <a:gd name="T73" fmla="*/ 18 h 49"/>
                <a:gd name="T74" fmla="*/ 7 w 41"/>
                <a:gd name="T75" fmla="*/ 15 h 49"/>
                <a:gd name="T76" fmla="*/ 4 w 41"/>
                <a:gd name="T77" fmla="*/ 18 h 49"/>
                <a:gd name="T78" fmla="*/ 4 w 41"/>
                <a:gd name="T79" fmla="*/ 19 h 49"/>
                <a:gd name="T80" fmla="*/ 4 w 41"/>
                <a:gd name="T81" fmla="*/ 19 h 49"/>
                <a:gd name="T82" fmla="*/ 0 w 41"/>
                <a:gd name="T83" fmla="*/ 21 h 49"/>
                <a:gd name="T84" fmla="*/ 4 w 41"/>
                <a:gd name="T85" fmla="*/ 24 h 49"/>
                <a:gd name="T86" fmla="*/ 4 w 41"/>
                <a:gd name="T87" fmla="*/ 24 h 49"/>
                <a:gd name="T88" fmla="*/ 4 w 41"/>
                <a:gd name="T89" fmla="*/ 25 h 49"/>
                <a:gd name="T90" fmla="*/ 7 w 41"/>
                <a:gd name="T91" fmla="*/ 28 h 49"/>
                <a:gd name="T92" fmla="*/ 10 w 41"/>
                <a:gd name="T93" fmla="*/ 25 h 49"/>
                <a:gd name="T94" fmla="*/ 10 w 41"/>
                <a:gd name="T95" fmla="*/ 24 h 49"/>
                <a:gd name="T96" fmla="*/ 18 w 41"/>
                <a:gd name="T97" fmla="*/ 24 h 49"/>
                <a:gd name="T98" fmla="*/ 18 w 41"/>
                <a:gd name="T99" fmla="*/ 26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1" h="49">
                  <a:moveTo>
                    <a:pt x="18" y="26"/>
                  </a:moveTo>
                  <a:cubicBezTo>
                    <a:pt x="18" y="36"/>
                    <a:pt x="20" y="48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8"/>
                    <a:pt x="23" y="36"/>
                    <a:pt x="23" y="26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3" y="28"/>
                    <a:pt x="35" y="28"/>
                  </a:cubicBezTo>
                  <a:cubicBezTo>
                    <a:pt x="36" y="28"/>
                    <a:pt x="37" y="26"/>
                    <a:pt x="37" y="25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9" y="24"/>
                    <a:pt x="41" y="23"/>
                    <a:pt x="41" y="21"/>
                  </a:cubicBezTo>
                  <a:cubicBezTo>
                    <a:pt x="41" y="20"/>
                    <a:pt x="39" y="19"/>
                    <a:pt x="38" y="19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17"/>
                    <a:pt x="36" y="15"/>
                    <a:pt x="35" y="15"/>
                  </a:cubicBezTo>
                  <a:cubicBezTo>
                    <a:pt x="33" y="15"/>
                    <a:pt x="32" y="17"/>
                    <a:pt x="32" y="18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5" y="9"/>
                    <a:pt x="27" y="8"/>
                    <a:pt x="27" y="6"/>
                  </a:cubicBezTo>
                  <a:cubicBezTo>
                    <a:pt x="27" y="5"/>
                    <a:pt x="25" y="3"/>
                    <a:pt x="24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"/>
                    <a:pt x="22" y="0"/>
                    <a:pt x="21" y="0"/>
                  </a:cubicBezTo>
                  <a:cubicBezTo>
                    <a:pt x="19" y="0"/>
                    <a:pt x="18" y="1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6" y="3"/>
                    <a:pt x="14" y="5"/>
                    <a:pt x="14" y="6"/>
                  </a:cubicBezTo>
                  <a:cubicBezTo>
                    <a:pt x="14" y="8"/>
                    <a:pt x="16" y="9"/>
                    <a:pt x="17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7"/>
                    <a:pt x="8" y="15"/>
                    <a:pt x="7" y="15"/>
                  </a:cubicBezTo>
                  <a:cubicBezTo>
                    <a:pt x="5" y="15"/>
                    <a:pt x="4" y="17"/>
                    <a:pt x="4" y="18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2" y="19"/>
                    <a:pt x="0" y="20"/>
                    <a:pt x="0" y="21"/>
                  </a:cubicBezTo>
                  <a:cubicBezTo>
                    <a:pt x="0" y="23"/>
                    <a:pt x="2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4" y="26"/>
                    <a:pt x="5" y="28"/>
                    <a:pt x="7" y="28"/>
                  </a:cubicBezTo>
                  <a:cubicBezTo>
                    <a:pt x="8" y="28"/>
                    <a:pt x="10" y="26"/>
                    <a:pt x="10" y="25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18" y="26"/>
                    <a:pt x="18" y="26"/>
                    <a:pt x="18" y="26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" name="Freeform 10"/>
            <p:cNvSpPr>
              <a:spLocks noEditPoints="1"/>
            </p:cNvSpPr>
            <p:nvPr userDrawn="1"/>
          </p:nvSpPr>
          <p:spPr bwMode="auto">
            <a:xfrm>
              <a:off x="7401258" y="798513"/>
              <a:ext cx="54070" cy="50800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10 w 34"/>
                <a:gd name="T9" fmla="*/ 26 h 32"/>
                <a:gd name="T10" fmla="*/ 26 w 34"/>
                <a:gd name="T11" fmla="*/ 26 h 32"/>
                <a:gd name="T12" fmla="*/ 30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2 w 34"/>
                <a:gd name="T25" fmla="*/ 20 h 32"/>
                <a:gd name="T26" fmla="*/ 18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10" y="26"/>
                  </a:lnTo>
                  <a:lnTo>
                    <a:pt x="26" y="26"/>
                  </a:lnTo>
                  <a:lnTo>
                    <a:pt x="30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2" y="20"/>
                  </a:lnTo>
                  <a:lnTo>
                    <a:pt x="18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" name="Freeform 11"/>
            <p:cNvSpPr>
              <a:spLocks/>
            </p:cNvSpPr>
            <p:nvPr userDrawn="1"/>
          </p:nvSpPr>
          <p:spPr bwMode="auto">
            <a:xfrm>
              <a:off x="7458509" y="798513"/>
              <a:ext cx="44528" cy="50800"/>
            </a:xfrm>
            <a:custGeom>
              <a:avLst/>
              <a:gdLst>
                <a:gd name="T0" fmla="*/ 11 w 14"/>
                <a:gd name="T1" fmla="*/ 9 h 16"/>
                <a:gd name="T2" fmla="*/ 7 w 14"/>
                <a:gd name="T3" fmla="*/ 14 h 16"/>
                <a:gd name="T4" fmla="*/ 3 w 14"/>
                <a:gd name="T5" fmla="*/ 9 h 16"/>
                <a:gd name="T6" fmla="*/ 3 w 14"/>
                <a:gd name="T7" fmla="*/ 0 h 16"/>
                <a:gd name="T8" fmla="*/ 0 w 14"/>
                <a:gd name="T9" fmla="*/ 0 h 16"/>
                <a:gd name="T10" fmla="*/ 0 w 14"/>
                <a:gd name="T11" fmla="*/ 9 h 16"/>
                <a:gd name="T12" fmla="*/ 7 w 14"/>
                <a:gd name="T13" fmla="*/ 16 h 16"/>
                <a:gd name="T14" fmla="*/ 14 w 14"/>
                <a:gd name="T15" fmla="*/ 9 h 16"/>
                <a:gd name="T16" fmla="*/ 14 w 14"/>
                <a:gd name="T17" fmla="*/ 0 h 16"/>
                <a:gd name="T18" fmla="*/ 11 w 14"/>
                <a:gd name="T19" fmla="*/ 0 h 16"/>
                <a:gd name="T20" fmla="*/ 11 w 14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3" y="12"/>
                    <a:pt x="3" y="9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4" y="16"/>
                    <a:pt x="7" y="16"/>
                  </a:cubicBezTo>
                  <a:cubicBezTo>
                    <a:pt x="10" y="16"/>
                    <a:pt x="14" y="14"/>
                    <a:pt x="14" y="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" name="Freeform 12"/>
            <p:cNvSpPr>
              <a:spLocks/>
            </p:cNvSpPr>
            <p:nvPr userDrawn="1"/>
          </p:nvSpPr>
          <p:spPr bwMode="auto">
            <a:xfrm>
              <a:off x="7512579" y="795338"/>
              <a:ext cx="41348" cy="53975"/>
            </a:xfrm>
            <a:custGeom>
              <a:avLst/>
              <a:gdLst>
                <a:gd name="T0" fmla="*/ 7 w 13"/>
                <a:gd name="T1" fmla="*/ 7 h 17"/>
                <a:gd name="T2" fmla="*/ 3 w 13"/>
                <a:gd name="T3" fmla="*/ 5 h 17"/>
                <a:gd name="T4" fmla="*/ 7 w 13"/>
                <a:gd name="T5" fmla="*/ 3 h 17"/>
                <a:gd name="T6" fmla="*/ 11 w 13"/>
                <a:gd name="T7" fmla="*/ 5 h 17"/>
                <a:gd name="T8" fmla="*/ 11 w 13"/>
                <a:gd name="T9" fmla="*/ 5 h 17"/>
                <a:gd name="T10" fmla="*/ 13 w 13"/>
                <a:gd name="T11" fmla="*/ 4 h 17"/>
                <a:gd name="T12" fmla="*/ 13 w 13"/>
                <a:gd name="T13" fmla="*/ 3 h 17"/>
                <a:gd name="T14" fmla="*/ 7 w 13"/>
                <a:gd name="T15" fmla="*/ 0 h 17"/>
                <a:gd name="T16" fmla="*/ 2 w 13"/>
                <a:gd name="T17" fmla="*/ 2 h 17"/>
                <a:gd name="T18" fmla="*/ 0 w 13"/>
                <a:gd name="T19" fmla="*/ 5 h 17"/>
                <a:gd name="T20" fmla="*/ 7 w 13"/>
                <a:gd name="T21" fmla="*/ 10 h 17"/>
                <a:gd name="T22" fmla="*/ 11 w 13"/>
                <a:gd name="T23" fmla="*/ 12 h 17"/>
                <a:gd name="T24" fmla="*/ 7 w 13"/>
                <a:gd name="T25" fmla="*/ 15 h 17"/>
                <a:gd name="T26" fmla="*/ 2 w 13"/>
                <a:gd name="T27" fmla="*/ 12 h 17"/>
                <a:gd name="T28" fmla="*/ 2 w 13"/>
                <a:gd name="T29" fmla="*/ 12 h 17"/>
                <a:gd name="T30" fmla="*/ 0 w 13"/>
                <a:gd name="T31" fmla="*/ 13 h 17"/>
                <a:gd name="T32" fmla="*/ 0 w 13"/>
                <a:gd name="T33" fmla="*/ 14 h 17"/>
                <a:gd name="T34" fmla="*/ 7 w 13"/>
                <a:gd name="T35" fmla="*/ 17 h 17"/>
                <a:gd name="T36" fmla="*/ 13 w 13"/>
                <a:gd name="T37" fmla="*/ 12 h 17"/>
                <a:gd name="T38" fmla="*/ 7 w 13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" h="17">
                  <a:moveTo>
                    <a:pt x="7" y="7"/>
                  </a:moveTo>
                  <a:cubicBezTo>
                    <a:pt x="5" y="7"/>
                    <a:pt x="3" y="6"/>
                    <a:pt x="3" y="5"/>
                  </a:cubicBezTo>
                  <a:cubicBezTo>
                    <a:pt x="3" y="4"/>
                    <a:pt x="5" y="3"/>
                    <a:pt x="7" y="3"/>
                  </a:cubicBezTo>
                  <a:cubicBezTo>
                    <a:pt x="9" y="3"/>
                    <a:pt x="10" y="3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5" y="0"/>
                    <a:pt x="3" y="1"/>
                    <a:pt x="2" y="2"/>
                  </a:cubicBezTo>
                  <a:cubicBezTo>
                    <a:pt x="1" y="3"/>
                    <a:pt x="0" y="4"/>
                    <a:pt x="0" y="5"/>
                  </a:cubicBezTo>
                  <a:cubicBezTo>
                    <a:pt x="0" y="9"/>
                    <a:pt x="4" y="9"/>
                    <a:pt x="7" y="10"/>
                  </a:cubicBezTo>
                  <a:cubicBezTo>
                    <a:pt x="9" y="10"/>
                    <a:pt x="11" y="11"/>
                    <a:pt x="11" y="12"/>
                  </a:cubicBezTo>
                  <a:cubicBezTo>
                    <a:pt x="11" y="15"/>
                    <a:pt x="8" y="15"/>
                    <a:pt x="7" y="15"/>
                  </a:cubicBezTo>
                  <a:cubicBezTo>
                    <a:pt x="5" y="15"/>
                    <a:pt x="3" y="14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6"/>
                    <a:pt x="3" y="17"/>
                    <a:pt x="7" y="17"/>
                  </a:cubicBezTo>
                  <a:cubicBezTo>
                    <a:pt x="10" y="17"/>
                    <a:pt x="13" y="16"/>
                    <a:pt x="13" y="12"/>
                  </a:cubicBezTo>
                  <a:cubicBezTo>
                    <a:pt x="13" y="9"/>
                    <a:pt x="10" y="8"/>
                    <a:pt x="7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" name="Freeform 13"/>
            <p:cNvSpPr>
              <a:spLocks/>
            </p:cNvSpPr>
            <p:nvPr userDrawn="1"/>
          </p:nvSpPr>
          <p:spPr bwMode="auto">
            <a:xfrm>
              <a:off x="7560288" y="798513"/>
              <a:ext cx="41348" cy="50800"/>
            </a:xfrm>
            <a:custGeom>
              <a:avLst/>
              <a:gdLst>
                <a:gd name="T0" fmla="*/ 0 w 26"/>
                <a:gd name="T1" fmla="*/ 4 h 32"/>
                <a:gd name="T2" fmla="*/ 10 w 26"/>
                <a:gd name="T3" fmla="*/ 4 h 32"/>
                <a:gd name="T4" fmla="*/ 10 w 26"/>
                <a:gd name="T5" fmla="*/ 32 h 32"/>
                <a:gd name="T6" fmla="*/ 16 w 26"/>
                <a:gd name="T7" fmla="*/ 32 h 32"/>
                <a:gd name="T8" fmla="*/ 16 w 26"/>
                <a:gd name="T9" fmla="*/ 4 h 32"/>
                <a:gd name="T10" fmla="*/ 26 w 26"/>
                <a:gd name="T11" fmla="*/ 4 h 32"/>
                <a:gd name="T12" fmla="*/ 26 w 26"/>
                <a:gd name="T13" fmla="*/ 0 h 32"/>
                <a:gd name="T14" fmla="*/ 0 w 26"/>
                <a:gd name="T15" fmla="*/ 0 h 32"/>
                <a:gd name="T16" fmla="*/ 0 w 26"/>
                <a:gd name="T17" fmla="*/ 4 h 32"/>
                <a:gd name="T18" fmla="*/ 0 w 26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32">
                  <a:moveTo>
                    <a:pt x="0" y="4"/>
                  </a:moveTo>
                  <a:lnTo>
                    <a:pt x="10" y="4"/>
                  </a:lnTo>
                  <a:lnTo>
                    <a:pt x="10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6" y="4"/>
                  </a:lnTo>
                  <a:lnTo>
                    <a:pt x="26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Freeform 14"/>
            <p:cNvSpPr>
              <a:spLocks noEditPoints="1"/>
            </p:cNvSpPr>
            <p:nvPr userDrawn="1"/>
          </p:nvSpPr>
          <p:spPr bwMode="auto">
            <a:xfrm>
              <a:off x="7611177" y="798513"/>
              <a:ext cx="44528" cy="50800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0 w 14"/>
                <a:gd name="T15" fmla="*/ 16 h 16"/>
                <a:gd name="T16" fmla="*/ 14 w 14"/>
                <a:gd name="T17" fmla="*/ 16 h 16"/>
                <a:gd name="T18" fmla="*/ 8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Freeform 15"/>
            <p:cNvSpPr>
              <a:spLocks noEditPoints="1"/>
            </p:cNvSpPr>
            <p:nvPr userDrawn="1"/>
          </p:nvSpPr>
          <p:spPr bwMode="auto">
            <a:xfrm>
              <a:off x="7658886" y="798513"/>
              <a:ext cx="54070" cy="50800"/>
            </a:xfrm>
            <a:custGeom>
              <a:avLst/>
              <a:gdLst>
                <a:gd name="T0" fmla="*/ 18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4 w 34"/>
                <a:gd name="T7" fmla="*/ 32 h 32"/>
                <a:gd name="T8" fmla="*/ 8 w 34"/>
                <a:gd name="T9" fmla="*/ 26 h 32"/>
                <a:gd name="T10" fmla="*/ 24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18 w 34"/>
                <a:gd name="T19" fmla="*/ 0 h 32"/>
                <a:gd name="T20" fmla="*/ 18 w 34"/>
                <a:gd name="T21" fmla="*/ 0 h 32"/>
                <a:gd name="T22" fmla="*/ 22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2 w 34"/>
                <a:gd name="T29" fmla="*/ 20 h 32"/>
                <a:gd name="T30" fmla="*/ 22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18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8" y="26"/>
                  </a:lnTo>
                  <a:lnTo>
                    <a:pt x="24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18" y="0"/>
                  </a:lnTo>
                  <a:lnTo>
                    <a:pt x="18" y="0"/>
                  </a:lnTo>
                  <a:close/>
                  <a:moveTo>
                    <a:pt x="22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2" y="20"/>
                  </a:lnTo>
                  <a:lnTo>
                    <a:pt x="22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Freeform 16"/>
            <p:cNvSpPr>
              <a:spLocks/>
            </p:cNvSpPr>
            <p:nvPr userDrawn="1"/>
          </p:nvSpPr>
          <p:spPr bwMode="auto">
            <a:xfrm>
              <a:off x="7719318" y="798513"/>
              <a:ext cx="34987" cy="50800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Freeform 17"/>
            <p:cNvSpPr>
              <a:spLocks/>
            </p:cNvSpPr>
            <p:nvPr userDrawn="1"/>
          </p:nvSpPr>
          <p:spPr bwMode="auto">
            <a:xfrm>
              <a:off x="7763846" y="798513"/>
              <a:ext cx="6361" cy="50800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Freeform 18"/>
            <p:cNvSpPr>
              <a:spLocks noEditPoints="1"/>
            </p:cNvSpPr>
            <p:nvPr userDrawn="1"/>
          </p:nvSpPr>
          <p:spPr bwMode="auto">
            <a:xfrm>
              <a:off x="7779749" y="798513"/>
              <a:ext cx="52480" cy="50800"/>
            </a:xfrm>
            <a:custGeom>
              <a:avLst/>
              <a:gdLst>
                <a:gd name="T0" fmla="*/ 19 w 33"/>
                <a:gd name="T1" fmla="*/ 0 h 32"/>
                <a:gd name="T2" fmla="*/ 13 w 33"/>
                <a:gd name="T3" fmla="*/ 0 h 32"/>
                <a:gd name="T4" fmla="*/ 0 w 33"/>
                <a:gd name="T5" fmla="*/ 32 h 32"/>
                <a:gd name="T6" fmla="*/ 6 w 33"/>
                <a:gd name="T7" fmla="*/ 32 h 32"/>
                <a:gd name="T8" fmla="*/ 7 w 33"/>
                <a:gd name="T9" fmla="*/ 26 h 32"/>
                <a:gd name="T10" fmla="*/ 25 w 33"/>
                <a:gd name="T11" fmla="*/ 26 h 32"/>
                <a:gd name="T12" fmla="*/ 27 w 33"/>
                <a:gd name="T13" fmla="*/ 32 h 32"/>
                <a:gd name="T14" fmla="*/ 33 w 33"/>
                <a:gd name="T15" fmla="*/ 32 h 32"/>
                <a:gd name="T16" fmla="*/ 19 w 33"/>
                <a:gd name="T17" fmla="*/ 0 h 32"/>
                <a:gd name="T18" fmla="*/ 19 w 33"/>
                <a:gd name="T19" fmla="*/ 0 h 32"/>
                <a:gd name="T20" fmla="*/ 19 w 33"/>
                <a:gd name="T21" fmla="*/ 0 h 32"/>
                <a:gd name="T22" fmla="*/ 23 w 33"/>
                <a:gd name="T23" fmla="*/ 20 h 32"/>
                <a:gd name="T24" fmla="*/ 9 w 33"/>
                <a:gd name="T25" fmla="*/ 20 h 32"/>
                <a:gd name="T26" fmla="*/ 17 w 33"/>
                <a:gd name="T27" fmla="*/ 6 h 32"/>
                <a:gd name="T28" fmla="*/ 23 w 33"/>
                <a:gd name="T29" fmla="*/ 20 h 32"/>
                <a:gd name="T30" fmla="*/ 23 w 33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3" h="32">
                  <a:moveTo>
                    <a:pt x="19" y="0"/>
                  </a:moveTo>
                  <a:lnTo>
                    <a:pt x="13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7" y="26"/>
                  </a:lnTo>
                  <a:lnTo>
                    <a:pt x="25" y="26"/>
                  </a:lnTo>
                  <a:lnTo>
                    <a:pt x="27" y="32"/>
                  </a:lnTo>
                  <a:lnTo>
                    <a:pt x="33" y="32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0"/>
                  </a:lnTo>
                  <a:close/>
                  <a:moveTo>
                    <a:pt x="23" y="20"/>
                  </a:moveTo>
                  <a:lnTo>
                    <a:pt x="9" y="20"/>
                  </a:lnTo>
                  <a:lnTo>
                    <a:pt x="17" y="6"/>
                  </a:lnTo>
                  <a:lnTo>
                    <a:pt x="23" y="20"/>
                  </a:lnTo>
                  <a:lnTo>
                    <a:pt x="23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Freeform 19"/>
            <p:cNvSpPr>
              <a:spLocks/>
            </p:cNvSpPr>
            <p:nvPr userDrawn="1"/>
          </p:nvSpPr>
          <p:spPr bwMode="auto">
            <a:xfrm>
              <a:off x="7841771" y="798513"/>
              <a:ext cx="41348" cy="50800"/>
            </a:xfrm>
            <a:custGeom>
              <a:avLst/>
              <a:gdLst>
                <a:gd name="T0" fmla="*/ 22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2 w 26"/>
                <a:gd name="T19" fmla="*/ 0 h 32"/>
                <a:gd name="T20" fmla="*/ 22 w 26"/>
                <a:gd name="T21" fmla="*/ 22 h 32"/>
                <a:gd name="T22" fmla="*/ 22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2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22" y="22"/>
                  </a:lnTo>
                  <a:lnTo>
                    <a:pt x="22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Freeform 20"/>
            <p:cNvSpPr>
              <a:spLocks/>
            </p:cNvSpPr>
            <p:nvPr userDrawn="1"/>
          </p:nvSpPr>
          <p:spPr bwMode="auto">
            <a:xfrm>
              <a:off x="7921286" y="795338"/>
              <a:ext cx="47709" cy="53975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2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4" y="15"/>
                    <a:pt x="3" y="12"/>
                    <a:pt x="3" y="9"/>
                  </a:cubicBezTo>
                  <a:cubicBezTo>
                    <a:pt x="3" y="6"/>
                    <a:pt x="4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2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Freeform 21"/>
            <p:cNvSpPr>
              <a:spLocks noEditPoints="1"/>
            </p:cNvSpPr>
            <p:nvPr userDrawn="1"/>
          </p:nvSpPr>
          <p:spPr bwMode="auto">
            <a:xfrm>
              <a:off x="7972176" y="798513"/>
              <a:ext cx="54070" cy="50800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8 w 34"/>
                <a:gd name="T9" fmla="*/ 26 h 32"/>
                <a:gd name="T10" fmla="*/ 26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8" y="26"/>
                  </a:lnTo>
                  <a:lnTo>
                    <a:pt x="26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Freeform 22"/>
            <p:cNvSpPr>
              <a:spLocks/>
            </p:cNvSpPr>
            <p:nvPr userDrawn="1"/>
          </p:nvSpPr>
          <p:spPr bwMode="auto">
            <a:xfrm>
              <a:off x="8023065" y="798513"/>
              <a:ext cx="44528" cy="50800"/>
            </a:xfrm>
            <a:custGeom>
              <a:avLst/>
              <a:gdLst>
                <a:gd name="T0" fmla="*/ 0 w 28"/>
                <a:gd name="T1" fmla="*/ 4 h 32"/>
                <a:gd name="T2" fmla="*/ 12 w 28"/>
                <a:gd name="T3" fmla="*/ 4 h 32"/>
                <a:gd name="T4" fmla="*/ 12 w 28"/>
                <a:gd name="T5" fmla="*/ 32 h 32"/>
                <a:gd name="T6" fmla="*/ 16 w 28"/>
                <a:gd name="T7" fmla="*/ 32 h 32"/>
                <a:gd name="T8" fmla="*/ 16 w 28"/>
                <a:gd name="T9" fmla="*/ 4 h 32"/>
                <a:gd name="T10" fmla="*/ 28 w 28"/>
                <a:gd name="T11" fmla="*/ 4 h 32"/>
                <a:gd name="T12" fmla="*/ 28 w 28"/>
                <a:gd name="T13" fmla="*/ 0 h 32"/>
                <a:gd name="T14" fmla="*/ 0 w 28"/>
                <a:gd name="T15" fmla="*/ 0 h 32"/>
                <a:gd name="T16" fmla="*/ 0 w 28"/>
                <a:gd name="T17" fmla="*/ 4 h 32"/>
                <a:gd name="T18" fmla="*/ 0 w 28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32">
                  <a:moveTo>
                    <a:pt x="0" y="4"/>
                  </a:moveTo>
                  <a:lnTo>
                    <a:pt x="12" y="4"/>
                  </a:lnTo>
                  <a:lnTo>
                    <a:pt x="12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8" y="4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Freeform 23"/>
            <p:cNvSpPr>
              <a:spLocks/>
            </p:cNvSpPr>
            <p:nvPr userDrawn="1"/>
          </p:nvSpPr>
          <p:spPr bwMode="auto">
            <a:xfrm>
              <a:off x="8073955" y="798513"/>
              <a:ext cx="44528" cy="50800"/>
            </a:xfrm>
            <a:custGeom>
              <a:avLst/>
              <a:gdLst>
                <a:gd name="T0" fmla="*/ 22 w 28"/>
                <a:gd name="T1" fmla="*/ 12 h 32"/>
                <a:gd name="T2" fmla="*/ 6 w 28"/>
                <a:gd name="T3" fmla="*/ 12 h 32"/>
                <a:gd name="T4" fmla="*/ 6 w 28"/>
                <a:gd name="T5" fmla="*/ 0 h 32"/>
                <a:gd name="T6" fmla="*/ 0 w 28"/>
                <a:gd name="T7" fmla="*/ 0 h 32"/>
                <a:gd name="T8" fmla="*/ 0 w 28"/>
                <a:gd name="T9" fmla="*/ 32 h 32"/>
                <a:gd name="T10" fmla="*/ 6 w 28"/>
                <a:gd name="T11" fmla="*/ 32 h 32"/>
                <a:gd name="T12" fmla="*/ 6 w 28"/>
                <a:gd name="T13" fmla="*/ 18 h 32"/>
                <a:gd name="T14" fmla="*/ 22 w 28"/>
                <a:gd name="T15" fmla="*/ 18 h 32"/>
                <a:gd name="T16" fmla="*/ 22 w 28"/>
                <a:gd name="T17" fmla="*/ 32 h 32"/>
                <a:gd name="T18" fmla="*/ 28 w 28"/>
                <a:gd name="T19" fmla="*/ 32 h 32"/>
                <a:gd name="T20" fmla="*/ 28 w 28"/>
                <a:gd name="T21" fmla="*/ 0 h 32"/>
                <a:gd name="T22" fmla="*/ 22 w 28"/>
                <a:gd name="T23" fmla="*/ 0 h 32"/>
                <a:gd name="T24" fmla="*/ 22 w 28"/>
                <a:gd name="T25" fmla="*/ 12 h 32"/>
                <a:gd name="T26" fmla="*/ 22 w 28"/>
                <a:gd name="T27" fmla="*/ 1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2">
                  <a:moveTo>
                    <a:pt x="22" y="12"/>
                  </a:moveTo>
                  <a:lnTo>
                    <a:pt x="6" y="1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6" y="18"/>
                  </a:lnTo>
                  <a:lnTo>
                    <a:pt x="22" y="18"/>
                  </a:lnTo>
                  <a:lnTo>
                    <a:pt x="22" y="32"/>
                  </a:lnTo>
                  <a:lnTo>
                    <a:pt x="28" y="32"/>
                  </a:lnTo>
                  <a:lnTo>
                    <a:pt x="28" y="0"/>
                  </a:lnTo>
                  <a:lnTo>
                    <a:pt x="22" y="0"/>
                  </a:lnTo>
                  <a:lnTo>
                    <a:pt x="22" y="12"/>
                  </a:lnTo>
                  <a:lnTo>
                    <a:pt x="22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Freeform 24"/>
            <p:cNvSpPr>
              <a:spLocks noEditPoints="1"/>
            </p:cNvSpPr>
            <p:nvPr userDrawn="1"/>
          </p:nvSpPr>
          <p:spPr bwMode="auto">
            <a:xfrm>
              <a:off x="8128025" y="795338"/>
              <a:ext cx="50890" cy="53975"/>
            </a:xfrm>
            <a:custGeom>
              <a:avLst/>
              <a:gdLst>
                <a:gd name="T0" fmla="*/ 8 w 16"/>
                <a:gd name="T1" fmla="*/ 0 h 17"/>
                <a:gd name="T2" fmla="*/ 0 w 16"/>
                <a:gd name="T3" fmla="*/ 9 h 17"/>
                <a:gd name="T4" fmla="*/ 8 w 16"/>
                <a:gd name="T5" fmla="*/ 17 h 17"/>
                <a:gd name="T6" fmla="*/ 16 w 16"/>
                <a:gd name="T7" fmla="*/ 9 h 17"/>
                <a:gd name="T8" fmla="*/ 8 w 16"/>
                <a:gd name="T9" fmla="*/ 0 h 17"/>
                <a:gd name="T10" fmla="*/ 8 w 16"/>
                <a:gd name="T11" fmla="*/ 15 h 17"/>
                <a:gd name="T12" fmla="*/ 2 w 16"/>
                <a:gd name="T13" fmla="*/ 9 h 17"/>
                <a:gd name="T14" fmla="*/ 8 w 16"/>
                <a:gd name="T15" fmla="*/ 3 h 17"/>
                <a:gd name="T16" fmla="*/ 14 w 16"/>
                <a:gd name="T17" fmla="*/ 9 h 17"/>
                <a:gd name="T18" fmla="*/ 8 w 16"/>
                <a:gd name="T19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17"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2" y="17"/>
                    <a:pt x="8" y="17"/>
                  </a:cubicBezTo>
                  <a:cubicBezTo>
                    <a:pt x="14" y="17"/>
                    <a:pt x="16" y="13"/>
                    <a:pt x="16" y="9"/>
                  </a:cubicBezTo>
                  <a:cubicBezTo>
                    <a:pt x="16" y="5"/>
                    <a:pt x="14" y="0"/>
                    <a:pt x="8" y="0"/>
                  </a:cubicBezTo>
                  <a:close/>
                  <a:moveTo>
                    <a:pt x="8" y="15"/>
                  </a:moveTo>
                  <a:cubicBezTo>
                    <a:pt x="4" y="15"/>
                    <a:pt x="2" y="12"/>
                    <a:pt x="2" y="9"/>
                  </a:cubicBezTo>
                  <a:cubicBezTo>
                    <a:pt x="2" y="6"/>
                    <a:pt x="4" y="3"/>
                    <a:pt x="8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5"/>
                    <a:pt x="8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Freeform 25"/>
            <p:cNvSpPr>
              <a:spLocks/>
            </p:cNvSpPr>
            <p:nvPr userDrawn="1"/>
          </p:nvSpPr>
          <p:spPr bwMode="auto">
            <a:xfrm>
              <a:off x="8188456" y="798513"/>
              <a:ext cx="34987" cy="50800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Freeform 26"/>
            <p:cNvSpPr>
              <a:spLocks/>
            </p:cNvSpPr>
            <p:nvPr userDrawn="1"/>
          </p:nvSpPr>
          <p:spPr bwMode="auto">
            <a:xfrm>
              <a:off x="8232985" y="798513"/>
              <a:ext cx="6361" cy="50800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Freeform 27"/>
            <p:cNvSpPr>
              <a:spLocks/>
            </p:cNvSpPr>
            <p:nvPr userDrawn="1"/>
          </p:nvSpPr>
          <p:spPr bwMode="auto">
            <a:xfrm>
              <a:off x="8248888" y="795338"/>
              <a:ext cx="47709" cy="53975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3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5" y="15"/>
                    <a:pt x="3" y="12"/>
                    <a:pt x="3" y="9"/>
                  </a:cubicBezTo>
                  <a:cubicBezTo>
                    <a:pt x="3" y="6"/>
                    <a:pt x="5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Freeform 28"/>
            <p:cNvSpPr>
              <a:spLocks/>
            </p:cNvSpPr>
            <p:nvPr userDrawn="1"/>
          </p:nvSpPr>
          <p:spPr bwMode="auto">
            <a:xfrm>
              <a:off x="8331584" y="798513"/>
              <a:ext cx="41348" cy="50800"/>
            </a:xfrm>
            <a:custGeom>
              <a:avLst/>
              <a:gdLst>
                <a:gd name="T0" fmla="*/ 11 w 13"/>
                <a:gd name="T1" fmla="*/ 9 h 16"/>
                <a:gd name="T2" fmla="*/ 7 w 13"/>
                <a:gd name="T3" fmla="*/ 14 h 16"/>
                <a:gd name="T4" fmla="*/ 2 w 13"/>
                <a:gd name="T5" fmla="*/ 9 h 16"/>
                <a:gd name="T6" fmla="*/ 2 w 13"/>
                <a:gd name="T7" fmla="*/ 0 h 16"/>
                <a:gd name="T8" fmla="*/ 0 w 13"/>
                <a:gd name="T9" fmla="*/ 0 h 16"/>
                <a:gd name="T10" fmla="*/ 0 w 13"/>
                <a:gd name="T11" fmla="*/ 9 h 16"/>
                <a:gd name="T12" fmla="*/ 7 w 13"/>
                <a:gd name="T13" fmla="*/ 16 h 16"/>
                <a:gd name="T14" fmla="*/ 13 w 13"/>
                <a:gd name="T15" fmla="*/ 9 h 16"/>
                <a:gd name="T16" fmla="*/ 13 w 13"/>
                <a:gd name="T17" fmla="*/ 0 h 16"/>
                <a:gd name="T18" fmla="*/ 11 w 13"/>
                <a:gd name="T19" fmla="*/ 0 h 16"/>
                <a:gd name="T20" fmla="*/ 11 w 13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2" y="12"/>
                    <a:pt x="2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3" y="16"/>
                    <a:pt x="7" y="16"/>
                  </a:cubicBezTo>
                  <a:cubicBezTo>
                    <a:pt x="10" y="16"/>
                    <a:pt x="13" y="14"/>
                    <a:pt x="13" y="9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Freeform 29"/>
            <p:cNvSpPr>
              <a:spLocks/>
            </p:cNvSpPr>
            <p:nvPr userDrawn="1"/>
          </p:nvSpPr>
          <p:spPr bwMode="auto">
            <a:xfrm>
              <a:off x="8388834" y="798513"/>
              <a:ext cx="41348" cy="50800"/>
            </a:xfrm>
            <a:custGeom>
              <a:avLst/>
              <a:gdLst>
                <a:gd name="T0" fmla="*/ 20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0 w 26"/>
                <a:gd name="T19" fmla="*/ 0 h 32"/>
                <a:gd name="T20" fmla="*/ 20 w 26"/>
                <a:gd name="T21" fmla="*/ 22 h 32"/>
                <a:gd name="T22" fmla="*/ 20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0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20" y="22"/>
                  </a:lnTo>
                  <a:lnTo>
                    <a:pt x="20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Freeform 30"/>
            <p:cNvSpPr>
              <a:spLocks/>
            </p:cNvSpPr>
            <p:nvPr userDrawn="1"/>
          </p:nvSpPr>
          <p:spPr bwMode="auto">
            <a:xfrm>
              <a:off x="8442905" y="798513"/>
              <a:ext cx="9542" cy="50800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Freeform 31"/>
            <p:cNvSpPr>
              <a:spLocks/>
            </p:cNvSpPr>
            <p:nvPr userDrawn="1"/>
          </p:nvSpPr>
          <p:spPr bwMode="auto">
            <a:xfrm>
              <a:off x="8461988" y="798513"/>
              <a:ext cx="50890" cy="50800"/>
            </a:xfrm>
            <a:custGeom>
              <a:avLst/>
              <a:gdLst>
                <a:gd name="T0" fmla="*/ 6 w 32"/>
                <a:gd name="T1" fmla="*/ 0 h 32"/>
                <a:gd name="T2" fmla="*/ 0 w 32"/>
                <a:gd name="T3" fmla="*/ 0 h 32"/>
                <a:gd name="T4" fmla="*/ 12 w 32"/>
                <a:gd name="T5" fmla="*/ 32 h 32"/>
                <a:gd name="T6" fmla="*/ 18 w 32"/>
                <a:gd name="T7" fmla="*/ 32 h 32"/>
                <a:gd name="T8" fmla="*/ 32 w 32"/>
                <a:gd name="T9" fmla="*/ 0 h 32"/>
                <a:gd name="T10" fmla="*/ 26 w 32"/>
                <a:gd name="T11" fmla="*/ 0 h 32"/>
                <a:gd name="T12" fmla="*/ 16 w 32"/>
                <a:gd name="T13" fmla="*/ 26 h 32"/>
                <a:gd name="T14" fmla="*/ 6 w 32"/>
                <a:gd name="T15" fmla="*/ 0 h 32"/>
                <a:gd name="T16" fmla="*/ 6 w 32"/>
                <a:gd name="T1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2">
                  <a:moveTo>
                    <a:pt x="6" y="0"/>
                  </a:moveTo>
                  <a:lnTo>
                    <a:pt x="0" y="0"/>
                  </a:lnTo>
                  <a:lnTo>
                    <a:pt x="12" y="32"/>
                  </a:lnTo>
                  <a:lnTo>
                    <a:pt x="18" y="32"/>
                  </a:lnTo>
                  <a:lnTo>
                    <a:pt x="32" y="0"/>
                  </a:lnTo>
                  <a:lnTo>
                    <a:pt x="26" y="0"/>
                  </a:lnTo>
                  <a:lnTo>
                    <a:pt x="16" y="2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Freeform 32"/>
            <p:cNvSpPr>
              <a:spLocks/>
            </p:cNvSpPr>
            <p:nvPr userDrawn="1"/>
          </p:nvSpPr>
          <p:spPr bwMode="auto">
            <a:xfrm>
              <a:off x="8519239" y="798513"/>
              <a:ext cx="38167" cy="50800"/>
            </a:xfrm>
            <a:custGeom>
              <a:avLst/>
              <a:gdLst>
                <a:gd name="T0" fmla="*/ 6 w 24"/>
                <a:gd name="T1" fmla="*/ 18 h 32"/>
                <a:gd name="T2" fmla="*/ 24 w 24"/>
                <a:gd name="T3" fmla="*/ 18 h 32"/>
                <a:gd name="T4" fmla="*/ 24 w 24"/>
                <a:gd name="T5" fmla="*/ 12 h 32"/>
                <a:gd name="T6" fmla="*/ 6 w 24"/>
                <a:gd name="T7" fmla="*/ 12 h 32"/>
                <a:gd name="T8" fmla="*/ 6 w 24"/>
                <a:gd name="T9" fmla="*/ 4 h 32"/>
                <a:gd name="T10" fmla="*/ 24 w 24"/>
                <a:gd name="T11" fmla="*/ 4 h 32"/>
                <a:gd name="T12" fmla="*/ 24 w 24"/>
                <a:gd name="T13" fmla="*/ 0 h 32"/>
                <a:gd name="T14" fmla="*/ 0 w 24"/>
                <a:gd name="T15" fmla="*/ 0 h 32"/>
                <a:gd name="T16" fmla="*/ 0 w 24"/>
                <a:gd name="T17" fmla="*/ 32 h 32"/>
                <a:gd name="T18" fmla="*/ 24 w 24"/>
                <a:gd name="T19" fmla="*/ 32 h 32"/>
                <a:gd name="T20" fmla="*/ 24 w 24"/>
                <a:gd name="T21" fmla="*/ 26 h 32"/>
                <a:gd name="T22" fmla="*/ 6 w 24"/>
                <a:gd name="T23" fmla="*/ 26 h 32"/>
                <a:gd name="T24" fmla="*/ 6 w 24"/>
                <a:gd name="T25" fmla="*/ 18 h 32"/>
                <a:gd name="T26" fmla="*/ 6 w 24"/>
                <a:gd name="T27" fmla="*/ 1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" h="32">
                  <a:moveTo>
                    <a:pt x="6" y="18"/>
                  </a:moveTo>
                  <a:lnTo>
                    <a:pt x="24" y="18"/>
                  </a:lnTo>
                  <a:lnTo>
                    <a:pt x="24" y="12"/>
                  </a:lnTo>
                  <a:lnTo>
                    <a:pt x="6" y="12"/>
                  </a:lnTo>
                  <a:lnTo>
                    <a:pt x="6" y="4"/>
                  </a:lnTo>
                  <a:lnTo>
                    <a:pt x="24" y="4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24" y="32"/>
                  </a:lnTo>
                  <a:lnTo>
                    <a:pt x="24" y="26"/>
                  </a:lnTo>
                  <a:lnTo>
                    <a:pt x="6" y="26"/>
                  </a:lnTo>
                  <a:lnTo>
                    <a:pt x="6" y="18"/>
                  </a:lnTo>
                  <a:lnTo>
                    <a:pt x="6" y="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Freeform 33"/>
            <p:cNvSpPr>
              <a:spLocks noEditPoints="1"/>
            </p:cNvSpPr>
            <p:nvPr userDrawn="1"/>
          </p:nvSpPr>
          <p:spPr bwMode="auto">
            <a:xfrm>
              <a:off x="8570129" y="798513"/>
              <a:ext cx="44528" cy="50800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1 w 14"/>
                <a:gd name="T15" fmla="*/ 16 h 16"/>
                <a:gd name="T16" fmla="*/ 14 w 14"/>
                <a:gd name="T17" fmla="*/ 16 h 16"/>
                <a:gd name="T18" fmla="*/ 9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Freeform 34"/>
            <p:cNvSpPr>
              <a:spLocks/>
            </p:cNvSpPr>
            <p:nvPr userDrawn="1"/>
          </p:nvSpPr>
          <p:spPr bwMode="auto">
            <a:xfrm>
              <a:off x="8617838" y="795338"/>
              <a:ext cx="44528" cy="53975"/>
            </a:xfrm>
            <a:custGeom>
              <a:avLst/>
              <a:gdLst>
                <a:gd name="T0" fmla="*/ 8 w 14"/>
                <a:gd name="T1" fmla="*/ 7 h 17"/>
                <a:gd name="T2" fmla="*/ 4 w 14"/>
                <a:gd name="T3" fmla="*/ 5 h 17"/>
                <a:gd name="T4" fmla="*/ 7 w 14"/>
                <a:gd name="T5" fmla="*/ 3 h 17"/>
                <a:gd name="T6" fmla="*/ 12 w 14"/>
                <a:gd name="T7" fmla="*/ 5 h 17"/>
                <a:gd name="T8" fmla="*/ 12 w 14"/>
                <a:gd name="T9" fmla="*/ 5 h 17"/>
                <a:gd name="T10" fmla="*/ 14 w 14"/>
                <a:gd name="T11" fmla="*/ 4 h 17"/>
                <a:gd name="T12" fmla="*/ 14 w 14"/>
                <a:gd name="T13" fmla="*/ 3 h 17"/>
                <a:gd name="T14" fmla="*/ 7 w 14"/>
                <a:gd name="T15" fmla="*/ 0 h 17"/>
                <a:gd name="T16" fmla="*/ 2 w 14"/>
                <a:gd name="T17" fmla="*/ 2 h 17"/>
                <a:gd name="T18" fmla="*/ 1 w 14"/>
                <a:gd name="T19" fmla="*/ 5 h 17"/>
                <a:gd name="T20" fmla="*/ 7 w 14"/>
                <a:gd name="T21" fmla="*/ 10 h 17"/>
                <a:gd name="T22" fmla="*/ 12 w 14"/>
                <a:gd name="T23" fmla="*/ 12 h 17"/>
                <a:gd name="T24" fmla="*/ 7 w 14"/>
                <a:gd name="T25" fmla="*/ 15 h 17"/>
                <a:gd name="T26" fmla="*/ 3 w 14"/>
                <a:gd name="T27" fmla="*/ 12 h 17"/>
                <a:gd name="T28" fmla="*/ 2 w 14"/>
                <a:gd name="T29" fmla="*/ 12 h 17"/>
                <a:gd name="T30" fmla="*/ 0 w 14"/>
                <a:gd name="T31" fmla="*/ 13 h 17"/>
                <a:gd name="T32" fmla="*/ 0 w 14"/>
                <a:gd name="T33" fmla="*/ 14 h 17"/>
                <a:gd name="T34" fmla="*/ 7 w 14"/>
                <a:gd name="T35" fmla="*/ 17 h 17"/>
                <a:gd name="T36" fmla="*/ 14 w 14"/>
                <a:gd name="T37" fmla="*/ 12 h 17"/>
                <a:gd name="T38" fmla="*/ 8 w 14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17">
                  <a:moveTo>
                    <a:pt x="8" y="7"/>
                  </a:moveTo>
                  <a:cubicBezTo>
                    <a:pt x="5" y="7"/>
                    <a:pt x="4" y="6"/>
                    <a:pt x="4" y="5"/>
                  </a:cubicBezTo>
                  <a:cubicBezTo>
                    <a:pt x="4" y="4"/>
                    <a:pt x="5" y="3"/>
                    <a:pt x="7" y="3"/>
                  </a:cubicBezTo>
                  <a:cubicBezTo>
                    <a:pt x="9" y="3"/>
                    <a:pt x="11" y="3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6" y="0"/>
                    <a:pt x="3" y="1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5" y="9"/>
                    <a:pt x="7" y="10"/>
                  </a:cubicBezTo>
                  <a:cubicBezTo>
                    <a:pt x="10" y="10"/>
                    <a:pt x="12" y="11"/>
                    <a:pt x="12" y="12"/>
                  </a:cubicBezTo>
                  <a:cubicBezTo>
                    <a:pt x="12" y="15"/>
                    <a:pt x="8" y="15"/>
                    <a:pt x="7" y="15"/>
                  </a:cubicBezTo>
                  <a:cubicBezTo>
                    <a:pt x="6" y="15"/>
                    <a:pt x="4" y="14"/>
                    <a:pt x="3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6"/>
                    <a:pt x="4" y="17"/>
                    <a:pt x="7" y="17"/>
                  </a:cubicBezTo>
                  <a:cubicBezTo>
                    <a:pt x="11" y="17"/>
                    <a:pt x="14" y="16"/>
                    <a:pt x="14" y="12"/>
                  </a:cubicBezTo>
                  <a:cubicBezTo>
                    <a:pt x="14" y="9"/>
                    <a:pt x="11" y="8"/>
                    <a:pt x="8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Freeform 35"/>
            <p:cNvSpPr>
              <a:spLocks/>
            </p:cNvSpPr>
            <p:nvPr userDrawn="1"/>
          </p:nvSpPr>
          <p:spPr bwMode="auto">
            <a:xfrm>
              <a:off x="8671908" y="798513"/>
              <a:ext cx="9542" cy="50800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Freeform 36"/>
            <p:cNvSpPr>
              <a:spLocks/>
            </p:cNvSpPr>
            <p:nvPr userDrawn="1"/>
          </p:nvSpPr>
          <p:spPr bwMode="auto">
            <a:xfrm>
              <a:off x="8690991" y="798513"/>
              <a:ext cx="84286" cy="50800"/>
            </a:xfrm>
            <a:custGeom>
              <a:avLst/>
              <a:gdLst>
                <a:gd name="T0" fmla="*/ 29 w 53"/>
                <a:gd name="T1" fmla="*/ 0 h 32"/>
                <a:gd name="T2" fmla="*/ 0 w 53"/>
                <a:gd name="T3" fmla="*/ 0 h 32"/>
                <a:gd name="T4" fmla="*/ 0 w 53"/>
                <a:gd name="T5" fmla="*/ 4 h 32"/>
                <a:gd name="T6" fmla="*/ 9 w 53"/>
                <a:gd name="T7" fmla="*/ 4 h 32"/>
                <a:gd name="T8" fmla="*/ 9 w 53"/>
                <a:gd name="T9" fmla="*/ 32 h 32"/>
                <a:gd name="T10" fmla="*/ 15 w 53"/>
                <a:gd name="T11" fmla="*/ 32 h 32"/>
                <a:gd name="T12" fmla="*/ 15 w 53"/>
                <a:gd name="T13" fmla="*/ 4 h 32"/>
                <a:gd name="T14" fmla="*/ 25 w 53"/>
                <a:gd name="T15" fmla="*/ 4 h 32"/>
                <a:gd name="T16" fmla="*/ 35 w 53"/>
                <a:gd name="T17" fmla="*/ 18 h 32"/>
                <a:gd name="T18" fmla="*/ 35 w 53"/>
                <a:gd name="T19" fmla="*/ 32 h 32"/>
                <a:gd name="T20" fmla="*/ 41 w 53"/>
                <a:gd name="T21" fmla="*/ 32 h 32"/>
                <a:gd name="T22" fmla="*/ 41 w 53"/>
                <a:gd name="T23" fmla="*/ 18 h 32"/>
                <a:gd name="T24" fmla="*/ 53 w 53"/>
                <a:gd name="T25" fmla="*/ 0 h 32"/>
                <a:gd name="T26" fmla="*/ 53 w 53"/>
                <a:gd name="T27" fmla="*/ 0 h 32"/>
                <a:gd name="T28" fmla="*/ 53 w 53"/>
                <a:gd name="T29" fmla="*/ 0 h 32"/>
                <a:gd name="T30" fmla="*/ 47 w 53"/>
                <a:gd name="T31" fmla="*/ 0 h 32"/>
                <a:gd name="T32" fmla="*/ 37 w 53"/>
                <a:gd name="T33" fmla="*/ 14 h 32"/>
                <a:gd name="T34" fmla="*/ 29 w 53"/>
                <a:gd name="T35" fmla="*/ 0 h 32"/>
                <a:gd name="T36" fmla="*/ 29 w 53"/>
                <a:gd name="T3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3" h="32">
                  <a:moveTo>
                    <a:pt x="29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9" y="4"/>
                  </a:lnTo>
                  <a:lnTo>
                    <a:pt x="9" y="32"/>
                  </a:lnTo>
                  <a:lnTo>
                    <a:pt x="15" y="32"/>
                  </a:lnTo>
                  <a:lnTo>
                    <a:pt x="15" y="4"/>
                  </a:lnTo>
                  <a:lnTo>
                    <a:pt x="25" y="4"/>
                  </a:lnTo>
                  <a:lnTo>
                    <a:pt x="35" y="18"/>
                  </a:lnTo>
                  <a:lnTo>
                    <a:pt x="35" y="32"/>
                  </a:lnTo>
                  <a:lnTo>
                    <a:pt x="41" y="32"/>
                  </a:lnTo>
                  <a:lnTo>
                    <a:pt x="41" y="18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47" y="0"/>
                  </a:lnTo>
                  <a:lnTo>
                    <a:pt x="37" y="14"/>
                  </a:lnTo>
                  <a:lnTo>
                    <a:pt x="29" y="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Freeform 37"/>
            <p:cNvSpPr>
              <a:spLocks/>
            </p:cNvSpPr>
            <p:nvPr userDrawn="1"/>
          </p:nvSpPr>
          <p:spPr bwMode="auto">
            <a:xfrm>
              <a:off x="8484252" y="371475"/>
              <a:ext cx="291025" cy="363538"/>
            </a:xfrm>
            <a:custGeom>
              <a:avLst/>
              <a:gdLst>
                <a:gd name="T0" fmla="*/ 92 w 92"/>
                <a:gd name="T1" fmla="*/ 0 h 115"/>
                <a:gd name="T2" fmla="*/ 92 w 92"/>
                <a:gd name="T3" fmla="*/ 71 h 115"/>
                <a:gd name="T4" fmla="*/ 49 w 92"/>
                <a:gd name="T5" fmla="*/ 115 h 115"/>
                <a:gd name="T6" fmla="*/ 0 w 92"/>
                <a:gd name="T7" fmla="*/ 70 h 115"/>
                <a:gd name="T8" fmla="*/ 0 w 92"/>
                <a:gd name="T9" fmla="*/ 0 h 115"/>
                <a:gd name="T10" fmla="*/ 22 w 92"/>
                <a:gd name="T11" fmla="*/ 0 h 115"/>
                <a:gd name="T12" fmla="*/ 22 w 92"/>
                <a:gd name="T13" fmla="*/ 72 h 115"/>
                <a:gd name="T14" fmla="*/ 50 w 92"/>
                <a:gd name="T15" fmla="*/ 105 h 115"/>
                <a:gd name="T16" fmla="*/ 79 w 92"/>
                <a:gd name="T17" fmla="*/ 73 h 115"/>
                <a:gd name="T18" fmla="*/ 79 w 92"/>
                <a:gd name="T19" fmla="*/ 0 h 115"/>
                <a:gd name="T20" fmla="*/ 92 w 92"/>
                <a:gd name="T21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5">
                  <a:moveTo>
                    <a:pt x="92" y="0"/>
                  </a:moveTo>
                  <a:cubicBezTo>
                    <a:pt x="92" y="71"/>
                    <a:pt x="92" y="71"/>
                    <a:pt x="92" y="71"/>
                  </a:cubicBezTo>
                  <a:cubicBezTo>
                    <a:pt x="92" y="109"/>
                    <a:pt x="62" y="115"/>
                    <a:pt x="49" y="115"/>
                  </a:cubicBezTo>
                  <a:cubicBezTo>
                    <a:pt x="25" y="115"/>
                    <a:pt x="0" y="107"/>
                    <a:pt x="0" y="7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2" y="93"/>
                    <a:pt x="32" y="105"/>
                    <a:pt x="50" y="105"/>
                  </a:cubicBezTo>
                  <a:cubicBezTo>
                    <a:pt x="66" y="105"/>
                    <a:pt x="79" y="95"/>
                    <a:pt x="79" y="73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92" y="0"/>
                    <a:pt x="92" y="0"/>
                    <a:pt x="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Freeform 38"/>
            <p:cNvSpPr>
              <a:spLocks/>
            </p:cNvSpPr>
            <p:nvPr userDrawn="1"/>
          </p:nvSpPr>
          <p:spPr bwMode="auto">
            <a:xfrm>
              <a:off x="8096219" y="365125"/>
              <a:ext cx="337144" cy="369888"/>
            </a:xfrm>
            <a:custGeom>
              <a:avLst/>
              <a:gdLst>
                <a:gd name="T0" fmla="*/ 61 w 106"/>
                <a:gd name="T1" fmla="*/ 117 h 117"/>
                <a:gd name="T2" fmla="*/ 0 w 106"/>
                <a:gd name="T3" fmla="*/ 60 h 117"/>
                <a:gd name="T4" fmla="*/ 63 w 106"/>
                <a:gd name="T5" fmla="*/ 0 h 117"/>
                <a:gd name="T6" fmla="*/ 97 w 106"/>
                <a:gd name="T7" fmla="*/ 13 h 117"/>
                <a:gd name="T8" fmla="*/ 106 w 106"/>
                <a:gd name="T9" fmla="*/ 28 h 117"/>
                <a:gd name="T10" fmla="*/ 94 w 106"/>
                <a:gd name="T11" fmla="*/ 39 h 117"/>
                <a:gd name="T12" fmla="*/ 83 w 106"/>
                <a:gd name="T13" fmla="*/ 28 h 117"/>
                <a:gd name="T14" fmla="*/ 86 w 106"/>
                <a:gd name="T15" fmla="*/ 20 h 117"/>
                <a:gd name="T16" fmla="*/ 63 w 106"/>
                <a:gd name="T17" fmla="*/ 10 h 117"/>
                <a:gd name="T18" fmla="*/ 21 w 106"/>
                <a:gd name="T19" fmla="*/ 58 h 117"/>
                <a:gd name="T20" fmla="*/ 65 w 106"/>
                <a:gd name="T21" fmla="*/ 108 h 117"/>
                <a:gd name="T22" fmla="*/ 102 w 106"/>
                <a:gd name="T23" fmla="*/ 93 h 117"/>
                <a:gd name="T24" fmla="*/ 106 w 106"/>
                <a:gd name="T25" fmla="*/ 99 h 117"/>
                <a:gd name="T26" fmla="*/ 61 w 106"/>
                <a:gd name="T2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6" h="117">
                  <a:moveTo>
                    <a:pt x="61" y="117"/>
                  </a:moveTo>
                  <a:cubicBezTo>
                    <a:pt x="23" y="117"/>
                    <a:pt x="0" y="91"/>
                    <a:pt x="0" y="60"/>
                  </a:cubicBezTo>
                  <a:cubicBezTo>
                    <a:pt x="0" y="29"/>
                    <a:pt x="24" y="0"/>
                    <a:pt x="63" y="0"/>
                  </a:cubicBezTo>
                  <a:cubicBezTo>
                    <a:pt x="74" y="0"/>
                    <a:pt x="88" y="4"/>
                    <a:pt x="97" y="13"/>
                  </a:cubicBezTo>
                  <a:cubicBezTo>
                    <a:pt x="102" y="16"/>
                    <a:pt x="106" y="23"/>
                    <a:pt x="106" y="28"/>
                  </a:cubicBezTo>
                  <a:cubicBezTo>
                    <a:pt x="106" y="34"/>
                    <a:pt x="101" y="39"/>
                    <a:pt x="94" y="39"/>
                  </a:cubicBezTo>
                  <a:cubicBezTo>
                    <a:pt x="88" y="39"/>
                    <a:pt x="83" y="34"/>
                    <a:pt x="83" y="28"/>
                  </a:cubicBezTo>
                  <a:cubicBezTo>
                    <a:pt x="83" y="25"/>
                    <a:pt x="84" y="22"/>
                    <a:pt x="86" y="20"/>
                  </a:cubicBezTo>
                  <a:cubicBezTo>
                    <a:pt x="81" y="14"/>
                    <a:pt x="71" y="10"/>
                    <a:pt x="63" y="10"/>
                  </a:cubicBezTo>
                  <a:cubicBezTo>
                    <a:pt x="36" y="10"/>
                    <a:pt x="21" y="35"/>
                    <a:pt x="21" y="58"/>
                  </a:cubicBezTo>
                  <a:cubicBezTo>
                    <a:pt x="21" y="85"/>
                    <a:pt x="38" y="108"/>
                    <a:pt x="65" y="108"/>
                  </a:cubicBezTo>
                  <a:cubicBezTo>
                    <a:pt x="79" y="108"/>
                    <a:pt x="90" y="102"/>
                    <a:pt x="102" y="93"/>
                  </a:cubicBezTo>
                  <a:cubicBezTo>
                    <a:pt x="106" y="99"/>
                    <a:pt x="106" y="99"/>
                    <a:pt x="106" y="99"/>
                  </a:cubicBezTo>
                  <a:cubicBezTo>
                    <a:pt x="94" y="111"/>
                    <a:pt x="77" y="117"/>
                    <a:pt x="61" y="1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Freeform 39"/>
            <p:cNvSpPr>
              <a:spLocks noEditPoints="1"/>
            </p:cNvSpPr>
            <p:nvPr userDrawn="1"/>
          </p:nvSpPr>
          <p:spPr bwMode="auto">
            <a:xfrm>
              <a:off x="7760666" y="371475"/>
              <a:ext cx="329192" cy="357188"/>
            </a:xfrm>
            <a:custGeom>
              <a:avLst/>
              <a:gdLst>
                <a:gd name="T0" fmla="*/ 163 w 207"/>
                <a:gd name="T1" fmla="*/ 225 h 225"/>
                <a:gd name="T2" fmla="*/ 207 w 207"/>
                <a:gd name="T3" fmla="*/ 225 h 225"/>
                <a:gd name="T4" fmla="*/ 119 w 207"/>
                <a:gd name="T5" fmla="*/ 0 h 225"/>
                <a:gd name="T6" fmla="*/ 85 w 207"/>
                <a:gd name="T7" fmla="*/ 0 h 225"/>
                <a:gd name="T8" fmla="*/ 0 w 207"/>
                <a:gd name="T9" fmla="*/ 225 h 225"/>
                <a:gd name="T10" fmla="*/ 21 w 207"/>
                <a:gd name="T11" fmla="*/ 225 h 225"/>
                <a:gd name="T12" fmla="*/ 47 w 207"/>
                <a:gd name="T13" fmla="*/ 161 h 225"/>
                <a:gd name="T14" fmla="*/ 139 w 207"/>
                <a:gd name="T15" fmla="*/ 161 h 225"/>
                <a:gd name="T16" fmla="*/ 163 w 207"/>
                <a:gd name="T17" fmla="*/ 225 h 225"/>
                <a:gd name="T18" fmla="*/ 163 w 207"/>
                <a:gd name="T19" fmla="*/ 225 h 225"/>
                <a:gd name="T20" fmla="*/ 53 w 207"/>
                <a:gd name="T21" fmla="*/ 141 h 225"/>
                <a:gd name="T22" fmla="*/ 93 w 207"/>
                <a:gd name="T23" fmla="*/ 36 h 225"/>
                <a:gd name="T24" fmla="*/ 133 w 207"/>
                <a:gd name="T25" fmla="*/ 141 h 225"/>
                <a:gd name="T26" fmla="*/ 53 w 207"/>
                <a:gd name="T27" fmla="*/ 141 h 225"/>
                <a:gd name="T28" fmla="*/ 53 w 207"/>
                <a:gd name="T29" fmla="*/ 14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7" h="225">
                  <a:moveTo>
                    <a:pt x="163" y="225"/>
                  </a:moveTo>
                  <a:lnTo>
                    <a:pt x="207" y="225"/>
                  </a:lnTo>
                  <a:lnTo>
                    <a:pt x="119" y="0"/>
                  </a:lnTo>
                  <a:lnTo>
                    <a:pt x="85" y="0"/>
                  </a:lnTo>
                  <a:lnTo>
                    <a:pt x="0" y="225"/>
                  </a:lnTo>
                  <a:lnTo>
                    <a:pt x="21" y="225"/>
                  </a:lnTo>
                  <a:lnTo>
                    <a:pt x="47" y="161"/>
                  </a:lnTo>
                  <a:lnTo>
                    <a:pt x="139" y="161"/>
                  </a:lnTo>
                  <a:lnTo>
                    <a:pt x="163" y="225"/>
                  </a:lnTo>
                  <a:lnTo>
                    <a:pt x="163" y="225"/>
                  </a:lnTo>
                  <a:close/>
                  <a:moveTo>
                    <a:pt x="53" y="141"/>
                  </a:moveTo>
                  <a:lnTo>
                    <a:pt x="93" y="36"/>
                  </a:lnTo>
                  <a:lnTo>
                    <a:pt x="133" y="141"/>
                  </a:lnTo>
                  <a:lnTo>
                    <a:pt x="53" y="141"/>
                  </a:lnTo>
                  <a:lnTo>
                    <a:pt x="53" y="1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63114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" name="Object 46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17153327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47" name="Object 4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40871" y="689568"/>
            <a:ext cx="6733042" cy="538609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sz="290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50" name="Text Placeholder 49"/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440871" y="1463720"/>
            <a:ext cx="8284029" cy="427259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90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Body</a:t>
            </a:r>
          </a:p>
        </p:txBody>
      </p:sp>
      <p:sp>
        <p:nvSpPr>
          <p:cNvPr id="52" name="Text Placeholder 51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40871" y="-8733"/>
            <a:ext cx="4343399" cy="462758"/>
          </a:xfrm>
        </p:spPr>
        <p:txBody>
          <a:bodyPr anchor="ctr">
            <a:normAutofit/>
          </a:bodyPr>
          <a:lstStyle>
            <a:lvl1pPr marL="0" indent="0">
              <a:buNone/>
              <a:defRPr sz="150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Section heading</a:t>
            </a:r>
          </a:p>
        </p:txBody>
      </p:sp>
      <p:sp>
        <p:nvSpPr>
          <p:cNvPr id="8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8929" y="6510471"/>
            <a:ext cx="448128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A89BA3-132D-40E1-AAB4-CDCD0A14C216}" type="slidenum">
              <a:rPr lang="en-AU" smtClean="0"/>
              <a:pPr/>
              <a:t>‹#›</a:t>
            </a:fld>
            <a:r>
              <a:rPr lang="en-AU" dirty="0"/>
              <a:t>  |</a:t>
            </a:r>
          </a:p>
        </p:txBody>
      </p:sp>
      <p:sp>
        <p:nvSpPr>
          <p:cNvPr id="8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757" y="6510471"/>
            <a:ext cx="4188129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Faculty of Business and Law | Peter Faber Business School</a:t>
            </a:r>
          </a:p>
        </p:txBody>
      </p:sp>
    </p:spTree>
    <p:extLst>
      <p:ext uri="{BB962C8B-B14F-4D97-AF65-F5344CB8AC3E}">
        <p14:creationId xmlns:p14="http://schemas.microsoft.com/office/powerpoint/2010/main" val="2718792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>
            <a:spLocks noGrp="1"/>
          </p:cNvSpPr>
          <p:nvPr>
            <p:ph type="title" hasCustomPrompt="1"/>
          </p:nvPr>
        </p:nvSpPr>
        <p:spPr>
          <a:xfrm>
            <a:off x="440871" y="770735"/>
            <a:ext cx="6733042" cy="538609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sz="290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42" name="Text Placeholder 45"/>
          <p:cNvSpPr>
            <a:spLocks noGrp="1"/>
          </p:cNvSpPr>
          <p:nvPr>
            <p:ph type="body" sz="quarter" idx="13" hasCustomPrompt="1"/>
          </p:nvPr>
        </p:nvSpPr>
        <p:spPr>
          <a:xfrm>
            <a:off x="440871" y="1339935"/>
            <a:ext cx="6734398" cy="507831"/>
          </a:xfrm>
        </p:spPr>
        <p:txBody>
          <a:bodyPr anchor="ctr">
            <a:spAutoFit/>
          </a:bodyPr>
          <a:lstStyle>
            <a:lvl1pPr marL="0" indent="0">
              <a:lnSpc>
                <a:spcPct val="100000"/>
              </a:lnSpc>
              <a:buNone/>
              <a:defRPr sz="270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Sub Title</a:t>
            </a:r>
          </a:p>
        </p:txBody>
      </p:sp>
      <p:sp>
        <p:nvSpPr>
          <p:cNvPr id="43" name="Text Placeholder 47"/>
          <p:cNvSpPr>
            <a:spLocks noGrp="1"/>
          </p:cNvSpPr>
          <p:nvPr>
            <p:ph type="body" sz="quarter" idx="14" hasCustomPrompt="1"/>
          </p:nvPr>
        </p:nvSpPr>
        <p:spPr>
          <a:xfrm>
            <a:off x="440872" y="2275570"/>
            <a:ext cx="8284028" cy="359681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2000" b="1" baseline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Sub heading</a:t>
            </a:r>
          </a:p>
        </p:txBody>
      </p:sp>
      <p:sp>
        <p:nvSpPr>
          <p:cNvPr id="83" name="Text Placeholder 49"/>
          <p:cNvSpPr>
            <a:spLocks noGrp="1"/>
          </p:cNvSpPr>
          <p:nvPr>
            <p:ph type="body" sz="quarter" idx="15" hasCustomPrompt="1"/>
          </p:nvPr>
        </p:nvSpPr>
        <p:spPr>
          <a:xfrm>
            <a:off x="440871" y="2640809"/>
            <a:ext cx="8284029" cy="309551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90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Body</a:t>
            </a:r>
          </a:p>
        </p:txBody>
      </p:sp>
      <p:sp>
        <p:nvSpPr>
          <p:cNvPr id="8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758" y="6510471"/>
            <a:ext cx="3872246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8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8929" y="6510471"/>
            <a:ext cx="448128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A89BA3-132D-40E1-AAB4-CDCD0A14C216}" type="slidenum">
              <a:rPr lang="en-AU" smtClean="0"/>
              <a:pPr/>
              <a:t>‹#›</a:t>
            </a:fld>
            <a:r>
              <a:rPr lang="en-AU" dirty="0"/>
              <a:t>  |</a:t>
            </a:r>
          </a:p>
        </p:txBody>
      </p:sp>
    </p:spTree>
    <p:extLst>
      <p:ext uri="{BB962C8B-B14F-4D97-AF65-F5344CB8AC3E}">
        <p14:creationId xmlns:p14="http://schemas.microsoft.com/office/powerpoint/2010/main" val="3208934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1" y="1626054"/>
            <a:ext cx="3867150" cy="4271941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651000"/>
            <a:ext cx="3887788" cy="4246995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7" name="Title 1"/>
          <p:cNvSpPr>
            <a:spLocks noGrp="1"/>
          </p:cNvSpPr>
          <p:nvPr>
            <p:ph type="title" hasCustomPrompt="1"/>
          </p:nvPr>
        </p:nvSpPr>
        <p:spPr>
          <a:xfrm>
            <a:off x="440871" y="793049"/>
            <a:ext cx="6734398" cy="493981"/>
          </a:xfrm>
        </p:spPr>
        <p:txBody>
          <a:bodyPr>
            <a:spAutoFit/>
          </a:bodyPr>
          <a:lstStyle>
            <a:lvl1pPr>
              <a:defRPr sz="290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8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757" y="6510471"/>
            <a:ext cx="3887787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8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8929" y="6510471"/>
            <a:ext cx="448128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A89BA3-132D-40E1-AAB4-CDCD0A14C216}" type="slidenum">
              <a:rPr lang="en-AU" smtClean="0"/>
              <a:pPr/>
              <a:t>‹#›</a:t>
            </a:fld>
            <a:r>
              <a:rPr lang="en-AU" dirty="0"/>
              <a:t>  |</a:t>
            </a:r>
          </a:p>
        </p:txBody>
      </p:sp>
    </p:spTree>
    <p:extLst>
      <p:ext uri="{BB962C8B-B14F-4D97-AF65-F5344CB8AC3E}">
        <p14:creationId xmlns:p14="http://schemas.microsoft.com/office/powerpoint/2010/main" val="1289585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3888" y="1864188"/>
            <a:ext cx="7886700" cy="4070577"/>
          </a:xfr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98929" y="1056579"/>
            <a:ext cx="6734398" cy="493981"/>
          </a:xfrm>
        </p:spPr>
        <p:txBody>
          <a:bodyPr>
            <a:normAutofit/>
          </a:bodyPr>
          <a:lstStyle>
            <a:lvl1pPr>
              <a:defRPr sz="290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4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758" y="6510471"/>
            <a:ext cx="3086100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8929" y="6510471"/>
            <a:ext cx="448128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A89BA3-132D-40E1-AAB4-CDCD0A14C216}" type="slidenum">
              <a:rPr lang="en-AU" smtClean="0"/>
              <a:pPr/>
              <a:t>‹#›</a:t>
            </a:fld>
            <a:r>
              <a:rPr lang="en-AU" dirty="0"/>
              <a:t>  |</a:t>
            </a:r>
          </a:p>
        </p:txBody>
      </p:sp>
    </p:spTree>
    <p:extLst>
      <p:ext uri="{BB962C8B-B14F-4D97-AF65-F5344CB8AC3E}">
        <p14:creationId xmlns:p14="http://schemas.microsoft.com/office/powerpoint/2010/main" val="3406363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 White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-3175"/>
            <a:ext cx="914241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AutoShape 3"/>
          <p:cNvSpPr>
            <a:spLocks noChangeAspect="1" noChangeArrowheads="1" noTextEdit="1"/>
          </p:cNvSpPr>
          <p:nvPr userDrawn="1"/>
        </p:nvSpPr>
        <p:spPr bwMode="auto">
          <a:xfrm>
            <a:off x="1588" y="0"/>
            <a:ext cx="91408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reeform 6"/>
          <p:cNvSpPr>
            <a:spLocks/>
          </p:cNvSpPr>
          <p:nvPr userDrawn="1"/>
        </p:nvSpPr>
        <p:spPr bwMode="auto">
          <a:xfrm>
            <a:off x="1588" y="-3175"/>
            <a:ext cx="5030788" cy="457200"/>
          </a:xfrm>
          <a:custGeom>
            <a:avLst/>
            <a:gdLst>
              <a:gd name="T0" fmla="*/ 0 w 3169"/>
              <a:gd name="T1" fmla="*/ 0 h 288"/>
              <a:gd name="T2" fmla="*/ 3169 w 3169"/>
              <a:gd name="T3" fmla="*/ 0 h 288"/>
              <a:gd name="T4" fmla="*/ 2879 w 3169"/>
              <a:gd name="T5" fmla="*/ 288 h 288"/>
              <a:gd name="T6" fmla="*/ 0 w 3169"/>
              <a:gd name="T7" fmla="*/ 288 h 288"/>
              <a:gd name="T8" fmla="*/ 0 w 3169"/>
              <a:gd name="T9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169" h="288">
                <a:moveTo>
                  <a:pt x="0" y="0"/>
                </a:moveTo>
                <a:lnTo>
                  <a:pt x="3169" y="0"/>
                </a:lnTo>
                <a:lnTo>
                  <a:pt x="2879" y="288"/>
                </a:lnTo>
                <a:lnTo>
                  <a:pt x="0" y="288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reeform 8"/>
          <p:cNvSpPr>
            <a:spLocks/>
          </p:cNvSpPr>
          <p:nvPr userDrawn="1"/>
        </p:nvSpPr>
        <p:spPr bwMode="auto">
          <a:xfrm>
            <a:off x="4572001" y="6397625"/>
            <a:ext cx="4570413" cy="457200"/>
          </a:xfrm>
          <a:custGeom>
            <a:avLst/>
            <a:gdLst>
              <a:gd name="T0" fmla="*/ 2879 w 2879"/>
              <a:gd name="T1" fmla="*/ 288 h 288"/>
              <a:gd name="T2" fmla="*/ 0 w 2879"/>
              <a:gd name="T3" fmla="*/ 288 h 288"/>
              <a:gd name="T4" fmla="*/ 290 w 2879"/>
              <a:gd name="T5" fmla="*/ 0 h 288"/>
              <a:gd name="T6" fmla="*/ 2879 w 2879"/>
              <a:gd name="T7" fmla="*/ 0 h 288"/>
              <a:gd name="T8" fmla="*/ 2879 w 2879"/>
              <a:gd name="T9" fmla="*/ 288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79" h="288">
                <a:moveTo>
                  <a:pt x="2879" y="288"/>
                </a:moveTo>
                <a:lnTo>
                  <a:pt x="0" y="288"/>
                </a:lnTo>
                <a:lnTo>
                  <a:pt x="290" y="0"/>
                </a:lnTo>
                <a:lnTo>
                  <a:pt x="2879" y="0"/>
                </a:lnTo>
                <a:lnTo>
                  <a:pt x="2879" y="288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reeform 9"/>
          <p:cNvSpPr>
            <a:spLocks/>
          </p:cNvSpPr>
          <p:nvPr userDrawn="1"/>
        </p:nvSpPr>
        <p:spPr bwMode="auto">
          <a:xfrm>
            <a:off x="7399338" y="371475"/>
            <a:ext cx="288925" cy="371475"/>
          </a:xfrm>
          <a:custGeom>
            <a:avLst/>
            <a:gdLst>
              <a:gd name="T0" fmla="*/ 91 w 91"/>
              <a:gd name="T1" fmla="*/ 0 h 117"/>
              <a:gd name="T2" fmla="*/ 91 w 91"/>
              <a:gd name="T3" fmla="*/ 51 h 117"/>
              <a:gd name="T4" fmla="*/ 46 w 91"/>
              <a:gd name="T5" fmla="*/ 117 h 117"/>
              <a:gd name="T6" fmla="*/ 0 w 91"/>
              <a:gd name="T7" fmla="*/ 51 h 117"/>
              <a:gd name="T8" fmla="*/ 0 w 91"/>
              <a:gd name="T9" fmla="*/ 0 h 117"/>
              <a:gd name="T10" fmla="*/ 91 w 91"/>
              <a:gd name="T11" fmla="*/ 0 h 1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1" h="117">
                <a:moveTo>
                  <a:pt x="91" y="0"/>
                </a:moveTo>
                <a:cubicBezTo>
                  <a:pt x="91" y="51"/>
                  <a:pt x="91" y="51"/>
                  <a:pt x="91" y="51"/>
                </a:cubicBezTo>
                <a:cubicBezTo>
                  <a:pt x="91" y="77"/>
                  <a:pt x="74" y="105"/>
                  <a:pt x="46" y="117"/>
                </a:cubicBezTo>
                <a:cubicBezTo>
                  <a:pt x="18" y="105"/>
                  <a:pt x="0" y="77"/>
                  <a:pt x="0" y="51"/>
                </a:cubicBezTo>
                <a:cubicBezTo>
                  <a:pt x="0" y="0"/>
                  <a:pt x="0" y="0"/>
                  <a:pt x="0" y="0"/>
                </a:cubicBezTo>
                <a:cubicBezTo>
                  <a:pt x="91" y="0"/>
                  <a:pt x="91" y="0"/>
                  <a:pt x="91" y="0"/>
                </a:cubicBezTo>
                <a:close/>
              </a:path>
            </a:pathLst>
          </a:custGeom>
          <a:solidFill>
            <a:srgbClr val="E2231A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reeform 10"/>
          <p:cNvSpPr>
            <a:spLocks/>
          </p:cNvSpPr>
          <p:nvPr userDrawn="1"/>
        </p:nvSpPr>
        <p:spPr bwMode="auto">
          <a:xfrm>
            <a:off x="7453313" y="415925"/>
            <a:ext cx="180975" cy="238125"/>
          </a:xfrm>
          <a:custGeom>
            <a:avLst/>
            <a:gdLst>
              <a:gd name="T0" fmla="*/ 0 w 114"/>
              <a:gd name="T1" fmla="*/ 74 h 150"/>
              <a:gd name="T2" fmla="*/ 58 w 114"/>
              <a:gd name="T3" fmla="*/ 0 h 150"/>
              <a:gd name="T4" fmla="*/ 114 w 114"/>
              <a:gd name="T5" fmla="*/ 74 h 150"/>
              <a:gd name="T6" fmla="*/ 58 w 114"/>
              <a:gd name="T7" fmla="*/ 150 h 150"/>
              <a:gd name="T8" fmla="*/ 0 w 114"/>
              <a:gd name="T9" fmla="*/ 74 h 150"/>
              <a:gd name="T10" fmla="*/ 0 w 114"/>
              <a:gd name="T11" fmla="*/ 74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" h="150">
                <a:moveTo>
                  <a:pt x="0" y="74"/>
                </a:moveTo>
                <a:lnTo>
                  <a:pt x="58" y="0"/>
                </a:lnTo>
                <a:lnTo>
                  <a:pt x="114" y="74"/>
                </a:lnTo>
                <a:lnTo>
                  <a:pt x="58" y="150"/>
                </a:lnTo>
                <a:lnTo>
                  <a:pt x="0" y="74"/>
                </a:lnTo>
                <a:lnTo>
                  <a:pt x="0" y="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Freeform 11"/>
          <p:cNvSpPr>
            <a:spLocks/>
          </p:cNvSpPr>
          <p:nvPr userDrawn="1"/>
        </p:nvSpPr>
        <p:spPr bwMode="auto">
          <a:xfrm>
            <a:off x="7478713" y="466725"/>
            <a:ext cx="130175" cy="155575"/>
          </a:xfrm>
          <a:custGeom>
            <a:avLst/>
            <a:gdLst>
              <a:gd name="T0" fmla="*/ 18 w 41"/>
              <a:gd name="T1" fmla="*/ 26 h 49"/>
              <a:gd name="T2" fmla="*/ 21 w 41"/>
              <a:gd name="T3" fmla="*/ 49 h 49"/>
              <a:gd name="T4" fmla="*/ 21 w 41"/>
              <a:gd name="T5" fmla="*/ 49 h 49"/>
              <a:gd name="T6" fmla="*/ 21 w 41"/>
              <a:gd name="T7" fmla="*/ 49 h 49"/>
              <a:gd name="T8" fmla="*/ 23 w 41"/>
              <a:gd name="T9" fmla="*/ 26 h 49"/>
              <a:gd name="T10" fmla="*/ 23 w 41"/>
              <a:gd name="T11" fmla="*/ 24 h 49"/>
              <a:gd name="T12" fmla="*/ 32 w 41"/>
              <a:gd name="T13" fmla="*/ 24 h 49"/>
              <a:gd name="T14" fmla="*/ 32 w 41"/>
              <a:gd name="T15" fmla="*/ 25 h 49"/>
              <a:gd name="T16" fmla="*/ 35 w 41"/>
              <a:gd name="T17" fmla="*/ 28 h 49"/>
              <a:gd name="T18" fmla="*/ 37 w 41"/>
              <a:gd name="T19" fmla="*/ 25 h 49"/>
              <a:gd name="T20" fmla="*/ 37 w 41"/>
              <a:gd name="T21" fmla="*/ 24 h 49"/>
              <a:gd name="T22" fmla="*/ 38 w 41"/>
              <a:gd name="T23" fmla="*/ 24 h 49"/>
              <a:gd name="T24" fmla="*/ 41 w 41"/>
              <a:gd name="T25" fmla="*/ 21 h 49"/>
              <a:gd name="T26" fmla="*/ 38 w 41"/>
              <a:gd name="T27" fmla="*/ 19 h 49"/>
              <a:gd name="T28" fmla="*/ 37 w 41"/>
              <a:gd name="T29" fmla="*/ 19 h 49"/>
              <a:gd name="T30" fmla="*/ 37 w 41"/>
              <a:gd name="T31" fmla="*/ 18 h 49"/>
              <a:gd name="T32" fmla="*/ 35 w 41"/>
              <a:gd name="T33" fmla="*/ 15 h 49"/>
              <a:gd name="T34" fmla="*/ 32 w 41"/>
              <a:gd name="T35" fmla="*/ 18 h 49"/>
              <a:gd name="T36" fmla="*/ 32 w 41"/>
              <a:gd name="T37" fmla="*/ 19 h 49"/>
              <a:gd name="T38" fmla="*/ 23 w 41"/>
              <a:gd name="T39" fmla="*/ 19 h 49"/>
              <a:gd name="T40" fmla="*/ 23 w 41"/>
              <a:gd name="T41" fmla="*/ 9 h 49"/>
              <a:gd name="T42" fmla="*/ 24 w 41"/>
              <a:gd name="T43" fmla="*/ 9 h 49"/>
              <a:gd name="T44" fmla="*/ 27 w 41"/>
              <a:gd name="T45" fmla="*/ 6 h 49"/>
              <a:gd name="T46" fmla="*/ 24 w 41"/>
              <a:gd name="T47" fmla="*/ 3 h 49"/>
              <a:gd name="T48" fmla="*/ 23 w 41"/>
              <a:gd name="T49" fmla="*/ 3 h 49"/>
              <a:gd name="T50" fmla="*/ 23 w 41"/>
              <a:gd name="T51" fmla="*/ 3 h 49"/>
              <a:gd name="T52" fmla="*/ 21 w 41"/>
              <a:gd name="T53" fmla="*/ 0 h 49"/>
              <a:gd name="T54" fmla="*/ 18 w 41"/>
              <a:gd name="T55" fmla="*/ 3 h 49"/>
              <a:gd name="T56" fmla="*/ 18 w 41"/>
              <a:gd name="T57" fmla="*/ 3 h 49"/>
              <a:gd name="T58" fmla="*/ 17 w 41"/>
              <a:gd name="T59" fmla="*/ 3 h 49"/>
              <a:gd name="T60" fmla="*/ 14 w 41"/>
              <a:gd name="T61" fmla="*/ 6 h 49"/>
              <a:gd name="T62" fmla="*/ 17 w 41"/>
              <a:gd name="T63" fmla="*/ 9 h 49"/>
              <a:gd name="T64" fmla="*/ 18 w 41"/>
              <a:gd name="T65" fmla="*/ 9 h 49"/>
              <a:gd name="T66" fmla="*/ 18 w 41"/>
              <a:gd name="T67" fmla="*/ 19 h 49"/>
              <a:gd name="T68" fmla="*/ 18 w 41"/>
              <a:gd name="T69" fmla="*/ 19 h 49"/>
              <a:gd name="T70" fmla="*/ 10 w 41"/>
              <a:gd name="T71" fmla="*/ 19 h 49"/>
              <a:gd name="T72" fmla="*/ 10 w 41"/>
              <a:gd name="T73" fmla="*/ 18 h 49"/>
              <a:gd name="T74" fmla="*/ 7 w 41"/>
              <a:gd name="T75" fmla="*/ 15 h 49"/>
              <a:gd name="T76" fmla="*/ 4 w 41"/>
              <a:gd name="T77" fmla="*/ 18 h 49"/>
              <a:gd name="T78" fmla="*/ 4 w 41"/>
              <a:gd name="T79" fmla="*/ 19 h 49"/>
              <a:gd name="T80" fmla="*/ 4 w 41"/>
              <a:gd name="T81" fmla="*/ 19 h 49"/>
              <a:gd name="T82" fmla="*/ 0 w 41"/>
              <a:gd name="T83" fmla="*/ 21 h 49"/>
              <a:gd name="T84" fmla="*/ 4 w 41"/>
              <a:gd name="T85" fmla="*/ 24 h 49"/>
              <a:gd name="T86" fmla="*/ 4 w 41"/>
              <a:gd name="T87" fmla="*/ 24 h 49"/>
              <a:gd name="T88" fmla="*/ 4 w 41"/>
              <a:gd name="T89" fmla="*/ 25 h 49"/>
              <a:gd name="T90" fmla="*/ 7 w 41"/>
              <a:gd name="T91" fmla="*/ 28 h 49"/>
              <a:gd name="T92" fmla="*/ 10 w 41"/>
              <a:gd name="T93" fmla="*/ 25 h 49"/>
              <a:gd name="T94" fmla="*/ 10 w 41"/>
              <a:gd name="T95" fmla="*/ 24 h 49"/>
              <a:gd name="T96" fmla="*/ 18 w 41"/>
              <a:gd name="T97" fmla="*/ 24 h 49"/>
              <a:gd name="T98" fmla="*/ 18 w 41"/>
              <a:gd name="T99" fmla="*/ 26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41" h="49">
                <a:moveTo>
                  <a:pt x="18" y="26"/>
                </a:moveTo>
                <a:cubicBezTo>
                  <a:pt x="18" y="36"/>
                  <a:pt x="20" y="48"/>
                  <a:pt x="21" y="49"/>
                </a:cubicBezTo>
                <a:cubicBezTo>
                  <a:pt x="21" y="49"/>
                  <a:pt x="21" y="49"/>
                  <a:pt x="21" y="49"/>
                </a:cubicBezTo>
                <a:cubicBezTo>
                  <a:pt x="21" y="49"/>
                  <a:pt x="21" y="49"/>
                  <a:pt x="21" y="49"/>
                </a:cubicBezTo>
                <a:cubicBezTo>
                  <a:pt x="21" y="48"/>
                  <a:pt x="23" y="36"/>
                  <a:pt x="23" y="26"/>
                </a:cubicBezTo>
                <a:cubicBezTo>
                  <a:pt x="23" y="24"/>
                  <a:pt x="23" y="24"/>
                  <a:pt x="23" y="24"/>
                </a:cubicBezTo>
                <a:cubicBezTo>
                  <a:pt x="32" y="24"/>
                  <a:pt x="32" y="24"/>
                  <a:pt x="32" y="24"/>
                </a:cubicBezTo>
                <a:cubicBezTo>
                  <a:pt x="32" y="25"/>
                  <a:pt x="32" y="25"/>
                  <a:pt x="32" y="25"/>
                </a:cubicBezTo>
                <a:cubicBezTo>
                  <a:pt x="32" y="26"/>
                  <a:pt x="33" y="28"/>
                  <a:pt x="35" y="28"/>
                </a:cubicBezTo>
                <a:cubicBezTo>
                  <a:pt x="36" y="28"/>
                  <a:pt x="37" y="26"/>
                  <a:pt x="37" y="25"/>
                </a:cubicBezTo>
                <a:cubicBezTo>
                  <a:pt x="37" y="24"/>
                  <a:pt x="37" y="24"/>
                  <a:pt x="37" y="24"/>
                </a:cubicBezTo>
                <a:cubicBezTo>
                  <a:pt x="38" y="24"/>
                  <a:pt x="38" y="24"/>
                  <a:pt x="38" y="24"/>
                </a:cubicBezTo>
                <a:cubicBezTo>
                  <a:pt x="39" y="24"/>
                  <a:pt x="41" y="23"/>
                  <a:pt x="41" y="21"/>
                </a:cubicBezTo>
                <a:cubicBezTo>
                  <a:pt x="41" y="20"/>
                  <a:pt x="39" y="19"/>
                  <a:pt x="38" y="19"/>
                </a:cubicBezTo>
                <a:cubicBezTo>
                  <a:pt x="37" y="19"/>
                  <a:pt x="37" y="19"/>
                  <a:pt x="37" y="19"/>
                </a:cubicBezTo>
                <a:cubicBezTo>
                  <a:pt x="37" y="18"/>
                  <a:pt x="37" y="18"/>
                  <a:pt x="37" y="18"/>
                </a:cubicBezTo>
                <a:cubicBezTo>
                  <a:pt x="37" y="17"/>
                  <a:pt x="36" y="15"/>
                  <a:pt x="35" y="15"/>
                </a:cubicBezTo>
                <a:cubicBezTo>
                  <a:pt x="33" y="15"/>
                  <a:pt x="32" y="17"/>
                  <a:pt x="32" y="18"/>
                </a:cubicBezTo>
                <a:cubicBezTo>
                  <a:pt x="32" y="19"/>
                  <a:pt x="32" y="19"/>
                  <a:pt x="32" y="19"/>
                </a:cubicBezTo>
                <a:cubicBezTo>
                  <a:pt x="23" y="19"/>
                  <a:pt x="23" y="19"/>
                  <a:pt x="23" y="19"/>
                </a:cubicBezTo>
                <a:cubicBezTo>
                  <a:pt x="23" y="9"/>
                  <a:pt x="23" y="9"/>
                  <a:pt x="23" y="9"/>
                </a:cubicBezTo>
                <a:cubicBezTo>
                  <a:pt x="24" y="9"/>
                  <a:pt x="24" y="9"/>
                  <a:pt x="24" y="9"/>
                </a:cubicBezTo>
                <a:cubicBezTo>
                  <a:pt x="25" y="9"/>
                  <a:pt x="27" y="8"/>
                  <a:pt x="27" y="6"/>
                </a:cubicBezTo>
                <a:cubicBezTo>
                  <a:pt x="27" y="5"/>
                  <a:pt x="25" y="3"/>
                  <a:pt x="24" y="3"/>
                </a:cubicBezTo>
                <a:cubicBezTo>
                  <a:pt x="23" y="3"/>
                  <a:pt x="23" y="3"/>
                  <a:pt x="23" y="3"/>
                </a:cubicBezTo>
                <a:cubicBezTo>
                  <a:pt x="23" y="3"/>
                  <a:pt x="23" y="3"/>
                  <a:pt x="23" y="3"/>
                </a:cubicBezTo>
                <a:cubicBezTo>
                  <a:pt x="23" y="1"/>
                  <a:pt x="22" y="0"/>
                  <a:pt x="21" y="0"/>
                </a:cubicBezTo>
                <a:cubicBezTo>
                  <a:pt x="19" y="0"/>
                  <a:pt x="18" y="1"/>
                  <a:pt x="18" y="3"/>
                </a:cubicBezTo>
                <a:cubicBezTo>
                  <a:pt x="18" y="3"/>
                  <a:pt x="18" y="3"/>
                  <a:pt x="18" y="3"/>
                </a:cubicBezTo>
                <a:cubicBezTo>
                  <a:pt x="17" y="3"/>
                  <a:pt x="17" y="3"/>
                  <a:pt x="17" y="3"/>
                </a:cubicBezTo>
                <a:cubicBezTo>
                  <a:pt x="16" y="3"/>
                  <a:pt x="14" y="5"/>
                  <a:pt x="14" y="6"/>
                </a:cubicBezTo>
                <a:cubicBezTo>
                  <a:pt x="14" y="8"/>
                  <a:pt x="16" y="9"/>
                  <a:pt x="17" y="9"/>
                </a:cubicBezTo>
                <a:cubicBezTo>
                  <a:pt x="18" y="9"/>
                  <a:pt x="18" y="9"/>
                  <a:pt x="18" y="9"/>
                </a:cubicBezTo>
                <a:cubicBezTo>
                  <a:pt x="18" y="19"/>
                  <a:pt x="18" y="19"/>
                  <a:pt x="18" y="19"/>
                </a:cubicBezTo>
                <a:cubicBezTo>
                  <a:pt x="18" y="19"/>
                  <a:pt x="18" y="19"/>
                  <a:pt x="18" y="19"/>
                </a:cubicBezTo>
                <a:cubicBezTo>
                  <a:pt x="10" y="19"/>
                  <a:pt x="10" y="19"/>
                  <a:pt x="10" y="19"/>
                </a:cubicBezTo>
                <a:cubicBezTo>
                  <a:pt x="10" y="18"/>
                  <a:pt x="10" y="18"/>
                  <a:pt x="10" y="18"/>
                </a:cubicBezTo>
                <a:cubicBezTo>
                  <a:pt x="10" y="17"/>
                  <a:pt x="8" y="15"/>
                  <a:pt x="7" y="15"/>
                </a:cubicBezTo>
                <a:cubicBezTo>
                  <a:pt x="5" y="15"/>
                  <a:pt x="4" y="17"/>
                  <a:pt x="4" y="18"/>
                </a:cubicBezTo>
                <a:cubicBezTo>
                  <a:pt x="4" y="19"/>
                  <a:pt x="4" y="19"/>
                  <a:pt x="4" y="19"/>
                </a:cubicBezTo>
                <a:cubicBezTo>
                  <a:pt x="4" y="19"/>
                  <a:pt x="4" y="19"/>
                  <a:pt x="4" y="19"/>
                </a:cubicBezTo>
                <a:cubicBezTo>
                  <a:pt x="2" y="19"/>
                  <a:pt x="0" y="20"/>
                  <a:pt x="0" y="21"/>
                </a:cubicBezTo>
                <a:cubicBezTo>
                  <a:pt x="0" y="23"/>
                  <a:pt x="2" y="24"/>
                  <a:pt x="4" y="24"/>
                </a:cubicBezTo>
                <a:cubicBezTo>
                  <a:pt x="4" y="24"/>
                  <a:pt x="4" y="24"/>
                  <a:pt x="4" y="24"/>
                </a:cubicBezTo>
                <a:cubicBezTo>
                  <a:pt x="4" y="25"/>
                  <a:pt x="4" y="25"/>
                  <a:pt x="4" y="25"/>
                </a:cubicBezTo>
                <a:cubicBezTo>
                  <a:pt x="4" y="26"/>
                  <a:pt x="5" y="28"/>
                  <a:pt x="7" y="28"/>
                </a:cubicBezTo>
                <a:cubicBezTo>
                  <a:pt x="8" y="28"/>
                  <a:pt x="10" y="26"/>
                  <a:pt x="10" y="25"/>
                </a:cubicBezTo>
                <a:cubicBezTo>
                  <a:pt x="10" y="24"/>
                  <a:pt x="10" y="24"/>
                  <a:pt x="10" y="24"/>
                </a:cubicBezTo>
                <a:cubicBezTo>
                  <a:pt x="18" y="24"/>
                  <a:pt x="18" y="24"/>
                  <a:pt x="18" y="24"/>
                </a:cubicBezTo>
                <a:cubicBezTo>
                  <a:pt x="18" y="26"/>
                  <a:pt x="18" y="26"/>
                  <a:pt x="18" y="26"/>
                </a:cubicBezTo>
                <a:close/>
              </a:path>
            </a:pathLst>
          </a:custGeom>
          <a:solidFill>
            <a:srgbClr val="E2231A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Freeform 12"/>
          <p:cNvSpPr>
            <a:spLocks noEditPoints="1"/>
          </p:cNvSpPr>
          <p:nvPr userDrawn="1"/>
        </p:nvSpPr>
        <p:spPr bwMode="auto">
          <a:xfrm>
            <a:off x="7399338" y="800100"/>
            <a:ext cx="53975" cy="50800"/>
          </a:xfrm>
          <a:custGeom>
            <a:avLst/>
            <a:gdLst>
              <a:gd name="T0" fmla="*/ 20 w 34"/>
              <a:gd name="T1" fmla="*/ 0 h 32"/>
              <a:gd name="T2" fmla="*/ 14 w 34"/>
              <a:gd name="T3" fmla="*/ 0 h 32"/>
              <a:gd name="T4" fmla="*/ 0 w 34"/>
              <a:gd name="T5" fmla="*/ 32 h 32"/>
              <a:gd name="T6" fmla="*/ 6 w 34"/>
              <a:gd name="T7" fmla="*/ 32 h 32"/>
              <a:gd name="T8" fmla="*/ 10 w 34"/>
              <a:gd name="T9" fmla="*/ 26 h 32"/>
              <a:gd name="T10" fmla="*/ 26 w 34"/>
              <a:gd name="T11" fmla="*/ 26 h 32"/>
              <a:gd name="T12" fmla="*/ 30 w 34"/>
              <a:gd name="T13" fmla="*/ 32 h 32"/>
              <a:gd name="T14" fmla="*/ 34 w 34"/>
              <a:gd name="T15" fmla="*/ 32 h 32"/>
              <a:gd name="T16" fmla="*/ 20 w 34"/>
              <a:gd name="T17" fmla="*/ 0 h 32"/>
              <a:gd name="T18" fmla="*/ 20 w 34"/>
              <a:gd name="T19" fmla="*/ 0 h 32"/>
              <a:gd name="T20" fmla="*/ 20 w 34"/>
              <a:gd name="T21" fmla="*/ 0 h 32"/>
              <a:gd name="T22" fmla="*/ 24 w 34"/>
              <a:gd name="T23" fmla="*/ 20 h 32"/>
              <a:gd name="T24" fmla="*/ 12 w 34"/>
              <a:gd name="T25" fmla="*/ 20 h 32"/>
              <a:gd name="T26" fmla="*/ 18 w 34"/>
              <a:gd name="T27" fmla="*/ 6 h 32"/>
              <a:gd name="T28" fmla="*/ 24 w 34"/>
              <a:gd name="T29" fmla="*/ 20 h 32"/>
              <a:gd name="T30" fmla="*/ 24 w 34"/>
              <a:gd name="T31" fmla="*/ 2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4" h="32">
                <a:moveTo>
                  <a:pt x="20" y="0"/>
                </a:moveTo>
                <a:lnTo>
                  <a:pt x="14" y="0"/>
                </a:lnTo>
                <a:lnTo>
                  <a:pt x="0" y="32"/>
                </a:lnTo>
                <a:lnTo>
                  <a:pt x="6" y="32"/>
                </a:lnTo>
                <a:lnTo>
                  <a:pt x="10" y="26"/>
                </a:lnTo>
                <a:lnTo>
                  <a:pt x="26" y="26"/>
                </a:lnTo>
                <a:lnTo>
                  <a:pt x="30" y="32"/>
                </a:lnTo>
                <a:lnTo>
                  <a:pt x="34" y="32"/>
                </a:lnTo>
                <a:lnTo>
                  <a:pt x="20" y="0"/>
                </a:lnTo>
                <a:lnTo>
                  <a:pt x="20" y="0"/>
                </a:lnTo>
                <a:lnTo>
                  <a:pt x="20" y="0"/>
                </a:lnTo>
                <a:close/>
                <a:moveTo>
                  <a:pt x="24" y="20"/>
                </a:moveTo>
                <a:lnTo>
                  <a:pt x="12" y="20"/>
                </a:lnTo>
                <a:lnTo>
                  <a:pt x="18" y="6"/>
                </a:lnTo>
                <a:lnTo>
                  <a:pt x="24" y="20"/>
                </a:lnTo>
                <a:lnTo>
                  <a:pt x="24" y="2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Freeform 13"/>
          <p:cNvSpPr>
            <a:spLocks/>
          </p:cNvSpPr>
          <p:nvPr userDrawn="1"/>
        </p:nvSpPr>
        <p:spPr bwMode="auto">
          <a:xfrm>
            <a:off x="7456488" y="800100"/>
            <a:ext cx="44450" cy="50800"/>
          </a:xfrm>
          <a:custGeom>
            <a:avLst/>
            <a:gdLst>
              <a:gd name="T0" fmla="*/ 11 w 14"/>
              <a:gd name="T1" fmla="*/ 9 h 16"/>
              <a:gd name="T2" fmla="*/ 7 w 14"/>
              <a:gd name="T3" fmla="*/ 14 h 16"/>
              <a:gd name="T4" fmla="*/ 3 w 14"/>
              <a:gd name="T5" fmla="*/ 9 h 16"/>
              <a:gd name="T6" fmla="*/ 3 w 14"/>
              <a:gd name="T7" fmla="*/ 0 h 16"/>
              <a:gd name="T8" fmla="*/ 0 w 14"/>
              <a:gd name="T9" fmla="*/ 0 h 16"/>
              <a:gd name="T10" fmla="*/ 0 w 14"/>
              <a:gd name="T11" fmla="*/ 9 h 16"/>
              <a:gd name="T12" fmla="*/ 7 w 14"/>
              <a:gd name="T13" fmla="*/ 16 h 16"/>
              <a:gd name="T14" fmla="*/ 14 w 14"/>
              <a:gd name="T15" fmla="*/ 9 h 16"/>
              <a:gd name="T16" fmla="*/ 14 w 14"/>
              <a:gd name="T17" fmla="*/ 0 h 16"/>
              <a:gd name="T18" fmla="*/ 11 w 14"/>
              <a:gd name="T19" fmla="*/ 0 h 16"/>
              <a:gd name="T20" fmla="*/ 11 w 14"/>
              <a:gd name="T21" fmla="*/ 9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4" h="16">
                <a:moveTo>
                  <a:pt x="11" y="9"/>
                </a:moveTo>
                <a:cubicBezTo>
                  <a:pt x="11" y="12"/>
                  <a:pt x="9" y="14"/>
                  <a:pt x="7" y="14"/>
                </a:cubicBezTo>
                <a:cubicBezTo>
                  <a:pt x="5" y="14"/>
                  <a:pt x="3" y="12"/>
                  <a:pt x="3" y="9"/>
                </a:cubicBezTo>
                <a:cubicBezTo>
                  <a:pt x="3" y="0"/>
                  <a:pt x="3" y="0"/>
                  <a:pt x="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9"/>
                  <a:pt x="0" y="9"/>
                  <a:pt x="0" y="9"/>
                </a:cubicBezTo>
                <a:cubicBezTo>
                  <a:pt x="0" y="14"/>
                  <a:pt x="4" y="16"/>
                  <a:pt x="7" y="16"/>
                </a:cubicBezTo>
                <a:cubicBezTo>
                  <a:pt x="10" y="16"/>
                  <a:pt x="14" y="14"/>
                  <a:pt x="14" y="9"/>
                </a:cubicBezTo>
                <a:cubicBezTo>
                  <a:pt x="14" y="0"/>
                  <a:pt x="14" y="0"/>
                  <a:pt x="14" y="0"/>
                </a:cubicBezTo>
                <a:cubicBezTo>
                  <a:pt x="11" y="0"/>
                  <a:pt x="11" y="0"/>
                  <a:pt x="11" y="0"/>
                </a:cubicBezTo>
                <a:cubicBezTo>
                  <a:pt x="11" y="9"/>
                  <a:pt x="11" y="9"/>
                  <a:pt x="11" y="9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reeform 14"/>
          <p:cNvSpPr>
            <a:spLocks/>
          </p:cNvSpPr>
          <p:nvPr userDrawn="1"/>
        </p:nvSpPr>
        <p:spPr bwMode="auto">
          <a:xfrm>
            <a:off x="7510463" y="796925"/>
            <a:ext cx="41275" cy="53975"/>
          </a:xfrm>
          <a:custGeom>
            <a:avLst/>
            <a:gdLst>
              <a:gd name="T0" fmla="*/ 7 w 13"/>
              <a:gd name="T1" fmla="*/ 7 h 17"/>
              <a:gd name="T2" fmla="*/ 3 w 13"/>
              <a:gd name="T3" fmla="*/ 5 h 17"/>
              <a:gd name="T4" fmla="*/ 7 w 13"/>
              <a:gd name="T5" fmla="*/ 3 h 17"/>
              <a:gd name="T6" fmla="*/ 11 w 13"/>
              <a:gd name="T7" fmla="*/ 5 h 17"/>
              <a:gd name="T8" fmla="*/ 11 w 13"/>
              <a:gd name="T9" fmla="*/ 5 h 17"/>
              <a:gd name="T10" fmla="*/ 13 w 13"/>
              <a:gd name="T11" fmla="*/ 4 h 17"/>
              <a:gd name="T12" fmla="*/ 13 w 13"/>
              <a:gd name="T13" fmla="*/ 3 h 17"/>
              <a:gd name="T14" fmla="*/ 7 w 13"/>
              <a:gd name="T15" fmla="*/ 0 h 17"/>
              <a:gd name="T16" fmla="*/ 2 w 13"/>
              <a:gd name="T17" fmla="*/ 2 h 17"/>
              <a:gd name="T18" fmla="*/ 0 w 13"/>
              <a:gd name="T19" fmla="*/ 5 h 17"/>
              <a:gd name="T20" fmla="*/ 7 w 13"/>
              <a:gd name="T21" fmla="*/ 10 h 17"/>
              <a:gd name="T22" fmla="*/ 11 w 13"/>
              <a:gd name="T23" fmla="*/ 12 h 17"/>
              <a:gd name="T24" fmla="*/ 7 w 13"/>
              <a:gd name="T25" fmla="*/ 15 h 17"/>
              <a:gd name="T26" fmla="*/ 2 w 13"/>
              <a:gd name="T27" fmla="*/ 12 h 17"/>
              <a:gd name="T28" fmla="*/ 2 w 13"/>
              <a:gd name="T29" fmla="*/ 12 h 17"/>
              <a:gd name="T30" fmla="*/ 0 w 13"/>
              <a:gd name="T31" fmla="*/ 13 h 17"/>
              <a:gd name="T32" fmla="*/ 0 w 13"/>
              <a:gd name="T33" fmla="*/ 14 h 17"/>
              <a:gd name="T34" fmla="*/ 7 w 13"/>
              <a:gd name="T35" fmla="*/ 17 h 17"/>
              <a:gd name="T36" fmla="*/ 13 w 13"/>
              <a:gd name="T37" fmla="*/ 12 h 17"/>
              <a:gd name="T38" fmla="*/ 7 w 13"/>
              <a:gd name="T39" fmla="*/ 7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3" h="17">
                <a:moveTo>
                  <a:pt x="7" y="7"/>
                </a:moveTo>
                <a:cubicBezTo>
                  <a:pt x="5" y="7"/>
                  <a:pt x="3" y="6"/>
                  <a:pt x="3" y="5"/>
                </a:cubicBezTo>
                <a:cubicBezTo>
                  <a:pt x="3" y="4"/>
                  <a:pt x="5" y="3"/>
                  <a:pt x="7" y="3"/>
                </a:cubicBezTo>
                <a:cubicBezTo>
                  <a:pt x="9" y="3"/>
                  <a:pt x="10" y="3"/>
                  <a:pt x="11" y="5"/>
                </a:cubicBezTo>
                <a:cubicBezTo>
                  <a:pt x="11" y="5"/>
                  <a:pt x="11" y="5"/>
                  <a:pt x="11" y="5"/>
                </a:cubicBezTo>
                <a:cubicBezTo>
                  <a:pt x="13" y="4"/>
                  <a:pt x="13" y="4"/>
                  <a:pt x="13" y="4"/>
                </a:cubicBezTo>
                <a:cubicBezTo>
                  <a:pt x="13" y="3"/>
                  <a:pt x="13" y="3"/>
                  <a:pt x="13" y="3"/>
                </a:cubicBezTo>
                <a:cubicBezTo>
                  <a:pt x="12" y="1"/>
                  <a:pt x="10" y="0"/>
                  <a:pt x="7" y="0"/>
                </a:cubicBezTo>
                <a:cubicBezTo>
                  <a:pt x="5" y="0"/>
                  <a:pt x="3" y="1"/>
                  <a:pt x="2" y="2"/>
                </a:cubicBezTo>
                <a:cubicBezTo>
                  <a:pt x="1" y="3"/>
                  <a:pt x="0" y="4"/>
                  <a:pt x="0" y="5"/>
                </a:cubicBezTo>
                <a:cubicBezTo>
                  <a:pt x="0" y="9"/>
                  <a:pt x="4" y="9"/>
                  <a:pt x="7" y="10"/>
                </a:cubicBezTo>
                <a:cubicBezTo>
                  <a:pt x="9" y="10"/>
                  <a:pt x="11" y="11"/>
                  <a:pt x="11" y="12"/>
                </a:cubicBezTo>
                <a:cubicBezTo>
                  <a:pt x="11" y="15"/>
                  <a:pt x="8" y="15"/>
                  <a:pt x="7" y="15"/>
                </a:cubicBezTo>
                <a:cubicBezTo>
                  <a:pt x="5" y="15"/>
                  <a:pt x="3" y="14"/>
                  <a:pt x="2" y="12"/>
                </a:cubicBezTo>
                <a:cubicBezTo>
                  <a:pt x="2" y="12"/>
                  <a:pt x="2" y="12"/>
                  <a:pt x="2" y="12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14"/>
                  <a:pt x="0" y="14"/>
                  <a:pt x="0" y="14"/>
                </a:cubicBezTo>
                <a:cubicBezTo>
                  <a:pt x="1" y="16"/>
                  <a:pt x="3" y="17"/>
                  <a:pt x="7" y="17"/>
                </a:cubicBezTo>
                <a:cubicBezTo>
                  <a:pt x="10" y="17"/>
                  <a:pt x="13" y="16"/>
                  <a:pt x="13" y="12"/>
                </a:cubicBezTo>
                <a:cubicBezTo>
                  <a:pt x="13" y="9"/>
                  <a:pt x="10" y="8"/>
                  <a:pt x="7" y="7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Freeform 15"/>
          <p:cNvSpPr>
            <a:spLocks/>
          </p:cNvSpPr>
          <p:nvPr userDrawn="1"/>
        </p:nvSpPr>
        <p:spPr bwMode="auto">
          <a:xfrm>
            <a:off x="7558088" y="800100"/>
            <a:ext cx="41275" cy="50800"/>
          </a:xfrm>
          <a:custGeom>
            <a:avLst/>
            <a:gdLst>
              <a:gd name="T0" fmla="*/ 0 w 26"/>
              <a:gd name="T1" fmla="*/ 4 h 32"/>
              <a:gd name="T2" fmla="*/ 10 w 26"/>
              <a:gd name="T3" fmla="*/ 4 h 32"/>
              <a:gd name="T4" fmla="*/ 10 w 26"/>
              <a:gd name="T5" fmla="*/ 32 h 32"/>
              <a:gd name="T6" fmla="*/ 16 w 26"/>
              <a:gd name="T7" fmla="*/ 32 h 32"/>
              <a:gd name="T8" fmla="*/ 16 w 26"/>
              <a:gd name="T9" fmla="*/ 4 h 32"/>
              <a:gd name="T10" fmla="*/ 26 w 26"/>
              <a:gd name="T11" fmla="*/ 4 h 32"/>
              <a:gd name="T12" fmla="*/ 26 w 26"/>
              <a:gd name="T13" fmla="*/ 0 h 32"/>
              <a:gd name="T14" fmla="*/ 0 w 26"/>
              <a:gd name="T15" fmla="*/ 0 h 32"/>
              <a:gd name="T16" fmla="*/ 0 w 26"/>
              <a:gd name="T17" fmla="*/ 4 h 32"/>
              <a:gd name="T18" fmla="*/ 0 w 26"/>
              <a:gd name="T19" fmla="*/ 4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" h="32">
                <a:moveTo>
                  <a:pt x="0" y="4"/>
                </a:moveTo>
                <a:lnTo>
                  <a:pt x="10" y="4"/>
                </a:lnTo>
                <a:lnTo>
                  <a:pt x="10" y="32"/>
                </a:lnTo>
                <a:lnTo>
                  <a:pt x="16" y="32"/>
                </a:lnTo>
                <a:lnTo>
                  <a:pt x="16" y="4"/>
                </a:lnTo>
                <a:lnTo>
                  <a:pt x="26" y="4"/>
                </a:lnTo>
                <a:lnTo>
                  <a:pt x="26" y="0"/>
                </a:lnTo>
                <a:lnTo>
                  <a:pt x="0" y="0"/>
                </a:lnTo>
                <a:lnTo>
                  <a:pt x="0" y="4"/>
                </a:lnTo>
                <a:lnTo>
                  <a:pt x="0" y="4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Freeform 16"/>
          <p:cNvSpPr>
            <a:spLocks noEditPoints="1"/>
          </p:cNvSpPr>
          <p:nvPr userDrawn="1"/>
        </p:nvSpPr>
        <p:spPr bwMode="auto">
          <a:xfrm>
            <a:off x="7608888" y="800100"/>
            <a:ext cx="44450" cy="50800"/>
          </a:xfrm>
          <a:custGeom>
            <a:avLst/>
            <a:gdLst>
              <a:gd name="T0" fmla="*/ 13 w 14"/>
              <a:gd name="T1" fmla="*/ 5 h 16"/>
              <a:gd name="T2" fmla="*/ 7 w 14"/>
              <a:gd name="T3" fmla="*/ 0 h 16"/>
              <a:gd name="T4" fmla="*/ 0 w 14"/>
              <a:gd name="T5" fmla="*/ 0 h 16"/>
              <a:gd name="T6" fmla="*/ 0 w 14"/>
              <a:gd name="T7" fmla="*/ 16 h 16"/>
              <a:gd name="T8" fmla="*/ 2 w 14"/>
              <a:gd name="T9" fmla="*/ 16 h 16"/>
              <a:gd name="T10" fmla="*/ 2 w 14"/>
              <a:gd name="T11" fmla="*/ 10 h 16"/>
              <a:gd name="T12" fmla="*/ 6 w 14"/>
              <a:gd name="T13" fmla="*/ 10 h 16"/>
              <a:gd name="T14" fmla="*/ 10 w 14"/>
              <a:gd name="T15" fmla="*/ 16 h 16"/>
              <a:gd name="T16" fmla="*/ 14 w 14"/>
              <a:gd name="T17" fmla="*/ 16 h 16"/>
              <a:gd name="T18" fmla="*/ 8 w 14"/>
              <a:gd name="T19" fmla="*/ 10 h 16"/>
              <a:gd name="T20" fmla="*/ 13 w 14"/>
              <a:gd name="T21" fmla="*/ 5 h 16"/>
              <a:gd name="T22" fmla="*/ 2 w 14"/>
              <a:gd name="T23" fmla="*/ 2 h 16"/>
              <a:gd name="T24" fmla="*/ 7 w 14"/>
              <a:gd name="T25" fmla="*/ 2 h 16"/>
              <a:gd name="T26" fmla="*/ 10 w 14"/>
              <a:gd name="T27" fmla="*/ 5 h 16"/>
              <a:gd name="T28" fmla="*/ 7 w 14"/>
              <a:gd name="T29" fmla="*/ 8 h 16"/>
              <a:gd name="T30" fmla="*/ 2 w 14"/>
              <a:gd name="T31" fmla="*/ 8 h 16"/>
              <a:gd name="T32" fmla="*/ 2 w 14"/>
              <a:gd name="T33" fmla="*/ 2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4" h="16">
                <a:moveTo>
                  <a:pt x="13" y="5"/>
                </a:moveTo>
                <a:cubicBezTo>
                  <a:pt x="13" y="2"/>
                  <a:pt x="11" y="0"/>
                  <a:pt x="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"/>
                  <a:pt x="0" y="16"/>
                  <a:pt x="0" y="16"/>
                </a:cubicBezTo>
                <a:cubicBezTo>
                  <a:pt x="2" y="16"/>
                  <a:pt x="2" y="16"/>
                  <a:pt x="2" y="16"/>
                </a:cubicBezTo>
                <a:cubicBezTo>
                  <a:pt x="2" y="10"/>
                  <a:pt x="2" y="10"/>
                  <a:pt x="2" y="10"/>
                </a:cubicBezTo>
                <a:cubicBezTo>
                  <a:pt x="6" y="10"/>
                  <a:pt x="6" y="10"/>
                  <a:pt x="6" y="10"/>
                </a:cubicBezTo>
                <a:cubicBezTo>
                  <a:pt x="10" y="16"/>
                  <a:pt x="10" y="16"/>
                  <a:pt x="10" y="16"/>
                </a:cubicBezTo>
                <a:cubicBezTo>
                  <a:pt x="14" y="16"/>
                  <a:pt x="14" y="16"/>
                  <a:pt x="14" y="16"/>
                </a:cubicBezTo>
                <a:cubicBezTo>
                  <a:pt x="8" y="10"/>
                  <a:pt x="8" y="10"/>
                  <a:pt x="8" y="10"/>
                </a:cubicBezTo>
                <a:cubicBezTo>
                  <a:pt x="11" y="10"/>
                  <a:pt x="13" y="8"/>
                  <a:pt x="13" y="5"/>
                </a:cubicBezTo>
                <a:close/>
                <a:moveTo>
                  <a:pt x="2" y="2"/>
                </a:moveTo>
                <a:cubicBezTo>
                  <a:pt x="7" y="2"/>
                  <a:pt x="7" y="2"/>
                  <a:pt x="7" y="2"/>
                </a:cubicBezTo>
                <a:cubicBezTo>
                  <a:pt x="9" y="2"/>
                  <a:pt x="10" y="4"/>
                  <a:pt x="10" y="5"/>
                </a:cubicBezTo>
                <a:cubicBezTo>
                  <a:pt x="10" y="6"/>
                  <a:pt x="9" y="8"/>
                  <a:pt x="7" y="8"/>
                </a:cubicBezTo>
                <a:cubicBezTo>
                  <a:pt x="2" y="8"/>
                  <a:pt x="2" y="8"/>
                  <a:pt x="2" y="8"/>
                </a:cubicBezTo>
                <a:cubicBezTo>
                  <a:pt x="2" y="2"/>
                  <a:pt x="2" y="2"/>
                  <a:pt x="2" y="2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Freeform 17"/>
          <p:cNvSpPr>
            <a:spLocks noEditPoints="1"/>
          </p:cNvSpPr>
          <p:nvPr userDrawn="1"/>
        </p:nvSpPr>
        <p:spPr bwMode="auto">
          <a:xfrm>
            <a:off x="7656513" y="800100"/>
            <a:ext cx="53975" cy="50800"/>
          </a:xfrm>
          <a:custGeom>
            <a:avLst/>
            <a:gdLst>
              <a:gd name="T0" fmla="*/ 18 w 34"/>
              <a:gd name="T1" fmla="*/ 0 h 32"/>
              <a:gd name="T2" fmla="*/ 14 w 34"/>
              <a:gd name="T3" fmla="*/ 0 h 32"/>
              <a:gd name="T4" fmla="*/ 0 w 34"/>
              <a:gd name="T5" fmla="*/ 32 h 32"/>
              <a:gd name="T6" fmla="*/ 4 w 34"/>
              <a:gd name="T7" fmla="*/ 32 h 32"/>
              <a:gd name="T8" fmla="*/ 8 w 34"/>
              <a:gd name="T9" fmla="*/ 26 h 32"/>
              <a:gd name="T10" fmla="*/ 24 w 34"/>
              <a:gd name="T11" fmla="*/ 26 h 32"/>
              <a:gd name="T12" fmla="*/ 28 w 34"/>
              <a:gd name="T13" fmla="*/ 32 h 32"/>
              <a:gd name="T14" fmla="*/ 34 w 34"/>
              <a:gd name="T15" fmla="*/ 32 h 32"/>
              <a:gd name="T16" fmla="*/ 20 w 34"/>
              <a:gd name="T17" fmla="*/ 0 h 32"/>
              <a:gd name="T18" fmla="*/ 18 w 34"/>
              <a:gd name="T19" fmla="*/ 0 h 32"/>
              <a:gd name="T20" fmla="*/ 18 w 34"/>
              <a:gd name="T21" fmla="*/ 0 h 32"/>
              <a:gd name="T22" fmla="*/ 22 w 34"/>
              <a:gd name="T23" fmla="*/ 20 h 32"/>
              <a:gd name="T24" fmla="*/ 10 w 34"/>
              <a:gd name="T25" fmla="*/ 20 h 32"/>
              <a:gd name="T26" fmla="*/ 16 w 34"/>
              <a:gd name="T27" fmla="*/ 6 h 32"/>
              <a:gd name="T28" fmla="*/ 22 w 34"/>
              <a:gd name="T29" fmla="*/ 20 h 32"/>
              <a:gd name="T30" fmla="*/ 22 w 34"/>
              <a:gd name="T31" fmla="*/ 2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4" h="32">
                <a:moveTo>
                  <a:pt x="18" y="0"/>
                </a:moveTo>
                <a:lnTo>
                  <a:pt x="14" y="0"/>
                </a:lnTo>
                <a:lnTo>
                  <a:pt x="0" y="32"/>
                </a:lnTo>
                <a:lnTo>
                  <a:pt x="4" y="32"/>
                </a:lnTo>
                <a:lnTo>
                  <a:pt x="8" y="26"/>
                </a:lnTo>
                <a:lnTo>
                  <a:pt x="24" y="26"/>
                </a:lnTo>
                <a:lnTo>
                  <a:pt x="28" y="32"/>
                </a:lnTo>
                <a:lnTo>
                  <a:pt x="34" y="32"/>
                </a:lnTo>
                <a:lnTo>
                  <a:pt x="20" y="0"/>
                </a:lnTo>
                <a:lnTo>
                  <a:pt x="18" y="0"/>
                </a:lnTo>
                <a:lnTo>
                  <a:pt x="18" y="0"/>
                </a:lnTo>
                <a:close/>
                <a:moveTo>
                  <a:pt x="22" y="20"/>
                </a:moveTo>
                <a:lnTo>
                  <a:pt x="10" y="20"/>
                </a:lnTo>
                <a:lnTo>
                  <a:pt x="16" y="6"/>
                </a:lnTo>
                <a:lnTo>
                  <a:pt x="22" y="20"/>
                </a:lnTo>
                <a:lnTo>
                  <a:pt x="22" y="2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Freeform 18"/>
          <p:cNvSpPr>
            <a:spLocks/>
          </p:cNvSpPr>
          <p:nvPr userDrawn="1"/>
        </p:nvSpPr>
        <p:spPr bwMode="auto">
          <a:xfrm>
            <a:off x="7716838" y="800100"/>
            <a:ext cx="34925" cy="50800"/>
          </a:xfrm>
          <a:custGeom>
            <a:avLst/>
            <a:gdLst>
              <a:gd name="T0" fmla="*/ 6 w 22"/>
              <a:gd name="T1" fmla="*/ 0 h 32"/>
              <a:gd name="T2" fmla="*/ 0 w 22"/>
              <a:gd name="T3" fmla="*/ 0 h 32"/>
              <a:gd name="T4" fmla="*/ 0 w 22"/>
              <a:gd name="T5" fmla="*/ 32 h 32"/>
              <a:gd name="T6" fmla="*/ 22 w 22"/>
              <a:gd name="T7" fmla="*/ 32 h 32"/>
              <a:gd name="T8" fmla="*/ 22 w 22"/>
              <a:gd name="T9" fmla="*/ 28 h 32"/>
              <a:gd name="T10" fmla="*/ 6 w 22"/>
              <a:gd name="T11" fmla="*/ 28 h 32"/>
              <a:gd name="T12" fmla="*/ 6 w 22"/>
              <a:gd name="T13" fmla="*/ 0 h 32"/>
              <a:gd name="T14" fmla="*/ 6 w 22"/>
              <a:gd name="T15" fmla="*/ 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2" h="32">
                <a:moveTo>
                  <a:pt x="6" y="0"/>
                </a:moveTo>
                <a:lnTo>
                  <a:pt x="0" y="0"/>
                </a:lnTo>
                <a:lnTo>
                  <a:pt x="0" y="32"/>
                </a:lnTo>
                <a:lnTo>
                  <a:pt x="22" y="32"/>
                </a:lnTo>
                <a:lnTo>
                  <a:pt x="22" y="28"/>
                </a:lnTo>
                <a:lnTo>
                  <a:pt x="6" y="28"/>
                </a:lnTo>
                <a:lnTo>
                  <a:pt x="6" y="0"/>
                </a:lnTo>
                <a:lnTo>
                  <a:pt x="6" y="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Freeform 19"/>
          <p:cNvSpPr>
            <a:spLocks/>
          </p:cNvSpPr>
          <p:nvPr userDrawn="1"/>
        </p:nvSpPr>
        <p:spPr bwMode="auto">
          <a:xfrm>
            <a:off x="7761288" y="800100"/>
            <a:ext cx="6350" cy="50800"/>
          </a:xfrm>
          <a:custGeom>
            <a:avLst/>
            <a:gdLst>
              <a:gd name="T0" fmla="*/ 0 w 4"/>
              <a:gd name="T1" fmla="*/ 32 h 32"/>
              <a:gd name="T2" fmla="*/ 4 w 4"/>
              <a:gd name="T3" fmla="*/ 32 h 32"/>
              <a:gd name="T4" fmla="*/ 4 w 4"/>
              <a:gd name="T5" fmla="*/ 0 h 32"/>
              <a:gd name="T6" fmla="*/ 0 w 4"/>
              <a:gd name="T7" fmla="*/ 0 h 32"/>
              <a:gd name="T8" fmla="*/ 0 w 4"/>
              <a:gd name="T9" fmla="*/ 32 h 32"/>
              <a:gd name="T10" fmla="*/ 0 w 4"/>
              <a:gd name="T11" fmla="*/ 3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32">
                <a:moveTo>
                  <a:pt x="0" y="32"/>
                </a:moveTo>
                <a:lnTo>
                  <a:pt x="4" y="32"/>
                </a:lnTo>
                <a:lnTo>
                  <a:pt x="4" y="0"/>
                </a:lnTo>
                <a:lnTo>
                  <a:pt x="0" y="0"/>
                </a:lnTo>
                <a:lnTo>
                  <a:pt x="0" y="32"/>
                </a:lnTo>
                <a:lnTo>
                  <a:pt x="0" y="3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Freeform 20"/>
          <p:cNvSpPr>
            <a:spLocks noEditPoints="1"/>
          </p:cNvSpPr>
          <p:nvPr userDrawn="1"/>
        </p:nvSpPr>
        <p:spPr bwMode="auto">
          <a:xfrm>
            <a:off x="7777163" y="800100"/>
            <a:ext cx="53975" cy="50800"/>
          </a:xfrm>
          <a:custGeom>
            <a:avLst/>
            <a:gdLst>
              <a:gd name="T0" fmla="*/ 20 w 34"/>
              <a:gd name="T1" fmla="*/ 0 h 32"/>
              <a:gd name="T2" fmla="*/ 14 w 34"/>
              <a:gd name="T3" fmla="*/ 0 h 32"/>
              <a:gd name="T4" fmla="*/ 0 w 34"/>
              <a:gd name="T5" fmla="*/ 32 h 32"/>
              <a:gd name="T6" fmla="*/ 6 w 34"/>
              <a:gd name="T7" fmla="*/ 32 h 32"/>
              <a:gd name="T8" fmla="*/ 8 w 34"/>
              <a:gd name="T9" fmla="*/ 26 h 32"/>
              <a:gd name="T10" fmla="*/ 26 w 34"/>
              <a:gd name="T11" fmla="*/ 26 h 32"/>
              <a:gd name="T12" fmla="*/ 28 w 34"/>
              <a:gd name="T13" fmla="*/ 32 h 32"/>
              <a:gd name="T14" fmla="*/ 34 w 34"/>
              <a:gd name="T15" fmla="*/ 32 h 32"/>
              <a:gd name="T16" fmla="*/ 20 w 34"/>
              <a:gd name="T17" fmla="*/ 0 h 32"/>
              <a:gd name="T18" fmla="*/ 20 w 34"/>
              <a:gd name="T19" fmla="*/ 0 h 32"/>
              <a:gd name="T20" fmla="*/ 20 w 34"/>
              <a:gd name="T21" fmla="*/ 0 h 32"/>
              <a:gd name="T22" fmla="*/ 24 w 34"/>
              <a:gd name="T23" fmla="*/ 20 h 32"/>
              <a:gd name="T24" fmla="*/ 10 w 34"/>
              <a:gd name="T25" fmla="*/ 20 h 32"/>
              <a:gd name="T26" fmla="*/ 18 w 34"/>
              <a:gd name="T27" fmla="*/ 6 h 32"/>
              <a:gd name="T28" fmla="*/ 24 w 34"/>
              <a:gd name="T29" fmla="*/ 20 h 32"/>
              <a:gd name="T30" fmla="*/ 24 w 34"/>
              <a:gd name="T31" fmla="*/ 2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4" h="32">
                <a:moveTo>
                  <a:pt x="20" y="0"/>
                </a:moveTo>
                <a:lnTo>
                  <a:pt x="14" y="0"/>
                </a:lnTo>
                <a:lnTo>
                  <a:pt x="0" y="32"/>
                </a:lnTo>
                <a:lnTo>
                  <a:pt x="6" y="32"/>
                </a:lnTo>
                <a:lnTo>
                  <a:pt x="8" y="26"/>
                </a:lnTo>
                <a:lnTo>
                  <a:pt x="26" y="26"/>
                </a:lnTo>
                <a:lnTo>
                  <a:pt x="28" y="32"/>
                </a:lnTo>
                <a:lnTo>
                  <a:pt x="34" y="32"/>
                </a:lnTo>
                <a:lnTo>
                  <a:pt x="20" y="0"/>
                </a:lnTo>
                <a:lnTo>
                  <a:pt x="20" y="0"/>
                </a:lnTo>
                <a:lnTo>
                  <a:pt x="20" y="0"/>
                </a:lnTo>
                <a:close/>
                <a:moveTo>
                  <a:pt x="24" y="20"/>
                </a:moveTo>
                <a:lnTo>
                  <a:pt x="10" y="20"/>
                </a:lnTo>
                <a:lnTo>
                  <a:pt x="18" y="6"/>
                </a:lnTo>
                <a:lnTo>
                  <a:pt x="24" y="20"/>
                </a:lnTo>
                <a:lnTo>
                  <a:pt x="24" y="2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Freeform 21"/>
          <p:cNvSpPr>
            <a:spLocks/>
          </p:cNvSpPr>
          <p:nvPr userDrawn="1"/>
        </p:nvSpPr>
        <p:spPr bwMode="auto">
          <a:xfrm>
            <a:off x="7840663" y="800100"/>
            <a:ext cx="41275" cy="50800"/>
          </a:xfrm>
          <a:custGeom>
            <a:avLst/>
            <a:gdLst>
              <a:gd name="T0" fmla="*/ 22 w 26"/>
              <a:gd name="T1" fmla="*/ 22 h 32"/>
              <a:gd name="T2" fmla="*/ 2 w 26"/>
              <a:gd name="T3" fmla="*/ 0 h 32"/>
              <a:gd name="T4" fmla="*/ 0 w 26"/>
              <a:gd name="T5" fmla="*/ 0 h 32"/>
              <a:gd name="T6" fmla="*/ 0 w 26"/>
              <a:gd name="T7" fmla="*/ 32 h 32"/>
              <a:gd name="T8" fmla="*/ 4 w 26"/>
              <a:gd name="T9" fmla="*/ 32 h 32"/>
              <a:gd name="T10" fmla="*/ 4 w 26"/>
              <a:gd name="T11" fmla="*/ 10 h 32"/>
              <a:gd name="T12" fmla="*/ 22 w 26"/>
              <a:gd name="T13" fmla="*/ 32 h 32"/>
              <a:gd name="T14" fmla="*/ 26 w 26"/>
              <a:gd name="T15" fmla="*/ 32 h 32"/>
              <a:gd name="T16" fmla="*/ 26 w 26"/>
              <a:gd name="T17" fmla="*/ 0 h 32"/>
              <a:gd name="T18" fmla="*/ 22 w 26"/>
              <a:gd name="T19" fmla="*/ 0 h 32"/>
              <a:gd name="T20" fmla="*/ 22 w 26"/>
              <a:gd name="T21" fmla="*/ 22 h 32"/>
              <a:gd name="T22" fmla="*/ 22 w 26"/>
              <a:gd name="T23" fmla="*/ 2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6" h="32">
                <a:moveTo>
                  <a:pt x="22" y="22"/>
                </a:moveTo>
                <a:lnTo>
                  <a:pt x="2" y="0"/>
                </a:lnTo>
                <a:lnTo>
                  <a:pt x="0" y="0"/>
                </a:lnTo>
                <a:lnTo>
                  <a:pt x="0" y="32"/>
                </a:lnTo>
                <a:lnTo>
                  <a:pt x="4" y="32"/>
                </a:lnTo>
                <a:lnTo>
                  <a:pt x="4" y="10"/>
                </a:lnTo>
                <a:lnTo>
                  <a:pt x="22" y="32"/>
                </a:lnTo>
                <a:lnTo>
                  <a:pt x="26" y="32"/>
                </a:lnTo>
                <a:lnTo>
                  <a:pt x="26" y="0"/>
                </a:lnTo>
                <a:lnTo>
                  <a:pt x="22" y="0"/>
                </a:lnTo>
                <a:lnTo>
                  <a:pt x="22" y="22"/>
                </a:lnTo>
                <a:lnTo>
                  <a:pt x="22" y="2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Freeform 22"/>
          <p:cNvSpPr>
            <a:spLocks/>
          </p:cNvSpPr>
          <p:nvPr userDrawn="1"/>
        </p:nvSpPr>
        <p:spPr bwMode="auto">
          <a:xfrm>
            <a:off x="7920038" y="796925"/>
            <a:ext cx="47625" cy="53975"/>
          </a:xfrm>
          <a:custGeom>
            <a:avLst/>
            <a:gdLst>
              <a:gd name="T0" fmla="*/ 13 w 15"/>
              <a:gd name="T1" fmla="*/ 13 h 17"/>
              <a:gd name="T2" fmla="*/ 9 w 15"/>
              <a:gd name="T3" fmla="*/ 15 h 17"/>
              <a:gd name="T4" fmla="*/ 3 w 15"/>
              <a:gd name="T5" fmla="*/ 9 h 17"/>
              <a:gd name="T6" fmla="*/ 9 w 15"/>
              <a:gd name="T7" fmla="*/ 3 h 17"/>
              <a:gd name="T8" fmla="*/ 13 w 15"/>
              <a:gd name="T9" fmla="*/ 5 h 17"/>
              <a:gd name="T10" fmla="*/ 13 w 15"/>
              <a:gd name="T11" fmla="*/ 5 h 17"/>
              <a:gd name="T12" fmla="*/ 15 w 15"/>
              <a:gd name="T13" fmla="*/ 3 h 17"/>
              <a:gd name="T14" fmla="*/ 15 w 15"/>
              <a:gd name="T15" fmla="*/ 3 h 17"/>
              <a:gd name="T16" fmla="*/ 9 w 15"/>
              <a:gd name="T17" fmla="*/ 0 h 17"/>
              <a:gd name="T18" fmla="*/ 2 w 15"/>
              <a:gd name="T19" fmla="*/ 3 h 17"/>
              <a:gd name="T20" fmla="*/ 0 w 15"/>
              <a:gd name="T21" fmla="*/ 9 h 17"/>
              <a:gd name="T22" fmla="*/ 9 w 15"/>
              <a:gd name="T23" fmla="*/ 17 h 17"/>
              <a:gd name="T24" fmla="*/ 15 w 15"/>
              <a:gd name="T25" fmla="*/ 15 h 17"/>
              <a:gd name="T26" fmla="*/ 15 w 15"/>
              <a:gd name="T27" fmla="*/ 15 h 17"/>
              <a:gd name="T28" fmla="*/ 13 w 15"/>
              <a:gd name="T29" fmla="*/ 13 h 17"/>
              <a:gd name="T30" fmla="*/ 13 w 15"/>
              <a:gd name="T31" fmla="*/ 13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5" h="17">
                <a:moveTo>
                  <a:pt x="13" y="13"/>
                </a:moveTo>
                <a:cubicBezTo>
                  <a:pt x="12" y="14"/>
                  <a:pt x="10" y="15"/>
                  <a:pt x="9" y="15"/>
                </a:cubicBezTo>
                <a:cubicBezTo>
                  <a:pt x="4" y="15"/>
                  <a:pt x="3" y="12"/>
                  <a:pt x="3" y="9"/>
                </a:cubicBezTo>
                <a:cubicBezTo>
                  <a:pt x="3" y="6"/>
                  <a:pt x="4" y="3"/>
                  <a:pt x="9" y="3"/>
                </a:cubicBezTo>
                <a:cubicBezTo>
                  <a:pt x="10" y="3"/>
                  <a:pt x="12" y="3"/>
                  <a:pt x="13" y="5"/>
                </a:cubicBezTo>
                <a:cubicBezTo>
                  <a:pt x="13" y="5"/>
                  <a:pt x="13" y="5"/>
                  <a:pt x="13" y="5"/>
                </a:cubicBezTo>
                <a:cubicBezTo>
                  <a:pt x="15" y="3"/>
                  <a:pt x="15" y="3"/>
                  <a:pt x="15" y="3"/>
                </a:cubicBezTo>
                <a:cubicBezTo>
                  <a:pt x="15" y="3"/>
                  <a:pt x="15" y="3"/>
                  <a:pt x="15" y="3"/>
                </a:cubicBezTo>
                <a:cubicBezTo>
                  <a:pt x="13" y="1"/>
                  <a:pt x="11" y="0"/>
                  <a:pt x="9" y="0"/>
                </a:cubicBezTo>
                <a:cubicBezTo>
                  <a:pt x="6" y="0"/>
                  <a:pt x="4" y="1"/>
                  <a:pt x="2" y="3"/>
                </a:cubicBezTo>
                <a:cubicBezTo>
                  <a:pt x="1" y="4"/>
                  <a:pt x="0" y="7"/>
                  <a:pt x="0" y="9"/>
                </a:cubicBezTo>
                <a:cubicBezTo>
                  <a:pt x="0" y="13"/>
                  <a:pt x="3" y="17"/>
                  <a:pt x="9" y="17"/>
                </a:cubicBezTo>
                <a:cubicBezTo>
                  <a:pt x="11" y="17"/>
                  <a:pt x="13" y="16"/>
                  <a:pt x="15" y="15"/>
                </a:cubicBezTo>
                <a:cubicBezTo>
                  <a:pt x="15" y="15"/>
                  <a:pt x="15" y="15"/>
                  <a:pt x="15" y="15"/>
                </a:cubicBezTo>
                <a:cubicBezTo>
                  <a:pt x="13" y="13"/>
                  <a:pt x="13" y="13"/>
                  <a:pt x="13" y="13"/>
                </a:cubicBezTo>
                <a:cubicBezTo>
                  <a:pt x="13" y="13"/>
                  <a:pt x="13" y="13"/>
                  <a:pt x="13" y="13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Freeform 23"/>
          <p:cNvSpPr>
            <a:spLocks noEditPoints="1"/>
          </p:cNvSpPr>
          <p:nvPr userDrawn="1"/>
        </p:nvSpPr>
        <p:spPr bwMode="auto">
          <a:xfrm>
            <a:off x="7970838" y="800100"/>
            <a:ext cx="53975" cy="50800"/>
          </a:xfrm>
          <a:custGeom>
            <a:avLst/>
            <a:gdLst>
              <a:gd name="T0" fmla="*/ 20 w 34"/>
              <a:gd name="T1" fmla="*/ 0 h 32"/>
              <a:gd name="T2" fmla="*/ 14 w 34"/>
              <a:gd name="T3" fmla="*/ 0 h 32"/>
              <a:gd name="T4" fmla="*/ 0 w 34"/>
              <a:gd name="T5" fmla="*/ 32 h 32"/>
              <a:gd name="T6" fmla="*/ 6 w 34"/>
              <a:gd name="T7" fmla="*/ 32 h 32"/>
              <a:gd name="T8" fmla="*/ 8 w 34"/>
              <a:gd name="T9" fmla="*/ 26 h 32"/>
              <a:gd name="T10" fmla="*/ 26 w 34"/>
              <a:gd name="T11" fmla="*/ 26 h 32"/>
              <a:gd name="T12" fmla="*/ 28 w 34"/>
              <a:gd name="T13" fmla="*/ 32 h 32"/>
              <a:gd name="T14" fmla="*/ 34 w 34"/>
              <a:gd name="T15" fmla="*/ 32 h 32"/>
              <a:gd name="T16" fmla="*/ 20 w 34"/>
              <a:gd name="T17" fmla="*/ 0 h 32"/>
              <a:gd name="T18" fmla="*/ 20 w 34"/>
              <a:gd name="T19" fmla="*/ 0 h 32"/>
              <a:gd name="T20" fmla="*/ 20 w 34"/>
              <a:gd name="T21" fmla="*/ 0 h 32"/>
              <a:gd name="T22" fmla="*/ 24 w 34"/>
              <a:gd name="T23" fmla="*/ 20 h 32"/>
              <a:gd name="T24" fmla="*/ 10 w 34"/>
              <a:gd name="T25" fmla="*/ 20 h 32"/>
              <a:gd name="T26" fmla="*/ 16 w 34"/>
              <a:gd name="T27" fmla="*/ 6 h 32"/>
              <a:gd name="T28" fmla="*/ 24 w 34"/>
              <a:gd name="T29" fmla="*/ 20 h 32"/>
              <a:gd name="T30" fmla="*/ 24 w 34"/>
              <a:gd name="T31" fmla="*/ 2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4" h="32">
                <a:moveTo>
                  <a:pt x="20" y="0"/>
                </a:moveTo>
                <a:lnTo>
                  <a:pt x="14" y="0"/>
                </a:lnTo>
                <a:lnTo>
                  <a:pt x="0" y="32"/>
                </a:lnTo>
                <a:lnTo>
                  <a:pt x="6" y="32"/>
                </a:lnTo>
                <a:lnTo>
                  <a:pt x="8" y="26"/>
                </a:lnTo>
                <a:lnTo>
                  <a:pt x="26" y="26"/>
                </a:lnTo>
                <a:lnTo>
                  <a:pt x="28" y="32"/>
                </a:lnTo>
                <a:lnTo>
                  <a:pt x="34" y="32"/>
                </a:lnTo>
                <a:lnTo>
                  <a:pt x="20" y="0"/>
                </a:lnTo>
                <a:lnTo>
                  <a:pt x="20" y="0"/>
                </a:lnTo>
                <a:lnTo>
                  <a:pt x="20" y="0"/>
                </a:lnTo>
                <a:close/>
                <a:moveTo>
                  <a:pt x="24" y="20"/>
                </a:moveTo>
                <a:lnTo>
                  <a:pt x="10" y="20"/>
                </a:lnTo>
                <a:lnTo>
                  <a:pt x="16" y="6"/>
                </a:lnTo>
                <a:lnTo>
                  <a:pt x="24" y="20"/>
                </a:lnTo>
                <a:lnTo>
                  <a:pt x="24" y="2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Freeform 24"/>
          <p:cNvSpPr>
            <a:spLocks/>
          </p:cNvSpPr>
          <p:nvPr userDrawn="1"/>
        </p:nvSpPr>
        <p:spPr bwMode="auto">
          <a:xfrm>
            <a:off x="8021638" y="800100"/>
            <a:ext cx="44450" cy="50800"/>
          </a:xfrm>
          <a:custGeom>
            <a:avLst/>
            <a:gdLst>
              <a:gd name="T0" fmla="*/ 0 w 28"/>
              <a:gd name="T1" fmla="*/ 4 h 32"/>
              <a:gd name="T2" fmla="*/ 12 w 28"/>
              <a:gd name="T3" fmla="*/ 4 h 32"/>
              <a:gd name="T4" fmla="*/ 12 w 28"/>
              <a:gd name="T5" fmla="*/ 32 h 32"/>
              <a:gd name="T6" fmla="*/ 16 w 28"/>
              <a:gd name="T7" fmla="*/ 32 h 32"/>
              <a:gd name="T8" fmla="*/ 16 w 28"/>
              <a:gd name="T9" fmla="*/ 4 h 32"/>
              <a:gd name="T10" fmla="*/ 28 w 28"/>
              <a:gd name="T11" fmla="*/ 4 h 32"/>
              <a:gd name="T12" fmla="*/ 28 w 28"/>
              <a:gd name="T13" fmla="*/ 0 h 32"/>
              <a:gd name="T14" fmla="*/ 0 w 28"/>
              <a:gd name="T15" fmla="*/ 0 h 32"/>
              <a:gd name="T16" fmla="*/ 0 w 28"/>
              <a:gd name="T17" fmla="*/ 4 h 32"/>
              <a:gd name="T18" fmla="*/ 0 w 28"/>
              <a:gd name="T19" fmla="*/ 4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8" h="32">
                <a:moveTo>
                  <a:pt x="0" y="4"/>
                </a:moveTo>
                <a:lnTo>
                  <a:pt x="12" y="4"/>
                </a:lnTo>
                <a:lnTo>
                  <a:pt x="12" y="32"/>
                </a:lnTo>
                <a:lnTo>
                  <a:pt x="16" y="32"/>
                </a:lnTo>
                <a:lnTo>
                  <a:pt x="16" y="4"/>
                </a:lnTo>
                <a:lnTo>
                  <a:pt x="28" y="4"/>
                </a:lnTo>
                <a:lnTo>
                  <a:pt x="28" y="0"/>
                </a:lnTo>
                <a:lnTo>
                  <a:pt x="0" y="0"/>
                </a:lnTo>
                <a:lnTo>
                  <a:pt x="0" y="4"/>
                </a:lnTo>
                <a:lnTo>
                  <a:pt x="0" y="4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Freeform 25"/>
          <p:cNvSpPr>
            <a:spLocks/>
          </p:cNvSpPr>
          <p:nvPr userDrawn="1"/>
        </p:nvSpPr>
        <p:spPr bwMode="auto">
          <a:xfrm>
            <a:off x="8072438" y="800100"/>
            <a:ext cx="44450" cy="50800"/>
          </a:xfrm>
          <a:custGeom>
            <a:avLst/>
            <a:gdLst>
              <a:gd name="T0" fmla="*/ 22 w 28"/>
              <a:gd name="T1" fmla="*/ 12 h 32"/>
              <a:gd name="T2" fmla="*/ 6 w 28"/>
              <a:gd name="T3" fmla="*/ 12 h 32"/>
              <a:gd name="T4" fmla="*/ 6 w 28"/>
              <a:gd name="T5" fmla="*/ 0 h 32"/>
              <a:gd name="T6" fmla="*/ 0 w 28"/>
              <a:gd name="T7" fmla="*/ 0 h 32"/>
              <a:gd name="T8" fmla="*/ 0 w 28"/>
              <a:gd name="T9" fmla="*/ 32 h 32"/>
              <a:gd name="T10" fmla="*/ 6 w 28"/>
              <a:gd name="T11" fmla="*/ 32 h 32"/>
              <a:gd name="T12" fmla="*/ 6 w 28"/>
              <a:gd name="T13" fmla="*/ 18 h 32"/>
              <a:gd name="T14" fmla="*/ 22 w 28"/>
              <a:gd name="T15" fmla="*/ 18 h 32"/>
              <a:gd name="T16" fmla="*/ 22 w 28"/>
              <a:gd name="T17" fmla="*/ 32 h 32"/>
              <a:gd name="T18" fmla="*/ 28 w 28"/>
              <a:gd name="T19" fmla="*/ 32 h 32"/>
              <a:gd name="T20" fmla="*/ 28 w 28"/>
              <a:gd name="T21" fmla="*/ 0 h 32"/>
              <a:gd name="T22" fmla="*/ 22 w 28"/>
              <a:gd name="T23" fmla="*/ 0 h 32"/>
              <a:gd name="T24" fmla="*/ 22 w 28"/>
              <a:gd name="T25" fmla="*/ 12 h 32"/>
              <a:gd name="T26" fmla="*/ 22 w 28"/>
              <a:gd name="T27" fmla="*/ 1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8" h="32">
                <a:moveTo>
                  <a:pt x="22" y="12"/>
                </a:moveTo>
                <a:lnTo>
                  <a:pt x="6" y="12"/>
                </a:lnTo>
                <a:lnTo>
                  <a:pt x="6" y="0"/>
                </a:lnTo>
                <a:lnTo>
                  <a:pt x="0" y="0"/>
                </a:lnTo>
                <a:lnTo>
                  <a:pt x="0" y="32"/>
                </a:lnTo>
                <a:lnTo>
                  <a:pt x="6" y="32"/>
                </a:lnTo>
                <a:lnTo>
                  <a:pt x="6" y="18"/>
                </a:lnTo>
                <a:lnTo>
                  <a:pt x="22" y="18"/>
                </a:lnTo>
                <a:lnTo>
                  <a:pt x="22" y="32"/>
                </a:lnTo>
                <a:lnTo>
                  <a:pt x="28" y="32"/>
                </a:lnTo>
                <a:lnTo>
                  <a:pt x="28" y="0"/>
                </a:lnTo>
                <a:lnTo>
                  <a:pt x="22" y="0"/>
                </a:lnTo>
                <a:lnTo>
                  <a:pt x="22" y="12"/>
                </a:lnTo>
                <a:lnTo>
                  <a:pt x="22" y="1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Freeform 26"/>
          <p:cNvSpPr>
            <a:spLocks noEditPoints="1"/>
          </p:cNvSpPr>
          <p:nvPr userDrawn="1"/>
        </p:nvSpPr>
        <p:spPr bwMode="auto">
          <a:xfrm>
            <a:off x="8126413" y="796925"/>
            <a:ext cx="50800" cy="53975"/>
          </a:xfrm>
          <a:custGeom>
            <a:avLst/>
            <a:gdLst>
              <a:gd name="T0" fmla="*/ 8 w 16"/>
              <a:gd name="T1" fmla="*/ 0 h 17"/>
              <a:gd name="T2" fmla="*/ 0 w 16"/>
              <a:gd name="T3" fmla="*/ 9 h 17"/>
              <a:gd name="T4" fmla="*/ 8 w 16"/>
              <a:gd name="T5" fmla="*/ 17 h 17"/>
              <a:gd name="T6" fmla="*/ 16 w 16"/>
              <a:gd name="T7" fmla="*/ 9 h 17"/>
              <a:gd name="T8" fmla="*/ 8 w 16"/>
              <a:gd name="T9" fmla="*/ 0 h 17"/>
              <a:gd name="T10" fmla="*/ 8 w 16"/>
              <a:gd name="T11" fmla="*/ 15 h 17"/>
              <a:gd name="T12" fmla="*/ 2 w 16"/>
              <a:gd name="T13" fmla="*/ 9 h 17"/>
              <a:gd name="T14" fmla="*/ 8 w 16"/>
              <a:gd name="T15" fmla="*/ 3 h 17"/>
              <a:gd name="T16" fmla="*/ 14 w 16"/>
              <a:gd name="T17" fmla="*/ 9 h 17"/>
              <a:gd name="T18" fmla="*/ 8 w 16"/>
              <a:gd name="T19" fmla="*/ 15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6" h="17">
                <a:moveTo>
                  <a:pt x="8" y="0"/>
                </a:moveTo>
                <a:cubicBezTo>
                  <a:pt x="3" y="0"/>
                  <a:pt x="0" y="4"/>
                  <a:pt x="0" y="9"/>
                </a:cubicBezTo>
                <a:cubicBezTo>
                  <a:pt x="0" y="13"/>
                  <a:pt x="2" y="17"/>
                  <a:pt x="8" y="17"/>
                </a:cubicBezTo>
                <a:cubicBezTo>
                  <a:pt x="14" y="17"/>
                  <a:pt x="16" y="13"/>
                  <a:pt x="16" y="9"/>
                </a:cubicBezTo>
                <a:cubicBezTo>
                  <a:pt x="16" y="5"/>
                  <a:pt x="14" y="0"/>
                  <a:pt x="8" y="0"/>
                </a:cubicBezTo>
                <a:close/>
                <a:moveTo>
                  <a:pt x="8" y="15"/>
                </a:moveTo>
                <a:cubicBezTo>
                  <a:pt x="4" y="15"/>
                  <a:pt x="2" y="12"/>
                  <a:pt x="2" y="9"/>
                </a:cubicBezTo>
                <a:cubicBezTo>
                  <a:pt x="2" y="6"/>
                  <a:pt x="4" y="3"/>
                  <a:pt x="8" y="3"/>
                </a:cubicBezTo>
                <a:cubicBezTo>
                  <a:pt x="12" y="3"/>
                  <a:pt x="14" y="6"/>
                  <a:pt x="14" y="9"/>
                </a:cubicBezTo>
                <a:cubicBezTo>
                  <a:pt x="14" y="12"/>
                  <a:pt x="12" y="15"/>
                  <a:pt x="8" y="15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Freeform 27"/>
          <p:cNvSpPr>
            <a:spLocks/>
          </p:cNvSpPr>
          <p:nvPr userDrawn="1"/>
        </p:nvSpPr>
        <p:spPr bwMode="auto">
          <a:xfrm>
            <a:off x="8186738" y="800100"/>
            <a:ext cx="34925" cy="50800"/>
          </a:xfrm>
          <a:custGeom>
            <a:avLst/>
            <a:gdLst>
              <a:gd name="T0" fmla="*/ 6 w 22"/>
              <a:gd name="T1" fmla="*/ 0 h 32"/>
              <a:gd name="T2" fmla="*/ 0 w 22"/>
              <a:gd name="T3" fmla="*/ 0 h 32"/>
              <a:gd name="T4" fmla="*/ 0 w 22"/>
              <a:gd name="T5" fmla="*/ 32 h 32"/>
              <a:gd name="T6" fmla="*/ 22 w 22"/>
              <a:gd name="T7" fmla="*/ 32 h 32"/>
              <a:gd name="T8" fmla="*/ 22 w 22"/>
              <a:gd name="T9" fmla="*/ 28 h 32"/>
              <a:gd name="T10" fmla="*/ 6 w 22"/>
              <a:gd name="T11" fmla="*/ 28 h 32"/>
              <a:gd name="T12" fmla="*/ 6 w 22"/>
              <a:gd name="T13" fmla="*/ 0 h 32"/>
              <a:gd name="T14" fmla="*/ 6 w 22"/>
              <a:gd name="T15" fmla="*/ 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2" h="32">
                <a:moveTo>
                  <a:pt x="6" y="0"/>
                </a:moveTo>
                <a:lnTo>
                  <a:pt x="0" y="0"/>
                </a:lnTo>
                <a:lnTo>
                  <a:pt x="0" y="32"/>
                </a:lnTo>
                <a:lnTo>
                  <a:pt x="22" y="32"/>
                </a:lnTo>
                <a:lnTo>
                  <a:pt x="22" y="28"/>
                </a:lnTo>
                <a:lnTo>
                  <a:pt x="6" y="28"/>
                </a:lnTo>
                <a:lnTo>
                  <a:pt x="6" y="0"/>
                </a:lnTo>
                <a:lnTo>
                  <a:pt x="6" y="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Freeform 28"/>
          <p:cNvSpPr>
            <a:spLocks/>
          </p:cNvSpPr>
          <p:nvPr userDrawn="1"/>
        </p:nvSpPr>
        <p:spPr bwMode="auto">
          <a:xfrm>
            <a:off x="8231188" y="800100"/>
            <a:ext cx="6350" cy="50800"/>
          </a:xfrm>
          <a:custGeom>
            <a:avLst/>
            <a:gdLst>
              <a:gd name="T0" fmla="*/ 0 w 4"/>
              <a:gd name="T1" fmla="*/ 32 h 32"/>
              <a:gd name="T2" fmla="*/ 4 w 4"/>
              <a:gd name="T3" fmla="*/ 32 h 32"/>
              <a:gd name="T4" fmla="*/ 4 w 4"/>
              <a:gd name="T5" fmla="*/ 0 h 32"/>
              <a:gd name="T6" fmla="*/ 0 w 4"/>
              <a:gd name="T7" fmla="*/ 0 h 32"/>
              <a:gd name="T8" fmla="*/ 0 w 4"/>
              <a:gd name="T9" fmla="*/ 32 h 32"/>
              <a:gd name="T10" fmla="*/ 0 w 4"/>
              <a:gd name="T11" fmla="*/ 3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32">
                <a:moveTo>
                  <a:pt x="0" y="32"/>
                </a:moveTo>
                <a:lnTo>
                  <a:pt x="4" y="32"/>
                </a:lnTo>
                <a:lnTo>
                  <a:pt x="4" y="0"/>
                </a:lnTo>
                <a:lnTo>
                  <a:pt x="0" y="0"/>
                </a:lnTo>
                <a:lnTo>
                  <a:pt x="0" y="32"/>
                </a:lnTo>
                <a:lnTo>
                  <a:pt x="0" y="3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Freeform 29"/>
          <p:cNvSpPr>
            <a:spLocks/>
          </p:cNvSpPr>
          <p:nvPr userDrawn="1"/>
        </p:nvSpPr>
        <p:spPr bwMode="auto">
          <a:xfrm>
            <a:off x="8247063" y="796925"/>
            <a:ext cx="47625" cy="53975"/>
          </a:xfrm>
          <a:custGeom>
            <a:avLst/>
            <a:gdLst>
              <a:gd name="T0" fmla="*/ 13 w 15"/>
              <a:gd name="T1" fmla="*/ 13 h 17"/>
              <a:gd name="T2" fmla="*/ 9 w 15"/>
              <a:gd name="T3" fmla="*/ 15 h 17"/>
              <a:gd name="T4" fmla="*/ 3 w 15"/>
              <a:gd name="T5" fmla="*/ 9 h 17"/>
              <a:gd name="T6" fmla="*/ 9 w 15"/>
              <a:gd name="T7" fmla="*/ 3 h 17"/>
              <a:gd name="T8" fmla="*/ 13 w 15"/>
              <a:gd name="T9" fmla="*/ 5 h 17"/>
              <a:gd name="T10" fmla="*/ 13 w 15"/>
              <a:gd name="T11" fmla="*/ 5 h 17"/>
              <a:gd name="T12" fmla="*/ 15 w 15"/>
              <a:gd name="T13" fmla="*/ 3 h 17"/>
              <a:gd name="T14" fmla="*/ 15 w 15"/>
              <a:gd name="T15" fmla="*/ 3 h 17"/>
              <a:gd name="T16" fmla="*/ 9 w 15"/>
              <a:gd name="T17" fmla="*/ 0 h 17"/>
              <a:gd name="T18" fmla="*/ 3 w 15"/>
              <a:gd name="T19" fmla="*/ 3 h 17"/>
              <a:gd name="T20" fmla="*/ 0 w 15"/>
              <a:gd name="T21" fmla="*/ 9 h 17"/>
              <a:gd name="T22" fmla="*/ 9 w 15"/>
              <a:gd name="T23" fmla="*/ 17 h 17"/>
              <a:gd name="T24" fmla="*/ 15 w 15"/>
              <a:gd name="T25" fmla="*/ 15 h 17"/>
              <a:gd name="T26" fmla="*/ 15 w 15"/>
              <a:gd name="T27" fmla="*/ 15 h 17"/>
              <a:gd name="T28" fmla="*/ 13 w 15"/>
              <a:gd name="T29" fmla="*/ 13 h 17"/>
              <a:gd name="T30" fmla="*/ 13 w 15"/>
              <a:gd name="T31" fmla="*/ 13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5" h="17">
                <a:moveTo>
                  <a:pt x="13" y="13"/>
                </a:moveTo>
                <a:cubicBezTo>
                  <a:pt x="12" y="14"/>
                  <a:pt x="10" y="15"/>
                  <a:pt x="9" y="15"/>
                </a:cubicBezTo>
                <a:cubicBezTo>
                  <a:pt x="5" y="15"/>
                  <a:pt x="3" y="12"/>
                  <a:pt x="3" y="9"/>
                </a:cubicBezTo>
                <a:cubicBezTo>
                  <a:pt x="3" y="6"/>
                  <a:pt x="5" y="3"/>
                  <a:pt x="9" y="3"/>
                </a:cubicBezTo>
                <a:cubicBezTo>
                  <a:pt x="10" y="3"/>
                  <a:pt x="12" y="3"/>
                  <a:pt x="13" y="5"/>
                </a:cubicBezTo>
                <a:cubicBezTo>
                  <a:pt x="13" y="5"/>
                  <a:pt x="13" y="5"/>
                  <a:pt x="13" y="5"/>
                </a:cubicBezTo>
                <a:cubicBezTo>
                  <a:pt x="15" y="3"/>
                  <a:pt x="15" y="3"/>
                  <a:pt x="15" y="3"/>
                </a:cubicBezTo>
                <a:cubicBezTo>
                  <a:pt x="15" y="3"/>
                  <a:pt x="15" y="3"/>
                  <a:pt x="15" y="3"/>
                </a:cubicBezTo>
                <a:cubicBezTo>
                  <a:pt x="13" y="1"/>
                  <a:pt x="11" y="0"/>
                  <a:pt x="9" y="0"/>
                </a:cubicBezTo>
                <a:cubicBezTo>
                  <a:pt x="6" y="0"/>
                  <a:pt x="4" y="1"/>
                  <a:pt x="3" y="3"/>
                </a:cubicBezTo>
                <a:cubicBezTo>
                  <a:pt x="1" y="4"/>
                  <a:pt x="0" y="7"/>
                  <a:pt x="0" y="9"/>
                </a:cubicBezTo>
                <a:cubicBezTo>
                  <a:pt x="0" y="13"/>
                  <a:pt x="3" y="17"/>
                  <a:pt x="9" y="17"/>
                </a:cubicBezTo>
                <a:cubicBezTo>
                  <a:pt x="11" y="17"/>
                  <a:pt x="13" y="16"/>
                  <a:pt x="15" y="15"/>
                </a:cubicBezTo>
                <a:cubicBezTo>
                  <a:pt x="15" y="15"/>
                  <a:pt x="15" y="15"/>
                  <a:pt x="15" y="15"/>
                </a:cubicBezTo>
                <a:cubicBezTo>
                  <a:pt x="13" y="13"/>
                  <a:pt x="13" y="13"/>
                  <a:pt x="13" y="13"/>
                </a:cubicBezTo>
                <a:cubicBezTo>
                  <a:pt x="13" y="13"/>
                  <a:pt x="13" y="13"/>
                  <a:pt x="13" y="13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Freeform 30"/>
          <p:cNvSpPr>
            <a:spLocks/>
          </p:cNvSpPr>
          <p:nvPr userDrawn="1"/>
        </p:nvSpPr>
        <p:spPr bwMode="auto">
          <a:xfrm>
            <a:off x="8329613" y="800100"/>
            <a:ext cx="41275" cy="50800"/>
          </a:xfrm>
          <a:custGeom>
            <a:avLst/>
            <a:gdLst>
              <a:gd name="T0" fmla="*/ 11 w 13"/>
              <a:gd name="T1" fmla="*/ 9 h 16"/>
              <a:gd name="T2" fmla="*/ 7 w 13"/>
              <a:gd name="T3" fmla="*/ 14 h 16"/>
              <a:gd name="T4" fmla="*/ 2 w 13"/>
              <a:gd name="T5" fmla="*/ 9 h 16"/>
              <a:gd name="T6" fmla="*/ 2 w 13"/>
              <a:gd name="T7" fmla="*/ 0 h 16"/>
              <a:gd name="T8" fmla="*/ 0 w 13"/>
              <a:gd name="T9" fmla="*/ 0 h 16"/>
              <a:gd name="T10" fmla="*/ 0 w 13"/>
              <a:gd name="T11" fmla="*/ 9 h 16"/>
              <a:gd name="T12" fmla="*/ 7 w 13"/>
              <a:gd name="T13" fmla="*/ 16 h 16"/>
              <a:gd name="T14" fmla="*/ 13 w 13"/>
              <a:gd name="T15" fmla="*/ 9 h 16"/>
              <a:gd name="T16" fmla="*/ 13 w 13"/>
              <a:gd name="T17" fmla="*/ 0 h 16"/>
              <a:gd name="T18" fmla="*/ 11 w 13"/>
              <a:gd name="T19" fmla="*/ 0 h 16"/>
              <a:gd name="T20" fmla="*/ 11 w 13"/>
              <a:gd name="T21" fmla="*/ 9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3" h="16">
                <a:moveTo>
                  <a:pt x="11" y="9"/>
                </a:moveTo>
                <a:cubicBezTo>
                  <a:pt x="11" y="12"/>
                  <a:pt x="9" y="14"/>
                  <a:pt x="7" y="14"/>
                </a:cubicBezTo>
                <a:cubicBezTo>
                  <a:pt x="5" y="14"/>
                  <a:pt x="2" y="12"/>
                  <a:pt x="2" y="9"/>
                </a:cubicBezTo>
                <a:cubicBezTo>
                  <a:pt x="2" y="0"/>
                  <a:pt x="2" y="0"/>
                  <a:pt x="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9"/>
                  <a:pt x="0" y="9"/>
                  <a:pt x="0" y="9"/>
                </a:cubicBezTo>
                <a:cubicBezTo>
                  <a:pt x="0" y="14"/>
                  <a:pt x="3" y="16"/>
                  <a:pt x="7" y="16"/>
                </a:cubicBezTo>
                <a:cubicBezTo>
                  <a:pt x="10" y="16"/>
                  <a:pt x="13" y="14"/>
                  <a:pt x="13" y="9"/>
                </a:cubicBezTo>
                <a:cubicBezTo>
                  <a:pt x="13" y="0"/>
                  <a:pt x="13" y="0"/>
                  <a:pt x="13" y="0"/>
                </a:cubicBezTo>
                <a:cubicBezTo>
                  <a:pt x="11" y="0"/>
                  <a:pt x="11" y="0"/>
                  <a:pt x="11" y="0"/>
                </a:cubicBezTo>
                <a:cubicBezTo>
                  <a:pt x="11" y="9"/>
                  <a:pt x="11" y="9"/>
                  <a:pt x="11" y="9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Freeform 31"/>
          <p:cNvSpPr>
            <a:spLocks/>
          </p:cNvSpPr>
          <p:nvPr userDrawn="1"/>
        </p:nvSpPr>
        <p:spPr bwMode="auto">
          <a:xfrm>
            <a:off x="8386763" y="800100"/>
            <a:ext cx="41275" cy="50800"/>
          </a:xfrm>
          <a:custGeom>
            <a:avLst/>
            <a:gdLst>
              <a:gd name="T0" fmla="*/ 20 w 26"/>
              <a:gd name="T1" fmla="*/ 22 h 32"/>
              <a:gd name="T2" fmla="*/ 2 w 26"/>
              <a:gd name="T3" fmla="*/ 0 h 32"/>
              <a:gd name="T4" fmla="*/ 0 w 26"/>
              <a:gd name="T5" fmla="*/ 0 h 32"/>
              <a:gd name="T6" fmla="*/ 0 w 26"/>
              <a:gd name="T7" fmla="*/ 32 h 32"/>
              <a:gd name="T8" fmla="*/ 4 w 26"/>
              <a:gd name="T9" fmla="*/ 32 h 32"/>
              <a:gd name="T10" fmla="*/ 4 w 26"/>
              <a:gd name="T11" fmla="*/ 10 h 32"/>
              <a:gd name="T12" fmla="*/ 22 w 26"/>
              <a:gd name="T13" fmla="*/ 32 h 32"/>
              <a:gd name="T14" fmla="*/ 26 w 26"/>
              <a:gd name="T15" fmla="*/ 32 h 32"/>
              <a:gd name="T16" fmla="*/ 26 w 26"/>
              <a:gd name="T17" fmla="*/ 0 h 32"/>
              <a:gd name="T18" fmla="*/ 20 w 26"/>
              <a:gd name="T19" fmla="*/ 0 h 32"/>
              <a:gd name="T20" fmla="*/ 20 w 26"/>
              <a:gd name="T21" fmla="*/ 22 h 32"/>
              <a:gd name="T22" fmla="*/ 20 w 26"/>
              <a:gd name="T23" fmla="*/ 2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6" h="32">
                <a:moveTo>
                  <a:pt x="20" y="22"/>
                </a:moveTo>
                <a:lnTo>
                  <a:pt x="2" y="0"/>
                </a:lnTo>
                <a:lnTo>
                  <a:pt x="0" y="0"/>
                </a:lnTo>
                <a:lnTo>
                  <a:pt x="0" y="32"/>
                </a:lnTo>
                <a:lnTo>
                  <a:pt x="4" y="32"/>
                </a:lnTo>
                <a:lnTo>
                  <a:pt x="4" y="10"/>
                </a:lnTo>
                <a:lnTo>
                  <a:pt x="22" y="32"/>
                </a:lnTo>
                <a:lnTo>
                  <a:pt x="26" y="32"/>
                </a:lnTo>
                <a:lnTo>
                  <a:pt x="26" y="0"/>
                </a:lnTo>
                <a:lnTo>
                  <a:pt x="20" y="0"/>
                </a:lnTo>
                <a:lnTo>
                  <a:pt x="20" y="22"/>
                </a:lnTo>
                <a:lnTo>
                  <a:pt x="20" y="2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Freeform 32"/>
          <p:cNvSpPr>
            <a:spLocks/>
          </p:cNvSpPr>
          <p:nvPr userDrawn="1"/>
        </p:nvSpPr>
        <p:spPr bwMode="auto">
          <a:xfrm>
            <a:off x="8440738" y="800100"/>
            <a:ext cx="9525" cy="50800"/>
          </a:xfrm>
          <a:custGeom>
            <a:avLst/>
            <a:gdLst>
              <a:gd name="T0" fmla="*/ 0 w 6"/>
              <a:gd name="T1" fmla="*/ 32 h 32"/>
              <a:gd name="T2" fmla="*/ 6 w 6"/>
              <a:gd name="T3" fmla="*/ 32 h 32"/>
              <a:gd name="T4" fmla="*/ 6 w 6"/>
              <a:gd name="T5" fmla="*/ 0 h 32"/>
              <a:gd name="T6" fmla="*/ 0 w 6"/>
              <a:gd name="T7" fmla="*/ 0 h 32"/>
              <a:gd name="T8" fmla="*/ 0 w 6"/>
              <a:gd name="T9" fmla="*/ 32 h 32"/>
              <a:gd name="T10" fmla="*/ 0 w 6"/>
              <a:gd name="T11" fmla="*/ 3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" h="32">
                <a:moveTo>
                  <a:pt x="0" y="32"/>
                </a:moveTo>
                <a:lnTo>
                  <a:pt x="6" y="32"/>
                </a:lnTo>
                <a:lnTo>
                  <a:pt x="6" y="0"/>
                </a:lnTo>
                <a:lnTo>
                  <a:pt x="0" y="0"/>
                </a:lnTo>
                <a:lnTo>
                  <a:pt x="0" y="32"/>
                </a:lnTo>
                <a:lnTo>
                  <a:pt x="0" y="3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Freeform 33"/>
          <p:cNvSpPr>
            <a:spLocks/>
          </p:cNvSpPr>
          <p:nvPr userDrawn="1"/>
        </p:nvSpPr>
        <p:spPr bwMode="auto">
          <a:xfrm>
            <a:off x="8459788" y="800100"/>
            <a:ext cx="50800" cy="50800"/>
          </a:xfrm>
          <a:custGeom>
            <a:avLst/>
            <a:gdLst>
              <a:gd name="T0" fmla="*/ 6 w 32"/>
              <a:gd name="T1" fmla="*/ 0 h 32"/>
              <a:gd name="T2" fmla="*/ 0 w 32"/>
              <a:gd name="T3" fmla="*/ 0 h 32"/>
              <a:gd name="T4" fmla="*/ 12 w 32"/>
              <a:gd name="T5" fmla="*/ 32 h 32"/>
              <a:gd name="T6" fmla="*/ 18 w 32"/>
              <a:gd name="T7" fmla="*/ 32 h 32"/>
              <a:gd name="T8" fmla="*/ 32 w 32"/>
              <a:gd name="T9" fmla="*/ 0 h 32"/>
              <a:gd name="T10" fmla="*/ 26 w 32"/>
              <a:gd name="T11" fmla="*/ 0 h 32"/>
              <a:gd name="T12" fmla="*/ 16 w 32"/>
              <a:gd name="T13" fmla="*/ 26 h 32"/>
              <a:gd name="T14" fmla="*/ 6 w 32"/>
              <a:gd name="T15" fmla="*/ 0 h 32"/>
              <a:gd name="T16" fmla="*/ 6 w 32"/>
              <a:gd name="T17" fmla="*/ 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2" h="32">
                <a:moveTo>
                  <a:pt x="6" y="0"/>
                </a:moveTo>
                <a:lnTo>
                  <a:pt x="0" y="0"/>
                </a:lnTo>
                <a:lnTo>
                  <a:pt x="12" y="32"/>
                </a:lnTo>
                <a:lnTo>
                  <a:pt x="18" y="32"/>
                </a:lnTo>
                <a:lnTo>
                  <a:pt x="32" y="0"/>
                </a:lnTo>
                <a:lnTo>
                  <a:pt x="26" y="0"/>
                </a:lnTo>
                <a:lnTo>
                  <a:pt x="16" y="26"/>
                </a:lnTo>
                <a:lnTo>
                  <a:pt x="6" y="0"/>
                </a:lnTo>
                <a:lnTo>
                  <a:pt x="6" y="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Freeform 34"/>
          <p:cNvSpPr>
            <a:spLocks/>
          </p:cNvSpPr>
          <p:nvPr userDrawn="1"/>
        </p:nvSpPr>
        <p:spPr bwMode="auto">
          <a:xfrm>
            <a:off x="8516938" y="800100"/>
            <a:ext cx="38100" cy="50800"/>
          </a:xfrm>
          <a:custGeom>
            <a:avLst/>
            <a:gdLst>
              <a:gd name="T0" fmla="*/ 6 w 24"/>
              <a:gd name="T1" fmla="*/ 18 h 32"/>
              <a:gd name="T2" fmla="*/ 24 w 24"/>
              <a:gd name="T3" fmla="*/ 18 h 32"/>
              <a:gd name="T4" fmla="*/ 24 w 24"/>
              <a:gd name="T5" fmla="*/ 12 h 32"/>
              <a:gd name="T6" fmla="*/ 6 w 24"/>
              <a:gd name="T7" fmla="*/ 12 h 32"/>
              <a:gd name="T8" fmla="*/ 6 w 24"/>
              <a:gd name="T9" fmla="*/ 4 h 32"/>
              <a:gd name="T10" fmla="*/ 24 w 24"/>
              <a:gd name="T11" fmla="*/ 4 h 32"/>
              <a:gd name="T12" fmla="*/ 24 w 24"/>
              <a:gd name="T13" fmla="*/ 0 h 32"/>
              <a:gd name="T14" fmla="*/ 0 w 24"/>
              <a:gd name="T15" fmla="*/ 0 h 32"/>
              <a:gd name="T16" fmla="*/ 0 w 24"/>
              <a:gd name="T17" fmla="*/ 32 h 32"/>
              <a:gd name="T18" fmla="*/ 24 w 24"/>
              <a:gd name="T19" fmla="*/ 32 h 32"/>
              <a:gd name="T20" fmla="*/ 24 w 24"/>
              <a:gd name="T21" fmla="*/ 26 h 32"/>
              <a:gd name="T22" fmla="*/ 6 w 24"/>
              <a:gd name="T23" fmla="*/ 26 h 32"/>
              <a:gd name="T24" fmla="*/ 6 w 24"/>
              <a:gd name="T25" fmla="*/ 18 h 32"/>
              <a:gd name="T26" fmla="*/ 6 w 24"/>
              <a:gd name="T27" fmla="*/ 18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4" h="32">
                <a:moveTo>
                  <a:pt x="6" y="18"/>
                </a:moveTo>
                <a:lnTo>
                  <a:pt x="24" y="18"/>
                </a:lnTo>
                <a:lnTo>
                  <a:pt x="24" y="12"/>
                </a:lnTo>
                <a:lnTo>
                  <a:pt x="6" y="12"/>
                </a:lnTo>
                <a:lnTo>
                  <a:pt x="6" y="4"/>
                </a:lnTo>
                <a:lnTo>
                  <a:pt x="24" y="4"/>
                </a:lnTo>
                <a:lnTo>
                  <a:pt x="24" y="0"/>
                </a:lnTo>
                <a:lnTo>
                  <a:pt x="0" y="0"/>
                </a:lnTo>
                <a:lnTo>
                  <a:pt x="0" y="32"/>
                </a:lnTo>
                <a:lnTo>
                  <a:pt x="24" y="32"/>
                </a:lnTo>
                <a:lnTo>
                  <a:pt x="24" y="26"/>
                </a:lnTo>
                <a:lnTo>
                  <a:pt x="6" y="26"/>
                </a:lnTo>
                <a:lnTo>
                  <a:pt x="6" y="18"/>
                </a:lnTo>
                <a:lnTo>
                  <a:pt x="6" y="18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Freeform 35"/>
          <p:cNvSpPr>
            <a:spLocks noEditPoints="1"/>
          </p:cNvSpPr>
          <p:nvPr userDrawn="1"/>
        </p:nvSpPr>
        <p:spPr bwMode="auto">
          <a:xfrm>
            <a:off x="8567738" y="800100"/>
            <a:ext cx="44450" cy="50800"/>
          </a:xfrm>
          <a:custGeom>
            <a:avLst/>
            <a:gdLst>
              <a:gd name="T0" fmla="*/ 13 w 14"/>
              <a:gd name="T1" fmla="*/ 5 h 16"/>
              <a:gd name="T2" fmla="*/ 7 w 14"/>
              <a:gd name="T3" fmla="*/ 0 h 16"/>
              <a:gd name="T4" fmla="*/ 0 w 14"/>
              <a:gd name="T5" fmla="*/ 0 h 16"/>
              <a:gd name="T6" fmla="*/ 0 w 14"/>
              <a:gd name="T7" fmla="*/ 16 h 16"/>
              <a:gd name="T8" fmla="*/ 2 w 14"/>
              <a:gd name="T9" fmla="*/ 16 h 16"/>
              <a:gd name="T10" fmla="*/ 2 w 14"/>
              <a:gd name="T11" fmla="*/ 10 h 16"/>
              <a:gd name="T12" fmla="*/ 6 w 14"/>
              <a:gd name="T13" fmla="*/ 10 h 16"/>
              <a:gd name="T14" fmla="*/ 11 w 14"/>
              <a:gd name="T15" fmla="*/ 16 h 16"/>
              <a:gd name="T16" fmla="*/ 14 w 14"/>
              <a:gd name="T17" fmla="*/ 16 h 16"/>
              <a:gd name="T18" fmla="*/ 9 w 14"/>
              <a:gd name="T19" fmla="*/ 10 h 16"/>
              <a:gd name="T20" fmla="*/ 13 w 14"/>
              <a:gd name="T21" fmla="*/ 5 h 16"/>
              <a:gd name="T22" fmla="*/ 2 w 14"/>
              <a:gd name="T23" fmla="*/ 2 h 16"/>
              <a:gd name="T24" fmla="*/ 7 w 14"/>
              <a:gd name="T25" fmla="*/ 2 h 16"/>
              <a:gd name="T26" fmla="*/ 10 w 14"/>
              <a:gd name="T27" fmla="*/ 5 h 16"/>
              <a:gd name="T28" fmla="*/ 7 w 14"/>
              <a:gd name="T29" fmla="*/ 8 h 16"/>
              <a:gd name="T30" fmla="*/ 2 w 14"/>
              <a:gd name="T31" fmla="*/ 8 h 16"/>
              <a:gd name="T32" fmla="*/ 2 w 14"/>
              <a:gd name="T33" fmla="*/ 2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4" h="16">
                <a:moveTo>
                  <a:pt x="13" y="5"/>
                </a:moveTo>
                <a:cubicBezTo>
                  <a:pt x="13" y="2"/>
                  <a:pt x="11" y="0"/>
                  <a:pt x="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"/>
                  <a:pt x="0" y="16"/>
                  <a:pt x="0" y="16"/>
                </a:cubicBezTo>
                <a:cubicBezTo>
                  <a:pt x="2" y="16"/>
                  <a:pt x="2" y="16"/>
                  <a:pt x="2" y="16"/>
                </a:cubicBezTo>
                <a:cubicBezTo>
                  <a:pt x="2" y="10"/>
                  <a:pt x="2" y="10"/>
                  <a:pt x="2" y="10"/>
                </a:cubicBezTo>
                <a:cubicBezTo>
                  <a:pt x="6" y="10"/>
                  <a:pt x="6" y="10"/>
                  <a:pt x="6" y="10"/>
                </a:cubicBezTo>
                <a:cubicBezTo>
                  <a:pt x="11" y="16"/>
                  <a:pt x="11" y="16"/>
                  <a:pt x="11" y="16"/>
                </a:cubicBezTo>
                <a:cubicBezTo>
                  <a:pt x="14" y="16"/>
                  <a:pt x="14" y="16"/>
                  <a:pt x="14" y="16"/>
                </a:cubicBezTo>
                <a:cubicBezTo>
                  <a:pt x="9" y="10"/>
                  <a:pt x="9" y="10"/>
                  <a:pt x="9" y="10"/>
                </a:cubicBezTo>
                <a:cubicBezTo>
                  <a:pt x="11" y="10"/>
                  <a:pt x="13" y="8"/>
                  <a:pt x="13" y="5"/>
                </a:cubicBezTo>
                <a:close/>
                <a:moveTo>
                  <a:pt x="2" y="2"/>
                </a:moveTo>
                <a:cubicBezTo>
                  <a:pt x="7" y="2"/>
                  <a:pt x="7" y="2"/>
                  <a:pt x="7" y="2"/>
                </a:cubicBezTo>
                <a:cubicBezTo>
                  <a:pt x="9" y="2"/>
                  <a:pt x="10" y="4"/>
                  <a:pt x="10" y="5"/>
                </a:cubicBezTo>
                <a:cubicBezTo>
                  <a:pt x="10" y="6"/>
                  <a:pt x="9" y="8"/>
                  <a:pt x="7" y="8"/>
                </a:cubicBezTo>
                <a:cubicBezTo>
                  <a:pt x="2" y="8"/>
                  <a:pt x="2" y="8"/>
                  <a:pt x="2" y="8"/>
                </a:cubicBezTo>
                <a:cubicBezTo>
                  <a:pt x="2" y="2"/>
                  <a:pt x="2" y="2"/>
                  <a:pt x="2" y="2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Freeform 36"/>
          <p:cNvSpPr>
            <a:spLocks/>
          </p:cNvSpPr>
          <p:nvPr userDrawn="1"/>
        </p:nvSpPr>
        <p:spPr bwMode="auto">
          <a:xfrm>
            <a:off x="8615363" y="796925"/>
            <a:ext cx="44450" cy="53975"/>
          </a:xfrm>
          <a:custGeom>
            <a:avLst/>
            <a:gdLst>
              <a:gd name="T0" fmla="*/ 8 w 14"/>
              <a:gd name="T1" fmla="*/ 7 h 17"/>
              <a:gd name="T2" fmla="*/ 4 w 14"/>
              <a:gd name="T3" fmla="*/ 5 h 17"/>
              <a:gd name="T4" fmla="*/ 7 w 14"/>
              <a:gd name="T5" fmla="*/ 3 h 17"/>
              <a:gd name="T6" fmla="*/ 12 w 14"/>
              <a:gd name="T7" fmla="*/ 5 h 17"/>
              <a:gd name="T8" fmla="*/ 12 w 14"/>
              <a:gd name="T9" fmla="*/ 5 h 17"/>
              <a:gd name="T10" fmla="*/ 14 w 14"/>
              <a:gd name="T11" fmla="*/ 4 h 17"/>
              <a:gd name="T12" fmla="*/ 14 w 14"/>
              <a:gd name="T13" fmla="*/ 3 h 17"/>
              <a:gd name="T14" fmla="*/ 7 w 14"/>
              <a:gd name="T15" fmla="*/ 0 h 17"/>
              <a:gd name="T16" fmla="*/ 2 w 14"/>
              <a:gd name="T17" fmla="*/ 2 h 17"/>
              <a:gd name="T18" fmla="*/ 1 w 14"/>
              <a:gd name="T19" fmla="*/ 5 h 17"/>
              <a:gd name="T20" fmla="*/ 7 w 14"/>
              <a:gd name="T21" fmla="*/ 10 h 17"/>
              <a:gd name="T22" fmla="*/ 12 w 14"/>
              <a:gd name="T23" fmla="*/ 12 h 17"/>
              <a:gd name="T24" fmla="*/ 7 w 14"/>
              <a:gd name="T25" fmla="*/ 15 h 17"/>
              <a:gd name="T26" fmla="*/ 3 w 14"/>
              <a:gd name="T27" fmla="*/ 12 h 17"/>
              <a:gd name="T28" fmla="*/ 2 w 14"/>
              <a:gd name="T29" fmla="*/ 12 h 17"/>
              <a:gd name="T30" fmla="*/ 0 w 14"/>
              <a:gd name="T31" fmla="*/ 13 h 17"/>
              <a:gd name="T32" fmla="*/ 0 w 14"/>
              <a:gd name="T33" fmla="*/ 14 h 17"/>
              <a:gd name="T34" fmla="*/ 7 w 14"/>
              <a:gd name="T35" fmla="*/ 17 h 17"/>
              <a:gd name="T36" fmla="*/ 14 w 14"/>
              <a:gd name="T37" fmla="*/ 12 h 17"/>
              <a:gd name="T38" fmla="*/ 8 w 14"/>
              <a:gd name="T39" fmla="*/ 7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4" h="17">
                <a:moveTo>
                  <a:pt x="8" y="7"/>
                </a:moveTo>
                <a:cubicBezTo>
                  <a:pt x="5" y="7"/>
                  <a:pt x="4" y="6"/>
                  <a:pt x="4" y="5"/>
                </a:cubicBezTo>
                <a:cubicBezTo>
                  <a:pt x="4" y="4"/>
                  <a:pt x="5" y="3"/>
                  <a:pt x="7" y="3"/>
                </a:cubicBezTo>
                <a:cubicBezTo>
                  <a:pt x="9" y="3"/>
                  <a:pt x="11" y="3"/>
                  <a:pt x="12" y="5"/>
                </a:cubicBezTo>
                <a:cubicBezTo>
                  <a:pt x="12" y="5"/>
                  <a:pt x="12" y="5"/>
                  <a:pt x="12" y="5"/>
                </a:cubicBezTo>
                <a:cubicBezTo>
                  <a:pt x="14" y="4"/>
                  <a:pt x="14" y="4"/>
                  <a:pt x="14" y="4"/>
                </a:cubicBezTo>
                <a:cubicBezTo>
                  <a:pt x="14" y="3"/>
                  <a:pt x="14" y="3"/>
                  <a:pt x="14" y="3"/>
                </a:cubicBezTo>
                <a:cubicBezTo>
                  <a:pt x="12" y="1"/>
                  <a:pt x="10" y="0"/>
                  <a:pt x="7" y="0"/>
                </a:cubicBezTo>
                <a:cubicBezTo>
                  <a:pt x="6" y="0"/>
                  <a:pt x="3" y="1"/>
                  <a:pt x="2" y="2"/>
                </a:cubicBezTo>
                <a:cubicBezTo>
                  <a:pt x="1" y="3"/>
                  <a:pt x="1" y="4"/>
                  <a:pt x="1" y="5"/>
                </a:cubicBezTo>
                <a:cubicBezTo>
                  <a:pt x="1" y="9"/>
                  <a:pt x="5" y="9"/>
                  <a:pt x="7" y="10"/>
                </a:cubicBezTo>
                <a:cubicBezTo>
                  <a:pt x="10" y="10"/>
                  <a:pt x="12" y="11"/>
                  <a:pt x="12" y="12"/>
                </a:cubicBezTo>
                <a:cubicBezTo>
                  <a:pt x="12" y="15"/>
                  <a:pt x="8" y="15"/>
                  <a:pt x="7" y="15"/>
                </a:cubicBezTo>
                <a:cubicBezTo>
                  <a:pt x="6" y="15"/>
                  <a:pt x="4" y="14"/>
                  <a:pt x="3" y="12"/>
                </a:cubicBezTo>
                <a:cubicBezTo>
                  <a:pt x="2" y="12"/>
                  <a:pt x="2" y="12"/>
                  <a:pt x="2" y="12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14"/>
                  <a:pt x="0" y="14"/>
                  <a:pt x="0" y="14"/>
                </a:cubicBezTo>
                <a:cubicBezTo>
                  <a:pt x="2" y="16"/>
                  <a:pt x="4" y="17"/>
                  <a:pt x="7" y="17"/>
                </a:cubicBezTo>
                <a:cubicBezTo>
                  <a:pt x="11" y="17"/>
                  <a:pt x="14" y="16"/>
                  <a:pt x="14" y="12"/>
                </a:cubicBezTo>
                <a:cubicBezTo>
                  <a:pt x="14" y="9"/>
                  <a:pt x="11" y="8"/>
                  <a:pt x="8" y="7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Freeform 37"/>
          <p:cNvSpPr>
            <a:spLocks/>
          </p:cNvSpPr>
          <p:nvPr userDrawn="1"/>
        </p:nvSpPr>
        <p:spPr bwMode="auto">
          <a:xfrm>
            <a:off x="8669338" y="800100"/>
            <a:ext cx="9525" cy="50800"/>
          </a:xfrm>
          <a:custGeom>
            <a:avLst/>
            <a:gdLst>
              <a:gd name="T0" fmla="*/ 0 w 6"/>
              <a:gd name="T1" fmla="*/ 32 h 32"/>
              <a:gd name="T2" fmla="*/ 6 w 6"/>
              <a:gd name="T3" fmla="*/ 32 h 32"/>
              <a:gd name="T4" fmla="*/ 6 w 6"/>
              <a:gd name="T5" fmla="*/ 0 h 32"/>
              <a:gd name="T6" fmla="*/ 0 w 6"/>
              <a:gd name="T7" fmla="*/ 0 h 32"/>
              <a:gd name="T8" fmla="*/ 0 w 6"/>
              <a:gd name="T9" fmla="*/ 32 h 32"/>
              <a:gd name="T10" fmla="*/ 0 w 6"/>
              <a:gd name="T11" fmla="*/ 3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" h="32">
                <a:moveTo>
                  <a:pt x="0" y="32"/>
                </a:moveTo>
                <a:lnTo>
                  <a:pt x="6" y="32"/>
                </a:lnTo>
                <a:lnTo>
                  <a:pt x="6" y="0"/>
                </a:lnTo>
                <a:lnTo>
                  <a:pt x="0" y="0"/>
                </a:lnTo>
                <a:lnTo>
                  <a:pt x="0" y="32"/>
                </a:lnTo>
                <a:lnTo>
                  <a:pt x="0" y="3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Freeform 38"/>
          <p:cNvSpPr>
            <a:spLocks/>
          </p:cNvSpPr>
          <p:nvPr userDrawn="1"/>
        </p:nvSpPr>
        <p:spPr bwMode="auto">
          <a:xfrm>
            <a:off x="8688388" y="800100"/>
            <a:ext cx="85725" cy="50800"/>
          </a:xfrm>
          <a:custGeom>
            <a:avLst/>
            <a:gdLst>
              <a:gd name="T0" fmla="*/ 30 w 54"/>
              <a:gd name="T1" fmla="*/ 0 h 32"/>
              <a:gd name="T2" fmla="*/ 0 w 54"/>
              <a:gd name="T3" fmla="*/ 0 h 32"/>
              <a:gd name="T4" fmla="*/ 0 w 54"/>
              <a:gd name="T5" fmla="*/ 4 h 32"/>
              <a:gd name="T6" fmla="*/ 10 w 54"/>
              <a:gd name="T7" fmla="*/ 4 h 32"/>
              <a:gd name="T8" fmla="*/ 10 w 54"/>
              <a:gd name="T9" fmla="*/ 32 h 32"/>
              <a:gd name="T10" fmla="*/ 16 w 54"/>
              <a:gd name="T11" fmla="*/ 32 h 32"/>
              <a:gd name="T12" fmla="*/ 16 w 54"/>
              <a:gd name="T13" fmla="*/ 4 h 32"/>
              <a:gd name="T14" fmla="*/ 26 w 54"/>
              <a:gd name="T15" fmla="*/ 4 h 32"/>
              <a:gd name="T16" fmla="*/ 36 w 54"/>
              <a:gd name="T17" fmla="*/ 18 h 32"/>
              <a:gd name="T18" fmla="*/ 36 w 54"/>
              <a:gd name="T19" fmla="*/ 32 h 32"/>
              <a:gd name="T20" fmla="*/ 42 w 54"/>
              <a:gd name="T21" fmla="*/ 32 h 32"/>
              <a:gd name="T22" fmla="*/ 42 w 54"/>
              <a:gd name="T23" fmla="*/ 18 h 32"/>
              <a:gd name="T24" fmla="*/ 54 w 54"/>
              <a:gd name="T25" fmla="*/ 0 h 32"/>
              <a:gd name="T26" fmla="*/ 54 w 54"/>
              <a:gd name="T27" fmla="*/ 0 h 32"/>
              <a:gd name="T28" fmla="*/ 54 w 54"/>
              <a:gd name="T29" fmla="*/ 0 h 32"/>
              <a:gd name="T30" fmla="*/ 48 w 54"/>
              <a:gd name="T31" fmla="*/ 0 h 32"/>
              <a:gd name="T32" fmla="*/ 38 w 54"/>
              <a:gd name="T33" fmla="*/ 14 h 32"/>
              <a:gd name="T34" fmla="*/ 30 w 54"/>
              <a:gd name="T35" fmla="*/ 0 h 32"/>
              <a:gd name="T36" fmla="*/ 30 w 54"/>
              <a:gd name="T37" fmla="*/ 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54" h="32">
                <a:moveTo>
                  <a:pt x="30" y="0"/>
                </a:moveTo>
                <a:lnTo>
                  <a:pt x="0" y="0"/>
                </a:lnTo>
                <a:lnTo>
                  <a:pt x="0" y="4"/>
                </a:lnTo>
                <a:lnTo>
                  <a:pt x="10" y="4"/>
                </a:lnTo>
                <a:lnTo>
                  <a:pt x="10" y="32"/>
                </a:lnTo>
                <a:lnTo>
                  <a:pt x="16" y="32"/>
                </a:lnTo>
                <a:lnTo>
                  <a:pt x="16" y="4"/>
                </a:lnTo>
                <a:lnTo>
                  <a:pt x="26" y="4"/>
                </a:lnTo>
                <a:lnTo>
                  <a:pt x="36" y="18"/>
                </a:lnTo>
                <a:lnTo>
                  <a:pt x="36" y="32"/>
                </a:lnTo>
                <a:lnTo>
                  <a:pt x="42" y="32"/>
                </a:lnTo>
                <a:lnTo>
                  <a:pt x="42" y="18"/>
                </a:lnTo>
                <a:lnTo>
                  <a:pt x="54" y="0"/>
                </a:lnTo>
                <a:lnTo>
                  <a:pt x="54" y="0"/>
                </a:lnTo>
                <a:lnTo>
                  <a:pt x="54" y="0"/>
                </a:lnTo>
                <a:lnTo>
                  <a:pt x="48" y="0"/>
                </a:lnTo>
                <a:lnTo>
                  <a:pt x="38" y="14"/>
                </a:lnTo>
                <a:lnTo>
                  <a:pt x="30" y="0"/>
                </a:lnTo>
                <a:lnTo>
                  <a:pt x="30" y="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Freeform 39"/>
          <p:cNvSpPr>
            <a:spLocks/>
          </p:cNvSpPr>
          <p:nvPr userDrawn="1"/>
        </p:nvSpPr>
        <p:spPr bwMode="auto">
          <a:xfrm>
            <a:off x="8482013" y="371475"/>
            <a:ext cx="292100" cy="365125"/>
          </a:xfrm>
          <a:custGeom>
            <a:avLst/>
            <a:gdLst>
              <a:gd name="T0" fmla="*/ 92 w 92"/>
              <a:gd name="T1" fmla="*/ 0 h 115"/>
              <a:gd name="T2" fmla="*/ 92 w 92"/>
              <a:gd name="T3" fmla="*/ 71 h 115"/>
              <a:gd name="T4" fmla="*/ 49 w 92"/>
              <a:gd name="T5" fmla="*/ 115 h 115"/>
              <a:gd name="T6" fmla="*/ 0 w 92"/>
              <a:gd name="T7" fmla="*/ 70 h 115"/>
              <a:gd name="T8" fmla="*/ 0 w 92"/>
              <a:gd name="T9" fmla="*/ 0 h 115"/>
              <a:gd name="T10" fmla="*/ 22 w 92"/>
              <a:gd name="T11" fmla="*/ 0 h 115"/>
              <a:gd name="T12" fmla="*/ 22 w 92"/>
              <a:gd name="T13" fmla="*/ 72 h 115"/>
              <a:gd name="T14" fmla="*/ 50 w 92"/>
              <a:gd name="T15" fmla="*/ 105 h 115"/>
              <a:gd name="T16" fmla="*/ 79 w 92"/>
              <a:gd name="T17" fmla="*/ 73 h 115"/>
              <a:gd name="T18" fmla="*/ 79 w 92"/>
              <a:gd name="T19" fmla="*/ 0 h 115"/>
              <a:gd name="T20" fmla="*/ 92 w 92"/>
              <a:gd name="T21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92" h="115">
                <a:moveTo>
                  <a:pt x="92" y="0"/>
                </a:moveTo>
                <a:cubicBezTo>
                  <a:pt x="92" y="71"/>
                  <a:pt x="92" y="71"/>
                  <a:pt x="92" y="71"/>
                </a:cubicBezTo>
                <a:cubicBezTo>
                  <a:pt x="92" y="109"/>
                  <a:pt x="62" y="115"/>
                  <a:pt x="49" y="115"/>
                </a:cubicBezTo>
                <a:cubicBezTo>
                  <a:pt x="25" y="115"/>
                  <a:pt x="0" y="107"/>
                  <a:pt x="0" y="70"/>
                </a:cubicBezTo>
                <a:cubicBezTo>
                  <a:pt x="0" y="0"/>
                  <a:pt x="0" y="0"/>
                  <a:pt x="0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2" y="72"/>
                  <a:pt x="22" y="72"/>
                  <a:pt x="22" y="72"/>
                </a:cubicBezTo>
                <a:cubicBezTo>
                  <a:pt x="22" y="93"/>
                  <a:pt x="32" y="105"/>
                  <a:pt x="50" y="105"/>
                </a:cubicBezTo>
                <a:cubicBezTo>
                  <a:pt x="66" y="105"/>
                  <a:pt x="79" y="95"/>
                  <a:pt x="79" y="73"/>
                </a:cubicBezTo>
                <a:cubicBezTo>
                  <a:pt x="79" y="0"/>
                  <a:pt x="79" y="0"/>
                  <a:pt x="79" y="0"/>
                </a:cubicBezTo>
                <a:cubicBezTo>
                  <a:pt x="92" y="0"/>
                  <a:pt x="92" y="0"/>
                  <a:pt x="92" y="0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Freeform 40"/>
          <p:cNvSpPr>
            <a:spLocks/>
          </p:cNvSpPr>
          <p:nvPr userDrawn="1"/>
        </p:nvSpPr>
        <p:spPr bwMode="auto">
          <a:xfrm>
            <a:off x="8094663" y="365125"/>
            <a:ext cx="336550" cy="371475"/>
          </a:xfrm>
          <a:custGeom>
            <a:avLst/>
            <a:gdLst>
              <a:gd name="T0" fmla="*/ 61 w 106"/>
              <a:gd name="T1" fmla="*/ 117 h 117"/>
              <a:gd name="T2" fmla="*/ 0 w 106"/>
              <a:gd name="T3" fmla="*/ 60 h 117"/>
              <a:gd name="T4" fmla="*/ 63 w 106"/>
              <a:gd name="T5" fmla="*/ 0 h 117"/>
              <a:gd name="T6" fmla="*/ 97 w 106"/>
              <a:gd name="T7" fmla="*/ 13 h 117"/>
              <a:gd name="T8" fmla="*/ 106 w 106"/>
              <a:gd name="T9" fmla="*/ 28 h 117"/>
              <a:gd name="T10" fmla="*/ 94 w 106"/>
              <a:gd name="T11" fmla="*/ 39 h 117"/>
              <a:gd name="T12" fmla="*/ 83 w 106"/>
              <a:gd name="T13" fmla="*/ 28 h 117"/>
              <a:gd name="T14" fmla="*/ 86 w 106"/>
              <a:gd name="T15" fmla="*/ 20 h 117"/>
              <a:gd name="T16" fmla="*/ 63 w 106"/>
              <a:gd name="T17" fmla="*/ 10 h 117"/>
              <a:gd name="T18" fmla="*/ 21 w 106"/>
              <a:gd name="T19" fmla="*/ 58 h 117"/>
              <a:gd name="T20" fmla="*/ 65 w 106"/>
              <a:gd name="T21" fmla="*/ 108 h 117"/>
              <a:gd name="T22" fmla="*/ 102 w 106"/>
              <a:gd name="T23" fmla="*/ 93 h 117"/>
              <a:gd name="T24" fmla="*/ 106 w 106"/>
              <a:gd name="T25" fmla="*/ 99 h 117"/>
              <a:gd name="T26" fmla="*/ 61 w 106"/>
              <a:gd name="T27" fmla="*/ 117 h 1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6" h="117">
                <a:moveTo>
                  <a:pt x="61" y="117"/>
                </a:moveTo>
                <a:cubicBezTo>
                  <a:pt x="23" y="117"/>
                  <a:pt x="0" y="91"/>
                  <a:pt x="0" y="60"/>
                </a:cubicBezTo>
                <a:cubicBezTo>
                  <a:pt x="0" y="29"/>
                  <a:pt x="24" y="0"/>
                  <a:pt x="63" y="0"/>
                </a:cubicBezTo>
                <a:cubicBezTo>
                  <a:pt x="74" y="0"/>
                  <a:pt x="88" y="4"/>
                  <a:pt x="97" y="13"/>
                </a:cubicBezTo>
                <a:cubicBezTo>
                  <a:pt x="102" y="16"/>
                  <a:pt x="106" y="23"/>
                  <a:pt x="106" y="28"/>
                </a:cubicBezTo>
                <a:cubicBezTo>
                  <a:pt x="106" y="34"/>
                  <a:pt x="101" y="39"/>
                  <a:pt x="94" y="39"/>
                </a:cubicBezTo>
                <a:cubicBezTo>
                  <a:pt x="88" y="39"/>
                  <a:pt x="83" y="34"/>
                  <a:pt x="83" y="28"/>
                </a:cubicBezTo>
                <a:cubicBezTo>
                  <a:pt x="83" y="25"/>
                  <a:pt x="84" y="22"/>
                  <a:pt x="86" y="20"/>
                </a:cubicBezTo>
                <a:cubicBezTo>
                  <a:pt x="81" y="14"/>
                  <a:pt x="71" y="10"/>
                  <a:pt x="63" y="10"/>
                </a:cubicBezTo>
                <a:cubicBezTo>
                  <a:pt x="36" y="10"/>
                  <a:pt x="21" y="35"/>
                  <a:pt x="21" y="58"/>
                </a:cubicBezTo>
                <a:cubicBezTo>
                  <a:pt x="21" y="85"/>
                  <a:pt x="38" y="108"/>
                  <a:pt x="65" y="108"/>
                </a:cubicBezTo>
                <a:cubicBezTo>
                  <a:pt x="79" y="108"/>
                  <a:pt x="90" y="102"/>
                  <a:pt x="102" y="93"/>
                </a:cubicBezTo>
                <a:cubicBezTo>
                  <a:pt x="106" y="99"/>
                  <a:pt x="106" y="99"/>
                  <a:pt x="106" y="99"/>
                </a:cubicBezTo>
                <a:cubicBezTo>
                  <a:pt x="94" y="111"/>
                  <a:pt x="77" y="117"/>
                  <a:pt x="61" y="117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Freeform 41"/>
          <p:cNvSpPr>
            <a:spLocks noEditPoints="1"/>
          </p:cNvSpPr>
          <p:nvPr userDrawn="1"/>
        </p:nvSpPr>
        <p:spPr bwMode="auto">
          <a:xfrm>
            <a:off x="7758113" y="371475"/>
            <a:ext cx="330200" cy="358775"/>
          </a:xfrm>
          <a:custGeom>
            <a:avLst/>
            <a:gdLst>
              <a:gd name="T0" fmla="*/ 164 w 208"/>
              <a:gd name="T1" fmla="*/ 226 h 226"/>
              <a:gd name="T2" fmla="*/ 208 w 208"/>
              <a:gd name="T3" fmla="*/ 226 h 226"/>
              <a:gd name="T4" fmla="*/ 120 w 208"/>
              <a:gd name="T5" fmla="*/ 0 h 226"/>
              <a:gd name="T6" fmla="*/ 86 w 208"/>
              <a:gd name="T7" fmla="*/ 0 h 226"/>
              <a:gd name="T8" fmla="*/ 0 w 208"/>
              <a:gd name="T9" fmla="*/ 226 h 226"/>
              <a:gd name="T10" fmla="*/ 22 w 208"/>
              <a:gd name="T11" fmla="*/ 226 h 226"/>
              <a:gd name="T12" fmla="*/ 48 w 208"/>
              <a:gd name="T13" fmla="*/ 162 h 226"/>
              <a:gd name="T14" fmla="*/ 140 w 208"/>
              <a:gd name="T15" fmla="*/ 162 h 226"/>
              <a:gd name="T16" fmla="*/ 164 w 208"/>
              <a:gd name="T17" fmla="*/ 226 h 226"/>
              <a:gd name="T18" fmla="*/ 164 w 208"/>
              <a:gd name="T19" fmla="*/ 226 h 226"/>
              <a:gd name="T20" fmla="*/ 54 w 208"/>
              <a:gd name="T21" fmla="*/ 142 h 226"/>
              <a:gd name="T22" fmla="*/ 94 w 208"/>
              <a:gd name="T23" fmla="*/ 36 h 226"/>
              <a:gd name="T24" fmla="*/ 134 w 208"/>
              <a:gd name="T25" fmla="*/ 142 h 226"/>
              <a:gd name="T26" fmla="*/ 54 w 208"/>
              <a:gd name="T27" fmla="*/ 142 h 226"/>
              <a:gd name="T28" fmla="*/ 54 w 208"/>
              <a:gd name="T29" fmla="*/ 142 h 2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08" h="226">
                <a:moveTo>
                  <a:pt x="164" y="226"/>
                </a:moveTo>
                <a:lnTo>
                  <a:pt x="208" y="226"/>
                </a:lnTo>
                <a:lnTo>
                  <a:pt x="120" y="0"/>
                </a:lnTo>
                <a:lnTo>
                  <a:pt x="86" y="0"/>
                </a:lnTo>
                <a:lnTo>
                  <a:pt x="0" y="226"/>
                </a:lnTo>
                <a:lnTo>
                  <a:pt x="22" y="226"/>
                </a:lnTo>
                <a:lnTo>
                  <a:pt x="48" y="162"/>
                </a:lnTo>
                <a:lnTo>
                  <a:pt x="140" y="162"/>
                </a:lnTo>
                <a:lnTo>
                  <a:pt x="164" y="226"/>
                </a:lnTo>
                <a:lnTo>
                  <a:pt x="164" y="226"/>
                </a:lnTo>
                <a:close/>
                <a:moveTo>
                  <a:pt x="54" y="142"/>
                </a:moveTo>
                <a:lnTo>
                  <a:pt x="94" y="36"/>
                </a:lnTo>
                <a:lnTo>
                  <a:pt x="134" y="142"/>
                </a:lnTo>
                <a:lnTo>
                  <a:pt x="54" y="142"/>
                </a:lnTo>
                <a:lnTo>
                  <a:pt x="54" y="14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itle 1"/>
          <p:cNvSpPr>
            <a:spLocks noGrp="1"/>
          </p:cNvSpPr>
          <p:nvPr>
            <p:ph type="title" hasCustomPrompt="1"/>
          </p:nvPr>
        </p:nvSpPr>
        <p:spPr>
          <a:xfrm>
            <a:off x="440871" y="1014757"/>
            <a:ext cx="6733042" cy="538609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sz="290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47" name="Text Placeholder 49"/>
          <p:cNvSpPr>
            <a:spLocks noGrp="1"/>
          </p:cNvSpPr>
          <p:nvPr>
            <p:ph type="body" sz="quarter" idx="15" hasCustomPrompt="1"/>
          </p:nvPr>
        </p:nvSpPr>
        <p:spPr>
          <a:xfrm>
            <a:off x="440871" y="1751357"/>
            <a:ext cx="8284029" cy="39544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90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Body</a:t>
            </a:r>
          </a:p>
        </p:txBody>
      </p:sp>
      <p:sp>
        <p:nvSpPr>
          <p:cNvPr id="4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758" y="6510471"/>
            <a:ext cx="3086100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8929" y="6510471"/>
            <a:ext cx="448128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A89BA3-132D-40E1-AAB4-CDCD0A14C216}" type="slidenum">
              <a:rPr lang="en-AU" smtClean="0"/>
              <a:pPr/>
              <a:t>‹#›</a:t>
            </a:fld>
            <a:r>
              <a:rPr lang="en-AU" dirty="0"/>
              <a:t>  |</a:t>
            </a:r>
          </a:p>
        </p:txBody>
      </p:sp>
    </p:spTree>
    <p:extLst>
      <p:ext uri="{BB962C8B-B14F-4D97-AF65-F5344CB8AC3E}">
        <p14:creationId xmlns:p14="http://schemas.microsoft.com/office/powerpoint/2010/main" val="1492378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 with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3"/>
          <p:cNvSpPr>
            <a:spLocks noChangeAspect="1" noChangeArrowheads="1" noTextEdit="1"/>
          </p:cNvSpPr>
          <p:nvPr userDrawn="1"/>
        </p:nvSpPr>
        <p:spPr bwMode="auto">
          <a:xfrm>
            <a:off x="1588" y="0"/>
            <a:ext cx="91408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reeform 6"/>
          <p:cNvSpPr>
            <a:spLocks/>
          </p:cNvSpPr>
          <p:nvPr userDrawn="1"/>
        </p:nvSpPr>
        <p:spPr bwMode="auto">
          <a:xfrm>
            <a:off x="1588" y="-3175"/>
            <a:ext cx="5030788" cy="457200"/>
          </a:xfrm>
          <a:custGeom>
            <a:avLst/>
            <a:gdLst>
              <a:gd name="T0" fmla="*/ 0 w 3169"/>
              <a:gd name="T1" fmla="*/ 0 h 288"/>
              <a:gd name="T2" fmla="*/ 3169 w 3169"/>
              <a:gd name="T3" fmla="*/ 0 h 288"/>
              <a:gd name="T4" fmla="*/ 2879 w 3169"/>
              <a:gd name="T5" fmla="*/ 288 h 288"/>
              <a:gd name="T6" fmla="*/ 0 w 3169"/>
              <a:gd name="T7" fmla="*/ 288 h 288"/>
              <a:gd name="T8" fmla="*/ 0 w 3169"/>
              <a:gd name="T9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169" h="288">
                <a:moveTo>
                  <a:pt x="0" y="0"/>
                </a:moveTo>
                <a:lnTo>
                  <a:pt x="3169" y="0"/>
                </a:lnTo>
                <a:lnTo>
                  <a:pt x="2879" y="288"/>
                </a:lnTo>
                <a:lnTo>
                  <a:pt x="0" y="288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reeform 8"/>
          <p:cNvSpPr>
            <a:spLocks/>
          </p:cNvSpPr>
          <p:nvPr userDrawn="1"/>
        </p:nvSpPr>
        <p:spPr bwMode="auto">
          <a:xfrm>
            <a:off x="4572001" y="6397625"/>
            <a:ext cx="4570413" cy="457200"/>
          </a:xfrm>
          <a:custGeom>
            <a:avLst/>
            <a:gdLst>
              <a:gd name="T0" fmla="*/ 2879 w 2879"/>
              <a:gd name="T1" fmla="*/ 288 h 288"/>
              <a:gd name="T2" fmla="*/ 0 w 2879"/>
              <a:gd name="T3" fmla="*/ 288 h 288"/>
              <a:gd name="T4" fmla="*/ 290 w 2879"/>
              <a:gd name="T5" fmla="*/ 0 h 288"/>
              <a:gd name="T6" fmla="*/ 2879 w 2879"/>
              <a:gd name="T7" fmla="*/ 0 h 288"/>
              <a:gd name="T8" fmla="*/ 2879 w 2879"/>
              <a:gd name="T9" fmla="*/ 288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79" h="288">
                <a:moveTo>
                  <a:pt x="2879" y="288"/>
                </a:moveTo>
                <a:lnTo>
                  <a:pt x="0" y="288"/>
                </a:lnTo>
                <a:lnTo>
                  <a:pt x="290" y="0"/>
                </a:lnTo>
                <a:lnTo>
                  <a:pt x="2879" y="0"/>
                </a:lnTo>
                <a:lnTo>
                  <a:pt x="2879" y="288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 userDrawn="1"/>
        </p:nvSpPr>
        <p:spPr>
          <a:xfrm>
            <a:off x="0" y="-3175"/>
            <a:ext cx="914241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4" name="Title 1"/>
          <p:cNvSpPr>
            <a:spLocks noGrp="1"/>
          </p:cNvSpPr>
          <p:nvPr>
            <p:ph type="title" hasCustomPrompt="1"/>
          </p:nvPr>
        </p:nvSpPr>
        <p:spPr>
          <a:xfrm>
            <a:off x="440871" y="1014757"/>
            <a:ext cx="6733042" cy="538609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sz="290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47" name="Text Placeholder 49"/>
          <p:cNvSpPr>
            <a:spLocks noGrp="1"/>
          </p:cNvSpPr>
          <p:nvPr>
            <p:ph type="body" sz="quarter" idx="15" hasCustomPrompt="1"/>
          </p:nvPr>
        </p:nvSpPr>
        <p:spPr>
          <a:xfrm>
            <a:off x="440871" y="1751357"/>
            <a:ext cx="8284029" cy="39544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90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Body</a:t>
            </a:r>
          </a:p>
        </p:txBody>
      </p:sp>
      <p:sp>
        <p:nvSpPr>
          <p:cNvPr id="4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758" y="6510471"/>
            <a:ext cx="3086100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8929" y="6510471"/>
            <a:ext cx="448128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A89BA3-132D-40E1-AAB4-CDCD0A14C216}" type="slidenum">
              <a:rPr lang="en-AU" smtClean="0"/>
              <a:pPr/>
              <a:t>‹#›</a:t>
            </a:fld>
            <a:r>
              <a:rPr lang="en-AU" dirty="0"/>
              <a:t>  |</a:t>
            </a:r>
          </a:p>
        </p:txBody>
      </p:sp>
    </p:spTree>
    <p:extLst>
      <p:ext uri="{BB962C8B-B14F-4D97-AF65-F5344CB8AC3E}">
        <p14:creationId xmlns:p14="http://schemas.microsoft.com/office/powerpoint/2010/main" val="1079407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 flipV="1">
            <a:off x="0" y="4137025"/>
            <a:ext cx="9144000" cy="4603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 useBgFill="1">
        <p:nvSpPr>
          <p:cNvPr id="4" name="Rounded Rectangle 3"/>
          <p:cNvSpPr/>
          <p:nvPr/>
        </p:nvSpPr>
        <p:spPr bwMode="white">
          <a:xfrm>
            <a:off x="5410202" y="3962401"/>
            <a:ext cx="3063875" cy="26988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 useBgFill="1">
        <p:nvSpPr>
          <p:cNvPr id="5" name="Rounded Rectangle 4"/>
          <p:cNvSpPr/>
          <p:nvPr/>
        </p:nvSpPr>
        <p:spPr bwMode="white">
          <a:xfrm>
            <a:off x="7377113" y="4060826"/>
            <a:ext cx="1600200" cy="36513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3962401"/>
            <a:ext cx="9144000" cy="244475"/>
          </a:xfrm>
          <a:prstGeom prst="rect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3970338"/>
            <a:ext cx="9144000" cy="141287"/>
          </a:xfrm>
          <a:prstGeom prst="rect">
            <a:avLst/>
          </a:prstGeom>
          <a:solidFill>
            <a:srgbClr val="00206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1"/>
            <a:ext cx="9144000" cy="3970338"/>
          </a:xfrm>
          <a:prstGeom prst="rect">
            <a:avLst/>
          </a:prstGeom>
          <a:solidFill>
            <a:schemeClr val="accent4">
              <a:lumMod val="7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584293" y="4724400"/>
            <a:ext cx="6324600" cy="1295400"/>
          </a:xfrm>
        </p:spPr>
        <p:txBody>
          <a:bodyPr>
            <a:noAutofit/>
          </a:bodyPr>
          <a:lstStyle>
            <a:lvl1pPr marL="59739" indent="0" algn="ctr">
              <a:buNone/>
              <a:defRPr sz="3200">
                <a:solidFill>
                  <a:schemeClr val="accent3">
                    <a:lumMod val="75000"/>
                  </a:schemeClr>
                </a:solidFill>
              </a:defRPr>
            </a:lvl1pPr>
            <a:lvl2pPr marL="426705" indent="0" algn="ctr">
              <a:buNone/>
            </a:lvl2pPr>
            <a:lvl3pPr marL="853410" indent="0" algn="ctr">
              <a:buNone/>
            </a:lvl3pPr>
            <a:lvl4pPr marL="1280114" indent="0" algn="ctr">
              <a:buNone/>
            </a:lvl4pPr>
            <a:lvl5pPr marL="1706819" indent="0" algn="ctr">
              <a:buNone/>
            </a:lvl5pPr>
            <a:lvl6pPr marL="2133524" indent="0" algn="ctr">
              <a:buNone/>
            </a:lvl6pPr>
            <a:lvl7pPr marL="2560229" indent="0" algn="ctr">
              <a:buNone/>
            </a:lvl7pPr>
            <a:lvl8pPr marL="2986933" indent="0" algn="ctr">
              <a:buNone/>
            </a:lvl8pPr>
            <a:lvl9pPr marL="3413638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0400" y="163286"/>
            <a:ext cx="2667000" cy="36884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447248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5390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5992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6072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0083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913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2358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1007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9718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4120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8922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2315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2910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5144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23885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13242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485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1938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74355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80084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63596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93297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49783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10934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5123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2574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83454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09703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40720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87420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23317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87792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16748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27098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44708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44343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4677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52023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07320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54673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72074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06116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93599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22159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34682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67166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4321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31028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0580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64863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45047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7901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83126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36139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86069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2090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7395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16149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03913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24380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9977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63219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86472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721438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91584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25028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15255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45878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272885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169142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rgbClr val="FFFFFF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-3"/>
            <a:ext cx="11328385" cy="69194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" name="Google Shape;40;p2"/>
          <p:cNvGrpSpPr/>
          <p:nvPr/>
        </p:nvGrpSpPr>
        <p:grpSpPr>
          <a:xfrm>
            <a:off x="22" y="4740126"/>
            <a:ext cx="7314320" cy="1169029"/>
            <a:chOff x="-11" y="1378677"/>
            <a:chExt cx="7314320" cy="4116300"/>
          </a:xfrm>
        </p:grpSpPr>
        <p:sp>
          <p:nvSpPr>
            <p:cNvPr id="41" name="Google Shape;41;p2"/>
            <p:cNvSpPr/>
            <p:nvPr/>
          </p:nvSpPr>
          <p:spPr>
            <a:xfrm flipH="1">
              <a:off x="-11" y="1378677"/>
              <a:ext cx="187800" cy="4116300"/>
            </a:xfrm>
            <a:prstGeom prst="rect">
              <a:avLst/>
            </a:prstGeom>
            <a:solidFill>
              <a:srgbClr val="E6703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2" name="Google Shape;42;p2"/>
            <p:cNvSpPr/>
            <p:nvPr/>
          </p:nvSpPr>
          <p:spPr>
            <a:xfrm flipH="1">
              <a:off x="187809" y="1378677"/>
              <a:ext cx="7126500" cy="4116300"/>
            </a:xfrm>
            <a:prstGeom prst="rect">
              <a:avLst/>
            </a:pr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43" name="Google Shape;43;p2"/>
          <p:cNvSpPr txBox="1">
            <a:spLocks noGrp="1"/>
          </p:cNvSpPr>
          <p:nvPr>
            <p:ph type="ctrTitle"/>
          </p:nvPr>
        </p:nvSpPr>
        <p:spPr>
          <a:xfrm>
            <a:off x="414375" y="4842443"/>
            <a:ext cx="6400800" cy="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8220151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5"/>
          <p:cNvGrpSpPr/>
          <p:nvPr/>
        </p:nvGrpSpPr>
        <p:grpSpPr>
          <a:xfrm>
            <a:off x="-13" y="-12188"/>
            <a:ext cx="8005728" cy="1612563"/>
            <a:chOff x="-13" y="-12188"/>
            <a:chExt cx="8005728" cy="1161900"/>
          </a:xfrm>
        </p:grpSpPr>
        <p:sp>
          <p:nvSpPr>
            <p:cNvPr id="59" name="Google Shape;59;p5"/>
            <p:cNvSpPr/>
            <p:nvPr/>
          </p:nvSpPr>
          <p:spPr>
            <a:xfrm flipH="1">
              <a:off x="-13" y="-12188"/>
              <a:ext cx="187800" cy="1161900"/>
            </a:xfrm>
            <a:prstGeom prst="rect">
              <a:avLst/>
            </a:prstGeom>
            <a:solidFill>
              <a:srgbClr val="E6703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0" name="Google Shape;60;p5"/>
            <p:cNvSpPr/>
            <p:nvPr/>
          </p:nvSpPr>
          <p:spPr>
            <a:xfrm flipH="1">
              <a:off x="187715" y="-12188"/>
              <a:ext cx="7818000" cy="1161900"/>
            </a:xfrm>
            <a:prstGeom prst="rect">
              <a:avLst/>
            </a:prstGeom>
            <a:solidFill>
              <a:srgbClr val="E6703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61" name="Google Shape;61;p5"/>
          <p:cNvSpPr txBox="1">
            <a:spLocks noGrp="1"/>
          </p:cNvSpPr>
          <p:nvPr>
            <p:ph type="title"/>
          </p:nvPr>
        </p:nvSpPr>
        <p:spPr>
          <a:xfrm>
            <a:off x="457200" y="134801"/>
            <a:ext cx="7315500" cy="135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1939164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oogle Shape;45;p3"/>
          <p:cNvGrpSpPr/>
          <p:nvPr/>
        </p:nvGrpSpPr>
        <p:grpSpPr>
          <a:xfrm>
            <a:off x="-13" y="-12188"/>
            <a:ext cx="8005728" cy="1612563"/>
            <a:chOff x="-13" y="-12188"/>
            <a:chExt cx="8005728" cy="1161900"/>
          </a:xfrm>
        </p:grpSpPr>
        <p:sp>
          <p:nvSpPr>
            <p:cNvPr id="46" name="Google Shape;46;p3"/>
            <p:cNvSpPr/>
            <p:nvPr/>
          </p:nvSpPr>
          <p:spPr>
            <a:xfrm flipH="1">
              <a:off x="-13" y="-12188"/>
              <a:ext cx="187800" cy="1161900"/>
            </a:xfrm>
            <a:prstGeom prst="rect">
              <a:avLst/>
            </a:prstGeom>
            <a:solidFill>
              <a:srgbClr val="E6703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7" name="Google Shape;47;p3"/>
            <p:cNvSpPr/>
            <p:nvPr/>
          </p:nvSpPr>
          <p:spPr>
            <a:xfrm flipH="1">
              <a:off x="187715" y="-12188"/>
              <a:ext cx="7818000" cy="1161900"/>
            </a:xfrm>
            <a:prstGeom prst="rect">
              <a:avLst/>
            </a:prstGeom>
            <a:solidFill>
              <a:srgbClr val="E6703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48" name="Google Shape;48;p3"/>
          <p:cNvSpPr txBox="1">
            <a:spLocks noGrp="1"/>
          </p:cNvSpPr>
          <p:nvPr>
            <p:ph type="title"/>
          </p:nvPr>
        </p:nvSpPr>
        <p:spPr>
          <a:xfrm>
            <a:off x="457200" y="134801"/>
            <a:ext cx="7315500" cy="135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"/>
          <p:cNvSpPr txBox="1">
            <a:spLocks noGrp="1"/>
          </p:cNvSpPr>
          <p:nvPr>
            <p:ph type="body" idx="1"/>
          </p:nvPr>
        </p:nvSpPr>
        <p:spPr>
          <a:xfrm>
            <a:off x="457200" y="1704688"/>
            <a:ext cx="8229600" cy="48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62181051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‹#›</a:t>
            </a:fld>
            <a:r>
              <a:rPr spc="240" dirty="0"/>
              <a:t> </a:t>
            </a:r>
            <a:r>
              <a:rPr dirty="0"/>
              <a:t>|</a:t>
            </a:r>
            <a:r>
              <a:rPr spc="409" dirty="0"/>
              <a:t> </a:t>
            </a:r>
            <a:r>
              <a:rPr dirty="0"/>
              <a:t>Directorate</a:t>
            </a:r>
            <a:r>
              <a:rPr spc="-20" dirty="0"/>
              <a:t> </a:t>
            </a:r>
            <a:r>
              <a:rPr dirty="0"/>
              <a:t>|</a:t>
            </a:r>
            <a:r>
              <a:rPr spc="-15" dirty="0"/>
              <a:t> </a:t>
            </a:r>
            <a:r>
              <a:rPr dirty="0"/>
              <a:t>Office</a:t>
            </a:r>
            <a:r>
              <a:rPr spc="-20" dirty="0"/>
              <a:t> </a:t>
            </a:r>
            <a:r>
              <a:rPr dirty="0"/>
              <a:t>|</a:t>
            </a:r>
            <a:r>
              <a:rPr spc="-15" dirty="0"/>
              <a:t> </a:t>
            </a:r>
            <a:r>
              <a:rPr dirty="0"/>
              <a:t>Faculty</a:t>
            </a:r>
            <a:r>
              <a:rPr spc="-15" dirty="0"/>
              <a:t> </a:t>
            </a:r>
            <a:r>
              <a:rPr dirty="0"/>
              <a:t>|</a:t>
            </a:r>
            <a:r>
              <a:rPr spc="-15" dirty="0"/>
              <a:t> </a:t>
            </a:r>
            <a:r>
              <a:rPr spc="-10" dirty="0"/>
              <a:t>School</a:t>
            </a:r>
          </a:p>
        </p:txBody>
      </p:sp>
    </p:spTree>
    <p:extLst>
      <p:ext uri="{BB962C8B-B14F-4D97-AF65-F5344CB8AC3E}">
        <p14:creationId xmlns:p14="http://schemas.microsoft.com/office/powerpoint/2010/main" val="4118294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slideLayout" Target="../slideLayouts/slideLayout80.xml"/><Relationship Id="rId85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88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oleObject" Target="../embeddings/oleObject1.bin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86"/>
            </p:custDataLst>
            <p:extLst>
              <p:ext uri="{D42A27DB-BD31-4B8C-83A1-F6EECF244321}">
                <p14:modId xmlns:p14="http://schemas.microsoft.com/office/powerpoint/2010/main" val="347569646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7" imgW="347" imgH="348" progId="TCLayout.ActiveDocument.1">
                  <p:embed/>
                </p:oleObj>
              </mc:Choice>
              <mc:Fallback>
                <p:oleObj name="think-cell Slide" r:id="rId87" imgW="347" imgH="348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8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87" name="Group 4"/>
          <p:cNvGrpSpPr>
            <a:grpSpLocks noChangeAspect="1"/>
          </p:cNvGrpSpPr>
          <p:nvPr userDrawn="1"/>
        </p:nvGrpSpPr>
        <p:grpSpPr bwMode="auto">
          <a:xfrm>
            <a:off x="1588" y="0"/>
            <a:ext cx="9140825" cy="6858000"/>
            <a:chOff x="1" y="0"/>
            <a:chExt cx="5758" cy="4320"/>
          </a:xfrm>
        </p:grpSpPr>
        <p:sp>
          <p:nvSpPr>
            <p:cNvPr id="88" name="AutoShape 3"/>
            <p:cNvSpPr>
              <a:spLocks noChangeAspect="1" noChangeArrowheads="1" noTextEdit="1"/>
            </p:cNvSpPr>
            <p:nvPr userDrawn="1"/>
          </p:nvSpPr>
          <p:spPr bwMode="auto">
            <a:xfrm>
              <a:off x="1" y="0"/>
              <a:ext cx="5758" cy="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" name="Freeform 5"/>
            <p:cNvSpPr>
              <a:spLocks/>
            </p:cNvSpPr>
            <p:nvPr userDrawn="1"/>
          </p:nvSpPr>
          <p:spPr bwMode="auto">
            <a:xfrm>
              <a:off x="1" y="-2"/>
              <a:ext cx="3169" cy="288"/>
            </a:xfrm>
            <a:custGeom>
              <a:avLst/>
              <a:gdLst>
                <a:gd name="T0" fmla="*/ 0 w 3169"/>
                <a:gd name="T1" fmla="*/ 0 h 288"/>
                <a:gd name="T2" fmla="*/ 3169 w 3169"/>
                <a:gd name="T3" fmla="*/ 0 h 288"/>
                <a:gd name="T4" fmla="*/ 2879 w 3169"/>
                <a:gd name="T5" fmla="*/ 288 h 288"/>
                <a:gd name="T6" fmla="*/ 0 w 3169"/>
                <a:gd name="T7" fmla="*/ 288 h 288"/>
                <a:gd name="T8" fmla="*/ 0 w 3169"/>
                <a:gd name="T9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69" h="288">
                  <a:moveTo>
                    <a:pt x="0" y="0"/>
                  </a:moveTo>
                  <a:lnTo>
                    <a:pt x="3169" y="0"/>
                  </a:lnTo>
                  <a:lnTo>
                    <a:pt x="2879" y="288"/>
                  </a:lnTo>
                  <a:lnTo>
                    <a:pt x="0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3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Freeform 6"/>
            <p:cNvSpPr>
              <a:spLocks/>
            </p:cNvSpPr>
            <p:nvPr userDrawn="1"/>
          </p:nvSpPr>
          <p:spPr bwMode="auto">
            <a:xfrm>
              <a:off x="1" y="-2"/>
              <a:ext cx="3169" cy="288"/>
            </a:xfrm>
            <a:custGeom>
              <a:avLst/>
              <a:gdLst>
                <a:gd name="T0" fmla="*/ 0 w 3169"/>
                <a:gd name="T1" fmla="*/ 0 h 288"/>
                <a:gd name="T2" fmla="*/ 3169 w 3169"/>
                <a:gd name="T3" fmla="*/ 0 h 288"/>
                <a:gd name="T4" fmla="*/ 2879 w 3169"/>
                <a:gd name="T5" fmla="*/ 288 h 288"/>
                <a:gd name="T6" fmla="*/ 0 w 3169"/>
                <a:gd name="T7" fmla="*/ 288 h 288"/>
                <a:gd name="T8" fmla="*/ 0 w 3169"/>
                <a:gd name="T9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69" h="288">
                  <a:moveTo>
                    <a:pt x="0" y="0"/>
                  </a:moveTo>
                  <a:lnTo>
                    <a:pt x="3169" y="0"/>
                  </a:lnTo>
                  <a:lnTo>
                    <a:pt x="2879" y="288"/>
                  </a:lnTo>
                  <a:lnTo>
                    <a:pt x="0" y="288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Freeform 7"/>
            <p:cNvSpPr>
              <a:spLocks/>
            </p:cNvSpPr>
            <p:nvPr userDrawn="1"/>
          </p:nvSpPr>
          <p:spPr bwMode="auto">
            <a:xfrm>
              <a:off x="2880" y="4030"/>
              <a:ext cx="2879" cy="288"/>
            </a:xfrm>
            <a:custGeom>
              <a:avLst/>
              <a:gdLst>
                <a:gd name="T0" fmla="*/ 2879 w 2879"/>
                <a:gd name="T1" fmla="*/ 288 h 288"/>
                <a:gd name="T2" fmla="*/ 0 w 2879"/>
                <a:gd name="T3" fmla="*/ 288 h 288"/>
                <a:gd name="T4" fmla="*/ 290 w 2879"/>
                <a:gd name="T5" fmla="*/ 0 h 288"/>
                <a:gd name="T6" fmla="*/ 2879 w 2879"/>
                <a:gd name="T7" fmla="*/ 0 h 288"/>
                <a:gd name="T8" fmla="*/ 2879 w 2879"/>
                <a:gd name="T9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79" h="288">
                  <a:moveTo>
                    <a:pt x="2879" y="288"/>
                  </a:moveTo>
                  <a:lnTo>
                    <a:pt x="0" y="288"/>
                  </a:lnTo>
                  <a:lnTo>
                    <a:pt x="290" y="0"/>
                  </a:lnTo>
                  <a:lnTo>
                    <a:pt x="2879" y="0"/>
                  </a:lnTo>
                  <a:lnTo>
                    <a:pt x="2879" y="288"/>
                  </a:lnTo>
                  <a:close/>
                </a:path>
              </a:pathLst>
            </a:custGeom>
            <a:solidFill>
              <a:srgbClr val="E8E3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Freeform 8"/>
            <p:cNvSpPr>
              <a:spLocks/>
            </p:cNvSpPr>
            <p:nvPr userDrawn="1"/>
          </p:nvSpPr>
          <p:spPr bwMode="auto">
            <a:xfrm>
              <a:off x="2880" y="4030"/>
              <a:ext cx="2879" cy="288"/>
            </a:xfrm>
            <a:custGeom>
              <a:avLst/>
              <a:gdLst>
                <a:gd name="T0" fmla="*/ 2879 w 2879"/>
                <a:gd name="T1" fmla="*/ 288 h 288"/>
                <a:gd name="T2" fmla="*/ 0 w 2879"/>
                <a:gd name="T3" fmla="*/ 288 h 288"/>
                <a:gd name="T4" fmla="*/ 290 w 2879"/>
                <a:gd name="T5" fmla="*/ 0 h 288"/>
                <a:gd name="T6" fmla="*/ 2879 w 2879"/>
                <a:gd name="T7" fmla="*/ 0 h 288"/>
                <a:gd name="T8" fmla="*/ 2879 w 2879"/>
                <a:gd name="T9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79" h="288">
                  <a:moveTo>
                    <a:pt x="2879" y="288"/>
                  </a:moveTo>
                  <a:lnTo>
                    <a:pt x="0" y="288"/>
                  </a:lnTo>
                  <a:lnTo>
                    <a:pt x="290" y="0"/>
                  </a:lnTo>
                  <a:lnTo>
                    <a:pt x="2879" y="0"/>
                  </a:lnTo>
                  <a:lnTo>
                    <a:pt x="2879" y="28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Freeform 9"/>
            <p:cNvSpPr>
              <a:spLocks/>
            </p:cNvSpPr>
            <p:nvPr userDrawn="1"/>
          </p:nvSpPr>
          <p:spPr bwMode="auto">
            <a:xfrm>
              <a:off x="4661" y="234"/>
              <a:ext cx="182" cy="234"/>
            </a:xfrm>
            <a:custGeom>
              <a:avLst/>
              <a:gdLst>
                <a:gd name="T0" fmla="*/ 91 w 91"/>
                <a:gd name="T1" fmla="*/ 0 h 117"/>
                <a:gd name="T2" fmla="*/ 91 w 91"/>
                <a:gd name="T3" fmla="*/ 51 h 117"/>
                <a:gd name="T4" fmla="*/ 46 w 91"/>
                <a:gd name="T5" fmla="*/ 117 h 117"/>
                <a:gd name="T6" fmla="*/ 0 w 91"/>
                <a:gd name="T7" fmla="*/ 51 h 117"/>
                <a:gd name="T8" fmla="*/ 0 w 91"/>
                <a:gd name="T9" fmla="*/ 0 h 117"/>
                <a:gd name="T10" fmla="*/ 91 w 91"/>
                <a:gd name="T11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1" h="117">
                  <a:moveTo>
                    <a:pt x="91" y="0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77"/>
                    <a:pt x="74" y="105"/>
                    <a:pt x="46" y="117"/>
                  </a:cubicBezTo>
                  <a:cubicBezTo>
                    <a:pt x="18" y="105"/>
                    <a:pt x="0" y="77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1" y="0"/>
                    <a:pt x="91" y="0"/>
                    <a:pt x="91" y="0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Freeform 10"/>
            <p:cNvSpPr>
              <a:spLocks/>
            </p:cNvSpPr>
            <p:nvPr userDrawn="1"/>
          </p:nvSpPr>
          <p:spPr bwMode="auto">
            <a:xfrm>
              <a:off x="4695" y="262"/>
              <a:ext cx="114" cy="150"/>
            </a:xfrm>
            <a:custGeom>
              <a:avLst/>
              <a:gdLst>
                <a:gd name="T0" fmla="*/ 0 w 114"/>
                <a:gd name="T1" fmla="*/ 74 h 150"/>
                <a:gd name="T2" fmla="*/ 58 w 114"/>
                <a:gd name="T3" fmla="*/ 0 h 150"/>
                <a:gd name="T4" fmla="*/ 114 w 114"/>
                <a:gd name="T5" fmla="*/ 74 h 150"/>
                <a:gd name="T6" fmla="*/ 58 w 114"/>
                <a:gd name="T7" fmla="*/ 150 h 150"/>
                <a:gd name="T8" fmla="*/ 0 w 114"/>
                <a:gd name="T9" fmla="*/ 74 h 150"/>
                <a:gd name="T10" fmla="*/ 0 w 114"/>
                <a:gd name="T11" fmla="*/ 74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4" h="150">
                  <a:moveTo>
                    <a:pt x="0" y="74"/>
                  </a:moveTo>
                  <a:lnTo>
                    <a:pt x="58" y="0"/>
                  </a:lnTo>
                  <a:lnTo>
                    <a:pt x="114" y="74"/>
                  </a:lnTo>
                  <a:lnTo>
                    <a:pt x="58" y="150"/>
                  </a:lnTo>
                  <a:lnTo>
                    <a:pt x="0" y="74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Freeform 11"/>
            <p:cNvSpPr>
              <a:spLocks/>
            </p:cNvSpPr>
            <p:nvPr userDrawn="1"/>
          </p:nvSpPr>
          <p:spPr bwMode="auto">
            <a:xfrm>
              <a:off x="4711" y="294"/>
              <a:ext cx="82" cy="98"/>
            </a:xfrm>
            <a:custGeom>
              <a:avLst/>
              <a:gdLst>
                <a:gd name="T0" fmla="*/ 18 w 41"/>
                <a:gd name="T1" fmla="*/ 26 h 49"/>
                <a:gd name="T2" fmla="*/ 21 w 41"/>
                <a:gd name="T3" fmla="*/ 49 h 49"/>
                <a:gd name="T4" fmla="*/ 21 w 41"/>
                <a:gd name="T5" fmla="*/ 49 h 49"/>
                <a:gd name="T6" fmla="*/ 21 w 41"/>
                <a:gd name="T7" fmla="*/ 49 h 49"/>
                <a:gd name="T8" fmla="*/ 23 w 41"/>
                <a:gd name="T9" fmla="*/ 26 h 49"/>
                <a:gd name="T10" fmla="*/ 23 w 41"/>
                <a:gd name="T11" fmla="*/ 24 h 49"/>
                <a:gd name="T12" fmla="*/ 32 w 41"/>
                <a:gd name="T13" fmla="*/ 24 h 49"/>
                <a:gd name="T14" fmla="*/ 32 w 41"/>
                <a:gd name="T15" fmla="*/ 25 h 49"/>
                <a:gd name="T16" fmla="*/ 35 w 41"/>
                <a:gd name="T17" fmla="*/ 28 h 49"/>
                <a:gd name="T18" fmla="*/ 37 w 41"/>
                <a:gd name="T19" fmla="*/ 25 h 49"/>
                <a:gd name="T20" fmla="*/ 37 w 41"/>
                <a:gd name="T21" fmla="*/ 24 h 49"/>
                <a:gd name="T22" fmla="*/ 38 w 41"/>
                <a:gd name="T23" fmla="*/ 24 h 49"/>
                <a:gd name="T24" fmla="*/ 41 w 41"/>
                <a:gd name="T25" fmla="*/ 21 h 49"/>
                <a:gd name="T26" fmla="*/ 38 w 41"/>
                <a:gd name="T27" fmla="*/ 19 h 49"/>
                <a:gd name="T28" fmla="*/ 37 w 41"/>
                <a:gd name="T29" fmla="*/ 19 h 49"/>
                <a:gd name="T30" fmla="*/ 37 w 41"/>
                <a:gd name="T31" fmla="*/ 18 h 49"/>
                <a:gd name="T32" fmla="*/ 35 w 41"/>
                <a:gd name="T33" fmla="*/ 15 h 49"/>
                <a:gd name="T34" fmla="*/ 32 w 41"/>
                <a:gd name="T35" fmla="*/ 18 h 49"/>
                <a:gd name="T36" fmla="*/ 32 w 41"/>
                <a:gd name="T37" fmla="*/ 19 h 49"/>
                <a:gd name="T38" fmla="*/ 23 w 41"/>
                <a:gd name="T39" fmla="*/ 19 h 49"/>
                <a:gd name="T40" fmla="*/ 23 w 41"/>
                <a:gd name="T41" fmla="*/ 9 h 49"/>
                <a:gd name="T42" fmla="*/ 24 w 41"/>
                <a:gd name="T43" fmla="*/ 9 h 49"/>
                <a:gd name="T44" fmla="*/ 27 w 41"/>
                <a:gd name="T45" fmla="*/ 6 h 49"/>
                <a:gd name="T46" fmla="*/ 24 w 41"/>
                <a:gd name="T47" fmla="*/ 3 h 49"/>
                <a:gd name="T48" fmla="*/ 23 w 41"/>
                <a:gd name="T49" fmla="*/ 3 h 49"/>
                <a:gd name="T50" fmla="*/ 23 w 41"/>
                <a:gd name="T51" fmla="*/ 3 h 49"/>
                <a:gd name="T52" fmla="*/ 21 w 41"/>
                <a:gd name="T53" fmla="*/ 0 h 49"/>
                <a:gd name="T54" fmla="*/ 18 w 41"/>
                <a:gd name="T55" fmla="*/ 3 h 49"/>
                <a:gd name="T56" fmla="*/ 18 w 41"/>
                <a:gd name="T57" fmla="*/ 3 h 49"/>
                <a:gd name="T58" fmla="*/ 17 w 41"/>
                <a:gd name="T59" fmla="*/ 3 h 49"/>
                <a:gd name="T60" fmla="*/ 14 w 41"/>
                <a:gd name="T61" fmla="*/ 6 h 49"/>
                <a:gd name="T62" fmla="*/ 17 w 41"/>
                <a:gd name="T63" fmla="*/ 9 h 49"/>
                <a:gd name="T64" fmla="*/ 18 w 41"/>
                <a:gd name="T65" fmla="*/ 9 h 49"/>
                <a:gd name="T66" fmla="*/ 18 w 41"/>
                <a:gd name="T67" fmla="*/ 19 h 49"/>
                <a:gd name="T68" fmla="*/ 18 w 41"/>
                <a:gd name="T69" fmla="*/ 19 h 49"/>
                <a:gd name="T70" fmla="*/ 10 w 41"/>
                <a:gd name="T71" fmla="*/ 19 h 49"/>
                <a:gd name="T72" fmla="*/ 10 w 41"/>
                <a:gd name="T73" fmla="*/ 18 h 49"/>
                <a:gd name="T74" fmla="*/ 7 w 41"/>
                <a:gd name="T75" fmla="*/ 15 h 49"/>
                <a:gd name="T76" fmla="*/ 4 w 41"/>
                <a:gd name="T77" fmla="*/ 18 h 49"/>
                <a:gd name="T78" fmla="*/ 4 w 41"/>
                <a:gd name="T79" fmla="*/ 19 h 49"/>
                <a:gd name="T80" fmla="*/ 4 w 41"/>
                <a:gd name="T81" fmla="*/ 19 h 49"/>
                <a:gd name="T82" fmla="*/ 0 w 41"/>
                <a:gd name="T83" fmla="*/ 21 h 49"/>
                <a:gd name="T84" fmla="*/ 4 w 41"/>
                <a:gd name="T85" fmla="*/ 24 h 49"/>
                <a:gd name="T86" fmla="*/ 4 w 41"/>
                <a:gd name="T87" fmla="*/ 24 h 49"/>
                <a:gd name="T88" fmla="*/ 4 w 41"/>
                <a:gd name="T89" fmla="*/ 25 h 49"/>
                <a:gd name="T90" fmla="*/ 7 w 41"/>
                <a:gd name="T91" fmla="*/ 28 h 49"/>
                <a:gd name="T92" fmla="*/ 10 w 41"/>
                <a:gd name="T93" fmla="*/ 25 h 49"/>
                <a:gd name="T94" fmla="*/ 10 w 41"/>
                <a:gd name="T95" fmla="*/ 24 h 49"/>
                <a:gd name="T96" fmla="*/ 18 w 41"/>
                <a:gd name="T97" fmla="*/ 24 h 49"/>
                <a:gd name="T98" fmla="*/ 18 w 41"/>
                <a:gd name="T99" fmla="*/ 26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1" h="49">
                  <a:moveTo>
                    <a:pt x="18" y="26"/>
                  </a:moveTo>
                  <a:cubicBezTo>
                    <a:pt x="18" y="36"/>
                    <a:pt x="20" y="48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8"/>
                    <a:pt x="23" y="36"/>
                    <a:pt x="23" y="26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3" y="28"/>
                    <a:pt x="35" y="28"/>
                  </a:cubicBezTo>
                  <a:cubicBezTo>
                    <a:pt x="36" y="28"/>
                    <a:pt x="37" y="26"/>
                    <a:pt x="37" y="25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9" y="24"/>
                    <a:pt x="41" y="23"/>
                    <a:pt x="41" y="21"/>
                  </a:cubicBezTo>
                  <a:cubicBezTo>
                    <a:pt x="41" y="20"/>
                    <a:pt x="39" y="19"/>
                    <a:pt x="38" y="19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17"/>
                    <a:pt x="36" y="15"/>
                    <a:pt x="35" y="15"/>
                  </a:cubicBezTo>
                  <a:cubicBezTo>
                    <a:pt x="33" y="15"/>
                    <a:pt x="32" y="17"/>
                    <a:pt x="32" y="18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5" y="9"/>
                    <a:pt x="27" y="8"/>
                    <a:pt x="27" y="6"/>
                  </a:cubicBezTo>
                  <a:cubicBezTo>
                    <a:pt x="27" y="5"/>
                    <a:pt x="25" y="3"/>
                    <a:pt x="24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"/>
                    <a:pt x="22" y="0"/>
                    <a:pt x="21" y="0"/>
                  </a:cubicBezTo>
                  <a:cubicBezTo>
                    <a:pt x="19" y="0"/>
                    <a:pt x="18" y="1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6" y="3"/>
                    <a:pt x="14" y="5"/>
                    <a:pt x="14" y="6"/>
                  </a:cubicBezTo>
                  <a:cubicBezTo>
                    <a:pt x="14" y="8"/>
                    <a:pt x="16" y="9"/>
                    <a:pt x="17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7"/>
                    <a:pt x="8" y="15"/>
                    <a:pt x="7" y="15"/>
                  </a:cubicBezTo>
                  <a:cubicBezTo>
                    <a:pt x="5" y="15"/>
                    <a:pt x="4" y="17"/>
                    <a:pt x="4" y="18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2" y="19"/>
                    <a:pt x="0" y="20"/>
                    <a:pt x="0" y="21"/>
                  </a:cubicBezTo>
                  <a:cubicBezTo>
                    <a:pt x="0" y="23"/>
                    <a:pt x="2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4" y="26"/>
                    <a:pt x="5" y="28"/>
                    <a:pt x="7" y="28"/>
                  </a:cubicBezTo>
                  <a:cubicBezTo>
                    <a:pt x="8" y="28"/>
                    <a:pt x="10" y="26"/>
                    <a:pt x="10" y="25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18" y="26"/>
                    <a:pt x="18" y="26"/>
                    <a:pt x="18" y="26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Freeform 12"/>
            <p:cNvSpPr>
              <a:spLocks noEditPoints="1"/>
            </p:cNvSpPr>
            <p:nvPr userDrawn="1"/>
          </p:nvSpPr>
          <p:spPr bwMode="auto">
            <a:xfrm>
              <a:off x="4661" y="504"/>
              <a:ext cx="34" cy="32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10 w 34"/>
                <a:gd name="T9" fmla="*/ 26 h 32"/>
                <a:gd name="T10" fmla="*/ 26 w 34"/>
                <a:gd name="T11" fmla="*/ 26 h 32"/>
                <a:gd name="T12" fmla="*/ 30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2 w 34"/>
                <a:gd name="T25" fmla="*/ 20 h 32"/>
                <a:gd name="T26" fmla="*/ 18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10" y="26"/>
                  </a:lnTo>
                  <a:lnTo>
                    <a:pt x="26" y="26"/>
                  </a:lnTo>
                  <a:lnTo>
                    <a:pt x="30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2" y="20"/>
                  </a:lnTo>
                  <a:lnTo>
                    <a:pt x="18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Freeform 13"/>
            <p:cNvSpPr>
              <a:spLocks/>
            </p:cNvSpPr>
            <p:nvPr userDrawn="1"/>
          </p:nvSpPr>
          <p:spPr bwMode="auto">
            <a:xfrm>
              <a:off x="4697" y="504"/>
              <a:ext cx="28" cy="32"/>
            </a:xfrm>
            <a:custGeom>
              <a:avLst/>
              <a:gdLst>
                <a:gd name="T0" fmla="*/ 11 w 14"/>
                <a:gd name="T1" fmla="*/ 9 h 16"/>
                <a:gd name="T2" fmla="*/ 7 w 14"/>
                <a:gd name="T3" fmla="*/ 14 h 16"/>
                <a:gd name="T4" fmla="*/ 3 w 14"/>
                <a:gd name="T5" fmla="*/ 9 h 16"/>
                <a:gd name="T6" fmla="*/ 3 w 14"/>
                <a:gd name="T7" fmla="*/ 0 h 16"/>
                <a:gd name="T8" fmla="*/ 0 w 14"/>
                <a:gd name="T9" fmla="*/ 0 h 16"/>
                <a:gd name="T10" fmla="*/ 0 w 14"/>
                <a:gd name="T11" fmla="*/ 9 h 16"/>
                <a:gd name="T12" fmla="*/ 7 w 14"/>
                <a:gd name="T13" fmla="*/ 16 h 16"/>
                <a:gd name="T14" fmla="*/ 14 w 14"/>
                <a:gd name="T15" fmla="*/ 9 h 16"/>
                <a:gd name="T16" fmla="*/ 14 w 14"/>
                <a:gd name="T17" fmla="*/ 0 h 16"/>
                <a:gd name="T18" fmla="*/ 11 w 14"/>
                <a:gd name="T19" fmla="*/ 0 h 16"/>
                <a:gd name="T20" fmla="*/ 11 w 14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3" y="12"/>
                    <a:pt x="3" y="9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4" y="16"/>
                    <a:pt x="7" y="16"/>
                  </a:cubicBezTo>
                  <a:cubicBezTo>
                    <a:pt x="10" y="16"/>
                    <a:pt x="14" y="14"/>
                    <a:pt x="14" y="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Freeform 14"/>
            <p:cNvSpPr>
              <a:spLocks/>
            </p:cNvSpPr>
            <p:nvPr userDrawn="1"/>
          </p:nvSpPr>
          <p:spPr bwMode="auto">
            <a:xfrm>
              <a:off x="4731" y="502"/>
              <a:ext cx="26" cy="34"/>
            </a:xfrm>
            <a:custGeom>
              <a:avLst/>
              <a:gdLst>
                <a:gd name="T0" fmla="*/ 7 w 13"/>
                <a:gd name="T1" fmla="*/ 7 h 17"/>
                <a:gd name="T2" fmla="*/ 3 w 13"/>
                <a:gd name="T3" fmla="*/ 5 h 17"/>
                <a:gd name="T4" fmla="*/ 7 w 13"/>
                <a:gd name="T5" fmla="*/ 3 h 17"/>
                <a:gd name="T6" fmla="*/ 11 w 13"/>
                <a:gd name="T7" fmla="*/ 5 h 17"/>
                <a:gd name="T8" fmla="*/ 11 w 13"/>
                <a:gd name="T9" fmla="*/ 5 h 17"/>
                <a:gd name="T10" fmla="*/ 13 w 13"/>
                <a:gd name="T11" fmla="*/ 4 h 17"/>
                <a:gd name="T12" fmla="*/ 13 w 13"/>
                <a:gd name="T13" fmla="*/ 3 h 17"/>
                <a:gd name="T14" fmla="*/ 7 w 13"/>
                <a:gd name="T15" fmla="*/ 0 h 17"/>
                <a:gd name="T16" fmla="*/ 2 w 13"/>
                <a:gd name="T17" fmla="*/ 2 h 17"/>
                <a:gd name="T18" fmla="*/ 0 w 13"/>
                <a:gd name="T19" fmla="*/ 5 h 17"/>
                <a:gd name="T20" fmla="*/ 7 w 13"/>
                <a:gd name="T21" fmla="*/ 10 h 17"/>
                <a:gd name="T22" fmla="*/ 11 w 13"/>
                <a:gd name="T23" fmla="*/ 12 h 17"/>
                <a:gd name="T24" fmla="*/ 7 w 13"/>
                <a:gd name="T25" fmla="*/ 15 h 17"/>
                <a:gd name="T26" fmla="*/ 2 w 13"/>
                <a:gd name="T27" fmla="*/ 12 h 17"/>
                <a:gd name="T28" fmla="*/ 2 w 13"/>
                <a:gd name="T29" fmla="*/ 12 h 17"/>
                <a:gd name="T30" fmla="*/ 0 w 13"/>
                <a:gd name="T31" fmla="*/ 13 h 17"/>
                <a:gd name="T32" fmla="*/ 0 w 13"/>
                <a:gd name="T33" fmla="*/ 14 h 17"/>
                <a:gd name="T34" fmla="*/ 7 w 13"/>
                <a:gd name="T35" fmla="*/ 17 h 17"/>
                <a:gd name="T36" fmla="*/ 13 w 13"/>
                <a:gd name="T37" fmla="*/ 12 h 17"/>
                <a:gd name="T38" fmla="*/ 7 w 13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" h="17">
                  <a:moveTo>
                    <a:pt x="7" y="7"/>
                  </a:moveTo>
                  <a:cubicBezTo>
                    <a:pt x="5" y="7"/>
                    <a:pt x="3" y="6"/>
                    <a:pt x="3" y="5"/>
                  </a:cubicBezTo>
                  <a:cubicBezTo>
                    <a:pt x="3" y="4"/>
                    <a:pt x="5" y="3"/>
                    <a:pt x="7" y="3"/>
                  </a:cubicBezTo>
                  <a:cubicBezTo>
                    <a:pt x="9" y="3"/>
                    <a:pt x="10" y="3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5" y="0"/>
                    <a:pt x="3" y="1"/>
                    <a:pt x="2" y="2"/>
                  </a:cubicBezTo>
                  <a:cubicBezTo>
                    <a:pt x="1" y="3"/>
                    <a:pt x="0" y="4"/>
                    <a:pt x="0" y="5"/>
                  </a:cubicBezTo>
                  <a:cubicBezTo>
                    <a:pt x="0" y="9"/>
                    <a:pt x="4" y="9"/>
                    <a:pt x="7" y="10"/>
                  </a:cubicBezTo>
                  <a:cubicBezTo>
                    <a:pt x="9" y="10"/>
                    <a:pt x="11" y="11"/>
                    <a:pt x="11" y="12"/>
                  </a:cubicBezTo>
                  <a:cubicBezTo>
                    <a:pt x="11" y="15"/>
                    <a:pt x="8" y="15"/>
                    <a:pt x="7" y="15"/>
                  </a:cubicBezTo>
                  <a:cubicBezTo>
                    <a:pt x="5" y="15"/>
                    <a:pt x="3" y="14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6"/>
                    <a:pt x="3" y="17"/>
                    <a:pt x="7" y="17"/>
                  </a:cubicBezTo>
                  <a:cubicBezTo>
                    <a:pt x="10" y="17"/>
                    <a:pt x="13" y="16"/>
                    <a:pt x="13" y="12"/>
                  </a:cubicBezTo>
                  <a:cubicBezTo>
                    <a:pt x="13" y="9"/>
                    <a:pt x="10" y="8"/>
                    <a:pt x="7" y="7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Freeform 15"/>
            <p:cNvSpPr>
              <a:spLocks/>
            </p:cNvSpPr>
            <p:nvPr userDrawn="1"/>
          </p:nvSpPr>
          <p:spPr bwMode="auto">
            <a:xfrm>
              <a:off x="4761" y="504"/>
              <a:ext cx="26" cy="32"/>
            </a:xfrm>
            <a:custGeom>
              <a:avLst/>
              <a:gdLst>
                <a:gd name="T0" fmla="*/ 0 w 26"/>
                <a:gd name="T1" fmla="*/ 4 h 32"/>
                <a:gd name="T2" fmla="*/ 10 w 26"/>
                <a:gd name="T3" fmla="*/ 4 h 32"/>
                <a:gd name="T4" fmla="*/ 10 w 26"/>
                <a:gd name="T5" fmla="*/ 32 h 32"/>
                <a:gd name="T6" fmla="*/ 16 w 26"/>
                <a:gd name="T7" fmla="*/ 32 h 32"/>
                <a:gd name="T8" fmla="*/ 16 w 26"/>
                <a:gd name="T9" fmla="*/ 4 h 32"/>
                <a:gd name="T10" fmla="*/ 26 w 26"/>
                <a:gd name="T11" fmla="*/ 4 h 32"/>
                <a:gd name="T12" fmla="*/ 26 w 26"/>
                <a:gd name="T13" fmla="*/ 0 h 32"/>
                <a:gd name="T14" fmla="*/ 0 w 26"/>
                <a:gd name="T15" fmla="*/ 0 h 32"/>
                <a:gd name="T16" fmla="*/ 0 w 26"/>
                <a:gd name="T17" fmla="*/ 4 h 32"/>
                <a:gd name="T18" fmla="*/ 0 w 26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32">
                  <a:moveTo>
                    <a:pt x="0" y="4"/>
                  </a:moveTo>
                  <a:lnTo>
                    <a:pt x="10" y="4"/>
                  </a:lnTo>
                  <a:lnTo>
                    <a:pt x="10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6" y="4"/>
                  </a:lnTo>
                  <a:lnTo>
                    <a:pt x="26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Freeform 16"/>
            <p:cNvSpPr>
              <a:spLocks noEditPoints="1"/>
            </p:cNvSpPr>
            <p:nvPr userDrawn="1"/>
          </p:nvSpPr>
          <p:spPr bwMode="auto">
            <a:xfrm>
              <a:off x="4793" y="504"/>
              <a:ext cx="28" cy="32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0 w 14"/>
                <a:gd name="T15" fmla="*/ 16 h 16"/>
                <a:gd name="T16" fmla="*/ 14 w 14"/>
                <a:gd name="T17" fmla="*/ 16 h 16"/>
                <a:gd name="T18" fmla="*/ 8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Freeform 17"/>
            <p:cNvSpPr>
              <a:spLocks noEditPoints="1"/>
            </p:cNvSpPr>
            <p:nvPr userDrawn="1"/>
          </p:nvSpPr>
          <p:spPr bwMode="auto">
            <a:xfrm>
              <a:off x="4823" y="504"/>
              <a:ext cx="34" cy="32"/>
            </a:xfrm>
            <a:custGeom>
              <a:avLst/>
              <a:gdLst>
                <a:gd name="T0" fmla="*/ 18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4 w 34"/>
                <a:gd name="T7" fmla="*/ 32 h 32"/>
                <a:gd name="T8" fmla="*/ 8 w 34"/>
                <a:gd name="T9" fmla="*/ 26 h 32"/>
                <a:gd name="T10" fmla="*/ 24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18 w 34"/>
                <a:gd name="T19" fmla="*/ 0 h 32"/>
                <a:gd name="T20" fmla="*/ 18 w 34"/>
                <a:gd name="T21" fmla="*/ 0 h 32"/>
                <a:gd name="T22" fmla="*/ 22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2 w 34"/>
                <a:gd name="T29" fmla="*/ 20 h 32"/>
                <a:gd name="T30" fmla="*/ 22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18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8" y="26"/>
                  </a:lnTo>
                  <a:lnTo>
                    <a:pt x="24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18" y="0"/>
                  </a:lnTo>
                  <a:lnTo>
                    <a:pt x="18" y="0"/>
                  </a:lnTo>
                  <a:close/>
                  <a:moveTo>
                    <a:pt x="22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2" y="20"/>
                  </a:lnTo>
                  <a:lnTo>
                    <a:pt x="22" y="2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Freeform 18"/>
            <p:cNvSpPr>
              <a:spLocks/>
            </p:cNvSpPr>
            <p:nvPr userDrawn="1"/>
          </p:nvSpPr>
          <p:spPr bwMode="auto">
            <a:xfrm>
              <a:off x="4861" y="504"/>
              <a:ext cx="22" cy="32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Freeform 19"/>
            <p:cNvSpPr>
              <a:spLocks/>
            </p:cNvSpPr>
            <p:nvPr userDrawn="1"/>
          </p:nvSpPr>
          <p:spPr bwMode="auto">
            <a:xfrm>
              <a:off x="4889" y="504"/>
              <a:ext cx="4" cy="32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Freeform 20"/>
            <p:cNvSpPr>
              <a:spLocks noEditPoints="1"/>
            </p:cNvSpPr>
            <p:nvPr userDrawn="1"/>
          </p:nvSpPr>
          <p:spPr bwMode="auto">
            <a:xfrm>
              <a:off x="4899" y="504"/>
              <a:ext cx="34" cy="32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8 w 34"/>
                <a:gd name="T9" fmla="*/ 26 h 32"/>
                <a:gd name="T10" fmla="*/ 26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0 w 34"/>
                <a:gd name="T25" fmla="*/ 20 h 32"/>
                <a:gd name="T26" fmla="*/ 18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8" y="26"/>
                  </a:lnTo>
                  <a:lnTo>
                    <a:pt x="26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0" y="20"/>
                  </a:lnTo>
                  <a:lnTo>
                    <a:pt x="18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Freeform 21"/>
            <p:cNvSpPr>
              <a:spLocks/>
            </p:cNvSpPr>
            <p:nvPr userDrawn="1"/>
          </p:nvSpPr>
          <p:spPr bwMode="auto">
            <a:xfrm>
              <a:off x="4939" y="504"/>
              <a:ext cx="26" cy="32"/>
            </a:xfrm>
            <a:custGeom>
              <a:avLst/>
              <a:gdLst>
                <a:gd name="T0" fmla="*/ 22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2 w 26"/>
                <a:gd name="T19" fmla="*/ 0 h 32"/>
                <a:gd name="T20" fmla="*/ 22 w 26"/>
                <a:gd name="T21" fmla="*/ 22 h 32"/>
                <a:gd name="T22" fmla="*/ 22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2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22" y="22"/>
                  </a:lnTo>
                  <a:lnTo>
                    <a:pt x="22" y="2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Freeform 22"/>
            <p:cNvSpPr>
              <a:spLocks/>
            </p:cNvSpPr>
            <p:nvPr userDrawn="1"/>
          </p:nvSpPr>
          <p:spPr bwMode="auto">
            <a:xfrm>
              <a:off x="4989" y="502"/>
              <a:ext cx="30" cy="34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2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4" y="15"/>
                    <a:pt x="3" y="12"/>
                    <a:pt x="3" y="9"/>
                  </a:cubicBezTo>
                  <a:cubicBezTo>
                    <a:pt x="3" y="6"/>
                    <a:pt x="4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2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Freeform 23"/>
            <p:cNvSpPr>
              <a:spLocks noEditPoints="1"/>
            </p:cNvSpPr>
            <p:nvPr userDrawn="1"/>
          </p:nvSpPr>
          <p:spPr bwMode="auto">
            <a:xfrm>
              <a:off x="5021" y="504"/>
              <a:ext cx="34" cy="32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8 w 34"/>
                <a:gd name="T9" fmla="*/ 26 h 32"/>
                <a:gd name="T10" fmla="*/ 26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8" y="26"/>
                  </a:lnTo>
                  <a:lnTo>
                    <a:pt x="26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Freeform 24"/>
            <p:cNvSpPr>
              <a:spLocks/>
            </p:cNvSpPr>
            <p:nvPr userDrawn="1"/>
          </p:nvSpPr>
          <p:spPr bwMode="auto">
            <a:xfrm>
              <a:off x="5053" y="504"/>
              <a:ext cx="28" cy="32"/>
            </a:xfrm>
            <a:custGeom>
              <a:avLst/>
              <a:gdLst>
                <a:gd name="T0" fmla="*/ 0 w 28"/>
                <a:gd name="T1" fmla="*/ 4 h 32"/>
                <a:gd name="T2" fmla="*/ 12 w 28"/>
                <a:gd name="T3" fmla="*/ 4 h 32"/>
                <a:gd name="T4" fmla="*/ 12 w 28"/>
                <a:gd name="T5" fmla="*/ 32 h 32"/>
                <a:gd name="T6" fmla="*/ 16 w 28"/>
                <a:gd name="T7" fmla="*/ 32 h 32"/>
                <a:gd name="T8" fmla="*/ 16 w 28"/>
                <a:gd name="T9" fmla="*/ 4 h 32"/>
                <a:gd name="T10" fmla="*/ 28 w 28"/>
                <a:gd name="T11" fmla="*/ 4 h 32"/>
                <a:gd name="T12" fmla="*/ 28 w 28"/>
                <a:gd name="T13" fmla="*/ 0 h 32"/>
                <a:gd name="T14" fmla="*/ 0 w 28"/>
                <a:gd name="T15" fmla="*/ 0 h 32"/>
                <a:gd name="T16" fmla="*/ 0 w 28"/>
                <a:gd name="T17" fmla="*/ 4 h 32"/>
                <a:gd name="T18" fmla="*/ 0 w 28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32">
                  <a:moveTo>
                    <a:pt x="0" y="4"/>
                  </a:moveTo>
                  <a:lnTo>
                    <a:pt x="12" y="4"/>
                  </a:lnTo>
                  <a:lnTo>
                    <a:pt x="12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8" y="4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Freeform 25"/>
            <p:cNvSpPr>
              <a:spLocks/>
            </p:cNvSpPr>
            <p:nvPr userDrawn="1"/>
          </p:nvSpPr>
          <p:spPr bwMode="auto">
            <a:xfrm>
              <a:off x="5085" y="504"/>
              <a:ext cx="28" cy="32"/>
            </a:xfrm>
            <a:custGeom>
              <a:avLst/>
              <a:gdLst>
                <a:gd name="T0" fmla="*/ 22 w 28"/>
                <a:gd name="T1" fmla="*/ 12 h 32"/>
                <a:gd name="T2" fmla="*/ 6 w 28"/>
                <a:gd name="T3" fmla="*/ 12 h 32"/>
                <a:gd name="T4" fmla="*/ 6 w 28"/>
                <a:gd name="T5" fmla="*/ 0 h 32"/>
                <a:gd name="T6" fmla="*/ 0 w 28"/>
                <a:gd name="T7" fmla="*/ 0 h 32"/>
                <a:gd name="T8" fmla="*/ 0 w 28"/>
                <a:gd name="T9" fmla="*/ 32 h 32"/>
                <a:gd name="T10" fmla="*/ 6 w 28"/>
                <a:gd name="T11" fmla="*/ 32 h 32"/>
                <a:gd name="T12" fmla="*/ 6 w 28"/>
                <a:gd name="T13" fmla="*/ 18 h 32"/>
                <a:gd name="T14" fmla="*/ 22 w 28"/>
                <a:gd name="T15" fmla="*/ 18 h 32"/>
                <a:gd name="T16" fmla="*/ 22 w 28"/>
                <a:gd name="T17" fmla="*/ 32 h 32"/>
                <a:gd name="T18" fmla="*/ 28 w 28"/>
                <a:gd name="T19" fmla="*/ 32 h 32"/>
                <a:gd name="T20" fmla="*/ 28 w 28"/>
                <a:gd name="T21" fmla="*/ 0 h 32"/>
                <a:gd name="T22" fmla="*/ 22 w 28"/>
                <a:gd name="T23" fmla="*/ 0 h 32"/>
                <a:gd name="T24" fmla="*/ 22 w 28"/>
                <a:gd name="T25" fmla="*/ 12 h 32"/>
                <a:gd name="T26" fmla="*/ 22 w 28"/>
                <a:gd name="T27" fmla="*/ 1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2">
                  <a:moveTo>
                    <a:pt x="22" y="12"/>
                  </a:moveTo>
                  <a:lnTo>
                    <a:pt x="6" y="1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6" y="18"/>
                  </a:lnTo>
                  <a:lnTo>
                    <a:pt x="22" y="18"/>
                  </a:lnTo>
                  <a:lnTo>
                    <a:pt x="22" y="32"/>
                  </a:lnTo>
                  <a:lnTo>
                    <a:pt x="28" y="32"/>
                  </a:lnTo>
                  <a:lnTo>
                    <a:pt x="28" y="0"/>
                  </a:lnTo>
                  <a:lnTo>
                    <a:pt x="22" y="0"/>
                  </a:lnTo>
                  <a:lnTo>
                    <a:pt x="22" y="12"/>
                  </a:lnTo>
                  <a:lnTo>
                    <a:pt x="22" y="1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Freeform 26"/>
            <p:cNvSpPr>
              <a:spLocks noEditPoints="1"/>
            </p:cNvSpPr>
            <p:nvPr userDrawn="1"/>
          </p:nvSpPr>
          <p:spPr bwMode="auto">
            <a:xfrm>
              <a:off x="5119" y="502"/>
              <a:ext cx="32" cy="34"/>
            </a:xfrm>
            <a:custGeom>
              <a:avLst/>
              <a:gdLst>
                <a:gd name="T0" fmla="*/ 8 w 16"/>
                <a:gd name="T1" fmla="*/ 0 h 17"/>
                <a:gd name="T2" fmla="*/ 0 w 16"/>
                <a:gd name="T3" fmla="*/ 9 h 17"/>
                <a:gd name="T4" fmla="*/ 8 w 16"/>
                <a:gd name="T5" fmla="*/ 17 h 17"/>
                <a:gd name="T6" fmla="*/ 16 w 16"/>
                <a:gd name="T7" fmla="*/ 9 h 17"/>
                <a:gd name="T8" fmla="*/ 8 w 16"/>
                <a:gd name="T9" fmla="*/ 0 h 17"/>
                <a:gd name="T10" fmla="*/ 8 w 16"/>
                <a:gd name="T11" fmla="*/ 15 h 17"/>
                <a:gd name="T12" fmla="*/ 2 w 16"/>
                <a:gd name="T13" fmla="*/ 9 h 17"/>
                <a:gd name="T14" fmla="*/ 8 w 16"/>
                <a:gd name="T15" fmla="*/ 3 h 17"/>
                <a:gd name="T16" fmla="*/ 14 w 16"/>
                <a:gd name="T17" fmla="*/ 9 h 17"/>
                <a:gd name="T18" fmla="*/ 8 w 16"/>
                <a:gd name="T19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17"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2" y="17"/>
                    <a:pt x="8" y="17"/>
                  </a:cubicBezTo>
                  <a:cubicBezTo>
                    <a:pt x="14" y="17"/>
                    <a:pt x="16" y="13"/>
                    <a:pt x="16" y="9"/>
                  </a:cubicBezTo>
                  <a:cubicBezTo>
                    <a:pt x="16" y="5"/>
                    <a:pt x="14" y="0"/>
                    <a:pt x="8" y="0"/>
                  </a:cubicBezTo>
                  <a:close/>
                  <a:moveTo>
                    <a:pt x="8" y="15"/>
                  </a:moveTo>
                  <a:cubicBezTo>
                    <a:pt x="4" y="15"/>
                    <a:pt x="2" y="12"/>
                    <a:pt x="2" y="9"/>
                  </a:cubicBezTo>
                  <a:cubicBezTo>
                    <a:pt x="2" y="6"/>
                    <a:pt x="4" y="3"/>
                    <a:pt x="8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5"/>
                    <a:pt x="8" y="15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Freeform 27"/>
            <p:cNvSpPr>
              <a:spLocks/>
            </p:cNvSpPr>
            <p:nvPr userDrawn="1"/>
          </p:nvSpPr>
          <p:spPr bwMode="auto">
            <a:xfrm>
              <a:off x="5157" y="504"/>
              <a:ext cx="22" cy="32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Freeform 28"/>
            <p:cNvSpPr>
              <a:spLocks/>
            </p:cNvSpPr>
            <p:nvPr userDrawn="1"/>
          </p:nvSpPr>
          <p:spPr bwMode="auto">
            <a:xfrm>
              <a:off x="5185" y="504"/>
              <a:ext cx="4" cy="32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Freeform 29"/>
            <p:cNvSpPr>
              <a:spLocks/>
            </p:cNvSpPr>
            <p:nvPr userDrawn="1"/>
          </p:nvSpPr>
          <p:spPr bwMode="auto">
            <a:xfrm>
              <a:off x="5195" y="502"/>
              <a:ext cx="30" cy="34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3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5" y="15"/>
                    <a:pt x="3" y="12"/>
                    <a:pt x="3" y="9"/>
                  </a:cubicBezTo>
                  <a:cubicBezTo>
                    <a:pt x="3" y="6"/>
                    <a:pt x="5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Freeform 30"/>
            <p:cNvSpPr>
              <a:spLocks/>
            </p:cNvSpPr>
            <p:nvPr userDrawn="1"/>
          </p:nvSpPr>
          <p:spPr bwMode="auto">
            <a:xfrm>
              <a:off x="5247" y="504"/>
              <a:ext cx="26" cy="32"/>
            </a:xfrm>
            <a:custGeom>
              <a:avLst/>
              <a:gdLst>
                <a:gd name="T0" fmla="*/ 11 w 13"/>
                <a:gd name="T1" fmla="*/ 9 h 16"/>
                <a:gd name="T2" fmla="*/ 7 w 13"/>
                <a:gd name="T3" fmla="*/ 14 h 16"/>
                <a:gd name="T4" fmla="*/ 2 w 13"/>
                <a:gd name="T5" fmla="*/ 9 h 16"/>
                <a:gd name="T6" fmla="*/ 2 w 13"/>
                <a:gd name="T7" fmla="*/ 0 h 16"/>
                <a:gd name="T8" fmla="*/ 0 w 13"/>
                <a:gd name="T9" fmla="*/ 0 h 16"/>
                <a:gd name="T10" fmla="*/ 0 w 13"/>
                <a:gd name="T11" fmla="*/ 9 h 16"/>
                <a:gd name="T12" fmla="*/ 7 w 13"/>
                <a:gd name="T13" fmla="*/ 16 h 16"/>
                <a:gd name="T14" fmla="*/ 13 w 13"/>
                <a:gd name="T15" fmla="*/ 9 h 16"/>
                <a:gd name="T16" fmla="*/ 13 w 13"/>
                <a:gd name="T17" fmla="*/ 0 h 16"/>
                <a:gd name="T18" fmla="*/ 11 w 13"/>
                <a:gd name="T19" fmla="*/ 0 h 16"/>
                <a:gd name="T20" fmla="*/ 11 w 13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2" y="12"/>
                    <a:pt x="2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3" y="16"/>
                    <a:pt x="7" y="16"/>
                  </a:cubicBezTo>
                  <a:cubicBezTo>
                    <a:pt x="10" y="16"/>
                    <a:pt x="13" y="14"/>
                    <a:pt x="13" y="9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Freeform 31"/>
            <p:cNvSpPr>
              <a:spLocks/>
            </p:cNvSpPr>
            <p:nvPr userDrawn="1"/>
          </p:nvSpPr>
          <p:spPr bwMode="auto">
            <a:xfrm>
              <a:off x="5283" y="504"/>
              <a:ext cx="26" cy="32"/>
            </a:xfrm>
            <a:custGeom>
              <a:avLst/>
              <a:gdLst>
                <a:gd name="T0" fmla="*/ 20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0 w 26"/>
                <a:gd name="T19" fmla="*/ 0 h 32"/>
                <a:gd name="T20" fmla="*/ 20 w 26"/>
                <a:gd name="T21" fmla="*/ 22 h 32"/>
                <a:gd name="T22" fmla="*/ 20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0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20" y="22"/>
                  </a:lnTo>
                  <a:lnTo>
                    <a:pt x="20" y="2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" name="Freeform 32"/>
            <p:cNvSpPr>
              <a:spLocks/>
            </p:cNvSpPr>
            <p:nvPr userDrawn="1"/>
          </p:nvSpPr>
          <p:spPr bwMode="auto">
            <a:xfrm>
              <a:off x="5317" y="504"/>
              <a:ext cx="6" cy="32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" name="Freeform 33"/>
            <p:cNvSpPr>
              <a:spLocks/>
            </p:cNvSpPr>
            <p:nvPr userDrawn="1"/>
          </p:nvSpPr>
          <p:spPr bwMode="auto">
            <a:xfrm>
              <a:off x="5329" y="504"/>
              <a:ext cx="32" cy="32"/>
            </a:xfrm>
            <a:custGeom>
              <a:avLst/>
              <a:gdLst>
                <a:gd name="T0" fmla="*/ 6 w 32"/>
                <a:gd name="T1" fmla="*/ 0 h 32"/>
                <a:gd name="T2" fmla="*/ 0 w 32"/>
                <a:gd name="T3" fmla="*/ 0 h 32"/>
                <a:gd name="T4" fmla="*/ 12 w 32"/>
                <a:gd name="T5" fmla="*/ 32 h 32"/>
                <a:gd name="T6" fmla="*/ 18 w 32"/>
                <a:gd name="T7" fmla="*/ 32 h 32"/>
                <a:gd name="T8" fmla="*/ 32 w 32"/>
                <a:gd name="T9" fmla="*/ 0 h 32"/>
                <a:gd name="T10" fmla="*/ 26 w 32"/>
                <a:gd name="T11" fmla="*/ 0 h 32"/>
                <a:gd name="T12" fmla="*/ 16 w 32"/>
                <a:gd name="T13" fmla="*/ 26 h 32"/>
                <a:gd name="T14" fmla="*/ 6 w 32"/>
                <a:gd name="T15" fmla="*/ 0 h 32"/>
                <a:gd name="T16" fmla="*/ 6 w 32"/>
                <a:gd name="T1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2">
                  <a:moveTo>
                    <a:pt x="6" y="0"/>
                  </a:moveTo>
                  <a:lnTo>
                    <a:pt x="0" y="0"/>
                  </a:lnTo>
                  <a:lnTo>
                    <a:pt x="12" y="32"/>
                  </a:lnTo>
                  <a:lnTo>
                    <a:pt x="18" y="32"/>
                  </a:lnTo>
                  <a:lnTo>
                    <a:pt x="32" y="0"/>
                  </a:lnTo>
                  <a:lnTo>
                    <a:pt x="26" y="0"/>
                  </a:lnTo>
                  <a:lnTo>
                    <a:pt x="16" y="2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" name="Freeform 34"/>
            <p:cNvSpPr>
              <a:spLocks/>
            </p:cNvSpPr>
            <p:nvPr userDrawn="1"/>
          </p:nvSpPr>
          <p:spPr bwMode="auto">
            <a:xfrm>
              <a:off x="5365" y="504"/>
              <a:ext cx="24" cy="32"/>
            </a:xfrm>
            <a:custGeom>
              <a:avLst/>
              <a:gdLst>
                <a:gd name="T0" fmla="*/ 6 w 24"/>
                <a:gd name="T1" fmla="*/ 18 h 32"/>
                <a:gd name="T2" fmla="*/ 24 w 24"/>
                <a:gd name="T3" fmla="*/ 18 h 32"/>
                <a:gd name="T4" fmla="*/ 24 w 24"/>
                <a:gd name="T5" fmla="*/ 12 h 32"/>
                <a:gd name="T6" fmla="*/ 6 w 24"/>
                <a:gd name="T7" fmla="*/ 12 h 32"/>
                <a:gd name="T8" fmla="*/ 6 w 24"/>
                <a:gd name="T9" fmla="*/ 4 h 32"/>
                <a:gd name="T10" fmla="*/ 24 w 24"/>
                <a:gd name="T11" fmla="*/ 4 h 32"/>
                <a:gd name="T12" fmla="*/ 24 w 24"/>
                <a:gd name="T13" fmla="*/ 0 h 32"/>
                <a:gd name="T14" fmla="*/ 0 w 24"/>
                <a:gd name="T15" fmla="*/ 0 h 32"/>
                <a:gd name="T16" fmla="*/ 0 w 24"/>
                <a:gd name="T17" fmla="*/ 32 h 32"/>
                <a:gd name="T18" fmla="*/ 24 w 24"/>
                <a:gd name="T19" fmla="*/ 32 h 32"/>
                <a:gd name="T20" fmla="*/ 24 w 24"/>
                <a:gd name="T21" fmla="*/ 26 h 32"/>
                <a:gd name="T22" fmla="*/ 6 w 24"/>
                <a:gd name="T23" fmla="*/ 26 h 32"/>
                <a:gd name="T24" fmla="*/ 6 w 24"/>
                <a:gd name="T25" fmla="*/ 18 h 32"/>
                <a:gd name="T26" fmla="*/ 6 w 24"/>
                <a:gd name="T27" fmla="*/ 1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" h="32">
                  <a:moveTo>
                    <a:pt x="6" y="18"/>
                  </a:moveTo>
                  <a:lnTo>
                    <a:pt x="24" y="18"/>
                  </a:lnTo>
                  <a:lnTo>
                    <a:pt x="24" y="12"/>
                  </a:lnTo>
                  <a:lnTo>
                    <a:pt x="6" y="12"/>
                  </a:lnTo>
                  <a:lnTo>
                    <a:pt x="6" y="4"/>
                  </a:lnTo>
                  <a:lnTo>
                    <a:pt x="24" y="4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24" y="32"/>
                  </a:lnTo>
                  <a:lnTo>
                    <a:pt x="24" y="26"/>
                  </a:lnTo>
                  <a:lnTo>
                    <a:pt x="6" y="26"/>
                  </a:lnTo>
                  <a:lnTo>
                    <a:pt x="6" y="18"/>
                  </a:lnTo>
                  <a:lnTo>
                    <a:pt x="6" y="18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" name="Freeform 35"/>
            <p:cNvSpPr>
              <a:spLocks noEditPoints="1"/>
            </p:cNvSpPr>
            <p:nvPr userDrawn="1"/>
          </p:nvSpPr>
          <p:spPr bwMode="auto">
            <a:xfrm>
              <a:off x="5397" y="504"/>
              <a:ext cx="28" cy="32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1 w 14"/>
                <a:gd name="T15" fmla="*/ 16 h 16"/>
                <a:gd name="T16" fmla="*/ 14 w 14"/>
                <a:gd name="T17" fmla="*/ 16 h 16"/>
                <a:gd name="T18" fmla="*/ 9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" name="Freeform 36"/>
            <p:cNvSpPr>
              <a:spLocks/>
            </p:cNvSpPr>
            <p:nvPr userDrawn="1"/>
          </p:nvSpPr>
          <p:spPr bwMode="auto">
            <a:xfrm>
              <a:off x="5427" y="502"/>
              <a:ext cx="28" cy="34"/>
            </a:xfrm>
            <a:custGeom>
              <a:avLst/>
              <a:gdLst>
                <a:gd name="T0" fmla="*/ 8 w 14"/>
                <a:gd name="T1" fmla="*/ 7 h 17"/>
                <a:gd name="T2" fmla="*/ 4 w 14"/>
                <a:gd name="T3" fmla="*/ 5 h 17"/>
                <a:gd name="T4" fmla="*/ 7 w 14"/>
                <a:gd name="T5" fmla="*/ 3 h 17"/>
                <a:gd name="T6" fmla="*/ 12 w 14"/>
                <a:gd name="T7" fmla="*/ 5 h 17"/>
                <a:gd name="T8" fmla="*/ 12 w 14"/>
                <a:gd name="T9" fmla="*/ 5 h 17"/>
                <a:gd name="T10" fmla="*/ 14 w 14"/>
                <a:gd name="T11" fmla="*/ 4 h 17"/>
                <a:gd name="T12" fmla="*/ 14 w 14"/>
                <a:gd name="T13" fmla="*/ 3 h 17"/>
                <a:gd name="T14" fmla="*/ 7 w 14"/>
                <a:gd name="T15" fmla="*/ 0 h 17"/>
                <a:gd name="T16" fmla="*/ 2 w 14"/>
                <a:gd name="T17" fmla="*/ 2 h 17"/>
                <a:gd name="T18" fmla="*/ 1 w 14"/>
                <a:gd name="T19" fmla="*/ 5 h 17"/>
                <a:gd name="T20" fmla="*/ 7 w 14"/>
                <a:gd name="T21" fmla="*/ 10 h 17"/>
                <a:gd name="T22" fmla="*/ 12 w 14"/>
                <a:gd name="T23" fmla="*/ 12 h 17"/>
                <a:gd name="T24" fmla="*/ 7 w 14"/>
                <a:gd name="T25" fmla="*/ 15 h 17"/>
                <a:gd name="T26" fmla="*/ 3 w 14"/>
                <a:gd name="T27" fmla="*/ 12 h 17"/>
                <a:gd name="T28" fmla="*/ 2 w 14"/>
                <a:gd name="T29" fmla="*/ 12 h 17"/>
                <a:gd name="T30" fmla="*/ 0 w 14"/>
                <a:gd name="T31" fmla="*/ 13 h 17"/>
                <a:gd name="T32" fmla="*/ 0 w 14"/>
                <a:gd name="T33" fmla="*/ 14 h 17"/>
                <a:gd name="T34" fmla="*/ 7 w 14"/>
                <a:gd name="T35" fmla="*/ 17 h 17"/>
                <a:gd name="T36" fmla="*/ 14 w 14"/>
                <a:gd name="T37" fmla="*/ 12 h 17"/>
                <a:gd name="T38" fmla="*/ 8 w 14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17">
                  <a:moveTo>
                    <a:pt x="8" y="7"/>
                  </a:moveTo>
                  <a:cubicBezTo>
                    <a:pt x="5" y="7"/>
                    <a:pt x="4" y="6"/>
                    <a:pt x="4" y="5"/>
                  </a:cubicBezTo>
                  <a:cubicBezTo>
                    <a:pt x="4" y="4"/>
                    <a:pt x="5" y="3"/>
                    <a:pt x="7" y="3"/>
                  </a:cubicBezTo>
                  <a:cubicBezTo>
                    <a:pt x="9" y="3"/>
                    <a:pt x="11" y="3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6" y="0"/>
                    <a:pt x="3" y="1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5" y="9"/>
                    <a:pt x="7" y="10"/>
                  </a:cubicBezTo>
                  <a:cubicBezTo>
                    <a:pt x="10" y="10"/>
                    <a:pt x="12" y="11"/>
                    <a:pt x="12" y="12"/>
                  </a:cubicBezTo>
                  <a:cubicBezTo>
                    <a:pt x="12" y="15"/>
                    <a:pt x="8" y="15"/>
                    <a:pt x="7" y="15"/>
                  </a:cubicBezTo>
                  <a:cubicBezTo>
                    <a:pt x="6" y="15"/>
                    <a:pt x="4" y="14"/>
                    <a:pt x="3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6"/>
                    <a:pt x="4" y="17"/>
                    <a:pt x="7" y="17"/>
                  </a:cubicBezTo>
                  <a:cubicBezTo>
                    <a:pt x="11" y="17"/>
                    <a:pt x="14" y="16"/>
                    <a:pt x="14" y="12"/>
                  </a:cubicBezTo>
                  <a:cubicBezTo>
                    <a:pt x="14" y="9"/>
                    <a:pt x="11" y="8"/>
                    <a:pt x="8" y="7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" name="Freeform 37"/>
            <p:cNvSpPr>
              <a:spLocks/>
            </p:cNvSpPr>
            <p:nvPr userDrawn="1"/>
          </p:nvSpPr>
          <p:spPr bwMode="auto">
            <a:xfrm>
              <a:off x="5461" y="504"/>
              <a:ext cx="6" cy="32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" name="Freeform 38"/>
            <p:cNvSpPr>
              <a:spLocks/>
            </p:cNvSpPr>
            <p:nvPr userDrawn="1"/>
          </p:nvSpPr>
          <p:spPr bwMode="auto">
            <a:xfrm>
              <a:off x="5473" y="504"/>
              <a:ext cx="54" cy="32"/>
            </a:xfrm>
            <a:custGeom>
              <a:avLst/>
              <a:gdLst>
                <a:gd name="T0" fmla="*/ 30 w 54"/>
                <a:gd name="T1" fmla="*/ 0 h 32"/>
                <a:gd name="T2" fmla="*/ 0 w 54"/>
                <a:gd name="T3" fmla="*/ 0 h 32"/>
                <a:gd name="T4" fmla="*/ 0 w 54"/>
                <a:gd name="T5" fmla="*/ 4 h 32"/>
                <a:gd name="T6" fmla="*/ 10 w 54"/>
                <a:gd name="T7" fmla="*/ 4 h 32"/>
                <a:gd name="T8" fmla="*/ 10 w 54"/>
                <a:gd name="T9" fmla="*/ 32 h 32"/>
                <a:gd name="T10" fmla="*/ 16 w 54"/>
                <a:gd name="T11" fmla="*/ 32 h 32"/>
                <a:gd name="T12" fmla="*/ 16 w 54"/>
                <a:gd name="T13" fmla="*/ 4 h 32"/>
                <a:gd name="T14" fmla="*/ 26 w 54"/>
                <a:gd name="T15" fmla="*/ 4 h 32"/>
                <a:gd name="T16" fmla="*/ 36 w 54"/>
                <a:gd name="T17" fmla="*/ 18 h 32"/>
                <a:gd name="T18" fmla="*/ 36 w 54"/>
                <a:gd name="T19" fmla="*/ 32 h 32"/>
                <a:gd name="T20" fmla="*/ 42 w 54"/>
                <a:gd name="T21" fmla="*/ 32 h 32"/>
                <a:gd name="T22" fmla="*/ 42 w 54"/>
                <a:gd name="T23" fmla="*/ 18 h 32"/>
                <a:gd name="T24" fmla="*/ 54 w 54"/>
                <a:gd name="T25" fmla="*/ 0 h 32"/>
                <a:gd name="T26" fmla="*/ 54 w 54"/>
                <a:gd name="T27" fmla="*/ 0 h 32"/>
                <a:gd name="T28" fmla="*/ 54 w 54"/>
                <a:gd name="T29" fmla="*/ 0 h 32"/>
                <a:gd name="T30" fmla="*/ 48 w 54"/>
                <a:gd name="T31" fmla="*/ 0 h 32"/>
                <a:gd name="T32" fmla="*/ 38 w 54"/>
                <a:gd name="T33" fmla="*/ 14 h 32"/>
                <a:gd name="T34" fmla="*/ 30 w 54"/>
                <a:gd name="T35" fmla="*/ 0 h 32"/>
                <a:gd name="T36" fmla="*/ 30 w 54"/>
                <a:gd name="T3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4" h="32">
                  <a:moveTo>
                    <a:pt x="30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10" y="4"/>
                  </a:lnTo>
                  <a:lnTo>
                    <a:pt x="10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6" y="4"/>
                  </a:lnTo>
                  <a:lnTo>
                    <a:pt x="36" y="18"/>
                  </a:lnTo>
                  <a:lnTo>
                    <a:pt x="36" y="32"/>
                  </a:lnTo>
                  <a:lnTo>
                    <a:pt x="42" y="32"/>
                  </a:lnTo>
                  <a:lnTo>
                    <a:pt x="42" y="18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8" y="0"/>
                  </a:lnTo>
                  <a:lnTo>
                    <a:pt x="38" y="14"/>
                  </a:lnTo>
                  <a:lnTo>
                    <a:pt x="30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" name="Freeform 39"/>
            <p:cNvSpPr>
              <a:spLocks/>
            </p:cNvSpPr>
            <p:nvPr userDrawn="1"/>
          </p:nvSpPr>
          <p:spPr bwMode="auto">
            <a:xfrm>
              <a:off x="5343" y="234"/>
              <a:ext cx="184" cy="230"/>
            </a:xfrm>
            <a:custGeom>
              <a:avLst/>
              <a:gdLst>
                <a:gd name="T0" fmla="*/ 92 w 92"/>
                <a:gd name="T1" fmla="*/ 0 h 115"/>
                <a:gd name="T2" fmla="*/ 92 w 92"/>
                <a:gd name="T3" fmla="*/ 71 h 115"/>
                <a:gd name="T4" fmla="*/ 49 w 92"/>
                <a:gd name="T5" fmla="*/ 115 h 115"/>
                <a:gd name="T6" fmla="*/ 0 w 92"/>
                <a:gd name="T7" fmla="*/ 70 h 115"/>
                <a:gd name="T8" fmla="*/ 0 w 92"/>
                <a:gd name="T9" fmla="*/ 0 h 115"/>
                <a:gd name="T10" fmla="*/ 22 w 92"/>
                <a:gd name="T11" fmla="*/ 0 h 115"/>
                <a:gd name="T12" fmla="*/ 22 w 92"/>
                <a:gd name="T13" fmla="*/ 72 h 115"/>
                <a:gd name="T14" fmla="*/ 50 w 92"/>
                <a:gd name="T15" fmla="*/ 105 h 115"/>
                <a:gd name="T16" fmla="*/ 79 w 92"/>
                <a:gd name="T17" fmla="*/ 73 h 115"/>
                <a:gd name="T18" fmla="*/ 79 w 92"/>
                <a:gd name="T19" fmla="*/ 0 h 115"/>
                <a:gd name="T20" fmla="*/ 92 w 92"/>
                <a:gd name="T21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5">
                  <a:moveTo>
                    <a:pt x="92" y="0"/>
                  </a:moveTo>
                  <a:cubicBezTo>
                    <a:pt x="92" y="71"/>
                    <a:pt x="92" y="71"/>
                    <a:pt x="92" y="71"/>
                  </a:cubicBezTo>
                  <a:cubicBezTo>
                    <a:pt x="92" y="109"/>
                    <a:pt x="62" y="115"/>
                    <a:pt x="49" y="115"/>
                  </a:cubicBezTo>
                  <a:cubicBezTo>
                    <a:pt x="25" y="115"/>
                    <a:pt x="0" y="107"/>
                    <a:pt x="0" y="7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2" y="93"/>
                    <a:pt x="32" y="105"/>
                    <a:pt x="50" y="105"/>
                  </a:cubicBezTo>
                  <a:cubicBezTo>
                    <a:pt x="66" y="105"/>
                    <a:pt x="79" y="95"/>
                    <a:pt x="79" y="73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92" y="0"/>
                    <a:pt x="92" y="0"/>
                    <a:pt x="92" y="0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" name="Freeform 40"/>
            <p:cNvSpPr>
              <a:spLocks/>
            </p:cNvSpPr>
            <p:nvPr userDrawn="1"/>
          </p:nvSpPr>
          <p:spPr bwMode="auto">
            <a:xfrm>
              <a:off x="5099" y="230"/>
              <a:ext cx="212" cy="234"/>
            </a:xfrm>
            <a:custGeom>
              <a:avLst/>
              <a:gdLst>
                <a:gd name="T0" fmla="*/ 61 w 106"/>
                <a:gd name="T1" fmla="*/ 117 h 117"/>
                <a:gd name="T2" fmla="*/ 0 w 106"/>
                <a:gd name="T3" fmla="*/ 60 h 117"/>
                <a:gd name="T4" fmla="*/ 63 w 106"/>
                <a:gd name="T5" fmla="*/ 0 h 117"/>
                <a:gd name="T6" fmla="*/ 97 w 106"/>
                <a:gd name="T7" fmla="*/ 13 h 117"/>
                <a:gd name="T8" fmla="*/ 106 w 106"/>
                <a:gd name="T9" fmla="*/ 28 h 117"/>
                <a:gd name="T10" fmla="*/ 94 w 106"/>
                <a:gd name="T11" fmla="*/ 39 h 117"/>
                <a:gd name="T12" fmla="*/ 83 w 106"/>
                <a:gd name="T13" fmla="*/ 28 h 117"/>
                <a:gd name="T14" fmla="*/ 86 w 106"/>
                <a:gd name="T15" fmla="*/ 20 h 117"/>
                <a:gd name="T16" fmla="*/ 63 w 106"/>
                <a:gd name="T17" fmla="*/ 10 h 117"/>
                <a:gd name="T18" fmla="*/ 21 w 106"/>
                <a:gd name="T19" fmla="*/ 58 h 117"/>
                <a:gd name="T20" fmla="*/ 65 w 106"/>
                <a:gd name="T21" fmla="*/ 108 h 117"/>
                <a:gd name="T22" fmla="*/ 102 w 106"/>
                <a:gd name="T23" fmla="*/ 93 h 117"/>
                <a:gd name="T24" fmla="*/ 106 w 106"/>
                <a:gd name="T25" fmla="*/ 99 h 117"/>
                <a:gd name="T26" fmla="*/ 61 w 106"/>
                <a:gd name="T2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6" h="117">
                  <a:moveTo>
                    <a:pt x="61" y="117"/>
                  </a:moveTo>
                  <a:cubicBezTo>
                    <a:pt x="23" y="117"/>
                    <a:pt x="0" y="91"/>
                    <a:pt x="0" y="60"/>
                  </a:cubicBezTo>
                  <a:cubicBezTo>
                    <a:pt x="0" y="29"/>
                    <a:pt x="24" y="0"/>
                    <a:pt x="63" y="0"/>
                  </a:cubicBezTo>
                  <a:cubicBezTo>
                    <a:pt x="74" y="0"/>
                    <a:pt x="88" y="4"/>
                    <a:pt x="97" y="13"/>
                  </a:cubicBezTo>
                  <a:cubicBezTo>
                    <a:pt x="102" y="16"/>
                    <a:pt x="106" y="23"/>
                    <a:pt x="106" y="28"/>
                  </a:cubicBezTo>
                  <a:cubicBezTo>
                    <a:pt x="106" y="34"/>
                    <a:pt x="101" y="39"/>
                    <a:pt x="94" y="39"/>
                  </a:cubicBezTo>
                  <a:cubicBezTo>
                    <a:pt x="88" y="39"/>
                    <a:pt x="83" y="34"/>
                    <a:pt x="83" y="28"/>
                  </a:cubicBezTo>
                  <a:cubicBezTo>
                    <a:pt x="83" y="25"/>
                    <a:pt x="84" y="22"/>
                    <a:pt x="86" y="20"/>
                  </a:cubicBezTo>
                  <a:cubicBezTo>
                    <a:pt x="81" y="14"/>
                    <a:pt x="71" y="10"/>
                    <a:pt x="63" y="10"/>
                  </a:cubicBezTo>
                  <a:cubicBezTo>
                    <a:pt x="36" y="10"/>
                    <a:pt x="21" y="35"/>
                    <a:pt x="21" y="58"/>
                  </a:cubicBezTo>
                  <a:cubicBezTo>
                    <a:pt x="21" y="85"/>
                    <a:pt x="38" y="108"/>
                    <a:pt x="65" y="108"/>
                  </a:cubicBezTo>
                  <a:cubicBezTo>
                    <a:pt x="79" y="108"/>
                    <a:pt x="90" y="102"/>
                    <a:pt x="102" y="93"/>
                  </a:cubicBezTo>
                  <a:cubicBezTo>
                    <a:pt x="106" y="99"/>
                    <a:pt x="106" y="99"/>
                    <a:pt x="106" y="99"/>
                  </a:cubicBezTo>
                  <a:cubicBezTo>
                    <a:pt x="94" y="111"/>
                    <a:pt x="77" y="117"/>
                    <a:pt x="61" y="117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" name="Freeform 41"/>
            <p:cNvSpPr>
              <a:spLocks noEditPoints="1"/>
            </p:cNvSpPr>
            <p:nvPr userDrawn="1"/>
          </p:nvSpPr>
          <p:spPr bwMode="auto">
            <a:xfrm>
              <a:off x="4887" y="234"/>
              <a:ext cx="208" cy="226"/>
            </a:xfrm>
            <a:custGeom>
              <a:avLst/>
              <a:gdLst>
                <a:gd name="T0" fmla="*/ 164 w 208"/>
                <a:gd name="T1" fmla="*/ 226 h 226"/>
                <a:gd name="T2" fmla="*/ 208 w 208"/>
                <a:gd name="T3" fmla="*/ 226 h 226"/>
                <a:gd name="T4" fmla="*/ 120 w 208"/>
                <a:gd name="T5" fmla="*/ 0 h 226"/>
                <a:gd name="T6" fmla="*/ 86 w 208"/>
                <a:gd name="T7" fmla="*/ 0 h 226"/>
                <a:gd name="T8" fmla="*/ 0 w 208"/>
                <a:gd name="T9" fmla="*/ 226 h 226"/>
                <a:gd name="T10" fmla="*/ 22 w 208"/>
                <a:gd name="T11" fmla="*/ 226 h 226"/>
                <a:gd name="T12" fmla="*/ 48 w 208"/>
                <a:gd name="T13" fmla="*/ 162 h 226"/>
                <a:gd name="T14" fmla="*/ 140 w 208"/>
                <a:gd name="T15" fmla="*/ 162 h 226"/>
                <a:gd name="T16" fmla="*/ 164 w 208"/>
                <a:gd name="T17" fmla="*/ 226 h 226"/>
                <a:gd name="T18" fmla="*/ 164 w 208"/>
                <a:gd name="T19" fmla="*/ 226 h 226"/>
                <a:gd name="T20" fmla="*/ 54 w 208"/>
                <a:gd name="T21" fmla="*/ 142 h 226"/>
                <a:gd name="T22" fmla="*/ 94 w 208"/>
                <a:gd name="T23" fmla="*/ 36 h 226"/>
                <a:gd name="T24" fmla="*/ 134 w 208"/>
                <a:gd name="T25" fmla="*/ 142 h 226"/>
                <a:gd name="T26" fmla="*/ 54 w 208"/>
                <a:gd name="T27" fmla="*/ 142 h 226"/>
                <a:gd name="T28" fmla="*/ 54 w 208"/>
                <a:gd name="T29" fmla="*/ 142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8" h="226">
                  <a:moveTo>
                    <a:pt x="164" y="226"/>
                  </a:moveTo>
                  <a:lnTo>
                    <a:pt x="208" y="226"/>
                  </a:lnTo>
                  <a:lnTo>
                    <a:pt x="120" y="0"/>
                  </a:lnTo>
                  <a:lnTo>
                    <a:pt x="86" y="0"/>
                  </a:lnTo>
                  <a:lnTo>
                    <a:pt x="0" y="226"/>
                  </a:lnTo>
                  <a:lnTo>
                    <a:pt x="22" y="226"/>
                  </a:lnTo>
                  <a:lnTo>
                    <a:pt x="48" y="162"/>
                  </a:lnTo>
                  <a:lnTo>
                    <a:pt x="140" y="162"/>
                  </a:lnTo>
                  <a:lnTo>
                    <a:pt x="164" y="226"/>
                  </a:lnTo>
                  <a:lnTo>
                    <a:pt x="164" y="226"/>
                  </a:lnTo>
                  <a:close/>
                  <a:moveTo>
                    <a:pt x="54" y="142"/>
                  </a:moveTo>
                  <a:lnTo>
                    <a:pt x="94" y="36"/>
                  </a:lnTo>
                  <a:lnTo>
                    <a:pt x="134" y="142"/>
                  </a:lnTo>
                  <a:lnTo>
                    <a:pt x="54" y="142"/>
                  </a:lnTo>
                  <a:lnTo>
                    <a:pt x="54" y="14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758" y="6510471"/>
            <a:ext cx="3086100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8929" y="6510471"/>
            <a:ext cx="448128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A89BA3-132D-40E1-AAB4-CDCD0A14C216}" type="slidenum">
              <a:rPr lang="en-AU" smtClean="0"/>
              <a:pPr/>
              <a:t>‹#›</a:t>
            </a:fld>
            <a:r>
              <a:rPr lang="en-AU" dirty="0"/>
              <a:t>  |</a:t>
            </a:r>
          </a:p>
        </p:txBody>
      </p:sp>
    </p:spTree>
    <p:extLst>
      <p:ext uri="{BB962C8B-B14F-4D97-AF65-F5344CB8AC3E}">
        <p14:creationId xmlns:p14="http://schemas.microsoft.com/office/powerpoint/2010/main" val="2980067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1" r:id="rId2"/>
    <p:sldLayoutId id="2147483663" r:id="rId3"/>
    <p:sldLayoutId id="2147483664" r:id="rId4"/>
    <p:sldLayoutId id="2147483665" r:id="rId5"/>
    <p:sldLayoutId id="2147483682" r:id="rId6"/>
    <p:sldLayoutId id="2147483679" r:id="rId7"/>
    <p:sldLayoutId id="2147483686" r:id="rId8"/>
    <p:sldLayoutId id="2147483689" r:id="rId9"/>
    <p:sldLayoutId id="2147483692" r:id="rId10"/>
    <p:sldLayoutId id="2147483693" r:id="rId11"/>
    <p:sldLayoutId id="2147483695" r:id="rId12"/>
    <p:sldLayoutId id="2147483696" r:id="rId13"/>
    <p:sldLayoutId id="2147483697" r:id="rId14"/>
    <p:sldLayoutId id="2147483698" r:id="rId15"/>
    <p:sldLayoutId id="2147483699" r:id="rId16"/>
    <p:sldLayoutId id="2147483700" r:id="rId17"/>
    <p:sldLayoutId id="2147483701" r:id="rId18"/>
    <p:sldLayoutId id="2147483702" r:id="rId19"/>
    <p:sldLayoutId id="2147483703" r:id="rId20"/>
    <p:sldLayoutId id="2147483704" r:id="rId21"/>
    <p:sldLayoutId id="2147483705" r:id="rId22"/>
    <p:sldLayoutId id="2147483706" r:id="rId23"/>
    <p:sldLayoutId id="2147483707" r:id="rId24"/>
    <p:sldLayoutId id="2147483708" r:id="rId25"/>
    <p:sldLayoutId id="2147483709" r:id="rId26"/>
    <p:sldLayoutId id="2147483710" r:id="rId27"/>
    <p:sldLayoutId id="2147483711" r:id="rId28"/>
    <p:sldLayoutId id="2147483712" r:id="rId29"/>
    <p:sldLayoutId id="2147483713" r:id="rId30"/>
    <p:sldLayoutId id="2147483714" r:id="rId31"/>
    <p:sldLayoutId id="2147483715" r:id="rId32"/>
    <p:sldLayoutId id="2147483716" r:id="rId33"/>
    <p:sldLayoutId id="2147483717" r:id="rId34"/>
    <p:sldLayoutId id="2147483718" r:id="rId35"/>
    <p:sldLayoutId id="2147483719" r:id="rId36"/>
    <p:sldLayoutId id="2147483720" r:id="rId37"/>
    <p:sldLayoutId id="2147483721" r:id="rId38"/>
    <p:sldLayoutId id="2147483722" r:id="rId39"/>
    <p:sldLayoutId id="2147483723" r:id="rId40"/>
    <p:sldLayoutId id="2147483724" r:id="rId41"/>
    <p:sldLayoutId id="2147483726" r:id="rId42"/>
    <p:sldLayoutId id="2147483727" r:id="rId43"/>
    <p:sldLayoutId id="2147483728" r:id="rId44"/>
    <p:sldLayoutId id="2147483729" r:id="rId45"/>
    <p:sldLayoutId id="2147483730" r:id="rId46"/>
    <p:sldLayoutId id="2147483731" r:id="rId47"/>
    <p:sldLayoutId id="2147483732" r:id="rId48"/>
    <p:sldLayoutId id="2147483733" r:id="rId49"/>
    <p:sldLayoutId id="2147483734" r:id="rId50"/>
    <p:sldLayoutId id="2147483735" r:id="rId51"/>
    <p:sldLayoutId id="2147483736" r:id="rId52"/>
    <p:sldLayoutId id="2147483737" r:id="rId53"/>
    <p:sldLayoutId id="2147483738" r:id="rId54"/>
    <p:sldLayoutId id="2147483739" r:id="rId55"/>
    <p:sldLayoutId id="2147483740" r:id="rId56"/>
    <p:sldLayoutId id="2147483741" r:id="rId57"/>
    <p:sldLayoutId id="2147483742" r:id="rId58"/>
    <p:sldLayoutId id="2147483743" r:id="rId59"/>
    <p:sldLayoutId id="2147483744" r:id="rId60"/>
    <p:sldLayoutId id="2147483745" r:id="rId61"/>
    <p:sldLayoutId id="2147483746" r:id="rId62"/>
    <p:sldLayoutId id="2147483747" r:id="rId63"/>
    <p:sldLayoutId id="2147483748" r:id="rId64"/>
    <p:sldLayoutId id="2147483749" r:id="rId65"/>
    <p:sldLayoutId id="2147483750" r:id="rId66"/>
    <p:sldLayoutId id="2147483751" r:id="rId67"/>
    <p:sldLayoutId id="2147483752" r:id="rId68"/>
    <p:sldLayoutId id="2147483753" r:id="rId69"/>
    <p:sldLayoutId id="2147483754" r:id="rId70"/>
    <p:sldLayoutId id="2147483755" r:id="rId71"/>
    <p:sldLayoutId id="2147483756" r:id="rId72"/>
    <p:sldLayoutId id="2147483757" r:id="rId73"/>
    <p:sldLayoutId id="2147483758" r:id="rId74"/>
    <p:sldLayoutId id="2147483759" r:id="rId75"/>
    <p:sldLayoutId id="2147483760" r:id="rId76"/>
    <p:sldLayoutId id="2147483761" r:id="rId77"/>
    <p:sldLayoutId id="2147483762" r:id="rId78"/>
    <p:sldLayoutId id="2147483763" r:id="rId79"/>
    <p:sldLayoutId id="2147483764" r:id="rId80"/>
    <p:sldLayoutId id="2147483766" r:id="rId81"/>
    <p:sldLayoutId id="2147483767" r:id="rId82"/>
    <p:sldLayoutId id="2147483768" r:id="rId83"/>
    <p:sldLayoutId id="2147483775" r:id="rId84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866" b="1" kern="1200">
          <a:solidFill>
            <a:srgbClr val="3D3935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rgbClr val="F2120C"/>
        </a:buClr>
        <a:buFont typeface="Arial" panose="020B0604020202020204" pitchFamily="34" charset="0"/>
        <a:buChar char="•"/>
        <a:defRPr sz="2533" kern="1200">
          <a:solidFill>
            <a:srgbClr val="3D3935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F2120C"/>
        </a:buClr>
        <a:buFont typeface="Arial" panose="020B0604020202020204" pitchFamily="34" charset="0"/>
        <a:buChar char="•"/>
        <a:defRPr sz="2400" kern="1200">
          <a:solidFill>
            <a:srgbClr val="3D3935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F2120C"/>
        </a:buClr>
        <a:buFont typeface="Arial" panose="020B0604020202020204" pitchFamily="34" charset="0"/>
        <a:buChar char="•"/>
        <a:defRPr sz="2000" kern="1200">
          <a:solidFill>
            <a:srgbClr val="3D3935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F2120C"/>
        </a:buClr>
        <a:buFont typeface="Arial" panose="020B0604020202020204" pitchFamily="34" charset="0"/>
        <a:buChar char="•"/>
        <a:defRPr sz="1800" kern="1200">
          <a:solidFill>
            <a:srgbClr val="3D3935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F2120C"/>
        </a:buClr>
        <a:buFont typeface="Arial" panose="020B0604020202020204" pitchFamily="34" charset="0"/>
        <a:buChar char="•"/>
        <a:defRPr sz="1800" kern="1200">
          <a:solidFill>
            <a:srgbClr val="3D3935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hyperlink" Target="linkedin.com/in/farshid-keivanian" TargetMode="External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84.xml"/><Relationship Id="rId4" Type="http://schemas.openxmlformats.org/officeDocument/2006/relationships/hyperlink" Target="github.com/FarshidKeivania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ACF62-ED9D-4C0F-A976-E9C35DDB3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630" y="0"/>
            <a:ext cx="4373370" cy="2130422"/>
          </a:xfrm>
        </p:spPr>
        <p:txBody>
          <a:bodyPr/>
          <a:lstStyle/>
          <a:p>
            <a:r>
              <a:rPr lang="en-US" sz="3400" dirty="0"/>
              <a:t>Data Quality, Database Administration and Security</a:t>
            </a:r>
            <a:endParaRPr lang="en-AU" sz="3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EEDDFE-62E7-4B7A-B286-FF3EA6C173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6288" y="3893642"/>
            <a:ext cx="3867150" cy="447675"/>
          </a:xfrm>
        </p:spPr>
        <p:txBody>
          <a:bodyPr/>
          <a:lstStyle/>
          <a:p>
            <a:r>
              <a:rPr lang="en-AU" sz="2000" b="1" dirty="0"/>
              <a:t>Week 11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DAEE5F-D393-479E-8BB0-2D5C057945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Dr. Farshid Keivanian</a:t>
            </a:r>
          </a:p>
        </p:txBody>
      </p:sp>
    </p:spTree>
    <p:extLst>
      <p:ext uri="{BB962C8B-B14F-4D97-AF65-F5344CB8AC3E}">
        <p14:creationId xmlns:p14="http://schemas.microsoft.com/office/powerpoint/2010/main" val="581688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70660180-C222-1C0E-972D-3D88A9D4F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45A6B1-8B80-DB67-9023-1B2F212A75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3A225C-DA99-BC7A-E7E6-1795A09120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7FEF29E-E553-F396-FF4A-DC7E74AA1C0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493987"/>
          </a:xfrm>
        </p:spPr>
        <p:txBody>
          <a:bodyPr>
            <a:noAutofit/>
          </a:bodyPr>
          <a:lstStyle/>
          <a:p>
            <a:r>
              <a:rPr lang="en-US" sz="3200" dirty="0"/>
              <a:t>Week 11: Outline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ED2261-8415-F09D-030E-8807BD50DF84}"/>
              </a:ext>
            </a:extLst>
          </p:cNvPr>
          <p:cNvSpPr txBox="1"/>
          <p:nvPr/>
        </p:nvSpPr>
        <p:spPr>
          <a:xfrm>
            <a:off x="0" y="900657"/>
            <a:ext cx="9144000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lvl="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Data Quality: The “Good Ingredients” of Analysis</a:t>
            </a:r>
          </a:p>
          <a:p>
            <a:pPr marL="514350" lvl="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Dirty Data Types – How to Spot &amp; Fix</a:t>
            </a:r>
          </a:p>
          <a:p>
            <a:pPr marL="514350" lvl="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Step 1 – Tutor Presentation of Lecture Slides (20 minutes)</a:t>
            </a:r>
          </a:p>
          <a:p>
            <a:pPr marL="514350" lvl="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Step 2 – Story 1: The Forecasting Failure at </a:t>
            </a:r>
            <a:r>
              <a:rPr lang="en-US" sz="2800" dirty="0" err="1">
                <a:latin typeface="Calibir"/>
              </a:rPr>
              <a:t>BrightHome</a:t>
            </a:r>
            <a:r>
              <a:rPr lang="en-US" sz="2800" dirty="0">
                <a:latin typeface="Calibir"/>
              </a:rPr>
              <a:t> Appliances (20 minutes)</a:t>
            </a:r>
          </a:p>
          <a:p>
            <a:pPr marL="514350" lvl="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Step 3 – Story 2: The System Crash at </a:t>
            </a:r>
            <a:r>
              <a:rPr lang="en-US" sz="2800" dirty="0" err="1">
                <a:latin typeface="Calibir"/>
              </a:rPr>
              <a:t>MediSys</a:t>
            </a:r>
            <a:r>
              <a:rPr lang="en-US" sz="2800" dirty="0">
                <a:latin typeface="Calibir"/>
              </a:rPr>
              <a:t> Health (20 minutes)</a:t>
            </a:r>
          </a:p>
          <a:p>
            <a:pPr marL="514350" lvl="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Part B – Independent Work on Assessment 3 (60 minutes)</a:t>
            </a:r>
          </a:p>
        </p:txBody>
      </p:sp>
    </p:spTree>
    <p:extLst>
      <p:ext uri="{BB962C8B-B14F-4D97-AF65-F5344CB8AC3E}">
        <p14:creationId xmlns:p14="http://schemas.microsoft.com/office/powerpoint/2010/main" val="1874798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31CA32C4-3A90-B3BC-ECFF-A9884C0F0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670B4B-0FB7-D1AC-14F1-A7A1151E99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5F2364-B592-0252-ACD8-BF5D521034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D4C312C-0715-64DB-7869-9ABC8AC91D1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967564"/>
          </a:xfrm>
        </p:spPr>
        <p:txBody>
          <a:bodyPr>
            <a:noAutofit/>
          </a:bodyPr>
          <a:lstStyle/>
          <a:p>
            <a:r>
              <a:rPr lang="en-US" sz="3200" dirty="0"/>
              <a:t>Data Quality: The “Good Ingredients” of Analysis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E716B9-66EF-A698-1F73-F42B9E995153}"/>
              </a:ext>
            </a:extLst>
          </p:cNvPr>
          <p:cNvSpPr txBox="1"/>
          <p:nvPr/>
        </p:nvSpPr>
        <p:spPr>
          <a:xfrm>
            <a:off x="0" y="900657"/>
            <a:ext cx="9144000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Main idea: </a:t>
            </a:r>
            <a:r>
              <a:rPr lang="en-US" sz="2800" dirty="0">
                <a:latin typeface="Calibir"/>
              </a:rPr>
              <a:t>If your data is messy, your results will be wrong — just like a bad meal made from spoiled ingredients.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6 Key Qualities (Dimensions):</a:t>
            </a:r>
            <a:endParaRPr lang="en-US" sz="2800" dirty="0">
              <a:latin typeface="Calibir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Accuracy:</a:t>
            </a:r>
            <a:r>
              <a:rPr lang="en-US" sz="2800" dirty="0">
                <a:latin typeface="Calibir"/>
              </a:rPr>
              <a:t> Correct and truthful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Completeness:</a:t>
            </a:r>
            <a:r>
              <a:rPr lang="en-US" sz="2800" dirty="0">
                <a:latin typeface="Calibir"/>
              </a:rPr>
              <a:t> No missing parts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Consistency:</a:t>
            </a:r>
            <a:r>
              <a:rPr lang="en-US" sz="2800" dirty="0">
                <a:latin typeface="Calibir"/>
              </a:rPr>
              <a:t> Same info everywhere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Timeliness:</a:t>
            </a:r>
            <a:r>
              <a:rPr lang="en-US" sz="2800" dirty="0">
                <a:latin typeface="Calibir"/>
              </a:rPr>
              <a:t> Up to date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Validity:</a:t>
            </a:r>
            <a:r>
              <a:rPr lang="en-US" sz="2800" dirty="0">
                <a:latin typeface="Calibir"/>
              </a:rPr>
              <a:t> Right format or value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Uniqueness:</a:t>
            </a:r>
            <a:r>
              <a:rPr lang="en-US" sz="2800" dirty="0">
                <a:latin typeface="Calibir"/>
              </a:rPr>
              <a:t> No duplicates</a:t>
            </a:r>
          </a:p>
        </p:txBody>
      </p:sp>
    </p:spTree>
    <p:extLst>
      <p:ext uri="{BB962C8B-B14F-4D97-AF65-F5344CB8AC3E}">
        <p14:creationId xmlns:p14="http://schemas.microsoft.com/office/powerpoint/2010/main" val="3957137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3719382A-BA8C-1F73-BDD6-5C7A6BD7C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65B344-B42C-970F-214C-6F3E994758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1EB3C5-9E9B-4D2B-85DF-393FD4368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D8170DA-217E-9985-AE54-4036734F5A1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657923"/>
          </a:xfrm>
        </p:spPr>
        <p:txBody>
          <a:bodyPr>
            <a:noAutofit/>
          </a:bodyPr>
          <a:lstStyle/>
          <a:p>
            <a:r>
              <a:rPr lang="en-US" sz="3200" dirty="0"/>
              <a:t>Dirty Data Types – How to Spot &amp; Fix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83C281-BE1D-0761-B88F-3AFF782ED35B}"/>
              </a:ext>
            </a:extLst>
          </p:cNvPr>
          <p:cNvSpPr txBox="1"/>
          <p:nvPr/>
        </p:nvSpPr>
        <p:spPr>
          <a:xfrm>
            <a:off x="0" y="1154082"/>
            <a:ext cx="9144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Common Problems:</a:t>
            </a:r>
            <a:endParaRPr lang="en-US" sz="2800" dirty="0">
              <a:latin typeface="Calibir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Missing dates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Product codes written differently (BH1001 vs B-H1001)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Mixed units (cm vs inches)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Wrong data formats (text instead of number)</a:t>
            </a:r>
          </a:p>
        </p:txBody>
      </p:sp>
    </p:spTree>
    <p:extLst>
      <p:ext uri="{BB962C8B-B14F-4D97-AF65-F5344CB8AC3E}">
        <p14:creationId xmlns:p14="http://schemas.microsoft.com/office/powerpoint/2010/main" val="3983709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F598617E-53FB-F21C-CD00-F53673981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2B90A3-59FF-BE11-BFEC-DFDBFDE0D4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895AF7-A299-BC40-4AE7-54E36AF7C6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0799C71-EF34-8C5C-E259-6E58EC4876B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657923"/>
          </a:xfrm>
        </p:spPr>
        <p:txBody>
          <a:bodyPr>
            <a:noAutofit/>
          </a:bodyPr>
          <a:lstStyle/>
          <a:p>
            <a:r>
              <a:rPr lang="en-US" sz="3200" dirty="0"/>
              <a:t>Dirty Data Types – How to Spot &amp; Fix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901A6A-3108-0AD0-33B1-58402EB8FB4D}"/>
              </a:ext>
            </a:extLst>
          </p:cNvPr>
          <p:cNvSpPr txBox="1"/>
          <p:nvPr/>
        </p:nvSpPr>
        <p:spPr>
          <a:xfrm>
            <a:off x="0" y="1154082"/>
            <a:ext cx="9144000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Fix Tools (Your Cleaning Kit):</a:t>
            </a:r>
            <a:endParaRPr lang="en-US" sz="2800" dirty="0">
              <a:latin typeface="Calibir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Calibir"/>
              </a:rPr>
              <a:t>Standardise</a:t>
            </a:r>
            <a:r>
              <a:rPr lang="en-US" sz="2800" dirty="0">
                <a:latin typeface="Calibir"/>
              </a:rPr>
              <a:t> codes (make them look the same)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Use lookup lists to control entries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Add default values where needed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Turn on Referential Integrity to keep tables linked correctly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Remove duplicates (de-dup)</a:t>
            </a:r>
          </a:p>
        </p:txBody>
      </p:sp>
    </p:spTree>
    <p:extLst>
      <p:ext uri="{BB962C8B-B14F-4D97-AF65-F5344CB8AC3E}">
        <p14:creationId xmlns:p14="http://schemas.microsoft.com/office/powerpoint/2010/main" val="2900970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B36F0A9E-E0AE-B29F-5867-2944FB48C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490FB3-8CA5-193C-8E53-1D822E4A3D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E0F252-2784-BC62-01B0-B180C4740E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1F41B48-D339-2112-576E-A90DF2AA1A6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657923"/>
          </a:xfrm>
        </p:spPr>
        <p:txBody>
          <a:bodyPr>
            <a:noAutofit/>
          </a:bodyPr>
          <a:lstStyle/>
          <a:p>
            <a:r>
              <a:rPr lang="en-US" sz="3200" dirty="0"/>
              <a:t>Dirty Data Types – How to Spot &amp; Fix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A728D2-DB47-E1F9-29C1-222F7EA33860}"/>
              </a:ext>
            </a:extLst>
          </p:cNvPr>
          <p:cNvSpPr txBox="1"/>
          <p:nvPr/>
        </p:nvSpPr>
        <p:spPr>
          <a:xfrm>
            <a:off x="0" y="779933"/>
            <a:ext cx="9144000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Security: CIA triad (Confidentiality–Integrity–Availability)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Confidentiality: Only the right people see data (e.g., role-based access).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Integrity: Data is correct &amp; unchanged (constraints, checks, hashing).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Availability: Systems are up when needed (backups, failover).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Analogy: House security—locks (Confidentiality), tamper seals (Integrity), spare keys/power (Availability).</a:t>
            </a:r>
          </a:p>
        </p:txBody>
      </p:sp>
    </p:spTree>
    <p:extLst>
      <p:ext uri="{BB962C8B-B14F-4D97-AF65-F5344CB8AC3E}">
        <p14:creationId xmlns:p14="http://schemas.microsoft.com/office/powerpoint/2010/main" val="238699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BE7D8528-2A65-7402-29AD-40F95966C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073670-DA1F-DA43-9FBD-EF67B9FAB8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003C36-07D4-6A76-726B-F5E1BB5A40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7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D34D5FD-30B7-81CA-602C-41A2C8CF3D5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959006"/>
          </a:xfrm>
        </p:spPr>
        <p:txBody>
          <a:bodyPr>
            <a:noAutofit/>
          </a:bodyPr>
          <a:lstStyle/>
          <a:p>
            <a:r>
              <a:rPr lang="en-US" sz="3200" dirty="0"/>
              <a:t>Step 1 – Tutor Presentation of Lecture Slides (20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7DB3DB-AED6-C86B-A42B-E577B51915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993" b="16882"/>
          <a:stretch>
            <a:fillRect/>
          </a:stretch>
        </p:blipFill>
        <p:spPr>
          <a:xfrm>
            <a:off x="0" y="1514581"/>
            <a:ext cx="9144000" cy="3864079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82E9F2F-720A-1A36-6E63-B8C0A9A34E35}"/>
              </a:ext>
            </a:extLst>
          </p:cNvPr>
          <p:cNvSpPr/>
          <p:nvPr/>
        </p:nvSpPr>
        <p:spPr>
          <a:xfrm>
            <a:off x="1650380" y="3757961"/>
            <a:ext cx="5664820" cy="1583473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914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9B82A36C-A0FF-3B6D-9043-DDBEC86C3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A8E93C-C1C2-615B-D619-FE0863FF57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14C313-1328-FCC8-38C9-9AA8187272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8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E306F2D1-491B-BCA6-D2F2-F46F75ADD60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903250"/>
          </a:xfrm>
        </p:spPr>
        <p:txBody>
          <a:bodyPr>
            <a:noAutofit/>
          </a:bodyPr>
          <a:lstStyle/>
          <a:p>
            <a:r>
              <a:rPr lang="en-US" sz="3200" dirty="0"/>
              <a:t>Step 1 – Tutor Presentation of Lecture Slides (20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45534F-B361-C92C-3367-22DC9C677B1A}"/>
              </a:ext>
            </a:extLst>
          </p:cNvPr>
          <p:cNvSpPr txBox="1"/>
          <p:nvPr/>
        </p:nvSpPr>
        <p:spPr>
          <a:xfrm>
            <a:off x="0" y="873350"/>
            <a:ext cx="9144000" cy="5013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700" i="1" dirty="0">
                <a:latin typeface="Calibir"/>
              </a:rPr>
              <a:t>Purpose:</a:t>
            </a:r>
            <a:r>
              <a:rPr lang="en-US" sz="2700" dirty="0">
                <a:latin typeface="Calibir"/>
              </a:rPr>
              <a:t> good data = good decisions.</a:t>
            </a:r>
            <a:br>
              <a:rPr lang="en-US" sz="2700" dirty="0">
                <a:latin typeface="Calibir"/>
              </a:rPr>
            </a:br>
            <a:r>
              <a:rPr lang="en-US" sz="2700" b="1" dirty="0">
                <a:latin typeface="Calibir"/>
              </a:rPr>
              <a:t>Data quality dimensions:</a:t>
            </a:r>
            <a:endParaRPr lang="en-US" sz="2700" dirty="0">
              <a:latin typeface="Calibir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i="1" dirty="0">
                <a:latin typeface="Calibir"/>
              </a:rPr>
              <a:t>Accuracy</a:t>
            </a:r>
            <a:r>
              <a:rPr lang="en-US" sz="2700" dirty="0">
                <a:latin typeface="Calibir"/>
              </a:rPr>
              <a:t> → data must be correct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i="1" dirty="0">
                <a:latin typeface="Calibir"/>
              </a:rPr>
              <a:t>Completeness</a:t>
            </a:r>
            <a:r>
              <a:rPr lang="en-US" sz="2700" dirty="0">
                <a:latin typeface="Calibir"/>
              </a:rPr>
              <a:t> → no missing parts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i="1" dirty="0">
                <a:latin typeface="Calibir"/>
              </a:rPr>
              <a:t>Consistency</a:t>
            </a:r>
            <a:r>
              <a:rPr lang="en-US" sz="2700" dirty="0">
                <a:latin typeface="Calibir"/>
              </a:rPr>
              <a:t> → same info across systems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i="1" dirty="0">
                <a:latin typeface="Calibir"/>
              </a:rPr>
              <a:t>Timeliness</a:t>
            </a:r>
            <a:r>
              <a:rPr lang="en-US" sz="2700" dirty="0">
                <a:latin typeface="Calibir"/>
              </a:rPr>
              <a:t> → data updated on time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i="1" dirty="0">
                <a:latin typeface="Calibir"/>
              </a:rPr>
              <a:t>Validity</a:t>
            </a:r>
            <a:r>
              <a:rPr lang="en-US" sz="2700" dirty="0">
                <a:latin typeface="Calibir"/>
              </a:rPr>
              <a:t> → correct format or type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i="1" dirty="0">
                <a:latin typeface="Calibir"/>
              </a:rPr>
              <a:t>Uniqueness</a:t>
            </a:r>
            <a:r>
              <a:rPr lang="en-US" sz="2700" dirty="0">
                <a:latin typeface="Calibir"/>
              </a:rPr>
              <a:t> → no duplicates</a:t>
            </a:r>
          </a:p>
        </p:txBody>
      </p:sp>
    </p:spTree>
    <p:extLst>
      <p:ext uri="{BB962C8B-B14F-4D97-AF65-F5344CB8AC3E}">
        <p14:creationId xmlns:p14="http://schemas.microsoft.com/office/powerpoint/2010/main" val="2066246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33B981E2-C95F-464B-4415-64C12F92B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B59304-42B8-5291-C485-839A97AE45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2D9E8-A322-3E6B-B6F5-548B512D28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9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43E823-A293-65D0-0B3D-CA9B596019C7}"/>
              </a:ext>
            </a:extLst>
          </p:cNvPr>
          <p:cNvSpPr txBox="1"/>
          <p:nvPr/>
        </p:nvSpPr>
        <p:spPr>
          <a:xfrm>
            <a:off x="0" y="903249"/>
            <a:ext cx="9144000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Calibir"/>
              </a:rPr>
              <a:t>CIA Triad:</a:t>
            </a:r>
            <a:endParaRPr lang="en-US" altLang="en-US" sz="2800" dirty="0">
              <a:latin typeface="Calibir"/>
            </a:endParaRP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i="1" dirty="0">
                <a:latin typeface="Calibir"/>
              </a:rPr>
              <a:t>Confidentiality</a:t>
            </a:r>
            <a:r>
              <a:rPr lang="en-US" altLang="en-US" sz="2800" dirty="0">
                <a:latin typeface="Calibir"/>
              </a:rPr>
              <a:t> → protect data access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i="1" dirty="0">
                <a:latin typeface="Calibir"/>
              </a:rPr>
              <a:t>Integrity</a:t>
            </a:r>
            <a:r>
              <a:rPr lang="en-US" altLang="en-US" sz="2800" dirty="0">
                <a:latin typeface="Calibir"/>
              </a:rPr>
              <a:t> → data stays correct and unchanged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i="1" dirty="0">
                <a:latin typeface="Calibir"/>
              </a:rPr>
              <a:t>Availability</a:t>
            </a:r>
            <a:r>
              <a:rPr lang="en-US" altLang="en-US" sz="2800" dirty="0">
                <a:latin typeface="Calibir"/>
              </a:rPr>
              <a:t> → data ready when needed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Calibir"/>
              </a:rPr>
              <a:t>DBA vs DA:</a:t>
            </a:r>
            <a:endParaRPr lang="en-US" altLang="en-US" sz="2800" dirty="0">
              <a:latin typeface="Calibir"/>
            </a:endParaRP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i="1" dirty="0">
                <a:latin typeface="Calibir"/>
              </a:rPr>
              <a:t>Database Administrator (DBA)</a:t>
            </a:r>
            <a:r>
              <a:rPr lang="en-US" altLang="en-US" sz="2800" dirty="0">
                <a:latin typeface="Calibir"/>
              </a:rPr>
              <a:t> → focuses on technical side (security, backups, performance).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i="1" dirty="0">
                <a:latin typeface="Calibir"/>
              </a:rPr>
              <a:t>Data Administrator (DA)</a:t>
            </a:r>
            <a:r>
              <a:rPr lang="en-US" altLang="en-US" sz="2800" dirty="0">
                <a:latin typeface="Calibir"/>
              </a:rPr>
              <a:t> → focuses on data policies (naming rules, data quality, consistency).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F78D6EE-68C0-8D3F-FFA5-222932071323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03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/>
              <a:t>Step 1 – Tutor Presentation of Lecture Slides (20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5621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349AEE2B-3DAD-720A-528D-D99FD2502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2820DA-F31D-2B41-B87C-110E13F0F2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82CC36-8B7D-CEAA-D61D-4F1107AC50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10</a:t>
            </a:fld>
            <a:r>
              <a:rPr lang="en-AU"/>
              <a:t>  |</a:t>
            </a:r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9890EB-9228-7966-2640-7F9B3969D6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170" t="30163" r="17684" b="7832"/>
          <a:stretch>
            <a:fillRect/>
          </a:stretch>
        </p:blipFill>
        <p:spPr>
          <a:xfrm>
            <a:off x="0" y="1882930"/>
            <a:ext cx="9149950" cy="497507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B01C8E1-3B80-2230-335A-8C0F5521679A}"/>
              </a:ext>
            </a:extLst>
          </p:cNvPr>
          <p:cNvSpPr/>
          <p:nvPr/>
        </p:nvSpPr>
        <p:spPr>
          <a:xfrm>
            <a:off x="0" y="1605774"/>
            <a:ext cx="9144000" cy="5252226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216E009-5914-69AF-D7BE-4EB455A101E0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14772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Step 2 – Story 1: The Forecasting Failure at </a:t>
            </a:r>
            <a:r>
              <a:rPr lang="en-US" sz="3200" dirty="0" err="1"/>
              <a:t>BrightHome</a:t>
            </a:r>
            <a:r>
              <a:rPr lang="en-US" sz="3200" dirty="0"/>
              <a:t> Appliances (20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6983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FE93AB73-3D9C-2FF9-0063-EE512F069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8406AA-FFB9-C944-1443-ED58DD13F4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AC3D20-3AA8-5523-D3AC-F7271F566B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11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DEEF08-21E2-187A-75A4-DCA9E3CF99FC}"/>
              </a:ext>
            </a:extLst>
          </p:cNvPr>
          <p:cNvSpPr txBox="1"/>
          <p:nvPr/>
        </p:nvSpPr>
        <p:spPr>
          <a:xfrm>
            <a:off x="0" y="1639230"/>
            <a:ext cx="9144000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Problems (and what type they are):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Product codes written in different ways → Consistency / Validity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Missing supplier contact info → Completeness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Sales and inventory not updated together → Timeliness / Consistency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Missing or wrong dates → Validity / Accuracy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B0F17C4-9605-110F-5C42-84B37BE954EF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14772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Step 2 – Story 1: The Forecasting Failure at </a:t>
            </a:r>
            <a:r>
              <a:rPr lang="en-US" sz="3200" dirty="0" err="1"/>
              <a:t>BrightHome</a:t>
            </a:r>
            <a:r>
              <a:rPr lang="en-US" sz="3200" dirty="0"/>
              <a:t> Appliances (20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0273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7E629D78-3D6A-5C0A-7997-94A2311CD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CDF76A-02DD-70BE-91F2-B6B9A24F68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B5DC27-0B3E-2F7D-56AB-AC06DE5955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12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A9DFCF-94F4-4EBA-0DF6-8481E0BB6B4D}"/>
              </a:ext>
            </a:extLst>
          </p:cNvPr>
          <p:cNvSpPr txBox="1"/>
          <p:nvPr/>
        </p:nvSpPr>
        <p:spPr>
          <a:xfrm>
            <a:off x="0" y="1800413"/>
            <a:ext cx="9144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How It Hurt Decisions:</a:t>
            </a:r>
            <a:endParaRPr lang="en-US" sz="2800" dirty="0">
              <a:latin typeface="Calibir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Reports showed wrong “trending” products → marketing pushed the wrong blender.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Buyers ordered too many blenders and ran out of air fryers.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6EF3CAD9-E5C4-4205-3C70-AD32B61D2F0E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14772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Step 2 – Story 1: The Forecasting Failure at </a:t>
            </a:r>
            <a:r>
              <a:rPr lang="en-US" sz="3200" dirty="0" err="1"/>
              <a:t>BrightHome</a:t>
            </a:r>
            <a:r>
              <a:rPr lang="en-US" sz="3200" dirty="0"/>
              <a:t> Appliances (20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29215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6A4D74FD-CA68-E817-7C38-AC34F699D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F93685-72D3-32AD-B43C-BBE4350695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264C36-7862-94B2-E6A0-95FAB38808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13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F72B06-89F9-8108-CC64-2120150AA667}"/>
              </a:ext>
            </a:extLst>
          </p:cNvPr>
          <p:cNvSpPr txBox="1"/>
          <p:nvPr/>
        </p:nvSpPr>
        <p:spPr>
          <a:xfrm>
            <a:off x="0" y="1477248"/>
            <a:ext cx="9144000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How to Fix It (3 Key Strategies):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Use one master rule for product codes – one standard code for each item.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Sync systems regularly – align update times and add date/time stamps.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Add validation rules – make supplier info required, fix date format, assign someone to check data quality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5B9E5368-2E7B-BCC0-40ED-8D20CECCB3F7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14772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Step 2 – Story 1: The Forecasting Failure at </a:t>
            </a:r>
            <a:r>
              <a:rPr lang="en-US" sz="3200" dirty="0" err="1"/>
              <a:t>BrightHome</a:t>
            </a:r>
            <a:r>
              <a:rPr lang="en-US" sz="3200" dirty="0"/>
              <a:t> Appliances (20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553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BF15FD6B-5D20-ABC3-AC27-CAA8261BD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8476A9-371A-47B1-2096-F99985E5CF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64A8AA-F329-A7ED-1031-682E01A003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14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236AA8-2930-9794-F819-8765B1A5398B}"/>
              </a:ext>
            </a:extLst>
          </p:cNvPr>
          <p:cNvSpPr txBox="1"/>
          <p:nvPr/>
        </p:nvSpPr>
        <p:spPr>
          <a:xfrm>
            <a:off x="0" y="1477248"/>
            <a:ext cx="91440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Group Presentation Tip (5–7 min):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Make one slide per section (Problems → Impact → Fixes).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Keep it short, clear, and use real examples.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CCBD61B4-CED2-9C17-3331-08E8C2BC8D5C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14772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Step 2 – Story 1: The Forecasting Failure at </a:t>
            </a:r>
            <a:r>
              <a:rPr lang="en-US" sz="3200" dirty="0" err="1"/>
              <a:t>BrightHome</a:t>
            </a:r>
            <a:r>
              <a:rPr lang="en-US" sz="3200" dirty="0"/>
              <a:t> Appliances (20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71030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484BD0E6-5DB9-2603-942E-21475480B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4FADE7-B301-B85B-CC44-A6B91632F4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60B5A-1B54-2F16-8DEA-1894AC20A6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15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F737281-3CC8-13AF-9B23-6CA276438688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14772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Step 2 – Story 1: The Forecasting Failure at </a:t>
            </a:r>
            <a:r>
              <a:rPr lang="en-US" sz="3200" dirty="0" err="1"/>
              <a:t>BrightHome</a:t>
            </a:r>
            <a:r>
              <a:rPr lang="en-US" sz="3200" dirty="0"/>
              <a:t> Appliances (20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0D5578-79A2-EEBB-CD1F-91DE7EF270C4}"/>
              </a:ext>
            </a:extLst>
          </p:cNvPr>
          <p:cNvSpPr txBox="1"/>
          <p:nvPr/>
        </p:nvSpPr>
        <p:spPr>
          <a:xfrm>
            <a:off x="0" y="1477248"/>
            <a:ext cx="9144000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Group Presentation Tip (5–7 min):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Remind groups to: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Be concise (pick top 3–4 problems and fixes).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Explain </a:t>
            </a:r>
            <a:r>
              <a:rPr lang="en-US" sz="2800" i="1" dirty="0">
                <a:latin typeface="Calibir"/>
              </a:rPr>
              <a:t>how</a:t>
            </a:r>
            <a:r>
              <a:rPr lang="en-US" sz="2800" dirty="0">
                <a:latin typeface="Calibir"/>
              </a:rPr>
              <a:t> each fix improves decisions.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Optional: use examples or short visuals from Access or Excel to show understanding.</a:t>
            </a:r>
          </a:p>
        </p:txBody>
      </p:sp>
    </p:spTree>
    <p:extLst>
      <p:ext uri="{BB962C8B-B14F-4D97-AF65-F5344CB8AC3E}">
        <p14:creationId xmlns:p14="http://schemas.microsoft.com/office/powerpoint/2010/main" val="33095281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7A4E1BEA-F846-0A2E-9E46-B20810F5F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B7913A-8FA2-859A-F856-1FFA23D367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B5169-4996-2E8C-EDE4-E09CDC5743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16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412C85-D15C-38AA-F726-2A0C0FE65F14}"/>
              </a:ext>
            </a:extLst>
          </p:cNvPr>
          <p:cNvSpPr txBox="1"/>
          <p:nvPr/>
        </p:nvSpPr>
        <p:spPr>
          <a:xfrm>
            <a:off x="0" y="1800413"/>
            <a:ext cx="9144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Clarification:</a:t>
            </a:r>
            <a:endParaRPr lang="en-US" sz="2800" dirty="0">
              <a:latin typeface="Calibir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The business didn’t fail because of bad decisions alone — they failed because those decisions were based on </a:t>
            </a:r>
            <a:r>
              <a:rPr lang="en-US" sz="2800" i="1" dirty="0">
                <a:latin typeface="Calibir"/>
              </a:rPr>
              <a:t>wrong or incomplete data</a:t>
            </a:r>
            <a:r>
              <a:rPr lang="en-US" sz="2800" dirty="0">
                <a:latin typeface="Calibir"/>
              </a:rPr>
              <a:t>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Calibir"/>
              </a:rPr>
              <a:t>Emphasise</a:t>
            </a:r>
            <a:r>
              <a:rPr lang="en-US" sz="2800" dirty="0">
                <a:latin typeface="Calibir"/>
              </a:rPr>
              <a:t>: “Garbage in → Garbage out.”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CD6F2C5-94F2-4ADD-E8B6-CB38805FDC39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14772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Step 2 – Story 1: The Forecasting Failure at </a:t>
            </a:r>
            <a:r>
              <a:rPr lang="en-US" sz="3200" dirty="0" err="1"/>
              <a:t>BrightHome</a:t>
            </a:r>
            <a:r>
              <a:rPr lang="en-US" sz="3200" dirty="0"/>
              <a:t> Appliances (20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91474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310258DD-FA00-7623-4B9F-BC587D85F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A772DE-C188-F9EA-C04E-3A78B73A4D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D8C569-13E9-CE54-3292-2B83262A40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17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EE36F2-C29D-3EA6-E5C4-DB9CA8CF05B9}"/>
              </a:ext>
            </a:extLst>
          </p:cNvPr>
          <p:cNvSpPr txBox="1"/>
          <p:nvPr/>
        </p:nvSpPr>
        <p:spPr>
          <a:xfrm>
            <a:off x="0" y="355915"/>
            <a:ext cx="9144000" cy="6146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50" b="1" dirty="0">
                <a:latin typeface="Calibir"/>
              </a:rPr>
              <a:t>Improvement Strategies (Brainstorm Guide)</a:t>
            </a:r>
          </a:p>
          <a:p>
            <a:pPr>
              <a:lnSpc>
                <a:spcPct val="150000"/>
              </a:lnSpc>
            </a:pPr>
            <a:r>
              <a:rPr lang="en-US" sz="2650" dirty="0">
                <a:latin typeface="Calibir"/>
              </a:rPr>
              <a:t>Think about </a:t>
            </a:r>
            <a:r>
              <a:rPr lang="en-US" sz="2650" i="1" dirty="0">
                <a:latin typeface="Calibir"/>
              </a:rPr>
              <a:t>how to fix or prevent</a:t>
            </a:r>
            <a:r>
              <a:rPr lang="en-US" sz="2650" dirty="0">
                <a:latin typeface="Calibir"/>
              </a:rPr>
              <a:t> such problems: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50" dirty="0" err="1">
                <a:latin typeface="Calibir"/>
              </a:rPr>
              <a:t>Standardise</a:t>
            </a:r>
            <a:r>
              <a:rPr lang="en-US" sz="2650" dirty="0">
                <a:latin typeface="Calibir"/>
              </a:rPr>
              <a:t> product codes using lookup lists or validation rules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50" dirty="0">
                <a:latin typeface="Calibir"/>
              </a:rPr>
              <a:t>Use scheduled synchronization between systems (real-time or daily updates)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50" dirty="0">
                <a:latin typeface="Calibir"/>
              </a:rPr>
              <a:t>Make important fields required (no blank supplier contact)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50" dirty="0">
                <a:latin typeface="Calibir"/>
              </a:rPr>
              <a:t>Add input masks or validation for correct formats (dates, codes)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50" dirty="0">
                <a:latin typeface="Calibir"/>
              </a:rPr>
              <a:t>Regularly run duplicate checks or data audits</a:t>
            </a:r>
          </a:p>
        </p:txBody>
      </p:sp>
    </p:spTree>
    <p:extLst>
      <p:ext uri="{BB962C8B-B14F-4D97-AF65-F5344CB8AC3E}">
        <p14:creationId xmlns:p14="http://schemas.microsoft.com/office/powerpoint/2010/main" val="18344043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9A89D736-6C4C-DE07-0B96-232B3FDE6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ACAF36-0150-9C5B-A1B2-BEB9E402EB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0D21E-241D-D0A4-49D8-672B7439D1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18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D6FD9FD-6765-9B6E-D4AB-CE618A54A5D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968059"/>
          </a:xfrm>
        </p:spPr>
        <p:txBody>
          <a:bodyPr>
            <a:noAutofit/>
          </a:bodyPr>
          <a:lstStyle/>
          <a:p>
            <a:r>
              <a:rPr lang="en-US" sz="3200" dirty="0"/>
              <a:t>Step 3 – Story 2: The System Crash at </a:t>
            </a:r>
            <a:r>
              <a:rPr lang="en-US" sz="3200" dirty="0" err="1"/>
              <a:t>MediSys</a:t>
            </a:r>
            <a:r>
              <a:rPr lang="en-US" sz="3200" dirty="0"/>
              <a:t> Health (20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980F40-2A67-27C7-889B-D4DC6F8E6D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536" t="18889" r="17561" b="7398"/>
          <a:stretch>
            <a:fillRect/>
          </a:stretch>
        </p:blipFill>
        <p:spPr>
          <a:xfrm>
            <a:off x="301083" y="1091169"/>
            <a:ext cx="8541834" cy="5542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8881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D2CB6208-0E22-8475-464F-AE1E8D543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5464FD-074D-6EFE-E635-C48ECCB995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95EC90-0083-E06E-D5B8-5C9DD2F887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19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72D2494-02D7-C587-1FCB-3A49E81AD4A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968059"/>
          </a:xfrm>
        </p:spPr>
        <p:txBody>
          <a:bodyPr>
            <a:noAutofit/>
          </a:bodyPr>
          <a:lstStyle/>
          <a:p>
            <a:r>
              <a:rPr lang="en-US" sz="3200" dirty="0"/>
              <a:t>Step 3 – Story 2: The System Crash at </a:t>
            </a:r>
            <a:r>
              <a:rPr lang="en-US" sz="3200" dirty="0" err="1"/>
              <a:t>MediSys</a:t>
            </a:r>
            <a:r>
              <a:rPr lang="en-US" sz="3200" dirty="0"/>
              <a:t> Health (20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C1D324-3D98-0D33-BAC9-0A5F98AFAC25}"/>
              </a:ext>
            </a:extLst>
          </p:cNvPr>
          <p:cNvSpPr txBox="1"/>
          <p:nvPr/>
        </p:nvSpPr>
        <p:spPr>
          <a:xfrm>
            <a:off x="0" y="1773044"/>
            <a:ext cx="8987882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Background Summary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 err="1">
                <a:latin typeface="Calibir"/>
              </a:rPr>
              <a:t>MediSys</a:t>
            </a:r>
            <a:r>
              <a:rPr lang="en-US" sz="2800" dirty="0">
                <a:latin typeface="Calibir"/>
              </a:rPr>
              <a:t> Health’s system crash wasn’t just a technical failure — it was also a governance failure.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The problem wasn’t only the missed backup, but that no one was responsible for checking it.</a:t>
            </a:r>
          </a:p>
        </p:txBody>
      </p:sp>
    </p:spTree>
    <p:extLst>
      <p:ext uri="{BB962C8B-B14F-4D97-AF65-F5344CB8AC3E}">
        <p14:creationId xmlns:p14="http://schemas.microsoft.com/office/powerpoint/2010/main" val="38412387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3F38611E-879E-4D73-0E1D-24983E649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0176F9-A4FB-5EE8-E0DE-00ACC45FCE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A56783-942A-495F-FDC9-E7946B967C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20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AD6968-DD15-8B7E-789C-3A1CB3E082FB}"/>
              </a:ext>
            </a:extLst>
          </p:cNvPr>
          <p:cNvSpPr txBox="1"/>
          <p:nvPr/>
        </p:nvSpPr>
        <p:spPr>
          <a:xfrm>
            <a:off x="0" y="291115"/>
            <a:ext cx="8987882" cy="648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Key Concepts to Review Before Discussion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DBA (Database Administrator):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Manages the technical side — backups, performance, access control, security setup.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Makes sure the database runs smoothly and data is available.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DA (Data Administrator):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Focuses on policies, data standards, and governance.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Ensures there are rules, documentation, and accountability for data handling.</a:t>
            </a:r>
          </a:p>
        </p:txBody>
      </p:sp>
    </p:spTree>
    <p:extLst>
      <p:ext uri="{BB962C8B-B14F-4D97-AF65-F5344CB8AC3E}">
        <p14:creationId xmlns:p14="http://schemas.microsoft.com/office/powerpoint/2010/main" val="41847012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AA68CA5C-4366-BBFF-A61B-FB969B586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2C3C79-0953-1B76-E07E-B7677EEBDF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3DC833-DB2E-A7C0-5F33-E09B318F87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21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DEE9C7-7E1F-648A-4709-791EA5EF4D00}"/>
              </a:ext>
            </a:extLst>
          </p:cNvPr>
          <p:cNvSpPr txBox="1"/>
          <p:nvPr/>
        </p:nvSpPr>
        <p:spPr>
          <a:xfrm>
            <a:off x="0" y="1060549"/>
            <a:ext cx="8987882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Discussion (</a:t>
            </a:r>
            <a:r>
              <a:rPr lang="en-US" sz="2800" b="1" dirty="0">
                <a:highlight>
                  <a:srgbClr val="FFFF00"/>
                </a:highlight>
                <a:latin typeface="Calibir"/>
              </a:rPr>
              <a:t>1-2 min</a:t>
            </a:r>
            <a:r>
              <a:rPr lang="en-US" sz="2800" b="1" dirty="0">
                <a:latin typeface="Calibir"/>
              </a:rPr>
              <a:t>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What went wrong technically? (Backup, firewall, permissions)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What went wrong in management or process? (No checks, shared logins, no clear roles)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How could good CIA principles (Confidentiality, Integrity, Availability) have helped?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DBF82EC8-6752-4B8E-58D6-2F85E6C286CD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Step 3 – Story 2: The System Crash at </a:t>
            </a:r>
            <a:r>
              <a:rPr lang="en-US" sz="3200" dirty="0" err="1"/>
              <a:t>MediSys</a:t>
            </a:r>
            <a:r>
              <a:rPr lang="en-US" sz="3200" dirty="0"/>
              <a:t> Health (20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8868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3B869313-D8D3-5E7F-CBCC-8773AEA79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DBAAC0-66F0-AE1B-8F89-C62FB869B5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ED82A9-748D-7B19-6FC2-9504272A96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22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912E39-B0FB-2948-73B5-5320D980EED4}"/>
              </a:ext>
            </a:extLst>
          </p:cNvPr>
          <p:cNvSpPr txBox="1"/>
          <p:nvPr/>
        </p:nvSpPr>
        <p:spPr>
          <a:xfrm>
            <a:off x="78059" y="2446744"/>
            <a:ext cx="8987882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Separate technical errors (permissions, firewalls) from governance errors (no process, no accountability).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Think about both people and system problems.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587B9F6-9AA8-B52E-3272-C5A804F8AE96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/>
              <a:t>Step 3 – Story 2: The System Crash at MediSys Health (20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35572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72507B1C-DDCE-F03A-BDCA-7143CEB82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679788-6A49-C042-14E7-CEF30A38F8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D54664-8D25-7CF7-9F8D-5FFDC9343D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23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C02C59-DDDE-6F5A-C53F-B6DDAF34C78B}"/>
              </a:ext>
            </a:extLst>
          </p:cNvPr>
          <p:cNvSpPr txBox="1"/>
          <p:nvPr/>
        </p:nvSpPr>
        <p:spPr>
          <a:xfrm>
            <a:off x="0" y="1126049"/>
            <a:ext cx="8987882" cy="5226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Calibir"/>
              </a:rPr>
              <a:t>Brainstorm – 3 Security Improvements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500" b="1" dirty="0">
                <a:latin typeface="Calibir"/>
              </a:rPr>
              <a:t>Automated backup monitoring</a:t>
            </a:r>
            <a:r>
              <a:rPr lang="en-US" sz="2500" dirty="0">
                <a:latin typeface="Calibir"/>
              </a:rPr>
              <a:t> → ensures backups happen and alert if they fail.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500" b="1" dirty="0">
                <a:latin typeface="Calibir"/>
              </a:rPr>
              <a:t>Unique logins / role-based access</a:t>
            </a:r>
            <a:r>
              <a:rPr lang="en-US" sz="2500" dirty="0">
                <a:latin typeface="Calibir"/>
              </a:rPr>
              <a:t> → every user has their own permissions.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500" b="1" dirty="0">
                <a:latin typeface="Calibir"/>
              </a:rPr>
              <a:t>Firewall tightening &amp; regular audits</a:t>
            </a:r>
            <a:r>
              <a:rPr lang="en-US" sz="2500" dirty="0">
                <a:latin typeface="Calibir"/>
              </a:rPr>
              <a:t> → only allow trusted connections.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500" b="1" dirty="0">
                <a:latin typeface="Calibir"/>
              </a:rPr>
              <a:t>Clear DBA/DA boundaries</a:t>
            </a:r>
            <a:r>
              <a:rPr lang="en-US" sz="2500" dirty="0">
                <a:latin typeface="Calibir"/>
              </a:rPr>
              <a:t> → DBA handles systems; DA enforces policies.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D305187C-391F-9B97-C9B3-FB21CC34BA82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/>
              <a:t>Step 3 – Story 2: The System Crash at MediSys Health (20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84752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849D3BFD-85AB-9815-6353-E4F47AE28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D19AC5-AEB4-AC9E-2E27-655104C8BA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F48BD2-143B-389B-9351-A8ED408772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24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96F778-C920-900E-67E9-20BC141AEC9B}"/>
              </a:ext>
            </a:extLst>
          </p:cNvPr>
          <p:cNvSpPr txBox="1"/>
          <p:nvPr/>
        </p:nvSpPr>
        <p:spPr>
          <a:xfrm>
            <a:off x="0" y="1126049"/>
            <a:ext cx="8987882" cy="5226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Calibir"/>
              </a:rPr>
              <a:t>Brainstorm – 3 Security Improvements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500" b="1" dirty="0">
                <a:latin typeface="Calibir"/>
              </a:rPr>
              <a:t>Automated backup monitoring</a:t>
            </a:r>
            <a:r>
              <a:rPr lang="en-US" sz="2500" dirty="0">
                <a:latin typeface="Calibir"/>
              </a:rPr>
              <a:t> → ensures backups happen and alert if they fail.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500" b="1" dirty="0">
                <a:latin typeface="Calibir"/>
              </a:rPr>
              <a:t>Unique logins / role-based access</a:t>
            </a:r>
            <a:r>
              <a:rPr lang="en-US" sz="2500" dirty="0">
                <a:latin typeface="Calibir"/>
              </a:rPr>
              <a:t> → every user has their own permissions.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500" b="1" dirty="0">
                <a:latin typeface="Calibir"/>
              </a:rPr>
              <a:t>Firewall tightening &amp; regular audits</a:t>
            </a:r>
            <a:r>
              <a:rPr lang="en-US" sz="2500" dirty="0">
                <a:latin typeface="Calibir"/>
              </a:rPr>
              <a:t> → only allow trusted connections.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500" b="1" dirty="0">
                <a:latin typeface="Calibir"/>
              </a:rPr>
              <a:t>Clear DBA/DA boundaries</a:t>
            </a:r>
            <a:r>
              <a:rPr lang="en-US" sz="2500" dirty="0">
                <a:latin typeface="Calibir"/>
              </a:rPr>
              <a:t> → DBA handles systems; DA enforces policies.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50C322C2-11E8-7775-9882-AF5164779D51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/>
              <a:t>Step 3 – Story 2: The System Crash at MediSys Health (20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2498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E19CD990-42AB-2705-DA13-8E1D89284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631C8-BAFF-E20F-F342-97D9B0E04B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B14625-9341-4FB7-259D-6F85348D32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25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209CF4-6D23-BFF9-46D3-BE7B90356D26}"/>
              </a:ext>
            </a:extLst>
          </p:cNvPr>
          <p:cNvSpPr txBox="1"/>
          <p:nvPr/>
        </p:nvSpPr>
        <p:spPr>
          <a:xfrm>
            <a:off x="0" y="1126049"/>
            <a:ext cx="8987882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Q1 – Roles and Responsibilities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Question:  “What’s the main job of a DBA and how is it different from a DA?” (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1-2 min</a:t>
            </a:r>
            <a:r>
              <a:rPr lang="en-US" sz="2800" dirty="0">
                <a:latin typeface="Calibir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Sample Answer: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DBA: Handles technical work — backups, security, performance, and system access.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DA: Sets the rules — data standards, documentation, and who is responsible for checks.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70B854A-BD84-E380-C9E8-566E7DB4F36C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/>
              <a:t>Step 3 – Story 2: The System Crash at MediSys Health (20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2619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9497729D-8950-38C4-256B-45A8566B2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3F1DC2-B913-DB2F-FE76-B7B65AC29C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DBB457-CEBF-D5E7-7859-D36C1B554E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26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B0B594-CA16-65BD-5B3B-3AF25B5E15DD}"/>
              </a:ext>
            </a:extLst>
          </p:cNvPr>
          <p:cNvSpPr txBox="1"/>
          <p:nvPr/>
        </p:nvSpPr>
        <p:spPr>
          <a:xfrm>
            <a:off x="0" y="914195"/>
            <a:ext cx="8987882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Q2 – What Went Wrong? (</a:t>
            </a:r>
            <a:r>
              <a:rPr lang="en-US" sz="2800" b="1" dirty="0">
                <a:highlight>
                  <a:srgbClr val="FFFF00"/>
                </a:highlight>
                <a:latin typeface="Calibir"/>
              </a:rPr>
              <a:t>1-2 min</a:t>
            </a:r>
            <a:r>
              <a:rPr lang="en-US" sz="2800" b="1" dirty="0">
                <a:latin typeface="Calibir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Question: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“Which governance or management issues made the system crash worse?”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Sample Answer:</a:t>
            </a:r>
            <a:endParaRPr lang="en-US" sz="2800" dirty="0">
              <a:latin typeface="Calibir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No one checked if backups worked.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Shared logins → no accountability.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Weak firewall and everyone had full access.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No clear process or role separation.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9FE5518E-85D7-F9C7-A2EC-5AB4CEAB27F3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/>
              <a:t>Step 3 – Story 2: The System Crash at MediSys Health (20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3726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2086EA4E-C25C-2BFE-0E8E-151ED6759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CC6096-0F67-5516-0A2C-E098A2577D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C44D02-92C1-28F1-287B-CDD40F44DF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27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E08749-F569-05B4-91CE-4949944D249F}"/>
              </a:ext>
            </a:extLst>
          </p:cNvPr>
          <p:cNvSpPr txBox="1"/>
          <p:nvPr/>
        </p:nvSpPr>
        <p:spPr>
          <a:xfrm>
            <a:off x="0" y="914195"/>
            <a:ext cx="8987882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Q3 – Why Did It Hurt the Business?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Question: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“How did these problems affect </a:t>
            </a:r>
            <a:r>
              <a:rPr lang="en-US" sz="2800" dirty="0" err="1">
                <a:latin typeface="Calibir"/>
              </a:rPr>
              <a:t>MediSys</a:t>
            </a:r>
            <a:r>
              <a:rPr lang="en-US" sz="2800" dirty="0">
                <a:latin typeface="Calibir"/>
              </a:rPr>
              <a:t> and its clients?”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Sample Answer:</a:t>
            </a:r>
            <a:endParaRPr lang="en-US" sz="2800" dirty="0">
              <a:latin typeface="Calibir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System down for 36 hours → hospitals lost access to patient data.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Clients lost trust and paused data sharing.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Damaged company reputation and reliability.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A0458529-1EDB-9E7F-E343-9C2863001859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/>
              <a:t>Step 3 – Story 2: The System Crash at MediSys Health (20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3363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B2999830-C684-30BC-F53E-52296C249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B3BA3C-5D8A-E0F4-DD16-8B54EA5D01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5B2703-AB5E-82CE-0460-6CFA435237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28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414482-B39D-11B1-237B-5B33172146E3}"/>
              </a:ext>
            </a:extLst>
          </p:cNvPr>
          <p:cNvSpPr txBox="1"/>
          <p:nvPr/>
        </p:nvSpPr>
        <p:spPr>
          <a:xfrm>
            <a:off x="0" y="914195"/>
            <a:ext cx="8987882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Q4 – How to Prevent It?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Question: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“What three actions could </a:t>
            </a:r>
            <a:r>
              <a:rPr lang="en-US" sz="2800" dirty="0" err="1">
                <a:latin typeface="Calibir"/>
              </a:rPr>
              <a:t>MediSys</a:t>
            </a:r>
            <a:r>
              <a:rPr lang="en-US" sz="2800" dirty="0">
                <a:latin typeface="Calibir"/>
              </a:rPr>
              <a:t> take to stop this happening again?”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Sample Answer: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Set up automatic backup monitoring with alerts.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Give each user a unique login and role-based access.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Tighten firewall rules and keep written security checks.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3DB4ADE8-130A-02A7-D318-74A17B13753F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/>
              <a:t>Step 3 – Story 2: The System Crash at MediSys Health (20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2924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5CBF1E0E-B154-4693-F1D0-F54894413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726383-66F2-AA1C-0849-77CF256C21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423D15-82DA-F6C9-B63A-3174EAD51D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29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FCE5D3-5952-05F5-5909-806A4441D8AA}"/>
              </a:ext>
            </a:extLst>
          </p:cNvPr>
          <p:cNvSpPr txBox="1"/>
          <p:nvPr/>
        </p:nvSpPr>
        <p:spPr>
          <a:xfrm>
            <a:off x="78059" y="2123578"/>
            <a:ext cx="8987882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So we’ve learned that database security isn’t just about technology — it’s about clear roles, strong policies, and constant checks. Both the DBA and DA must work together to protect the system.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E80598F-9EB2-FAF5-133D-D8A27BA72B0D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/>
              <a:t>Step 3 – Story 2: The System Crash at MediSys Health (20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35322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17FF48CE-FAA0-E000-9FB1-448247079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EF6DD8-01C1-09CA-71A2-1EFB08F89F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C3FB63-AC4F-71B8-B3B2-ECC091C6DE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30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D8E4392F-39DB-5E3A-CF34-47766EC8AA75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5BF8F2-522D-4D92-976F-C445EE5D84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482" b="17805"/>
          <a:stretch>
            <a:fillRect/>
          </a:stretch>
        </p:blipFill>
        <p:spPr>
          <a:xfrm>
            <a:off x="0" y="1533292"/>
            <a:ext cx="9144000" cy="3791416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2192C7E-3E73-7685-64D3-AFBE5FE21B6A}"/>
              </a:ext>
            </a:extLst>
          </p:cNvPr>
          <p:cNvSpPr/>
          <p:nvPr/>
        </p:nvSpPr>
        <p:spPr>
          <a:xfrm>
            <a:off x="1605776" y="3769112"/>
            <a:ext cx="5575609" cy="1561171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1394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6AF3CF1D-3787-BB1E-A65D-94C8B3E8C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C92000-97A2-752D-92A3-ABC4C21D64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D4A4BD-8612-1735-759D-194F7D8557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31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A3BD306-54E6-C788-8A46-62C9AAAE1197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338B27-341C-D32F-79BF-478443751A17}"/>
              </a:ext>
            </a:extLst>
          </p:cNvPr>
          <p:cNvSpPr txBox="1"/>
          <p:nvPr/>
        </p:nvSpPr>
        <p:spPr>
          <a:xfrm>
            <a:off x="0" y="1661652"/>
            <a:ext cx="8987882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ITEC200 – Assessment Task 3 (AT3)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Database + Recorded Presentation (35 %)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Due Date:</a:t>
            </a:r>
            <a:r>
              <a:rPr lang="en-US" sz="2800" dirty="0">
                <a:latin typeface="Calibir"/>
              </a:rPr>
              <a:t> 5 pm Sunday 10 Nov 2025</a:t>
            </a:r>
            <a:br>
              <a:rPr lang="en-US" sz="2800" dirty="0">
                <a:latin typeface="Calibir"/>
              </a:rPr>
            </a:br>
            <a:r>
              <a:rPr lang="en-US" sz="2800" b="1" dirty="0">
                <a:latin typeface="Calibir"/>
              </a:rPr>
              <a:t>Weighting:</a:t>
            </a:r>
            <a:r>
              <a:rPr lang="en-US" sz="2800" dirty="0">
                <a:latin typeface="Calibir"/>
              </a:rPr>
              <a:t> 35 %  </a:t>
            </a:r>
            <a:r>
              <a:rPr lang="en-US" sz="2800" b="1" dirty="0">
                <a:latin typeface="Calibir"/>
              </a:rPr>
              <a:t>Learning Outcomes:</a:t>
            </a:r>
            <a:r>
              <a:rPr lang="en-US" sz="2800" dirty="0">
                <a:latin typeface="Calibir"/>
              </a:rPr>
              <a:t> LO2 &amp; LO4</a:t>
            </a:r>
            <a:br>
              <a:rPr lang="en-US" sz="2800" dirty="0">
                <a:latin typeface="Calibir"/>
              </a:rPr>
            </a:br>
            <a:r>
              <a:rPr lang="en-US" sz="2800" b="1" dirty="0">
                <a:latin typeface="Calibir"/>
              </a:rPr>
              <a:t>Submission:</a:t>
            </a:r>
            <a:r>
              <a:rPr lang="en-US" sz="2800" dirty="0">
                <a:latin typeface="Calibir"/>
              </a:rPr>
              <a:t> via Canvas (upload two files)</a:t>
            </a:r>
          </a:p>
        </p:txBody>
      </p:sp>
    </p:spTree>
    <p:extLst>
      <p:ext uri="{BB962C8B-B14F-4D97-AF65-F5344CB8AC3E}">
        <p14:creationId xmlns:p14="http://schemas.microsoft.com/office/powerpoint/2010/main" val="3698771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C3D316EB-90E2-55C0-3332-8612C58A3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F6A6D3-F397-8772-5DCE-300AD88CF9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CF4EA3-CD7A-7B31-4288-2634F81E36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32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46BB0892-6AB8-E928-5246-25CEBF6CD3E6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549C35-343B-4C8A-E9E0-84257674D324}"/>
              </a:ext>
            </a:extLst>
          </p:cNvPr>
          <p:cNvSpPr txBox="1"/>
          <p:nvPr/>
        </p:nvSpPr>
        <p:spPr>
          <a:xfrm>
            <a:off x="0" y="1661652"/>
            <a:ext cx="8987882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Part A – Database Queries (15 marks)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Purpose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To test your ability to create and run SQL queries in Microsoft Access using real data from the </a:t>
            </a:r>
            <a:r>
              <a:rPr lang="en-US" sz="2800" dirty="0" err="1">
                <a:latin typeface="Calibir"/>
              </a:rPr>
              <a:t>OzCo</a:t>
            </a:r>
            <a:r>
              <a:rPr lang="en-US" sz="2800" dirty="0">
                <a:latin typeface="Calibir"/>
              </a:rPr>
              <a:t> database, which stores information about customers, products, vendors, employees, and sales.</a:t>
            </a:r>
          </a:p>
        </p:txBody>
      </p:sp>
    </p:spTree>
    <p:extLst>
      <p:ext uri="{BB962C8B-B14F-4D97-AF65-F5344CB8AC3E}">
        <p14:creationId xmlns:p14="http://schemas.microsoft.com/office/powerpoint/2010/main" val="13891738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FAC56F08-C590-457A-9A7B-2ACE5A5D1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093543-DE3A-D895-5DD3-05DFD0AFA7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F5816C-E563-A4F0-F264-ADAE852012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33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3FB2CD1-D4F0-AA4D-E6FE-8EE08AB48273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30C4D4-5179-6F2E-7D30-50BAAE369446}"/>
              </a:ext>
            </a:extLst>
          </p:cNvPr>
          <p:cNvSpPr txBox="1"/>
          <p:nvPr/>
        </p:nvSpPr>
        <p:spPr>
          <a:xfrm>
            <a:off x="0" y="914195"/>
            <a:ext cx="8987882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Step-by-Step Instructions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Prepare the Database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Download the file OzCo-1-1.mdb.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C6D6AD-08FD-169D-7053-2CD5786839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t="8566" r="61506" b="39821"/>
          <a:stretch>
            <a:fillRect/>
          </a:stretch>
        </p:blipFill>
        <p:spPr>
          <a:xfrm>
            <a:off x="5624052" y="1003757"/>
            <a:ext cx="3519948" cy="2654710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E15F1B3-3EE2-971F-4F56-C79BD38628B0}"/>
              </a:ext>
            </a:extLst>
          </p:cNvPr>
          <p:cNvCxnSpPr/>
          <p:nvPr/>
        </p:nvCxnSpPr>
        <p:spPr>
          <a:xfrm>
            <a:off x="7482349" y="3028340"/>
            <a:ext cx="914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39037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F2D45AFF-CC9E-1909-DFD5-975EF5734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860273-EC7B-3313-B075-8B29194873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68BAD5-45C3-8D0D-27CE-059F70EC76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34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68DD3C12-A67E-2BA1-A877-0E2483150F88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B4EAC3-04AC-78C4-001F-FE8423B10CAC}"/>
              </a:ext>
            </a:extLst>
          </p:cNvPr>
          <p:cNvSpPr txBox="1"/>
          <p:nvPr/>
        </p:nvSpPr>
        <p:spPr>
          <a:xfrm>
            <a:off x="0" y="914195"/>
            <a:ext cx="8987882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Move your OzCo-1-1.mdb file from Downloads to a trusted local folder, e.g.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E:\ITEC200\Assessment 3</a:t>
            </a:r>
          </a:p>
        </p:txBody>
      </p:sp>
    </p:spTree>
    <p:extLst>
      <p:ext uri="{BB962C8B-B14F-4D97-AF65-F5344CB8AC3E}">
        <p14:creationId xmlns:p14="http://schemas.microsoft.com/office/powerpoint/2010/main" val="10997606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C3C9B939-9832-ABDC-AB4E-7AE80D544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1AE619-E7CE-1AC2-8B5B-BF4F8AD3E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51BBE0-9E01-4034-9102-73010439E6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35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DD0CFF06-971E-87EB-8B30-2B0B1CD5464E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673F4D-F658-C722-7B67-E619D943D4BC}"/>
              </a:ext>
            </a:extLst>
          </p:cNvPr>
          <p:cNvSpPr txBox="1"/>
          <p:nvPr/>
        </p:nvSpPr>
        <p:spPr>
          <a:xfrm>
            <a:off x="0" y="914195"/>
            <a:ext cx="8987882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Run Microsoft Access as Administrator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D3FF96-C829-1BB7-1855-DA3B009C83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581" t="7037" r="25699" b="42689"/>
          <a:stretch>
            <a:fillRect/>
          </a:stretch>
        </p:blipFill>
        <p:spPr>
          <a:xfrm>
            <a:off x="1702499" y="2233838"/>
            <a:ext cx="6636774" cy="3628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6448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FD6D1E16-BC58-D0DA-CE4B-70496D219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02FF99-FE34-6568-F275-84907EB7A0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D63407-24AA-6CB7-A8E6-4E11FEB142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36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97250EE6-4CF0-509A-E5C4-D8ACC8D9C1DF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D08F9C-C01F-E99F-402E-6AFAB3DD57B1}"/>
              </a:ext>
            </a:extLst>
          </p:cNvPr>
          <p:cNvSpPr txBox="1"/>
          <p:nvPr/>
        </p:nvSpPr>
        <p:spPr>
          <a:xfrm>
            <a:off x="0" y="914195"/>
            <a:ext cx="8987882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In Access → File → Options → Trust Center → Trust Center 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Settings.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F581274-5068-D9D2-6B89-C38180A273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151" t="6655" r="22365" b="12676"/>
          <a:stretch>
            <a:fillRect/>
          </a:stretch>
        </p:blipFill>
        <p:spPr>
          <a:xfrm>
            <a:off x="4640826" y="3209476"/>
            <a:ext cx="4503174" cy="3682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8933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A91C3720-26DF-D26C-4759-EF14F920B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AF4EE9-3158-39E9-7D5A-15E91475B2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CB8C9-BF2F-2C57-F98A-85E506B3E1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37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DB8FF6B-2F01-4136-60FB-DAFD658D4B5E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FD78B0-1DB7-643D-F6F4-23171D01FB19}"/>
              </a:ext>
            </a:extLst>
          </p:cNvPr>
          <p:cNvSpPr txBox="1"/>
          <p:nvPr/>
        </p:nvSpPr>
        <p:spPr>
          <a:xfrm>
            <a:off x="0" y="914195"/>
            <a:ext cx="8987882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Go to Trusted Locations → Add new location.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Add the folder where you saved OzCo-2.mdb (</a:t>
            </a:r>
            <a:r>
              <a:rPr lang="en-US" sz="2800" dirty="0" err="1">
                <a:latin typeface="Calibir"/>
              </a:rPr>
              <a:t>e.g</a:t>
            </a:r>
            <a:r>
              <a:rPr lang="en-US" sz="2800" dirty="0">
                <a:latin typeface="Calibir"/>
              </a:rPr>
              <a:t> E:\ITEC200\Assessment 3)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5F01F5-F5F9-CC68-2FC3-420C06D43F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903" t="7419" r="21721" b="11542"/>
          <a:stretch>
            <a:fillRect/>
          </a:stretch>
        </p:blipFill>
        <p:spPr>
          <a:xfrm>
            <a:off x="4109545" y="2678810"/>
            <a:ext cx="5076939" cy="4179190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EE3A8CF-AA4B-E083-2BB5-BA59B51BB86A}"/>
              </a:ext>
            </a:extLst>
          </p:cNvPr>
          <p:cNvSpPr/>
          <p:nvPr/>
        </p:nvSpPr>
        <p:spPr>
          <a:xfrm>
            <a:off x="7499385" y="6076661"/>
            <a:ext cx="740725" cy="261077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5486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A43B5059-B245-7F2B-BF73-EA5A7A567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764238-2651-AF0B-E834-1595FBD33A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1D4FE6-BEA4-51B6-AF3C-84CE5A38B1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38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36959C22-7180-73E8-445F-7AD2FD9DF7E8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973783-2E9D-7F7E-D067-A2ECFF4AA52E}"/>
              </a:ext>
            </a:extLst>
          </p:cNvPr>
          <p:cNvSpPr txBox="1"/>
          <p:nvPr/>
        </p:nvSpPr>
        <p:spPr>
          <a:xfrm>
            <a:off x="0" y="2110677"/>
            <a:ext cx="8987882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Tick “Subfolders of this location 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are also trusted.” Click OK → OK 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→ OK. This ensures any future 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Access databases in that folder 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open without warnings.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39DB609-2B83-E1D0-414F-7E5347B776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978" t="30332" r="34942" b="32273"/>
          <a:stretch>
            <a:fillRect/>
          </a:stretch>
        </p:blipFill>
        <p:spPr>
          <a:xfrm>
            <a:off x="4861501" y="2270233"/>
            <a:ext cx="4282499" cy="3097618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8B468A5-D6E5-24A1-A82F-64381C3F4CBB}"/>
              </a:ext>
            </a:extLst>
          </p:cNvPr>
          <p:cNvSpPr/>
          <p:nvPr/>
        </p:nvSpPr>
        <p:spPr>
          <a:xfrm>
            <a:off x="4887310" y="3794234"/>
            <a:ext cx="2501462" cy="210207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494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6C9089AF-3C6A-0EF6-484C-115C68CAE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97583C-1737-5FBF-2E78-4BE8ED225E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09CC88-DFBE-568F-E482-CEF5563019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39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003425D-2B27-629F-5DD6-F4D7354901BF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46D889-B9AF-F92C-AEF3-B6EE07A910D8}"/>
              </a:ext>
            </a:extLst>
          </p:cNvPr>
          <p:cNvSpPr txBox="1"/>
          <p:nvPr/>
        </p:nvSpPr>
        <p:spPr>
          <a:xfrm>
            <a:off x="78059" y="968058"/>
            <a:ext cx="8004396" cy="669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Now open </a:t>
            </a:r>
            <a:r>
              <a:rPr lang="en-US" sz="2800" dirty="0">
                <a:latin typeface="Calibir"/>
                <a:sym typeface="Wingdings" panose="05000000000000000000" pitchFamily="2" charset="2"/>
              </a:rPr>
              <a:t> browse  Open Exclusive</a:t>
            </a:r>
            <a:endParaRPr lang="en-US" sz="2800" dirty="0">
              <a:latin typeface="Calibir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F13E52C-216D-6437-D29A-564BF9771B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000" b="32886"/>
          <a:stretch>
            <a:fillRect/>
          </a:stretch>
        </p:blipFill>
        <p:spPr>
          <a:xfrm>
            <a:off x="2093755" y="1863743"/>
            <a:ext cx="5854262" cy="4420136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B561199-AA03-C667-A13D-B5D1B881C124}"/>
              </a:ext>
            </a:extLst>
          </p:cNvPr>
          <p:cNvSpPr/>
          <p:nvPr/>
        </p:nvSpPr>
        <p:spPr>
          <a:xfrm>
            <a:off x="6180085" y="5864771"/>
            <a:ext cx="1839310" cy="189186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2982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D3D45079-D304-0C43-7EB5-57C36F0F0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DBDDF0-D1FC-D69E-E6F3-12E1F24968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13A906-5C0D-7322-ED94-0C2F380725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40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002C886-19F7-DA11-AA71-08CB048C218D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FED096-DFA9-DC13-2CBD-F6237411A06D}"/>
              </a:ext>
            </a:extLst>
          </p:cNvPr>
          <p:cNvSpPr txBox="1"/>
          <p:nvPr/>
        </p:nvSpPr>
        <p:spPr>
          <a:xfrm>
            <a:off x="78060" y="968058"/>
            <a:ext cx="4393579" cy="2518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latin typeface="Calibir"/>
              </a:rPr>
              <a:t>Then Open Database Tools → Relationships </a:t>
            </a:r>
            <a:r>
              <a:rPr lang="en-US" sz="2700" dirty="0">
                <a:latin typeface="Calibir"/>
                <a:sym typeface="Wingdings" panose="05000000000000000000" pitchFamily="2" charset="2"/>
              </a:rPr>
              <a:t> Hold Ctrl and Select All Tables  Add Selected Tables </a:t>
            </a:r>
            <a:endParaRPr lang="en-US" sz="2700" dirty="0">
              <a:latin typeface="Calibir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0E404D-A9D5-71BF-618D-C57300C382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0968" b="40777"/>
          <a:stretch>
            <a:fillRect/>
          </a:stretch>
        </p:blipFill>
        <p:spPr>
          <a:xfrm>
            <a:off x="4385187" y="1314305"/>
            <a:ext cx="4680754" cy="1973001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D4522B2-8961-D178-7321-879A005DA51E}"/>
              </a:ext>
            </a:extLst>
          </p:cNvPr>
          <p:cNvSpPr/>
          <p:nvPr/>
        </p:nvSpPr>
        <p:spPr>
          <a:xfrm>
            <a:off x="5296560" y="1612903"/>
            <a:ext cx="383458" cy="353961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896AE83-4529-BDB4-A466-AD238FBA6A8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8812" t="728" b="8886"/>
          <a:stretch>
            <a:fillRect/>
          </a:stretch>
        </p:blipFill>
        <p:spPr>
          <a:xfrm>
            <a:off x="5849561" y="3570694"/>
            <a:ext cx="3309786" cy="3287305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A34D8A2-8A1C-7DF6-02A3-CB759551A0B0}"/>
              </a:ext>
            </a:extLst>
          </p:cNvPr>
          <p:cNvSpPr/>
          <p:nvPr/>
        </p:nvSpPr>
        <p:spPr>
          <a:xfrm>
            <a:off x="8062452" y="4316361"/>
            <a:ext cx="1081548" cy="2541639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A9F5C9DE-3078-5646-2A59-F6D6C7D91278}"/>
              </a:ext>
            </a:extLst>
          </p:cNvPr>
          <p:cNvCxnSpPr>
            <a:endCxn id="11" idx="1"/>
          </p:cNvCxnSpPr>
          <p:nvPr/>
        </p:nvCxnSpPr>
        <p:spPr>
          <a:xfrm rot="16200000" flipH="1">
            <a:off x="4375080" y="3739865"/>
            <a:ext cx="1927041" cy="1021922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81927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B42C36E6-6299-E2E6-4D61-7EAD5D722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EDCCA3-6E2A-9995-E132-B5F336F324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899F0-6FCF-AC23-4903-728D65CE5A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41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F5F2A05-BB6B-3EB3-EBBB-99DD26D62294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514C39C-A6BB-133A-5C7E-D5DA603732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664"/>
          <a:stretch>
            <a:fillRect/>
          </a:stretch>
        </p:blipFill>
        <p:spPr>
          <a:xfrm>
            <a:off x="0" y="1002913"/>
            <a:ext cx="9144000" cy="4852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473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9141958A-ED04-0E72-E671-2964C4BEA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541BA8-61A0-8527-49DF-9E50C2480E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786C7B-181A-CAF3-E94B-70D9169CE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42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64D9718-C3C6-31A2-007E-86340930AE9B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 descr="A diagram of a company&#10;&#10;AI-generated content may be incorrect.">
            <a:extLst>
              <a:ext uri="{FF2B5EF4-FFF2-40B4-BE49-F238E27FC236}">
                <a16:creationId xmlns:a16="http://schemas.microsoft.com/office/drawing/2014/main" id="{64C3EE86-46CE-C641-0B48-F2EDF5951F4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9840" y="1674277"/>
            <a:ext cx="3394160" cy="4272578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FD8DB8E-0747-521F-BC02-D5E8CC0CF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8658283"/>
              </p:ext>
            </p:extLst>
          </p:nvPr>
        </p:nvGraphicFramePr>
        <p:xfrm>
          <a:off x="-1" y="1674277"/>
          <a:ext cx="5724232" cy="475488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431012">
                  <a:extLst>
                    <a:ext uri="{9D8B030D-6E8A-4147-A177-3AD203B41FA5}">
                      <a16:colId xmlns:a16="http://schemas.microsoft.com/office/drawing/2014/main" val="2457192084"/>
                    </a:ext>
                  </a:extLst>
                </a:gridCol>
                <a:gridCol w="1382752">
                  <a:extLst>
                    <a:ext uri="{9D8B030D-6E8A-4147-A177-3AD203B41FA5}">
                      <a16:colId xmlns:a16="http://schemas.microsoft.com/office/drawing/2014/main" val="2211605784"/>
                    </a:ext>
                  </a:extLst>
                </a:gridCol>
                <a:gridCol w="1550019">
                  <a:extLst>
                    <a:ext uri="{9D8B030D-6E8A-4147-A177-3AD203B41FA5}">
                      <a16:colId xmlns:a16="http://schemas.microsoft.com/office/drawing/2014/main" val="600917532"/>
                    </a:ext>
                  </a:extLst>
                </a:gridCol>
                <a:gridCol w="1360449">
                  <a:extLst>
                    <a:ext uri="{9D8B030D-6E8A-4147-A177-3AD203B41FA5}">
                      <a16:colId xmlns:a16="http://schemas.microsoft.com/office/drawing/2014/main" val="17749479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libir"/>
                        </a:rPr>
                        <a:t>Table</a:t>
                      </a:r>
                    </a:p>
                  </a:txBody>
                  <a:tcPr anchor="ctr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libir"/>
                        </a:rPr>
                        <a:t>Field</a:t>
                      </a:r>
                    </a:p>
                  </a:txBody>
                  <a:tcPr anchor="ctr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libir"/>
                        </a:rPr>
                        <a:t>Related Table</a:t>
                      </a:r>
                    </a:p>
                  </a:txBody>
                  <a:tcPr anchor="ctr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libir"/>
                        </a:rPr>
                        <a:t>Related Field</a:t>
                      </a:r>
                    </a:p>
                  </a:txBody>
                  <a:tcPr anchor="ctr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264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LGINVOICE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Cust_Code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LGCUSTOMER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Calibir"/>
                        </a:rPr>
                        <a:t>Cust_Code</a:t>
                      </a:r>
                      <a:endParaRPr lang="en-US" dirty="0">
                        <a:latin typeface="Calibir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59653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libir"/>
                        </a:rPr>
                        <a:t>LGINVOICE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Employee_ID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LGEMPLOYEE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Emp_Num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5160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LGLINE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Inv_Num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LGINVOICE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Inv_Num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2538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LGLINE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Prod_SKU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LGPRODUCT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Prod_SKU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1788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LGPRODUCT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Brand_ID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LGBRAND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Brand_ID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6390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LGSUPPLIES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Vend_ID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LGVENDOR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Vend_ID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77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LGSUPPLIES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Prod_SKU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LGPRODUCT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Prod_SKU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740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LGEMPLOYEE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Dept_Num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LGDEPARTMENT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Dept_Num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9089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LGSALARY_HISTORY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Calibir"/>
                        </a:rPr>
                        <a:t>Emp_Num</a:t>
                      </a:r>
                      <a:endParaRPr lang="en-US" dirty="0"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LGEMPLOYEE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Calibir"/>
                        </a:rPr>
                        <a:t>Emp_Num</a:t>
                      </a:r>
                      <a:endParaRPr lang="en-US" dirty="0">
                        <a:latin typeface="Calibir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272910"/>
                  </a:ext>
                </a:extLst>
              </a:tr>
            </a:tbl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C8007F77-D30B-E8EE-4204-8CF45699E9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1069744"/>
            <a:ext cx="255159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Create manually</a:t>
            </a:r>
          </a:p>
        </p:txBody>
      </p:sp>
    </p:spTree>
    <p:extLst>
      <p:ext uri="{BB962C8B-B14F-4D97-AF65-F5344CB8AC3E}">
        <p14:creationId xmlns:p14="http://schemas.microsoft.com/office/powerpoint/2010/main" val="18366825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665B387E-0266-C110-651D-E0548857B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BC00F3-1C71-8F7F-9B0C-28D4390D8B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3914E3-38F5-5CD3-D01B-ECE4732E9D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43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3688E15B-B25E-8F64-86C6-1F71ABFCDA6D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CD06A9F5-DB4E-B80E-7AC7-A3EFCDBA56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1069744"/>
            <a:ext cx="255159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Create manually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572288-2765-9880-04CF-3126F77F7B09}"/>
              </a:ext>
            </a:extLst>
          </p:cNvPr>
          <p:cNvSpPr txBox="1"/>
          <p:nvPr/>
        </p:nvSpPr>
        <p:spPr>
          <a:xfrm>
            <a:off x="5804210" y="1717288"/>
            <a:ext cx="3339790" cy="4102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LGINVOICE ↔ LGCUSTOMER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Connect customers with their invoices.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From LGINVOICE, drag </a:t>
            </a:r>
            <a:r>
              <a:rPr lang="en-US" sz="2200" dirty="0" err="1">
                <a:latin typeface="Calibir"/>
              </a:rPr>
              <a:t>Cust_Code</a:t>
            </a:r>
            <a:endParaRPr lang="en-US" sz="2200" dirty="0">
              <a:latin typeface="Calibir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Drop it onto </a:t>
            </a:r>
            <a:r>
              <a:rPr lang="en-US" sz="2200" dirty="0" err="1">
                <a:latin typeface="Calibir"/>
              </a:rPr>
              <a:t>Cust_Code</a:t>
            </a:r>
            <a:r>
              <a:rPr lang="en-US" sz="2200" dirty="0">
                <a:latin typeface="Calibir"/>
              </a:rPr>
              <a:t> in LGCUSTOMER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A6E5F90-1B97-0CE9-97DF-922F4B92D0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585" t="20406" r="21707" b="20239"/>
          <a:stretch>
            <a:fillRect/>
          </a:stretch>
        </p:blipFill>
        <p:spPr>
          <a:xfrm>
            <a:off x="0" y="1717288"/>
            <a:ext cx="5804210" cy="3747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241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551528E7-55D7-F81D-7900-EB907C43E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1DFB39-0F81-7584-A51D-5352581E2E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352354-8D70-C67A-1A59-F7D7ED15A1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44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1A3D2D0-688B-CBE0-52E2-78602000E8BD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F874DAE-F0D1-F381-1C25-5A4B524A7AEF}"/>
              </a:ext>
            </a:extLst>
          </p:cNvPr>
          <p:cNvGraphicFramePr>
            <a:graphicFrameLocks noGrp="1"/>
          </p:cNvGraphicFramePr>
          <p:nvPr/>
        </p:nvGraphicFramePr>
        <p:xfrm>
          <a:off x="-1" y="1674277"/>
          <a:ext cx="5724232" cy="475488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431012">
                  <a:extLst>
                    <a:ext uri="{9D8B030D-6E8A-4147-A177-3AD203B41FA5}">
                      <a16:colId xmlns:a16="http://schemas.microsoft.com/office/drawing/2014/main" val="2457192084"/>
                    </a:ext>
                  </a:extLst>
                </a:gridCol>
                <a:gridCol w="1382752">
                  <a:extLst>
                    <a:ext uri="{9D8B030D-6E8A-4147-A177-3AD203B41FA5}">
                      <a16:colId xmlns:a16="http://schemas.microsoft.com/office/drawing/2014/main" val="2211605784"/>
                    </a:ext>
                  </a:extLst>
                </a:gridCol>
                <a:gridCol w="1550019">
                  <a:extLst>
                    <a:ext uri="{9D8B030D-6E8A-4147-A177-3AD203B41FA5}">
                      <a16:colId xmlns:a16="http://schemas.microsoft.com/office/drawing/2014/main" val="600917532"/>
                    </a:ext>
                  </a:extLst>
                </a:gridCol>
                <a:gridCol w="1360449">
                  <a:extLst>
                    <a:ext uri="{9D8B030D-6E8A-4147-A177-3AD203B41FA5}">
                      <a16:colId xmlns:a16="http://schemas.microsoft.com/office/drawing/2014/main" val="17749479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libir"/>
                        </a:rPr>
                        <a:t>Table</a:t>
                      </a:r>
                    </a:p>
                  </a:txBody>
                  <a:tcPr anchor="ctr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libir"/>
                        </a:rPr>
                        <a:t>Field</a:t>
                      </a:r>
                    </a:p>
                  </a:txBody>
                  <a:tcPr anchor="ctr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libir"/>
                        </a:rPr>
                        <a:t>Related Table</a:t>
                      </a:r>
                    </a:p>
                  </a:txBody>
                  <a:tcPr anchor="ctr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libir"/>
                        </a:rPr>
                        <a:t>Related Field</a:t>
                      </a:r>
                    </a:p>
                  </a:txBody>
                  <a:tcPr anchor="ctr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264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libir"/>
                        </a:rPr>
                        <a:t>LGINVOICE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Cust_Code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LGCUSTOMER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Calibir"/>
                        </a:rPr>
                        <a:t>Cust_Code</a:t>
                      </a:r>
                      <a:endParaRPr lang="en-US" dirty="0">
                        <a:latin typeface="Calibir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59653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libir"/>
                        </a:rPr>
                        <a:t>LGINVOICE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Employee_ID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LGEMPLOYEE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Emp_Num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5160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LGLINE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Inv_Num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LGINVOICE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Inv_Num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2538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LGLINE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Prod_SKU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libir"/>
                        </a:rPr>
                        <a:t>LGPRODUCT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Prod_SKU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1788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LGPRODUCT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Brand_ID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LGBRAND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Brand_ID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6390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LGSUPPLIES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Vend_ID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LGVENDOR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Vend_ID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77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LGSUPPLIES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Prod_SKU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LGPRODUCT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Prod_SKU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740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LGEMPLOYEE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Dept_Num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LGDEPARTMENT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Dept_Num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9089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LGSALARY_HISTORY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Calibir"/>
                        </a:rPr>
                        <a:t>Emp_Num</a:t>
                      </a:r>
                      <a:endParaRPr lang="en-US" dirty="0"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LGEMPLOYEE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Calibir"/>
                        </a:rPr>
                        <a:t>Emp_Num</a:t>
                      </a:r>
                      <a:endParaRPr lang="en-US" dirty="0">
                        <a:latin typeface="Calibir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272910"/>
                  </a:ext>
                </a:extLst>
              </a:tr>
            </a:tbl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0C16E68A-7D64-5C6E-BC8E-D249FA57B7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1069744"/>
            <a:ext cx="255159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Create manually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9335B6-754E-791F-7EEE-39966E51A6A2}"/>
              </a:ext>
            </a:extLst>
          </p:cNvPr>
          <p:cNvSpPr txBox="1"/>
          <p:nvPr/>
        </p:nvSpPr>
        <p:spPr>
          <a:xfrm>
            <a:off x="5804210" y="1717288"/>
            <a:ext cx="3339790" cy="3594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Tick: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i="1" dirty="0">
                <a:latin typeface="Calibir"/>
              </a:rPr>
              <a:t>Enforce Referential Integrity</a:t>
            </a:r>
            <a:endParaRPr lang="en-US" sz="2200" dirty="0">
              <a:latin typeface="Calibir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i="1" dirty="0">
                <a:latin typeface="Calibir"/>
              </a:rPr>
              <a:t>Cascade Update Related Fields (optional)</a:t>
            </a:r>
            <a:endParaRPr lang="en-US" sz="2200" dirty="0">
              <a:latin typeface="Calibir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Click Create</a:t>
            </a:r>
          </a:p>
        </p:txBody>
      </p:sp>
    </p:spTree>
    <p:extLst>
      <p:ext uri="{BB962C8B-B14F-4D97-AF65-F5344CB8AC3E}">
        <p14:creationId xmlns:p14="http://schemas.microsoft.com/office/powerpoint/2010/main" val="15106848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811E9292-6D2E-EE8D-DC14-412BC6382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8B70A6-2E89-9D03-4709-F90B510348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D5D52D-5338-587E-647D-490A102A47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45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CFFBF6D-74D9-5A20-C5F2-CB0757B8D936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D2441C-D3C8-FBB6-E688-42EEDAE67D75}"/>
              </a:ext>
            </a:extLst>
          </p:cNvPr>
          <p:cNvSpPr txBox="1"/>
          <p:nvPr/>
        </p:nvSpPr>
        <p:spPr>
          <a:xfrm>
            <a:off x="5804210" y="1228737"/>
            <a:ext cx="3339790" cy="502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When you enforce referential integrity, Access needs one side of the relationship to be a primary key or uniquely indexed field (so it can ensure every invoice belongs to a valid customer).</a:t>
            </a:r>
            <a:endParaRPr lang="en-US" sz="2200" dirty="0">
              <a:latin typeface="Calibir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A0CE94-7011-27FC-E608-08CD3F9F11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561" t="36883" r="38293" b="42954"/>
          <a:stretch>
            <a:fillRect/>
          </a:stretch>
        </p:blipFill>
        <p:spPr>
          <a:xfrm>
            <a:off x="0" y="1416205"/>
            <a:ext cx="5620215" cy="2639800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58009661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DD61A297-59A7-1DFC-FF13-B69A6A582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58010D-959F-4117-BE5F-8E16E32356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FEAC6B-080D-259A-B1FD-B862EBCAFD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46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443D2CD8-9030-B834-73E4-896F9C6503AC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7F7043-C075-601B-AB74-376E48C51593}"/>
              </a:ext>
            </a:extLst>
          </p:cNvPr>
          <p:cNvSpPr txBox="1"/>
          <p:nvPr/>
        </p:nvSpPr>
        <p:spPr>
          <a:xfrm>
            <a:off x="2988527" y="1131151"/>
            <a:ext cx="6155473" cy="2805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Step 1. Open LGCUSTOMER in Design View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Close the Relationships window first (click Close).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In the Navigation Pane (left side), right-click LGCUSTOMER → Design View.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157CE7-AF9C-7871-DB83-A82FB5459C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3659" b="10650"/>
          <a:stretch>
            <a:fillRect/>
          </a:stretch>
        </p:blipFill>
        <p:spPr>
          <a:xfrm>
            <a:off x="0" y="1131151"/>
            <a:ext cx="2988527" cy="5702069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EE6E9EC-DF33-E5D4-24AE-8C62B4276F4E}"/>
              </a:ext>
            </a:extLst>
          </p:cNvPr>
          <p:cNvSpPr/>
          <p:nvPr/>
        </p:nvSpPr>
        <p:spPr>
          <a:xfrm>
            <a:off x="1471961" y="3523785"/>
            <a:ext cx="1293542" cy="246221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03620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0175C47E-4F7B-3860-A064-EFF81745E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01F7DE-8782-6DC6-5872-FC7A565474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0B97D5-88F8-5CCE-835A-6F4F0AC80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47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3D51A5D3-8134-C0DC-F775-CF7142A1E259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D71F0A-6CF9-CACF-3307-BB4BF4D4B73E}"/>
              </a:ext>
            </a:extLst>
          </p:cNvPr>
          <p:cNvSpPr txBox="1"/>
          <p:nvPr/>
        </p:nvSpPr>
        <p:spPr>
          <a:xfrm>
            <a:off x="4371278" y="1031532"/>
            <a:ext cx="4772722" cy="5637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700" b="1" dirty="0">
                <a:latin typeface="Calibir"/>
              </a:rPr>
              <a:t>Step 2. Set the Primary Key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latin typeface="Calibir"/>
              </a:rPr>
              <a:t>In the design view, click on the first row — </a:t>
            </a:r>
            <a:r>
              <a:rPr lang="en-US" sz="2700" dirty="0" err="1">
                <a:latin typeface="Calibir"/>
              </a:rPr>
              <a:t>Cust_Code</a:t>
            </a:r>
            <a:r>
              <a:rPr lang="en-US" sz="2700" dirty="0">
                <a:latin typeface="Calibir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latin typeface="Calibir"/>
              </a:rPr>
              <a:t>On the top ribbon, click the Primary Key icon (under the Design tab).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latin typeface="Calibir"/>
              </a:rPr>
              <a:t>You’ll now see a small key icon next to </a:t>
            </a:r>
            <a:r>
              <a:rPr lang="en-US" sz="2700" dirty="0" err="1">
                <a:latin typeface="Calibir"/>
              </a:rPr>
              <a:t>Cust_Code</a:t>
            </a:r>
            <a:r>
              <a:rPr lang="en-US" sz="2700" dirty="0">
                <a:latin typeface="Calibir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latin typeface="Calibir"/>
              </a:rPr>
              <a:t>Press </a:t>
            </a:r>
            <a:r>
              <a:rPr lang="en-US" sz="2700" dirty="0" err="1">
                <a:latin typeface="Calibir"/>
              </a:rPr>
              <a:t>Ctrl+S</a:t>
            </a:r>
            <a:r>
              <a:rPr lang="en-US" sz="2700" dirty="0">
                <a:latin typeface="Calibir"/>
              </a:rPr>
              <a:t> to save the table.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83E5D2-881C-E875-B95D-D7FC197230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2195" b="38401"/>
          <a:stretch>
            <a:fillRect/>
          </a:stretch>
        </p:blipFill>
        <p:spPr>
          <a:xfrm>
            <a:off x="0" y="1131151"/>
            <a:ext cx="4371278" cy="3168340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3132A6A-3C0D-BE88-F09F-EA29A7CF1CFA}"/>
              </a:ext>
            </a:extLst>
          </p:cNvPr>
          <p:cNvSpPr/>
          <p:nvPr/>
        </p:nvSpPr>
        <p:spPr>
          <a:xfrm>
            <a:off x="409721" y="1616927"/>
            <a:ext cx="448128" cy="524107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44089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2659C915-6AAE-1B97-B511-6E7A6FFAB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CA0D84-8BF5-E532-A976-7AC6C2E8D8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82A69A-9EE7-3BEF-537D-C71F1079C9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48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DA70B0A2-59C2-8B63-0ABB-045D920BF111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97D9E6-7FB7-A92B-9BBB-47D73991BA8E}"/>
              </a:ext>
            </a:extLst>
          </p:cNvPr>
          <p:cNvSpPr txBox="1"/>
          <p:nvPr/>
        </p:nvSpPr>
        <p:spPr>
          <a:xfrm>
            <a:off x="4371278" y="1031532"/>
            <a:ext cx="4772722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Repeat for Other Tables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While you’re here, check the other tables too — each one should have its key field set as follows: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8428C2-9D66-E8AF-08E2-5EE65D6B77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2195" b="38401"/>
          <a:stretch>
            <a:fillRect/>
          </a:stretch>
        </p:blipFill>
        <p:spPr>
          <a:xfrm>
            <a:off x="0" y="1131151"/>
            <a:ext cx="4371278" cy="3168340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12B703-6E8C-7A3B-E04C-910F6F0E0BE8}"/>
              </a:ext>
            </a:extLst>
          </p:cNvPr>
          <p:cNvSpPr/>
          <p:nvPr/>
        </p:nvSpPr>
        <p:spPr>
          <a:xfrm>
            <a:off x="409721" y="1616927"/>
            <a:ext cx="448128" cy="524107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05670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C6DADF62-9F01-F102-70EE-A0AE3BC69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D3290C-26F7-4DA2-1F93-1E4606AA2A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FE8C79-92F6-FD52-C977-68B44E1609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49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1FF5D4C-7B27-5823-D893-7D9941697293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ECBB6A3-FA17-9769-17D6-067D89ECC7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6690974"/>
              </p:ext>
            </p:extLst>
          </p:nvPr>
        </p:nvGraphicFramePr>
        <p:xfrm>
          <a:off x="4654844" y="1131151"/>
          <a:ext cx="4388795" cy="577990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924375">
                  <a:extLst>
                    <a:ext uri="{9D8B030D-6E8A-4147-A177-3AD203B41FA5}">
                      <a16:colId xmlns:a16="http://schemas.microsoft.com/office/drawing/2014/main" val="3029210933"/>
                    </a:ext>
                  </a:extLst>
                </a:gridCol>
                <a:gridCol w="2464420">
                  <a:extLst>
                    <a:ext uri="{9D8B030D-6E8A-4147-A177-3AD203B41FA5}">
                      <a16:colId xmlns:a16="http://schemas.microsoft.com/office/drawing/2014/main" val="1934848403"/>
                    </a:ext>
                  </a:extLst>
                </a:gridCol>
              </a:tblGrid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ir"/>
                        </a:rPr>
                        <a:t>Table</a:t>
                      </a:r>
                    </a:p>
                  </a:txBody>
                  <a:tcPr marL="82101" marR="82101" marT="41050" marB="41050" anchor="ctr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ir"/>
                        </a:rPr>
                        <a:t>Primary Key Field</a:t>
                      </a:r>
                    </a:p>
                  </a:txBody>
                  <a:tcPr marL="82101" marR="82101" marT="41050" marB="41050" anchor="ctr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025564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alibir"/>
                        </a:rPr>
                        <a:t>LGCUSTOMER</a:t>
                      </a:r>
                      <a:endParaRPr lang="en-US" sz="200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alibir"/>
                        </a:rPr>
                        <a:t>Cust_Code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836616182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ir"/>
                        </a:rPr>
                        <a:t>LGBRAND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alibir"/>
                        </a:rPr>
                        <a:t>Brand_ID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001173189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alibir"/>
                        </a:rPr>
                        <a:t>LGDEPARTMENT</a:t>
                      </a:r>
                      <a:endParaRPr lang="en-US" sz="200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alibir"/>
                        </a:rPr>
                        <a:t>Dept_Num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390180376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alibir"/>
                        </a:rPr>
                        <a:t>LGEMPLOYEE</a:t>
                      </a:r>
                      <a:endParaRPr lang="en-US" sz="200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Calibir"/>
                        </a:rPr>
                        <a:t>Emp_Num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854831646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alibir"/>
                        </a:rPr>
                        <a:t>LGINVOICE</a:t>
                      </a:r>
                      <a:endParaRPr lang="en-US" sz="200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alibir"/>
                        </a:rPr>
                        <a:t>Inv_Num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400355638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alibir"/>
                        </a:rPr>
                        <a:t>LGLINE</a:t>
                      </a:r>
                      <a:endParaRPr lang="en-US" sz="200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alibir"/>
                        </a:rPr>
                        <a:t>(Composite Key: Inv_Num + Line_Num)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966695041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alibir"/>
                        </a:rPr>
                        <a:t>LGPRODUCT</a:t>
                      </a:r>
                      <a:endParaRPr lang="en-US" sz="200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alibir"/>
                        </a:rPr>
                        <a:t>Prod_SKU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23929029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alibir"/>
                        </a:rPr>
                        <a:t>LGSALARY_HISTORY</a:t>
                      </a:r>
                      <a:endParaRPr lang="en-US" sz="200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alibir"/>
                        </a:rPr>
                        <a:t>(Composite Key: Emp_Num + Sal_From)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367499309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alibir"/>
                        </a:rPr>
                        <a:t>LGSUPPLIES</a:t>
                      </a:r>
                      <a:endParaRPr lang="en-US" sz="200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alibir"/>
                        </a:rPr>
                        <a:t>(Composite Key: Vend_ID + Prod_SKU)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3062470799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alibir"/>
                        </a:rPr>
                        <a:t>LGVENDOR</a:t>
                      </a:r>
                      <a:endParaRPr lang="en-US" sz="200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Calibir"/>
                        </a:rPr>
                        <a:t>Vend_ID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4140716763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82474295-0D9C-05E1-2BC2-353500D525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9146" b="39485"/>
          <a:stretch>
            <a:fillRect/>
          </a:stretch>
        </p:blipFill>
        <p:spPr>
          <a:xfrm>
            <a:off x="0" y="1131150"/>
            <a:ext cx="4504373" cy="3753083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64E0EB1-1F6A-D03F-F9EF-9DBF84E6233C}"/>
              </a:ext>
            </a:extLst>
          </p:cNvPr>
          <p:cNvSpPr/>
          <p:nvPr/>
        </p:nvSpPr>
        <p:spPr>
          <a:xfrm>
            <a:off x="512956" y="1717290"/>
            <a:ext cx="476958" cy="680223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2560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D4DE2013-50BF-637F-1E0D-834797CDC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25A0BC-5B92-1023-D5F0-2884AA2028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138F9E-2861-78D9-70E6-F31A60053B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50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174C478-6B41-92C7-2C13-F87D726A7059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AC441C4-9360-19A0-5490-8B18AA18D8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5526907"/>
              </p:ext>
            </p:extLst>
          </p:nvPr>
        </p:nvGraphicFramePr>
        <p:xfrm>
          <a:off x="4654844" y="1131151"/>
          <a:ext cx="4388795" cy="577990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924375">
                  <a:extLst>
                    <a:ext uri="{9D8B030D-6E8A-4147-A177-3AD203B41FA5}">
                      <a16:colId xmlns:a16="http://schemas.microsoft.com/office/drawing/2014/main" val="3029210933"/>
                    </a:ext>
                  </a:extLst>
                </a:gridCol>
                <a:gridCol w="2464420">
                  <a:extLst>
                    <a:ext uri="{9D8B030D-6E8A-4147-A177-3AD203B41FA5}">
                      <a16:colId xmlns:a16="http://schemas.microsoft.com/office/drawing/2014/main" val="1934848403"/>
                    </a:ext>
                  </a:extLst>
                </a:gridCol>
              </a:tblGrid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ir"/>
                        </a:rPr>
                        <a:t>Table</a:t>
                      </a:r>
                    </a:p>
                  </a:txBody>
                  <a:tcPr marL="82101" marR="82101" marT="41050" marB="41050" anchor="ctr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ir"/>
                        </a:rPr>
                        <a:t>Primary Key Field</a:t>
                      </a:r>
                    </a:p>
                  </a:txBody>
                  <a:tcPr marL="82101" marR="82101" marT="41050" marB="41050" anchor="ctr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025564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ir"/>
                        </a:rPr>
                        <a:t>LGCUSTOMER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Calibir"/>
                        </a:rPr>
                        <a:t>Cust_Code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836616182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ir"/>
                        </a:rPr>
                        <a:t>LGBRAND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Calibir"/>
                        </a:rPr>
                        <a:t>Brand_ID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001173189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ir"/>
                        </a:rPr>
                        <a:t>LGDEPARTMENT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Calibir"/>
                        </a:rPr>
                        <a:t>Dept_Num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390180376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ir"/>
                        </a:rPr>
                        <a:t>LGEMPLOYEE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Calibir"/>
                        </a:rPr>
                        <a:t>Emp_Num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854831646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ir"/>
                        </a:rPr>
                        <a:t>LGINVOICE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Calibir"/>
                        </a:rPr>
                        <a:t>Inv_Num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400355638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ir"/>
                        </a:rPr>
                        <a:t>LGLINE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ir"/>
                        </a:rPr>
                        <a:t>(Composite Key: </a:t>
                      </a:r>
                      <a:r>
                        <a:rPr lang="en-US" sz="2000" dirty="0" err="1">
                          <a:latin typeface="Calibir"/>
                        </a:rPr>
                        <a:t>Inv_Num</a:t>
                      </a:r>
                      <a:r>
                        <a:rPr lang="en-US" sz="2000" dirty="0">
                          <a:latin typeface="Calibir"/>
                        </a:rPr>
                        <a:t> + </a:t>
                      </a:r>
                      <a:r>
                        <a:rPr lang="en-US" sz="2000" dirty="0" err="1">
                          <a:latin typeface="Calibir"/>
                        </a:rPr>
                        <a:t>Line_Num</a:t>
                      </a:r>
                      <a:r>
                        <a:rPr lang="en-US" sz="2000" dirty="0">
                          <a:latin typeface="Calibir"/>
                        </a:rPr>
                        <a:t>)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966695041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alibir"/>
                        </a:rPr>
                        <a:t>LGPRODUCT</a:t>
                      </a:r>
                      <a:endParaRPr lang="en-US" sz="200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alibir"/>
                        </a:rPr>
                        <a:t>Prod_SKU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23929029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alibir"/>
                        </a:rPr>
                        <a:t>LGSALARY_HISTORY</a:t>
                      </a:r>
                      <a:endParaRPr lang="en-US" sz="200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alibir"/>
                        </a:rPr>
                        <a:t>(Composite Key: Emp_Num + Sal_From)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367499309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alibir"/>
                        </a:rPr>
                        <a:t>LGSUPPLIES</a:t>
                      </a:r>
                      <a:endParaRPr lang="en-US" sz="200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alibir"/>
                        </a:rPr>
                        <a:t>(Composite Key: Vend_ID + Prod_SKU)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3062470799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alibir"/>
                        </a:rPr>
                        <a:t>LGVENDOR</a:t>
                      </a:r>
                      <a:endParaRPr lang="en-US" sz="200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Calibir"/>
                        </a:rPr>
                        <a:t>Vend_ID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4140716763"/>
                  </a:ext>
                </a:extLst>
              </a:tr>
            </a:tbl>
          </a:graphicData>
        </a:graphic>
      </p:graphicFrame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06E4850-E936-9F77-7292-AF300E9044F1}"/>
              </a:ext>
            </a:extLst>
          </p:cNvPr>
          <p:cNvSpPr/>
          <p:nvPr/>
        </p:nvSpPr>
        <p:spPr>
          <a:xfrm>
            <a:off x="512956" y="1717290"/>
            <a:ext cx="476958" cy="680223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FF964E-9A23-9C55-CCAA-20A87C64E0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000" b="38835"/>
          <a:stretch>
            <a:fillRect/>
          </a:stretch>
        </p:blipFill>
        <p:spPr>
          <a:xfrm>
            <a:off x="0" y="1131151"/>
            <a:ext cx="4572000" cy="3146038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C1127CA9-783C-14EB-A3DD-B7F2E3EC4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4264985"/>
            <a:ext cx="4654844" cy="22510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Select INV_NUM, hold down the Ctrl key on the keyboard.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While holding Ctrl, click the row selector for LINE_NUM.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FCF9450-0B30-0FF4-3685-272C1140BAD7}"/>
              </a:ext>
            </a:extLst>
          </p:cNvPr>
          <p:cNvSpPr/>
          <p:nvPr/>
        </p:nvSpPr>
        <p:spPr>
          <a:xfrm>
            <a:off x="4654844" y="3462453"/>
            <a:ext cx="4388795" cy="964580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02616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C482A558-2112-BA07-94CA-D767D8F9C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B6BC2D-8BDD-2CB4-0D28-35FCA4CB83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29D4FD-34FC-26ED-5A04-99A3BEF646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51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B28B781-24AA-DE5A-A800-3674B34A1AF5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3A82EEE-1D03-1FFA-4E4E-4A158D29DF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5913721"/>
              </p:ext>
            </p:extLst>
          </p:nvPr>
        </p:nvGraphicFramePr>
        <p:xfrm>
          <a:off x="4654844" y="1131151"/>
          <a:ext cx="4388795" cy="577990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924375">
                  <a:extLst>
                    <a:ext uri="{9D8B030D-6E8A-4147-A177-3AD203B41FA5}">
                      <a16:colId xmlns:a16="http://schemas.microsoft.com/office/drawing/2014/main" val="3029210933"/>
                    </a:ext>
                  </a:extLst>
                </a:gridCol>
                <a:gridCol w="2464420">
                  <a:extLst>
                    <a:ext uri="{9D8B030D-6E8A-4147-A177-3AD203B41FA5}">
                      <a16:colId xmlns:a16="http://schemas.microsoft.com/office/drawing/2014/main" val="1934848403"/>
                    </a:ext>
                  </a:extLst>
                </a:gridCol>
              </a:tblGrid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ir"/>
                        </a:rPr>
                        <a:t>Table</a:t>
                      </a:r>
                    </a:p>
                  </a:txBody>
                  <a:tcPr marL="82101" marR="82101" marT="41050" marB="41050" anchor="ctr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ir"/>
                        </a:rPr>
                        <a:t>Primary Key Field</a:t>
                      </a:r>
                    </a:p>
                  </a:txBody>
                  <a:tcPr marL="82101" marR="82101" marT="41050" marB="41050" anchor="ctr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025564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ir"/>
                        </a:rPr>
                        <a:t>LGCUSTOMER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Calibir"/>
                        </a:rPr>
                        <a:t>Cust_Code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836616182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ir"/>
                        </a:rPr>
                        <a:t>LGBRAND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Calibir"/>
                        </a:rPr>
                        <a:t>Brand_ID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001173189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ir"/>
                        </a:rPr>
                        <a:t>LGDEPARTMENT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Calibir"/>
                        </a:rPr>
                        <a:t>Dept_Num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390180376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ir"/>
                        </a:rPr>
                        <a:t>LGEMPLOYEE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Calibir"/>
                        </a:rPr>
                        <a:t>Emp_Num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854831646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ir"/>
                        </a:rPr>
                        <a:t>LGINVOICE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Calibir"/>
                        </a:rPr>
                        <a:t>Inv_Num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400355638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ir"/>
                        </a:rPr>
                        <a:t>LGLINE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ir"/>
                        </a:rPr>
                        <a:t>(Composite Key: </a:t>
                      </a:r>
                      <a:r>
                        <a:rPr lang="en-US" sz="2000" dirty="0" err="1">
                          <a:latin typeface="Calibir"/>
                        </a:rPr>
                        <a:t>Inv_Num</a:t>
                      </a:r>
                      <a:r>
                        <a:rPr lang="en-US" sz="2000" dirty="0">
                          <a:latin typeface="Calibir"/>
                        </a:rPr>
                        <a:t> + </a:t>
                      </a:r>
                      <a:r>
                        <a:rPr lang="en-US" sz="2000" dirty="0" err="1">
                          <a:latin typeface="Calibir"/>
                        </a:rPr>
                        <a:t>Line_Num</a:t>
                      </a:r>
                      <a:r>
                        <a:rPr lang="en-US" sz="2000" dirty="0">
                          <a:latin typeface="Calibir"/>
                        </a:rPr>
                        <a:t>)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966695041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ir"/>
                        </a:rPr>
                        <a:t>LGPRODUCT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Calibir"/>
                        </a:rPr>
                        <a:t>Prod_SKU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23929029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ir"/>
                        </a:rPr>
                        <a:t>LGSALARY_HISTORY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ir"/>
                        </a:rPr>
                        <a:t>(Composite Key: </a:t>
                      </a:r>
                      <a:r>
                        <a:rPr lang="en-US" sz="2000" dirty="0" err="1">
                          <a:latin typeface="Calibir"/>
                        </a:rPr>
                        <a:t>Emp_Num</a:t>
                      </a:r>
                      <a:r>
                        <a:rPr lang="en-US" sz="2000" dirty="0">
                          <a:latin typeface="Calibir"/>
                        </a:rPr>
                        <a:t> + </a:t>
                      </a:r>
                      <a:r>
                        <a:rPr lang="en-US" sz="2000" dirty="0" err="1">
                          <a:latin typeface="Calibir"/>
                        </a:rPr>
                        <a:t>Sal_From</a:t>
                      </a:r>
                      <a:r>
                        <a:rPr lang="en-US" sz="2000" dirty="0">
                          <a:latin typeface="Calibir"/>
                        </a:rPr>
                        <a:t>)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367499309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alibir"/>
                        </a:rPr>
                        <a:t>LGSUPPLIES</a:t>
                      </a:r>
                      <a:endParaRPr lang="en-US" sz="200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alibir"/>
                        </a:rPr>
                        <a:t>(Composite Key: Vend_ID + Prod_SKU)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3062470799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alibir"/>
                        </a:rPr>
                        <a:t>LGVENDOR</a:t>
                      </a:r>
                      <a:endParaRPr lang="en-US" sz="200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Calibir"/>
                        </a:rPr>
                        <a:t>Vend_ID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4140716763"/>
                  </a:ext>
                </a:extLst>
              </a:tr>
            </a:tbl>
          </a:graphicData>
        </a:graphic>
      </p:graphicFrame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1C739F3-CCD5-63DB-FE76-9110F6E49118}"/>
              </a:ext>
            </a:extLst>
          </p:cNvPr>
          <p:cNvSpPr/>
          <p:nvPr/>
        </p:nvSpPr>
        <p:spPr>
          <a:xfrm>
            <a:off x="512956" y="1717290"/>
            <a:ext cx="476958" cy="680223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C8F3EAB4-C493-44E5-5641-AFB4F3C31C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4264985"/>
            <a:ext cx="4654844" cy="22510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Select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Emp_Num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, hold down the Ctrl key on the keyboard.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While holding Ctrl, click the row selector for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Sal_From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C00F421-4F1C-66E8-FFCC-6FE071529B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000" b="38425"/>
          <a:stretch>
            <a:fillRect/>
          </a:stretch>
        </p:blipFill>
        <p:spPr>
          <a:xfrm>
            <a:off x="0" y="1097892"/>
            <a:ext cx="4572000" cy="3167093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A2EF897-3B2B-4649-CC0A-EF8BF59A21BE}"/>
              </a:ext>
            </a:extLst>
          </p:cNvPr>
          <p:cNvSpPr/>
          <p:nvPr/>
        </p:nvSpPr>
        <p:spPr>
          <a:xfrm>
            <a:off x="4654844" y="4817327"/>
            <a:ext cx="4388795" cy="1037063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25106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2410087E-CBC8-C8BF-079B-B3940BF17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FC5103-1E01-179E-FACA-2DE77E70C7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7AD51F-AC31-4A92-1475-CA75BFD247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52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813CB86-B989-ECD0-3479-BC95A3FFF34D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881497E-0353-1940-7C06-BACE4F05E11B}"/>
              </a:ext>
            </a:extLst>
          </p:cNvPr>
          <p:cNvGraphicFramePr>
            <a:graphicFrameLocks noGrp="1"/>
          </p:cNvGraphicFramePr>
          <p:nvPr/>
        </p:nvGraphicFramePr>
        <p:xfrm>
          <a:off x="4654844" y="1131151"/>
          <a:ext cx="4388795" cy="577990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924375">
                  <a:extLst>
                    <a:ext uri="{9D8B030D-6E8A-4147-A177-3AD203B41FA5}">
                      <a16:colId xmlns:a16="http://schemas.microsoft.com/office/drawing/2014/main" val="3029210933"/>
                    </a:ext>
                  </a:extLst>
                </a:gridCol>
                <a:gridCol w="2464420">
                  <a:extLst>
                    <a:ext uri="{9D8B030D-6E8A-4147-A177-3AD203B41FA5}">
                      <a16:colId xmlns:a16="http://schemas.microsoft.com/office/drawing/2014/main" val="1934848403"/>
                    </a:ext>
                  </a:extLst>
                </a:gridCol>
              </a:tblGrid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ir"/>
                        </a:rPr>
                        <a:t>Table</a:t>
                      </a:r>
                    </a:p>
                  </a:txBody>
                  <a:tcPr marL="82101" marR="82101" marT="41050" marB="41050" anchor="ctr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ir"/>
                        </a:rPr>
                        <a:t>Primary Key Field</a:t>
                      </a:r>
                    </a:p>
                  </a:txBody>
                  <a:tcPr marL="82101" marR="82101" marT="41050" marB="41050" anchor="ctr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025564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ir"/>
                        </a:rPr>
                        <a:t>LGCUSTOMER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Calibir"/>
                        </a:rPr>
                        <a:t>Cust_Code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836616182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ir"/>
                        </a:rPr>
                        <a:t>LGBRAND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Calibir"/>
                        </a:rPr>
                        <a:t>Brand_ID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001173189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ir"/>
                        </a:rPr>
                        <a:t>LGDEPARTMENT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Calibir"/>
                        </a:rPr>
                        <a:t>Dept_Num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390180376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ir"/>
                        </a:rPr>
                        <a:t>LGEMPLOYEE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Calibir"/>
                        </a:rPr>
                        <a:t>Emp_Num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854831646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ir"/>
                        </a:rPr>
                        <a:t>LGINVOICE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Calibir"/>
                        </a:rPr>
                        <a:t>Inv_Num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400355638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ir"/>
                        </a:rPr>
                        <a:t>LGLINE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ir"/>
                        </a:rPr>
                        <a:t>(Composite Key: </a:t>
                      </a:r>
                      <a:r>
                        <a:rPr lang="en-US" sz="2000" dirty="0" err="1">
                          <a:latin typeface="Calibir"/>
                        </a:rPr>
                        <a:t>Inv_Num</a:t>
                      </a:r>
                      <a:r>
                        <a:rPr lang="en-US" sz="2000" dirty="0">
                          <a:latin typeface="Calibir"/>
                        </a:rPr>
                        <a:t> + </a:t>
                      </a:r>
                      <a:r>
                        <a:rPr lang="en-US" sz="2000" dirty="0" err="1">
                          <a:latin typeface="Calibir"/>
                        </a:rPr>
                        <a:t>Line_Num</a:t>
                      </a:r>
                      <a:r>
                        <a:rPr lang="en-US" sz="2000" dirty="0">
                          <a:latin typeface="Calibir"/>
                        </a:rPr>
                        <a:t>)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966695041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ir"/>
                        </a:rPr>
                        <a:t>LGPRODUCT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Calibir"/>
                        </a:rPr>
                        <a:t>Prod_SKU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23929029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ir"/>
                        </a:rPr>
                        <a:t>LGSALARY_HISTORY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ir"/>
                        </a:rPr>
                        <a:t>(Composite Key: </a:t>
                      </a:r>
                      <a:r>
                        <a:rPr lang="en-US" sz="2000" dirty="0" err="1">
                          <a:latin typeface="Calibir"/>
                        </a:rPr>
                        <a:t>Emp_Num</a:t>
                      </a:r>
                      <a:r>
                        <a:rPr lang="en-US" sz="2000" dirty="0">
                          <a:latin typeface="Calibir"/>
                        </a:rPr>
                        <a:t> + </a:t>
                      </a:r>
                      <a:r>
                        <a:rPr lang="en-US" sz="2000" dirty="0" err="1">
                          <a:latin typeface="Calibir"/>
                        </a:rPr>
                        <a:t>Sal_From</a:t>
                      </a:r>
                      <a:r>
                        <a:rPr lang="en-US" sz="2000" dirty="0">
                          <a:latin typeface="Calibir"/>
                        </a:rPr>
                        <a:t>)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367499309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alibir"/>
                        </a:rPr>
                        <a:t>LGSUPPLIES</a:t>
                      </a:r>
                      <a:endParaRPr lang="en-US" sz="200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alibir"/>
                        </a:rPr>
                        <a:t>(Composite Key: Vend_ID + Prod_SKU)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3062470799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alibir"/>
                        </a:rPr>
                        <a:t>LGVENDOR</a:t>
                      </a:r>
                      <a:endParaRPr lang="en-US" sz="200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Calibir"/>
                        </a:rPr>
                        <a:t>Vend_ID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4140716763"/>
                  </a:ext>
                </a:extLst>
              </a:tr>
            </a:tbl>
          </a:graphicData>
        </a:graphic>
      </p:graphicFrame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C2FAD3E-6944-395D-467D-A9429DF177FA}"/>
              </a:ext>
            </a:extLst>
          </p:cNvPr>
          <p:cNvSpPr/>
          <p:nvPr/>
        </p:nvSpPr>
        <p:spPr>
          <a:xfrm>
            <a:off x="512956" y="1717290"/>
            <a:ext cx="476958" cy="680223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23B61C31-71AC-98F3-592C-99EB361F4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4264985"/>
            <a:ext cx="4654844" cy="22510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Select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Vend_ID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, hold down the Ctrl key on the keyboard.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While holding Ctrl, click the row selector for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Prod_SKU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D251773-44CC-AA71-0241-D68CD9EAE2E9}"/>
              </a:ext>
            </a:extLst>
          </p:cNvPr>
          <p:cNvSpPr/>
          <p:nvPr/>
        </p:nvSpPr>
        <p:spPr>
          <a:xfrm>
            <a:off x="4654844" y="5854390"/>
            <a:ext cx="4388795" cy="633779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517A8B-9522-6D09-068D-D652115CB6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906" b="38425"/>
          <a:stretch>
            <a:fillRect/>
          </a:stretch>
        </p:blipFill>
        <p:spPr>
          <a:xfrm>
            <a:off x="0" y="1131151"/>
            <a:ext cx="4489157" cy="3167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24329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E52408B5-0E11-3E35-19E0-A0420DDE2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F9497C-25F3-C3F4-7687-A0DE27ED7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F5A889-FC90-E3E9-CDD0-290DBDE7E4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53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14EE0B0-01B5-0357-3308-47B85DFA0528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7D56F9B-6F6A-DB56-7E61-556D1C81668D}"/>
              </a:ext>
            </a:extLst>
          </p:cNvPr>
          <p:cNvGraphicFramePr>
            <a:graphicFrameLocks noGrp="1"/>
          </p:cNvGraphicFramePr>
          <p:nvPr/>
        </p:nvGraphicFramePr>
        <p:xfrm>
          <a:off x="4654844" y="1131151"/>
          <a:ext cx="4388795" cy="577990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924375">
                  <a:extLst>
                    <a:ext uri="{9D8B030D-6E8A-4147-A177-3AD203B41FA5}">
                      <a16:colId xmlns:a16="http://schemas.microsoft.com/office/drawing/2014/main" val="3029210933"/>
                    </a:ext>
                  </a:extLst>
                </a:gridCol>
                <a:gridCol w="2464420">
                  <a:extLst>
                    <a:ext uri="{9D8B030D-6E8A-4147-A177-3AD203B41FA5}">
                      <a16:colId xmlns:a16="http://schemas.microsoft.com/office/drawing/2014/main" val="1934848403"/>
                    </a:ext>
                  </a:extLst>
                </a:gridCol>
              </a:tblGrid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ir"/>
                        </a:rPr>
                        <a:t>Table</a:t>
                      </a:r>
                    </a:p>
                  </a:txBody>
                  <a:tcPr marL="82101" marR="82101" marT="41050" marB="41050" anchor="ctr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ir"/>
                        </a:rPr>
                        <a:t>Primary Key Field</a:t>
                      </a:r>
                    </a:p>
                  </a:txBody>
                  <a:tcPr marL="82101" marR="82101" marT="41050" marB="41050" anchor="ctr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025564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ir"/>
                        </a:rPr>
                        <a:t>LGCUSTOMER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Calibir"/>
                        </a:rPr>
                        <a:t>Cust_Code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836616182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ir"/>
                        </a:rPr>
                        <a:t>LGBRAND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Calibir"/>
                        </a:rPr>
                        <a:t>Brand_ID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001173189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ir"/>
                        </a:rPr>
                        <a:t>LGDEPARTMENT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Calibir"/>
                        </a:rPr>
                        <a:t>Dept_Num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390180376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ir"/>
                        </a:rPr>
                        <a:t>LGEMPLOYEE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Calibir"/>
                        </a:rPr>
                        <a:t>Emp_Num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854831646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ir"/>
                        </a:rPr>
                        <a:t>LGINVOICE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Calibir"/>
                        </a:rPr>
                        <a:t>Inv_Num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400355638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ir"/>
                        </a:rPr>
                        <a:t>LGLINE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ir"/>
                        </a:rPr>
                        <a:t>(Composite Key: </a:t>
                      </a:r>
                      <a:r>
                        <a:rPr lang="en-US" sz="2000" dirty="0" err="1">
                          <a:latin typeface="Calibir"/>
                        </a:rPr>
                        <a:t>Inv_Num</a:t>
                      </a:r>
                      <a:r>
                        <a:rPr lang="en-US" sz="2000" dirty="0">
                          <a:latin typeface="Calibir"/>
                        </a:rPr>
                        <a:t> + </a:t>
                      </a:r>
                      <a:r>
                        <a:rPr lang="en-US" sz="2000" dirty="0" err="1">
                          <a:latin typeface="Calibir"/>
                        </a:rPr>
                        <a:t>Line_Num</a:t>
                      </a:r>
                      <a:r>
                        <a:rPr lang="en-US" sz="2000" dirty="0">
                          <a:latin typeface="Calibir"/>
                        </a:rPr>
                        <a:t>)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966695041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ir"/>
                        </a:rPr>
                        <a:t>LGPRODUCT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Calibir"/>
                        </a:rPr>
                        <a:t>Prod_SKU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23929029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ir"/>
                        </a:rPr>
                        <a:t>LGSALARY_HISTORY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ir"/>
                        </a:rPr>
                        <a:t>(Composite Key: </a:t>
                      </a:r>
                      <a:r>
                        <a:rPr lang="en-US" sz="2000" dirty="0" err="1">
                          <a:latin typeface="Calibir"/>
                        </a:rPr>
                        <a:t>Emp_Num</a:t>
                      </a:r>
                      <a:r>
                        <a:rPr lang="en-US" sz="2000" dirty="0">
                          <a:latin typeface="Calibir"/>
                        </a:rPr>
                        <a:t> + </a:t>
                      </a:r>
                      <a:r>
                        <a:rPr lang="en-US" sz="2000" dirty="0" err="1">
                          <a:latin typeface="Calibir"/>
                        </a:rPr>
                        <a:t>Sal_From</a:t>
                      </a:r>
                      <a:r>
                        <a:rPr lang="en-US" sz="2000" dirty="0">
                          <a:latin typeface="Calibir"/>
                        </a:rPr>
                        <a:t>)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367499309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alibir"/>
                        </a:rPr>
                        <a:t>LGSUPPLIES</a:t>
                      </a:r>
                      <a:endParaRPr lang="en-US" sz="200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alibir"/>
                        </a:rPr>
                        <a:t>(Composite Key: Vend_ID + Prod_SKU)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3062470799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alibir"/>
                        </a:rPr>
                        <a:t>LGVENDOR</a:t>
                      </a:r>
                      <a:endParaRPr lang="en-US" sz="200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Calibir"/>
                        </a:rPr>
                        <a:t>Vend_ID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4140716763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843C023C-0241-8691-07D4-52520CB256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0511"/>
            <a:ext cx="4654844" cy="1143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Once all finished, Ctrl + S to save it.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CB656D2-E123-C02A-C1D0-55D42F0CE0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000" b="12819"/>
          <a:stretch>
            <a:fillRect/>
          </a:stretch>
        </p:blipFill>
        <p:spPr>
          <a:xfrm>
            <a:off x="41422" y="1131151"/>
            <a:ext cx="4572000" cy="4484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31484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809E60D0-F261-6449-473B-51A121ABF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CC239B-7530-62AF-65C9-BF6C0C012B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969D7-6B92-3805-C4FB-7602B5AE4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54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5991E3D2-1684-BA54-CBFF-E9F8EBD6CE54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3A4A56DB-D19A-7796-8E4F-BA1AB88216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68058"/>
            <a:ext cx="9144000" cy="1143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Databased Tools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  <a:sym typeface="Wingdings" panose="05000000000000000000" pitchFamily="2" charset="2"/>
              </a:rPr>
              <a:t> Relationships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Calibir"/>
              </a:rPr>
              <a:t>If you see the key is not showing, click design view on that table and Ctrl + S (to save the PK)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ABA50A5-96C3-0312-65F9-2784A4A5B7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540"/>
          <a:stretch>
            <a:fillRect/>
          </a:stretch>
        </p:blipFill>
        <p:spPr>
          <a:xfrm>
            <a:off x="283159" y="2111128"/>
            <a:ext cx="8577681" cy="446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88339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0EB4ECAE-4E25-B797-6306-E789F9FB8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99F111-6FFB-7E1F-BD21-800D1707AC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06B70C-42CC-3CAB-8CB4-0C468B15D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55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D1F1AAD3-1C42-1F25-B0BF-C4E365D20ABC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A49DFF1A-43C7-2FB0-6679-87A53AFBAE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45057"/>
            <a:ext cx="9144000" cy="589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Now we should see this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latin typeface="Calibir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EBC7AD-2C41-167C-F1A7-A4C56331E1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8022"/>
          <a:stretch>
            <a:fillRect/>
          </a:stretch>
        </p:blipFill>
        <p:spPr>
          <a:xfrm>
            <a:off x="0" y="1834129"/>
            <a:ext cx="9144000" cy="4216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65716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AFAF7550-BAC8-5D25-27AE-0928612B5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52A231-0F6F-014F-85F2-745FC6BFA2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D2F6F2-B3F6-C54E-2353-D59EE5C99C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56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956B3ED8-0221-3B0A-9FB6-B78E5D3F8EE3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48D5FB32-F371-6972-14D2-FB860A0E6A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90033"/>
            <a:ext cx="9144000" cy="234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Now that all Primary Keys (PKs) are set, we’re ready to rebuild all relationships cleanly and correctly.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Calibir"/>
              </a:rPr>
              <a:t>Close All other windows (tables or windows), Only Relationships Window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7FFA1A-62B4-E7BB-78D7-31FE303527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9604"/>
          <a:stretch>
            <a:fillRect/>
          </a:stretch>
        </p:blipFill>
        <p:spPr>
          <a:xfrm>
            <a:off x="451346" y="3131058"/>
            <a:ext cx="8241307" cy="3726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24981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503F2D6F-1D2D-2350-C789-B4D53946C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5F78EE-CB93-4D09-E5D9-EEED4CB6CA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D52FEF-4DDF-A0A2-AC4F-A11D324A4F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57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07ED05D9-5D06-1A77-7E7F-8641A8B952FC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DCBEE55A-4AD4-FBD4-470A-5004826B79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68058"/>
            <a:ext cx="9144000" cy="51961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LGINVOICE ↔ LGCUSTOMER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Purpose: Each invoice belongs to one customer.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Drag: </a:t>
            </a:r>
            <a:r>
              <a:rPr lang="en-US" sz="2800" dirty="0" err="1">
                <a:latin typeface="Calibir"/>
              </a:rPr>
              <a:t>LGINVOICE.Cust_Code</a:t>
            </a:r>
            <a:r>
              <a:rPr lang="en-US" sz="2800" dirty="0">
                <a:latin typeface="Calibir"/>
              </a:rPr>
              <a:t> → </a:t>
            </a:r>
            <a:r>
              <a:rPr lang="en-US" sz="2800" dirty="0" err="1">
                <a:latin typeface="Calibir"/>
              </a:rPr>
              <a:t>LGCUSTOMER.Cust_Code</a:t>
            </a:r>
            <a:endParaRPr lang="en-US" sz="2800" dirty="0">
              <a:latin typeface="Calibir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Tick: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i="1" dirty="0">
                <a:latin typeface="Calibir"/>
              </a:rPr>
              <a:t>Enforce Referential Integrity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i="1" dirty="0">
                <a:latin typeface="Calibir"/>
              </a:rPr>
              <a:t>Cascade Update Related </a:t>
            </a:r>
            <a:br>
              <a:rPr lang="en-US" sz="2800" i="1" dirty="0">
                <a:latin typeface="Calibir"/>
              </a:rPr>
            </a:br>
            <a:r>
              <a:rPr lang="en-US" sz="2800" i="1" dirty="0">
                <a:latin typeface="Calibir"/>
              </a:rPr>
              <a:t>Fields (optional)</a:t>
            </a:r>
            <a:endParaRPr lang="en-US" sz="2800" dirty="0">
              <a:latin typeface="Calibir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Click Create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165469-B618-1F3F-21AB-5BDF60BF49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322" t="20975" r="37701" b="39017"/>
          <a:stretch>
            <a:fillRect/>
          </a:stretch>
        </p:blipFill>
        <p:spPr>
          <a:xfrm>
            <a:off x="4850979" y="4172607"/>
            <a:ext cx="4293021" cy="2685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92797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C3B0973D-0172-4DB2-5057-466B898FC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8F54B1-3B45-0DD7-F772-810AA2B09E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E4C41E-1E13-E9A8-F75E-4547ED58B3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58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222EE68-7B44-6A0C-8E07-044CE642ED3D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1F1D615C-83C5-A1E1-F297-E0B665FAD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68058"/>
            <a:ext cx="9144000" cy="51961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LGINVOICE ↔ LGCUSTOMER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Purpose: Each invoice belongs to one customer.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Drag: </a:t>
            </a:r>
            <a:r>
              <a:rPr lang="en-US" sz="2800" dirty="0" err="1">
                <a:latin typeface="Calibir"/>
              </a:rPr>
              <a:t>LGINVOICE.Cust_Code</a:t>
            </a:r>
            <a:r>
              <a:rPr lang="en-US" sz="2800" dirty="0">
                <a:latin typeface="Calibir"/>
              </a:rPr>
              <a:t> → </a:t>
            </a:r>
            <a:r>
              <a:rPr lang="en-US" sz="2800" dirty="0" err="1">
                <a:latin typeface="Calibir"/>
              </a:rPr>
              <a:t>LGCUSTOMER.Cust_Code</a:t>
            </a:r>
            <a:endParaRPr lang="en-US" sz="2800" dirty="0">
              <a:latin typeface="Calibir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Tick: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i="1" dirty="0">
                <a:latin typeface="Calibir"/>
              </a:rPr>
              <a:t>Enforce Referential Integrity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i="1" dirty="0">
                <a:latin typeface="Calibir"/>
              </a:rPr>
              <a:t>Cascade Update Related </a:t>
            </a:r>
            <a:br>
              <a:rPr lang="en-US" sz="2800" i="1" dirty="0">
                <a:latin typeface="Calibir"/>
              </a:rPr>
            </a:br>
            <a:r>
              <a:rPr lang="en-US" sz="2800" i="1" dirty="0">
                <a:latin typeface="Calibir"/>
              </a:rPr>
              <a:t>Fields (optional)</a:t>
            </a:r>
            <a:endParaRPr lang="en-US" sz="2800" dirty="0">
              <a:latin typeface="Calibir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Click Create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04E259-2685-568A-87EF-48469AF5F1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862" t="20976" r="47816" b="38199"/>
          <a:stretch>
            <a:fillRect/>
          </a:stretch>
        </p:blipFill>
        <p:spPr>
          <a:xfrm>
            <a:off x="5304107" y="3507914"/>
            <a:ext cx="3839893" cy="3350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197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2B4DB0AE-0712-9047-ADEF-1A387C4F3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2F8D0F-52BB-D84D-0E4F-52A00FD4A8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043562-EF3F-9080-2848-51CCE74DC9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59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2D7B256-CE30-2C4F-6F9A-975FDCC6F374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E6B03A2A-DB97-2789-8950-8382046F90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91223"/>
            <a:ext cx="9144000" cy="4549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LGINVOICE ↔ LGEMPLOYEE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Purpose: Each invoice is issued by one employee.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Drag: </a:t>
            </a:r>
            <a:r>
              <a:rPr lang="en-US" sz="2800" dirty="0" err="1">
                <a:latin typeface="Calibir"/>
              </a:rPr>
              <a:t>LGINVOICE.Employee_ID</a:t>
            </a:r>
            <a:r>
              <a:rPr lang="en-US" sz="2800" dirty="0">
                <a:latin typeface="Calibir"/>
              </a:rPr>
              <a:t> → </a:t>
            </a:r>
            <a:r>
              <a:rPr lang="en-US" sz="2800" dirty="0" err="1">
                <a:latin typeface="Calibir"/>
              </a:rPr>
              <a:t>LGEMPLOYEE.Emp_Num</a:t>
            </a:r>
            <a:endParaRPr lang="en-US" sz="2800" dirty="0">
              <a:latin typeface="Calibir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Tick: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i="1" dirty="0">
                <a:latin typeface="Calibir"/>
              </a:rPr>
              <a:t>Enforce Referential Integrity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i="1" dirty="0">
                <a:latin typeface="Calibir"/>
              </a:rPr>
              <a:t>Cascade Update Related Fields</a:t>
            </a:r>
            <a:endParaRPr lang="en-US" sz="2800" dirty="0">
              <a:latin typeface="Calibir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Click Create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173E51-D5CD-5111-2277-284CA8994F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356" t="20524" r="37471" b="48416"/>
          <a:stretch>
            <a:fillRect/>
          </a:stretch>
        </p:blipFill>
        <p:spPr>
          <a:xfrm>
            <a:off x="5456630" y="4287142"/>
            <a:ext cx="3687370" cy="2559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70826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7E359482-0668-79F8-3482-35E93B7C9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C442C3-EF7C-EFDF-0456-4607364C73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528D3A-5A04-F01E-28B8-613FCE0D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60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AB79ECFD-9BFA-C52D-4D0C-E91A96C98FEA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A4AB1593-7DAA-AE07-F24D-3D6A162088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91223"/>
            <a:ext cx="9144000" cy="4549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LGLINE ↔ LGINVOICE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Purpose: Each line item belongs to one invoice.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Drag: </a:t>
            </a:r>
            <a:r>
              <a:rPr lang="en-US" sz="2800" dirty="0" err="1">
                <a:latin typeface="Calibir"/>
              </a:rPr>
              <a:t>LGLINE.Inv_Num</a:t>
            </a:r>
            <a:r>
              <a:rPr lang="en-US" sz="2800" dirty="0">
                <a:latin typeface="Calibir"/>
              </a:rPr>
              <a:t> → </a:t>
            </a:r>
            <a:r>
              <a:rPr lang="en-US" sz="2800" dirty="0" err="1">
                <a:latin typeface="Calibir"/>
              </a:rPr>
              <a:t>LGINVOICE.Inv_Num</a:t>
            </a:r>
            <a:endParaRPr lang="en-US" sz="2800" dirty="0">
              <a:latin typeface="Calibir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Tick: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i="1" dirty="0">
                <a:latin typeface="Calibir"/>
              </a:rPr>
              <a:t>Enforce Referential Integrity</a:t>
            </a:r>
            <a:endParaRPr lang="en-US" sz="2800" dirty="0">
              <a:latin typeface="Calibir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i="1" dirty="0">
                <a:latin typeface="Calibir"/>
              </a:rPr>
              <a:t>Cascade Update Related Fields</a:t>
            </a:r>
            <a:endParaRPr lang="en-US" sz="2800" dirty="0">
              <a:latin typeface="Calibir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Click Create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1E124E-5067-ABF4-9FB2-A5A5EB3403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471" t="21137" r="37931" b="48416"/>
          <a:stretch>
            <a:fillRect/>
          </a:stretch>
        </p:blipFill>
        <p:spPr>
          <a:xfrm>
            <a:off x="5454515" y="4267201"/>
            <a:ext cx="3721016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19785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4B7F32A5-5EBB-53F6-FA1D-FE74405F7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1A2C6C-2DB0-FD86-D749-4230667F11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C2928D-61AC-C56D-BF6E-8B97044611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61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E7AEBF6-D2EE-A7C1-7C42-1CA6F5776ADF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5EF675BB-E835-CAFC-5840-CE5EB978A8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91223"/>
            <a:ext cx="9144000" cy="4549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LGLINE ↔ LGPRODUCT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Purpose: Each line item refers to one product.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Drag: </a:t>
            </a:r>
            <a:r>
              <a:rPr lang="en-US" sz="2800" dirty="0" err="1">
                <a:latin typeface="Calibir"/>
              </a:rPr>
              <a:t>LGPRODUCT.Prod_SKU</a:t>
            </a:r>
            <a:r>
              <a:rPr lang="en-US" sz="2800" dirty="0">
                <a:latin typeface="Calibir"/>
              </a:rPr>
              <a:t> </a:t>
            </a:r>
            <a:r>
              <a:rPr lang="en-US" sz="2800" dirty="0">
                <a:latin typeface="Calibir"/>
                <a:sym typeface="Wingdings" panose="05000000000000000000" pitchFamily="2" charset="2"/>
              </a:rPr>
              <a:t> </a:t>
            </a:r>
            <a:r>
              <a:rPr lang="en-US" sz="2800" dirty="0" err="1">
                <a:latin typeface="Calibir"/>
              </a:rPr>
              <a:t>LGLINE.Prod_SKU</a:t>
            </a:r>
            <a:endParaRPr lang="en-US" sz="2800" dirty="0">
              <a:latin typeface="Calibir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Tick: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i="1" dirty="0">
                <a:latin typeface="Calibir"/>
              </a:rPr>
              <a:t>Enforce Referential Integrity</a:t>
            </a:r>
            <a:endParaRPr lang="en-US" sz="2800" dirty="0">
              <a:latin typeface="Calibir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i="1" dirty="0">
                <a:latin typeface="Calibir"/>
              </a:rPr>
              <a:t>Cascade Update Related Fields</a:t>
            </a:r>
            <a:endParaRPr lang="en-US" sz="2800" dirty="0">
              <a:latin typeface="Calibir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Click Create</a:t>
            </a:r>
          </a:p>
        </p:txBody>
      </p:sp>
    </p:spTree>
    <p:extLst>
      <p:ext uri="{BB962C8B-B14F-4D97-AF65-F5344CB8AC3E}">
        <p14:creationId xmlns:p14="http://schemas.microsoft.com/office/powerpoint/2010/main" val="425873407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C3E5C1FC-DDFD-02E8-4114-B72345EDE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9FCE75-F484-FE7B-4B59-135B8D3E47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5A79CC-DDA3-C3C5-E9AE-BEF59877E7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62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6C6E6E57-E324-6890-733B-9E249F7F5584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A58C8173-9E9F-3AE4-A78F-3A45C230FE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91223"/>
            <a:ext cx="9144000" cy="4549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LGPRODUCT ↔ LGBRAND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Purpose:</a:t>
            </a:r>
            <a:r>
              <a:rPr lang="en-US" sz="2800" dirty="0">
                <a:latin typeface="Calibir"/>
              </a:rPr>
              <a:t> Each product belongs to one brand.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Drag: </a:t>
            </a:r>
            <a:r>
              <a:rPr lang="en-US" sz="2800" b="1" dirty="0" err="1">
                <a:latin typeface="Calibir"/>
              </a:rPr>
              <a:t>LGPRODUCT.Brand_ID</a:t>
            </a:r>
            <a:r>
              <a:rPr lang="en-US" sz="2800" b="1" dirty="0">
                <a:latin typeface="Calibir"/>
              </a:rPr>
              <a:t> → </a:t>
            </a:r>
            <a:r>
              <a:rPr lang="en-US" sz="2800" b="1" dirty="0" err="1">
                <a:latin typeface="Calibir"/>
              </a:rPr>
              <a:t>LGBRAND.Brand_ID</a:t>
            </a:r>
            <a:endParaRPr lang="en-US" sz="2800" dirty="0">
              <a:latin typeface="Calibir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Tick: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i="1" dirty="0">
                <a:latin typeface="Calibir"/>
              </a:rPr>
              <a:t>Enforce Referential Integrity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i="1" dirty="0">
                <a:latin typeface="Calibir"/>
              </a:rPr>
              <a:t>Cascade Update Related Fields</a:t>
            </a:r>
            <a:endParaRPr lang="en-US" sz="2800" dirty="0">
              <a:latin typeface="Calibir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Click Create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9AF81F-00C6-CF9E-4C42-7DB9366281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816" t="20728" r="38046" b="48212"/>
          <a:stretch>
            <a:fillRect/>
          </a:stretch>
        </p:blipFill>
        <p:spPr>
          <a:xfrm>
            <a:off x="5419396" y="4162097"/>
            <a:ext cx="3724604" cy="269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49591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53AEA9E4-593B-2AD5-3B7C-9A6835952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9AD475-E141-606C-FCB0-7C0781D06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A6D506-6E6D-341D-628A-533F144224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63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C12C731-8ACB-AC18-7917-95D280EB6897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D0C465F1-7669-DF08-BE9E-E5C2524C7B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91223"/>
            <a:ext cx="9144000" cy="4549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LGSUPPLIES ↔ LGVENDOR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Purpose: </a:t>
            </a:r>
            <a:r>
              <a:rPr lang="en-US" sz="2800" dirty="0">
                <a:latin typeface="Calibir"/>
              </a:rPr>
              <a:t>Each record shows which vendor supplies a product.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Drag: </a:t>
            </a:r>
            <a:r>
              <a:rPr lang="en-US" sz="2800" dirty="0" err="1">
                <a:latin typeface="Calibir"/>
              </a:rPr>
              <a:t>LGSUPPLIES.Vend_ID</a:t>
            </a:r>
            <a:r>
              <a:rPr lang="en-US" sz="2800" dirty="0">
                <a:latin typeface="Calibir"/>
              </a:rPr>
              <a:t> → </a:t>
            </a:r>
            <a:r>
              <a:rPr lang="en-US" sz="2800" dirty="0" err="1">
                <a:latin typeface="Calibir"/>
              </a:rPr>
              <a:t>LGVENDOR.Vend_ID</a:t>
            </a:r>
            <a:endParaRPr lang="en-US" sz="28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Tick: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i="1" dirty="0">
                <a:latin typeface="Calibir"/>
              </a:rPr>
              <a:t>Enforce Referential Integrity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i="1" dirty="0">
                <a:latin typeface="Calibir"/>
              </a:rPr>
              <a:t>Cascade Update Related Fields</a:t>
            </a:r>
            <a:endParaRPr lang="en-US" sz="2800" dirty="0">
              <a:latin typeface="Calibir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Click Create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86EF86-35B6-97F5-2AF1-8D7A77747D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356" t="20728" r="37357" b="48416"/>
          <a:stretch>
            <a:fillRect/>
          </a:stretch>
        </p:blipFill>
        <p:spPr>
          <a:xfrm>
            <a:off x="5507421" y="4361985"/>
            <a:ext cx="3636579" cy="2496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2707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6D4F473E-1E3F-5F31-C16F-10AB9289B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04CF6D-0259-E272-DF57-BC501F8BC2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E288FA-5959-3E11-FEFA-978F3A79D6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64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B536F1BA-996B-F62F-E58D-41A78F482429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25CAAC4E-9FEC-D9C3-F103-3E2A405C82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91223"/>
            <a:ext cx="9144000" cy="4549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LGSUPPLIES ↔ LGPRODUCT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Purpose:</a:t>
            </a:r>
            <a:r>
              <a:rPr lang="en-US" sz="2800" dirty="0">
                <a:latin typeface="Calibir"/>
              </a:rPr>
              <a:t> Each record also links to the product being supplied.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Drag: </a:t>
            </a:r>
            <a:r>
              <a:rPr lang="en-US" sz="2800" b="1" dirty="0" err="1">
                <a:latin typeface="Calibir"/>
              </a:rPr>
              <a:t>LGSUPPLIES.Prod_SKU</a:t>
            </a:r>
            <a:r>
              <a:rPr lang="en-US" sz="2800" b="1" dirty="0">
                <a:latin typeface="Calibir"/>
              </a:rPr>
              <a:t> → </a:t>
            </a:r>
            <a:r>
              <a:rPr lang="en-US" sz="2800" b="1" dirty="0" err="1">
                <a:latin typeface="Calibir"/>
              </a:rPr>
              <a:t>LGPRODUCT.Prod_SKU</a:t>
            </a:r>
            <a:endParaRPr lang="en-US" sz="28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Tick: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i="1" dirty="0">
                <a:latin typeface="Calibir"/>
              </a:rPr>
              <a:t>Enforce Referential Integrity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i="1" dirty="0">
                <a:latin typeface="Calibir"/>
              </a:rPr>
              <a:t>Cascade Update Related Fields</a:t>
            </a:r>
            <a:endParaRPr lang="en-US" sz="28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Click Create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A4402A-8FF2-308A-82F8-9F9AD1E504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701" t="20524" r="37816" b="48212"/>
          <a:stretch>
            <a:fillRect/>
          </a:stretch>
        </p:blipFill>
        <p:spPr>
          <a:xfrm>
            <a:off x="5518445" y="4246179"/>
            <a:ext cx="3636065" cy="2611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55619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8727E567-431B-63EB-0778-0EFE6B55A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9EAD2D-F418-D5C6-24F5-68D84F393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81A5F4-E09F-0DDF-53DA-B4D4537A2E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65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1CA2FC5-C4E2-21B2-C395-67C48B403D36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748FBFF7-FDCE-C608-FFCE-376CC43991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91223"/>
            <a:ext cx="9144000" cy="4549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LGEMPLOYEE ↔ LGDEPARTMENT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Purpose: Each employee works in one department.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Drag: </a:t>
            </a:r>
            <a:r>
              <a:rPr lang="en-US" sz="2800" dirty="0" err="1">
                <a:latin typeface="Calibir"/>
              </a:rPr>
              <a:t>LGEMPLOYEE.Dept_Num</a:t>
            </a:r>
            <a:r>
              <a:rPr lang="en-US" sz="2800" dirty="0">
                <a:latin typeface="Calibir"/>
              </a:rPr>
              <a:t> → </a:t>
            </a:r>
            <a:r>
              <a:rPr lang="en-US" sz="2800" dirty="0" err="1">
                <a:latin typeface="Calibir"/>
              </a:rPr>
              <a:t>LGDEPARTMENT.Dept_Num</a:t>
            </a:r>
            <a:endParaRPr lang="en-US" sz="28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Tick: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i="1" dirty="0">
                <a:latin typeface="Calibir"/>
              </a:rPr>
              <a:t>Enforce Referential Integrity</a:t>
            </a:r>
            <a:endParaRPr lang="en-US" sz="2800" dirty="0">
              <a:latin typeface="Calibir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i="1" dirty="0">
                <a:latin typeface="Calibir"/>
              </a:rPr>
              <a:t>Cascade Update Related Fields</a:t>
            </a:r>
            <a:endParaRPr lang="en-US" sz="28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Click Create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8A9DAD-311C-691C-A987-5386A7200B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701" t="21137" r="37586" b="50000"/>
          <a:stretch>
            <a:fillRect/>
          </a:stretch>
        </p:blipFill>
        <p:spPr>
          <a:xfrm>
            <a:off x="5536440" y="4487917"/>
            <a:ext cx="3607560" cy="2370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0756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C58A10A5-D147-84B8-E146-A2938AA59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DE09E5-496B-F2C0-7841-F9D2C2F2F8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6FD610-61CE-EE42-8FD2-712C056DC8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66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21F5B4D-CB08-1DA5-7916-CF44F16E7B80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D73B9D70-6788-E822-653E-FE816C82D1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68058"/>
            <a:ext cx="9144000" cy="51961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LGSALARY_HISTORY ↔ LGEMPLOYEE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Purpose: Each salary record belongs to one employee.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Drag: </a:t>
            </a:r>
            <a:r>
              <a:rPr lang="en-US" sz="2800" dirty="0" err="1">
                <a:latin typeface="Calibir"/>
              </a:rPr>
              <a:t>LGSALARY_HISTORY.Emp_Num</a:t>
            </a:r>
            <a:r>
              <a:rPr lang="en-US" sz="2800" dirty="0">
                <a:latin typeface="Calibir"/>
              </a:rPr>
              <a:t> → </a:t>
            </a:r>
            <a:r>
              <a:rPr lang="en-US" sz="2800" dirty="0" err="1">
                <a:latin typeface="Calibir"/>
              </a:rPr>
              <a:t>LGEMPLOYEE.Emp_Num</a:t>
            </a:r>
            <a:endParaRPr lang="en-US" sz="28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Tick: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i="1" dirty="0">
                <a:latin typeface="Calibir"/>
              </a:rPr>
              <a:t>Enforce Referential Integrity</a:t>
            </a:r>
            <a:endParaRPr lang="fa-IR" sz="2800" i="1" dirty="0">
              <a:latin typeface="Calibir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i="1" dirty="0">
                <a:latin typeface="Calibir"/>
              </a:rPr>
              <a:t>Cascade Update Related Fields</a:t>
            </a:r>
            <a:endParaRPr lang="en-US" sz="28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Click Create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F91417-7D8A-E508-7789-5102B9784F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701" t="21341" r="38161" b="48212"/>
          <a:stretch>
            <a:fillRect/>
          </a:stretch>
        </p:blipFill>
        <p:spPr>
          <a:xfrm>
            <a:off x="5465379" y="4247930"/>
            <a:ext cx="3678621" cy="2610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72337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4FD54456-A46A-CADF-7274-FC9ED47BE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64A3BB-A4C2-00C6-7AB6-B13BBED8F3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1D9CE0-5D7D-2603-D9AC-F18AA88936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67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04D68BED-B61A-C091-02A7-4B9F376B89FD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38BF9589-64CF-E883-4A17-01A705BD6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68058"/>
            <a:ext cx="9144000" cy="3903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Save and Verify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Click Save Layout (</a:t>
            </a:r>
            <a:r>
              <a:rPr lang="en-US" sz="2800" dirty="0" err="1">
                <a:latin typeface="Calibir"/>
              </a:rPr>
              <a:t>Ctrl+S</a:t>
            </a:r>
            <a:r>
              <a:rPr lang="en-US" sz="2800" dirty="0">
                <a:latin typeface="Calibir"/>
              </a:rPr>
              <a:t>).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You should now see all relationship lines with 1–∞ symbols.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Close the 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window.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5B1D0D-C8FA-F19B-8CAE-B3064C495B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092" t="20976" r="12644" b="12043"/>
          <a:stretch>
            <a:fillRect/>
          </a:stretch>
        </p:blipFill>
        <p:spPr>
          <a:xfrm>
            <a:off x="2638097" y="2856938"/>
            <a:ext cx="6505903" cy="4001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12823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159CDDBC-BA08-4E56-65B8-8FBA73AD9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81366D-ACCB-8666-4807-C576830716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0D13B8-5AFB-48ED-7BB7-C6689BDE1C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68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00F07D7-3E1C-3CAC-9BEE-6574B39C4B02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AB6DA2C-7BDB-EAE6-057A-A9CE3E1DD3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8682716"/>
              </p:ext>
            </p:extLst>
          </p:nvPr>
        </p:nvGraphicFramePr>
        <p:xfrm>
          <a:off x="161692" y="2069624"/>
          <a:ext cx="8820615" cy="333928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282391">
                  <a:extLst>
                    <a:ext uri="{9D8B030D-6E8A-4147-A177-3AD203B41FA5}">
                      <a16:colId xmlns:a16="http://schemas.microsoft.com/office/drawing/2014/main" val="3851823202"/>
                    </a:ext>
                  </a:extLst>
                </a:gridCol>
                <a:gridCol w="2051824">
                  <a:extLst>
                    <a:ext uri="{9D8B030D-6E8A-4147-A177-3AD203B41FA5}">
                      <a16:colId xmlns:a16="http://schemas.microsoft.com/office/drawing/2014/main" val="3828465692"/>
                    </a:ext>
                  </a:extLst>
                </a:gridCol>
                <a:gridCol w="1622503">
                  <a:extLst>
                    <a:ext uri="{9D8B030D-6E8A-4147-A177-3AD203B41FA5}">
                      <a16:colId xmlns:a16="http://schemas.microsoft.com/office/drawing/2014/main" val="4056478516"/>
                    </a:ext>
                  </a:extLst>
                </a:gridCol>
                <a:gridCol w="1789770">
                  <a:extLst>
                    <a:ext uri="{9D8B030D-6E8A-4147-A177-3AD203B41FA5}">
                      <a16:colId xmlns:a16="http://schemas.microsoft.com/office/drawing/2014/main" val="780147630"/>
                    </a:ext>
                  </a:extLst>
                </a:gridCol>
                <a:gridCol w="1248937">
                  <a:extLst>
                    <a:ext uri="{9D8B030D-6E8A-4147-A177-3AD203B41FA5}">
                      <a16:colId xmlns:a16="http://schemas.microsoft.com/office/drawing/2014/main" val="413904290"/>
                    </a:ext>
                  </a:extLst>
                </a:gridCol>
                <a:gridCol w="825190">
                  <a:extLst>
                    <a:ext uri="{9D8B030D-6E8A-4147-A177-3AD203B41FA5}">
                      <a16:colId xmlns:a16="http://schemas.microsoft.com/office/drawing/2014/main" val="21471768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libir"/>
                        </a:rPr>
                        <a:t>Relationship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libir"/>
                        </a:rPr>
                        <a:t>From Table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Field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To Table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Field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Type</a:t>
                      </a:r>
                    </a:p>
                  </a:txBody>
                  <a:tcPr marL="59607" marR="59607" marT="29804" marB="29804" anchor="ctr"/>
                </a:tc>
                <a:extLst>
                  <a:ext uri="{0D108BD9-81ED-4DB2-BD59-A6C34878D82A}">
                    <a16:rowId xmlns:a16="http://schemas.microsoft.com/office/drawing/2014/main" val="3706694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1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libir"/>
                        </a:rPr>
                        <a:t>LGINVOICE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Cust_Code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LGCUSTOMER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Cust_Code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libir"/>
                        </a:rPr>
                        <a:t>1–∞</a:t>
                      </a:r>
                    </a:p>
                  </a:txBody>
                  <a:tcPr marL="59607" marR="59607" marT="29804" marB="29804" anchor="ctr"/>
                </a:tc>
                <a:extLst>
                  <a:ext uri="{0D108BD9-81ED-4DB2-BD59-A6C34878D82A}">
                    <a16:rowId xmlns:a16="http://schemas.microsoft.com/office/drawing/2014/main" val="28379973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2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LGINVOICE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Employee_ID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LGEMPLOYEE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Emp_Num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1–∞</a:t>
                      </a:r>
                    </a:p>
                  </a:txBody>
                  <a:tcPr marL="59607" marR="59607" marT="29804" marB="29804" anchor="ctr"/>
                </a:tc>
                <a:extLst>
                  <a:ext uri="{0D108BD9-81ED-4DB2-BD59-A6C34878D82A}">
                    <a16:rowId xmlns:a16="http://schemas.microsoft.com/office/drawing/2014/main" val="2199578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3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LGLINE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Inv_Num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libir"/>
                        </a:rPr>
                        <a:t>LGINVOICE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Inv_Num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1–∞</a:t>
                      </a:r>
                    </a:p>
                  </a:txBody>
                  <a:tcPr marL="59607" marR="59607" marT="29804" marB="29804" anchor="ctr"/>
                </a:tc>
                <a:extLst>
                  <a:ext uri="{0D108BD9-81ED-4DB2-BD59-A6C34878D82A}">
                    <a16:rowId xmlns:a16="http://schemas.microsoft.com/office/drawing/2014/main" val="2371250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4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LGLINE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Prod_SKU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LGPRODUCT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>
                          <a:latin typeface="Calibir"/>
                        </a:rPr>
                        <a:t>Prod_SKU</a:t>
                      </a:r>
                      <a:endParaRPr lang="en-US" sz="1800" dirty="0">
                        <a:latin typeface="Calibir"/>
                      </a:endParaRP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1–∞</a:t>
                      </a:r>
                    </a:p>
                  </a:txBody>
                  <a:tcPr marL="59607" marR="59607" marT="29804" marB="29804" anchor="ctr"/>
                </a:tc>
                <a:extLst>
                  <a:ext uri="{0D108BD9-81ED-4DB2-BD59-A6C34878D82A}">
                    <a16:rowId xmlns:a16="http://schemas.microsoft.com/office/drawing/2014/main" val="3531890144"/>
                  </a:ext>
                </a:extLst>
              </a:tr>
              <a:tr h="2135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5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LGPRODUCT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Brand_ID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LGBRAND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>
                          <a:latin typeface="Calibir"/>
                        </a:rPr>
                        <a:t>Brand_ID</a:t>
                      </a:r>
                      <a:endParaRPr lang="en-US" sz="1800" dirty="0">
                        <a:latin typeface="Calibir"/>
                      </a:endParaRP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libir"/>
                        </a:rPr>
                        <a:t>1–∞</a:t>
                      </a:r>
                    </a:p>
                  </a:txBody>
                  <a:tcPr marL="59607" marR="59607" marT="29804" marB="29804" anchor="ctr"/>
                </a:tc>
                <a:extLst>
                  <a:ext uri="{0D108BD9-81ED-4DB2-BD59-A6C34878D82A}">
                    <a16:rowId xmlns:a16="http://schemas.microsoft.com/office/drawing/2014/main" val="845638787"/>
                  </a:ext>
                </a:extLst>
              </a:tr>
              <a:tr h="258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6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LGSUPPLIES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Vend_ID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LGVENDOR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Vend_ID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libir"/>
                        </a:rPr>
                        <a:t>1–∞</a:t>
                      </a:r>
                    </a:p>
                  </a:txBody>
                  <a:tcPr marL="59607" marR="59607" marT="29804" marB="29804" anchor="ctr"/>
                </a:tc>
                <a:extLst>
                  <a:ext uri="{0D108BD9-81ED-4DB2-BD59-A6C34878D82A}">
                    <a16:rowId xmlns:a16="http://schemas.microsoft.com/office/drawing/2014/main" val="127144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7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LGSUPPLIES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Prod_SKU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LGPRODUCT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Prod_SKU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libir"/>
                        </a:rPr>
                        <a:t>1–∞</a:t>
                      </a:r>
                    </a:p>
                  </a:txBody>
                  <a:tcPr marL="59607" marR="59607" marT="29804" marB="29804" anchor="ctr"/>
                </a:tc>
                <a:extLst>
                  <a:ext uri="{0D108BD9-81ED-4DB2-BD59-A6C34878D82A}">
                    <a16:rowId xmlns:a16="http://schemas.microsoft.com/office/drawing/2014/main" val="37082485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8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LGEMPLOYEE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Dept_Num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LGDEPARTMENT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Dept_Num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1–∞</a:t>
                      </a:r>
                    </a:p>
                  </a:txBody>
                  <a:tcPr marL="59607" marR="59607" marT="29804" marB="29804" anchor="ctr"/>
                </a:tc>
                <a:extLst>
                  <a:ext uri="{0D108BD9-81ED-4DB2-BD59-A6C34878D82A}">
                    <a16:rowId xmlns:a16="http://schemas.microsoft.com/office/drawing/2014/main" val="2129995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9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LGSALARY_HISTORY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Emp_Num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LGEMPLOYEE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Emp_Num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libir"/>
                        </a:rPr>
                        <a:t>1–∞</a:t>
                      </a:r>
                    </a:p>
                  </a:txBody>
                  <a:tcPr marL="59607" marR="59607" marT="29804" marB="29804" anchor="ctr"/>
                </a:tc>
                <a:extLst>
                  <a:ext uri="{0D108BD9-81ED-4DB2-BD59-A6C34878D82A}">
                    <a16:rowId xmlns:a16="http://schemas.microsoft.com/office/drawing/2014/main" val="652201114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FE2B86D4-432D-2DD0-0BC8-6C3D7B2F78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39277"/>
            <a:ext cx="356059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Visual Check Summary</a:t>
            </a:r>
          </a:p>
        </p:txBody>
      </p:sp>
    </p:spTree>
    <p:extLst>
      <p:ext uri="{BB962C8B-B14F-4D97-AF65-F5344CB8AC3E}">
        <p14:creationId xmlns:p14="http://schemas.microsoft.com/office/powerpoint/2010/main" val="339435431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C101F-C65F-1D84-0824-C2471518F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E637624-0BBE-F959-CF34-04F3E9ABA6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8032" y="734568"/>
            <a:ext cx="6920865" cy="737108"/>
          </a:xfrm>
        </p:spPr>
        <p:txBody>
          <a:bodyPr vert="horz" wrap="square" lIns="0" tIns="0" rIns="0" bIns="0" rtlCol="0">
            <a:normAutofit/>
          </a:bodyPr>
          <a:lstStyle/>
          <a:p>
            <a:pPr marL="12700">
              <a:spcBef>
                <a:spcPts val="100"/>
              </a:spcBef>
            </a:pPr>
            <a:r>
              <a:rPr lang="en-US" b="1" i="0" dirty="0">
                <a:latin typeface="Arial"/>
                <a:ea typeface="+mj-ea"/>
                <a:cs typeface="Arial"/>
              </a:rPr>
              <a:t>Thank You</a:t>
            </a:r>
            <a:endParaRPr lang="en-US" b="1" i="0" spc="-10" dirty="0">
              <a:latin typeface="Arial"/>
              <a:ea typeface="+mj-ea"/>
              <a:cs typeface="Arial"/>
            </a:endParaRPr>
          </a:p>
        </p:txBody>
      </p:sp>
      <p:pic>
        <p:nvPicPr>
          <p:cNvPr id="19" name="Picture 18" descr="Tying a bow in an arrangment of presents">
            <a:extLst>
              <a:ext uri="{FF2B5EF4-FFF2-40B4-BE49-F238E27FC236}">
                <a16:creationId xmlns:a16="http://schemas.microsoft.com/office/drawing/2014/main" id="{E6D721DE-1453-5AA6-9447-209B227E21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127" r="20212" b="-2"/>
          <a:stretch>
            <a:fillRect/>
          </a:stretch>
        </p:blipFill>
        <p:spPr>
          <a:xfrm>
            <a:off x="457200" y="1577340"/>
            <a:ext cx="3977640" cy="4526280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4845029-98A4-9C92-04B4-320B6AFDD1B8}"/>
              </a:ext>
            </a:extLst>
          </p:cNvPr>
          <p:cNvSpPr txBox="1"/>
          <p:nvPr/>
        </p:nvSpPr>
        <p:spPr>
          <a:xfrm>
            <a:off x="4709160" y="1577340"/>
            <a:ext cx="3977640" cy="406146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defTabSz="685800" rtl="0">
              <a:lnSpc>
                <a:spcPct val="150000"/>
              </a:lnSpc>
              <a:spcAft>
                <a:spcPts val="450"/>
              </a:spcAft>
              <a:defRPr/>
            </a:pPr>
            <a:r>
              <a:rPr lang="en-US" sz="1900" i="0" kern="1200" dirty="0">
                <a:solidFill>
                  <a:schemeClr val="tx1"/>
                </a:solidFill>
                <a:latin typeface="+mj-lt"/>
                <a:ea typeface="+mn-ea"/>
                <a:cs typeface="Arial"/>
              </a:rPr>
              <a:t>Happy Learning and Bright Futures Ahead!</a:t>
            </a:r>
            <a:br>
              <a:rPr lang="en-US" sz="1900" i="0" kern="1200" dirty="0">
                <a:solidFill>
                  <a:schemeClr val="tx1"/>
                </a:solidFill>
                <a:latin typeface="+mj-lt"/>
                <a:ea typeface="+mn-ea"/>
                <a:cs typeface="Arial"/>
              </a:rPr>
            </a:br>
            <a:r>
              <a:rPr lang="en-US" sz="1900" i="0" kern="1200" dirty="0">
                <a:solidFill>
                  <a:schemeClr val="tx1"/>
                </a:solidFill>
                <a:latin typeface="+mj-lt"/>
                <a:ea typeface="+mn-ea"/>
                <a:cs typeface="Arial"/>
              </a:rPr>
              <a:t>Dr. Farshid Keivanian</a:t>
            </a:r>
            <a:br>
              <a:rPr lang="en-US" sz="1900" i="0" kern="1200" dirty="0">
                <a:solidFill>
                  <a:schemeClr val="tx1"/>
                </a:solidFill>
                <a:latin typeface="+mj-lt"/>
                <a:ea typeface="+mn-ea"/>
                <a:cs typeface="Arial"/>
              </a:rPr>
            </a:br>
            <a:r>
              <a:rPr lang="en-US" sz="1900" i="0" kern="1200" dirty="0">
                <a:solidFill>
                  <a:schemeClr val="tx1"/>
                </a:solidFill>
                <a:latin typeface="+mj-lt"/>
                <a:ea typeface="+mn-ea"/>
                <a:cs typeface="Arial"/>
              </a:rPr>
              <a:t>Stay Connected:</a:t>
            </a:r>
            <a:br>
              <a:rPr lang="en-US" sz="1900" i="0" kern="1200" dirty="0">
                <a:solidFill>
                  <a:schemeClr val="tx1"/>
                </a:solidFill>
                <a:latin typeface="+mj-lt"/>
                <a:ea typeface="+mn-ea"/>
                <a:cs typeface="Arial"/>
              </a:rPr>
            </a:br>
            <a:r>
              <a:rPr lang="en-US" sz="1900" kern="1200" dirty="0">
                <a:solidFill>
                  <a:schemeClr val="tx1"/>
                </a:solidFill>
                <a:latin typeface="+mj-lt"/>
                <a:ea typeface="+mn-ea"/>
                <a:cs typeface="Arial"/>
                <a:hlinkClick r:id="rId3" action="ppaction://hlinkfile"/>
              </a:rPr>
              <a:t>linkedin.com/in/farshid-keivanian</a:t>
            </a:r>
            <a:r>
              <a:rPr lang="en-US" sz="1900" i="0" kern="1200" dirty="0">
                <a:solidFill>
                  <a:schemeClr val="tx1"/>
                </a:solidFill>
                <a:latin typeface="+mj-lt"/>
                <a:ea typeface="+mn-ea"/>
                <a:cs typeface="Arial"/>
                <a:hlinkClick r:id="rId3" action="ppaction://hlinkfile"/>
              </a:rPr>
              <a:t> </a:t>
            </a:r>
            <a:br>
              <a:rPr lang="en-US" sz="1900" i="0" kern="1200" dirty="0">
                <a:solidFill>
                  <a:schemeClr val="tx1"/>
                </a:solidFill>
                <a:latin typeface="+mj-lt"/>
                <a:ea typeface="+mn-ea"/>
                <a:cs typeface="Arial"/>
              </a:rPr>
            </a:br>
            <a:r>
              <a:rPr lang="en-US" sz="1900" i="0" kern="1200" dirty="0">
                <a:solidFill>
                  <a:schemeClr val="tx1"/>
                </a:solidFill>
                <a:latin typeface="+mj-lt"/>
                <a:ea typeface="+mn-ea"/>
                <a:cs typeface="Arial"/>
                <a:hlinkClick r:id="rId4" action="ppaction://hlinkfile"/>
              </a:rPr>
              <a:t>github.com/</a:t>
            </a:r>
            <a:r>
              <a:rPr lang="en-US" sz="1900" i="0" kern="1200" dirty="0" err="1">
                <a:solidFill>
                  <a:schemeClr val="tx1"/>
                </a:solidFill>
                <a:latin typeface="+mj-lt"/>
                <a:ea typeface="+mn-ea"/>
                <a:cs typeface="Arial"/>
                <a:hlinkClick r:id="rId4" action="ppaction://hlinkfile"/>
              </a:rPr>
              <a:t>FarshidKeivanian</a:t>
            </a:r>
            <a:r>
              <a:rPr lang="en-US" sz="1900" i="0" kern="1200" dirty="0">
                <a:solidFill>
                  <a:schemeClr val="tx1"/>
                </a:solidFill>
                <a:latin typeface="+mj-lt"/>
                <a:ea typeface="+mn-ea"/>
                <a:cs typeface="Arial"/>
                <a:hlinkClick r:id="rId4" action="ppaction://hlinkfile"/>
              </a:rPr>
              <a:t> </a:t>
            </a:r>
            <a:endParaRPr lang="en-US" sz="1900" i="0" kern="1200" dirty="0">
              <a:solidFill>
                <a:schemeClr val="tx1"/>
              </a:solidFill>
              <a:latin typeface="+mj-lt"/>
              <a:ea typeface="+mn-ea"/>
              <a:cs typeface="Arial"/>
            </a:endParaRPr>
          </a:p>
          <a:p>
            <a:pPr indent="-171450" defTabSz="685800" rtl="0">
              <a:lnSpc>
                <a:spcPct val="150000"/>
              </a:lnSpc>
              <a:spcAft>
                <a:spcPts val="450"/>
              </a:spcAft>
              <a:buFont typeface="Arial" panose="020B0604020202020204" pitchFamily="34" charset="0"/>
              <a:buChar char="•"/>
              <a:defRPr/>
            </a:pPr>
            <a:r>
              <a:rPr lang="en-US" sz="1900" i="0" kern="1200" dirty="0">
                <a:solidFill>
                  <a:schemeClr val="tx1"/>
                </a:solidFill>
                <a:latin typeface="+mj-lt"/>
                <a:ea typeface="+mn-ea"/>
                <a:cs typeface="Arial"/>
              </a:rPr>
              <a:t>Education is the most powerful weapon you can use to change the world. — Nelson Mandela</a:t>
            </a:r>
          </a:p>
        </p:txBody>
      </p:sp>
    </p:spTree>
    <p:extLst>
      <p:ext uri="{BB962C8B-B14F-4D97-AF65-F5344CB8AC3E}">
        <p14:creationId xmlns:p14="http://schemas.microsoft.com/office/powerpoint/2010/main" val="3190861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CU Presentation">
  <a:themeElements>
    <a:clrScheme name="ACUColourScheme">
      <a:dk1>
        <a:srgbClr val="3C1053"/>
      </a:dk1>
      <a:lt1>
        <a:srgbClr val="FFFFFF"/>
      </a:lt1>
      <a:dk2>
        <a:srgbClr val="3C1053"/>
      </a:dk2>
      <a:lt2>
        <a:srgbClr val="E8E3DB"/>
      </a:lt2>
      <a:accent1>
        <a:srgbClr val="F2120C"/>
      </a:accent1>
      <a:accent2>
        <a:srgbClr val="3D3935"/>
      </a:accent2>
      <a:accent3>
        <a:srgbClr val="8C857B"/>
      </a:accent3>
      <a:accent4>
        <a:srgbClr val="3C1053"/>
      </a:accent4>
      <a:accent5>
        <a:srgbClr val="E8E3DB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err="1" smtClean="0">
            <a:solidFill>
              <a:srgbClr val="3D3935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_Template_4_3_V2.potx" id="{F3B38964-EE74-4E1D-A3FE-21D8EB788CBF}" vid="{2C9D612A-0DB5-43BD-9B9F-0A9FAAF24DC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DC8B17FFF79F46AB892AACDE15F09D" ma:contentTypeVersion="1" ma:contentTypeDescription="Create a new document." ma:contentTypeScope="" ma:versionID="a5ba99c893f738a110fead59b8aec54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c96ba11fc0b0f11135d6dc28d8a2ff0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19D6D79-91EF-4340-8C3D-E484566A2E2F}">
  <ds:schemaRefs>
    <ds:schemaRef ds:uri="http://purl.org/dc/dcmitype/"/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4360E499-BA5F-475B-94B4-A8CCAB27634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05866CA7-3031-48D4-BC56-8127880CD39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PPT_Template_4_3_V2.potx</Template>
  <TotalTime>5485</TotalTime>
  <Words>4592</Words>
  <Application>Microsoft Office PowerPoint</Application>
  <PresentationFormat>On-screen Show (4:3)</PresentationFormat>
  <Paragraphs>1174</Paragraphs>
  <Slides>69</Slides>
  <Notes>68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5" baseType="lpstr">
      <vt:lpstr>Arial</vt:lpstr>
      <vt:lpstr>Calibir</vt:lpstr>
      <vt:lpstr>Calibri</vt:lpstr>
      <vt:lpstr>Wingdings</vt:lpstr>
      <vt:lpstr>ACU Presentation</vt:lpstr>
      <vt:lpstr>think-cell Slide</vt:lpstr>
      <vt:lpstr>Data Quality, Database Administration and Security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ACU Presentation</dc:title>
  <dc:creator>Husnen Rupani;Simone.Byrnes@acu.edu.au</dc:creator>
  <cp:lastModifiedBy>Farshid Keivanian</cp:lastModifiedBy>
  <cp:revision>1410</cp:revision>
  <cp:lastPrinted>2017-08-03T04:07:41Z</cp:lastPrinted>
  <dcterms:created xsi:type="dcterms:W3CDTF">2017-05-11T09:33:32Z</dcterms:created>
  <dcterms:modified xsi:type="dcterms:W3CDTF">2025-10-27T04:05:25Z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0x0101007CDC8B17FFF79F46AB892AACDE15F09D</vt:lpwstr>
  </property>
</Properties>
</file>