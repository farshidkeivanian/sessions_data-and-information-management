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9" r:id="rId5"/>
  </p:sldMasterIdLst>
  <p:notesMasterIdLst>
    <p:notesMasterId r:id="rId108"/>
  </p:notesMasterIdLst>
  <p:sldIdLst>
    <p:sldId id="421" r:id="rId6"/>
    <p:sldId id="925" r:id="rId7"/>
    <p:sldId id="258" r:id="rId8"/>
    <p:sldId id="2578" r:id="rId9"/>
    <p:sldId id="2579" r:id="rId10"/>
    <p:sldId id="2580" r:id="rId11"/>
    <p:sldId id="2581" r:id="rId12"/>
    <p:sldId id="2583" r:id="rId13"/>
    <p:sldId id="2584" r:id="rId14"/>
    <p:sldId id="2585" r:id="rId15"/>
    <p:sldId id="2586" r:id="rId16"/>
    <p:sldId id="2587" r:id="rId17"/>
    <p:sldId id="2614" r:id="rId18"/>
    <p:sldId id="2588" r:id="rId19"/>
    <p:sldId id="2589" r:id="rId20"/>
    <p:sldId id="2590" r:id="rId21"/>
    <p:sldId id="2591" r:id="rId22"/>
    <p:sldId id="2615" r:id="rId23"/>
    <p:sldId id="2595" r:id="rId24"/>
    <p:sldId id="2596" r:id="rId25"/>
    <p:sldId id="2597" r:id="rId26"/>
    <p:sldId id="2598" r:id="rId27"/>
    <p:sldId id="2599" r:id="rId28"/>
    <p:sldId id="2600" r:id="rId29"/>
    <p:sldId id="2601" r:id="rId30"/>
    <p:sldId id="2603" r:id="rId31"/>
    <p:sldId id="2604" r:id="rId32"/>
    <p:sldId id="2602" r:id="rId33"/>
    <p:sldId id="2605" r:id="rId34"/>
    <p:sldId id="2616" r:id="rId35"/>
    <p:sldId id="2624" r:id="rId36"/>
    <p:sldId id="2625" r:id="rId37"/>
    <p:sldId id="2617" r:id="rId38"/>
    <p:sldId id="2618" r:id="rId39"/>
    <p:sldId id="2626" r:id="rId40"/>
    <p:sldId id="2627" r:id="rId41"/>
    <p:sldId id="2628" r:id="rId42"/>
    <p:sldId id="2629" r:id="rId43"/>
    <p:sldId id="2630" r:id="rId44"/>
    <p:sldId id="2631" r:id="rId45"/>
    <p:sldId id="2619" r:id="rId46"/>
    <p:sldId id="2622" r:id="rId47"/>
    <p:sldId id="2633" r:id="rId48"/>
    <p:sldId id="2634" r:id="rId49"/>
    <p:sldId id="2635" r:id="rId50"/>
    <p:sldId id="2636" r:id="rId51"/>
    <p:sldId id="2637" r:id="rId52"/>
    <p:sldId id="2638" r:id="rId53"/>
    <p:sldId id="2639" r:id="rId54"/>
    <p:sldId id="2640" r:id="rId55"/>
    <p:sldId id="2641" r:id="rId56"/>
    <p:sldId id="2642" r:id="rId57"/>
    <p:sldId id="2643" r:id="rId58"/>
    <p:sldId id="2644" r:id="rId59"/>
    <p:sldId id="2645" r:id="rId60"/>
    <p:sldId id="2646" r:id="rId61"/>
    <p:sldId id="2647" r:id="rId62"/>
    <p:sldId id="2648" r:id="rId63"/>
    <p:sldId id="2649" r:id="rId64"/>
    <p:sldId id="2650" r:id="rId65"/>
    <p:sldId id="2651" r:id="rId66"/>
    <p:sldId id="2652" r:id="rId67"/>
    <p:sldId id="2653" r:id="rId68"/>
    <p:sldId id="2654" r:id="rId69"/>
    <p:sldId id="2655" r:id="rId70"/>
    <p:sldId id="2656" r:id="rId71"/>
    <p:sldId id="2657" r:id="rId72"/>
    <p:sldId id="2658" r:id="rId73"/>
    <p:sldId id="2659" r:id="rId74"/>
    <p:sldId id="2660" r:id="rId75"/>
    <p:sldId id="2661" r:id="rId76"/>
    <p:sldId id="2662" r:id="rId77"/>
    <p:sldId id="2664" r:id="rId78"/>
    <p:sldId id="2665" r:id="rId79"/>
    <p:sldId id="2663" r:id="rId80"/>
    <p:sldId id="2667" r:id="rId81"/>
    <p:sldId id="2668" r:id="rId82"/>
    <p:sldId id="2669" r:id="rId83"/>
    <p:sldId id="2670" r:id="rId84"/>
    <p:sldId id="2671" r:id="rId85"/>
    <p:sldId id="2672" r:id="rId86"/>
    <p:sldId id="2673" r:id="rId87"/>
    <p:sldId id="2674" r:id="rId88"/>
    <p:sldId id="2675" r:id="rId89"/>
    <p:sldId id="2676" r:id="rId90"/>
    <p:sldId id="2677" r:id="rId91"/>
    <p:sldId id="2678" r:id="rId92"/>
    <p:sldId id="2679" r:id="rId93"/>
    <p:sldId id="2680" r:id="rId94"/>
    <p:sldId id="2681" r:id="rId95"/>
    <p:sldId id="2682" r:id="rId96"/>
    <p:sldId id="2683" r:id="rId97"/>
    <p:sldId id="2684" r:id="rId98"/>
    <p:sldId id="2685" r:id="rId99"/>
    <p:sldId id="2686" r:id="rId100"/>
    <p:sldId id="2687" r:id="rId101"/>
    <p:sldId id="2688" r:id="rId102"/>
    <p:sldId id="2689" r:id="rId103"/>
    <p:sldId id="2623" r:id="rId104"/>
    <p:sldId id="2691" r:id="rId105"/>
    <p:sldId id="2690" r:id="rId106"/>
    <p:sldId id="1850" r:id="rId107"/>
  </p:sldIdLst>
  <p:sldSz cx="9144000" cy="6858000" type="screen4x3"/>
  <p:notesSz cx="6805613" cy="9939338"/>
  <p:custDataLst>
    <p:tags r:id="rId10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20C"/>
    <a:srgbClr val="3C1053"/>
    <a:srgbClr val="3D3935"/>
    <a:srgbClr val="8C85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 autoAdjust="0"/>
    <p:restoredTop sz="94694"/>
  </p:normalViewPr>
  <p:slideViewPr>
    <p:cSldViewPr snapToGrid="0">
      <p:cViewPr varScale="1">
        <p:scale>
          <a:sx n="70" d="100"/>
          <a:sy n="70" d="100"/>
        </p:scale>
        <p:origin x="1677" y="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theme" Target="theme/theme1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tableStyles" Target="tableStyle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tags" Target="tags/tag1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presProps" Target="presProp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9F06E8D-ED5A-15EA-46DD-810980005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693E8DA-40C4-9D8B-8285-840CD98A2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3252946-FC40-9925-0B8E-7599804A5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82AB87B-FA5B-8AC5-F56C-41AA3FCEF9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242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93703FD-7FC2-23D8-A4B6-D7CC7D71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BDAFC09-3B67-A5DC-5B4A-6F97423E4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CEC723A-3452-F2EE-727F-E24FE1F9F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DA7506C-4834-FBEC-0D79-8CBA90DCDD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044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DC6C94D-A516-5A9E-3A64-48558EAA3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0F5A68A-D1A1-040E-6240-D0B3629F3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0B0B2CA-8D0E-3DD2-C343-2D6545439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A8C0D7F-C631-650C-E373-F1A9AD6CD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204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D8BDECD-2045-7672-C034-73BABA0F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158AAE8-0E91-4C6E-F22F-263757EB6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B881920-93EB-C565-03FB-EC68121A4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4F696F3-2C1A-F0CC-A087-0C4179A885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1626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4443741-3523-67E8-C22B-CA155CD0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EA38CBC-07E5-DAE4-3292-26EFF09D7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CD00489-24F8-3327-CAF4-D8BA52460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11A8A86-E96D-CDA5-C880-56013FEEB8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1311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CF1338D-C609-68D6-BE08-2CCDD586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CA3C23F-9F73-0E98-4C5E-6E15FA23F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AAC108E-D023-09ED-C2E6-3DF94BE82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424B1A8-7B74-E281-5251-53A001E45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5897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24A56C3-D90E-603C-EFB9-E99B2C2E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B958483-B225-BE8A-CB1F-60502B4D8D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5E2977C-899B-06D1-1505-954ED832E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A78DE06-4690-30BC-A69F-E004F1F9F3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696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7BD1AAB-4E19-22D7-7A26-67B45240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DCDBC40-726C-88F8-A5CE-8268404C0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0D92492-575E-B564-823A-EEA207A58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C5B87B9-B7E3-BC2F-4FE4-5900D27A62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842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AF2ED90-47DE-EB3F-6AB0-D3BFCD62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B0600DF-7454-A5F2-0A7A-5D68777C0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ABEF1DF-580E-02DF-D08F-DCB76FDB15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AF4E94E-7268-D335-738D-91B69FDBEA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490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BFEC4A6-B209-5470-8ABB-F1B0B28A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9A46228-5883-3D16-7A7C-F25DBBE70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49FE4DB-00E3-5BCE-2A3F-5312059C0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BE3D3EA-0A02-9BD2-E1DB-8DDFE24974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491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E25A046-A4A4-A6AD-2555-5C2A396C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23AEE71-A837-1C7C-BACF-E71D128F7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6FA5590-83E2-0B87-4272-1EB3934DF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A03D45D-7013-E08C-CED0-0937BD6595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8892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BAEB97D-DABB-0B22-92AD-1A267E6F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CE1E98B-B744-0D0A-E3CC-D8F98A109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499C754-AA1F-7251-0188-D447417BB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9CE3E9E-A65A-F392-E574-4FCC37111E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56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8DDB65B-3BFF-4284-3DB0-A82D50C2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459BA10-0573-2355-2BD1-AFDB95BDC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80F2E65-4852-229A-0CAA-067110D9C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26E368B-1E81-34E5-A114-3B2CBC557E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004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A48BD1B-6976-D4A7-4C11-67A5BCB5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B491456-7319-0DA2-C853-843A8ACF5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C5F426E-1DB2-D008-7633-10867A81A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681D6C7-E26A-6AF9-7629-E5B04EEFCC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017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46F9FBC-1E00-A729-EEEC-5FB88676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B90A96C-CCE9-FA5B-C626-733A05609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D027057-7857-396F-5D89-52DE92DD6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047FB41-6F80-8D89-A4A3-FD68D5F022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38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5DB3486-1593-C9F7-7A8A-F1819AD7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2A6897B-E994-55F2-E287-CD4BB0AAA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B83860D-92EC-E841-65C8-6052EFC0C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B23CEFC-4BD5-1848-4038-ACDB3BE751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409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3C2BB98-642A-57CD-C633-8E94E34D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2A0B41-3BEC-AA7D-7686-233D7C166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BF7AADF-67AD-F71B-F0E1-CB9E34932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CD60BA9-D25B-7B44-2386-44D9765757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701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CE2516C-8EFF-1223-879C-1B72D161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A55D603-EDA2-B079-16DA-C04554192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708A4B7-7CEC-6B4B-9545-CB7951B65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3D76BE0-E327-4A79-70EB-B3079E21F5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7536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008E3B1-4C94-1A15-FC97-452C1BE0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BC8173B-47CE-B4D6-7DB3-2C354D33C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52C4DD6-18D8-9825-9707-36C83CA1F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0842020-5E7A-F8E0-B521-8337C1FCEF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3607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0AB76D1-7C2C-A385-44D8-6571736B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FD4C180-D5AC-2D6D-37D2-172DB4956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12BA2A3-CBA0-B181-490B-D9F6B89C26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3C17497-A4B0-8D11-5EB3-63AD2720D5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097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126C44D-1D0C-8A1F-1DD4-02832AF1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675E1CD-E523-7F9B-08DC-E5475E0F0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E81A16A-7687-AAD9-9975-77336BA27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29C05F6-B2FE-94C7-1CF6-B6AE211D27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729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59AB738-B0E8-4686-FDD0-C7409F585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F6520C1-9BC8-5ABA-6721-77FA92C38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6BBE72B-AE8A-9454-DE49-6C13601B2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1395C60-7CF7-FACD-988C-789275BC4B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2857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35F0D47-E896-CCF6-CC1B-2376EEAD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D6EBE66-3D6D-93B3-367D-576F4367D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872E2A9-5911-A49A-5318-39791D5DD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E736394-3103-27BE-324F-72B6D5845C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2931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6ECC008-1BF9-89DB-C493-58A2929C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D8A8860-D3DC-9C2F-DFC0-1F1BD1FA1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585AE61-FA83-AE4A-098F-E504C04DF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BB01499-22D1-4B8E-7786-3B94B4DF5F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5271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34B7114-B6F3-F7B0-EA0D-F257CA2F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D5B9B88-CE45-BA18-5C6D-4BAE30651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D3BE34D-8CA8-D1A8-57D9-36303DEF5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368D70B-72F2-94F9-F4FA-1CB999CAE2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4853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6E9914F-E40A-C366-72B9-FEBB1039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C8A8A3E-0331-024C-BF5A-ADBA83629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B53F111-A421-2EB4-431D-50DFF698B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B30ED1C-E2A0-E756-CE45-3A9C2A109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832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1E84EDB-0FFB-E7B7-B3CE-601D070C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9A78907-D985-C207-C00E-45AD6EC8C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442B8B5-6219-D042-7295-AEBE02EE0E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25438E4-6E65-C22F-4B2E-6952C9205B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7614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3276591-B1DA-74BE-2BFC-B7E2C418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AA3E93C-F81B-0FC6-7D9D-13D4B175E7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83A2C2D-0B4D-6018-9FEE-D68FA4B99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7A38CA3-7892-771C-AC59-47B5E474BD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8243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39BF90D-2B78-E86C-586A-EA105A509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67CC500-D32C-6C7E-74A7-D534E7193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95CE22A-3B2F-E82A-F6A3-BB33EE4F1A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26D09D1-7588-E463-90D9-340A78E609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35882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1E84EDB-0FFB-E7B7-B3CE-601D070C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9A78907-D985-C207-C00E-45AD6EC8C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442B8B5-6219-D042-7295-AEBE02EE0E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25438E4-6E65-C22F-4B2E-6952C9205B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8724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D0C989C-074C-7C46-53BC-515C7B6B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431C9DF-FD22-F46F-6613-04D5B9BD0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9F8BD81-647D-C5C5-8F7D-57FB3656D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040F234-F91C-5F49-2608-D5D6F12AA2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5544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26F9CEF-2B1B-BC7D-FDD7-8477EAA7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F65471F-D606-A83A-035D-2D228AF59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E286922-4E06-829A-AB20-4F6F2B237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B71F634-F0A8-8341-6ED2-FD7533D3CB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72811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694D17D-AA51-4BED-4D85-6158DACD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17E16D8-94B9-9C8B-FCD2-E7F093A89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0CAA70C-AAD8-AB2D-FD0A-706441FEDB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B5255FA-0487-4444-5326-E1C230DE02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7843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40775B5-672C-BD2E-5FA9-FC1C775B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0ED9DA7-C2CD-DDD5-A533-5125D16D0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4B76A17-20CF-851D-EF13-186360031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ED022A7-B9A6-171C-6434-09C7250317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7666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13F5952-F17A-95C7-6286-8CBA95A8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45169CE-6E5E-DAFB-FDF6-71953D7B2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CE46137-BB76-0572-867A-B28823891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2EB5FDC-C1BE-717C-005E-C7962A4C81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8911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CCFDD6A-99F6-6387-FE6D-D1F4125B5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C171C33-F4B4-848E-8B0E-F0096421D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A302D58-6E8D-67AA-206E-B28F3948E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FB9C117-40FA-A6BD-427C-B6D5FE7C71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9118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F47F9C9-81E3-2C9A-9591-58B1C8E2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51A6338-E195-CB94-2F86-8F513956C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E55FD33-63C0-349E-B833-37EF08914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4AA7CA9-C9AC-9BAD-D289-6D18678CE4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2287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D0C989C-074C-7C46-53BC-515C7B6B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431C9DF-FD22-F46F-6613-04D5B9BD0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9F8BD81-647D-C5C5-8F7D-57FB3656D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040F234-F91C-5F49-2608-D5D6F12AA2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50536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9B612E5-DDF4-7B31-1A91-65D3C573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CE39C13-07DF-9E82-FBF8-028E1BB9A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DE87703-3D31-34F1-705D-C968E319C9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2F100BC-0497-5320-CA87-D67E31CDBD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321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BDD56A4-F990-9596-357E-12F011B7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C08292F-3700-1739-20B2-554D1232D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C170684-7BF7-84E4-8240-2F72091F6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EA0357A-FCB6-F78B-D3E6-7EAB22F46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4393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F026BA7-5755-E861-0148-504DB25E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4F9B0CB-CC59-7C8D-57C0-F9EF7CC10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DEE563A-2348-673A-BA31-CA87639D1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6D41019-90A5-D499-FDE4-702BDF6AD8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1425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289EAAD-6CFE-6967-2993-F04D0835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02A8482-AC5B-78E8-4B69-FB50496F0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F516CCE-E75A-75F2-1772-72231D52D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44715EC-4110-F091-0CB7-0B335B0C9E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4916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CAEA6BD-9A34-E9D5-740E-71F3BAB0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2385012-DCF9-5259-3C43-DA11FABC6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3CD5FB9-F040-8A81-DFCD-7EF8CBB10E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45BF43C-4F31-3503-FA5E-36116CC9A7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80872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2AE87DC-B186-2049-C5E4-33C3990D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AB26D4D-2DE2-C544-2747-B68657EE1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E000FA5-A9C2-83DC-05DA-55DC8335A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33B2EE3-164C-4878-8DAF-A585F8D584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1036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DAC735E-DC38-612F-25E0-86FC424E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C8BD4E0-BAA0-0B0B-D41B-2226FE170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FCABE75-6EB9-E694-5848-92F48B6A1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07EE08C-BE48-E0D6-42B2-1508E8C9E2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9276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9EC67DA-373F-8E5E-F904-33F3F1F19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746324B-9572-BE17-06AA-705E791CB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17F3869-07C3-CF6E-E0BA-C0F7C204F5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1215897-EFCA-80F8-DF5B-4B91F6F08A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2176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089943A-4C5F-1C6F-A6B2-EE85EFCE2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ECE7AA9-70E7-234A-D8AE-70E371A06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A01658-D52E-CF6B-BCB9-E2C48A5A2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54CB71B-04C3-4225-2381-66B224BA0D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7904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44954ED-0838-43EF-CCDD-B08EB43F9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F299E81-CA90-9DE3-8787-4E17BBE0AB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40A34D0-DC2E-A5C8-081A-75680A85F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0091139-AA71-8113-57C3-D68CA42AF4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42526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BC4E492-6416-BE6E-C66D-11A2658F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5032720-2146-255B-16FB-FFB0B0A11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BA56B29-A23E-2C7C-49FF-05C2C0C4C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B956E80-109D-BAE2-8A25-7BCA24D8DB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4588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6EA682F-107E-2695-474D-2FA178B9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341D26E-AE0E-B3E7-437A-6C3D0A5887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D7ABDC4-93B2-76C2-3752-81B2DC835B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DCA7950-9B6B-091C-4711-CCF15AEE9E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5836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9306C44-4498-DC4F-F2EE-9162ACF3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B7B0151-792D-A2C3-15C7-924CE0CE8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C82E166-F131-885B-E9F0-BD6E7BBA2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733EBDC-06FD-754A-364A-636C665404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8090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E907BAA-A466-4EFE-F8EE-31E2E628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51B4674-0BA9-8313-2489-8476396A9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8F97144-3A6E-56D1-4D65-0F4D2D7F1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71ABDCD-D88B-1CD2-2062-1BA67C9A86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1830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8B004B3-4424-1047-9E04-58142650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BE7D23E-6FD3-D81C-56F0-A2FB5AF4F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5374515-3F5C-13DE-9FFC-2FCB83B33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6882D62-5B54-8E79-CA7E-463C0CCA31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9138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46EA10C-7376-00CF-953F-4B79FDDC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D3575EB-E8D6-2948-870A-414DB1049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79DB492-6035-4442-2247-F5B3520BD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7393AFB-03E3-4727-8A61-15B476CA78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140341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EB5879-1C0D-AE48-E96A-6EF82231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1178E0-DFED-8010-E78C-3E93A0594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6B77BE5-95D4-666D-87FC-7049E0C1A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A84D484-A45A-FE06-1230-8F9859F8BB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3998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1E6A3A8-06C2-0869-11BD-FA575F53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03A9051-FB88-BD80-C50F-749F92211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1E73D73-8795-1028-0FE8-AE930C2B4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CB29CC1-6222-5E2D-9234-ED227A813B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3029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FDEF305-7FEA-23A9-C8AC-EDA295A8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B8881E1-3BDC-A8C0-9DF1-1A0CA0270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FB9A056-0FD2-4B06-F0E6-08AD68C5E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9687D02-388A-B46D-A997-997C20C83F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7467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DB9AB5F-4C38-A60D-E240-24A64679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2DBDCBF-8014-A96C-C801-62E21DAE8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D096A20-9755-CBD6-03CD-86C4C88ED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032F11-0E51-02BF-001E-A851C691DD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01785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8D2F3F-A08B-E3E1-817D-8869ABFA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F64BC1F-CCD9-D640-6E90-F6E2D03A1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BD8E70A-6C3C-E71D-833F-82BC867A8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6F82877-5A82-53CE-F8EC-4B1A0C4297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397319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A43C1AC-63F9-601D-F623-3809543E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9CE04CC-8F19-112B-A902-462791BCB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2DDB71-556E-423B-675D-CA961DD9C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EA76D60-B911-12FE-6A5D-CCB4F8A5AA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08094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39ED00C-F7CB-F48B-FE00-C54746FF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DB09EE8-FD10-B951-826E-8EEF78E92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AD7CE28-17F9-3F5E-6B67-B6BD2AA4F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76A8067-03C2-321F-B1BE-BEE2FCBCAC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4128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2C57C17-3DF9-315F-4F10-5629B516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8C8BE2A-7F8D-638B-CF58-0A9736432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062FCAC-6DEB-A9BB-1D03-9F5ADE28F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DBBE660-AAD0-5BE0-10DC-BA4D7E84BD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3253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C5D51C7-BC0E-7F2B-5287-CD05E906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EAAA4FE-C10B-0B0F-E1C5-B94D37544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2C6592F-AC2B-19FD-4C28-70FEBE4AD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5BFA203-4D8A-82BB-D167-CE11BE15B1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985956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6A24A0-7834-2138-C3B2-24ACE9C6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307EE9E-4A68-AF56-2F9B-201FEEBF3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ADDFBEC-BC3C-F321-ECB4-55A13FDA4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8A67E13-E3C2-8212-CA34-E358D9574B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6185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0688916-94E0-DE64-22E1-44A561E1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AABA41E-FA52-4F69-AE17-F242CCADD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A70FC80-35FC-02DC-2028-BE9E6DBF0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9DB0949-79BA-B6B9-3394-8A18F88BA8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14573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AF26364-90CF-F4BE-164A-6A6A312E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7FE82CE-648E-18BE-5A66-81066F578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43626C3-E4FE-B9EA-EE39-5D6FEDF91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B2756F5-308F-9D25-2589-C91EC07CD0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2546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3522231-B965-B182-4392-D1559B49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C66E402-E61F-9574-F42B-9F29FE00B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BC24AB6-7A69-368E-B01D-8F626240A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956D2D0-3CFC-681B-DC7A-CAE0A872D0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2747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8CD664B-9105-7F8C-D256-7D1C53E5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0CF6316-1866-2254-1894-CED6111808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2D011AF-405E-992B-9293-6CA1162BB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71A422D-3DA7-96FC-00AC-8D411B8B12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2534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03AF9EF-33EF-00D7-A389-0808B6E8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98416A1-E926-15B6-AAF8-218984A55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C167EF4-D569-3561-6EF0-F633005DD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A1AADC6-1053-05AE-D089-96E64122E6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78418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CBA7A65-F546-02B5-5DF1-1C0CC7C6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602E7D4-4BAC-42B2-3592-840C705BB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1347911-DC92-F298-BE09-4B187B816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63956FC-A943-B877-F11A-86AE215D7A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79534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C4109C-32F1-0F5C-CC48-0B38D2CC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EE7E360-F232-8CBB-FC7B-2E935AE19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92F1290-EB5A-2D47-4E31-A962F80B0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BEE08E0-55C1-FC58-CD34-FC1B21406E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7345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99F267E-60E7-7C9A-C98E-821B69DBE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4ADCAE0-528A-6D67-BA99-AB783B28B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23CD783-5D72-1EB2-631D-FA5EFEB78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BD075C1-F70D-0C6E-C50D-066877E8EF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9993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06B02FF-FD81-50E4-3983-AFBD6D3C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6CAEED6-6CD8-B416-2502-671AC86D6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C9D8889-5C10-A8DF-03AE-95ABB84EA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8359D53-D682-D196-1EC5-5A8AB420EC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38200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679780D-487B-BECC-374F-9F2C8D31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B0620B8-4454-A48D-0CCE-29425E121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57CD081-886F-8B54-DABA-C09AE14FA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CD6FFEF-F4C0-58DB-89CD-C51428ACB6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275754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02FB133-F925-5E3B-034A-DD4BAD4E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5A93181-53CD-4B8C-78A2-34223A77E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6C5DAE6-0560-C32F-332C-062069E0A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F6B7B79-B541-92D7-15CD-B4E44E7EC0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61703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7EC6187-716B-5B3A-73C9-9A524CBA7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D18FFA8-ED97-6FE3-231F-59819215E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26ADA2B-DA74-1EBA-2EAE-57C610EA1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9BCC627-200E-CF48-D829-30D32F91A0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00858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D03772F-5040-63B7-BC7B-88EC992A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0EC3CB5-CD4C-B137-D242-88F47DD31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02F7005-E9FB-7E2D-A735-B4D9B6122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95A2CF3-62C0-8AD6-7316-763C2837EA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0764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919D137-B83F-F0B6-52D4-7E711ED7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25382FB-513A-F4F9-D1B1-A64B14677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9E1AA1E-3045-FF7D-C30C-A4D9D9E06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CBC2B2B-8FDC-2AF8-1A3F-2531355896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22478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901FF34-AB93-05BD-84DF-C7878AA8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537831B-A580-5BE7-2199-BABF181326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9CD442B-D303-A59B-223C-588FF138A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0871523-8B7A-8AB6-2022-2F983E36BF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74219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66BECB6-0CF0-3B09-222B-A02D5ED5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4A174AA-5B51-7499-92CB-ECC458C98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71815A9-CEFB-12A9-6CE7-9AA5A65A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BF2EDBE-F94B-3A03-B4C0-CFC6E9F5C5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151232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EA15C4C-E59B-CD79-E37D-2D7B3769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830B7FC-E772-3CC9-402F-20AEA02F6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0F9C0D3-BE92-8063-EC05-72F55D29A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3D072F1-6CE3-657B-447E-C28B4C2515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306037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D409EA7-3964-6AC4-04FF-02FBD676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B882162-98FC-EA6D-572B-EF607045A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E1234F0-E340-67F6-D00F-BB78C3881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6601179-E099-B2E3-87FD-8C9A75D2F9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1074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5CF663A-DA0D-52A4-F8E5-DB766350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D6413E4-F389-2064-B195-3D538279F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026AF81-C9B3-DCFA-8D43-84421A4DE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A4E9F3B-7584-3318-C0C6-895AA8DC8F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663945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9320C71-C932-8724-C8F6-24FF32278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A511611-14F3-7A6F-F2B3-D227C7691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9B3C61A-AFC2-F20C-B2A8-04508E2101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887D9C6-28D7-0BF6-10F5-00E8860184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32663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C5F5DB2-2BD7-B6FF-AA59-61C0D6BC9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381B122-5EE7-C002-4933-3E5562460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72F14A2-4042-C79A-48B6-F17F0F4A3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11A91DF-C0B5-5A02-485F-04672AE2EF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237007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82A7609-59DB-F170-A4D8-4B289C0C3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FCBCEAF-C641-B447-21EA-B58BADFC4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1320952-3FDE-F489-C009-1E4F77061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54C7519-5234-0C8B-F9B6-2EDBA10969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04934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40F1E2D-AB1D-4AFB-1C60-744D2535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EA0E9EC-82FD-01D1-35E3-FE2914B1E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7727829-FE27-C3C5-E771-F76F10820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14E797E-622D-F064-BA0F-E7DC33F6C0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11355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3AEA5D6-3F1A-BA92-55F6-DB200F19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C8EADA4-3506-B946-F16A-70256104F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CA38602-9B6F-2181-EC35-7482A387F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2915F3F-315C-B97F-EF13-092FE10700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3917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7D652C2-774F-D8C6-DD44-70B20CC3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25FBCBE-F221-0596-5710-FB4E9599B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8982C3A-22FE-263C-8459-67FD083B1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F33F551-93BD-CED1-9575-2A6530DE11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94109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74DD1B6-5068-ABEE-2441-79853A8E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F04006C-ED01-9FBD-D78F-34DEFC871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EC4E246-275A-5DDE-67C9-A6199E6A7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CAE76BB-24E6-6081-1F5F-90926E5EBF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206930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FB8F1E1-23B6-5D4E-37A6-044171F0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93180F6-D7E2-C61B-E0FB-C429355395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DD1B7DF-96FA-F3A9-B4BC-8F8ECC56C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D42A6BB-EA71-AE4F-B04C-A218E9421B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24863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604E2BA-C3CC-C165-373A-F80922347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13DB49C-1036-BBE0-8997-A1AF33DE8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883214E-12E1-2A70-3C52-1E58FFD85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4701087-CA9F-8AAE-356F-4DDEC25A21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03577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8C4ACD8-56AE-61C4-573A-F40437A7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20CAB77-F3F8-61B0-A1CE-F15DFA367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53CA5B4-91A1-14CC-9A94-C911F4584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8D933B4-CCD5-3604-DD2D-E40BF32BF1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39566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AD9B4B-9D57-1C23-D1DB-EFFF77E9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F261A26-2AFD-2DDC-B1E0-9C693A986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E1353F4-9A9B-6C90-A298-2D6D41564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2312ED6-2E75-3FCA-D49C-A329C59DF7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79318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26F423D-16DB-B2E2-B632-811C81129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0730C23-BA9D-2CC5-AF53-05F432DDE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73412CD-AD66-D7FD-4ED4-3DB945AF4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DFEA5D5-2CCF-589C-7D00-E53F81A51D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82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596" y="713233"/>
            <a:ext cx="3767469" cy="334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19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8411246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19291"/>
          </a:xfrm>
        </p:spPr>
        <p:txBody>
          <a:bodyPr lIns="0" tIns="0" rIns="0" bIns="0"/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03556647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93803120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6872711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766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image" Target="../media/image1.emf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5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6" imgW="347" imgH="348" progId="TCLayout.ActiveDocument.1">
                  <p:embed/>
                </p:oleObj>
              </mc:Choice>
              <mc:Fallback>
                <p:oleObj name="think-cell Slide" r:id="rId86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88" y="0"/>
            <a:ext cx="5027930" cy="454025"/>
          </a:xfrm>
          <a:custGeom>
            <a:avLst/>
            <a:gdLst/>
            <a:ahLst/>
            <a:cxnLst/>
            <a:rect l="l" t="t" r="r" b="b"/>
            <a:pathLst>
              <a:path w="5027930" h="454025">
                <a:moveTo>
                  <a:pt x="5027591" y="0"/>
                </a:moveTo>
                <a:lnTo>
                  <a:pt x="0" y="0"/>
                </a:lnTo>
                <a:lnTo>
                  <a:pt x="0" y="454025"/>
                </a:lnTo>
                <a:lnTo>
                  <a:pt x="4570413" y="454025"/>
                </a:lnTo>
                <a:lnTo>
                  <a:pt x="5027591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/>
        </p:nvSpPr>
        <p:spPr>
          <a:xfrm>
            <a:off x="4572001" y="6397624"/>
            <a:ext cx="4570730" cy="457200"/>
          </a:xfrm>
          <a:custGeom>
            <a:avLst/>
            <a:gdLst/>
            <a:ahLst/>
            <a:cxnLst/>
            <a:rect l="l" t="t" r="r" b="b"/>
            <a:pathLst>
              <a:path w="4570730" h="457200">
                <a:moveTo>
                  <a:pt x="4570412" y="0"/>
                </a:moveTo>
                <a:lnTo>
                  <a:pt x="460375" y="0"/>
                </a:lnTo>
                <a:lnTo>
                  <a:pt x="0" y="457199"/>
                </a:lnTo>
                <a:lnTo>
                  <a:pt x="4570412" y="457199"/>
                </a:lnTo>
                <a:lnTo>
                  <a:pt x="4570412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9338" y="365127"/>
            <a:ext cx="1374775" cy="485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15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54260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5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750523"/>
            <a:ext cx="5119302" cy="2320693"/>
          </a:xfrm>
        </p:spPr>
        <p:txBody>
          <a:bodyPr/>
          <a:lstStyle/>
          <a:p>
            <a:r>
              <a:rPr lang="en-US" sz="3400" dirty="0"/>
              <a:t>Advanced Database Modelling</a:t>
            </a:r>
            <a:endParaRPr lang="en-AU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77CA0-CFDC-4710-905A-A8D8E8AC0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4343399" cy="462758"/>
          </a:xfrm>
        </p:spPr>
        <p:txBody>
          <a:bodyPr>
            <a:no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Week 3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8241F-58BF-4D41-99BA-4E9BE3037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8FF-2021-4F13-BC58-508F61D2C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DF53D-16BA-C4C9-C92B-E8DB979CD7C9}"/>
              </a:ext>
            </a:extLst>
          </p:cNvPr>
          <p:cNvSpPr txBox="1"/>
          <p:nvPr/>
        </p:nvSpPr>
        <p:spPr>
          <a:xfrm>
            <a:off x="0" y="608903"/>
            <a:ext cx="7370956" cy="57554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Advanced ER Modelling – 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Connectivity &amp; Cardinality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Existence Dependence &amp; Weak Entities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Relationship Strength (Strong vs Weak)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Participation (Optional vs Mandatory)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Special Relationships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Associative Entity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Database Design Considerations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Week 3 Tutorial Activities — Hints for Students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Question 1 — Hot Water (HW) spa company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Let’s do Question 1 together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Question 2 — United Helpers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Common mistakes to avoid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Final Hints for Students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Submission of Tutorials &amp; Assessments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Let’s Answer Your Questions</a:t>
            </a:r>
          </a:p>
        </p:txBody>
      </p:sp>
    </p:spTree>
    <p:extLst>
      <p:ext uri="{BB962C8B-B14F-4D97-AF65-F5344CB8AC3E}">
        <p14:creationId xmlns:p14="http://schemas.microsoft.com/office/powerpoint/2010/main" val="214801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46AD0-6036-4879-B5D7-F60847E3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8C77-E952-41E0-8B40-BAC1771F8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4796BC-CEFD-189B-E9D1-5A9CBE8BAF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Advanced ER Modelling – Introduction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E6214-3988-BA86-3529-05DB78221CDF}"/>
              </a:ext>
            </a:extLst>
          </p:cNvPr>
          <p:cNvSpPr txBox="1"/>
          <p:nvPr/>
        </p:nvSpPr>
        <p:spPr>
          <a:xfrm>
            <a:off x="11875" y="1477248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Last Week (Quick Recap):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 learned how to draw basic ERDs (Entity–Relationship Diagrams).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Understood Primary Keys (PK) and Foreign Keys (FK).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Saw how entities connect using relationships (1-to-1, 1-to-many, many-to-many).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6410508-C30F-01AC-FC71-C3D6D658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3A820-BB00-AE44-7AEC-39B26F693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678F-18E5-4199-DFD4-A0A347529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F486D9C-A7A1-EA1D-CA14-6F42018CF4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Advanced ER Modelling – Introduction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5109F-9CDA-8BB2-D0BE-217FBD9B7AF0}"/>
              </a:ext>
            </a:extLst>
          </p:cNvPr>
          <p:cNvSpPr txBox="1"/>
          <p:nvPr/>
        </p:nvSpPr>
        <p:spPr>
          <a:xfrm>
            <a:off x="23751" y="925166"/>
            <a:ext cx="912024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This Week: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We’ll level up our ERD skills → moving from simple drawings to real-world database designs.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Explore advanced ER concepts: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Generalization &amp; Specialization (like “family tree” for entities).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Weak Entities (entities that “depend” on others).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Advanced relationships (multi-way, recursive, etc.).</a:t>
            </a:r>
          </a:p>
        </p:txBody>
      </p:sp>
    </p:spTree>
    <p:extLst>
      <p:ext uri="{BB962C8B-B14F-4D97-AF65-F5344CB8AC3E}">
        <p14:creationId xmlns:p14="http://schemas.microsoft.com/office/powerpoint/2010/main" val="297133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BF7857C-796A-6BBF-3387-CD184FE9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836C0-4E2A-9FBC-65C7-C47EFA897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F1E98-BECE-D458-D488-B20902883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16AAF1-5ABC-0455-9804-9637DDF04F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Advanced ER Modelling – Introduction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128F12-6948-5672-A40C-CAA00E2BA872}"/>
              </a:ext>
            </a:extLst>
          </p:cNvPr>
          <p:cNvSpPr txBox="1"/>
          <p:nvPr/>
        </p:nvSpPr>
        <p:spPr>
          <a:xfrm>
            <a:off x="23751" y="925166"/>
            <a:ext cx="9120249" cy="325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Week 2 as LEGO basics – learning how to connect simple bricks.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This week is about building a full LEGO city with roads, buildings, and rules that make it realistic.</a:t>
            </a:r>
          </a:p>
        </p:txBody>
      </p:sp>
    </p:spTree>
    <p:extLst>
      <p:ext uri="{BB962C8B-B14F-4D97-AF65-F5344CB8AC3E}">
        <p14:creationId xmlns:p14="http://schemas.microsoft.com/office/powerpoint/2010/main" val="254435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EF8FE6-DC88-0D31-8883-43B92118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28C5E-F3F7-6CDD-3CAB-78AF28A57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EBB7A-42D1-C44B-2FCB-EAF244BFD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085BD6-C399-52F9-7F35-D14172525F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FDD0D9-F42C-46B4-786A-B8BD021F9F4E}"/>
              </a:ext>
            </a:extLst>
          </p:cNvPr>
          <p:cNvSpPr txBox="1"/>
          <p:nvPr/>
        </p:nvSpPr>
        <p:spPr>
          <a:xfrm>
            <a:off x="23751" y="925166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Connectivity = type of relationship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1:1 (One-to-One):</a:t>
            </a:r>
            <a:r>
              <a:rPr lang="en-US" sz="2800" dirty="0">
                <a:latin typeface="Calibir"/>
              </a:rPr>
              <a:t> One passport belongs to one person.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1:M (One-to-Many):</a:t>
            </a:r>
            <a:r>
              <a:rPr lang="en-US" sz="2800" dirty="0">
                <a:latin typeface="Calibir"/>
              </a:rPr>
              <a:t> One teacher teaches many classes.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M:N (Many-to-Many):</a:t>
            </a:r>
            <a:r>
              <a:rPr lang="en-US" sz="2800" dirty="0">
                <a:latin typeface="Calibir"/>
              </a:rPr>
              <a:t> Many students join many clubs.</a:t>
            </a:r>
          </a:p>
        </p:txBody>
      </p:sp>
    </p:spTree>
    <p:extLst>
      <p:ext uri="{BB962C8B-B14F-4D97-AF65-F5344CB8AC3E}">
        <p14:creationId xmlns:p14="http://schemas.microsoft.com/office/powerpoint/2010/main" val="287883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76A488F-2182-401D-25AC-45C4BB74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FE0BF-EFAC-9832-192C-1F0319D88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A38D2-9F04-2978-052B-8B9317B9B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109CB37-7ECB-4F9F-CC91-221CA0E2CE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D7BCE-A921-1348-2D22-9F00A94F5F5F}"/>
              </a:ext>
            </a:extLst>
          </p:cNvPr>
          <p:cNvSpPr txBox="1"/>
          <p:nvPr/>
        </p:nvSpPr>
        <p:spPr>
          <a:xfrm>
            <a:off x="23751" y="925166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it like </a:t>
            </a:r>
            <a:r>
              <a:rPr lang="en-US" sz="2800" i="1" dirty="0">
                <a:latin typeface="Calibir"/>
              </a:rPr>
              <a:t>friendship rules</a:t>
            </a:r>
            <a:r>
              <a:rPr lang="en-US" sz="2800" dirty="0">
                <a:latin typeface="Calibir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best friend (1:1).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parent with many children (1:M).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Many friends who belong to many groups (M:N).</a:t>
            </a:r>
          </a:p>
        </p:txBody>
      </p:sp>
    </p:spTree>
    <p:extLst>
      <p:ext uri="{BB962C8B-B14F-4D97-AF65-F5344CB8AC3E}">
        <p14:creationId xmlns:p14="http://schemas.microsoft.com/office/powerpoint/2010/main" val="181669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04FB2F2-F7C4-2A1F-48BC-B695D0C1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4A1FD-2AE1-64B5-6076-F5A0A0E37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82197-F032-2382-BEFD-8DF7D3A1C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68ACE6-E33E-A6E2-32B6-C3B66274EE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8DA6FE-68FD-183F-7D71-7CBDA729CEE3}"/>
              </a:ext>
            </a:extLst>
          </p:cNvPr>
          <p:cNvSpPr txBox="1"/>
          <p:nvPr/>
        </p:nvSpPr>
        <p:spPr>
          <a:xfrm>
            <a:off x="23751" y="925166"/>
            <a:ext cx="912024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Cardinality = min &amp; max number of entities in the relationship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Defines how many instances must/may exist.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Netflix account must have at least 1 profile, but can have up to 5.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Uni subject must have 1+ students enrolled, but there’s a cap (e.g., max 200).</a:t>
            </a:r>
          </a:p>
        </p:txBody>
      </p:sp>
    </p:spTree>
    <p:extLst>
      <p:ext uri="{BB962C8B-B14F-4D97-AF65-F5344CB8AC3E}">
        <p14:creationId xmlns:p14="http://schemas.microsoft.com/office/powerpoint/2010/main" val="346953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2F3CFFD-3147-A08A-E161-3D4B2445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DE6AE-10B0-7290-0729-BD615CBFA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02871-9BD4-C4BC-CF30-745B4CF21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CECFE10-0BBC-7A04-5E91-438C71A47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79DE2320-CB97-B6A4-54BE-EC67D74723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57"/>
          <a:stretch>
            <a:fillRect/>
          </a:stretch>
        </p:blipFill>
        <p:spPr bwMode="auto">
          <a:xfrm>
            <a:off x="0" y="934094"/>
            <a:ext cx="8207298" cy="289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1B6ACA-1D45-6E90-1EF7-B683207F0BCE}"/>
              </a:ext>
            </a:extLst>
          </p:cNvPr>
          <p:cNvSpPr txBox="1"/>
          <p:nvPr/>
        </p:nvSpPr>
        <p:spPr>
          <a:xfrm>
            <a:off x="0" y="3782243"/>
            <a:ext cx="9144000" cy="2918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This diagram shows connectivity (type of relationship) and cardinality (how many entities can be linked).</a:t>
            </a:r>
            <a:br>
              <a:rPr lang="en-US" sz="2500" dirty="0">
                <a:latin typeface="Calibir"/>
              </a:rPr>
            </a:br>
            <a:r>
              <a:rPr lang="en-US" sz="2500" dirty="0">
                <a:latin typeface="Calibir"/>
              </a:rPr>
              <a:t>Example here: One professor must teach at least 1 class and can teach up to 4 classes (1,4), while each class must be taught by exactly 1 professor (1,1).</a:t>
            </a:r>
            <a:endParaRPr lang="en-AU" sz="2500" dirty="0">
              <a:latin typeface="Calibi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2D7DCF-35AE-17B1-2B35-ECE72392C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129" r="28726"/>
          <a:stretch>
            <a:fillRect/>
          </a:stretch>
        </p:blipFill>
        <p:spPr>
          <a:xfrm>
            <a:off x="4955871" y="6112405"/>
            <a:ext cx="4188129" cy="79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20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3D40AD0-A34C-9603-EF2F-BF3CF4115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A2419-1721-FDDD-F9F2-6AB4D7A82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4C9F2-4CDD-943F-D16E-3508E720E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94B5FC-3C3B-70E2-FE65-52EF15D5AB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15AB59-7265-0C95-701F-94F26B3E8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557968"/>
              </p:ext>
            </p:extLst>
          </p:nvPr>
        </p:nvGraphicFramePr>
        <p:xfrm>
          <a:off x="11151" y="1789608"/>
          <a:ext cx="9121698" cy="14630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2437520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4039666280"/>
                    </a:ext>
                  </a:extLst>
                </a:gridCol>
                <a:gridCol w="4360127">
                  <a:extLst>
                    <a:ext uri="{9D8B030D-6E8A-4147-A177-3AD203B41FA5}">
                      <a16:colId xmlns:a16="http://schemas.microsoft.com/office/drawing/2014/main" val="1511356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Cardinality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59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Student – ID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1:1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Each student must have 1 card, only 1 per student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31808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6CF5F833-F847-A461-7F00-8EAD980F0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1766"/>
            <a:ext cx="42509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Visual Example (University)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pic>
        <p:nvPicPr>
          <p:cNvPr id="11" name="Picture 10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EE02300E-7F0C-AE17-BEB3-C7703CFA7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4" t="25813" r="8014" b="33130"/>
          <a:stretch>
            <a:fillRect/>
          </a:stretch>
        </p:blipFill>
        <p:spPr>
          <a:xfrm>
            <a:off x="1806497" y="3793851"/>
            <a:ext cx="5163015" cy="1126274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DE2330BB-28F6-A481-B639-E8B5BDEF1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1" y="5047493"/>
            <a:ext cx="9121698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Connectivity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= relationship type (1:1, 1:M, M:N).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Cardinality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= the min/max numbers (e.g., 0..M, exactly 1).</a:t>
            </a:r>
          </a:p>
        </p:txBody>
      </p:sp>
    </p:spTree>
    <p:extLst>
      <p:ext uri="{BB962C8B-B14F-4D97-AF65-F5344CB8AC3E}">
        <p14:creationId xmlns:p14="http://schemas.microsoft.com/office/powerpoint/2010/main" val="2299072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9671797-0BD5-B7D5-B158-C2BDB516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3B255-0015-62BA-9CFE-D971E3F19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E3F44-0040-ED59-4AC6-37278EB7F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EDD702-951F-FAB1-4AC0-E25F85BE7E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948949-C625-E2F1-6F1D-CA7688511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16878"/>
              </p:ext>
            </p:extLst>
          </p:nvPr>
        </p:nvGraphicFramePr>
        <p:xfrm>
          <a:off x="11151" y="1789608"/>
          <a:ext cx="9121698" cy="18897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2437520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4039666280"/>
                    </a:ext>
                  </a:extLst>
                </a:gridCol>
                <a:gridCol w="4360127">
                  <a:extLst>
                    <a:ext uri="{9D8B030D-6E8A-4147-A177-3AD203B41FA5}">
                      <a16:colId xmlns:a16="http://schemas.microsoft.com/office/drawing/2014/main" val="1511356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Cardinality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59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Teacher –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1:M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A teacher can teach 0 to many classes; each class has 1 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311710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EE7AD15-FB5E-739B-9AE2-E2234282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1766"/>
            <a:ext cx="42509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Visual Example (University)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pic>
        <p:nvPicPr>
          <p:cNvPr id="5" name="Picture 4" descr="A diagram of a teacher&#10;&#10;AI-generated content may be incorrect.">
            <a:extLst>
              <a:ext uri="{FF2B5EF4-FFF2-40B4-BE49-F238E27FC236}">
                <a16:creationId xmlns:a16="http://schemas.microsoft.com/office/drawing/2014/main" id="{D72BB768-7103-C129-956C-396D33895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7" t="26219" r="18293" b="19309"/>
          <a:stretch>
            <a:fillRect/>
          </a:stretch>
        </p:blipFill>
        <p:spPr>
          <a:xfrm>
            <a:off x="1940311" y="4347787"/>
            <a:ext cx="5263377" cy="149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51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3E2C42E-5F81-4C16-C6A7-EB512729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FC9B9-9400-76D0-1835-86119F758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8D5B1-9653-CB18-7C80-2F61A2013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C4C8880-4676-DA4A-D800-48B2D96EDB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C90B83-ABCB-BD88-8E7B-FEA6DEAB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754348"/>
              </p:ext>
            </p:extLst>
          </p:nvPr>
        </p:nvGraphicFramePr>
        <p:xfrm>
          <a:off x="22302" y="1490724"/>
          <a:ext cx="9121698" cy="18897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2437520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4039666280"/>
                    </a:ext>
                  </a:extLst>
                </a:gridCol>
                <a:gridCol w="4360127">
                  <a:extLst>
                    <a:ext uri="{9D8B030D-6E8A-4147-A177-3AD203B41FA5}">
                      <a16:colId xmlns:a16="http://schemas.microsoft.com/office/drawing/2014/main" val="1511356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Cardinality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59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Student – Club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M:N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A student can join 0 to many clubs; each club has many students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656953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8C53E443-F877-602C-C1FB-5A1630217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1766"/>
            <a:ext cx="42509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Visual Example (University)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pic>
        <p:nvPicPr>
          <p:cNvPr id="11" name="Picture 10" descr="A black and white diagram&#10;&#10;AI-generated content may be incorrect.">
            <a:extLst>
              <a:ext uri="{FF2B5EF4-FFF2-40B4-BE49-F238E27FC236}">
                <a16:creationId xmlns:a16="http://schemas.microsoft.com/office/drawing/2014/main" id="{3E1FB105-55D8-4A82-0B2A-167D3B6BE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66" b="28535"/>
          <a:stretch>
            <a:fillRect/>
          </a:stretch>
        </p:blipFill>
        <p:spPr>
          <a:xfrm>
            <a:off x="0" y="3429000"/>
            <a:ext cx="9144000" cy="1416205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42665E56-A435-1B66-9ADF-74C3B092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69069"/>
            <a:ext cx="9121698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For M:N,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associative entity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(MEMBERSHIP) is used with a composite PK 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StudentID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,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ClubID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), so we see how M:N is implemented in a relational model. </a:t>
            </a:r>
          </a:p>
        </p:txBody>
      </p:sp>
    </p:spTree>
    <p:extLst>
      <p:ext uri="{BB962C8B-B14F-4D97-AF65-F5344CB8AC3E}">
        <p14:creationId xmlns:p14="http://schemas.microsoft.com/office/powerpoint/2010/main" val="393819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6844138-EC05-C2C7-49CF-99138571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3DFD0-2826-B149-5092-D99699ADE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E62E5-DBF2-160A-CA0B-87B564237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827951-B80B-FFCD-A680-7A060D68AE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Connectivity &amp;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9966D-711A-8896-0DB7-C7A28BAA3270}"/>
              </a:ext>
            </a:extLst>
          </p:cNvPr>
          <p:cNvSpPr txBox="1"/>
          <p:nvPr/>
        </p:nvSpPr>
        <p:spPr>
          <a:xfrm>
            <a:off x="78828" y="551921"/>
            <a:ext cx="898634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Q: Draw the relationship between Driver and Car if: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driver may drive many cars.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car must have exactly 1 driver.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Answer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Connectivity: 1:M (Driver → Car).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Cardinality: Driver (1..*) ↔ Car (1, 1).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EF6B63-C6CF-9247-F0C6-9A816B6D0653}"/>
              </a:ext>
            </a:extLst>
          </p:cNvPr>
          <p:cNvSpPr/>
          <p:nvPr/>
        </p:nvSpPr>
        <p:spPr>
          <a:xfrm>
            <a:off x="5486400" y="2561453"/>
            <a:ext cx="1114097" cy="127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Driver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718A3-DFA1-8F07-3A55-3D1CAB22610F}"/>
              </a:ext>
            </a:extLst>
          </p:cNvPr>
          <p:cNvSpPr/>
          <p:nvPr/>
        </p:nvSpPr>
        <p:spPr>
          <a:xfrm>
            <a:off x="7870611" y="2561453"/>
            <a:ext cx="1114097" cy="1271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430D5D-8B03-C1CD-A3F8-62633EA75CC3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6600497" y="3197329"/>
            <a:ext cx="1270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A27339-BB43-F6AA-B209-148F83B92F48}"/>
              </a:ext>
            </a:extLst>
          </p:cNvPr>
          <p:cNvCxnSpPr>
            <a:cxnSpLocks/>
          </p:cNvCxnSpPr>
          <p:nvPr/>
        </p:nvCxnSpPr>
        <p:spPr>
          <a:xfrm flipV="1">
            <a:off x="7683062" y="3055438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34002E-0486-A8F1-E10A-349057B66F14}"/>
              </a:ext>
            </a:extLst>
          </p:cNvPr>
          <p:cNvCxnSpPr>
            <a:cxnSpLocks/>
          </p:cNvCxnSpPr>
          <p:nvPr/>
        </p:nvCxnSpPr>
        <p:spPr>
          <a:xfrm>
            <a:off x="7683062" y="3197329"/>
            <a:ext cx="187549" cy="14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4DD1080-C4E8-243B-2602-F209913CC3B4}"/>
              </a:ext>
            </a:extLst>
          </p:cNvPr>
          <p:cNvSpPr txBox="1"/>
          <p:nvPr/>
        </p:nvSpPr>
        <p:spPr>
          <a:xfrm>
            <a:off x="6823841" y="2870772"/>
            <a:ext cx="94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3D3935"/>
                </a:solidFill>
              </a:rPr>
              <a:t>drives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61E720-7E7D-B481-0F19-40AD32ABA1F3}"/>
              </a:ext>
            </a:extLst>
          </p:cNvPr>
          <p:cNvSpPr txBox="1"/>
          <p:nvPr/>
        </p:nvSpPr>
        <p:spPr>
          <a:xfrm>
            <a:off x="7235554" y="3320380"/>
            <a:ext cx="97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3D3935"/>
                </a:solidFill>
              </a:rPr>
              <a:t>(1, 1)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6E439E-D9EB-7337-2671-C003E38073EA}"/>
              </a:ext>
            </a:extLst>
          </p:cNvPr>
          <p:cNvCxnSpPr>
            <a:endCxn id="23" idx="3"/>
          </p:cNvCxnSpPr>
          <p:nvPr/>
        </p:nvCxnSpPr>
        <p:spPr>
          <a:xfrm>
            <a:off x="7567448" y="2561453"/>
            <a:ext cx="202324" cy="49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155AE0B-FF78-9DC3-9665-E2B8FEC4C149}"/>
              </a:ext>
            </a:extLst>
          </p:cNvPr>
          <p:cNvSpPr txBox="1"/>
          <p:nvPr/>
        </p:nvSpPr>
        <p:spPr>
          <a:xfrm>
            <a:off x="7006955" y="2193591"/>
            <a:ext cx="197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3D3935"/>
                </a:solidFill>
              </a:rPr>
              <a:t>Connectiveness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1DB833-A96F-9582-9D4A-BEE22F1BB7A6}"/>
              </a:ext>
            </a:extLst>
          </p:cNvPr>
          <p:cNvSpPr txBox="1"/>
          <p:nvPr/>
        </p:nvSpPr>
        <p:spPr>
          <a:xfrm>
            <a:off x="6578571" y="3915550"/>
            <a:ext cx="197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3D3935"/>
                </a:solidFill>
              </a:rPr>
              <a:t>Cardinalities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B98818-9CE2-3528-00BA-8129C086C644}"/>
              </a:ext>
            </a:extLst>
          </p:cNvPr>
          <p:cNvSpPr txBox="1"/>
          <p:nvPr/>
        </p:nvSpPr>
        <p:spPr>
          <a:xfrm>
            <a:off x="6525201" y="3318200"/>
            <a:ext cx="97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3D3935"/>
                </a:solidFill>
              </a:rPr>
              <a:t>(1..*)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6046D9F-80A6-62BC-ABF9-E01D8156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129" r="28726"/>
          <a:stretch>
            <a:fillRect/>
          </a:stretch>
        </p:blipFill>
        <p:spPr>
          <a:xfrm>
            <a:off x="4955871" y="6112405"/>
            <a:ext cx="4188129" cy="796131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CA5D903A-23BE-2530-B04D-32DB4771136B}"/>
              </a:ext>
            </a:extLst>
          </p:cNvPr>
          <p:cNvSpPr/>
          <p:nvPr/>
        </p:nvSpPr>
        <p:spPr>
          <a:xfrm>
            <a:off x="7468473" y="3126383"/>
            <a:ext cx="157655" cy="1548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4F5C41-03A1-9CED-A798-5EC00FD89168}"/>
              </a:ext>
            </a:extLst>
          </p:cNvPr>
          <p:cNvCxnSpPr/>
          <p:nvPr/>
        </p:nvCxnSpPr>
        <p:spPr>
          <a:xfrm>
            <a:off x="6730711" y="3042303"/>
            <a:ext cx="0" cy="328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172AC6-2DB1-B096-7B2A-13ED7FC18554}"/>
              </a:ext>
            </a:extLst>
          </p:cNvPr>
          <p:cNvSpPr txBox="1"/>
          <p:nvPr/>
        </p:nvSpPr>
        <p:spPr>
          <a:xfrm>
            <a:off x="78828" y="4432055"/>
            <a:ext cx="6188157" cy="207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A driver </a:t>
            </a:r>
            <a:r>
              <a:rPr lang="en-US" sz="2200" i="1" dirty="0">
                <a:latin typeface="Calibir"/>
              </a:rPr>
              <a:t>may drive many cars</a:t>
            </a:r>
            <a:r>
              <a:rPr lang="en-US" sz="2200" dirty="0">
                <a:latin typeface="Calibir"/>
              </a:rPr>
              <a:t>, but is there a rule saying every driver must drive at least 1 car?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If yes (mandatory) → (1, M).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If no (optional) → (0, M).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B736C0-9917-4389-1C1C-2D5884CE1F88}"/>
              </a:ext>
            </a:extLst>
          </p:cNvPr>
          <p:cNvSpPr txBox="1"/>
          <p:nvPr/>
        </p:nvSpPr>
        <p:spPr>
          <a:xfrm>
            <a:off x="4454207" y="5646828"/>
            <a:ext cx="4739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may drive many cars</a:t>
            </a:r>
            <a:r>
              <a:rPr lang="en-US" dirty="0"/>
              <a:t> (may = optional)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449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23" grpId="0"/>
      <p:bldP spid="25" grpId="0"/>
      <p:bldP spid="28" grpId="0"/>
      <p:bldP spid="29" grpId="0"/>
      <p:bldP spid="31" grpId="0"/>
      <p:bldP spid="33" grpId="0" animBg="1"/>
      <p:bldP spid="38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548B03C-A63F-B270-32CA-21705FD50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8EC0D-0F98-8B46-5E80-F72043897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67C67-20F4-F1BE-102D-B5BB13FCA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51273C2-073A-34A3-A7BE-3C12A0601F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Existence Dependence &amp; Weak Entities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95F07DE-CA75-9D0F-CB36-BACAFF821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2" y="1392712"/>
            <a:ext cx="9121698" cy="3900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Existence-dependent entity</a:t>
            </a:r>
            <a:r>
              <a:rPr lang="en-US" altLang="en-US" sz="2800" dirty="0">
                <a:latin typeface="Calibir"/>
              </a:rPr>
              <a:t>: Cannot exist unless another entity exists.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Like a child needs a parent to exist in family records.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Weak entity</a:t>
            </a:r>
            <a:r>
              <a:rPr lang="en-US" altLang="en-US" sz="2800" dirty="0">
                <a:latin typeface="Calibir"/>
              </a:rPr>
              <a:t>: Its identity relies on another entity’s Primary Key (PK).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It uses part of the parent’s PK + its own attribute.</a:t>
            </a:r>
          </a:p>
        </p:txBody>
      </p:sp>
    </p:spTree>
    <p:extLst>
      <p:ext uri="{BB962C8B-B14F-4D97-AF65-F5344CB8AC3E}">
        <p14:creationId xmlns:p14="http://schemas.microsoft.com/office/powerpoint/2010/main" val="2331004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08DE5A4-6925-B7F1-B8FB-FCB05E49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941C7-69CC-4A7C-CBC0-D5EB21407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6A760-21B7-7876-4402-2FE07CC49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DC60022-28FA-79EE-7D71-2DF3F2CE24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Existence Dependence &amp; Weak Entities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E60DE32-0B42-D16D-8D3A-A66BCD5F7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2" y="2037601"/>
            <a:ext cx="9121698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</a:t>
            </a:r>
            <a:r>
              <a:rPr lang="en-US" sz="2800" dirty="0">
                <a:latin typeface="Calibir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</a:t>
            </a:r>
            <a:r>
              <a:rPr lang="en-US" sz="2800" i="1" dirty="0">
                <a:latin typeface="Calibir"/>
              </a:rPr>
              <a:t>Myki Trip Record</a:t>
            </a:r>
            <a:r>
              <a:rPr lang="en-US" sz="2800" dirty="0">
                <a:latin typeface="Calibir"/>
              </a:rPr>
              <a:t> cannot exist without a </a:t>
            </a:r>
            <a:r>
              <a:rPr lang="en-US" sz="2800" i="1" dirty="0">
                <a:latin typeface="Calibir"/>
              </a:rPr>
              <a:t>Passenger Card</a:t>
            </a:r>
            <a:r>
              <a:rPr lang="en-US" sz="2800" dirty="0">
                <a:latin typeface="Calibir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Without the passenger, there’s no trip record.</a:t>
            </a:r>
          </a:p>
        </p:txBody>
      </p:sp>
    </p:spTree>
    <p:extLst>
      <p:ext uri="{BB962C8B-B14F-4D97-AF65-F5344CB8AC3E}">
        <p14:creationId xmlns:p14="http://schemas.microsoft.com/office/powerpoint/2010/main" val="1406931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349643C-768F-89CC-A49B-9BD31808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BD529-1F09-B41F-6855-B6B05CCF5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40A33-7D4E-E658-DB0A-84FDE38DB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D7FF42F-BE8F-1B5B-712F-92FD95222F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Existence Dependence &amp; Weak Entities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C97E8D-86EF-CB43-CD7B-36EB846FD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930315"/>
              </p:ext>
            </p:extLst>
          </p:nvPr>
        </p:nvGraphicFramePr>
        <p:xfrm>
          <a:off x="628650" y="1918165"/>
          <a:ext cx="7886700" cy="36880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038361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225212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50610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Entity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Existence?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Example (Australia)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94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Passenger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Exists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Myki Card issued to “Alice Brown”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777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Myki Trip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Needs Passenger Card (existence-dependent)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Trip on 15 Jan 2024, linked to Alice’s card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33155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6206B36-683F-6EEE-FB5C-C9CBA9471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9955"/>
            <a:ext cx="23223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Example Table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886124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FB3C29B-E552-3877-FB55-8EEE9161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F9F26-D1EB-4A82-6BDA-2E73216DA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5E1C8-6097-49C4-56EE-2453C6CA0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D84A351-0757-D1E5-658A-5A447E0E73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Existence Dependence &amp; Weak Entities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9A0DFC2-D12A-8267-5208-C93E281B5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088"/>
            <a:ext cx="9144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Passenger (Strong Entity) has its own PK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Trip Record (Weak Entity) with a dashed box and composite key</a:t>
            </a:r>
            <a:r>
              <a:rPr lang="en-US" altLang="en-US" sz="2800" dirty="0">
                <a:latin typeface="Calibir"/>
              </a:rPr>
              <a:t> → it relies on Passenger’s PK to exist.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The “takes” relationship with 1 → M cardinality</a:t>
            </a:r>
          </a:p>
        </p:txBody>
      </p:sp>
      <p:pic>
        <p:nvPicPr>
          <p:cNvPr id="8" name="Picture 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B8C7369E-00BE-69ED-883E-2FE689A389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8"/>
          <a:stretch>
            <a:fillRect/>
          </a:stretch>
        </p:blipFill>
        <p:spPr>
          <a:xfrm>
            <a:off x="647205" y="3398265"/>
            <a:ext cx="7849590" cy="33584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ADFE22-FA02-8553-458D-D1BED1A44C99}"/>
              </a:ext>
            </a:extLst>
          </p:cNvPr>
          <p:cNvSpPr txBox="1"/>
          <p:nvPr/>
        </p:nvSpPr>
        <p:spPr>
          <a:xfrm>
            <a:off x="1960493" y="5287345"/>
            <a:ext cx="6684578" cy="547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200" dirty="0">
                <a:latin typeface="Calibir"/>
              </a:rPr>
              <a:t>Relationship: “Passenger takes Trip.”</a:t>
            </a:r>
          </a:p>
        </p:txBody>
      </p:sp>
    </p:spTree>
    <p:extLst>
      <p:ext uri="{BB962C8B-B14F-4D97-AF65-F5344CB8AC3E}">
        <p14:creationId xmlns:p14="http://schemas.microsoft.com/office/powerpoint/2010/main" val="4222311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546771A-6595-D692-25F3-3051017C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8D74F-38B6-BE5B-C88C-D1A2DDFA0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351B3-C9D7-E29A-153E-290A10767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3664A37-CBC8-AC93-8F12-67D467BB11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Existence Dependence &amp; Weak Entities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C5607-DB11-3CD0-4FF4-93A7AFBE2930}"/>
              </a:ext>
            </a:extLst>
          </p:cNvPr>
          <p:cNvSpPr txBox="1"/>
          <p:nvPr/>
        </p:nvSpPr>
        <p:spPr>
          <a:xfrm>
            <a:off x="0" y="1092821"/>
            <a:ext cx="898788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Q: Is an Order Line (line item in an invoice) existence-dependent on an Order? Why?</a:t>
            </a:r>
            <a:endParaRPr lang="en-AU" sz="2800" dirty="0">
              <a:latin typeface="Calibi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3C49D4-8795-EE03-93A0-ACB8EB7DB3E9}"/>
              </a:ext>
            </a:extLst>
          </p:cNvPr>
          <p:cNvSpPr txBox="1"/>
          <p:nvPr/>
        </p:nvSpPr>
        <p:spPr>
          <a:xfrm>
            <a:off x="0" y="3050079"/>
            <a:ext cx="898788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Yes . An order line cannot exist without an order — it’s a weak entity.</a:t>
            </a:r>
            <a:endParaRPr lang="en-AU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671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C997060-4BCF-1072-FF76-F7F44373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F57D4-0DD7-FBA2-7B03-C7EBC507A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12F71-3E5F-E6E2-BE71-16202B0E7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DCE4703-2A8B-BD79-EF9F-35D3AA70E5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Relationship Strength (Strong vs Weak)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76650E-8044-B989-0E3D-A80DBCF64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5985"/>
            <a:ext cx="3155795" cy="5626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COURSE table</a:t>
            </a:r>
            <a:endParaRPr lang="en-US" altLang="en-US" sz="22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Each course has its own unique course code (CRS_CODE) as the primary key.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alibir"/>
              </a:rPr>
              <a:t>CLASS table</a:t>
            </a:r>
            <a:endParaRPr lang="en-US" altLang="en-US" sz="22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Each class has its own independent primary key (CLASS_CODE).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A252DD-1E1E-1D98-E0A7-4B0EEAC48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48" y="536028"/>
            <a:ext cx="5642351" cy="63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7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30DF981-3818-62FE-FA2E-4E0A6D3A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16DF60-9E7F-4262-8256-DE9954C69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068E-5632-FF5F-B409-304747E65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507F8E-28EF-6C42-B4F9-67237CE5E8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Relationship Strength (Strong vs Weak)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84FB09F-3A0E-3F43-1291-FCE14C781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1472"/>
            <a:ext cx="3155795" cy="5575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30225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But it also keeps a CRS_CODE as a foreign key to show which course it belongs to.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alibir"/>
              </a:rPr>
              <a:t>This means CLASS exists on its own (with its own ID), but still depends on COURSE to know which course it’s teaching.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FE8FEC-A80D-6EE8-8A81-F3A103DE7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48" y="536028"/>
            <a:ext cx="5642351" cy="63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58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261880A-E4AD-8345-1CD0-77E38ECB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23D5A-F584-8FFE-C685-C0FEB4D79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E4624-F67B-7D4C-5521-5563C23EC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5F751D-3E7F-3C28-1FE3-A544FE8F13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Relationship Strength (Strong vs Weak)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531902-4018-43A6-D4E8-A656AC8DB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6320"/>
            <a:ext cx="3583858" cy="6133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Real-World Analogy Think of it like: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A Course = “Bachelor of IT.”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A Class = “Monday 9 AM lecture for Bachelor of IT.”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The class has its own identity (time, room, teacher),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But it still points back to the Course it belongs to.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8CDD45-C87C-9F01-91F2-6BAE0C65F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48" y="536028"/>
            <a:ext cx="5642351" cy="63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40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3ADC2AE-B94B-1E68-6B4E-255BEBF9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734C9-1538-FD96-30B5-B0D71964E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2F4A-370D-9242-B64D-2F47C298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96EA14-72BC-06D0-D20D-8303BA831F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Relationship Strength (Strong vs Weak)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E155A-DD56-3EFD-D96B-BF1B9251D0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8" b="5067"/>
          <a:stretch>
            <a:fillRect/>
          </a:stretch>
        </p:blipFill>
        <p:spPr>
          <a:xfrm>
            <a:off x="3303639" y="903790"/>
            <a:ext cx="5840361" cy="5954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7DF91C-4054-3C80-2A14-E83955455D21}"/>
              </a:ext>
            </a:extLst>
          </p:cNvPr>
          <p:cNvSpPr txBox="1"/>
          <p:nvPr/>
        </p:nvSpPr>
        <p:spPr>
          <a:xfrm>
            <a:off x="0" y="903790"/>
            <a:ext cx="330363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strong (identifying) relationship happens when the child table uses part of the parent’s primary key as its own.</a:t>
            </a:r>
            <a:endParaRPr lang="en-AU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424510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0460944-F94D-B6E5-CBA0-DB8F7856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6DA43-C93C-1A1E-88F0-2F7996EA8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19AA4-EE17-D4E7-E6F1-B6D46EDA0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DD3D97-0474-1BDD-E89A-A3C335B79E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Relationship Strength (Strong vs Weak)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613A2-1EB4-682B-52D8-CD83D775E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8" b="5067"/>
          <a:stretch>
            <a:fillRect/>
          </a:stretch>
        </p:blipFill>
        <p:spPr>
          <a:xfrm>
            <a:off x="3303639" y="903790"/>
            <a:ext cx="5840361" cy="5954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B19249-4C35-3E3D-6E1F-1D19390BFEB2}"/>
              </a:ext>
            </a:extLst>
          </p:cNvPr>
          <p:cNvSpPr txBox="1"/>
          <p:nvPr/>
        </p:nvSpPr>
        <p:spPr>
          <a:xfrm>
            <a:off x="0" y="903790"/>
            <a:ext cx="3465871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In this example:</a:t>
            </a:r>
          </a:p>
          <a:p>
            <a:pPr marL="633413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COURSE has CRS_CODE as its PK.</a:t>
            </a:r>
          </a:p>
          <a:p>
            <a:pPr marL="633413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CLASS uses CRS_CODE and CLASS_SECTION together as its PK.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That means a CLASS cannot exist without a COURSE, and the COURSE’s key is literally part of the CLASS’s key.</a:t>
            </a:r>
          </a:p>
        </p:txBody>
      </p:sp>
    </p:spTree>
    <p:extLst>
      <p:ext uri="{BB962C8B-B14F-4D97-AF65-F5344CB8AC3E}">
        <p14:creationId xmlns:p14="http://schemas.microsoft.com/office/powerpoint/2010/main" val="4177429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E0D420A-218D-4338-FD83-6F6FEF5F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879B6-7736-4AE8-AEE9-1B49E4DAE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3DBF4-E012-52C0-C0A7-6BBE58E94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570BB15-A302-931B-7C00-7981A547D5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Relationship Strength (Strong vs Weak)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07D2E-BC7B-E775-3174-BC063DE708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8" b="5067"/>
          <a:stretch>
            <a:fillRect/>
          </a:stretch>
        </p:blipFill>
        <p:spPr>
          <a:xfrm>
            <a:off x="3303639" y="903790"/>
            <a:ext cx="5840361" cy="5954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7CCF8F-6D6D-8675-D2BA-3CEC32DC97BA}"/>
              </a:ext>
            </a:extLst>
          </p:cNvPr>
          <p:cNvSpPr txBox="1"/>
          <p:nvPr/>
        </p:nvSpPr>
        <p:spPr>
          <a:xfrm>
            <a:off x="0" y="903790"/>
            <a:ext cx="3465871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ir"/>
              </a:rPr>
              <a:t>Real-world analogy:</a:t>
            </a:r>
            <a:br>
              <a:rPr lang="en-US" sz="2400" dirty="0">
                <a:latin typeface="Calibir"/>
              </a:rPr>
            </a:br>
            <a:r>
              <a:rPr lang="en-US" sz="2400" dirty="0">
                <a:latin typeface="Calibir"/>
              </a:rPr>
              <a:t>Think of a COURSE as “Accounting I” and CLASS as “Accounting I – Section 1, Monday 8am.”</a:t>
            </a:r>
            <a:br>
              <a:rPr lang="en-US" sz="2400" dirty="0">
                <a:latin typeface="Calibir"/>
              </a:rPr>
            </a:br>
            <a:r>
              <a:rPr lang="en-US" sz="2400" dirty="0">
                <a:latin typeface="Calibir"/>
              </a:rPr>
              <a:t>The class ID only makes sense if you know which course it belongs to.</a:t>
            </a:r>
            <a:endParaRPr lang="en-US" altLang="en-US" sz="22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89413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693FE81-11CB-3EC2-B251-DD612557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CCFD8-49C3-9DC3-029F-6539548E7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22B73-CFC6-533B-17D9-17AD30EE8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79DA52-1BA3-3418-FC72-33B184C145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CEA733-EEC8-17D5-421F-0534A544E399}"/>
              </a:ext>
            </a:extLst>
          </p:cNvPr>
          <p:cNvSpPr txBox="1"/>
          <p:nvPr/>
        </p:nvSpPr>
        <p:spPr>
          <a:xfrm>
            <a:off x="0" y="962943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Optional Participation:</a:t>
            </a:r>
            <a:r>
              <a:rPr lang="en-US" altLang="en-US" sz="2800" dirty="0">
                <a:latin typeface="Calibir"/>
              </a:rPr>
              <a:t> An entity can exist </a:t>
            </a:r>
            <a:r>
              <a:rPr lang="en-US" altLang="en-US" sz="2800" i="1" dirty="0">
                <a:latin typeface="Calibir"/>
              </a:rPr>
              <a:t>without</a:t>
            </a:r>
            <a:r>
              <a:rPr lang="en-US" altLang="en-US" sz="2800" dirty="0">
                <a:latin typeface="Calibir"/>
              </a:rPr>
              <a:t> being linked in a relationship.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Example: A student may exist in the database even if they haven’t enrolled in summer class yet.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Mandatory Participation:</a:t>
            </a:r>
            <a:r>
              <a:rPr lang="en-US" altLang="en-US" sz="2800" dirty="0">
                <a:latin typeface="Calibir"/>
              </a:rPr>
              <a:t> An entity </a:t>
            </a:r>
            <a:r>
              <a:rPr lang="en-US" altLang="en-US" sz="2800" i="1" dirty="0">
                <a:latin typeface="Calibir"/>
              </a:rPr>
              <a:t>must</a:t>
            </a:r>
            <a:r>
              <a:rPr lang="en-US" altLang="en-US" sz="2800" dirty="0">
                <a:latin typeface="Calibir"/>
              </a:rPr>
              <a:t> be linked in a relationship.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Example: An active student must enroll in at least one subject in a semester.</a:t>
            </a:r>
          </a:p>
        </p:txBody>
      </p:sp>
    </p:spTree>
    <p:extLst>
      <p:ext uri="{BB962C8B-B14F-4D97-AF65-F5344CB8AC3E}">
        <p14:creationId xmlns:p14="http://schemas.microsoft.com/office/powerpoint/2010/main" val="1892209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AA9B71F-2654-3BC9-F704-3FD42B2E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9A663-279E-3B34-9ED9-148613AF9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5A0EC-5E53-1127-2547-5E01DE1CF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EAA8C60-D6A1-C447-7F19-E25F3E67A6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03BFCD-1A20-8FEE-5F07-82FB7CCAB346}"/>
              </a:ext>
            </a:extLst>
          </p:cNvPr>
          <p:cNvSpPr txBox="1"/>
          <p:nvPr/>
        </p:nvSpPr>
        <p:spPr>
          <a:xfrm>
            <a:off x="0" y="962943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Real-World 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joining a gym: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Calibir"/>
              </a:rPr>
              <a:t>Optional:</a:t>
            </a:r>
            <a:r>
              <a:rPr lang="en-US" sz="2800" dirty="0">
                <a:latin typeface="Calibir"/>
              </a:rPr>
              <a:t> You can be a member without signing up for any classes.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Calibir"/>
              </a:rPr>
              <a:t>Mandatory:</a:t>
            </a:r>
            <a:r>
              <a:rPr lang="en-US" sz="2800" dirty="0">
                <a:latin typeface="Calibir"/>
              </a:rPr>
              <a:t> If you buy a “10-class pass,” you must use it for at least 1 class.</a:t>
            </a:r>
          </a:p>
        </p:txBody>
      </p:sp>
    </p:spTree>
    <p:extLst>
      <p:ext uri="{BB962C8B-B14F-4D97-AF65-F5344CB8AC3E}">
        <p14:creationId xmlns:p14="http://schemas.microsoft.com/office/powerpoint/2010/main" val="2794303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B44CFEE-E7AF-0D0D-CBE9-FF3A2E23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1E8F2-6120-BADD-9C20-E94C43EE4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5CF6D-23DE-8F61-2C49-7CC7654FB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2513D60-AA8B-23D2-3A5A-72E845EEC3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754B4C-BA7C-D0C8-5F58-EA6F68A76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805921"/>
              </p:ext>
            </p:extLst>
          </p:nvPr>
        </p:nvGraphicFramePr>
        <p:xfrm>
          <a:off x="147484" y="1353226"/>
          <a:ext cx="8849032" cy="51206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33832">
                  <a:extLst>
                    <a:ext uri="{9D8B030D-6E8A-4147-A177-3AD203B41FA5}">
                      <a16:colId xmlns:a16="http://schemas.microsoft.com/office/drawing/2014/main" val="2962002289"/>
                    </a:ext>
                  </a:extLst>
                </a:gridCol>
                <a:gridCol w="2816942">
                  <a:extLst>
                    <a:ext uri="{9D8B030D-6E8A-4147-A177-3AD203B41FA5}">
                      <a16:colId xmlns:a16="http://schemas.microsoft.com/office/drawing/2014/main" val="2666820370"/>
                    </a:ext>
                  </a:extLst>
                </a:gridCol>
                <a:gridCol w="2139760">
                  <a:extLst>
                    <a:ext uri="{9D8B030D-6E8A-4147-A177-3AD203B41FA5}">
                      <a16:colId xmlns:a16="http://schemas.microsoft.com/office/drawing/2014/main" val="1467901908"/>
                    </a:ext>
                  </a:extLst>
                </a:gridCol>
                <a:gridCol w="2358498">
                  <a:extLst>
                    <a:ext uri="{9D8B030D-6E8A-4147-A177-3AD203B41FA5}">
                      <a16:colId xmlns:a16="http://schemas.microsoft.com/office/drawing/2014/main" val="2945068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Entity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Relationship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Optional / Mandatory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Example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587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Summer School 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Student may choose not to join summer school.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966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Semester 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Every student must take at least one subject per semester.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205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Calibir"/>
                        </a:rPr>
                        <a:t>Each course must generate at least one class.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980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0BF8B87-04F9-5F92-8ACD-0D4A540F6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3017"/>
            <a:ext cx="23223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Example Table</a:t>
            </a:r>
          </a:p>
        </p:txBody>
      </p:sp>
    </p:spTree>
    <p:extLst>
      <p:ext uri="{BB962C8B-B14F-4D97-AF65-F5344CB8AC3E}">
        <p14:creationId xmlns:p14="http://schemas.microsoft.com/office/powerpoint/2010/main" val="954628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BA8A681-74B2-E4BC-F7A9-556CDD3D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EAB8D-4DEB-C59F-6ED2-FDB77406A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50EFB-5A1D-9C44-DEA3-C6145A31E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E3497F-6DC1-CA24-D31B-E6DB5F960B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40D05A-ED01-61D5-99BA-1C2DFE672D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59"/>
          <a:stretch>
            <a:fillRect/>
          </a:stretch>
        </p:blipFill>
        <p:spPr>
          <a:xfrm>
            <a:off x="0" y="964629"/>
            <a:ext cx="9144000" cy="2073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9984CF-880B-C53D-8DB4-3887676EA27F}"/>
              </a:ext>
            </a:extLst>
          </p:cNvPr>
          <p:cNvSpPr txBox="1"/>
          <p:nvPr/>
        </p:nvSpPr>
        <p:spPr>
          <a:xfrm>
            <a:off x="0" y="2976969"/>
            <a:ext cx="9144000" cy="359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Calibir"/>
              </a:rPr>
              <a:t>Mandatory participation in a relationship: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A course must always generate at least one class (you cannot have a course without a class).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Each class must be linked to a course, and a course must have one or more classes.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The “(1,N)” under Class means a course can generate many classes. (min: 1 and max N)</a:t>
            </a:r>
          </a:p>
        </p:txBody>
      </p:sp>
    </p:spTree>
    <p:extLst>
      <p:ext uri="{BB962C8B-B14F-4D97-AF65-F5344CB8AC3E}">
        <p14:creationId xmlns:p14="http://schemas.microsoft.com/office/powerpoint/2010/main" val="8447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F2F5B51-D73D-6CA2-622C-E05C0BD6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78BCB-777C-B6C5-4E78-15C79417A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3BE44-E6E4-6AC9-55BD-700794F18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CC0D95-3658-AA62-79D7-B146E72644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E9BF2D-73A6-CDFB-57F0-20EE19A7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59"/>
          <a:stretch>
            <a:fillRect/>
          </a:stretch>
        </p:blipFill>
        <p:spPr>
          <a:xfrm>
            <a:off x="0" y="964629"/>
            <a:ext cx="9144000" cy="2073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B65006-BD9D-8C34-2E09-F354D8883C95}"/>
              </a:ext>
            </a:extLst>
          </p:cNvPr>
          <p:cNvSpPr txBox="1"/>
          <p:nvPr/>
        </p:nvSpPr>
        <p:spPr>
          <a:xfrm>
            <a:off x="0" y="2976969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real life: Think of a driving school. Each </a:t>
            </a:r>
            <a:r>
              <a:rPr lang="en-US" sz="2800" i="1" dirty="0">
                <a:latin typeface="Calibir"/>
              </a:rPr>
              <a:t>driving course</a:t>
            </a:r>
            <a:r>
              <a:rPr lang="en-US" sz="2800" dirty="0">
                <a:latin typeface="Calibir"/>
              </a:rPr>
              <a:t> must have at least one </a:t>
            </a:r>
            <a:r>
              <a:rPr lang="en-US" sz="2800" i="1" dirty="0">
                <a:latin typeface="Calibir"/>
              </a:rPr>
              <a:t>class session and maximum N class session</a:t>
            </a:r>
            <a:r>
              <a:rPr lang="en-US" sz="2800" dirty="0">
                <a:latin typeface="Calibir"/>
              </a:rPr>
              <a:t>. You cannot advertise a “course” if no classes are scheduled.</a:t>
            </a:r>
          </a:p>
        </p:txBody>
      </p:sp>
    </p:spTree>
    <p:extLst>
      <p:ext uri="{BB962C8B-B14F-4D97-AF65-F5344CB8AC3E}">
        <p14:creationId xmlns:p14="http://schemas.microsoft.com/office/powerpoint/2010/main" val="1586858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12B2975-664A-FE6A-4C33-2BC798FF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9F7C3-FCA0-D995-4F27-4FA16C5C2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E9AB2-2981-FA6C-CE38-72B46F29E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C749C6B-E2BC-62E8-9D44-008DF46907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CBD09-C212-1955-9FF9-849C087AC10A}"/>
              </a:ext>
            </a:extLst>
          </p:cNvPr>
          <p:cNvSpPr txBox="1"/>
          <p:nvPr/>
        </p:nvSpPr>
        <p:spPr>
          <a:xfrm>
            <a:off x="0" y="1027691"/>
            <a:ext cx="9144000" cy="2608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a hospital database, should every patient have at least one appointment, and should every appointment be linked to a patient? Is this relationship optional or mandatory on each side?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D3E770A-0098-1181-5278-077BCC21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17" y="3767702"/>
            <a:ext cx="8629566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Patient ↔ Appointment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The relationship between Patient and Appointment is optional for the patient but mandatory for the appointment.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3902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C782A67-8846-DD75-AC7E-77B0CD27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38501-754E-F28A-A02E-1ABC98F2B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5EF0E-DF65-B8E6-D226-8110E8E04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24585A9-ADF0-FE4E-0575-1B1F48AFBD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66B8D-3EC7-52E3-1DDA-38FC1ECDAB53}"/>
              </a:ext>
            </a:extLst>
          </p:cNvPr>
          <p:cNvSpPr txBox="1"/>
          <p:nvPr/>
        </p:nvSpPr>
        <p:spPr>
          <a:xfrm>
            <a:off x="0" y="1628079"/>
            <a:ext cx="89878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Patient ↔ Appointment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Explanation: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patient can exist in the system without having any appointments yet, so for the patient it is optional.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But an appointment must belong to a specific patient, so for the appointment it is mandatory.</a:t>
            </a:r>
          </a:p>
        </p:txBody>
      </p:sp>
    </p:spTree>
    <p:extLst>
      <p:ext uri="{BB962C8B-B14F-4D97-AF65-F5344CB8AC3E}">
        <p14:creationId xmlns:p14="http://schemas.microsoft.com/office/powerpoint/2010/main" val="4267425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CD6A3E5-F2B2-F2B7-388C-10B3BABF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C7AAB-483B-8518-676D-1108ADDFE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839AE-CDEC-AFA6-B35C-B1E3BE974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7CC0AA4-38FD-7883-975D-DAD4543A59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Participation (Optional vs Mandatory)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166A8-7810-AE3A-8BB5-1111C2204C1F}"/>
              </a:ext>
            </a:extLst>
          </p:cNvPr>
          <p:cNvSpPr txBox="1"/>
          <p:nvPr/>
        </p:nvSpPr>
        <p:spPr>
          <a:xfrm>
            <a:off x="0" y="2808059"/>
            <a:ext cx="89878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Patient ↔ Appointment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short: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Patient → Appointment: Optional (a patient may have 0 or many appointments)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Appointment → Patient: Mandatory (every appointment must have a patient)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6C1747-9F84-DD8F-7C57-71918A18F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868" y="899103"/>
            <a:ext cx="5319132" cy="345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982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12B2975-664A-FE6A-4C33-2BC798FF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9F7C3-FCA0-D995-4F27-4FA16C5C2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E9AB2-2981-FA6C-CE38-72B46F29E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C749C6B-E2BC-62E8-9D44-008DF46907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Special Relationships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A292EE-6875-5BCB-DEEF-2B1A0E183E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204" r="73631" b="28855"/>
          <a:stretch>
            <a:fillRect/>
          </a:stretch>
        </p:blipFill>
        <p:spPr>
          <a:xfrm>
            <a:off x="5353142" y="2834779"/>
            <a:ext cx="3790858" cy="27009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673659-0D5C-B3C3-0394-0CCDA66B9E2D}"/>
              </a:ext>
            </a:extLst>
          </p:cNvPr>
          <p:cNvSpPr txBox="1"/>
          <p:nvPr/>
        </p:nvSpPr>
        <p:spPr>
          <a:xfrm>
            <a:off x="-1" y="2834779"/>
            <a:ext cx="5163015" cy="261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Unary (recursive)</a:t>
            </a:r>
            <a:r>
              <a:rPr lang="en-US" sz="2800" dirty="0">
                <a:latin typeface="Calibir"/>
              </a:rPr>
              <a:t>: entity relates to itself.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Example: </a:t>
            </a:r>
            <a:r>
              <a:rPr lang="en-US" sz="2800" i="1" dirty="0">
                <a:latin typeface="Calibir"/>
              </a:rPr>
              <a:t>Employee manages another employee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7162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F553BB1-2AD8-EEB6-2F01-D9D91C7C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ED03C-AB6A-92CA-771C-008696416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54629-7218-285F-34B9-17E63EEF4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FE03D07-8AF6-E1E7-3D4D-B0B29A6C4A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Associative Entity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B4AACD-5F4F-474F-ECC1-91F0720DBDB6}"/>
              </a:ext>
            </a:extLst>
          </p:cNvPr>
          <p:cNvSpPr txBox="1"/>
          <p:nvPr/>
        </p:nvSpPr>
        <p:spPr>
          <a:xfrm>
            <a:off x="0" y="910474"/>
            <a:ext cx="9144000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Q) A student can enroll in many courses, and each course can have many students.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How can we model this in a database?</a:t>
            </a:r>
            <a:endParaRPr lang="en-AU" sz="2800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DD97F-0535-93D4-24A5-973387527274}"/>
              </a:ext>
            </a:extLst>
          </p:cNvPr>
          <p:cNvSpPr txBox="1"/>
          <p:nvPr/>
        </p:nvSpPr>
        <p:spPr>
          <a:xfrm>
            <a:off x="0" y="3004894"/>
            <a:ext cx="9144000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a many-to-many (M:N) relationship, so we use an associative entity (junction table) to break it into two one-to-many (1:M) relationships.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68CE8-CADB-DDF5-D7E1-94F3B006082B}"/>
              </a:ext>
            </a:extLst>
          </p:cNvPr>
          <p:cNvSpPr txBox="1"/>
          <p:nvPr/>
        </p:nvSpPr>
        <p:spPr>
          <a:xfrm>
            <a:off x="0" y="5702680"/>
            <a:ext cx="914400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Associative entity</a:t>
            </a:r>
            <a:r>
              <a:rPr lang="en-US" sz="2800" dirty="0">
                <a:latin typeface="Calibir"/>
              </a:rPr>
              <a:t>: breaks M:N into 2×1:M.</a:t>
            </a:r>
          </a:p>
        </p:txBody>
      </p:sp>
    </p:spTree>
    <p:extLst>
      <p:ext uri="{BB962C8B-B14F-4D97-AF65-F5344CB8AC3E}">
        <p14:creationId xmlns:p14="http://schemas.microsoft.com/office/powerpoint/2010/main" val="252166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FEB6B83-F006-02F1-D42F-CFBAD4E50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39BC5-BFE1-DBC4-E873-2B9FC67DF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AFC78-3F03-826F-11D1-6F5FA31B4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311B590-CCCF-EB7D-E559-CBB8DF306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Associative Entity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665D4-C508-CB28-BAD9-4DEF3CFB2E3B}"/>
              </a:ext>
            </a:extLst>
          </p:cNvPr>
          <p:cNvSpPr txBox="1"/>
          <p:nvPr/>
        </p:nvSpPr>
        <p:spPr>
          <a:xfrm>
            <a:off x="0" y="457199"/>
            <a:ext cx="9144000" cy="65079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We create a new table called Enrollment.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ir"/>
              </a:rPr>
              <a:t>Tables:</a:t>
            </a:r>
            <a:endParaRPr lang="en-US" sz="20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ir"/>
              </a:rPr>
              <a:t>Student</a:t>
            </a:r>
            <a:endParaRPr lang="en-US" sz="20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StudentID</a:t>
            </a:r>
            <a:r>
              <a:rPr lang="en-US" sz="2000" dirty="0">
                <a:latin typeface="Calibir"/>
              </a:rPr>
              <a:t> (Primary Key)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Name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Other details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ir"/>
              </a:rPr>
              <a:t>Course</a:t>
            </a:r>
            <a:endParaRPr lang="en-US" sz="20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CourseID</a:t>
            </a:r>
            <a:r>
              <a:rPr lang="en-US" sz="2000" dirty="0">
                <a:latin typeface="Calibir"/>
              </a:rPr>
              <a:t> (Primary Key)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CourseName</a:t>
            </a:r>
            <a:endParaRPr lang="en-US" sz="20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Other details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ir"/>
              </a:rPr>
              <a:t>Enrollment</a:t>
            </a:r>
            <a:endParaRPr lang="en-US" sz="20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StudentID</a:t>
            </a:r>
            <a:r>
              <a:rPr lang="en-US" sz="2000" dirty="0">
                <a:latin typeface="Calibir"/>
              </a:rPr>
              <a:t> (Foreign Key)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CourseID</a:t>
            </a:r>
            <a:r>
              <a:rPr lang="en-US" sz="2000" dirty="0">
                <a:latin typeface="Calibir"/>
              </a:rPr>
              <a:t> (Foreign Key)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DateEnrolled</a:t>
            </a:r>
            <a:endParaRPr lang="en-US" sz="2000" dirty="0">
              <a:latin typeface="Calibi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68E22E-C91B-F2DA-BB93-6A1C89389B19}"/>
              </a:ext>
            </a:extLst>
          </p:cNvPr>
          <p:cNvSpPr txBox="1"/>
          <p:nvPr/>
        </p:nvSpPr>
        <p:spPr>
          <a:xfrm>
            <a:off x="4493942" y="-1"/>
            <a:ext cx="4650058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Relationship: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Student can have many Enrollment records.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Course can have many Enrollment records.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Enrollment record links one student to one course.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FD9F4-20B5-4FBB-5821-F418DD556D31}"/>
              </a:ext>
            </a:extLst>
          </p:cNvPr>
          <p:cNvSpPr txBox="1"/>
          <p:nvPr/>
        </p:nvSpPr>
        <p:spPr>
          <a:xfrm>
            <a:off x="3468029" y="5196165"/>
            <a:ext cx="5675971" cy="1563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So the Enrollment table connects Students and Courses and converts the many-to-many relationship into two one-to-many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18358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9E0C055-C358-A7FB-D073-79741CF5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DE335-3353-405D-29AD-816C90611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BD1F2-1FF4-9721-2293-5CCA5AC1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28C132-FB13-13F5-1282-67B3812A04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Associative Entity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0B5A6-3840-15E0-9F1E-25B9A787F7A9}"/>
              </a:ext>
            </a:extLst>
          </p:cNvPr>
          <p:cNvSpPr txBox="1"/>
          <p:nvPr/>
        </p:nvSpPr>
        <p:spPr>
          <a:xfrm>
            <a:off x="0" y="1538868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Question) Why we need to define enrollment between student and course?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Relational databases cannot directly implement a many-to-many (M:N) relationship, so we need a middle table (Enrollment) to store the connections.</a:t>
            </a:r>
          </a:p>
        </p:txBody>
      </p:sp>
    </p:spTree>
    <p:extLst>
      <p:ext uri="{BB962C8B-B14F-4D97-AF65-F5344CB8AC3E}">
        <p14:creationId xmlns:p14="http://schemas.microsoft.com/office/powerpoint/2010/main" val="301486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3355040-1C17-FD41-D74A-D7295584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83585-9170-BF28-DAFA-7ECFA0EB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F68F0-BA55-FBE5-BE99-A1F40D2C1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298A492-D9C2-A70E-8E48-0DD5CCE203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Associative Entity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010DE-5371-5E58-652B-C162715FB8F2}"/>
              </a:ext>
            </a:extLst>
          </p:cNvPr>
          <p:cNvSpPr txBox="1"/>
          <p:nvPr/>
        </p:nvSpPr>
        <p:spPr>
          <a:xfrm>
            <a:off x="0" y="667974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If we connect Student ↔ Course directly, we cannot properly store which student is in which course.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Students: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S1 Alice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S2 Bob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Courses: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C1 Math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C2 Programming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67B21-9845-8D95-4B20-7B0B0D64806E}"/>
              </a:ext>
            </a:extLst>
          </p:cNvPr>
          <p:cNvSpPr txBox="1"/>
          <p:nvPr/>
        </p:nvSpPr>
        <p:spPr>
          <a:xfrm>
            <a:off x="4243040" y="2217301"/>
            <a:ext cx="4716966" cy="4072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Now we must record: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Alice → Math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Alice → Programming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Bob → Math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Where do we store these links?</a:t>
            </a:r>
            <a:br>
              <a:rPr lang="en-US" sz="2500" dirty="0">
                <a:latin typeface="Calibir"/>
              </a:rPr>
            </a:br>
            <a:r>
              <a:rPr lang="en-US" sz="2500" dirty="0">
                <a:latin typeface="Calibir"/>
              </a:rPr>
              <a:t>This is why we create the Enrollment table.</a:t>
            </a:r>
          </a:p>
        </p:txBody>
      </p:sp>
    </p:spTree>
    <p:extLst>
      <p:ext uri="{BB962C8B-B14F-4D97-AF65-F5344CB8AC3E}">
        <p14:creationId xmlns:p14="http://schemas.microsoft.com/office/powerpoint/2010/main" val="1581774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5D3ACD7-6F48-60E0-88D6-537E8A27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11B29-613C-2D8C-E55A-84832851D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8A2EB-03D6-B190-6DD5-2A8D7D797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FEBE83-38EA-0F77-2432-52960CE466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Associative Entity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186684-00F9-6F7B-BFF1-7A5C66566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211155"/>
              </p:ext>
            </p:extLst>
          </p:nvPr>
        </p:nvGraphicFramePr>
        <p:xfrm>
          <a:off x="628650" y="2935237"/>
          <a:ext cx="7886700" cy="20726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02823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18978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4174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StudentID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CourseID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DateEnrolled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48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01-Mar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34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02-Mar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044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03-Mar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2155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5F28319-0F9F-3A8D-1F20-631FCFFC7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870"/>
            <a:ext cx="7824899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With Enrollment table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Enrollment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Each row represents one student taking one course.</a:t>
            </a:r>
          </a:p>
        </p:txBody>
      </p:sp>
    </p:spTree>
    <p:extLst>
      <p:ext uri="{BB962C8B-B14F-4D97-AF65-F5344CB8AC3E}">
        <p14:creationId xmlns:p14="http://schemas.microsoft.com/office/powerpoint/2010/main" val="1837292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A705776-A409-082A-A07E-6772C88E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86738-F9D1-E132-0630-031F19DAD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29855-EBB3-044F-CBA0-2E68B5613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6D9CBF-E4B1-3C33-9E2F-6CBE75A48D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Associative Entity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616A597-6136-96BA-B9F1-3A6498B5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5166"/>
            <a:ext cx="9144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Another important reason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Enrollment table can store extra information, such as: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DateEnrolled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Grade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Semester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Status (completed / dropped)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we connected Student and Course directly, we would have nowhere to store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12042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23BCB31-F55C-AD69-6687-7A0E469F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E12FC-0DD6-99D0-7ADE-A614532B9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729A8-3D62-E1AF-7F41-1872E35E2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AA01AA3-8A61-EDD0-BD4C-350EE3B730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Associative Entity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F3912-5CC1-D625-BA74-B811B35036DF}"/>
              </a:ext>
            </a:extLst>
          </p:cNvPr>
          <p:cNvSpPr txBox="1"/>
          <p:nvPr/>
        </p:nvSpPr>
        <p:spPr>
          <a:xfrm>
            <a:off x="0" y="1271240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add Enrollment because: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Databases cannot directly store many-to-many relationships.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The middle table records which student takes which course.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It allows us to store extra details about the enrollment.</a:t>
            </a:r>
          </a:p>
        </p:txBody>
      </p:sp>
    </p:spTree>
    <p:extLst>
      <p:ext uri="{BB962C8B-B14F-4D97-AF65-F5344CB8AC3E}">
        <p14:creationId xmlns:p14="http://schemas.microsoft.com/office/powerpoint/2010/main" val="2570014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F553BB1-2AD8-EEB6-2F01-D9D91C7C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ED03C-AB6A-92CA-771C-008696416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54629-7218-285F-34B9-17E63EEF4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FE03D07-8AF6-E1E7-3D4D-B0B29A6C4A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Database Design Considerations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068CE8-CADB-DDF5-D7E1-94F3B006082B}"/>
              </a:ext>
            </a:extLst>
          </p:cNvPr>
          <p:cNvSpPr txBox="1"/>
          <p:nvPr/>
        </p:nvSpPr>
        <p:spPr>
          <a:xfrm>
            <a:off x="0" y="929958"/>
            <a:ext cx="914400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Good PKs</a:t>
            </a:r>
            <a:r>
              <a:rPr lang="en-US" altLang="en-US" sz="2800" dirty="0">
                <a:latin typeface="Calibir"/>
              </a:rPr>
              <a:t>: stable, numeric, not “intelligent.”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Example: Use 12345, not “IT2024-MEL.”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B4AACD-5F4F-474F-ECC1-91F0720DBDB6}"/>
              </a:ext>
            </a:extLst>
          </p:cNvPr>
          <p:cNvSpPr txBox="1"/>
          <p:nvPr/>
        </p:nvSpPr>
        <p:spPr>
          <a:xfrm>
            <a:off x="0" y="2633146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Q: Why is “</a:t>
            </a:r>
            <a:r>
              <a:rPr lang="en-US" sz="2800" dirty="0" err="1">
                <a:latin typeface="Calibir"/>
              </a:rPr>
              <a:t>CarPlateNumber</a:t>
            </a:r>
            <a:r>
              <a:rPr lang="en-US" sz="2800" dirty="0">
                <a:latin typeface="Calibir"/>
              </a:rPr>
              <a:t>” a bad PK? Suggest a better one.</a:t>
            </a:r>
            <a:endParaRPr lang="en-AU" sz="2800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DD97F-0535-93D4-24A5-973387527274}"/>
              </a:ext>
            </a:extLst>
          </p:cNvPr>
          <p:cNvSpPr txBox="1"/>
          <p:nvPr/>
        </p:nvSpPr>
        <p:spPr>
          <a:xfrm>
            <a:off x="0" y="4824224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Bad: Car plates can change → not stable.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Better: Auto-generated </a:t>
            </a:r>
            <a:r>
              <a:rPr lang="en-US" altLang="en-US" sz="2800" dirty="0" err="1">
                <a:latin typeface="Calibir"/>
              </a:rPr>
              <a:t>CarID</a:t>
            </a:r>
            <a:r>
              <a:rPr lang="en-US" alt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71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33EB83A-DAF1-2EE2-D3C8-76AE46F2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7C3CA-1A17-2449-23AD-FB47F4D1E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9E987-0E67-8E61-7FB2-FB56B0AD5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F2E310D-D312-1519-BA85-44C59F4898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Week 3 Tutorial Activities — Hints for Students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3F832-1F57-2D50-E82A-04106683DC9F}"/>
              </a:ext>
            </a:extLst>
          </p:cNvPr>
          <p:cNvSpPr txBox="1"/>
          <p:nvPr/>
        </p:nvSpPr>
        <p:spPr>
          <a:xfrm>
            <a:off x="-1" y="2123578"/>
            <a:ext cx="914400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When reading the case study, do these steps: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1: Find the main entities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Look for the main things the business stores data about.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These usually become entities/tables.</a:t>
            </a:r>
          </a:p>
        </p:txBody>
      </p:sp>
    </p:spTree>
    <p:extLst>
      <p:ext uri="{BB962C8B-B14F-4D97-AF65-F5344CB8AC3E}">
        <p14:creationId xmlns:p14="http://schemas.microsoft.com/office/powerpoint/2010/main" val="3900905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A000369-CC4E-9A01-B7DE-F5C702AE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7BFA9-B15C-A675-362E-A9DD8D08C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BE9F-A12D-360D-6038-D3084412A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667AFE0-6373-68C8-9323-26DC1E5BD1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Week 3 Tutorial Activities — Hints for Students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166D2-5243-E599-8D7D-5BC94A9BCCF2}"/>
              </a:ext>
            </a:extLst>
          </p:cNvPr>
          <p:cNvSpPr txBox="1"/>
          <p:nvPr/>
        </p:nvSpPr>
        <p:spPr>
          <a:xfrm>
            <a:off x="0" y="2446744"/>
            <a:ext cx="9144001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Find the attributes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each entity, identify its key details such as ID, name, description, price, phone, etc.</a:t>
            </a:r>
          </a:p>
        </p:txBody>
      </p:sp>
    </p:spTree>
    <p:extLst>
      <p:ext uri="{BB962C8B-B14F-4D97-AF65-F5344CB8AC3E}">
        <p14:creationId xmlns:p14="http://schemas.microsoft.com/office/powerpoint/2010/main" val="838765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9060E1A-E621-A088-EAEB-93618020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29B2A-2330-5894-AF98-3104DFC56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13BA-C722-3514-794C-F1E9CC290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ABDD16-0B5D-AB50-C5E0-533CB67975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Week 3 Tutorial Activities — Hints for Students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E5ECE-B173-B659-B11D-6A62931D6877}"/>
              </a:ext>
            </a:extLst>
          </p:cNvPr>
          <p:cNvSpPr txBox="1"/>
          <p:nvPr/>
        </p:nvSpPr>
        <p:spPr>
          <a:xfrm>
            <a:off x="0" y="2034368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3: Find the relationships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one record relate to one, many, or none?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the relationship 1:1, 1:M, or M:N?</a:t>
            </a:r>
          </a:p>
        </p:txBody>
      </p:sp>
    </p:spTree>
    <p:extLst>
      <p:ext uri="{BB962C8B-B14F-4D97-AF65-F5344CB8AC3E}">
        <p14:creationId xmlns:p14="http://schemas.microsoft.com/office/powerpoint/2010/main" val="1451678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BE93BCF-A3D1-C7E1-7877-0E63C1AA8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06FE54-E974-BDB7-2189-CCFC45CC1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B0DBB-923E-B1AF-A53E-03ABC6CED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41633A-C66D-D378-7E62-CA27B7EE9C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Week 3 Tutorial Activities — Hints for Students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AC518-77C0-D83E-FC6B-07DDE6AB9FE7}"/>
              </a:ext>
            </a:extLst>
          </p:cNvPr>
          <p:cNvSpPr txBox="1"/>
          <p:nvPr/>
        </p:nvSpPr>
        <p:spPr>
          <a:xfrm>
            <a:off x="0" y="2123578"/>
            <a:ext cx="914400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4: Check optional or mandatory participation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Can this entity exist without the other one?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Must it always be linked?</a:t>
            </a:r>
          </a:p>
        </p:txBody>
      </p:sp>
    </p:spTree>
    <p:extLst>
      <p:ext uri="{BB962C8B-B14F-4D97-AF65-F5344CB8AC3E}">
        <p14:creationId xmlns:p14="http://schemas.microsoft.com/office/powerpoint/2010/main" val="31670675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053B998-3452-2FDA-BA0B-B8DA8E26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BA1AF-85C9-05FD-DEBD-C9B62233F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29809-A734-E27F-0133-8EC44B37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ACC3857-6456-4A91-BDE4-409170730D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Week 3 Tutorial Activities — Hints for Students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D505A-32ED-42A6-6FDE-5181AAA92496}"/>
              </a:ext>
            </a:extLst>
          </p:cNvPr>
          <p:cNvSpPr txBox="1"/>
          <p:nvPr/>
        </p:nvSpPr>
        <p:spPr>
          <a:xfrm>
            <a:off x="0" y="2446744"/>
            <a:ext cx="9144001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5: Look for M:N relationships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you find a many-to-many relationship, you usually need an associative entity in the middle.</a:t>
            </a:r>
          </a:p>
        </p:txBody>
      </p:sp>
    </p:spTree>
    <p:extLst>
      <p:ext uri="{BB962C8B-B14F-4D97-AF65-F5344CB8AC3E}">
        <p14:creationId xmlns:p14="http://schemas.microsoft.com/office/powerpoint/2010/main" val="21031263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38817AF-EC9F-720F-3BC2-813BCF5A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086C5-2AB6-C760-F378-D2D694E8A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B4864-E9B8-9BEF-15A8-52C932126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FD0C028-8F80-259B-B824-A0AACFF574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Week 3 Tutorial Activities — Hints for Students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4E135-66C8-341A-F8D4-A1E942737D87}"/>
              </a:ext>
            </a:extLst>
          </p:cNvPr>
          <p:cNvSpPr txBox="1"/>
          <p:nvPr/>
        </p:nvSpPr>
        <p:spPr>
          <a:xfrm>
            <a:off x="0" y="2446744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6: Add primary keys and foreign keys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Each entity should have a primary key.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Relationships often create foreign keys.</a:t>
            </a:r>
          </a:p>
        </p:txBody>
      </p:sp>
    </p:spTree>
    <p:extLst>
      <p:ext uri="{BB962C8B-B14F-4D97-AF65-F5344CB8AC3E}">
        <p14:creationId xmlns:p14="http://schemas.microsoft.com/office/powerpoint/2010/main" val="1092464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C84FC77-524A-6338-619A-35B1FE01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51504-4F56-C31B-3B8F-9999309FA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D6E36-5CD9-94D3-ADE6-4A7D7D203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B5F0462-9B14-DF17-08B3-126739CD98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159B3D-B139-3E6C-A690-AA817981B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473528" y="1015553"/>
            <a:ext cx="8196943" cy="482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34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91B458D-BD6F-F57B-CAF3-22A6B76A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D126DA-7991-5225-EC37-F0F102B3D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B49B5-E948-3C30-7726-94107CBE1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50E32B7-0ED7-5DBB-4496-BFE4377EFB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85E41B-4FDF-CADE-93CE-DCDAD81D9B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4282068" y="3994979"/>
            <a:ext cx="4861932" cy="28630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E41CD-BE3A-0C29-1313-6D853FEC3DE6}"/>
              </a:ext>
            </a:extLst>
          </p:cNvPr>
          <p:cNvSpPr txBox="1"/>
          <p:nvPr/>
        </p:nvSpPr>
        <p:spPr>
          <a:xfrm>
            <a:off x="0" y="964629"/>
            <a:ext cx="9144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Hint 1: Identify the main entities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Look for the main business objects in the description.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These usually become entities in the ER diagram.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Ask yourself: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Who supplies the spas?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product family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do they produce?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specific products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are sold?</a:t>
            </a:r>
          </a:p>
        </p:txBody>
      </p:sp>
    </p:spTree>
    <p:extLst>
      <p:ext uri="{BB962C8B-B14F-4D97-AF65-F5344CB8AC3E}">
        <p14:creationId xmlns:p14="http://schemas.microsoft.com/office/powerpoint/2010/main" val="42828385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87147F5-0BFF-0E3F-ABBB-EB3C7DBC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ED776-919A-3499-B0C2-8624AE4C0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5C938-AC7E-FB89-3E8C-4156CC8E5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7AC310-5282-DF8E-C20A-027B1F583F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441109-7858-F835-0545-542841A251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4282068" y="3994979"/>
            <a:ext cx="4861932" cy="28630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1CACE9-137D-42FD-6731-59067E4DDB97}"/>
              </a:ext>
            </a:extLst>
          </p:cNvPr>
          <p:cNvSpPr txBox="1"/>
          <p:nvPr/>
        </p:nvSpPr>
        <p:spPr>
          <a:xfrm>
            <a:off x="0" y="1416205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You should find three main entities.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Think in this order: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Manufacturer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Brand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1937442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0CD37DA-E03F-0897-20F7-6331264C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E153C-0C52-E724-8D05-D002D4AF9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ABA35-DB64-9B12-DEE4-EF22E643C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2A293E8-C079-08A2-0CA0-12C9DF9A6C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EF033-03CE-9331-4CC6-785F5F18B2ED}"/>
              </a:ext>
            </a:extLst>
          </p:cNvPr>
          <p:cNvSpPr txBox="1"/>
          <p:nvPr/>
        </p:nvSpPr>
        <p:spPr>
          <a:xfrm>
            <a:off x="0" y="1416205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2: Find the attributes for each entity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question tells you what information must be stored for each entity.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5D0B82-4504-E450-C78E-EDB2D6D19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3259394" y="3392762"/>
            <a:ext cx="5884606" cy="346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44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F112033-80D2-B753-B18B-FE3137A3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4BCAA-5C8E-2E73-B8C9-0EBEB25C1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4C587-637B-F333-50AE-D36F8FEE9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A5A6AC4-1705-4C12-CF19-6E49409EC8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52E6DE-9E56-F700-C827-445A818B3A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3259394" y="3392762"/>
            <a:ext cx="5884606" cy="34652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CD8863-5A63-1F51-7CBA-49AF5D9B9195}"/>
              </a:ext>
            </a:extLst>
          </p:cNvPr>
          <p:cNvSpPr txBox="1"/>
          <p:nvPr/>
        </p:nvSpPr>
        <p:spPr>
          <a:xfrm>
            <a:off x="0" y="1416205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Manufacturer attributes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Look for: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ManufacturerCode (Primary Key)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CompanyName</a:t>
            </a:r>
            <a:endParaRPr lang="en-US" sz="2800" dirty="0">
              <a:latin typeface="Calibir"/>
            </a:endParaRP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Address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AreaCode</a:t>
            </a:r>
            <a:endParaRPr lang="en-US" sz="2800" dirty="0">
              <a:latin typeface="Calibir"/>
            </a:endParaRP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PhoneNumber</a:t>
            </a:r>
            <a:endParaRPr lang="en-US" sz="2800" dirty="0">
              <a:latin typeface="Calibir"/>
            </a:endParaRP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AccountNumber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1931712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937CC62-8664-ECE8-4998-9B66D0EA6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6D733-1377-8531-B51C-159F14885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0B05C-10EC-2876-BF2C-575F726CD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B352CE4-0A08-A535-2FEE-C9C3D2294F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92EDE-890C-0597-8FA7-98A3D0DF57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4336526" y="4027048"/>
            <a:ext cx="4807473" cy="2830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E202BD-5AC0-3398-EC07-02CA8517AA7F}"/>
              </a:ext>
            </a:extLst>
          </p:cNvPr>
          <p:cNvSpPr txBox="1"/>
          <p:nvPr/>
        </p:nvSpPr>
        <p:spPr>
          <a:xfrm>
            <a:off x="0" y="1416205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Brand attributes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Look for: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BrandName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BrandLevel</a:t>
            </a:r>
            <a:r>
              <a:rPr lang="en-US" sz="2800" dirty="0">
                <a:latin typeface="Calibir"/>
              </a:rPr>
              <a:t> (premium, mid-level, entry-level)</a:t>
            </a:r>
          </a:p>
        </p:txBody>
      </p:sp>
    </p:spTree>
    <p:extLst>
      <p:ext uri="{BB962C8B-B14F-4D97-AF65-F5344CB8AC3E}">
        <p14:creationId xmlns:p14="http://schemas.microsoft.com/office/powerpoint/2010/main" val="12651834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B859D73-6069-B211-3A2E-F4FD28A6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9407B-1BA4-940B-97EC-F344BA700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D3D71-D3AC-E2B9-4088-E11D689A8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DBF3D67-2EAB-E401-DB4F-45F2555F92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57B28-BBA3-AC35-96B2-E214CC7C22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4336526" y="4027048"/>
            <a:ext cx="4807473" cy="2830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53D64-C0BE-156D-C40E-B1169C7D49F4}"/>
              </a:ext>
            </a:extLst>
          </p:cNvPr>
          <p:cNvSpPr txBox="1"/>
          <p:nvPr/>
        </p:nvSpPr>
        <p:spPr>
          <a:xfrm>
            <a:off x="-1" y="1007554"/>
            <a:ext cx="9144000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Model attributes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Look for: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ModelNumber</a:t>
            </a:r>
            <a:r>
              <a:rPr lang="en-US" sz="2200" dirty="0">
                <a:latin typeface="Calibir"/>
              </a:rPr>
              <a:t> (Primary Key)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NumberOfJets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NumberOfMotors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HorsepowerPerMotor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SuggestedRetailPrice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HWRetailPrice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DryWeight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WaterCapacity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SeatingCapacity</a:t>
            </a:r>
            <a:endParaRPr lang="en-US" sz="22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2696203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31396D1-1810-3814-B34A-8C892D9F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AC291-E958-7ED9-349E-AACE0B457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821C1-72B7-A2FA-2318-49CE84981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57BD47-1EBA-1570-EDD3-7814BA3323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84F5AA-EF09-9D8F-18DE-C7CCE6CC19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2156320" y="2743200"/>
            <a:ext cx="6987680" cy="41148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997145-7D37-BB87-82BB-CB5EA5C7466E}"/>
              </a:ext>
            </a:extLst>
          </p:cNvPr>
          <p:cNvSpPr txBox="1"/>
          <p:nvPr/>
        </p:nvSpPr>
        <p:spPr>
          <a:xfrm>
            <a:off x="-1" y="1007554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3: Work out the relationships carefully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Read the description and convert each sentence into a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7005631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FB46D25-9FA1-10C4-214D-7A2DC1F93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58E36-E6DF-6D6A-06AD-0FDB0880B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B74A0-A93E-BE89-AF47-612DCE240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E9EDDCD-9ABF-B49F-3215-643794BDD4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94DA7F-FC30-DC10-54DF-8E372474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4485546" y="4114800"/>
            <a:ext cx="4658454" cy="2743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846D0D-4C9D-3B05-716E-0E1A9668BF90}"/>
              </a:ext>
            </a:extLst>
          </p:cNvPr>
          <p:cNvSpPr txBox="1"/>
          <p:nvPr/>
        </p:nvSpPr>
        <p:spPr>
          <a:xfrm>
            <a:off x="-1" y="1007554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Examples from the text: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manufacturer produces several brands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brand belongs to only one manufacturer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brand can offer several models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model belongs to one brand</a:t>
            </a:r>
          </a:p>
        </p:txBody>
      </p:sp>
    </p:spTree>
    <p:extLst>
      <p:ext uri="{BB962C8B-B14F-4D97-AF65-F5344CB8AC3E}">
        <p14:creationId xmlns:p14="http://schemas.microsoft.com/office/powerpoint/2010/main" val="29528906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8C2C4F8-B8EC-3667-7216-D4E01D233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7EFAF-0FDE-D53F-AF2D-972C2C6B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C850-2E54-9B7F-8D8A-8FAB9D590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7ABC814-6F33-F433-2ED6-411ABF133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6016-F507-E10D-A18C-7D6942C05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4485546" y="4114800"/>
            <a:ext cx="4658454" cy="2743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25BED9-2D37-3CA2-E3AB-7B122E2694F3}"/>
              </a:ext>
            </a:extLst>
          </p:cNvPr>
          <p:cNvSpPr txBox="1"/>
          <p:nvPr/>
        </p:nvSpPr>
        <p:spPr>
          <a:xfrm>
            <a:off x="-1" y="1007554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Ask yourself: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it 1:1?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it 1:M?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it M:N?</a:t>
            </a:r>
          </a:p>
        </p:txBody>
      </p:sp>
    </p:spTree>
    <p:extLst>
      <p:ext uri="{BB962C8B-B14F-4D97-AF65-F5344CB8AC3E}">
        <p14:creationId xmlns:p14="http://schemas.microsoft.com/office/powerpoint/2010/main" val="33662577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7EA04D0-A3CA-6AC0-D2CC-CB3648B5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BE348-9AFC-CBB4-23F4-2233DD14D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D0472-83F2-3161-A2DC-E76D70EE6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0B74462-647B-8485-41A8-788E06B554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6882C-F747-A338-7BBA-507AD7EF3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07" t="24743" r="21341" b="15637"/>
          <a:stretch>
            <a:fillRect/>
          </a:stretch>
        </p:blipFill>
        <p:spPr>
          <a:xfrm>
            <a:off x="2227006" y="2784826"/>
            <a:ext cx="6916994" cy="4073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A016B4-80EE-4692-6B79-EABC4AEFF47C}"/>
              </a:ext>
            </a:extLst>
          </p:cNvPr>
          <p:cNvSpPr txBox="1"/>
          <p:nvPr/>
        </p:nvSpPr>
        <p:spPr>
          <a:xfrm>
            <a:off x="-1" y="1007554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4: Check minimum and maximum participation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wording in the question tells you the cardinality and optionality.</a:t>
            </a:r>
          </a:p>
        </p:txBody>
      </p:sp>
    </p:spTree>
    <p:extLst>
      <p:ext uri="{BB962C8B-B14F-4D97-AF65-F5344CB8AC3E}">
        <p14:creationId xmlns:p14="http://schemas.microsoft.com/office/powerpoint/2010/main" val="17173628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D667AD3-3968-57E5-D50F-718C763F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1D5E85-8298-1DD5-1C1B-F7E2432DD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C03B1-6E1A-93EC-B093-97D686BD2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78BB73A-66A6-580D-2103-1BF136AE9C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3A3A8-26E1-F55C-DD6B-8FAF99E21FF8}"/>
              </a:ext>
            </a:extLst>
          </p:cNvPr>
          <p:cNvSpPr txBox="1"/>
          <p:nvPr/>
        </p:nvSpPr>
        <p:spPr>
          <a:xfrm>
            <a:off x="0" y="1139467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“produces one or more brands” → mandatory many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“each and every brand is produced by only one manufacturer” → exactly one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“every brand has one or more models” → mandatory many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“every model is produced as part of a brand” → exactly one</a:t>
            </a:r>
          </a:p>
        </p:txBody>
      </p:sp>
    </p:spTree>
    <p:extLst>
      <p:ext uri="{BB962C8B-B14F-4D97-AF65-F5344CB8AC3E}">
        <p14:creationId xmlns:p14="http://schemas.microsoft.com/office/powerpoint/2010/main" val="26191570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BD51533-F43E-A36E-528E-4A6A4487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8CF28-A3A0-CE1F-0788-2F8CCEA27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733C-C49E-7385-D7D4-36DCEDD89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29F894-2E24-03FC-9A61-A28CFF00E3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76F88-8CE5-6354-DED3-0CEFB0AC7FA5}"/>
              </a:ext>
            </a:extLst>
          </p:cNvPr>
          <p:cNvSpPr txBox="1"/>
          <p:nvPr/>
        </p:nvSpPr>
        <p:spPr>
          <a:xfrm>
            <a:off x="0" y="1154082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Watch for key words: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or more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only one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every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help you determine the Crow’s Foot notation.</a:t>
            </a:r>
          </a:p>
        </p:txBody>
      </p:sp>
    </p:spTree>
    <p:extLst>
      <p:ext uri="{BB962C8B-B14F-4D97-AF65-F5344CB8AC3E}">
        <p14:creationId xmlns:p14="http://schemas.microsoft.com/office/powerpoint/2010/main" val="2353420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146CE92-9BD7-C5C2-31D3-68EBA7042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45A631-B7CC-0169-87B8-B29F499CF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F17AC-65FC-AB0E-29B5-B5609210D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D49D05-BE47-BAFA-8E0D-E1F6633DB3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64630"/>
          </a:xfrm>
        </p:spPr>
        <p:txBody>
          <a:bodyPr>
            <a:noAutofit/>
          </a:bodyPr>
          <a:lstStyle/>
          <a:p>
            <a:r>
              <a:rPr lang="en-US" sz="3200" dirty="0"/>
              <a:t>Question 1 — Hot Water (HW) spa company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62112-7C8C-F8ED-D8D0-D04E080DBE0F}"/>
              </a:ext>
            </a:extLst>
          </p:cNvPr>
          <p:cNvSpPr txBox="1"/>
          <p:nvPr/>
        </p:nvSpPr>
        <p:spPr>
          <a:xfrm>
            <a:off x="0" y="1154082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5: Do not invent extra entities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question only focuses on the product structure.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 not add extra entities like: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Order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unless the question specifically asks for them.</a:t>
            </a:r>
          </a:p>
        </p:txBody>
      </p:sp>
    </p:spTree>
    <p:extLst>
      <p:ext uri="{BB962C8B-B14F-4D97-AF65-F5344CB8AC3E}">
        <p14:creationId xmlns:p14="http://schemas.microsoft.com/office/powerpoint/2010/main" val="20839323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D63BA64-2599-E5EA-8457-195A4C29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BDBAA-637B-4003-8BFE-C7F7B82BF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1BCA1-4FB8-01B2-B550-8837FF377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9C1F2-B6D6-90ED-F489-FE32044BB3B3}"/>
              </a:ext>
            </a:extLst>
          </p:cNvPr>
          <p:cNvSpPr txBox="1"/>
          <p:nvPr/>
        </p:nvSpPr>
        <p:spPr>
          <a:xfrm>
            <a:off x="0" y="1154082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Step 1: Identify the entities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 the description, we find three entities: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Manufacturer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Brand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Model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represent the hierarchy of spa products.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B639729-3CC8-4541-4C21-B989D01A90F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8736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084CE25-FC4C-9AED-1939-E6CBD6931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11A66-CC67-688E-24EE-8E391843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69008-1054-DF4C-EE76-53643D6B3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85E562E-4A79-6FDA-86B0-EF21B10FFB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601674"/>
          </a:xfrm>
        </p:spPr>
        <p:txBody>
          <a:bodyPr>
            <a:noAutofit/>
          </a:bodyPr>
          <a:lstStyle/>
          <a:p>
            <a:r>
              <a:rPr lang="en-US" sz="3200" dirty="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BA856-6B52-A8F6-34E5-C6101EA49B5D}"/>
              </a:ext>
            </a:extLst>
          </p:cNvPr>
          <p:cNvSpPr txBox="1"/>
          <p:nvPr/>
        </p:nvSpPr>
        <p:spPr>
          <a:xfrm>
            <a:off x="0" y="601673"/>
            <a:ext cx="9144000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Step 2: Add the attributes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Manufacturer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Primary Key: </a:t>
            </a:r>
            <a:r>
              <a:rPr lang="en-US" sz="2600" b="1" dirty="0">
                <a:latin typeface="Calibir"/>
              </a:rPr>
              <a:t>ManufacturerCode</a:t>
            </a:r>
            <a:endParaRPr lang="en-US" sz="26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Attributes: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ManufacturerCode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latin typeface="Calibir"/>
              </a:rPr>
              <a:t>CompanyName</a:t>
            </a:r>
            <a:endParaRPr lang="en-US" sz="26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Address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latin typeface="Calibir"/>
              </a:rPr>
              <a:t>AreaCode</a:t>
            </a:r>
            <a:endParaRPr lang="en-US" sz="26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latin typeface="Calibir"/>
              </a:rPr>
              <a:t>PhoneNumber</a:t>
            </a:r>
            <a:endParaRPr lang="en-US" sz="26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latin typeface="Calibir"/>
              </a:rPr>
              <a:t>AccountNumber</a:t>
            </a:r>
            <a:endParaRPr lang="en-US" sz="26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8037004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B246316-9D9B-C12B-941A-BC6966E3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CF408-6BFB-6073-F046-6864C6BA7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3BB5A-151D-23EF-CF2B-19D865E4A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CC403-47E4-B6B7-A1A1-FB070369D45A}"/>
              </a:ext>
            </a:extLst>
          </p:cNvPr>
          <p:cNvSpPr txBox="1"/>
          <p:nvPr/>
        </p:nvSpPr>
        <p:spPr>
          <a:xfrm>
            <a:off x="0" y="1154082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Brand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Attributes: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BrandName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BrandLevel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Brand belongs to a manufacturer, so it will also include a foreign key: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ManufacturerCode (FK)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3E8A419-8804-17CC-43CA-706BE5EB088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8573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0ED301F-AED2-7DB7-C687-D593016A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72B86-E1CC-75D4-76FA-614B57CDD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C56B2-52BA-8221-E927-B9C950F44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08010-C309-8AE0-C66E-30BE4B90D94E}"/>
              </a:ext>
            </a:extLst>
          </p:cNvPr>
          <p:cNvSpPr txBox="1"/>
          <p:nvPr/>
        </p:nvSpPr>
        <p:spPr>
          <a:xfrm>
            <a:off x="0" y="724141"/>
            <a:ext cx="5515897" cy="61338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Model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Primary Key: </a:t>
            </a:r>
            <a:r>
              <a:rPr lang="en-US" sz="2200" dirty="0" err="1">
                <a:latin typeface="Calibir"/>
              </a:rPr>
              <a:t>ModelNumber</a:t>
            </a:r>
            <a:endParaRPr lang="en-US" sz="22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Attributes: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ModelNumber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NumberOfJets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NumberOfMotors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HorsepowerPerMotor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SuggestedRetailPrice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HWRetailPrice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DryWeight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WaterCapacity</a:t>
            </a:r>
            <a:endParaRPr lang="en-US" sz="2200" dirty="0">
              <a:latin typeface="Calibir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SeatingCapacity</a:t>
            </a:r>
            <a:endParaRPr lang="en-US" sz="2200" dirty="0">
              <a:latin typeface="Calibi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3EB11-432C-2EE8-CC99-17C9C8327FE5}"/>
              </a:ext>
            </a:extLst>
          </p:cNvPr>
          <p:cNvSpPr txBox="1"/>
          <p:nvPr/>
        </p:nvSpPr>
        <p:spPr>
          <a:xfrm>
            <a:off x="4356186" y="2755294"/>
            <a:ext cx="465311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also belongs to a brand, so it will include: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BrandName</a:t>
            </a:r>
            <a:r>
              <a:rPr lang="en-US" sz="2800" dirty="0">
                <a:latin typeface="Calibir"/>
              </a:rPr>
              <a:t> (FK)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709F787-3C2E-5499-89FC-DAB2C10861F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8437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061368-DEE5-616C-A507-7D8274B5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2FC76-3B70-B246-5784-6ED7D8F52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296B9-13FF-7787-2D77-5B20F8A38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583A8-07DE-C14D-A8CC-224A4E8E3707}"/>
              </a:ext>
            </a:extLst>
          </p:cNvPr>
          <p:cNvSpPr txBox="1"/>
          <p:nvPr/>
        </p:nvSpPr>
        <p:spPr>
          <a:xfrm>
            <a:off x="0" y="1477248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3: Identify the relationships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Relationship 1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Manufacturer → Brand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 the context: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manufacturer produces one or more brands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brand belongs to one manufacturer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7A9821F-5568-E236-D50F-80ED546C5FC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9274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8EEE506-D3FE-B6C3-270F-0AD5B354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885F9-C991-43AB-517B-3A1487545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D946-E2C8-DF9C-D108-E7DD91FD8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188ED-660D-2FB8-BDC6-6C4D88713CC2}"/>
              </a:ext>
            </a:extLst>
          </p:cNvPr>
          <p:cNvSpPr txBox="1"/>
          <p:nvPr/>
        </p:nvSpPr>
        <p:spPr>
          <a:xfrm>
            <a:off x="0" y="754577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case says: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“Each manufacturer produces one or more different brands.”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“Each and every brand is produced by only one manufacturer.”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sentences tell us the minimum and maximum participation.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03CF0-F68C-7373-CBE2-1C4E35927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638" y="4519448"/>
            <a:ext cx="3688362" cy="239437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ECD5514-FFEC-EE04-393A-A20DA7C3313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5493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CFA7C8B-DE9F-DE98-7721-8DD31550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4A5A0E-6416-ECB4-4D2F-FB9693F89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62F04-6C14-A187-F91F-EEA8E9B27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19A3E-673E-2A32-EF2C-9B84899495EC}"/>
              </a:ext>
            </a:extLst>
          </p:cNvPr>
          <p:cNvSpPr txBox="1"/>
          <p:nvPr/>
        </p:nvSpPr>
        <p:spPr>
          <a:xfrm>
            <a:off x="0" y="754577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Manufacturer → Brand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manufacturer produces one or more brands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Mandatory many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brand must belong to exactly one manufacturer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Mandatory one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921FA-6C72-410E-CCAC-ABA3C1D41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451" y="4331067"/>
            <a:ext cx="3978549" cy="2582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C662C2-CB71-0688-73A5-AE620E96B4C7}"/>
              </a:ext>
            </a:extLst>
          </p:cNvPr>
          <p:cNvSpPr txBox="1"/>
          <p:nvPr/>
        </p:nvSpPr>
        <p:spPr>
          <a:xfrm>
            <a:off x="0" y="4011751"/>
            <a:ext cx="554946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 this is: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Mandatory one → Mandatory many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NOT optional.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FC79053-5A79-40FD-2860-65494519565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10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CE917F9-9AFD-A6A1-9A9F-0974A300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6F6E1-0283-8B07-320E-A05FCCE97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794A9-24C8-3F9A-912A-3137E93A0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69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7806F-5109-8301-5390-4019C0D07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451" y="4331067"/>
            <a:ext cx="3978549" cy="2582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BBFEDB-D1C8-F2F2-9788-9FB2589DA359}"/>
              </a:ext>
            </a:extLst>
          </p:cNvPr>
          <p:cNvSpPr txBox="1"/>
          <p:nvPr/>
        </p:nvSpPr>
        <p:spPr>
          <a:xfrm>
            <a:off x="0" y="964629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would be optional if the question said something like: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“A manufacturer may produce brands”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“A manufacturer can have zero or more brands”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But the description clearly says: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“produces one or more brands”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956E2-1D06-9B6D-7485-3CA82576E7FA}"/>
              </a:ext>
            </a:extLst>
          </p:cNvPr>
          <p:cNvSpPr txBox="1"/>
          <p:nvPr/>
        </p:nvSpPr>
        <p:spPr>
          <a:xfrm>
            <a:off x="-1" y="4412029"/>
            <a:ext cx="516545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a manufacturer must produce at least one brand.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B1E6823-F359-2E0F-83B9-2F16A83851A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106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26169B1-A911-9C8B-1C1B-0DA79C82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F8520-073F-CFF7-5974-EF1E4D855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08DED-BED1-C31B-807C-C2D361186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70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F1A7F-BE08-0854-B72E-890E3E68A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77" y="2478869"/>
            <a:ext cx="6831724" cy="44349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886316-0DF7-957E-7E24-D561EBB70EA3}"/>
              </a:ext>
            </a:extLst>
          </p:cNvPr>
          <p:cNvSpPr txBox="1"/>
          <p:nvPr/>
        </p:nvSpPr>
        <p:spPr>
          <a:xfrm>
            <a:off x="0" y="964629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One manufacturer produces one or more brands.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Each brand must belong to exactly one manufacturer.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9F77185-D930-5339-9D98-6BF7F52E82E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871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BF40FF-F9C4-879D-44D3-F0B55C93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CFB5A-4946-5756-812E-127148C67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73718-4A75-8C99-9F13-56014796E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480553-8692-7B6D-AF39-6B041C0979EE}"/>
              </a:ext>
            </a:extLst>
          </p:cNvPr>
          <p:cNvSpPr txBox="1"/>
          <p:nvPr/>
        </p:nvSpPr>
        <p:spPr>
          <a:xfrm>
            <a:off x="0" y="964629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Relationship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Brand → Model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 the description: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Every brand has one or more models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model belongs to one brand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24E1C47-EAEF-D15A-CBE5-1D3894AEDEC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2735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558D840-42F2-8E8B-BB68-5A05548F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07106-0006-3595-DE54-F2160681F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EE388-CEFB-95F3-5492-B94C16DC5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48EC3-8F18-2A7C-3A30-C714595806E6}"/>
              </a:ext>
            </a:extLst>
          </p:cNvPr>
          <p:cNvSpPr txBox="1"/>
          <p:nvPr/>
        </p:nvSpPr>
        <p:spPr>
          <a:xfrm>
            <a:off x="0" y="964629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 the description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“Every brand has one or more models.”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“Every model is produced as part of a brand.”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words are important: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every brand has one or more models → at least 1 model (not zero)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every model belongs to a brand → exactly 1 brand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FF59CB9-9BB3-6226-EC9E-29A53D72084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7511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F0E9009-A544-DA7C-80EF-6C2A41AA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D5DDD-D0D5-81D1-EF19-1847AFFC6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9F474-6ED5-AD53-03C9-88DDDCFFB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6F6AE-2FF0-D3A8-99B0-0AA0FE678153}"/>
              </a:ext>
            </a:extLst>
          </p:cNvPr>
          <p:cNvSpPr txBox="1"/>
          <p:nvPr/>
        </p:nvSpPr>
        <p:spPr>
          <a:xfrm>
            <a:off x="0" y="964629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brand must have one or more models.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model must belong to exactly one brand.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both sides are mandatory.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7C79C-CFB2-6D4F-0952-13FF0560C3FA}"/>
              </a:ext>
            </a:extLst>
          </p:cNvPr>
          <p:cNvSpPr txBox="1"/>
          <p:nvPr/>
        </p:nvSpPr>
        <p:spPr>
          <a:xfrm>
            <a:off x="78828" y="2929141"/>
            <a:ext cx="8986344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 is mandatory one to mandatory many.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28B7FE1-A221-F9F8-FADF-3F1BD925B9A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5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DA8B260-5085-A38D-B35C-BAB3D319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C6574-4A3B-8301-21E3-CF2E06BB3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EF7AC-A2E2-AA4C-3223-785B8254D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F95ED-A816-C4D2-2E61-DAFFC646AC13}"/>
              </a:ext>
            </a:extLst>
          </p:cNvPr>
          <p:cNvSpPr txBox="1"/>
          <p:nvPr/>
        </p:nvSpPr>
        <p:spPr>
          <a:xfrm>
            <a:off x="0" y="964629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Why it is NOT optional many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 would be optional if the description said: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“A brand may have models”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“A brand can have zero or more models”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D523B-A547-49B4-C926-746732A54677}"/>
              </a:ext>
            </a:extLst>
          </p:cNvPr>
          <p:cNvSpPr txBox="1"/>
          <p:nvPr/>
        </p:nvSpPr>
        <p:spPr>
          <a:xfrm>
            <a:off x="0" y="3899628"/>
            <a:ext cx="898634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But it says: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“Every brand has one or more models.”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 a brand cannot exist without models.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2D0938B-23B2-CC83-31D7-FEF2EF894B3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718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511A39A-E1BF-C146-3209-0FB1CB78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49561-C3ED-C2AE-6B21-34871A263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EAA5E-9416-7785-6D27-4ACBADC32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1B8E5-BD8A-7919-8643-611BDAE19A47}"/>
              </a:ext>
            </a:extLst>
          </p:cNvPr>
          <p:cNvSpPr txBox="1"/>
          <p:nvPr/>
        </p:nvSpPr>
        <p:spPr>
          <a:xfrm>
            <a:off x="0" y="964629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When Designing ERD Structure include PK, FK, and all extra information: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577C0-B00F-CAB1-4FED-5BCA792C82E8}"/>
              </a:ext>
            </a:extLst>
          </p:cNvPr>
          <p:cNvSpPr txBox="1"/>
          <p:nvPr/>
        </p:nvSpPr>
        <p:spPr>
          <a:xfrm>
            <a:off x="0" y="2531971"/>
            <a:ext cx="292975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Manufacturer</a:t>
            </a:r>
          </a:p>
          <a:p>
            <a:r>
              <a:rPr lang="en-US" sz="2200" dirty="0">
                <a:latin typeface="Calibir"/>
              </a:rPr>
              <a:t>ManufacturerCode (PK)</a:t>
            </a:r>
          </a:p>
          <a:p>
            <a:r>
              <a:rPr lang="en-US" sz="2200" dirty="0" err="1">
                <a:latin typeface="Calibir"/>
              </a:rPr>
              <a:t>CompanyName</a:t>
            </a:r>
            <a:endParaRPr lang="en-US" sz="2200" dirty="0">
              <a:latin typeface="Calibir"/>
            </a:endParaRPr>
          </a:p>
          <a:p>
            <a:r>
              <a:rPr lang="en-US" sz="2200" dirty="0">
                <a:latin typeface="Calibir"/>
              </a:rPr>
              <a:t>Address</a:t>
            </a:r>
          </a:p>
          <a:p>
            <a:r>
              <a:rPr lang="en-US" sz="2200" dirty="0" err="1">
                <a:latin typeface="Calibir"/>
              </a:rPr>
              <a:t>AreaCode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PhoneNumber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AccountNumber</a:t>
            </a:r>
            <a:endParaRPr lang="en-US" sz="2200" dirty="0">
              <a:latin typeface="Calibi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949CE-FACE-43D6-A68E-416E07D52FEF}"/>
              </a:ext>
            </a:extLst>
          </p:cNvPr>
          <p:cNvSpPr txBox="1"/>
          <p:nvPr/>
        </p:nvSpPr>
        <p:spPr>
          <a:xfrm>
            <a:off x="3107120" y="2536448"/>
            <a:ext cx="29297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Brand</a:t>
            </a:r>
          </a:p>
          <a:p>
            <a:r>
              <a:rPr lang="en-US" sz="2200" dirty="0" err="1">
                <a:latin typeface="Calibir"/>
              </a:rPr>
              <a:t>BrandName</a:t>
            </a:r>
            <a:r>
              <a:rPr lang="en-US" sz="2200" dirty="0">
                <a:latin typeface="Calibir"/>
              </a:rPr>
              <a:t> (PK)</a:t>
            </a:r>
          </a:p>
          <a:p>
            <a:r>
              <a:rPr lang="en-US" sz="2200" dirty="0" err="1">
                <a:latin typeface="Calibir"/>
              </a:rPr>
              <a:t>BrandLevel</a:t>
            </a:r>
            <a:endParaRPr lang="en-US" sz="2200" dirty="0">
              <a:latin typeface="Calibir"/>
            </a:endParaRPr>
          </a:p>
          <a:p>
            <a:r>
              <a:rPr lang="en-US" sz="2200" dirty="0">
                <a:latin typeface="Calibir"/>
              </a:rPr>
              <a:t>ManufacturerCode (FK)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BF5EE2-ED14-948A-C8D4-0DDE977BE575}"/>
              </a:ext>
            </a:extLst>
          </p:cNvPr>
          <p:cNvSpPr txBox="1"/>
          <p:nvPr/>
        </p:nvSpPr>
        <p:spPr>
          <a:xfrm>
            <a:off x="6245774" y="2531971"/>
            <a:ext cx="2853127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Model</a:t>
            </a:r>
          </a:p>
          <a:p>
            <a:r>
              <a:rPr lang="en-US" sz="2200" dirty="0" err="1">
                <a:latin typeface="Calibir"/>
              </a:rPr>
              <a:t>ModelNumber</a:t>
            </a:r>
            <a:r>
              <a:rPr lang="en-US" sz="2200" dirty="0">
                <a:latin typeface="Calibir"/>
              </a:rPr>
              <a:t> (PK)</a:t>
            </a:r>
          </a:p>
          <a:p>
            <a:r>
              <a:rPr lang="en-US" sz="2200" dirty="0" err="1">
                <a:latin typeface="Calibir"/>
              </a:rPr>
              <a:t>NumberOfJets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NumberOfMotors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HorsepowerPerMotor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SuggestedRetailPrice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HWRetailPrice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DryWeight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WaterCapacity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SeatingCapacity</a:t>
            </a:r>
            <a:endParaRPr lang="en-US" sz="2200" dirty="0">
              <a:latin typeface="Calibir"/>
            </a:endParaRPr>
          </a:p>
          <a:p>
            <a:r>
              <a:rPr lang="en-US" sz="2200" dirty="0" err="1">
                <a:latin typeface="Calibir"/>
              </a:rPr>
              <a:t>BrandName</a:t>
            </a:r>
            <a:r>
              <a:rPr lang="en-US" sz="2200" dirty="0">
                <a:latin typeface="Calibir"/>
              </a:rPr>
              <a:t> (FK)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867291-F06B-5DE0-3EF5-B0C861B66D18}"/>
              </a:ext>
            </a:extLst>
          </p:cNvPr>
          <p:cNvCxnSpPr/>
          <p:nvPr/>
        </p:nvCxnSpPr>
        <p:spPr>
          <a:xfrm>
            <a:off x="2217683" y="4183117"/>
            <a:ext cx="709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990C2A-5E90-0841-FEEF-C22A752ADD12}"/>
              </a:ext>
            </a:extLst>
          </p:cNvPr>
          <p:cNvSpPr txBox="1"/>
          <p:nvPr/>
        </p:nvSpPr>
        <p:spPr>
          <a:xfrm>
            <a:off x="1992869" y="3750310"/>
            <a:ext cx="13269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3D3935"/>
                </a:solidFill>
                <a:latin typeface="Calibir"/>
              </a:rPr>
              <a:t>produces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3F7486-8FAB-47B3-7624-D42F7BC4DC1B}"/>
              </a:ext>
            </a:extLst>
          </p:cNvPr>
          <p:cNvCxnSpPr/>
          <p:nvPr/>
        </p:nvCxnSpPr>
        <p:spPr>
          <a:xfrm>
            <a:off x="5245700" y="4904536"/>
            <a:ext cx="709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B18CF05-3D70-25C3-102F-88EE72A4F0BE}"/>
              </a:ext>
            </a:extLst>
          </p:cNvPr>
          <p:cNvSpPr txBox="1"/>
          <p:nvPr/>
        </p:nvSpPr>
        <p:spPr>
          <a:xfrm>
            <a:off x="5172130" y="4471729"/>
            <a:ext cx="968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3D3935"/>
                </a:solidFill>
                <a:latin typeface="Calibir"/>
              </a:rPr>
              <a:t>offers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3D9CD800-2ACD-120C-6B0E-5E775A0EB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81315"/>
            <a:ext cx="4428713" cy="88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One brand has one or more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Each model belongs to exactly one brand.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C9000A5-0290-D15D-FA77-24A14046C5D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1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Let’s do Question 1 together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2889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2A730DE-23B7-99A8-DB0F-8F47FFB1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72030-4BA5-F3D5-D96E-82A0CE3FA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B8397-8174-F9B9-B014-AEAE1BE85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C1F7F-8FFF-F76C-6FFC-3CBE4CE4CA28}"/>
              </a:ext>
            </a:extLst>
          </p:cNvPr>
          <p:cNvSpPr txBox="1"/>
          <p:nvPr/>
        </p:nvSpPr>
        <p:spPr>
          <a:xfrm>
            <a:off x="0" y="96462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This question is bigger, so solve it piece by piece.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5E3972C-A294-943A-45C2-24CEF939BE2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356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185DD0-DE37-79C3-B0BE-4F7FFCE27C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48" t="25019" r="20575" b="13065"/>
          <a:stretch>
            <a:fillRect/>
          </a:stretch>
        </p:blipFill>
        <p:spPr>
          <a:xfrm>
            <a:off x="2186152" y="2165131"/>
            <a:ext cx="6957848" cy="432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643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FB9BA56-AE8E-CD88-8B18-29100DDC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00AAB-FE52-E312-2232-3005938C5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2D90-6756-3B2E-2EB9-C14755F62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C0EEE15-0CBC-CB60-AA3D-7AD192E7826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57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5E99A8-D3F7-DCDB-CE1E-9DB0C475BC19}"/>
              </a:ext>
            </a:extLst>
          </p:cNvPr>
          <p:cNvSpPr txBox="1"/>
          <p:nvPr/>
        </p:nvSpPr>
        <p:spPr>
          <a:xfrm>
            <a:off x="38655" y="914195"/>
            <a:ext cx="9222826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Hint 1: Start by finding the main entities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Read the description and list the main things being tracked.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You should notice entities such as: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Volunteer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Task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Packing List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Package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Item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There may also be associative entities.</a:t>
            </a:r>
          </a:p>
        </p:txBody>
      </p:sp>
    </p:spTree>
    <p:extLst>
      <p:ext uri="{BB962C8B-B14F-4D97-AF65-F5344CB8AC3E}">
        <p14:creationId xmlns:p14="http://schemas.microsoft.com/office/powerpoint/2010/main" val="14398364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CCA7779-B89C-91EF-CEA8-78CFA03D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F285F-2524-4BE4-A0D6-A5C50C1A4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B1EA4-77CA-19AE-146E-D378E6E94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67CA93-C351-DE63-643E-5AF8DE9A864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69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353A9-853A-FD47-86C9-9B44A05F4380}"/>
              </a:ext>
            </a:extLst>
          </p:cNvPr>
          <p:cNvSpPr txBox="1"/>
          <p:nvPr/>
        </p:nvSpPr>
        <p:spPr>
          <a:xfrm>
            <a:off x="38655" y="914195"/>
            <a:ext cx="9222826" cy="4280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atin typeface="Calibir"/>
              </a:rPr>
              <a:t>Hint 2: Look for M:N relationships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Calibir"/>
              </a:rPr>
              <a:t>A very important clue is this sentence: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volunteer may be assigned to several tasks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Some tasks require many volunteers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Calibir"/>
              </a:rPr>
              <a:t>This is many-to-many.</a:t>
            </a:r>
          </a:p>
        </p:txBody>
      </p:sp>
    </p:spTree>
    <p:extLst>
      <p:ext uri="{BB962C8B-B14F-4D97-AF65-F5344CB8AC3E}">
        <p14:creationId xmlns:p14="http://schemas.microsoft.com/office/powerpoint/2010/main" val="21232245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9BF73E0-8C73-41DA-B904-A7C967E7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F34E2-35D0-35DC-D840-D2AF1757B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12F54-FCEA-D3A5-DF66-35815E849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812361-610C-92AC-4127-6AC1235E5A6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248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E48242-D954-7F17-7D26-70BE4037DA60}"/>
              </a:ext>
            </a:extLst>
          </p:cNvPr>
          <p:cNvSpPr txBox="1"/>
          <p:nvPr/>
        </p:nvSpPr>
        <p:spPr>
          <a:xfrm>
            <a:off x="38655" y="914195"/>
            <a:ext cx="9105345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should you do?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an associative entity between Volunteer and Task.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Also notice: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start time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end time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belong to the assignment, not just to Volunteer or Task.</a:t>
            </a:r>
          </a:p>
        </p:txBody>
      </p:sp>
    </p:spTree>
    <p:extLst>
      <p:ext uri="{BB962C8B-B14F-4D97-AF65-F5344CB8AC3E}">
        <p14:creationId xmlns:p14="http://schemas.microsoft.com/office/powerpoint/2010/main" val="84206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232E0B3-08AB-8CCB-8E00-AE0D8B56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ADABB-5BC2-A92A-BC51-42043D6B1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F0EC1-80FE-9632-A5B7-D3A525D48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10A9589-E033-21D6-C713-84253787180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136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6B84B3-9582-898C-DBC5-C5F4DC5216C1}"/>
              </a:ext>
            </a:extLst>
          </p:cNvPr>
          <p:cNvSpPr txBox="1"/>
          <p:nvPr/>
        </p:nvSpPr>
        <p:spPr>
          <a:xfrm>
            <a:off x="38655" y="914195"/>
            <a:ext cx="9105345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ask yourself: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table should store start time and end time?</a:t>
            </a:r>
          </a:p>
        </p:txBody>
      </p:sp>
    </p:spTree>
    <p:extLst>
      <p:ext uri="{BB962C8B-B14F-4D97-AF65-F5344CB8AC3E}">
        <p14:creationId xmlns:p14="http://schemas.microsoft.com/office/powerpoint/2010/main" val="194189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EEE9720-28DE-7BA8-3CE9-CE15374AE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45D16-AA1C-1D34-2028-577F8601D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1F874-8F71-F611-0CCD-41E28C3E1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DC2D546-41B1-C9A3-B284-BFAE131AACB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57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E60ED8-85C1-DE9B-F3D0-5ED1E394771F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3: Packing tasks are a special type of task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Not every task is a packing task.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think carefully: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All tasks have general task attributes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Only packing tasks use a packing list</a:t>
            </a:r>
          </a:p>
        </p:txBody>
      </p:sp>
    </p:spTree>
    <p:extLst>
      <p:ext uri="{BB962C8B-B14F-4D97-AF65-F5344CB8AC3E}">
        <p14:creationId xmlns:p14="http://schemas.microsoft.com/office/powerpoint/2010/main" val="35671551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0A71963-8CFD-851F-9F9D-6D2DF237E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8C16E-002F-6B32-98B3-2C09094B4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D16F3-2F10-E0F5-C079-17AD322A8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0E3BCC0-54AE-2B34-B0B9-11F5F7CE89C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467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9D56CB-DFD5-C5E0-79D9-56B8E629FB44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Does every task need a packing list?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Or only some tasks?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helps you decide whether the relationship is optional for Task.</a:t>
            </a:r>
          </a:p>
        </p:txBody>
      </p:sp>
    </p:spTree>
    <p:extLst>
      <p:ext uri="{BB962C8B-B14F-4D97-AF65-F5344CB8AC3E}">
        <p14:creationId xmlns:p14="http://schemas.microsoft.com/office/powerpoint/2010/main" val="16218243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312A8AB-1F17-D4C6-1602-5E5E3334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D19C7-854F-C619-EF22-A5F70E089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B79CE-A102-254E-5436-D4E4B151B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7B87A6E-83E3-605D-C736-589C602CDC4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021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353441-4A1C-5D1F-287C-A2357A00263C}"/>
              </a:ext>
            </a:extLst>
          </p:cNvPr>
          <p:cNvSpPr txBox="1"/>
          <p:nvPr/>
        </p:nvSpPr>
        <p:spPr>
          <a:xfrm>
            <a:off x="38655" y="914195"/>
            <a:ext cx="9105345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4: Relationship between Task and Packing List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Read this line carefully: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Every packing task is associated with only one packing list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packing list may be associated with no tasks or many tasks</a:t>
            </a:r>
          </a:p>
        </p:txBody>
      </p:sp>
    </p:spTree>
    <p:extLst>
      <p:ext uri="{BB962C8B-B14F-4D97-AF65-F5344CB8AC3E}">
        <p14:creationId xmlns:p14="http://schemas.microsoft.com/office/powerpoint/2010/main" val="31091684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4DB54AD-65E6-A902-D4BD-E86DCEC1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B95E1-0D6E-01FC-6DD6-AECB18139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15B99-681D-005E-CC63-1DE110C79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E423AC9-C18C-9847-6822-4594F4F25FD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359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9DCDA6-A7E7-8797-28E4-E6A9EDE9A920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tells you: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packing list can relate to many tasks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task may or may not have a packing list, depending on task type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the relationship is not mandatory for all tasks.</a:t>
            </a:r>
          </a:p>
        </p:txBody>
      </p:sp>
    </p:spTree>
    <p:extLst>
      <p:ext uri="{BB962C8B-B14F-4D97-AF65-F5344CB8AC3E}">
        <p14:creationId xmlns:p14="http://schemas.microsoft.com/office/powerpoint/2010/main" val="15954531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0D1C295-45D6-6818-3183-5D472FFD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DD956-BAD2-E4F8-14DF-E40ED2F69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69C7C-E1F4-3BD4-050F-4F9A5A619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F0C4241-0180-8C68-99A6-A966EB71B15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91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61A26B-A25C-C697-41A1-127285B28B4F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5: Relationship between Task and Package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Read carefully: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package is associated with only one task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Some tasks produce no packages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Other tasks produce many packages</a:t>
            </a:r>
          </a:p>
        </p:txBody>
      </p:sp>
    </p:spTree>
    <p:extLst>
      <p:ext uri="{BB962C8B-B14F-4D97-AF65-F5344CB8AC3E}">
        <p14:creationId xmlns:p14="http://schemas.microsoft.com/office/powerpoint/2010/main" val="394102997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FA5FCAF-10F2-9B6C-3006-CE77DDAF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2D4A3-8BC9-9010-ECCD-4B509D20C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8F3AA-F95C-4AA0-3680-90E4C34B7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35D08C8-3315-8768-A5B8-6219E000C29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91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DA803-9A88-ED66-1755-20DE261B5416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means: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task to many packages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package must belong to one task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task side is optional, because some tasks do not produce packages</a:t>
            </a:r>
          </a:p>
        </p:txBody>
      </p:sp>
    </p:spTree>
    <p:extLst>
      <p:ext uri="{BB962C8B-B14F-4D97-AF65-F5344CB8AC3E}">
        <p14:creationId xmlns:p14="http://schemas.microsoft.com/office/powerpoint/2010/main" val="7395272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90245B9-59D0-75C2-4A04-DD67C1EB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2CCEC-8403-CF0F-5D99-AFB72827F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CA31D-0E73-CDCD-C10C-047B775C7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C0D7C99-36B5-96F1-4235-350A3E995F0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582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14121-A57D-000C-C503-160641D45ABE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6: Relationship between Package and Item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part is another many-to-many relationship.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Why?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package can contain many items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 item can appear in many packages</a:t>
            </a:r>
          </a:p>
        </p:txBody>
      </p:sp>
    </p:spTree>
    <p:extLst>
      <p:ext uri="{BB962C8B-B14F-4D97-AF65-F5344CB8AC3E}">
        <p14:creationId xmlns:p14="http://schemas.microsoft.com/office/powerpoint/2010/main" val="39388631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D26ECC8-33DD-27F6-DE95-79E59050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4A0FD-1A7B-E089-98DD-294CF9B1E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AD262-81E2-384A-478A-1C9E4A805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08A23C-5B89-7B5D-2DB4-E797DF3138A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80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DFE600-71D4-D42A-8280-1BF2E75B8F08}"/>
              </a:ext>
            </a:extLst>
          </p:cNvPr>
          <p:cNvSpPr txBox="1"/>
          <p:nvPr/>
        </p:nvSpPr>
        <p:spPr>
          <a:xfrm>
            <a:off x="38655" y="914195"/>
            <a:ext cx="9105345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you need another associative entity between Package and Item.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Also, the question says the system must track: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quantity of each item placed in each package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That quantity belongs in the associative entity, not in Package or Item alone.</a:t>
            </a:r>
          </a:p>
        </p:txBody>
      </p:sp>
    </p:spTree>
    <p:extLst>
      <p:ext uri="{BB962C8B-B14F-4D97-AF65-F5344CB8AC3E}">
        <p14:creationId xmlns:p14="http://schemas.microsoft.com/office/powerpoint/2010/main" val="6884338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69B954-2291-7116-F5AF-D88B7CBB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43E05-4D80-F294-80DC-E4EDF8D01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B14EC-9842-8386-8DBC-703E4DBF0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8D0E3E3-FCDB-8B50-9AED-2ED204E7C26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91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6EA994-F9B6-1431-29A7-F2817BD8BDE8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7: Minimum participation matters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description says: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 is possible to have items not included in any package yet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Every package will contain at least one item</a:t>
            </a:r>
          </a:p>
        </p:txBody>
      </p:sp>
    </p:spTree>
    <p:extLst>
      <p:ext uri="{BB962C8B-B14F-4D97-AF65-F5344CB8AC3E}">
        <p14:creationId xmlns:p14="http://schemas.microsoft.com/office/powerpoint/2010/main" val="32747898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293C338-EBF0-9B4E-E824-9E44B92B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C0D2F-9AA8-59AE-73F5-73CD34953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F4C96-F952-0764-355B-AB0B317CE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DE158D2-A44C-BCFB-5BA5-8307507BD2E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467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2E14A2-6D2E-4A7C-A257-79380AC33DD8}"/>
              </a:ext>
            </a:extLst>
          </p:cNvPr>
          <p:cNvSpPr txBox="1"/>
          <p:nvPr/>
        </p:nvSpPr>
        <p:spPr>
          <a:xfrm>
            <a:off x="38655" y="914195"/>
            <a:ext cx="9105345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think: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Item side can be optional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Package side is mandatory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important in your Crow’s Foot notation.</a:t>
            </a:r>
          </a:p>
        </p:txBody>
      </p:sp>
    </p:spTree>
    <p:extLst>
      <p:ext uri="{BB962C8B-B14F-4D97-AF65-F5344CB8AC3E}">
        <p14:creationId xmlns:p14="http://schemas.microsoft.com/office/powerpoint/2010/main" val="38180961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A9A103D-225C-F4FC-6197-EFDE301B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DAC30-15CE-7DAB-3EF0-1CADA938B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392C9-327D-A4F7-7D5A-3AF206538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E5E01BF-548C-5195-AC15-4B12274E810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47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646E39-557E-1179-4C6D-F7554A26869E}"/>
              </a:ext>
            </a:extLst>
          </p:cNvPr>
          <p:cNvSpPr txBox="1"/>
          <p:nvPr/>
        </p:nvSpPr>
        <p:spPr>
          <a:xfrm>
            <a:off x="38655" y="914195"/>
            <a:ext cx="910534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8: Keep “ideal contents” and “actual contents” separate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 careful not to confuse: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Packing List = ideal contents of a package type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Package = actual package created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Package–Item relationship = actual items and quantities inside that package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case mostly asks you to track the actual items in each package.</a:t>
            </a:r>
          </a:p>
        </p:txBody>
      </p:sp>
    </p:spTree>
    <p:extLst>
      <p:ext uri="{BB962C8B-B14F-4D97-AF65-F5344CB8AC3E}">
        <p14:creationId xmlns:p14="http://schemas.microsoft.com/office/powerpoint/2010/main" val="21075214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81A71FA-8974-9993-A2BF-2DFE917D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E05E1-70CF-4E69-5F10-04C346E5A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9F7E1-8AB3-EA17-5622-5DC321ED1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A4C7760-D352-9C39-2369-872942576C4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244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EACDED-CC95-6735-AB05-59823AE93BE0}"/>
              </a:ext>
            </a:extLst>
          </p:cNvPr>
          <p:cNvSpPr txBox="1"/>
          <p:nvPr/>
        </p:nvSpPr>
        <p:spPr>
          <a:xfrm>
            <a:off x="38655" y="914195"/>
            <a:ext cx="9105345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 9: Solve Question 2 in sections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good approach is: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Part 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Draw: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Volunteer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Task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17883190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26FC77A-1097-01D9-0D02-E59299BA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BCE5F-FCB2-41BC-73C7-3FF4AB692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A1E44-5D69-1387-3E87-4EED056CD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27ACCAA-0234-5EF6-5568-AF50BDA69CD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57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0F6F1C-BADC-3A40-B754-0A0BCF24BB4D}"/>
              </a:ext>
            </a:extLst>
          </p:cNvPr>
          <p:cNvSpPr txBox="1"/>
          <p:nvPr/>
        </p:nvSpPr>
        <p:spPr>
          <a:xfrm>
            <a:off x="38655" y="914195"/>
            <a:ext cx="910534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Part B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Packing List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relationship with Task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Part C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Package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relationship with Task</a:t>
            </a:r>
          </a:p>
        </p:txBody>
      </p:sp>
    </p:spTree>
    <p:extLst>
      <p:ext uri="{BB962C8B-B14F-4D97-AF65-F5344CB8AC3E}">
        <p14:creationId xmlns:p14="http://schemas.microsoft.com/office/powerpoint/2010/main" val="363360870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9F2D175-4CA6-76CA-EF69-C756CC51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BCACC-382B-45AF-832A-CAAE24F17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DB29C-2C6B-D6B6-495A-616F71F2F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2D46C1B-86E8-1729-D8DA-0AA34AA710F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248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Question 2 — United Helpers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42AD23-33C0-F723-11F0-130C285398D1}"/>
              </a:ext>
            </a:extLst>
          </p:cNvPr>
          <p:cNvSpPr txBox="1"/>
          <p:nvPr/>
        </p:nvSpPr>
        <p:spPr>
          <a:xfrm>
            <a:off x="38655" y="914195"/>
            <a:ext cx="910534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Part 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Item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Package-Item associative entity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makes the diagram easier to build and check.</a:t>
            </a:r>
          </a:p>
        </p:txBody>
      </p:sp>
    </p:spTree>
    <p:extLst>
      <p:ext uri="{BB962C8B-B14F-4D97-AF65-F5344CB8AC3E}">
        <p14:creationId xmlns:p14="http://schemas.microsoft.com/office/powerpoint/2010/main" val="7394194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D4507F8-E76D-7231-A990-F923B6F29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6F77A-0794-E521-CEC8-82F1927D9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2B2BD-B58C-AFE3-6546-C98CDE932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A0954AC-599D-6ECD-10FD-E729CBC3DBC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669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Common mistakes to avoid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45E144-8A42-DF7B-AA7B-1C9CD2C89E49}"/>
              </a:ext>
            </a:extLst>
          </p:cNvPr>
          <p:cNvSpPr txBox="1"/>
          <p:nvPr/>
        </p:nvSpPr>
        <p:spPr>
          <a:xfrm>
            <a:off x="38655" y="914195"/>
            <a:ext cx="9105345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Do not put M:N directly in the final relational design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two entities relate many-to-many, add an associative entity.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Do not place relationship attributes in the wrong entity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StartTime</a:t>
            </a:r>
            <a:r>
              <a:rPr lang="en-US" sz="2800" dirty="0">
                <a:latin typeface="Calibir"/>
              </a:rPr>
              <a:t> and </a:t>
            </a:r>
            <a:r>
              <a:rPr lang="en-US" sz="2800" dirty="0" err="1">
                <a:latin typeface="Calibir"/>
              </a:rPr>
              <a:t>EndTime</a:t>
            </a:r>
            <a:r>
              <a:rPr lang="en-US" sz="2800" dirty="0">
                <a:latin typeface="Calibir"/>
              </a:rPr>
              <a:t> belong to Volunteer-Task Assignment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Quantity belongs to Package-Item</a:t>
            </a:r>
          </a:p>
        </p:txBody>
      </p:sp>
    </p:spTree>
    <p:extLst>
      <p:ext uri="{BB962C8B-B14F-4D97-AF65-F5344CB8AC3E}">
        <p14:creationId xmlns:p14="http://schemas.microsoft.com/office/powerpoint/2010/main" val="22225645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75F04A7-9B89-4DF1-7BFE-AFF26EE7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2E351-4665-0ED7-C444-E7BFE2995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2D835-7FC1-121D-D9A1-85C010446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D952F7-EAB7-0D7A-9D4A-166A3DCF6EC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7248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Common mistakes to avoid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EC540D-AA7C-9E9F-39E6-32213B02C2BE}"/>
              </a:ext>
            </a:extLst>
          </p:cNvPr>
          <p:cNvSpPr txBox="1"/>
          <p:nvPr/>
        </p:nvSpPr>
        <p:spPr>
          <a:xfrm>
            <a:off x="38655" y="914195"/>
            <a:ext cx="9105345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Do not ignore optionality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Words like may, can, and might usually mean optional.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Words like each, every, and must usually mean mandatory.</a:t>
            </a:r>
          </a:p>
        </p:txBody>
      </p:sp>
    </p:spTree>
    <p:extLst>
      <p:ext uri="{BB962C8B-B14F-4D97-AF65-F5344CB8AC3E}">
        <p14:creationId xmlns:p14="http://schemas.microsoft.com/office/powerpoint/2010/main" val="18054313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131AB1D-ADDE-5CA7-5301-B0C59EFC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7A00E-EF05-6A1F-FC9D-67AAE322C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F9AA6-27CC-A01F-E785-C3BA248ED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B280F1E-3AEA-271E-ECC9-DD24772F265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8028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Common mistakes to avoid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29DB41-25FA-7C85-2A99-199EA10C241E}"/>
              </a:ext>
            </a:extLst>
          </p:cNvPr>
          <p:cNvSpPr txBox="1"/>
          <p:nvPr/>
        </p:nvSpPr>
        <p:spPr>
          <a:xfrm>
            <a:off x="38655" y="914195"/>
            <a:ext cx="9105345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Do not forget labels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ERD should clearly show: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entity names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primary keys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relationship names if needed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cardinality/optionality</a:t>
            </a:r>
          </a:p>
        </p:txBody>
      </p:sp>
    </p:spTree>
    <p:extLst>
      <p:ext uri="{BB962C8B-B14F-4D97-AF65-F5344CB8AC3E}">
        <p14:creationId xmlns:p14="http://schemas.microsoft.com/office/powerpoint/2010/main" val="8038987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1500A4-AF4C-44B9-5AED-55194884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DA946-167B-987A-D888-922B16A97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9F3B3-8988-9070-AE5E-86091E4F2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801ACD-018F-00EB-7116-0C0E309A6A6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5798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Final Hints for Students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71BB2F-4264-E3A0-9BF5-495683957F83}"/>
              </a:ext>
            </a:extLst>
          </p:cNvPr>
          <p:cNvSpPr txBox="1"/>
          <p:nvPr/>
        </p:nvSpPr>
        <p:spPr>
          <a:xfrm>
            <a:off x="38655" y="914195"/>
            <a:ext cx="9105345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Before finishing, check each relationship by asking: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Can one of these have many of the other?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Must one exist before the other can exist?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this really M:N?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 I need a middle table/entity?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Where should this attribute really go?</a:t>
            </a:r>
          </a:p>
        </p:txBody>
      </p:sp>
    </p:spTree>
    <p:extLst>
      <p:ext uri="{BB962C8B-B14F-4D97-AF65-F5344CB8AC3E}">
        <p14:creationId xmlns:p14="http://schemas.microsoft.com/office/powerpoint/2010/main" val="24035311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87AAA-CDD7-14D9-F3F2-7750965A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669F4BD-7260-8C96-81B2-B35F9DA1CF5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6" rIns="0" bIns="0" rtlCol="0">
            <a:spAutoFit/>
          </a:bodyPr>
          <a:lstStyle/>
          <a:p>
            <a:pPr marL="28575" defTabSz="685800">
              <a:spcBef>
                <a:spcPts val="4"/>
              </a:spcBef>
            </a:pPr>
            <a:fld id="{81D60167-4931-47E6-BA6A-407CBD079E47}" type="slidenum">
              <a:rPr dirty="0"/>
              <a:pPr marL="28575" defTabSz="685800">
                <a:spcBef>
                  <a:spcPts val="4"/>
                </a:spcBef>
              </a:pPr>
              <a:t>99</a:t>
            </a:fld>
            <a:r>
              <a:rPr spc="176" dirty="0"/>
              <a:t> </a:t>
            </a:r>
            <a:r>
              <a:rPr dirty="0"/>
              <a:t>|</a:t>
            </a:r>
            <a:r>
              <a:rPr spc="300" dirty="0"/>
              <a:t> </a:t>
            </a:r>
            <a:r>
              <a:rPr dirty="0"/>
              <a:t>Faculty</a:t>
            </a:r>
            <a:r>
              <a:rPr spc="-11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Law</a:t>
            </a:r>
            <a:r>
              <a:rPr spc="-11" dirty="0"/>
              <a:t> </a:t>
            </a:r>
            <a:r>
              <a:rPr dirty="0"/>
              <a:t>|</a:t>
            </a:r>
            <a:r>
              <a:rPr spc="-11" dirty="0"/>
              <a:t> </a:t>
            </a:r>
            <a:r>
              <a:rPr dirty="0"/>
              <a:t>Peter</a:t>
            </a:r>
            <a:r>
              <a:rPr spc="-8" dirty="0"/>
              <a:t> </a:t>
            </a:r>
            <a:r>
              <a:rPr dirty="0"/>
              <a:t>Faber</a:t>
            </a:r>
            <a:r>
              <a:rPr spc="-11" dirty="0"/>
              <a:t> </a:t>
            </a:r>
            <a:r>
              <a:rPr dirty="0"/>
              <a:t>Business</a:t>
            </a:r>
            <a:r>
              <a:rPr spc="-11" dirty="0"/>
              <a:t> </a:t>
            </a:r>
            <a:r>
              <a:rPr spc="-8" dirty="0"/>
              <a:t>School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5375A7-EFFE-CBBB-27C1-753C2CBEC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11955"/>
            <a:ext cx="9144000" cy="3234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These guidelines are designed to support your learning and help you apply necessary techniques effectively. Please do the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remaining parts/questions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and follow the instructions based on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Canvas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. If you have any questions, feel free to ask—I’m happy to help!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A3DD23-80EE-0261-9214-F4FC0F567A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71317" cy="994503"/>
          </a:xfrm>
          <a:prstGeom prst="rect">
            <a:avLst/>
          </a:prstGeom>
          <a:noFill/>
        </p:spPr>
        <p:txBody>
          <a:bodyPr vert="horz" wrap="square" lIns="0" tIns="9525" rIns="0" bIns="0" rtlCol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ea typeface="+mj-ea"/>
                <a:cs typeface="Arial"/>
              </a:defRPr>
            </a:lvl1pPr>
          </a:lstStyle>
          <a:p>
            <a:pPr marL="9525" defTabSz="685800">
              <a:spcBef>
                <a:spcPts val="75"/>
              </a:spcBef>
            </a:pPr>
            <a:r>
              <a:rPr lang="en-US" sz="3200" kern="0" spc="-8" dirty="0"/>
              <a:t>Submission of Tutorials &amp; Assessments</a:t>
            </a:r>
          </a:p>
        </p:txBody>
      </p:sp>
    </p:spTree>
    <p:extLst>
      <p:ext uri="{BB962C8B-B14F-4D97-AF65-F5344CB8AC3E}">
        <p14:creationId xmlns:p14="http://schemas.microsoft.com/office/powerpoint/2010/main" val="21127997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45A6C-9714-2EF4-A195-89020C17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Workforce Management">
            <a:extLst>
              <a:ext uri="{FF2B5EF4-FFF2-40B4-BE49-F238E27FC236}">
                <a16:creationId xmlns:a16="http://schemas.microsoft.com/office/drawing/2014/main" id="{2DC8636E-3565-62CA-90A3-010A6A72B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773" y="1712724"/>
            <a:ext cx="1660226" cy="16602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6B84465-1235-EE4B-4F3A-8F12C7804522}"/>
              </a:ext>
            </a:extLst>
          </p:cNvPr>
          <p:cNvSpPr txBox="1">
            <a:spLocks/>
          </p:cNvSpPr>
          <p:nvPr/>
        </p:nvSpPr>
        <p:spPr>
          <a:xfrm>
            <a:off x="556101" y="3485051"/>
            <a:ext cx="8149525" cy="663203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AU" sz="60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685800">
              <a:lnSpc>
                <a:spcPct val="150000"/>
              </a:lnSpc>
              <a:defRPr/>
            </a:pPr>
            <a:r>
              <a:rPr lang="en-US" sz="3700" dirty="0">
                <a:solidFill>
                  <a:srgbClr val="FF5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39650068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1B38-704A-BF2F-826F-1C71B60F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A9720A-E250-68B4-FB47-B0486A1E5DB0}"/>
              </a:ext>
            </a:extLst>
          </p:cNvPr>
          <p:cNvSpPr txBox="1"/>
          <p:nvPr/>
        </p:nvSpPr>
        <p:spPr>
          <a:xfrm>
            <a:off x="16727" y="3600826"/>
            <a:ext cx="9144000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Live during class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Ask directly during sessions.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Canvas Inbox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For structured academic queries.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For formal communications or attachments.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Canvas Discussion Forum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– Everyone can see and learn from your question.</a:t>
            </a:r>
          </a:p>
        </p:txBody>
      </p:sp>
      <p:pic>
        <p:nvPicPr>
          <p:cNvPr id="2" name="Picture 4" descr="Answering Questions In Complete Sentences">
            <a:extLst>
              <a:ext uri="{FF2B5EF4-FFF2-40B4-BE49-F238E27FC236}">
                <a16:creationId xmlns:a16="http://schemas.microsoft.com/office/drawing/2014/main" id="{729B4D3A-5827-F46A-A234-6284550A9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720" y="881239"/>
            <a:ext cx="4514014" cy="282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B914697-6FE1-9DCE-8E76-D52A709B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0022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chemeClr val="tx1"/>
                </a:solidFill>
                <a:latin typeface="+mn-lt"/>
              </a:rPr>
              <a:t>Let’s Answer Your Questions</a:t>
            </a:r>
            <a:endParaRPr lang="en-AU" sz="3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883488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206930" y="1420349"/>
            <a:ext cx="4306642" cy="430664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630429" y="1594466"/>
            <a:ext cx="4513571" cy="454357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lvl="0" defTabSz="68580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2400" spc="-20" dirty="0">
                <a:latin typeface="Calibri" panose="020F0502020204030204" pitchFamily="34" charset="0"/>
                <a:cs typeface="Calibri" panose="020F0502020204030204" pitchFamily="34" charset="0"/>
              </a:rPr>
              <a:t>Happy Learning and Bright Futures Ahead!</a:t>
            </a:r>
          </a:p>
          <a:p>
            <a:pPr lvl="0" defTabSz="685800">
              <a:lnSpc>
                <a:spcPct val="150000"/>
              </a:lnSpc>
              <a:spcAft>
                <a:spcPts val="450"/>
              </a:spcAf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Stay Connected: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linkedin.com/in/farshid-keivanian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github.com/FarshidKeivanian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Education is the most powerful weapon you can use to change the world.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— Nelson Mandela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2EB8C87-8395-5CF8-FB02-8B57ECDD5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85031"/>
            <a:ext cx="6920865" cy="800732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sz="3500" spc="-2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3500" spc="-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1511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2901</TotalTime>
  <Words>5530</Words>
  <Application>Microsoft Office PowerPoint</Application>
  <PresentationFormat>On-screen Show (4:3)</PresentationFormat>
  <Paragraphs>1515</Paragraphs>
  <Slides>102</Slides>
  <Notes>96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8" baseType="lpstr">
      <vt:lpstr>Arial</vt:lpstr>
      <vt:lpstr>Calibir</vt:lpstr>
      <vt:lpstr>Calibri</vt:lpstr>
      <vt:lpstr>ACU Presentation</vt:lpstr>
      <vt:lpstr>1_Office Theme</vt:lpstr>
      <vt:lpstr>think-cell Slide</vt:lpstr>
      <vt:lpstr>Advanced Database 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Answer Your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483</cp:revision>
  <cp:lastPrinted>2017-08-03T04:07:41Z</cp:lastPrinted>
  <dcterms:created xsi:type="dcterms:W3CDTF">2017-05-11T09:33:32Z</dcterms:created>
  <dcterms:modified xsi:type="dcterms:W3CDTF">2026-03-15T02:31:02Z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