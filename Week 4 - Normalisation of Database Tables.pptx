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  <p:sldMasterId id="2147483769" r:id="rId5"/>
  </p:sldMasterIdLst>
  <p:notesMasterIdLst>
    <p:notesMasterId r:id="rId104"/>
  </p:notesMasterIdLst>
  <p:sldIdLst>
    <p:sldId id="421" r:id="rId6"/>
    <p:sldId id="258" r:id="rId7"/>
    <p:sldId id="2674" r:id="rId8"/>
    <p:sldId id="2624" r:id="rId9"/>
    <p:sldId id="2724" r:id="rId10"/>
    <p:sldId id="2725" r:id="rId11"/>
    <p:sldId id="2726" r:id="rId12"/>
    <p:sldId id="2727" r:id="rId13"/>
    <p:sldId id="2625" r:id="rId14"/>
    <p:sldId id="2633" r:id="rId15"/>
    <p:sldId id="2634" r:id="rId16"/>
    <p:sldId id="2636" r:id="rId17"/>
    <p:sldId id="2635" r:id="rId18"/>
    <p:sldId id="2637" r:id="rId19"/>
    <p:sldId id="2638" r:id="rId20"/>
    <p:sldId id="2626" r:id="rId21"/>
    <p:sldId id="2639" r:id="rId22"/>
    <p:sldId id="2640" r:id="rId23"/>
    <p:sldId id="2641" r:id="rId24"/>
    <p:sldId id="2642" r:id="rId25"/>
    <p:sldId id="2643" r:id="rId26"/>
    <p:sldId id="2644" r:id="rId27"/>
    <p:sldId id="2645" r:id="rId28"/>
    <p:sldId id="2627" r:id="rId29"/>
    <p:sldId id="2646" r:id="rId30"/>
    <p:sldId id="2647" r:id="rId31"/>
    <p:sldId id="2648" r:id="rId32"/>
    <p:sldId id="2649" r:id="rId33"/>
    <p:sldId id="2650" r:id="rId34"/>
    <p:sldId id="2689" r:id="rId35"/>
    <p:sldId id="2691" r:id="rId36"/>
    <p:sldId id="2692" r:id="rId37"/>
    <p:sldId id="2628" r:id="rId38"/>
    <p:sldId id="2651" r:id="rId39"/>
    <p:sldId id="2652" r:id="rId40"/>
    <p:sldId id="2653" r:id="rId41"/>
    <p:sldId id="2654" r:id="rId42"/>
    <p:sldId id="2655" r:id="rId43"/>
    <p:sldId id="2657" r:id="rId44"/>
    <p:sldId id="2629" r:id="rId45"/>
    <p:sldId id="2658" r:id="rId46"/>
    <p:sldId id="2659" r:id="rId47"/>
    <p:sldId id="2660" r:id="rId48"/>
    <p:sldId id="2662" r:id="rId49"/>
    <p:sldId id="2663" r:id="rId50"/>
    <p:sldId id="2630" r:id="rId51"/>
    <p:sldId id="2664" r:id="rId52"/>
    <p:sldId id="2665" r:id="rId53"/>
    <p:sldId id="2666" r:id="rId54"/>
    <p:sldId id="2667" r:id="rId55"/>
    <p:sldId id="2694" r:id="rId56"/>
    <p:sldId id="2695" r:id="rId57"/>
    <p:sldId id="2696" r:id="rId58"/>
    <p:sldId id="2697" r:id="rId59"/>
    <p:sldId id="2698" r:id="rId60"/>
    <p:sldId id="2699" r:id="rId61"/>
    <p:sldId id="2700" r:id="rId62"/>
    <p:sldId id="2702" r:id="rId63"/>
    <p:sldId id="2703" r:id="rId64"/>
    <p:sldId id="2704" r:id="rId65"/>
    <p:sldId id="2668" r:id="rId66"/>
    <p:sldId id="2707" r:id="rId67"/>
    <p:sldId id="2708" r:id="rId68"/>
    <p:sldId id="2709" r:id="rId69"/>
    <p:sldId id="2710" r:id="rId70"/>
    <p:sldId id="2711" r:id="rId71"/>
    <p:sldId id="2677" r:id="rId72"/>
    <p:sldId id="2712" r:id="rId73"/>
    <p:sldId id="2713" r:id="rId74"/>
    <p:sldId id="2714" r:id="rId75"/>
    <p:sldId id="2678" r:id="rId76"/>
    <p:sldId id="2669" r:id="rId77"/>
    <p:sldId id="2671" r:id="rId78"/>
    <p:sldId id="2716" r:id="rId79"/>
    <p:sldId id="2717" r:id="rId80"/>
    <p:sldId id="2718" r:id="rId81"/>
    <p:sldId id="2719" r:id="rId82"/>
    <p:sldId id="2720" r:id="rId83"/>
    <p:sldId id="2721" r:id="rId84"/>
    <p:sldId id="2722" r:id="rId85"/>
    <p:sldId id="2723" r:id="rId86"/>
    <p:sldId id="2684" r:id="rId87"/>
    <p:sldId id="2685" r:id="rId88"/>
    <p:sldId id="2687" r:id="rId89"/>
    <p:sldId id="2673" r:id="rId90"/>
    <p:sldId id="2728" r:id="rId91"/>
    <p:sldId id="2729" r:id="rId92"/>
    <p:sldId id="2730" r:id="rId93"/>
    <p:sldId id="2731" r:id="rId94"/>
    <p:sldId id="2732" r:id="rId95"/>
    <p:sldId id="2733" r:id="rId96"/>
    <p:sldId id="2734" r:id="rId97"/>
    <p:sldId id="2735" r:id="rId98"/>
    <p:sldId id="2736" r:id="rId99"/>
    <p:sldId id="2737" r:id="rId100"/>
    <p:sldId id="2738" r:id="rId101"/>
    <p:sldId id="2739" r:id="rId102"/>
    <p:sldId id="1084" r:id="rId103"/>
  </p:sldIdLst>
  <p:sldSz cx="9144000" cy="6858000" type="screen4x3"/>
  <p:notesSz cx="6805613" cy="9939338"/>
  <p:custDataLst>
    <p:tags r:id="rId10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120C"/>
    <a:srgbClr val="3C1053"/>
    <a:srgbClr val="3D3935"/>
    <a:srgbClr val="8C857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730" autoAdjust="0"/>
    <p:restoredTop sz="94694"/>
  </p:normalViewPr>
  <p:slideViewPr>
    <p:cSldViewPr snapToGrid="0">
      <p:cViewPr>
        <p:scale>
          <a:sx n="66" d="100"/>
          <a:sy n="66" d="100"/>
        </p:scale>
        <p:origin x="1793" y="1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63" Type="http://schemas.openxmlformats.org/officeDocument/2006/relationships/slide" Target="slides/slide58.xml"/><Relationship Id="rId68" Type="http://schemas.openxmlformats.org/officeDocument/2006/relationships/slide" Target="slides/slide63.xml"/><Relationship Id="rId84" Type="http://schemas.openxmlformats.org/officeDocument/2006/relationships/slide" Target="slides/slide79.xml"/><Relationship Id="rId89" Type="http://schemas.openxmlformats.org/officeDocument/2006/relationships/slide" Target="slides/slide84.xml"/><Relationship Id="rId16" Type="http://schemas.openxmlformats.org/officeDocument/2006/relationships/slide" Target="slides/slide11.xml"/><Relationship Id="rId107" Type="http://schemas.openxmlformats.org/officeDocument/2006/relationships/viewProps" Target="viewProps.xml"/><Relationship Id="rId11" Type="http://schemas.openxmlformats.org/officeDocument/2006/relationships/slide" Target="slides/slide6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74" Type="http://schemas.openxmlformats.org/officeDocument/2006/relationships/slide" Target="slides/slide69.xml"/><Relationship Id="rId79" Type="http://schemas.openxmlformats.org/officeDocument/2006/relationships/slide" Target="slides/slide74.xml"/><Relationship Id="rId102" Type="http://schemas.openxmlformats.org/officeDocument/2006/relationships/slide" Target="slides/slide97.xml"/><Relationship Id="rId5" Type="http://schemas.openxmlformats.org/officeDocument/2006/relationships/slideMaster" Target="slideMasters/slideMaster2.xml"/><Relationship Id="rId90" Type="http://schemas.openxmlformats.org/officeDocument/2006/relationships/slide" Target="slides/slide85.xml"/><Relationship Id="rId95" Type="http://schemas.openxmlformats.org/officeDocument/2006/relationships/slide" Target="slides/slide90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64" Type="http://schemas.openxmlformats.org/officeDocument/2006/relationships/slide" Target="slides/slide59.xml"/><Relationship Id="rId69" Type="http://schemas.openxmlformats.org/officeDocument/2006/relationships/slide" Target="slides/slide64.xml"/><Relationship Id="rId80" Type="http://schemas.openxmlformats.org/officeDocument/2006/relationships/slide" Target="slides/slide75.xml"/><Relationship Id="rId85" Type="http://schemas.openxmlformats.org/officeDocument/2006/relationships/slide" Target="slides/slide80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59" Type="http://schemas.openxmlformats.org/officeDocument/2006/relationships/slide" Target="slides/slide54.xml"/><Relationship Id="rId103" Type="http://schemas.openxmlformats.org/officeDocument/2006/relationships/slide" Target="slides/slide98.xml"/><Relationship Id="rId108" Type="http://schemas.openxmlformats.org/officeDocument/2006/relationships/theme" Target="theme/theme1.xml"/><Relationship Id="rId54" Type="http://schemas.openxmlformats.org/officeDocument/2006/relationships/slide" Target="slides/slide49.xml"/><Relationship Id="rId70" Type="http://schemas.openxmlformats.org/officeDocument/2006/relationships/slide" Target="slides/slide65.xml"/><Relationship Id="rId75" Type="http://schemas.openxmlformats.org/officeDocument/2006/relationships/slide" Target="slides/slide70.xml"/><Relationship Id="rId91" Type="http://schemas.openxmlformats.org/officeDocument/2006/relationships/slide" Target="slides/slide86.xml"/><Relationship Id="rId96" Type="http://schemas.openxmlformats.org/officeDocument/2006/relationships/slide" Target="slides/slide9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slide" Target="slides/slide52.xml"/><Relationship Id="rId106" Type="http://schemas.openxmlformats.org/officeDocument/2006/relationships/presProps" Target="presProps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slide" Target="slides/slide55.xml"/><Relationship Id="rId65" Type="http://schemas.openxmlformats.org/officeDocument/2006/relationships/slide" Target="slides/slide60.xml"/><Relationship Id="rId73" Type="http://schemas.openxmlformats.org/officeDocument/2006/relationships/slide" Target="slides/slide68.xml"/><Relationship Id="rId78" Type="http://schemas.openxmlformats.org/officeDocument/2006/relationships/slide" Target="slides/slide73.xml"/><Relationship Id="rId81" Type="http://schemas.openxmlformats.org/officeDocument/2006/relationships/slide" Target="slides/slide76.xml"/><Relationship Id="rId86" Type="http://schemas.openxmlformats.org/officeDocument/2006/relationships/slide" Target="slides/slide81.xml"/><Relationship Id="rId94" Type="http://schemas.openxmlformats.org/officeDocument/2006/relationships/slide" Target="slides/slide89.xml"/><Relationship Id="rId99" Type="http://schemas.openxmlformats.org/officeDocument/2006/relationships/slide" Target="slides/slide94.xml"/><Relationship Id="rId101" Type="http://schemas.openxmlformats.org/officeDocument/2006/relationships/slide" Target="slides/slide9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109" Type="http://schemas.openxmlformats.org/officeDocument/2006/relationships/tableStyles" Target="tableStyles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76" Type="http://schemas.openxmlformats.org/officeDocument/2006/relationships/slide" Target="slides/slide71.xml"/><Relationship Id="rId97" Type="http://schemas.openxmlformats.org/officeDocument/2006/relationships/slide" Target="slides/slide92.xml"/><Relationship Id="rId104" Type="http://schemas.openxmlformats.org/officeDocument/2006/relationships/notesMaster" Target="notesMasters/notesMaster1.xml"/><Relationship Id="rId7" Type="http://schemas.openxmlformats.org/officeDocument/2006/relationships/slide" Target="slides/slide2.xml"/><Relationship Id="rId71" Type="http://schemas.openxmlformats.org/officeDocument/2006/relationships/slide" Target="slides/slide66.xml"/><Relationship Id="rId92" Type="http://schemas.openxmlformats.org/officeDocument/2006/relationships/slide" Target="slides/slide87.xml"/><Relationship Id="rId2" Type="http://schemas.openxmlformats.org/officeDocument/2006/relationships/customXml" Target="../customXml/item2.xml"/><Relationship Id="rId29" Type="http://schemas.openxmlformats.org/officeDocument/2006/relationships/slide" Target="slides/slide24.xml"/><Relationship Id="rId24" Type="http://schemas.openxmlformats.org/officeDocument/2006/relationships/slide" Target="slides/slide19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66" Type="http://schemas.openxmlformats.org/officeDocument/2006/relationships/slide" Target="slides/slide61.xml"/><Relationship Id="rId87" Type="http://schemas.openxmlformats.org/officeDocument/2006/relationships/slide" Target="slides/slide82.xml"/><Relationship Id="rId61" Type="http://schemas.openxmlformats.org/officeDocument/2006/relationships/slide" Target="slides/slide56.xml"/><Relationship Id="rId82" Type="http://schemas.openxmlformats.org/officeDocument/2006/relationships/slide" Target="slides/slide77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56" Type="http://schemas.openxmlformats.org/officeDocument/2006/relationships/slide" Target="slides/slide51.xml"/><Relationship Id="rId77" Type="http://schemas.openxmlformats.org/officeDocument/2006/relationships/slide" Target="slides/slide72.xml"/><Relationship Id="rId100" Type="http://schemas.openxmlformats.org/officeDocument/2006/relationships/slide" Target="slides/slide95.xml"/><Relationship Id="rId105" Type="http://schemas.openxmlformats.org/officeDocument/2006/relationships/tags" Target="tags/tag1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72" Type="http://schemas.openxmlformats.org/officeDocument/2006/relationships/slide" Target="slides/slide67.xml"/><Relationship Id="rId93" Type="http://schemas.openxmlformats.org/officeDocument/2006/relationships/slide" Target="slides/slide88.xml"/><Relationship Id="rId98" Type="http://schemas.openxmlformats.org/officeDocument/2006/relationships/slide" Target="slides/slide93.xml"/><Relationship Id="rId3" Type="http://schemas.openxmlformats.org/officeDocument/2006/relationships/customXml" Target="../customXml/item3.xml"/><Relationship Id="rId25" Type="http://schemas.openxmlformats.org/officeDocument/2006/relationships/slide" Target="slides/slide20.xml"/><Relationship Id="rId46" Type="http://schemas.openxmlformats.org/officeDocument/2006/relationships/slide" Target="slides/slide41.xml"/><Relationship Id="rId67" Type="http://schemas.openxmlformats.org/officeDocument/2006/relationships/slide" Target="slides/slide62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62" Type="http://schemas.openxmlformats.org/officeDocument/2006/relationships/slide" Target="slides/slide57.xml"/><Relationship Id="rId83" Type="http://schemas.openxmlformats.org/officeDocument/2006/relationships/slide" Target="slides/slide78.xml"/><Relationship Id="rId88" Type="http://schemas.openxmlformats.org/officeDocument/2006/relationships/slide" Target="slides/slide8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4939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69E031-7821-4947-9A91-EC03C15F7566}" type="datetimeFigureOut">
              <a:rPr lang="en-AU" smtClean="0"/>
              <a:t>22/03/2026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3013"/>
            <a:ext cx="4471987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0562" y="4783307"/>
            <a:ext cx="5444490" cy="3913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4939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98A5C1-1CB9-4F08-9AE0-90C38B1EBB9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52559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D0C3409-D902-FCEC-29B0-0516CC920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95181B0-9F54-1B5B-CE2D-5280A315DA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BDD3E02-DB95-F9E8-7171-9F53A3D00C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349A7C2-50CD-CDF4-12C9-F1A66E87771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74642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58015D9-1973-5F39-A3F8-7D8B611F3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5FD43B2-B17A-1534-7F7A-CD36AF932C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1BF397A-5090-1220-7E64-B9986628BF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C79E89BA-102D-EFC4-E3D8-D96AEC2DEB0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4119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167BAA5-75A2-5980-9FE5-187973C8B5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B0B0210-2CF6-1D9D-5B6C-E95E45B585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385D8EA-56C2-030E-F292-1A5EE92600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2E5F661-DC22-BDC0-6870-F8EE89B0E67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487266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FC7EACE-7ECF-F7D1-0140-AC21276D1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1D8D9CC-D37D-36CF-4F50-74436A7661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20EDD9C-918D-D714-E534-119D3CE483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8D754FC-A068-D0AA-5FD4-4A25F436B22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130877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38DDC49-F0B4-02B2-7514-B8F898632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4E50FAF-5500-997A-54F1-205215C13F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277E753-D243-65CE-801F-88C060AF4F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FE50B35-54BC-E415-EF99-17CA2940FBE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124173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FE2999D-A6AD-0F73-9FFF-5436A80BD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6B398A9-F7A3-6202-E8E4-6469C2044F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FFED758-636F-0978-CB5F-555377B55A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0B407B7-53FE-A264-813B-DD488F6FF0A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684003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EEA0D09-6075-3B1A-4CB2-3A1775F9C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FE1356D-672A-3E93-3994-0D00DAA518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846FC85-B10B-E1D8-6838-8965CD5B1F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E7CDBBB-671F-EF47-07FE-199EC2A4A6D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078747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1D756FA-1C4F-33EE-2ACC-6775EF09A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67785F8-942B-783F-CE38-7151A03AD2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B9BA338-FDFF-E879-494F-D69A1BA1600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19A1A4D-8CA6-55B4-27CC-7C35EFB707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621401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401467D-2209-88DE-0358-24B5E2966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09D5F8B-3AE3-EE75-3D78-220AC62573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3A1EFF5-4104-832B-1B12-91CC021381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82D7BC0-81D2-FAFD-E3D2-91553201F5D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798449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401467D-2209-88DE-0358-24B5E2966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09D5F8B-3AE3-EE75-3D78-220AC62573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3A1EFF5-4104-832B-1B12-91CC021381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82D7BC0-81D2-FAFD-E3D2-91553201F5D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16060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401467D-2209-88DE-0358-24B5E2966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09D5F8B-3AE3-EE75-3D78-220AC62573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3A1EFF5-4104-832B-1B12-91CC021381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82D7BC0-81D2-FAFD-E3D2-91553201F5D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949172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C0D9950-0908-4B1A-69DA-29164C8D8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23EBF4F-BD4A-8466-24E8-D3C0C0B655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6815D05-B762-A714-E816-2361B6AFB1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509D008-78E8-F696-88D3-4CCF98C6858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5088754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443F490-AC07-5B75-80AF-0881CB946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8219CD3-30AB-97C0-B014-4A6345DD20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1228B8B-C1E6-E49A-CD1E-A3A1900E12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624B17A-88D3-68EA-2795-B766284859A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24498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F002C63-74DA-4E0A-6790-18B8C5DD0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79FD522-37D1-D647-91E3-59878E96E0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E23993B-8133-8259-C936-41C7A64FC3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27D0E13-F6B8-DC6E-7072-D53CDC5A33E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140289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E8F7742-EBE6-6719-4236-DF36F29EA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E587AF2-0454-D364-3EF3-726B5E3396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E139FD9-17B8-CCA8-B2EA-A17374E030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9A2A5A4-0BBB-489F-EB65-5688EC90E44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6767379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F4FD951-BBB2-CB26-B709-6FA9A5702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41E4735-C8AA-189B-E448-1674049556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0729F12-675A-3701-A2AF-D9AFD0F87F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81D4A6C-3D1E-7B38-59D9-8D3AE0BA50F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2110280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8C2DD1F-D6E5-FC4A-3275-C440C593B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F69162F-CA47-B68D-0092-44198AABA5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73221E3-F0AC-0389-9E6F-C59C344C9C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13284F7-9749-EC98-DDBC-E251151AAC3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8216886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F8630F3-1F30-6D74-5846-5CD4D136B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2EFF497-747C-F970-C5D7-4F4FCA2F90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3BC4E40-FBA5-BF39-565F-41DDA3399F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95181C3-2489-170C-999D-9852AA6A4E1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4709096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F8630F3-1F30-6D74-5846-5CD4D136B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2EFF497-747C-F970-C5D7-4F4FCA2F90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3BC4E40-FBA5-BF39-565F-41DDA3399F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95181C3-2489-170C-999D-9852AA6A4E1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985154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0D1D99F-327E-76FF-3BA9-3840A5D36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ED07D20-9958-BD52-F92E-ED1AD4A92E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7363AF0-478A-AB7D-E7CC-797283FFCE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5AB5688-4F7F-3740-E9E4-EA9D7775173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345558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7233AA8-9034-599E-0F58-BE8B9AB4B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A3D2D41-A7C0-6CAC-C33A-0BFE5E299F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3F2EDBC-1FB8-14A0-D4C7-83B13E53F0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D4CAF1C-BC72-9466-2D4B-CFDBE7B91CF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88920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BFE754A-A7AE-F628-6A12-4BFE32C87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5BE96CA-C59E-09D9-4BBD-EE37A1DA3B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2AEEB45-6AD1-96A5-E35D-3D9CFACB24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92C7E86-4350-709B-FDA1-14D60BAC0A3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188426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256F329-0E55-2778-69A2-91056C40D5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29E78C4-FAE0-06B3-C4A5-1BA3335F85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FD36F74-3CD3-A502-AE77-EF0DAED90F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017A9C8-9C1A-58CF-C475-E2F21EC11C2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1758904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B534E11-8759-3FD2-69F5-EDC7402C4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83F0F57-68FB-4E7F-17F3-E40A7752CD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93BB22B-CDF4-A0C1-563B-C5D33D5FB4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B762BD8-C5D4-4C5D-7B64-7D50E5FAC87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7938799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66A39D0-1AF0-5290-C5AB-252113048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88A93DC-1D8B-ABA3-2FB7-27D9B381E7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1A0B736-BCE2-7291-00D8-5366FE28AE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2C64117-E145-4327-310E-C8819A49F1E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3683160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51CE39E-5D18-DE96-186E-AB9D57F71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E3D586B-ACD7-CD4D-929B-7BAD54C05A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0255BE3-B564-C91C-3EA2-30CA3E2A6C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B38535A-7586-04E5-A71C-A3174AE1503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1614724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51CE39E-5D18-DE96-186E-AB9D57F71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E3D586B-ACD7-CD4D-929B-7BAD54C05A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0255BE3-B564-C91C-3EA2-30CA3E2A6C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B38535A-7586-04E5-A71C-A3174AE1503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5418768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827A11F-68C4-8741-516C-DB69EE238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731A98F-6C14-D16B-9F34-916050FC34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852C87A-7ADD-F40E-4183-AF95CDAACD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85B5380-227D-D1A8-809F-63F1CB89433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1186392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129D3F5-5B19-99FE-4354-4EA91218D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64F2CFA-F544-32ED-5F89-E3AEBB196F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BF1FBDD-8D3C-6795-00C6-F1332CAD3E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742FF32-9B69-05ED-D67E-42C299CEEC6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4479413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AC84F59-16E6-8506-407A-70E455BCC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FC0A17B-C76A-70D6-0486-F5935C9B5F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E0315A1-D578-26DE-FEEF-2DB612A083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8ECFA98-4CD4-43CD-190F-00414DA7FFA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087226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D29A4C9-0D51-50C7-AD99-60E365CF7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5738B37-9F2D-9986-F988-4B4D165B14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1048374-BE7B-8AC0-D2F7-02B916B399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8E18F46-8B5B-C8C9-31E6-450541C3B44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4127110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2E82222-D91A-56EB-26E7-DA33FD179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FE55847-C6B6-CE20-B9DE-28BCB8315B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C3F3424-F9D4-DA3B-3756-56261AC449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2510631-AA16-6D56-ABC4-F5F13E9EA64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4324653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8ECDA8D-BB2E-572D-D433-17EADFAAD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4C6308F-F83F-3425-1104-434E93594E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C113618-3C9A-17DE-33E3-C27F274213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C9D505E-7048-F75E-262C-E01477688EC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943758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C5DF9A4-B802-D05B-6FC1-73C33F424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D5610B5-81A2-1F7E-7FDC-A61D28E981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9FF2E68-27CB-C4C7-B69C-671B6E1E66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C4F05E1-46CD-8ED3-590A-61B29016714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5513639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E6C29D6-0852-6988-9412-DE451C432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5CD3329-8EF8-2678-9A3D-325BB8831F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195AF62-BE99-694E-435B-C984AE2150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C44998B-881A-5AA6-E847-F75D57A694A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9957558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E6C29D6-0852-6988-9412-DE451C432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5CD3329-8EF8-2678-9A3D-325BB8831F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195AF62-BE99-694E-435B-C984AE2150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C44998B-881A-5AA6-E847-F75D57A694A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1484633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61A1C73-E847-D78E-CF31-D2FBD1DCA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A83DF2F-98C2-878E-8DA1-00C33AD148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33ACD17-C3A1-2867-78D1-08EE7AD7DB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090E418-1150-13C9-BF69-A8A2455BE31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3235254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6D44187-7673-4E3B-B5BE-D25CFC6F4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5F16665-2623-2A39-A5E6-F2425DDD5A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1A588D0-AAE4-76A8-650E-47BAC997AE7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3599486-696F-7760-D748-51FA9C2ABC6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1888001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4D7A55F-E1BB-07F6-BF61-81354A224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7250C41-BD93-F878-6656-EEEAD0E120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9F35856-E8CE-A11C-67B6-DA2E1F23EA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0F6FFAB-B6C5-DDF0-9D09-0816CFB2015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9845818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C30BD7C-CBB4-6086-27F8-16A008264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F512CE4-158B-8F6D-6271-F0F2FEB8F9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CB61A5F-F285-8C6C-EAF5-0377442EA1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1ACD890-A7B8-2A65-D879-C03EB2524C1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76284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9ADD9F6-D8BA-5818-955E-44909C8F9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B6AF7A9-17EE-9C63-F17F-04F242E42B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631901A-B727-B96B-9DB0-7D33C4C93D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659EB52-D436-10B0-F503-DE28471E47B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367921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95DD324-41A8-11BC-E5B6-710DAA345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8AA00AA-6436-539B-16AB-9FC739A708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353A928-2366-B99C-C6C2-0C45C4BC41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F2F86B6-0378-DF01-E72F-50D3814A7C2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7037854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95DD324-41A8-11BC-E5B6-710DAA345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8AA00AA-6436-539B-16AB-9FC739A708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353A928-2366-B99C-C6C2-0C45C4BC41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F2F86B6-0378-DF01-E72F-50D3814A7C2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806601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8413986-D008-9D43-E529-F1847CBFE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F096976-6FDD-2BB7-E356-E4AB93DB88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F82DD59-D2EF-1717-234F-9454418D3D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22794E1-50FC-9DF9-CF0D-3E8F897732E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6667657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5C5895B-891A-38BB-B9F2-F6108E1FD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0229D0E-3F58-BFA9-91AE-3761171174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E90DEC3-7B99-B3A3-764E-8DBDC7E454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7516B64-4FE8-0053-CB90-333BFF1320D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199398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7A7F16E-5B7D-A03E-29AE-121CDCBAA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CCC75F1-56C7-C7F2-8C53-59D03881C7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A0955B7-61E8-2CD8-45F8-8F031DBAA8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6E0D2A4-8E10-C1C8-98BD-B55654C4044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346651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7A7F16E-5B7D-A03E-29AE-121CDCBAA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CCC75F1-56C7-C7F2-8C53-59D03881C7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A0955B7-61E8-2CD8-45F8-8F031DBAA8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6E0D2A4-8E10-C1C8-98BD-B55654C4044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7390102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81131EF-8373-03C6-923C-A04A9CA45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D04067A-47D4-3D43-B333-5AA56CF326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C421574-CF12-1C36-6D75-EE32F529D5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A9178E8-C3E3-E0FE-CC33-38ED99D3E09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3792240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EDCD6E9-5B60-65F4-8132-9202BAD44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17EEB01-8077-F8BE-7CF0-627D8F3246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F493AD1-064F-E031-B5D3-3EBC1F290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1593115-3FF4-7BA7-8816-CBFE79A1A2B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6241834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7B266D8-60DE-7A14-41B4-E1C303D64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9596F43-7376-C470-9742-EA56CD941C5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BF27121-B77C-B79B-12D4-91E926EF30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DCEA037-6704-06BF-58DE-A2F61053493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980301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BCC682A-8A54-3EDB-D3F9-65181969C3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4C2DC31-F72F-11FC-5D3F-D030E785BB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A98A37E-ADC2-87E1-22B2-510350DD50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7C588E6-023C-FFD3-8308-B84513E8BAF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72880528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FA9980E-0A1B-5553-4D77-8B3624AE0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44724DD-A8A8-8F85-0504-6E192C7C1B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BD81AAA-92B7-CBC2-4B90-17A9F750F1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0EBB1D7-BCC6-1764-3E6F-F0345DFF072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5387569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74AC767-2FD6-5AE3-1CED-9A2AC5573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27BE679-B9C2-8A33-E17E-26A304AA4A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4D30313-68EE-6B14-657A-F36AE7B6593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F3D4A0A-7721-F176-4902-9C05174C5AD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225104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0B1C3DE-3691-C04A-2DBC-519D099A5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C6EC927-8D38-AE12-8A70-EBC88E4785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239E6BD-B0CE-E0F0-98A6-AC3BF2F8E5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C2DAC4B0-A9D4-2177-964E-6F03F01CB08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38349803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9244776-76C4-09DA-4B73-A51D70FF2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3630BC6-021E-C82E-C0D0-4992368C43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F16CB8E-E6FD-3193-6231-01338E12A3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7E1DE3B-4459-75C9-C0FC-57F3A4A817E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771152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95FA83A-59D0-2C42-F5FC-DEAAE5270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0465A8C-18D4-3027-446A-A117857CD2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3A0343D-EFC6-8A0A-A9F1-00B9B7EE26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C318BE4-0F6A-1A23-2F1D-F6A1F7C2683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5228164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DDB3B03-EBC6-15E4-0C65-AF965DADE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2EB8D65-4658-8BFA-3843-B2D3CD2D45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DA794E6-F506-998E-6C56-939A234192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B9E854E-46DA-4792-7056-EE5C9951026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4475486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4FC828C-2B63-CD2F-269B-36BBEF117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A2E6CDD-5C30-15B8-0A1C-EDCCD60905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1D1B87E-8A5A-347E-9E28-CBB7C29AE5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1545B58-B9A5-84C4-8BC1-F46402FDDE9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607005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EE1FD96-C352-0293-7CAF-E3DF593F4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990E903-3492-CAC2-CBA4-EB19E91D6A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8D44940-2660-2CDD-AFD5-7FC1E96317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59C7A2F-03AA-7876-1458-2B446F9359E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16857866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BEEFFEB-B77E-7B09-2767-1E302D85D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6D27287-25AC-5788-2622-9C02C32F1B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ADDFB5F-71A8-028E-33B4-20E2996689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CF39248-BC73-25B1-73C8-E79134D9445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34356784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CFFA59C-6D45-743F-8325-DDC3A087A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A7820BB-A57A-8236-1CEA-44CAB67649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897AD66-CFC6-0F98-DD9C-4781BF8255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B07203F-B5C2-1A97-2446-FCB1D70B1E5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8522935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C874ED6-9194-A326-BE6E-75BABDCDFD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3867CD4-CABF-03EF-FECD-AF5EAB3AD7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393431A-9636-E70E-BA37-8D716489F1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416FEFC-25B9-9F6C-53E0-33D7C41C5F4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82489279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3E34931-C341-91D4-1AA2-417964611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3DFC91B-02C8-9C4E-8D2B-EA63B7D87B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165C801-3347-A70C-B639-518E1D8BE1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E9BCAC9-829C-C9B4-218E-2EB9D8BAAB4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68460384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353BD4A-7B5C-4E2C-9988-28F52B051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9308C8B-E2A8-5DF2-A148-DDB7257B6D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C316C3C-1D64-0B7A-8FBA-C4B48CA520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BE1904E-4AB4-1E34-2F08-E0BC3450ED3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3615424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FDAF3FE-829F-1B9D-FA1B-6797677C8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F7F9DF5-E14E-8AEA-6307-BA7D572265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7B9ABDC-1704-0FF4-4A26-739EC0BD6A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C64D94C-B65A-F55D-BFA5-829203C53FB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7114838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280774F-19E3-B389-2A3A-6578EBB0F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1BB1B11-450B-6D8C-25A1-8D7788B57F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559FF56-2AEE-262F-17C0-BC29E4CA26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9B01D24-6A6D-30A7-9186-642FB088AFC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1189678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4652DFD-3C66-C559-6FEA-39B6BE561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9699B66-1A45-C7F1-E9B1-5C2AFFFE7E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A57AF0B-B22F-B2EB-B17D-C66646BD09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C47E01DB-1A92-9CA4-2F13-5C5B5688C62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88350580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0D05477-A0E6-D3CB-3E7E-92AB7E615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7140261-8499-C12B-AA50-702E2005C0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AEE073F-9545-2E42-0FDA-FF034496E0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29BDA7B-FE6E-4912-4723-FD4E2E2CA8A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1062085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4878091-E55B-E726-758B-39554DDD0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88415EA-EE32-F35B-CAE6-73D16BAB05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36BF4CA-DE71-006D-9EE6-EC5A468C2A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0A0EBD5-DA66-8ECA-E4D3-AEBADF66836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9982122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4D76083-1656-22DA-F21D-91FE46433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5979242-EFD5-B129-7115-C99B39093A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79D66CB-3340-103D-BD57-BC277DBE47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9A5FFC7-610C-959B-5440-39871B044DD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2255464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C800FFB-2E88-5D78-F6B0-E1C2AD116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5C0B4CD-5AAD-1E43-5967-966A33F50B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AE88512-9D16-675F-CA28-25D3FABAA7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4787996-58BD-076B-EC41-B5F0D6819BC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1257462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AEEF3C2-23BD-AF50-ED33-796269875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4F8626F-30E0-6739-5181-55F27DBF464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E9A3431-A90B-43AF-71B6-90BCF22586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60F19E4-BDA7-A204-01E5-BAAD4E41B29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38115624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53A4039-6AA9-6F27-15F8-05D1F53AC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1545C4D-9B4B-97DE-DB96-D5D3372383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EDFB72C-236F-9673-0652-F478FB5ACB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0859260-9ABA-BB5B-8F1D-B6EB382B1FB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08489892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066B574-3021-103B-5C77-869D85744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006E02C-BF1F-6138-9C3A-5211521C066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7234D52-0891-ACE8-8CC1-05BB3FC951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4B39D69-D48F-B814-13F6-AEF1A2F1EBA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6484058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08B868B-C05C-2DD9-79DE-4DA39E9F6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A8E7D73-6761-A5B3-2A9F-D70B253B91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AD05D54-C87B-565F-1D26-C583D005E0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C0EB704-40CF-F9F2-D7B5-E3ACB169FF0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12474026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4E34DEB-E36B-1622-EA71-5993EDABD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ED71634-5D93-E8A9-05AB-BF2881450D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D6AE0A7-9021-D7CC-6FEF-CAD9BE949A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34C2393-5DC5-7942-D15E-93319DAAADC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43032237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160BF2B-89E1-4A6D-4E6D-4EFDFEC50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6CEC343-B43C-FA52-7263-2C3787CBB6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ADDEF6D-DFDE-B82F-28CF-434E9801FC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3B7DAFF-88AD-7695-09D4-6E3292C5140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7141056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A227B5C-743D-FC57-5FC4-EAD526856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76B107A-218E-45FD-2F12-055F1AA1C2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1443421-8851-F62B-A1E1-8859A8B2BE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F15969F-49F6-336E-B118-CCADD6A64C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1877627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CEAEA44-0553-F52B-7717-8A6A15E6A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FF21B8E-B649-8B04-ADC5-D80641F0B0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33A3A47-A4AA-B132-18F9-60678437AF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BE13F1A-E8AF-651A-F8DE-36C1FC8A41A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7262185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08FF3D7-3E58-B590-AABD-1B4C69292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7A8D177-CA51-C690-CC0F-5300142D46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C0EEAE3-0C9D-4B96-DE18-4252C4BDA1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AB042EB-8CE3-DF0E-6FDC-47611B6069A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9164276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E17BF8F-7D43-DDBC-D46B-941CAC855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2105FB4-7EE8-F81E-DD70-133D38BCB2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1EC7114-B835-99BD-F1BE-0C96F24B6A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5603BA3-5319-F4A4-E94D-1CE81437B75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90963273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3E8D8FF-C612-51C6-FEB4-EBB16FDC9B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88E0BD0-C3AB-47BE-FADE-D31AF80A19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59F7CC9-0E42-05AB-C7F9-9674CC0D80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A93B188-9158-4074-C6B4-8FAD253F655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1465913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444438A-D985-35D4-7B17-13152FBA2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2577C5B-C6CA-9CFD-9CDC-7C8C27CAEC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4E2DAF3-1DA7-D80B-343E-9039BDADD2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91E39FC-BB62-4627-EE69-5AC28F36330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587215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8F2ADB9-793A-5E12-6D25-8C543AAE7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C06E10B-5AA7-3CBB-D302-CD8FEA8B28D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8B1CC05-2EA5-F708-4DE0-A2D0E389B2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2824F6D-E8E2-5613-8B23-4C6460D74E1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8355682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D6A01C3-9169-5805-4EE5-0C83EF5F3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EA74575-0A99-869B-4EAB-785610E65E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4905F14-ECD4-EB12-D6A8-5E72A35CB9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EC59374-A6B5-ACEA-5188-82E16DFE14D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50579860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677B266-9245-2BD0-0DB9-FD902841A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9E56CE5-49D4-F4D9-3C24-48CB4F25D4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2EF6DCF-510F-39DF-26F7-866ECEA999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B0AF5E2-CF35-2F98-5D3C-22CA4C11106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66545065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9526D9D-0E8C-4207-7240-27D323F0E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EC77CF0-F0DF-FD5E-BCA6-9E2A52129B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5877B1B-BDA2-93F3-8FDE-D1AF773827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4460E9C-E392-DEC9-7648-2582545FE1A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91081603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09B431E-8F84-8ADD-5541-A19CEBC1F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F0CF8F1-0893-2DCC-AB2E-89E9EABD0F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67480A5-768F-8C17-5A47-A36742F970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2ED9CFD-BF99-F028-F82F-CCDADFE5220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047868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90D1DCE-8BB5-4377-1D9F-4D2A3F779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CF1CDF2-F4AA-214F-2570-B131FCB3A6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9201AB9-E91A-4DC4-104E-70E1F748F0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58B9E3C-3C02-2BB4-44D1-FEC7BED2A47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84813340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E25FDEA-BE55-ECCB-6F99-55C3ABA6F6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E1DDF7B-6CAF-E379-9DAC-60FD89D82D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4D5AC5D-AD50-CB74-1F0C-C5288BF3B2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4564C4C-4408-597A-C581-BD36CA97202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16644127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E60F8B5-99AC-8FA0-611A-A8C978A21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FD1C628-E7E3-F21E-9526-9D0FDB732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062A224-AF7B-6309-BB00-4F462AFFB3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C532BC3-B172-080F-CC1D-91F63124F56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99742135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1CE3CA9-D9A4-6D99-ADD2-BFD270F75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FEF91FE-053D-28F8-B7EE-21E0080281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55C5AC4-B18C-3DE7-9F7C-8FB5C526C9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60B860D-DB2D-8C56-5B7A-EAEB03EE038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884238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811CF98-B730-BFF9-5DE2-0D06CCC68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AC57F21-2EB4-85AD-3032-4830827946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19F98B5-1068-EA8B-4122-84085C6DF6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5C20D62-E249-F10C-1D32-BBB5FECC2E8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7048223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AED73EC-A8F4-CFBD-8C5A-398C93443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52DAD13-382A-BD85-4F85-B8632BD9E9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11470B0-BBC2-0127-002B-5354664D4A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C8D9A91-D821-9368-6389-BD6CD3B7655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97059438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0516690-5B2A-1F3E-E921-DE62E288E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CAEC16A-D50E-2EC7-BBE8-7D68374D44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23D46CE-E172-AA56-8168-08B3967EE6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196DD70-BF48-29AA-678E-F1BBD791222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77674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pSp>
        <p:nvGrpSpPr>
          <p:cNvPr id="5" name="Group 4"/>
          <p:cNvGrpSpPr>
            <a:grpSpLocks noChangeAspect="1"/>
          </p:cNvGrpSpPr>
          <p:nvPr userDrawn="1"/>
        </p:nvGrpSpPr>
        <p:grpSpPr bwMode="auto">
          <a:xfrm>
            <a:off x="0" y="0"/>
            <a:ext cx="9144227" cy="6858000"/>
            <a:chOff x="5" y="0"/>
            <a:chExt cx="5750" cy="4320"/>
          </a:xfrm>
        </p:grpSpPr>
        <p:sp>
          <p:nvSpPr>
            <p:cNvPr id="6" name="AutoShape 3"/>
            <p:cNvSpPr>
              <a:spLocks noChangeAspect="1" noChangeArrowheads="1" noTextEdit="1"/>
            </p:cNvSpPr>
            <p:nvPr userDrawn="1"/>
          </p:nvSpPr>
          <p:spPr bwMode="auto">
            <a:xfrm>
              <a:off x="5" y="0"/>
              <a:ext cx="5750" cy="43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Freeform 5"/>
            <p:cNvSpPr>
              <a:spLocks/>
            </p:cNvSpPr>
            <p:nvPr userDrawn="1"/>
          </p:nvSpPr>
          <p:spPr bwMode="auto">
            <a:xfrm>
              <a:off x="5" y="288"/>
              <a:ext cx="2875" cy="1871"/>
            </a:xfrm>
            <a:custGeom>
              <a:avLst/>
              <a:gdLst>
                <a:gd name="T0" fmla="*/ 2875 w 2875"/>
                <a:gd name="T1" fmla="*/ 0 h 1871"/>
                <a:gd name="T2" fmla="*/ 2875 w 2875"/>
                <a:gd name="T3" fmla="*/ 1871 h 1871"/>
                <a:gd name="T4" fmla="*/ 0 w 2875"/>
                <a:gd name="T5" fmla="*/ 1871 h 1871"/>
                <a:gd name="T6" fmla="*/ 0 w 2875"/>
                <a:gd name="T7" fmla="*/ 0 h 1871"/>
                <a:gd name="T8" fmla="*/ 2875 w 2875"/>
                <a:gd name="T9" fmla="*/ 0 h 1871"/>
                <a:gd name="T10" fmla="*/ 2875 w 2875"/>
                <a:gd name="T11" fmla="*/ 0 h 18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875" h="1871">
                  <a:moveTo>
                    <a:pt x="2875" y="0"/>
                  </a:moveTo>
                  <a:lnTo>
                    <a:pt x="2875" y="1871"/>
                  </a:lnTo>
                  <a:lnTo>
                    <a:pt x="0" y="1871"/>
                  </a:lnTo>
                  <a:lnTo>
                    <a:pt x="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3D393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Freeform 6"/>
            <p:cNvSpPr>
              <a:spLocks/>
            </p:cNvSpPr>
            <p:nvPr userDrawn="1"/>
          </p:nvSpPr>
          <p:spPr bwMode="auto">
            <a:xfrm>
              <a:off x="2880" y="2159"/>
              <a:ext cx="2875" cy="2159"/>
            </a:xfrm>
            <a:custGeom>
              <a:avLst/>
              <a:gdLst>
                <a:gd name="T0" fmla="*/ 2875 w 2875"/>
                <a:gd name="T1" fmla="*/ 0 h 2159"/>
                <a:gd name="T2" fmla="*/ 2875 w 2875"/>
                <a:gd name="T3" fmla="*/ 1869 h 2159"/>
                <a:gd name="T4" fmla="*/ 290 w 2875"/>
                <a:gd name="T5" fmla="*/ 1869 h 2159"/>
                <a:gd name="T6" fmla="*/ 0 w 2875"/>
                <a:gd name="T7" fmla="*/ 2159 h 2159"/>
                <a:gd name="T8" fmla="*/ 0 w 2875"/>
                <a:gd name="T9" fmla="*/ 0 h 2159"/>
                <a:gd name="T10" fmla="*/ 2875 w 2875"/>
                <a:gd name="T11" fmla="*/ 0 h 2159"/>
                <a:gd name="T12" fmla="*/ 2875 w 2875"/>
                <a:gd name="T13" fmla="*/ 0 h 2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875" h="2159">
                  <a:moveTo>
                    <a:pt x="2875" y="0"/>
                  </a:moveTo>
                  <a:lnTo>
                    <a:pt x="2875" y="1869"/>
                  </a:lnTo>
                  <a:lnTo>
                    <a:pt x="290" y="1869"/>
                  </a:lnTo>
                  <a:lnTo>
                    <a:pt x="0" y="2159"/>
                  </a:lnTo>
                  <a:lnTo>
                    <a:pt x="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F2120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Freeform 7"/>
            <p:cNvSpPr>
              <a:spLocks/>
            </p:cNvSpPr>
            <p:nvPr userDrawn="1"/>
          </p:nvSpPr>
          <p:spPr bwMode="auto">
            <a:xfrm>
              <a:off x="5" y="2159"/>
              <a:ext cx="2875" cy="2155"/>
            </a:xfrm>
            <a:custGeom>
              <a:avLst/>
              <a:gdLst>
                <a:gd name="T0" fmla="*/ 2875 w 2875"/>
                <a:gd name="T1" fmla="*/ 0 h 2155"/>
                <a:gd name="T2" fmla="*/ 2875 w 2875"/>
                <a:gd name="T3" fmla="*/ 2155 h 2155"/>
                <a:gd name="T4" fmla="*/ 0 w 2875"/>
                <a:gd name="T5" fmla="*/ 2155 h 2155"/>
                <a:gd name="T6" fmla="*/ 0 w 2875"/>
                <a:gd name="T7" fmla="*/ 0 h 2155"/>
                <a:gd name="T8" fmla="*/ 2875 w 2875"/>
                <a:gd name="T9" fmla="*/ 0 h 2155"/>
                <a:gd name="T10" fmla="*/ 2875 w 2875"/>
                <a:gd name="T11" fmla="*/ 0 h 21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875" h="2155">
                  <a:moveTo>
                    <a:pt x="2875" y="0"/>
                  </a:moveTo>
                  <a:lnTo>
                    <a:pt x="2875" y="2155"/>
                  </a:lnTo>
                  <a:lnTo>
                    <a:pt x="0" y="2155"/>
                  </a:lnTo>
                  <a:lnTo>
                    <a:pt x="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8C857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" name="Freeform 8"/>
            <p:cNvSpPr>
              <a:spLocks/>
            </p:cNvSpPr>
            <p:nvPr userDrawn="1"/>
          </p:nvSpPr>
          <p:spPr bwMode="auto">
            <a:xfrm>
              <a:off x="2880" y="-2"/>
              <a:ext cx="2875" cy="2161"/>
            </a:xfrm>
            <a:custGeom>
              <a:avLst/>
              <a:gdLst>
                <a:gd name="T0" fmla="*/ 2875 w 2875"/>
                <a:gd name="T1" fmla="*/ 0 h 2161"/>
                <a:gd name="T2" fmla="*/ 2875 w 2875"/>
                <a:gd name="T3" fmla="*/ 2161 h 2161"/>
                <a:gd name="T4" fmla="*/ 0 w 2875"/>
                <a:gd name="T5" fmla="*/ 2161 h 2161"/>
                <a:gd name="T6" fmla="*/ 0 w 2875"/>
                <a:gd name="T7" fmla="*/ 290 h 2161"/>
                <a:gd name="T8" fmla="*/ 290 w 2875"/>
                <a:gd name="T9" fmla="*/ 0 h 2161"/>
                <a:gd name="T10" fmla="*/ 2875 w 2875"/>
                <a:gd name="T11" fmla="*/ 0 h 2161"/>
                <a:gd name="T12" fmla="*/ 2875 w 2875"/>
                <a:gd name="T13" fmla="*/ 0 h 21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875" h="2161">
                  <a:moveTo>
                    <a:pt x="2875" y="0"/>
                  </a:moveTo>
                  <a:lnTo>
                    <a:pt x="2875" y="2161"/>
                  </a:lnTo>
                  <a:lnTo>
                    <a:pt x="0" y="2161"/>
                  </a:lnTo>
                  <a:lnTo>
                    <a:pt x="0" y="290"/>
                  </a:lnTo>
                  <a:lnTo>
                    <a:pt x="29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Freeform 9"/>
            <p:cNvSpPr>
              <a:spLocks/>
            </p:cNvSpPr>
            <p:nvPr userDrawn="1"/>
          </p:nvSpPr>
          <p:spPr bwMode="auto">
            <a:xfrm>
              <a:off x="4659" y="234"/>
              <a:ext cx="182" cy="233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Freeform 10"/>
            <p:cNvSpPr>
              <a:spLocks/>
            </p:cNvSpPr>
            <p:nvPr userDrawn="1"/>
          </p:nvSpPr>
          <p:spPr bwMode="auto">
            <a:xfrm>
              <a:off x="4693" y="262"/>
              <a:ext cx="114" cy="149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Freeform 11"/>
            <p:cNvSpPr>
              <a:spLocks/>
            </p:cNvSpPr>
            <p:nvPr userDrawn="1"/>
          </p:nvSpPr>
          <p:spPr bwMode="auto">
            <a:xfrm>
              <a:off x="4709" y="294"/>
              <a:ext cx="82" cy="97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Freeform 12"/>
            <p:cNvSpPr>
              <a:spLocks noEditPoints="1"/>
            </p:cNvSpPr>
            <p:nvPr userDrawn="1"/>
          </p:nvSpPr>
          <p:spPr bwMode="auto">
            <a:xfrm>
              <a:off x="4659" y="503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Freeform 13"/>
            <p:cNvSpPr>
              <a:spLocks/>
            </p:cNvSpPr>
            <p:nvPr userDrawn="1"/>
          </p:nvSpPr>
          <p:spPr bwMode="auto">
            <a:xfrm>
              <a:off x="4695" y="503"/>
              <a:ext cx="28" cy="32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Freeform 14"/>
            <p:cNvSpPr>
              <a:spLocks/>
            </p:cNvSpPr>
            <p:nvPr userDrawn="1"/>
          </p:nvSpPr>
          <p:spPr bwMode="auto">
            <a:xfrm>
              <a:off x="4729" y="501"/>
              <a:ext cx="26" cy="34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" name="Freeform 15"/>
            <p:cNvSpPr>
              <a:spLocks/>
            </p:cNvSpPr>
            <p:nvPr userDrawn="1"/>
          </p:nvSpPr>
          <p:spPr bwMode="auto">
            <a:xfrm>
              <a:off x="4759" y="503"/>
              <a:ext cx="26" cy="32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2" name="Freeform 16"/>
            <p:cNvSpPr>
              <a:spLocks noEditPoints="1"/>
            </p:cNvSpPr>
            <p:nvPr userDrawn="1"/>
          </p:nvSpPr>
          <p:spPr bwMode="auto">
            <a:xfrm>
              <a:off x="4791" y="503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Freeform 17"/>
            <p:cNvSpPr>
              <a:spLocks noEditPoints="1"/>
            </p:cNvSpPr>
            <p:nvPr userDrawn="1"/>
          </p:nvSpPr>
          <p:spPr bwMode="auto">
            <a:xfrm>
              <a:off x="4821" y="503"/>
              <a:ext cx="34" cy="32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4" name="Freeform 18"/>
            <p:cNvSpPr>
              <a:spLocks/>
            </p:cNvSpPr>
            <p:nvPr userDrawn="1"/>
          </p:nvSpPr>
          <p:spPr bwMode="auto">
            <a:xfrm>
              <a:off x="4859" y="503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" name="Freeform 19"/>
            <p:cNvSpPr>
              <a:spLocks/>
            </p:cNvSpPr>
            <p:nvPr userDrawn="1"/>
          </p:nvSpPr>
          <p:spPr bwMode="auto">
            <a:xfrm>
              <a:off x="4887" y="503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Freeform 20"/>
            <p:cNvSpPr>
              <a:spLocks noEditPoints="1"/>
            </p:cNvSpPr>
            <p:nvPr userDrawn="1"/>
          </p:nvSpPr>
          <p:spPr bwMode="auto">
            <a:xfrm>
              <a:off x="4897" y="503"/>
              <a:ext cx="33" cy="32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Freeform 21"/>
            <p:cNvSpPr>
              <a:spLocks/>
            </p:cNvSpPr>
            <p:nvPr userDrawn="1"/>
          </p:nvSpPr>
          <p:spPr bwMode="auto">
            <a:xfrm>
              <a:off x="4936" y="503"/>
              <a:ext cx="26" cy="32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Freeform 22"/>
            <p:cNvSpPr>
              <a:spLocks/>
            </p:cNvSpPr>
            <p:nvPr userDrawn="1"/>
          </p:nvSpPr>
          <p:spPr bwMode="auto">
            <a:xfrm>
              <a:off x="4986" y="501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" name="Freeform 23"/>
            <p:cNvSpPr>
              <a:spLocks noEditPoints="1"/>
            </p:cNvSpPr>
            <p:nvPr userDrawn="1"/>
          </p:nvSpPr>
          <p:spPr bwMode="auto">
            <a:xfrm>
              <a:off x="5018" y="503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0" name="Freeform 24"/>
            <p:cNvSpPr>
              <a:spLocks/>
            </p:cNvSpPr>
            <p:nvPr userDrawn="1"/>
          </p:nvSpPr>
          <p:spPr bwMode="auto">
            <a:xfrm>
              <a:off x="5050" y="503"/>
              <a:ext cx="28" cy="32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Freeform 25"/>
            <p:cNvSpPr>
              <a:spLocks/>
            </p:cNvSpPr>
            <p:nvPr userDrawn="1"/>
          </p:nvSpPr>
          <p:spPr bwMode="auto">
            <a:xfrm>
              <a:off x="5082" y="503"/>
              <a:ext cx="28" cy="32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" name="Freeform 26"/>
            <p:cNvSpPr>
              <a:spLocks noEditPoints="1"/>
            </p:cNvSpPr>
            <p:nvPr userDrawn="1"/>
          </p:nvSpPr>
          <p:spPr bwMode="auto">
            <a:xfrm>
              <a:off x="5116" y="501"/>
              <a:ext cx="32" cy="34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3" name="Freeform 27"/>
            <p:cNvSpPr>
              <a:spLocks/>
            </p:cNvSpPr>
            <p:nvPr userDrawn="1"/>
          </p:nvSpPr>
          <p:spPr bwMode="auto">
            <a:xfrm>
              <a:off x="5154" y="503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4" name="Freeform 28"/>
            <p:cNvSpPr>
              <a:spLocks/>
            </p:cNvSpPr>
            <p:nvPr userDrawn="1"/>
          </p:nvSpPr>
          <p:spPr bwMode="auto">
            <a:xfrm>
              <a:off x="5182" y="503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5" name="Freeform 29"/>
            <p:cNvSpPr>
              <a:spLocks/>
            </p:cNvSpPr>
            <p:nvPr userDrawn="1"/>
          </p:nvSpPr>
          <p:spPr bwMode="auto">
            <a:xfrm>
              <a:off x="5192" y="501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6" name="Freeform 30"/>
            <p:cNvSpPr>
              <a:spLocks/>
            </p:cNvSpPr>
            <p:nvPr userDrawn="1"/>
          </p:nvSpPr>
          <p:spPr bwMode="auto">
            <a:xfrm>
              <a:off x="5244" y="503"/>
              <a:ext cx="26" cy="32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7" name="Freeform 31"/>
            <p:cNvSpPr>
              <a:spLocks/>
            </p:cNvSpPr>
            <p:nvPr userDrawn="1"/>
          </p:nvSpPr>
          <p:spPr bwMode="auto">
            <a:xfrm>
              <a:off x="5280" y="503"/>
              <a:ext cx="26" cy="32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" name="Freeform 32"/>
            <p:cNvSpPr>
              <a:spLocks/>
            </p:cNvSpPr>
            <p:nvPr userDrawn="1"/>
          </p:nvSpPr>
          <p:spPr bwMode="auto">
            <a:xfrm>
              <a:off x="5314" y="503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9" name="Freeform 33"/>
            <p:cNvSpPr>
              <a:spLocks/>
            </p:cNvSpPr>
            <p:nvPr userDrawn="1"/>
          </p:nvSpPr>
          <p:spPr bwMode="auto">
            <a:xfrm>
              <a:off x="5326" y="503"/>
              <a:ext cx="32" cy="32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0" name="Freeform 34"/>
            <p:cNvSpPr>
              <a:spLocks/>
            </p:cNvSpPr>
            <p:nvPr userDrawn="1"/>
          </p:nvSpPr>
          <p:spPr bwMode="auto">
            <a:xfrm>
              <a:off x="5362" y="503"/>
              <a:ext cx="24" cy="32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1" name="Freeform 35"/>
            <p:cNvSpPr>
              <a:spLocks noEditPoints="1"/>
            </p:cNvSpPr>
            <p:nvPr userDrawn="1"/>
          </p:nvSpPr>
          <p:spPr bwMode="auto">
            <a:xfrm>
              <a:off x="5394" y="503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2" name="Freeform 36"/>
            <p:cNvSpPr>
              <a:spLocks/>
            </p:cNvSpPr>
            <p:nvPr userDrawn="1"/>
          </p:nvSpPr>
          <p:spPr bwMode="auto">
            <a:xfrm>
              <a:off x="5424" y="501"/>
              <a:ext cx="28" cy="34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3" name="Freeform 37"/>
            <p:cNvSpPr>
              <a:spLocks/>
            </p:cNvSpPr>
            <p:nvPr userDrawn="1"/>
          </p:nvSpPr>
          <p:spPr bwMode="auto">
            <a:xfrm>
              <a:off x="5458" y="503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4" name="Freeform 38"/>
            <p:cNvSpPr>
              <a:spLocks/>
            </p:cNvSpPr>
            <p:nvPr userDrawn="1"/>
          </p:nvSpPr>
          <p:spPr bwMode="auto">
            <a:xfrm>
              <a:off x="5470" y="503"/>
              <a:ext cx="53" cy="32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5" name="Freeform 39"/>
            <p:cNvSpPr>
              <a:spLocks/>
            </p:cNvSpPr>
            <p:nvPr userDrawn="1"/>
          </p:nvSpPr>
          <p:spPr bwMode="auto">
            <a:xfrm>
              <a:off x="5340" y="234"/>
              <a:ext cx="183" cy="229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6" name="Freeform 40"/>
            <p:cNvSpPr>
              <a:spLocks/>
            </p:cNvSpPr>
            <p:nvPr userDrawn="1"/>
          </p:nvSpPr>
          <p:spPr bwMode="auto">
            <a:xfrm>
              <a:off x="5096" y="230"/>
              <a:ext cx="212" cy="233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7" name="Freeform 41"/>
            <p:cNvSpPr>
              <a:spLocks noEditPoints="1"/>
            </p:cNvSpPr>
            <p:nvPr userDrawn="1"/>
          </p:nvSpPr>
          <p:spPr bwMode="auto">
            <a:xfrm>
              <a:off x="4885" y="234"/>
              <a:ext cx="207" cy="225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003513" y="1366463"/>
            <a:ext cx="3770617" cy="1137024"/>
          </a:xfrm>
        </p:spPr>
        <p:txBody>
          <a:bodyPr anchor="b">
            <a:normAutofit/>
          </a:bodyPr>
          <a:lstStyle>
            <a:lvl1pPr algn="l">
              <a:defRPr sz="386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003513" y="2503487"/>
            <a:ext cx="3770617" cy="599309"/>
          </a:xfrm>
        </p:spPr>
        <p:txBody>
          <a:bodyPr anchor="b">
            <a:noAutofit/>
          </a:bodyPr>
          <a:lstStyle>
            <a:lvl1pPr marL="0" indent="0" algn="l">
              <a:buNone/>
              <a:defRPr sz="1863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Subheading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5003800" y="3944938"/>
            <a:ext cx="3770313" cy="294882"/>
          </a:xfrm>
        </p:spPr>
        <p:txBody>
          <a:bodyPr>
            <a:normAutofit/>
          </a:bodyPr>
          <a:lstStyle>
            <a:lvl1pPr marL="0" indent="0">
              <a:buNone/>
              <a:defRPr sz="1597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Presenter Name</a:t>
            </a:r>
          </a:p>
        </p:txBody>
      </p:sp>
      <p:sp>
        <p:nvSpPr>
          <p:cNvPr id="9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003800" y="4239820"/>
            <a:ext cx="3770313" cy="328773"/>
          </a:xfrm>
        </p:spPr>
        <p:txBody>
          <a:bodyPr>
            <a:normAutofit/>
          </a:bodyPr>
          <a:lstStyle>
            <a:lvl1pPr marL="0" indent="0">
              <a:buNone/>
              <a:defRPr sz="1597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Date</a:t>
            </a:r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2"/>
          </p:nvPr>
        </p:nvSpPr>
        <p:spPr>
          <a:xfrm>
            <a:off x="0" y="469901"/>
            <a:ext cx="4565649" cy="2952750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Drag picture to placeholder or click icon to add</a:t>
            </a:r>
            <a:endParaRPr lang="en-AU" dirty="0"/>
          </a:p>
        </p:txBody>
      </p:sp>
      <p:sp>
        <p:nvSpPr>
          <p:cNvPr id="13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0" y="3422650"/>
            <a:ext cx="4565649" cy="3435349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Drag picture to placeholder or click icon to add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777774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co-brand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873125" y="2658154"/>
            <a:ext cx="3867150" cy="580346"/>
          </a:xfrm>
        </p:spPr>
        <p:txBody>
          <a:bodyPr anchor="b">
            <a:noAutofit/>
          </a:bodyPr>
          <a:lstStyle>
            <a:lvl1pPr>
              <a:defRPr sz="386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7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873125" y="3652838"/>
            <a:ext cx="3867150" cy="447675"/>
          </a:xfrm>
        </p:spPr>
        <p:txBody>
          <a:bodyPr anchor="b">
            <a:noAutofit/>
          </a:bodyPr>
          <a:lstStyle>
            <a:lvl1pPr marL="0" indent="0" algn="l">
              <a:buNone/>
              <a:defRPr sz="1863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Subheading</a:t>
            </a:r>
          </a:p>
        </p:txBody>
      </p:sp>
      <p:sp>
        <p:nvSpPr>
          <p:cNvPr id="8" name="Text Placeholder 7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73125" y="5316538"/>
            <a:ext cx="3770313" cy="294882"/>
          </a:xfrm>
        </p:spPr>
        <p:txBody>
          <a:bodyPr>
            <a:normAutofit/>
          </a:bodyPr>
          <a:lstStyle>
            <a:lvl1pPr marL="0" indent="0">
              <a:buNone/>
              <a:defRPr sz="1597" b="1" baseline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Presenter Name</a:t>
            </a:r>
          </a:p>
        </p:txBody>
      </p:sp>
      <p:sp>
        <p:nvSpPr>
          <p:cNvPr id="9" name="Text Placeholder 7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873125" y="5611420"/>
            <a:ext cx="3770313" cy="328773"/>
          </a:xfrm>
        </p:spPr>
        <p:txBody>
          <a:bodyPr>
            <a:normAutofit/>
          </a:bodyPr>
          <a:lstStyle>
            <a:lvl1pPr marL="0" indent="0">
              <a:buNone/>
              <a:defRPr sz="1597" baseline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Date</a:t>
            </a:r>
          </a:p>
        </p:txBody>
      </p:sp>
      <p:sp>
        <p:nvSpPr>
          <p:cNvPr id="44" name="Picture Placeholder 85"/>
          <p:cNvSpPr>
            <a:spLocks noGrp="1"/>
          </p:cNvSpPr>
          <p:nvPr userDrawn="1">
            <p:ph type="pic" sz="quarter" idx="13" hasCustomPrompt="1"/>
          </p:nvPr>
        </p:nvSpPr>
        <p:spPr>
          <a:xfrm>
            <a:off x="6639194" y="2653276"/>
            <a:ext cx="1766125" cy="502731"/>
          </a:xfrm>
        </p:spPr>
        <p:txBody>
          <a:bodyPr/>
          <a:lstStyle>
            <a:lvl1pPr marL="0" indent="0">
              <a:buNone/>
              <a:defRPr sz="12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Drag co-branded logo to placeholder or click icon to add</a:t>
            </a:r>
            <a:endParaRPr lang="en-AU" dirty="0"/>
          </a:p>
        </p:txBody>
      </p:sp>
      <p:grpSp>
        <p:nvGrpSpPr>
          <p:cNvPr id="45" name="Group 44"/>
          <p:cNvGrpSpPr/>
          <p:nvPr userDrawn="1"/>
        </p:nvGrpSpPr>
        <p:grpSpPr>
          <a:xfrm>
            <a:off x="7401258" y="6092825"/>
            <a:ext cx="1374019" cy="484188"/>
            <a:chOff x="7401258" y="365125"/>
            <a:chExt cx="1374019" cy="484188"/>
          </a:xfrm>
        </p:grpSpPr>
        <p:sp>
          <p:nvSpPr>
            <p:cNvPr id="46" name="Freeform 7"/>
            <p:cNvSpPr>
              <a:spLocks/>
            </p:cNvSpPr>
            <p:nvPr userDrawn="1"/>
          </p:nvSpPr>
          <p:spPr bwMode="auto">
            <a:xfrm>
              <a:off x="7401258" y="371475"/>
              <a:ext cx="289435" cy="369888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7" name="Freeform 8"/>
            <p:cNvSpPr>
              <a:spLocks/>
            </p:cNvSpPr>
            <p:nvPr userDrawn="1"/>
          </p:nvSpPr>
          <p:spPr bwMode="auto">
            <a:xfrm>
              <a:off x="7455328" y="415925"/>
              <a:ext cx="181294" cy="236538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8" name="Freeform 9"/>
            <p:cNvSpPr>
              <a:spLocks/>
            </p:cNvSpPr>
            <p:nvPr userDrawn="1"/>
          </p:nvSpPr>
          <p:spPr bwMode="auto">
            <a:xfrm>
              <a:off x="7480773" y="466725"/>
              <a:ext cx="130405" cy="15398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Freeform 10"/>
            <p:cNvSpPr>
              <a:spLocks noEditPoints="1"/>
            </p:cNvSpPr>
            <p:nvPr userDrawn="1"/>
          </p:nvSpPr>
          <p:spPr bwMode="auto">
            <a:xfrm>
              <a:off x="7401258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Freeform 11"/>
            <p:cNvSpPr>
              <a:spLocks/>
            </p:cNvSpPr>
            <p:nvPr userDrawn="1"/>
          </p:nvSpPr>
          <p:spPr bwMode="auto">
            <a:xfrm>
              <a:off x="7458509" y="798513"/>
              <a:ext cx="44528" cy="50800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Freeform 12"/>
            <p:cNvSpPr>
              <a:spLocks/>
            </p:cNvSpPr>
            <p:nvPr userDrawn="1"/>
          </p:nvSpPr>
          <p:spPr bwMode="auto">
            <a:xfrm>
              <a:off x="7512579" y="795338"/>
              <a:ext cx="41348" cy="53975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" name="Freeform 13"/>
            <p:cNvSpPr>
              <a:spLocks/>
            </p:cNvSpPr>
            <p:nvPr userDrawn="1"/>
          </p:nvSpPr>
          <p:spPr bwMode="auto">
            <a:xfrm>
              <a:off x="7560288" y="798513"/>
              <a:ext cx="41348" cy="50800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Freeform 14"/>
            <p:cNvSpPr>
              <a:spLocks noEditPoints="1"/>
            </p:cNvSpPr>
            <p:nvPr userDrawn="1"/>
          </p:nvSpPr>
          <p:spPr bwMode="auto">
            <a:xfrm>
              <a:off x="7611177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Freeform 15"/>
            <p:cNvSpPr>
              <a:spLocks noEditPoints="1"/>
            </p:cNvSpPr>
            <p:nvPr userDrawn="1"/>
          </p:nvSpPr>
          <p:spPr bwMode="auto">
            <a:xfrm>
              <a:off x="7658886" y="798513"/>
              <a:ext cx="54070" cy="50800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Freeform 16"/>
            <p:cNvSpPr>
              <a:spLocks/>
            </p:cNvSpPr>
            <p:nvPr userDrawn="1"/>
          </p:nvSpPr>
          <p:spPr bwMode="auto">
            <a:xfrm>
              <a:off x="7719318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Freeform 17"/>
            <p:cNvSpPr>
              <a:spLocks/>
            </p:cNvSpPr>
            <p:nvPr userDrawn="1"/>
          </p:nvSpPr>
          <p:spPr bwMode="auto">
            <a:xfrm>
              <a:off x="7763846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Freeform 18"/>
            <p:cNvSpPr>
              <a:spLocks noEditPoints="1"/>
            </p:cNvSpPr>
            <p:nvPr userDrawn="1"/>
          </p:nvSpPr>
          <p:spPr bwMode="auto">
            <a:xfrm>
              <a:off x="7779749" y="798513"/>
              <a:ext cx="52480" cy="50800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5" name="Freeform 19"/>
            <p:cNvSpPr>
              <a:spLocks/>
            </p:cNvSpPr>
            <p:nvPr userDrawn="1"/>
          </p:nvSpPr>
          <p:spPr bwMode="auto">
            <a:xfrm>
              <a:off x="7841771" y="798513"/>
              <a:ext cx="41348" cy="50800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Freeform 20"/>
            <p:cNvSpPr>
              <a:spLocks/>
            </p:cNvSpPr>
            <p:nvPr userDrawn="1"/>
          </p:nvSpPr>
          <p:spPr bwMode="auto">
            <a:xfrm>
              <a:off x="7921286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Freeform 21"/>
            <p:cNvSpPr>
              <a:spLocks noEditPoints="1"/>
            </p:cNvSpPr>
            <p:nvPr userDrawn="1"/>
          </p:nvSpPr>
          <p:spPr bwMode="auto">
            <a:xfrm>
              <a:off x="7972176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Freeform 22"/>
            <p:cNvSpPr>
              <a:spLocks/>
            </p:cNvSpPr>
            <p:nvPr userDrawn="1"/>
          </p:nvSpPr>
          <p:spPr bwMode="auto">
            <a:xfrm>
              <a:off x="8023065" y="798513"/>
              <a:ext cx="44528" cy="50800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Freeform 23"/>
            <p:cNvSpPr>
              <a:spLocks/>
            </p:cNvSpPr>
            <p:nvPr userDrawn="1"/>
          </p:nvSpPr>
          <p:spPr bwMode="auto">
            <a:xfrm>
              <a:off x="8073955" y="798513"/>
              <a:ext cx="44528" cy="50800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0" name="Freeform 24"/>
            <p:cNvSpPr>
              <a:spLocks noEditPoints="1"/>
            </p:cNvSpPr>
            <p:nvPr userDrawn="1"/>
          </p:nvSpPr>
          <p:spPr bwMode="auto">
            <a:xfrm>
              <a:off x="8128025" y="795338"/>
              <a:ext cx="50890" cy="53975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1" name="Freeform 25"/>
            <p:cNvSpPr>
              <a:spLocks/>
            </p:cNvSpPr>
            <p:nvPr userDrawn="1"/>
          </p:nvSpPr>
          <p:spPr bwMode="auto">
            <a:xfrm>
              <a:off x="8188456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2" name="Freeform 26"/>
            <p:cNvSpPr>
              <a:spLocks/>
            </p:cNvSpPr>
            <p:nvPr userDrawn="1"/>
          </p:nvSpPr>
          <p:spPr bwMode="auto">
            <a:xfrm>
              <a:off x="8232985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" name="Freeform 27"/>
            <p:cNvSpPr>
              <a:spLocks/>
            </p:cNvSpPr>
            <p:nvPr userDrawn="1"/>
          </p:nvSpPr>
          <p:spPr bwMode="auto">
            <a:xfrm>
              <a:off x="8248888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4" name="Freeform 28"/>
            <p:cNvSpPr>
              <a:spLocks/>
            </p:cNvSpPr>
            <p:nvPr userDrawn="1"/>
          </p:nvSpPr>
          <p:spPr bwMode="auto">
            <a:xfrm>
              <a:off x="8331584" y="798513"/>
              <a:ext cx="41348" cy="50800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Freeform 29"/>
            <p:cNvSpPr>
              <a:spLocks/>
            </p:cNvSpPr>
            <p:nvPr userDrawn="1"/>
          </p:nvSpPr>
          <p:spPr bwMode="auto">
            <a:xfrm>
              <a:off x="8388834" y="798513"/>
              <a:ext cx="41348" cy="50800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6" name="Freeform 30"/>
            <p:cNvSpPr>
              <a:spLocks/>
            </p:cNvSpPr>
            <p:nvPr userDrawn="1"/>
          </p:nvSpPr>
          <p:spPr bwMode="auto">
            <a:xfrm>
              <a:off x="8442905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Freeform 31"/>
            <p:cNvSpPr>
              <a:spLocks/>
            </p:cNvSpPr>
            <p:nvPr userDrawn="1"/>
          </p:nvSpPr>
          <p:spPr bwMode="auto">
            <a:xfrm>
              <a:off x="8461988" y="798513"/>
              <a:ext cx="50890" cy="50800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8" name="Freeform 32"/>
            <p:cNvSpPr>
              <a:spLocks/>
            </p:cNvSpPr>
            <p:nvPr userDrawn="1"/>
          </p:nvSpPr>
          <p:spPr bwMode="auto">
            <a:xfrm>
              <a:off x="8519239" y="798513"/>
              <a:ext cx="38167" cy="50800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9" name="Freeform 33"/>
            <p:cNvSpPr>
              <a:spLocks noEditPoints="1"/>
            </p:cNvSpPr>
            <p:nvPr userDrawn="1"/>
          </p:nvSpPr>
          <p:spPr bwMode="auto">
            <a:xfrm>
              <a:off x="8570129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0" name="Freeform 34"/>
            <p:cNvSpPr>
              <a:spLocks/>
            </p:cNvSpPr>
            <p:nvPr userDrawn="1"/>
          </p:nvSpPr>
          <p:spPr bwMode="auto">
            <a:xfrm>
              <a:off x="8617838" y="795338"/>
              <a:ext cx="44528" cy="53975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1" name="Freeform 35"/>
            <p:cNvSpPr>
              <a:spLocks/>
            </p:cNvSpPr>
            <p:nvPr userDrawn="1"/>
          </p:nvSpPr>
          <p:spPr bwMode="auto">
            <a:xfrm>
              <a:off x="8671908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2" name="Freeform 36"/>
            <p:cNvSpPr>
              <a:spLocks/>
            </p:cNvSpPr>
            <p:nvPr userDrawn="1"/>
          </p:nvSpPr>
          <p:spPr bwMode="auto">
            <a:xfrm>
              <a:off x="8690991" y="798513"/>
              <a:ext cx="84286" cy="50800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3" name="Freeform 37"/>
            <p:cNvSpPr>
              <a:spLocks/>
            </p:cNvSpPr>
            <p:nvPr userDrawn="1"/>
          </p:nvSpPr>
          <p:spPr bwMode="auto">
            <a:xfrm>
              <a:off x="8484252" y="371475"/>
              <a:ext cx="291025" cy="363538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4" name="Freeform 38"/>
            <p:cNvSpPr>
              <a:spLocks/>
            </p:cNvSpPr>
            <p:nvPr userDrawn="1"/>
          </p:nvSpPr>
          <p:spPr bwMode="auto">
            <a:xfrm>
              <a:off x="8096219" y="365125"/>
              <a:ext cx="337144" cy="369888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5" name="Freeform 39"/>
            <p:cNvSpPr>
              <a:spLocks noEditPoints="1"/>
            </p:cNvSpPr>
            <p:nvPr userDrawn="1"/>
          </p:nvSpPr>
          <p:spPr bwMode="auto">
            <a:xfrm>
              <a:off x="7760666" y="371475"/>
              <a:ext cx="329192" cy="357188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788784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5" name="AutoShape 3"/>
          <p:cNvSpPr>
            <a:spLocks noChangeAspect="1" noChangeArrowheads="1" noTextEdit="1"/>
          </p:cNvSpPr>
          <p:nvPr userDrawn="1"/>
        </p:nvSpPr>
        <p:spPr bwMode="auto">
          <a:xfrm>
            <a:off x="0" y="0"/>
            <a:ext cx="9144227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Freeform 5"/>
          <p:cNvSpPr>
            <a:spLocks/>
          </p:cNvSpPr>
          <p:nvPr userDrawn="1"/>
        </p:nvSpPr>
        <p:spPr bwMode="auto">
          <a:xfrm>
            <a:off x="0" y="457200"/>
            <a:ext cx="4572114" cy="6388100"/>
          </a:xfrm>
          <a:custGeom>
            <a:avLst/>
            <a:gdLst>
              <a:gd name="T0" fmla="*/ 2875 w 2875"/>
              <a:gd name="T1" fmla="*/ 0 h 4024"/>
              <a:gd name="T2" fmla="*/ 2875 w 2875"/>
              <a:gd name="T3" fmla="*/ 4024 h 4024"/>
              <a:gd name="T4" fmla="*/ 0 w 2875"/>
              <a:gd name="T5" fmla="*/ 4024 h 4024"/>
              <a:gd name="T6" fmla="*/ 0 w 2875"/>
              <a:gd name="T7" fmla="*/ 0 h 4024"/>
              <a:gd name="T8" fmla="*/ 2875 w 2875"/>
              <a:gd name="T9" fmla="*/ 0 h 4024"/>
              <a:gd name="T10" fmla="*/ 2875 w 2875"/>
              <a:gd name="T11" fmla="*/ 0 h 40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2875" h="4024">
                <a:moveTo>
                  <a:pt x="2875" y="0"/>
                </a:moveTo>
                <a:lnTo>
                  <a:pt x="2875" y="4024"/>
                </a:lnTo>
                <a:lnTo>
                  <a:pt x="0" y="4024"/>
                </a:lnTo>
                <a:lnTo>
                  <a:pt x="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8C857B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Freeform 6"/>
          <p:cNvSpPr>
            <a:spLocks/>
          </p:cNvSpPr>
          <p:nvPr userDrawn="1"/>
        </p:nvSpPr>
        <p:spPr bwMode="auto">
          <a:xfrm>
            <a:off x="4572114" y="-3175"/>
            <a:ext cx="4572114" cy="6858000"/>
          </a:xfrm>
          <a:custGeom>
            <a:avLst/>
            <a:gdLst>
              <a:gd name="T0" fmla="*/ 2875 w 2875"/>
              <a:gd name="T1" fmla="*/ 0 h 4320"/>
              <a:gd name="T2" fmla="*/ 2875 w 2875"/>
              <a:gd name="T3" fmla="*/ 4030 h 4320"/>
              <a:gd name="T4" fmla="*/ 290 w 2875"/>
              <a:gd name="T5" fmla="*/ 4030 h 4320"/>
              <a:gd name="T6" fmla="*/ 0 w 2875"/>
              <a:gd name="T7" fmla="*/ 4320 h 4320"/>
              <a:gd name="T8" fmla="*/ 0 w 2875"/>
              <a:gd name="T9" fmla="*/ 290 h 4320"/>
              <a:gd name="T10" fmla="*/ 290 w 2875"/>
              <a:gd name="T11" fmla="*/ 0 h 4320"/>
              <a:gd name="T12" fmla="*/ 2875 w 2875"/>
              <a:gd name="T13" fmla="*/ 0 h 4320"/>
              <a:gd name="T14" fmla="*/ 2875 w 2875"/>
              <a:gd name="T15" fmla="*/ 0 h 43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875" h="4320">
                <a:moveTo>
                  <a:pt x="2875" y="0"/>
                </a:moveTo>
                <a:lnTo>
                  <a:pt x="2875" y="4030"/>
                </a:lnTo>
                <a:lnTo>
                  <a:pt x="290" y="4030"/>
                </a:lnTo>
                <a:lnTo>
                  <a:pt x="0" y="4320"/>
                </a:lnTo>
                <a:lnTo>
                  <a:pt x="0" y="290"/>
                </a:lnTo>
                <a:lnTo>
                  <a:pt x="29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" name="Group 1"/>
          <p:cNvGrpSpPr/>
          <p:nvPr userDrawn="1"/>
        </p:nvGrpSpPr>
        <p:grpSpPr>
          <a:xfrm>
            <a:off x="7401258" y="365125"/>
            <a:ext cx="1374019" cy="484188"/>
            <a:chOff x="7401258" y="365125"/>
            <a:chExt cx="1374019" cy="484188"/>
          </a:xfrm>
        </p:grpSpPr>
        <p:sp>
          <p:nvSpPr>
            <p:cNvPr id="48" name="Freeform 7"/>
            <p:cNvSpPr>
              <a:spLocks/>
            </p:cNvSpPr>
            <p:nvPr userDrawn="1"/>
          </p:nvSpPr>
          <p:spPr bwMode="auto">
            <a:xfrm>
              <a:off x="7401258" y="371475"/>
              <a:ext cx="289435" cy="369888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Freeform 8"/>
            <p:cNvSpPr>
              <a:spLocks/>
            </p:cNvSpPr>
            <p:nvPr userDrawn="1"/>
          </p:nvSpPr>
          <p:spPr bwMode="auto">
            <a:xfrm>
              <a:off x="7455328" y="415925"/>
              <a:ext cx="181294" cy="236538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Freeform 9"/>
            <p:cNvSpPr>
              <a:spLocks/>
            </p:cNvSpPr>
            <p:nvPr userDrawn="1"/>
          </p:nvSpPr>
          <p:spPr bwMode="auto">
            <a:xfrm>
              <a:off x="7480773" y="466725"/>
              <a:ext cx="130405" cy="15398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Freeform 10"/>
            <p:cNvSpPr>
              <a:spLocks noEditPoints="1"/>
            </p:cNvSpPr>
            <p:nvPr userDrawn="1"/>
          </p:nvSpPr>
          <p:spPr bwMode="auto">
            <a:xfrm>
              <a:off x="7401258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" name="Freeform 11"/>
            <p:cNvSpPr>
              <a:spLocks/>
            </p:cNvSpPr>
            <p:nvPr userDrawn="1"/>
          </p:nvSpPr>
          <p:spPr bwMode="auto">
            <a:xfrm>
              <a:off x="7458509" y="798513"/>
              <a:ext cx="44528" cy="50800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Freeform 12"/>
            <p:cNvSpPr>
              <a:spLocks/>
            </p:cNvSpPr>
            <p:nvPr userDrawn="1"/>
          </p:nvSpPr>
          <p:spPr bwMode="auto">
            <a:xfrm>
              <a:off x="7512579" y="795338"/>
              <a:ext cx="41348" cy="53975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Freeform 13"/>
            <p:cNvSpPr>
              <a:spLocks/>
            </p:cNvSpPr>
            <p:nvPr userDrawn="1"/>
          </p:nvSpPr>
          <p:spPr bwMode="auto">
            <a:xfrm>
              <a:off x="7560288" y="798513"/>
              <a:ext cx="41348" cy="50800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5" name="Freeform 14"/>
            <p:cNvSpPr>
              <a:spLocks noEditPoints="1"/>
            </p:cNvSpPr>
            <p:nvPr userDrawn="1"/>
          </p:nvSpPr>
          <p:spPr bwMode="auto">
            <a:xfrm>
              <a:off x="7611177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6" name="Freeform 15"/>
            <p:cNvSpPr>
              <a:spLocks noEditPoints="1"/>
            </p:cNvSpPr>
            <p:nvPr userDrawn="1"/>
          </p:nvSpPr>
          <p:spPr bwMode="auto">
            <a:xfrm>
              <a:off x="7658886" y="798513"/>
              <a:ext cx="54070" cy="50800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7" name="Freeform 16"/>
            <p:cNvSpPr>
              <a:spLocks/>
            </p:cNvSpPr>
            <p:nvPr userDrawn="1"/>
          </p:nvSpPr>
          <p:spPr bwMode="auto">
            <a:xfrm>
              <a:off x="7719318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" name="Freeform 17"/>
            <p:cNvSpPr>
              <a:spLocks/>
            </p:cNvSpPr>
            <p:nvPr userDrawn="1"/>
          </p:nvSpPr>
          <p:spPr bwMode="auto">
            <a:xfrm>
              <a:off x="7763846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9" name="Freeform 18"/>
            <p:cNvSpPr>
              <a:spLocks noEditPoints="1"/>
            </p:cNvSpPr>
            <p:nvPr userDrawn="1"/>
          </p:nvSpPr>
          <p:spPr bwMode="auto">
            <a:xfrm>
              <a:off x="7779749" y="798513"/>
              <a:ext cx="52480" cy="50800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" name="Freeform 19"/>
            <p:cNvSpPr>
              <a:spLocks/>
            </p:cNvSpPr>
            <p:nvPr userDrawn="1"/>
          </p:nvSpPr>
          <p:spPr bwMode="auto">
            <a:xfrm>
              <a:off x="7841771" y="798513"/>
              <a:ext cx="41348" cy="50800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1" name="Freeform 20"/>
            <p:cNvSpPr>
              <a:spLocks/>
            </p:cNvSpPr>
            <p:nvPr userDrawn="1"/>
          </p:nvSpPr>
          <p:spPr bwMode="auto">
            <a:xfrm>
              <a:off x="7921286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2" name="Freeform 21"/>
            <p:cNvSpPr>
              <a:spLocks noEditPoints="1"/>
            </p:cNvSpPr>
            <p:nvPr userDrawn="1"/>
          </p:nvSpPr>
          <p:spPr bwMode="auto">
            <a:xfrm>
              <a:off x="7972176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3" name="Freeform 22"/>
            <p:cNvSpPr>
              <a:spLocks/>
            </p:cNvSpPr>
            <p:nvPr userDrawn="1"/>
          </p:nvSpPr>
          <p:spPr bwMode="auto">
            <a:xfrm>
              <a:off x="8023065" y="798513"/>
              <a:ext cx="44528" cy="50800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4" name="Freeform 23"/>
            <p:cNvSpPr>
              <a:spLocks/>
            </p:cNvSpPr>
            <p:nvPr userDrawn="1"/>
          </p:nvSpPr>
          <p:spPr bwMode="auto">
            <a:xfrm>
              <a:off x="8073955" y="798513"/>
              <a:ext cx="44528" cy="50800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5" name="Freeform 24"/>
            <p:cNvSpPr>
              <a:spLocks noEditPoints="1"/>
            </p:cNvSpPr>
            <p:nvPr userDrawn="1"/>
          </p:nvSpPr>
          <p:spPr bwMode="auto">
            <a:xfrm>
              <a:off x="8128025" y="795338"/>
              <a:ext cx="50890" cy="53975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6" name="Freeform 25"/>
            <p:cNvSpPr>
              <a:spLocks/>
            </p:cNvSpPr>
            <p:nvPr userDrawn="1"/>
          </p:nvSpPr>
          <p:spPr bwMode="auto">
            <a:xfrm>
              <a:off x="8188456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7" name="Freeform 26"/>
            <p:cNvSpPr>
              <a:spLocks/>
            </p:cNvSpPr>
            <p:nvPr userDrawn="1"/>
          </p:nvSpPr>
          <p:spPr bwMode="auto">
            <a:xfrm>
              <a:off x="8232985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8" name="Freeform 27"/>
            <p:cNvSpPr>
              <a:spLocks/>
            </p:cNvSpPr>
            <p:nvPr userDrawn="1"/>
          </p:nvSpPr>
          <p:spPr bwMode="auto">
            <a:xfrm>
              <a:off x="8248888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9" name="Freeform 28"/>
            <p:cNvSpPr>
              <a:spLocks/>
            </p:cNvSpPr>
            <p:nvPr userDrawn="1"/>
          </p:nvSpPr>
          <p:spPr bwMode="auto">
            <a:xfrm>
              <a:off x="8331584" y="798513"/>
              <a:ext cx="41348" cy="50800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0" name="Freeform 29"/>
            <p:cNvSpPr>
              <a:spLocks/>
            </p:cNvSpPr>
            <p:nvPr userDrawn="1"/>
          </p:nvSpPr>
          <p:spPr bwMode="auto">
            <a:xfrm>
              <a:off x="8388834" y="798513"/>
              <a:ext cx="41348" cy="50800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1" name="Freeform 30"/>
            <p:cNvSpPr>
              <a:spLocks/>
            </p:cNvSpPr>
            <p:nvPr userDrawn="1"/>
          </p:nvSpPr>
          <p:spPr bwMode="auto">
            <a:xfrm>
              <a:off x="8442905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" name="Freeform 31"/>
            <p:cNvSpPr>
              <a:spLocks/>
            </p:cNvSpPr>
            <p:nvPr userDrawn="1"/>
          </p:nvSpPr>
          <p:spPr bwMode="auto">
            <a:xfrm>
              <a:off x="8461988" y="798513"/>
              <a:ext cx="50890" cy="50800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3" name="Freeform 32"/>
            <p:cNvSpPr>
              <a:spLocks/>
            </p:cNvSpPr>
            <p:nvPr userDrawn="1"/>
          </p:nvSpPr>
          <p:spPr bwMode="auto">
            <a:xfrm>
              <a:off x="8519239" y="798513"/>
              <a:ext cx="38167" cy="50800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4" name="Freeform 33"/>
            <p:cNvSpPr>
              <a:spLocks noEditPoints="1"/>
            </p:cNvSpPr>
            <p:nvPr userDrawn="1"/>
          </p:nvSpPr>
          <p:spPr bwMode="auto">
            <a:xfrm>
              <a:off x="8570129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5" name="Freeform 34"/>
            <p:cNvSpPr>
              <a:spLocks/>
            </p:cNvSpPr>
            <p:nvPr userDrawn="1"/>
          </p:nvSpPr>
          <p:spPr bwMode="auto">
            <a:xfrm>
              <a:off x="8617838" y="795338"/>
              <a:ext cx="44528" cy="53975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6" name="Freeform 35"/>
            <p:cNvSpPr>
              <a:spLocks/>
            </p:cNvSpPr>
            <p:nvPr userDrawn="1"/>
          </p:nvSpPr>
          <p:spPr bwMode="auto">
            <a:xfrm>
              <a:off x="8671908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7" name="Freeform 36"/>
            <p:cNvSpPr>
              <a:spLocks/>
            </p:cNvSpPr>
            <p:nvPr userDrawn="1"/>
          </p:nvSpPr>
          <p:spPr bwMode="auto">
            <a:xfrm>
              <a:off x="8690991" y="798513"/>
              <a:ext cx="84286" cy="50800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8" name="Freeform 37"/>
            <p:cNvSpPr>
              <a:spLocks/>
            </p:cNvSpPr>
            <p:nvPr userDrawn="1"/>
          </p:nvSpPr>
          <p:spPr bwMode="auto">
            <a:xfrm>
              <a:off x="8484252" y="371475"/>
              <a:ext cx="291025" cy="363538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9" name="Freeform 38"/>
            <p:cNvSpPr>
              <a:spLocks/>
            </p:cNvSpPr>
            <p:nvPr userDrawn="1"/>
          </p:nvSpPr>
          <p:spPr bwMode="auto">
            <a:xfrm>
              <a:off x="8096219" y="365125"/>
              <a:ext cx="337144" cy="369888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0" name="Freeform 39"/>
            <p:cNvSpPr>
              <a:spLocks noEditPoints="1"/>
            </p:cNvSpPr>
            <p:nvPr userDrawn="1"/>
          </p:nvSpPr>
          <p:spPr bwMode="auto">
            <a:xfrm>
              <a:off x="7760666" y="371475"/>
              <a:ext cx="329192" cy="357188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81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5038725" y="2848654"/>
            <a:ext cx="3867150" cy="580346"/>
          </a:xfrm>
        </p:spPr>
        <p:txBody>
          <a:bodyPr anchor="b">
            <a:noAutofit/>
          </a:bodyPr>
          <a:lstStyle>
            <a:lvl1pPr>
              <a:defRPr sz="386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82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5038725" y="3652838"/>
            <a:ext cx="3867150" cy="447675"/>
          </a:xfrm>
        </p:spPr>
        <p:txBody>
          <a:bodyPr anchor="b">
            <a:noAutofit/>
          </a:bodyPr>
          <a:lstStyle>
            <a:lvl1pPr marL="0" indent="0" algn="l">
              <a:buNone/>
              <a:defRPr sz="1863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Subheading</a:t>
            </a:r>
          </a:p>
        </p:txBody>
      </p:sp>
      <p:sp>
        <p:nvSpPr>
          <p:cNvPr id="83" name="Text Placeholder 7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5038725" y="5316538"/>
            <a:ext cx="3770313" cy="294882"/>
          </a:xfrm>
        </p:spPr>
        <p:txBody>
          <a:bodyPr>
            <a:normAutofit/>
          </a:bodyPr>
          <a:lstStyle>
            <a:lvl1pPr marL="0" indent="0">
              <a:buNone/>
              <a:defRPr sz="1597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Presenter Name</a:t>
            </a:r>
          </a:p>
        </p:txBody>
      </p:sp>
      <p:sp>
        <p:nvSpPr>
          <p:cNvPr id="84" name="Text Placeholder 7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5038725" y="5611420"/>
            <a:ext cx="3770313" cy="328773"/>
          </a:xfrm>
        </p:spPr>
        <p:txBody>
          <a:bodyPr>
            <a:normAutofit/>
          </a:bodyPr>
          <a:lstStyle>
            <a:lvl1pPr marL="0" indent="0">
              <a:buNone/>
              <a:defRPr sz="1597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Date</a:t>
            </a:r>
          </a:p>
        </p:txBody>
      </p:sp>
      <p:sp>
        <p:nvSpPr>
          <p:cNvPr id="86" name="Picture Placeholder 85"/>
          <p:cNvSpPr>
            <a:spLocks noGrp="1"/>
          </p:cNvSpPr>
          <p:nvPr userDrawn="1">
            <p:ph type="pic" sz="quarter" idx="12"/>
          </p:nvPr>
        </p:nvSpPr>
        <p:spPr>
          <a:xfrm>
            <a:off x="0" y="457200"/>
            <a:ext cx="4572000" cy="6388100"/>
          </a:xfrm>
        </p:spPr>
        <p:txBody>
          <a:bodyPr/>
          <a:lstStyle>
            <a:lvl1pPr marL="0" indent="0">
              <a:buNone/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Drag picture to placeholder or click icon to add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577701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6073272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47" imgH="348" progId="TCLayout.ActiveDocument.1">
                  <p:embed/>
                </p:oleObj>
              </mc:Choice>
              <mc:Fallback>
                <p:oleObj name="think-cell Slide" r:id="rId3" imgW="347" imgH="348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6" name="Freeform 5"/>
          <p:cNvSpPr>
            <a:spLocks/>
          </p:cNvSpPr>
          <p:nvPr userDrawn="1"/>
        </p:nvSpPr>
        <p:spPr bwMode="auto">
          <a:xfrm>
            <a:off x="0" y="457201"/>
            <a:ext cx="4572232" cy="6388107"/>
          </a:xfrm>
          <a:custGeom>
            <a:avLst/>
            <a:gdLst>
              <a:gd name="T0" fmla="*/ 2875 w 2875"/>
              <a:gd name="T1" fmla="*/ 0 h 4024"/>
              <a:gd name="T2" fmla="*/ 2875 w 2875"/>
              <a:gd name="T3" fmla="*/ 4024 h 4024"/>
              <a:gd name="T4" fmla="*/ 0 w 2875"/>
              <a:gd name="T5" fmla="*/ 4024 h 4024"/>
              <a:gd name="T6" fmla="*/ 0 w 2875"/>
              <a:gd name="T7" fmla="*/ 0 h 4024"/>
              <a:gd name="T8" fmla="*/ 2875 w 2875"/>
              <a:gd name="T9" fmla="*/ 0 h 4024"/>
              <a:gd name="T10" fmla="*/ 2875 w 2875"/>
              <a:gd name="T11" fmla="*/ 0 h 40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2875" h="4024">
                <a:moveTo>
                  <a:pt x="2875" y="0"/>
                </a:moveTo>
                <a:lnTo>
                  <a:pt x="2875" y="4024"/>
                </a:lnTo>
                <a:lnTo>
                  <a:pt x="0" y="4024"/>
                </a:lnTo>
                <a:lnTo>
                  <a:pt x="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F2120D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7" name="Freeform 6"/>
          <p:cNvSpPr>
            <a:spLocks/>
          </p:cNvSpPr>
          <p:nvPr userDrawn="1"/>
        </p:nvSpPr>
        <p:spPr bwMode="auto">
          <a:xfrm>
            <a:off x="4572232" y="-3174"/>
            <a:ext cx="4572232" cy="6858007"/>
          </a:xfrm>
          <a:custGeom>
            <a:avLst/>
            <a:gdLst>
              <a:gd name="T0" fmla="*/ 2875 w 2875"/>
              <a:gd name="T1" fmla="*/ 0 h 4320"/>
              <a:gd name="T2" fmla="*/ 2875 w 2875"/>
              <a:gd name="T3" fmla="*/ 4030 h 4320"/>
              <a:gd name="T4" fmla="*/ 290 w 2875"/>
              <a:gd name="T5" fmla="*/ 4030 h 4320"/>
              <a:gd name="T6" fmla="*/ 0 w 2875"/>
              <a:gd name="T7" fmla="*/ 4320 h 4320"/>
              <a:gd name="T8" fmla="*/ 0 w 2875"/>
              <a:gd name="T9" fmla="*/ 290 h 4320"/>
              <a:gd name="T10" fmla="*/ 290 w 2875"/>
              <a:gd name="T11" fmla="*/ 0 h 4320"/>
              <a:gd name="T12" fmla="*/ 2875 w 2875"/>
              <a:gd name="T13" fmla="*/ 0 h 4320"/>
              <a:gd name="T14" fmla="*/ 2875 w 2875"/>
              <a:gd name="T15" fmla="*/ 0 h 43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875" h="4320">
                <a:moveTo>
                  <a:pt x="2875" y="0"/>
                </a:moveTo>
                <a:lnTo>
                  <a:pt x="2875" y="4030"/>
                </a:lnTo>
                <a:lnTo>
                  <a:pt x="290" y="4030"/>
                </a:lnTo>
                <a:lnTo>
                  <a:pt x="0" y="4320"/>
                </a:lnTo>
                <a:lnTo>
                  <a:pt x="0" y="290"/>
                </a:lnTo>
                <a:lnTo>
                  <a:pt x="29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AutoShape 3"/>
          <p:cNvSpPr>
            <a:spLocks noChangeAspect="1" noChangeArrowheads="1" noTextEdit="1"/>
          </p:cNvSpPr>
          <p:nvPr userDrawn="1"/>
        </p:nvSpPr>
        <p:spPr bwMode="auto">
          <a:xfrm>
            <a:off x="0" y="1"/>
            <a:ext cx="9144464" cy="68580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4804755" y="1054317"/>
            <a:ext cx="4247805" cy="4749367"/>
          </a:xfrm>
        </p:spPr>
        <p:txBody>
          <a:bodyPr lIns="0" tIns="0" rIns="0" bIns="0" anchor="ctr" anchorCtr="0">
            <a:noAutofit/>
          </a:bodyPr>
          <a:lstStyle>
            <a:lvl1pPr>
              <a:defRPr sz="37857" spc="-1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1</a:t>
            </a:r>
            <a:endParaRPr lang="en-AU" dirty="0"/>
          </a:p>
        </p:txBody>
      </p:sp>
      <p:sp>
        <p:nvSpPr>
          <p:cNvPr id="47" name="Text Placeholder 4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74420" y="3246827"/>
            <a:ext cx="3092450" cy="357995"/>
          </a:xfrm>
        </p:spPr>
        <p:txBody>
          <a:bodyPr>
            <a:normAutofit/>
          </a:bodyPr>
          <a:lstStyle>
            <a:lvl1pPr marL="0" indent="0">
              <a:buNone/>
              <a:defRPr sz="1997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Section title</a:t>
            </a:r>
          </a:p>
        </p:txBody>
      </p:sp>
      <p:grpSp>
        <p:nvGrpSpPr>
          <p:cNvPr id="82" name="Group 81"/>
          <p:cNvGrpSpPr/>
          <p:nvPr userDrawn="1"/>
        </p:nvGrpSpPr>
        <p:grpSpPr>
          <a:xfrm>
            <a:off x="7401258" y="365125"/>
            <a:ext cx="1374019" cy="484188"/>
            <a:chOff x="7401258" y="365125"/>
            <a:chExt cx="1374019" cy="484188"/>
          </a:xfrm>
        </p:grpSpPr>
        <p:sp>
          <p:nvSpPr>
            <p:cNvPr id="83" name="Freeform 7"/>
            <p:cNvSpPr>
              <a:spLocks/>
            </p:cNvSpPr>
            <p:nvPr userDrawn="1"/>
          </p:nvSpPr>
          <p:spPr bwMode="auto">
            <a:xfrm>
              <a:off x="7401258" y="371475"/>
              <a:ext cx="289435" cy="369888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4" name="Freeform 8"/>
            <p:cNvSpPr>
              <a:spLocks/>
            </p:cNvSpPr>
            <p:nvPr userDrawn="1"/>
          </p:nvSpPr>
          <p:spPr bwMode="auto">
            <a:xfrm>
              <a:off x="7455328" y="415925"/>
              <a:ext cx="181294" cy="236538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5" name="Freeform 9"/>
            <p:cNvSpPr>
              <a:spLocks/>
            </p:cNvSpPr>
            <p:nvPr userDrawn="1"/>
          </p:nvSpPr>
          <p:spPr bwMode="auto">
            <a:xfrm>
              <a:off x="7480773" y="466725"/>
              <a:ext cx="130405" cy="15398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6" name="Freeform 10"/>
            <p:cNvSpPr>
              <a:spLocks noEditPoints="1"/>
            </p:cNvSpPr>
            <p:nvPr userDrawn="1"/>
          </p:nvSpPr>
          <p:spPr bwMode="auto">
            <a:xfrm>
              <a:off x="7401258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7" name="Freeform 11"/>
            <p:cNvSpPr>
              <a:spLocks/>
            </p:cNvSpPr>
            <p:nvPr userDrawn="1"/>
          </p:nvSpPr>
          <p:spPr bwMode="auto">
            <a:xfrm>
              <a:off x="7458509" y="798513"/>
              <a:ext cx="44528" cy="50800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8" name="Freeform 12"/>
            <p:cNvSpPr>
              <a:spLocks/>
            </p:cNvSpPr>
            <p:nvPr userDrawn="1"/>
          </p:nvSpPr>
          <p:spPr bwMode="auto">
            <a:xfrm>
              <a:off x="7512579" y="795338"/>
              <a:ext cx="41348" cy="53975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9" name="Freeform 13"/>
            <p:cNvSpPr>
              <a:spLocks/>
            </p:cNvSpPr>
            <p:nvPr userDrawn="1"/>
          </p:nvSpPr>
          <p:spPr bwMode="auto">
            <a:xfrm>
              <a:off x="7560288" y="798513"/>
              <a:ext cx="41348" cy="50800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0" name="Freeform 14"/>
            <p:cNvSpPr>
              <a:spLocks noEditPoints="1"/>
            </p:cNvSpPr>
            <p:nvPr userDrawn="1"/>
          </p:nvSpPr>
          <p:spPr bwMode="auto">
            <a:xfrm>
              <a:off x="7611177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1" name="Freeform 15"/>
            <p:cNvSpPr>
              <a:spLocks noEditPoints="1"/>
            </p:cNvSpPr>
            <p:nvPr userDrawn="1"/>
          </p:nvSpPr>
          <p:spPr bwMode="auto">
            <a:xfrm>
              <a:off x="7658886" y="798513"/>
              <a:ext cx="54070" cy="50800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Freeform 16"/>
            <p:cNvSpPr>
              <a:spLocks/>
            </p:cNvSpPr>
            <p:nvPr userDrawn="1"/>
          </p:nvSpPr>
          <p:spPr bwMode="auto">
            <a:xfrm>
              <a:off x="7719318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Freeform 17"/>
            <p:cNvSpPr>
              <a:spLocks/>
            </p:cNvSpPr>
            <p:nvPr userDrawn="1"/>
          </p:nvSpPr>
          <p:spPr bwMode="auto">
            <a:xfrm>
              <a:off x="7763846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Freeform 18"/>
            <p:cNvSpPr>
              <a:spLocks noEditPoints="1"/>
            </p:cNvSpPr>
            <p:nvPr userDrawn="1"/>
          </p:nvSpPr>
          <p:spPr bwMode="auto">
            <a:xfrm>
              <a:off x="7779749" y="798513"/>
              <a:ext cx="52480" cy="50800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5" name="Freeform 19"/>
            <p:cNvSpPr>
              <a:spLocks/>
            </p:cNvSpPr>
            <p:nvPr userDrawn="1"/>
          </p:nvSpPr>
          <p:spPr bwMode="auto">
            <a:xfrm>
              <a:off x="7841771" y="798513"/>
              <a:ext cx="41348" cy="50800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Freeform 20"/>
            <p:cNvSpPr>
              <a:spLocks/>
            </p:cNvSpPr>
            <p:nvPr userDrawn="1"/>
          </p:nvSpPr>
          <p:spPr bwMode="auto">
            <a:xfrm>
              <a:off x="7921286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Freeform 21"/>
            <p:cNvSpPr>
              <a:spLocks noEditPoints="1"/>
            </p:cNvSpPr>
            <p:nvPr userDrawn="1"/>
          </p:nvSpPr>
          <p:spPr bwMode="auto">
            <a:xfrm>
              <a:off x="7972176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Freeform 22"/>
            <p:cNvSpPr>
              <a:spLocks/>
            </p:cNvSpPr>
            <p:nvPr userDrawn="1"/>
          </p:nvSpPr>
          <p:spPr bwMode="auto">
            <a:xfrm>
              <a:off x="8023065" y="798513"/>
              <a:ext cx="44528" cy="50800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Freeform 23"/>
            <p:cNvSpPr>
              <a:spLocks/>
            </p:cNvSpPr>
            <p:nvPr userDrawn="1"/>
          </p:nvSpPr>
          <p:spPr bwMode="auto">
            <a:xfrm>
              <a:off x="8073955" y="798513"/>
              <a:ext cx="44528" cy="50800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0" name="Freeform 24"/>
            <p:cNvSpPr>
              <a:spLocks noEditPoints="1"/>
            </p:cNvSpPr>
            <p:nvPr userDrawn="1"/>
          </p:nvSpPr>
          <p:spPr bwMode="auto">
            <a:xfrm>
              <a:off x="8128025" y="795338"/>
              <a:ext cx="50890" cy="53975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1" name="Freeform 25"/>
            <p:cNvSpPr>
              <a:spLocks/>
            </p:cNvSpPr>
            <p:nvPr userDrawn="1"/>
          </p:nvSpPr>
          <p:spPr bwMode="auto">
            <a:xfrm>
              <a:off x="8188456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2" name="Freeform 26"/>
            <p:cNvSpPr>
              <a:spLocks/>
            </p:cNvSpPr>
            <p:nvPr userDrawn="1"/>
          </p:nvSpPr>
          <p:spPr bwMode="auto">
            <a:xfrm>
              <a:off x="8232985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" name="Freeform 27"/>
            <p:cNvSpPr>
              <a:spLocks/>
            </p:cNvSpPr>
            <p:nvPr userDrawn="1"/>
          </p:nvSpPr>
          <p:spPr bwMode="auto">
            <a:xfrm>
              <a:off x="8248888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4" name="Freeform 28"/>
            <p:cNvSpPr>
              <a:spLocks/>
            </p:cNvSpPr>
            <p:nvPr userDrawn="1"/>
          </p:nvSpPr>
          <p:spPr bwMode="auto">
            <a:xfrm>
              <a:off x="8331584" y="798513"/>
              <a:ext cx="41348" cy="50800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Freeform 29"/>
            <p:cNvSpPr>
              <a:spLocks/>
            </p:cNvSpPr>
            <p:nvPr userDrawn="1"/>
          </p:nvSpPr>
          <p:spPr bwMode="auto">
            <a:xfrm>
              <a:off x="8388834" y="798513"/>
              <a:ext cx="41348" cy="50800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6" name="Freeform 30"/>
            <p:cNvSpPr>
              <a:spLocks/>
            </p:cNvSpPr>
            <p:nvPr userDrawn="1"/>
          </p:nvSpPr>
          <p:spPr bwMode="auto">
            <a:xfrm>
              <a:off x="8442905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Freeform 31"/>
            <p:cNvSpPr>
              <a:spLocks/>
            </p:cNvSpPr>
            <p:nvPr userDrawn="1"/>
          </p:nvSpPr>
          <p:spPr bwMode="auto">
            <a:xfrm>
              <a:off x="8461988" y="798513"/>
              <a:ext cx="50890" cy="50800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8" name="Freeform 32"/>
            <p:cNvSpPr>
              <a:spLocks/>
            </p:cNvSpPr>
            <p:nvPr userDrawn="1"/>
          </p:nvSpPr>
          <p:spPr bwMode="auto">
            <a:xfrm>
              <a:off x="8519239" y="798513"/>
              <a:ext cx="38167" cy="50800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9" name="Freeform 33"/>
            <p:cNvSpPr>
              <a:spLocks noEditPoints="1"/>
            </p:cNvSpPr>
            <p:nvPr userDrawn="1"/>
          </p:nvSpPr>
          <p:spPr bwMode="auto">
            <a:xfrm>
              <a:off x="8570129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0" name="Freeform 34"/>
            <p:cNvSpPr>
              <a:spLocks/>
            </p:cNvSpPr>
            <p:nvPr userDrawn="1"/>
          </p:nvSpPr>
          <p:spPr bwMode="auto">
            <a:xfrm>
              <a:off x="8617838" y="795338"/>
              <a:ext cx="44528" cy="53975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1" name="Freeform 35"/>
            <p:cNvSpPr>
              <a:spLocks/>
            </p:cNvSpPr>
            <p:nvPr userDrawn="1"/>
          </p:nvSpPr>
          <p:spPr bwMode="auto">
            <a:xfrm>
              <a:off x="8671908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2" name="Freeform 36"/>
            <p:cNvSpPr>
              <a:spLocks/>
            </p:cNvSpPr>
            <p:nvPr userDrawn="1"/>
          </p:nvSpPr>
          <p:spPr bwMode="auto">
            <a:xfrm>
              <a:off x="8690991" y="798513"/>
              <a:ext cx="84286" cy="50800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3" name="Freeform 37"/>
            <p:cNvSpPr>
              <a:spLocks/>
            </p:cNvSpPr>
            <p:nvPr userDrawn="1"/>
          </p:nvSpPr>
          <p:spPr bwMode="auto">
            <a:xfrm>
              <a:off x="8484252" y="371475"/>
              <a:ext cx="291025" cy="363538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4" name="Freeform 38"/>
            <p:cNvSpPr>
              <a:spLocks/>
            </p:cNvSpPr>
            <p:nvPr userDrawn="1"/>
          </p:nvSpPr>
          <p:spPr bwMode="auto">
            <a:xfrm>
              <a:off x="8096219" y="365125"/>
              <a:ext cx="337144" cy="369888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5" name="Freeform 39"/>
            <p:cNvSpPr>
              <a:spLocks noEditPoints="1"/>
            </p:cNvSpPr>
            <p:nvPr userDrawn="1"/>
          </p:nvSpPr>
          <p:spPr bwMode="auto">
            <a:xfrm>
              <a:off x="7760666" y="371475"/>
              <a:ext cx="329192" cy="357188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631148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7" name="Object 46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17153327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47" imgH="348" progId="TCLayout.ActiveDocument.1">
                  <p:embed/>
                </p:oleObj>
              </mc:Choice>
              <mc:Fallback>
                <p:oleObj name="think-cell Slide" r:id="rId3" imgW="347" imgH="348" progId="TCLayout.ActiveDocument.1">
                  <p:embed/>
                  <p:pic>
                    <p:nvPicPr>
                      <p:cNvPr id="47" name="Object 46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440871" y="689568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50" name="Text Placeholder 49"/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440871" y="1463720"/>
            <a:ext cx="8284029" cy="4272599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52" name="Text Placeholder 51"/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40871" y="-8733"/>
            <a:ext cx="4343399" cy="462758"/>
          </a:xfrm>
        </p:spPr>
        <p:txBody>
          <a:bodyPr anchor="ctr">
            <a:normAutofit/>
          </a:bodyPr>
          <a:lstStyle>
            <a:lvl1pPr marL="0" indent="0">
              <a:buNone/>
              <a:defRPr sz="15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Section heading</a:t>
            </a:r>
          </a:p>
        </p:txBody>
      </p:sp>
      <p:sp>
        <p:nvSpPr>
          <p:cNvPr id="8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  <p:sp>
        <p:nvSpPr>
          <p:cNvPr id="8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7" y="6510471"/>
            <a:ext cx="4188129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Faculty of Business and Law | Peter Faber Business School</a:t>
            </a:r>
          </a:p>
        </p:txBody>
      </p:sp>
    </p:spTree>
    <p:extLst>
      <p:ext uri="{BB962C8B-B14F-4D97-AF65-F5344CB8AC3E}">
        <p14:creationId xmlns:p14="http://schemas.microsoft.com/office/powerpoint/2010/main" val="27187926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s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770735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2" name="Text Placeholder 45"/>
          <p:cNvSpPr>
            <a:spLocks noGrp="1"/>
          </p:cNvSpPr>
          <p:nvPr>
            <p:ph type="body" sz="quarter" idx="13" hasCustomPrompt="1"/>
          </p:nvPr>
        </p:nvSpPr>
        <p:spPr>
          <a:xfrm>
            <a:off x="440871" y="1339935"/>
            <a:ext cx="6734398" cy="507831"/>
          </a:xfrm>
        </p:spPr>
        <p:txBody>
          <a:bodyPr anchor="ctr">
            <a:spAutoFit/>
          </a:bodyPr>
          <a:lstStyle>
            <a:lvl1pPr marL="0" indent="0">
              <a:lnSpc>
                <a:spcPct val="100000"/>
              </a:lnSpc>
              <a:buNone/>
              <a:defRPr sz="27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Sub Title</a:t>
            </a:r>
          </a:p>
        </p:txBody>
      </p:sp>
      <p:sp>
        <p:nvSpPr>
          <p:cNvPr id="43" name="Text Placeholder 47"/>
          <p:cNvSpPr>
            <a:spLocks noGrp="1"/>
          </p:cNvSpPr>
          <p:nvPr>
            <p:ph type="body" sz="quarter" idx="14" hasCustomPrompt="1"/>
          </p:nvPr>
        </p:nvSpPr>
        <p:spPr>
          <a:xfrm>
            <a:off x="440872" y="2275570"/>
            <a:ext cx="8284028" cy="359681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2000" b="1" baseline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Sub heading</a:t>
            </a:r>
          </a:p>
        </p:txBody>
      </p:sp>
      <p:sp>
        <p:nvSpPr>
          <p:cNvPr id="83" name="Text Placeholder 49"/>
          <p:cNvSpPr>
            <a:spLocks noGrp="1"/>
          </p:cNvSpPr>
          <p:nvPr>
            <p:ph type="body" sz="quarter" idx="15" hasCustomPrompt="1"/>
          </p:nvPr>
        </p:nvSpPr>
        <p:spPr>
          <a:xfrm>
            <a:off x="440871" y="2640809"/>
            <a:ext cx="8284029" cy="309551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84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872246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8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3208934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7701" y="1626054"/>
            <a:ext cx="3867150" cy="4271941"/>
          </a:xfrm>
        </p:spPr>
        <p:txBody>
          <a:bodyPr/>
          <a:lstStyle>
            <a:lvl1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6613" y="1651000"/>
            <a:ext cx="3887788" cy="4246995"/>
          </a:xfrm>
        </p:spPr>
        <p:txBody>
          <a:bodyPr/>
          <a:lstStyle>
            <a:lvl1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7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793049"/>
            <a:ext cx="6734398" cy="493981"/>
          </a:xfrm>
        </p:spPr>
        <p:txBody>
          <a:bodyPr>
            <a:spAutoFit/>
          </a:bodyPr>
          <a:lstStyle>
            <a:lvl1pPr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88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7" y="6510471"/>
            <a:ext cx="3887787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8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1289585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3888" y="1864188"/>
            <a:ext cx="7886700" cy="4070577"/>
          </a:xfrm>
        </p:spPr>
        <p:txBody>
          <a:bodyPr vert="eaVert"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98929" y="1056579"/>
            <a:ext cx="6734398" cy="493981"/>
          </a:xfrm>
        </p:spPr>
        <p:txBody>
          <a:bodyPr>
            <a:normAutofit/>
          </a:bodyPr>
          <a:lstStyle>
            <a:lvl1pPr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34063634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in White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AutoShape 3"/>
          <p:cNvSpPr>
            <a:spLocks noChangeAspect="1" noChangeArrowheads="1" noTextEdit="1"/>
          </p:cNvSpPr>
          <p:nvPr userDrawn="1"/>
        </p:nvSpPr>
        <p:spPr bwMode="auto">
          <a:xfrm>
            <a:off x="1588" y="0"/>
            <a:ext cx="9140825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Freeform 6"/>
          <p:cNvSpPr>
            <a:spLocks/>
          </p:cNvSpPr>
          <p:nvPr userDrawn="1"/>
        </p:nvSpPr>
        <p:spPr bwMode="auto">
          <a:xfrm>
            <a:off x="1588" y="-3175"/>
            <a:ext cx="5030788" cy="457200"/>
          </a:xfrm>
          <a:custGeom>
            <a:avLst/>
            <a:gdLst>
              <a:gd name="T0" fmla="*/ 0 w 3169"/>
              <a:gd name="T1" fmla="*/ 0 h 288"/>
              <a:gd name="T2" fmla="*/ 3169 w 3169"/>
              <a:gd name="T3" fmla="*/ 0 h 288"/>
              <a:gd name="T4" fmla="*/ 2879 w 3169"/>
              <a:gd name="T5" fmla="*/ 288 h 288"/>
              <a:gd name="T6" fmla="*/ 0 w 3169"/>
              <a:gd name="T7" fmla="*/ 288 h 288"/>
              <a:gd name="T8" fmla="*/ 0 w 3169"/>
              <a:gd name="T9" fmla="*/ 0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169" h="288">
                <a:moveTo>
                  <a:pt x="0" y="0"/>
                </a:moveTo>
                <a:lnTo>
                  <a:pt x="3169" y="0"/>
                </a:lnTo>
                <a:lnTo>
                  <a:pt x="2879" y="288"/>
                </a:lnTo>
                <a:lnTo>
                  <a:pt x="0" y="288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Freeform 8"/>
          <p:cNvSpPr>
            <a:spLocks/>
          </p:cNvSpPr>
          <p:nvPr userDrawn="1"/>
        </p:nvSpPr>
        <p:spPr bwMode="auto">
          <a:xfrm>
            <a:off x="4572001" y="6397625"/>
            <a:ext cx="4570413" cy="457200"/>
          </a:xfrm>
          <a:custGeom>
            <a:avLst/>
            <a:gdLst>
              <a:gd name="T0" fmla="*/ 2879 w 2879"/>
              <a:gd name="T1" fmla="*/ 288 h 288"/>
              <a:gd name="T2" fmla="*/ 0 w 2879"/>
              <a:gd name="T3" fmla="*/ 288 h 288"/>
              <a:gd name="T4" fmla="*/ 290 w 2879"/>
              <a:gd name="T5" fmla="*/ 0 h 288"/>
              <a:gd name="T6" fmla="*/ 2879 w 2879"/>
              <a:gd name="T7" fmla="*/ 0 h 288"/>
              <a:gd name="T8" fmla="*/ 2879 w 2879"/>
              <a:gd name="T9" fmla="*/ 288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879" h="288">
                <a:moveTo>
                  <a:pt x="2879" y="288"/>
                </a:moveTo>
                <a:lnTo>
                  <a:pt x="0" y="288"/>
                </a:lnTo>
                <a:lnTo>
                  <a:pt x="290" y="0"/>
                </a:lnTo>
                <a:lnTo>
                  <a:pt x="2879" y="0"/>
                </a:lnTo>
                <a:lnTo>
                  <a:pt x="2879" y="288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Freeform 9"/>
          <p:cNvSpPr>
            <a:spLocks/>
          </p:cNvSpPr>
          <p:nvPr userDrawn="1"/>
        </p:nvSpPr>
        <p:spPr bwMode="auto">
          <a:xfrm>
            <a:off x="7399338" y="371475"/>
            <a:ext cx="288925" cy="371475"/>
          </a:xfrm>
          <a:custGeom>
            <a:avLst/>
            <a:gdLst>
              <a:gd name="T0" fmla="*/ 91 w 91"/>
              <a:gd name="T1" fmla="*/ 0 h 117"/>
              <a:gd name="T2" fmla="*/ 91 w 91"/>
              <a:gd name="T3" fmla="*/ 51 h 117"/>
              <a:gd name="T4" fmla="*/ 46 w 91"/>
              <a:gd name="T5" fmla="*/ 117 h 117"/>
              <a:gd name="T6" fmla="*/ 0 w 91"/>
              <a:gd name="T7" fmla="*/ 51 h 117"/>
              <a:gd name="T8" fmla="*/ 0 w 91"/>
              <a:gd name="T9" fmla="*/ 0 h 117"/>
              <a:gd name="T10" fmla="*/ 91 w 91"/>
              <a:gd name="T11" fmla="*/ 0 h 1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91" h="117">
                <a:moveTo>
                  <a:pt x="91" y="0"/>
                </a:moveTo>
                <a:cubicBezTo>
                  <a:pt x="91" y="51"/>
                  <a:pt x="91" y="51"/>
                  <a:pt x="91" y="51"/>
                </a:cubicBezTo>
                <a:cubicBezTo>
                  <a:pt x="91" y="77"/>
                  <a:pt x="74" y="105"/>
                  <a:pt x="46" y="117"/>
                </a:cubicBezTo>
                <a:cubicBezTo>
                  <a:pt x="18" y="105"/>
                  <a:pt x="0" y="77"/>
                  <a:pt x="0" y="51"/>
                </a:cubicBezTo>
                <a:cubicBezTo>
                  <a:pt x="0" y="0"/>
                  <a:pt x="0" y="0"/>
                  <a:pt x="0" y="0"/>
                </a:cubicBezTo>
                <a:cubicBezTo>
                  <a:pt x="91" y="0"/>
                  <a:pt x="91" y="0"/>
                  <a:pt x="91" y="0"/>
                </a:cubicBezTo>
                <a:close/>
              </a:path>
            </a:pathLst>
          </a:custGeom>
          <a:solidFill>
            <a:srgbClr val="E2231A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Freeform 10"/>
          <p:cNvSpPr>
            <a:spLocks/>
          </p:cNvSpPr>
          <p:nvPr userDrawn="1"/>
        </p:nvSpPr>
        <p:spPr bwMode="auto">
          <a:xfrm>
            <a:off x="7453313" y="415925"/>
            <a:ext cx="180975" cy="238125"/>
          </a:xfrm>
          <a:custGeom>
            <a:avLst/>
            <a:gdLst>
              <a:gd name="T0" fmla="*/ 0 w 114"/>
              <a:gd name="T1" fmla="*/ 74 h 150"/>
              <a:gd name="T2" fmla="*/ 58 w 114"/>
              <a:gd name="T3" fmla="*/ 0 h 150"/>
              <a:gd name="T4" fmla="*/ 114 w 114"/>
              <a:gd name="T5" fmla="*/ 74 h 150"/>
              <a:gd name="T6" fmla="*/ 58 w 114"/>
              <a:gd name="T7" fmla="*/ 150 h 150"/>
              <a:gd name="T8" fmla="*/ 0 w 114"/>
              <a:gd name="T9" fmla="*/ 74 h 150"/>
              <a:gd name="T10" fmla="*/ 0 w 114"/>
              <a:gd name="T11" fmla="*/ 74 h 15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14" h="150">
                <a:moveTo>
                  <a:pt x="0" y="74"/>
                </a:moveTo>
                <a:lnTo>
                  <a:pt x="58" y="0"/>
                </a:lnTo>
                <a:lnTo>
                  <a:pt x="114" y="74"/>
                </a:lnTo>
                <a:lnTo>
                  <a:pt x="58" y="150"/>
                </a:lnTo>
                <a:lnTo>
                  <a:pt x="0" y="74"/>
                </a:lnTo>
                <a:lnTo>
                  <a:pt x="0" y="7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Freeform 11"/>
          <p:cNvSpPr>
            <a:spLocks/>
          </p:cNvSpPr>
          <p:nvPr userDrawn="1"/>
        </p:nvSpPr>
        <p:spPr bwMode="auto">
          <a:xfrm>
            <a:off x="7478713" y="466725"/>
            <a:ext cx="130175" cy="155575"/>
          </a:xfrm>
          <a:custGeom>
            <a:avLst/>
            <a:gdLst>
              <a:gd name="T0" fmla="*/ 18 w 41"/>
              <a:gd name="T1" fmla="*/ 26 h 49"/>
              <a:gd name="T2" fmla="*/ 21 w 41"/>
              <a:gd name="T3" fmla="*/ 49 h 49"/>
              <a:gd name="T4" fmla="*/ 21 w 41"/>
              <a:gd name="T5" fmla="*/ 49 h 49"/>
              <a:gd name="T6" fmla="*/ 21 w 41"/>
              <a:gd name="T7" fmla="*/ 49 h 49"/>
              <a:gd name="T8" fmla="*/ 23 w 41"/>
              <a:gd name="T9" fmla="*/ 26 h 49"/>
              <a:gd name="T10" fmla="*/ 23 w 41"/>
              <a:gd name="T11" fmla="*/ 24 h 49"/>
              <a:gd name="T12" fmla="*/ 32 w 41"/>
              <a:gd name="T13" fmla="*/ 24 h 49"/>
              <a:gd name="T14" fmla="*/ 32 w 41"/>
              <a:gd name="T15" fmla="*/ 25 h 49"/>
              <a:gd name="T16" fmla="*/ 35 w 41"/>
              <a:gd name="T17" fmla="*/ 28 h 49"/>
              <a:gd name="T18" fmla="*/ 37 w 41"/>
              <a:gd name="T19" fmla="*/ 25 h 49"/>
              <a:gd name="T20" fmla="*/ 37 w 41"/>
              <a:gd name="T21" fmla="*/ 24 h 49"/>
              <a:gd name="T22" fmla="*/ 38 w 41"/>
              <a:gd name="T23" fmla="*/ 24 h 49"/>
              <a:gd name="T24" fmla="*/ 41 w 41"/>
              <a:gd name="T25" fmla="*/ 21 h 49"/>
              <a:gd name="T26" fmla="*/ 38 w 41"/>
              <a:gd name="T27" fmla="*/ 19 h 49"/>
              <a:gd name="T28" fmla="*/ 37 w 41"/>
              <a:gd name="T29" fmla="*/ 19 h 49"/>
              <a:gd name="T30" fmla="*/ 37 w 41"/>
              <a:gd name="T31" fmla="*/ 18 h 49"/>
              <a:gd name="T32" fmla="*/ 35 w 41"/>
              <a:gd name="T33" fmla="*/ 15 h 49"/>
              <a:gd name="T34" fmla="*/ 32 w 41"/>
              <a:gd name="T35" fmla="*/ 18 h 49"/>
              <a:gd name="T36" fmla="*/ 32 w 41"/>
              <a:gd name="T37" fmla="*/ 19 h 49"/>
              <a:gd name="T38" fmla="*/ 23 w 41"/>
              <a:gd name="T39" fmla="*/ 19 h 49"/>
              <a:gd name="T40" fmla="*/ 23 w 41"/>
              <a:gd name="T41" fmla="*/ 9 h 49"/>
              <a:gd name="T42" fmla="*/ 24 w 41"/>
              <a:gd name="T43" fmla="*/ 9 h 49"/>
              <a:gd name="T44" fmla="*/ 27 w 41"/>
              <a:gd name="T45" fmla="*/ 6 h 49"/>
              <a:gd name="T46" fmla="*/ 24 w 41"/>
              <a:gd name="T47" fmla="*/ 3 h 49"/>
              <a:gd name="T48" fmla="*/ 23 w 41"/>
              <a:gd name="T49" fmla="*/ 3 h 49"/>
              <a:gd name="T50" fmla="*/ 23 w 41"/>
              <a:gd name="T51" fmla="*/ 3 h 49"/>
              <a:gd name="T52" fmla="*/ 21 w 41"/>
              <a:gd name="T53" fmla="*/ 0 h 49"/>
              <a:gd name="T54" fmla="*/ 18 w 41"/>
              <a:gd name="T55" fmla="*/ 3 h 49"/>
              <a:gd name="T56" fmla="*/ 18 w 41"/>
              <a:gd name="T57" fmla="*/ 3 h 49"/>
              <a:gd name="T58" fmla="*/ 17 w 41"/>
              <a:gd name="T59" fmla="*/ 3 h 49"/>
              <a:gd name="T60" fmla="*/ 14 w 41"/>
              <a:gd name="T61" fmla="*/ 6 h 49"/>
              <a:gd name="T62" fmla="*/ 17 w 41"/>
              <a:gd name="T63" fmla="*/ 9 h 49"/>
              <a:gd name="T64" fmla="*/ 18 w 41"/>
              <a:gd name="T65" fmla="*/ 9 h 49"/>
              <a:gd name="T66" fmla="*/ 18 w 41"/>
              <a:gd name="T67" fmla="*/ 19 h 49"/>
              <a:gd name="T68" fmla="*/ 18 w 41"/>
              <a:gd name="T69" fmla="*/ 19 h 49"/>
              <a:gd name="T70" fmla="*/ 10 w 41"/>
              <a:gd name="T71" fmla="*/ 19 h 49"/>
              <a:gd name="T72" fmla="*/ 10 w 41"/>
              <a:gd name="T73" fmla="*/ 18 h 49"/>
              <a:gd name="T74" fmla="*/ 7 w 41"/>
              <a:gd name="T75" fmla="*/ 15 h 49"/>
              <a:gd name="T76" fmla="*/ 4 w 41"/>
              <a:gd name="T77" fmla="*/ 18 h 49"/>
              <a:gd name="T78" fmla="*/ 4 w 41"/>
              <a:gd name="T79" fmla="*/ 19 h 49"/>
              <a:gd name="T80" fmla="*/ 4 w 41"/>
              <a:gd name="T81" fmla="*/ 19 h 49"/>
              <a:gd name="T82" fmla="*/ 0 w 41"/>
              <a:gd name="T83" fmla="*/ 21 h 49"/>
              <a:gd name="T84" fmla="*/ 4 w 41"/>
              <a:gd name="T85" fmla="*/ 24 h 49"/>
              <a:gd name="T86" fmla="*/ 4 w 41"/>
              <a:gd name="T87" fmla="*/ 24 h 49"/>
              <a:gd name="T88" fmla="*/ 4 w 41"/>
              <a:gd name="T89" fmla="*/ 25 h 49"/>
              <a:gd name="T90" fmla="*/ 7 w 41"/>
              <a:gd name="T91" fmla="*/ 28 h 49"/>
              <a:gd name="T92" fmla="*/ 10 w 41"/>
              <a:gd name="T93" fmla="*/ 25 h 49"/>
              <a:gd name="T94" fmla="*/ 10 w 41"/>
              <a:gd name="T95" fmla="*/ 24 h 49"/>
              <a:gd name="T96" fmla="*/ 18 w 41"/>
              <a:gd name="T97" fmla="*/ 24 h 49"/>
              <a:gd name="T98" fmla="*/ 18 w 41"/>
              <a:gd name="T99" fmla="*/ 26 h 4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</a:cxnLst>
            <a:rect l="0" t="0" r="r" b="b"/>
            <a:pathLst>
              <a:path w="41" h="49">
                <a:moveTo>
                  <a:pt x="18" y="26"/>
                </a:moveTo>
                <a:cubicBezTo>
                  <a:pt x="18" y="36"/>
                  <a:pt x="20" y="48"/>
                  <a:pt x="21" y="49"/>
                </a:cubicBezTo>
                <a:cubicBezTo>
                  <a:pt x="21" y="49"/>
                  <a:pt x="21" y="49"/>
                  <a:pt x="21" y="49"/>
                </a:cubicBezTo>
                <a:cubicBezTo>
                  <a:pt x="21" y="49"/>
                  <a:pt x="21" y="49"/>
                  <a:pt x="21" y="49"/>
                </a:cubicBezTo>
                <a:cubicBezTo>
                  <a:pt x="21" y="48"/>
                  <a:pt x="23" y="36"/>
                  <a:pt x="23" y="26"/>
                </a:cubicBezTo>
                <a:cubicBezTo>
                  <a:pt x="23" y="24"/>
                  <a:pt x="23" y="24"/>
                  <a:pt x="23" y="24"/>
                </a:cubicBezTo>
                <a:cubicBezTo>
                  <a:pt x="32" y="24"/>
                  <a:pt x="32" y="24"/>
                  <a:pt x="32" y="24"/>
                </a:cubicBezTo>
                <a:cubicBezTo>
                  <a:pt x="32" y="25"/>
                  <a:pt x="32" y="25"/>
                  <a:pt x="32" y="25"/>
                </a:cubicBezTo>
                <a:cubicBezTo>
                  <a:pt x="32" y="26"/>
                  <a:pt x="33" y="28"/>
                  <a:pt x="35" y="28"/>
                </a:cubicBezTo>
                <a:cubicBezTo>
                  <a:pt x="36" y="28"/>
                  <a:pt x="37" y="26"/>
                  <a:pt x="37" y="25"/>
                </a:cubicBezTo>
                <a:cubicBezTo>
                  <a:pt x="37" y="24"/>
                  <a:pt x="37" y="24"/>
                  <a:pt x="37" y="24"/>
                </a:cubicBezTo>
                <a:cubicBezTo>
                  <a:pt x="38" y="24"/>
                  <a:pt x="38" y="24"/>
                  <a:pt x="38" y="24"/>
                </a:cubicBezTo>
                <a:cubicBezTo>
                  <a:pt x="39" y="24"/>
                  <a:pt x="41" y="23"/>
                  <a:pt x="41" y="21"/>
                </a:cubicBezTo>
                <a:cubicBezTo>
                  <a:pt x="41" y="20"/>
                  <a:pt x="39" y="19"/>
                  <a:pt x="38" y="19"/>
                </a:cubicBezTo>
                <a:cubicBezTo>
                  <a:pt x="37" y="19"/>
                  <a:pt x="37" y="19"/>
                  <a:pt x="37" y="19"/>
                </a:cubicBezTo>
                <a:cubicBezTo>
                  <a:pt x="37" y="18"/>
                  <a:pt x="37" y="18"/>
                  <a:pt x="37" y="18"/>
                </a:cubicBezTo>
                <a:cubicBezTo>
                  <a:pt x="37" y="17"/>
                  <a:pt x="36" y="15"/>
                  <a:pt x="35" y="15"/>
                </a:cubicBezTo>
                <a:cubicBezTo>
                  <a:pt x="33" y="15"/>
                  <a:pt x="32" y="17"/>
                  <a:pt x="32" y="18"/>
                </a:cubicBezTo>
                <a:cubicBezTo>
                  <a:pt x="32" y="19"/>
                  <a:pt x="32" y="19"/>
                  <a:pt x="32" y="19"/>
                </a:cubicBezTo>
                <a:cubicBezTo>
                  <a:pt x="23" y="19"/>
                  <a:pt x="23" y="19"/>
                  <a:pt x="23" y="19"/>
                </a:cubicBezTo>
                <a:cubicBezTo>
                  <a:pt x="23" y="9"/>
                  <a:pt x="23" y="9"/>
                  <a:pt x="23" y="9"/>
                </a:cubicBezTo>
                <a:cubicBezTo>
                  <a:pt x="24" y="9"/>
                  <a:pt x="24" y="9"/>
                  <a:pt x="24" y="9"/>
                </a:cubicBezTo>
                <a:cubicBezTo>
                  <a:pt x="25" y="9"/>
                  <a:pt x="27" y="8"/>
                  <a:pt x="27" y="6"/>
                </a:cubicBezTo>
                <a:cubicBezTo>
                  <a:pt x="27" y="5"/>
                  <a:pt x="25" y="3"/>
                  <a:pt x="24" y="3"/>
                </a:cubicBezTo>
                <a:cubicBezTo>
                  <a:pt x="23" y="3"/>
                  <a:pt x="23" y="3"/>
                  <a:pt x="23" y="3"/>
                </a:cubicBezTo>
                <a:cubicBezTo>
                  <a:pt x="23" y="3"/>
                  <a:pt x="23" y="3"/>
                  <a:pt x="23" y="3"/>
                </a:cubicBezTo>
                <a:cubicBezTo>
                  <a:pt x="23" y="1"/>
                  <a:pt x="22" y="0"/>
                  <a:pt x="21" y="0"/>
                </a:cubicBezTo>
                <a:cubicBezTo>
                  <a:pt x="19" y="0"/>
                  <a:pt x="18" y="1"/>
                  <a:pt x="18" y="3"/>
                </a:cubicBezTo>
                <a:cubicBezTo>
                  <a:pt x="18" y="3"/>
                  <a:pt x="18" y="3"/>
                  <a:pt x="18" y="3"/>
                </a:cubicBezTo>
                <a:cubicBezTo>
                  <a:pt x="17" y="3"/>
                  <a:pt x="17" y="3"/>
                  <a:pt x="17" y="3"/>
                </a:cubicBezTo>
                <a:cubicBezTo>
                  <a:pt x="16" y="3"/>
                  <a:pt x="14" y="5"/>
                  <a:pt x="14" y="6"/>
                </a:cubicBezTo>
                <a:cubicBezTo>
                  <a:pt x="14" y="8"/>
                  <a:pt x="16" y="9"/>
                  <a:pt x="17" y="9"/>
                </a:cubicBezTo>
                <a:cubicBezTo>
                  <a:pt x="18" y="9"/>
                  <a:pt x="18" y="9"/>
                  <a:pt x="18" y="9"/>
                </a:cubicBezTo>
                <a:cubicBezTo>
                  <a:pt x="18" y="19"/>
                  <a:pt x="18" y="19"/>
                  <a:pt x="18" y="19"/>
                </a:cubicBezTo>
                <a:cubicBezTo>
                  <a:pt x="18" y="19"/>
                  <a:pt x="18" y="19"/>
                  <a:pt x="18" y="19"/>
                </a:cubicBezTo>
                <a:cubicBezTo>
                  <a:pt x="10" y="19"/>
                  <a:pt x="10" y="19"/>
                  <a:pt x="10" y="19"/>
                </a:cubicBezTo>
                <a:cubicBezTo>
                  <a:pt x="10" y="18"/>
                  <a:pt x="10" y="18"/>
                  <a:pt x="10" y="18"/>
                </a:cubicBezTo>
                <a:cubicBezTo>
                  <a:pt x="10" y="17"/>
                  <a:pt x="8" y="15"/>
                  <a:pt x="7" y="15"/>
                </a:cubicBezTo>
                <a:cubicBezTo>
                  <a:pt x="5" y="15"/>
                  <a:pt x="4" y="17"/>
                  <a:pt x="4" y="18"/>
                </a:cubicBezTo>
                <a:cubicBezTo>
                  <a:pt x="4" y="19"/>
                  <a:pt x="4" y="19"/>
                  <a:pt x="4" y="19"/>
                </a:cubicBezTo>
                <a:cubicBezTo>
                  <a:pt x="4" y="19"/>
                  <a:pt x="4" y="19"/>
                  <a:pt x="4" y="19"/>
                </a:cubicBezTo>
                <a:cubicBezTo>
                  <a:pt x="2" y="19"/>
                  <a:pt x="0" y="20"/>
                  <a:pt x="0" y="21"/>
                </a:cubicBezTo>
                <a:cubicBezTo>
                  <a:pt x="0" y="23"/>
                  <a:pt x="2" y="24"/>
                  <a:pt x="4" y="24"/>
                </a:cubicBezTo>
                <a:cubicBezTo>
                  <a:pt x="4" y="24"/>
                  <a:pt x="4" y="24"/>
                  <a:pt x="4" y="24"/>
                </a:cubicBezTo>
                <a:cubicBezTo>
                  <a:pt x="4" y="25"/>
                  <a:pt x="4" y="25"/>
                  <a:pt x="4" y="25"/>
                </a:cubicBezTo>
                <a:cubicBezTo>
                  <a:pt x="4" y="26"/>
                  <a:pt x="5" y="28"/>
                  <a:pt x="7" y="28"/>
                </a:cubicBezTo>
                <a:cubicBezTo>
                  <a:pt x="8" y="28"/>
                  <a:pt x="10" y="26"/>
                  <a:pt x="10" y="25"/>
                </a:cubicBezTo>
                <a:cubicBezTo>
                  <a:pt x="10" y="24"/>
                  <a:pt x="10" y="24"/>
                  <a:pt x="10" y="24"/>
                </a:cubicBezTo>
                <a:cubicBezTo>
                  <a:pt x="18" y="24"/>
                  <a:pt x="18" y="24"/>
                  <a:pt x="18" y="24"/>
                </a:cubicBezTo>
                <a:cubicBezTo>
                  <a:pt x="18" y="26"/>
                  <a:pt x="18" y="26"/>
                  <a:pt x="18" y="26"/>
                </a:cubicBezTo>
                <a:close/>
              </a:path>
            </a:pathLst>
          </a:custGeom>
          <a:solidFill>
            <a:srgbClr val="E2231A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Freeform 12"/>
          <p:cNvSpPr>
            <a:spLocks noEditPoints="1"/>
          </p:cNvSpPr>
          <p:nvPr userDrawn="1"/>
        </p:nvSpPr>
        <p:spPr bwMode="auto">
          <a:xfrm>
            <a:off x="7399338" y="800100"/>
            <a:ext cx="53975" cy="50800"/>
          </a:xfrm>
          <a:custGeom>
            <a:avLst/>
            <a:gdLst>
              <a:gd name="T0" fmla="*/ 20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6 w 34"/>
              <a:gd name="T7" fmla="*/ 32 h 32"/>
              <a:gd name="T8" fmla="*/ 10 w 34"/>
              <a:gd name="T9" fmla="*/ 26 h 32"/>
              <a:gd name="T10" fmla="*/ 26 w 34"/>
              <a:gd name="T11" fmla="*/ 26 h 32"/>
              <a:gd name="T12" fmla="*/ 30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20 w 34"/>
              <a:gd name="T19" fmla="*/ 0 h 32"/>
              <a:gd name="T20" fmla="*/ 20 w 34"/>
              <a:gd name="T21" fmla="*/ 0 h 32"/>
              <a:gd name="T22" fmla="*/ 24 w 34"/>
              <a:gd name="T23" fmla="*/ 20 h 32"/>
              <a:gd name="T24" fmla="*/ 12 w 34"/>
              <a:gd name="T25" fmla="*/ 20 h 32"/>
              <a:gd name="T26" fmla="*/ 18 w 34"/>
              <a:gd name="T27" fmla="*/ 6 h 32"/>
              <a:gd name="T28" fmla="*/ 24 w 34"/>
              <a:gd name="T29" fmla="*/ 20 h 32"/>
              <a:gd name="T30" fmla="*/ 24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20" y="0"/>
                </a:moveTo>
                <a:lnTo>
                  <a:pt x="14" y="0"/>
                </a:lnTo>
                <a:lnTo>
                  <a:pt x="0" y="32"/>
                </a:lnTo>
                <a:lnTo>
                  <a:pt x="6" y="32"/>
                </a:lnTo>
                <a:lnTo>
                  <a:pt x="10" y="26"/>
                </a:lnTo>
                <a:lnTo>
                  <a:pt x="26" y="26"/>
                </a:lnTo>
                <a:lnTo>
                  <a:pt x="30" y="32"/>
                </a:lnTo>
                <a:lnTo>
                  <a:pt x="34" y="32"/>
                </a:lnTo>
                <a:lnTo>
                  <a:pt x="20" y="0"/>
                </a:lnTo>
                <a:lnTo>
                  <a:pt x="20" y="0"/>
                </a:lnTo>
                <a:lnTo>
                  <a:pt x="20" y="0"/>
                </a:lnTo>
                <a:close/>
                <a:moveTo>
                  <a:pt x="24" y="20"/>
                </a:moveTo>
                <a:lnTo>
                  <a:pt x="12" y="20"/>
                </a:lnTo>
                <a:lnTo>
                  <a:pt x="18" y="6"/>
                </a:lnTo>
                <a:lnTo>
                  <a:pt x="24" y="20"/>
                </a:lnTo>
                <a:lnTo>
                  <a:pt x="24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Freeform 13"/>
          <p:cNvSpPr>
            <a:spLocks/>
          </p:cNvSpPr>
          <p:nvPr userDrawn="1"/>
        </p:nvSpPr>
        <p:spPr bwMode="auto">
          <a:xfrm>
            <a:off x="7456488" y="800100"/>
            <a:ext cx="44450" cy="50800"/>
          </a:xfrm>
          <a:custGeom>
            <a:avLst/>
            <a:gdLst>
              <a:gd name="T0" fmla="*/ 11 w 14"/>
              <a:gd name="T1" fmla="*/ 9 h 16"/>
              <a:gd name="T2" fmla="*/ 7 w 14"/>
              <a:gd name="T3" fmla="*/ 14 h 16"/>
              <a:gd name="T4" fmla="*/ 3 w 14"/>
              <a:gd name="T5" fmla="*/ 9 h 16"/>
              <a:gd name="T6" fmla="*/ 3 w 14"/>
              <a:gd name="T7" fmla="*/ 0 h 16"/>
              <a:gd name="T8" fmla="*/ 0 w 14"/>
              <a:gd name="T9" fmla="*/ 0 h 16"/>
              <a:gd name="T10" fmla="*/ 0 w 14"/>
              <a:gd name="T11" fmla="*/ 9 h 16"/>
              <a:gd name="T12" fmla="*/ 7 w 14"/>
              <a:gd name="T13" fmla="*/ 16 h 16"/>
              <a:gd name="T14" fmla="*/ 14 w 14"/>
              <a:gd name="T15" fmla="*/ 9 h 16"/>
              <a:gd name="T16" fmla="*/ 14 w 14"/>
              <a:gd name="T17" fmla="*/ 0 h 16"/>
              <a:gd name="T18" fmla="*/ 11 w 14"/>
              <a:gd name="T19" fmla="*/ 0 h 16"/>
              <a:gd name="T20" fmla="*/ 11 w 14"/>
              <a:gd name="T21" fmla="*/ 9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4" h="16">
                <a:moveTo>
                  <a:pt x="11" y="9"/>
                </a:moveTo>
                <a:cubicBezTo>
                  <a:pt x="11" y="12"/>
                  <a:pt x="9" y="14"/>
                  <a:pt x="7" y="14"/>
                </a:cubicBezTo>
                <a:cubicBezTo>
                  <a:pt x="5" y="14"/>
                  <a:pt x="3" y="12"/>
                  <a:pt x="3" y="9"/>
                </a:cubicBezTo>
                <a:cubicBezTo>
                  <a:pt x="3" y="0"/>
                  <a:pt x="3" y="0"/>
                  <a:pt x="3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9"/>
                  <a:pt x="0" y="9"/>
                  <a:pt x="0" y="9"/>
                </a:cubicBezTo>
                <a:cubicBezTo>
                  <a:pt x="0" y="14"/>
                  <a:pt x="4" y="16"/>
                  <a:pt x="7" y="16"/>
                </a:cubicBezTo>
                <a:cubicBezTo>
                  <a:pt x="10" y="16"/>
                  <a:pt x="14" y="14"/>
                  <a:pt x="14" y="9"/>
                </a:cubicBezTo>
                <a:cubicBezTo>
                  <a:pt x="14" y="0"/>
                  <a:pt x="14" y="0"/>
                  <a:pt x="14" y="0"/>
                </a:cubicBezTo>
                <a:cubicBezTo>
                  <a:pt x="11" y="0"/>
                  <a:pt x="11" y="0"/>
                  <a:pt x="11" y="0"/>
                </a:cubicBezTo>
                <a:cubicBezTo>
                  <a:pt x="11" y="9"/>
                  <a:pt x="11" y="9"/>
                  <a:pt x="11" y="9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Freeform 14"/>
          <p:cNvSpPr>
            <a:spLocks/>
          </p:cNvSpPr>
          <p:nvPr userDrawn="1"/>
        </p:nvSpPr>
        <p:spPr bwMode="auto">
          <a:xfrm>
            <a:off x="7510463" y="796925"/>
            <a:ext cx="41275" cy="53975"/>
          </a:xfrm>
          <a:custGeom>
            <a:avLst/>
            <a:gdLst>
              <a:gd name="T0" fmla="*/ 7 w 13"/>
              <a:gd name="T1" fmla="*/ 7 h 17"/>
              <a:gd name="T2" fmla="*/ 3 w 13"/>
              <a:gd name="T3" fmla="*/ 5 h 17"/>
              <a:gd name="T4" fmla="*/ 7 w 13"/>
              <a:gd name="T5" fmla="*/ 3 h 17"/>
              <a:gd name="T6" fmla="*/ 11 w 13"/>
              <a:gd name="T7" fmla="*/ 5 h 17"/>
              <a:gd name="T8" fmla="*/ 11 w 13"/>
              <a:gd name="T9" fmla="*/ 5 h 17"/>
              <a:gd name="T10" fmla="*/ 13 w 13"/>
              <a:gd name="T11" fmla="*/ 4 h 17"/>
              <a:gd name="T12" fmla="*/ 13 w 13"/>
              <a:gd name="T13" fmla="*/ 3 h 17"/>
              <a:gd name="T14" fmla="*/ 7 w 13"/>
              <a:gd name="T15" fmla="*/ 0 h 17"/>
              <a:gd name="T16" fmla="*/ 2 w 13"/>
              <a:gd name="T17" fmla="*/ 2 h 17"/>
              <a:gd name="T18" fmla="*/ 0 w 13"/>
              <a:gd name="T19" fmla="*/ 5 h 17"/>
              <a:gd name="T20" fmla="*/ 7 w 13"/>
              <a:gd name="T21" fmla="*/ 10 h 17"/>
              <a:gd name="T22" fmla="*/ 11 w 13"/>
              <a:gd name="T23" fmla="*/ 12 h 17"/>
              <a:gd name="T24" fmla="*/ 7 w 13"/>
              <a:gd name="T25" fmla="*/ 15 h 17"/>
              <a:gd name="T26" fmla="*/ 2 w 13"/>
              <a:gd name="T27" fmla="*/ 12 h 17"/>
              <a:gd name="T28" fmla="*/ 2 w 13"/>
              <a:gd name="T29" fmla="*/ 12 h 17"/>
              <a:gd name="T30" fmla="*/ 0 w 13"/>
              <a:gd name="T31" fmla="*/ 13 h 17"/>
              <a:gd name="T32" fmla="*/ 0 w 13"/>
              <a:gd name="T33" fmla="*/ 14 h 17"/>
              <a:gd name="T34" fmla="*/ 7 w 13"/>
              <a:gd name="T35" fmla="*/ 17 h 17"/>
              <a:gd name="T36" fmla="*/ 13 w 13"/>
              <a:gd name="T37" fmla="*/ 12 h 17"/>
              <a:gd name="T38" fmla="*/ 7 w 13"/>
              <a:gd name="T39" fmla="*/ 7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13" h="17">
                <a:moveTo>
                  <a:pt x="7" y="7"/>
                </a:moveTo>
                <a:cubicBezTo>
                  <a:pt x="5" y="7"/>
                  <a:pt x="3" y="6"/>
                  <a:pt x="3" y="5"/>
                </a:cubicBezTo>
                <a:cubicBezTo>
                  <a:pt x="3" y="4"/>
                  <a:pt x="5" y="3"/>
                  <a:pt x="7" y="3"/>
                </a:cubicBezTo>
                <a:cubicBezTo>
                  <a:pt x="9" y="3"/>
                  <a:pt x="10" y="3"/>
                  <a:pt x="11" y="5"/>
                </a:cubicBezTo>
                <a:cubicBezTo>
                  <a:pt x="11" y="5"/>
                  <a:pt x="11" y="5"/>
                  <a:pt x="11" y="5"/>
                </a:cubicBezTo>
                <a:cubicBezTo>
                  <a:pt x="13" y="4"/>
                  <a:pt x="13" y="4"/>
                  <a:pt x="13" y="4"/>
                </a:cubicBezTo>
                <a:cubicBezTo>
                  <a:pt x="13" y="3"/>
                  <a:pt x="13" y="3"/>
                  <a:pt x="13" y="3"/>
                </a:cubicBezTo>
                <a:cubicBezTo>
                  <a:pt x="12" y="1"/>
                  <a:pt x="10" y="0"/>
                  <a:pt x="7" y="0"/>
                </a:cubicBezTo>
                <a:cubicBezTo>
                  <a:pt x="5" y="0"/>
                  <a:pt x="3" y="1"/>
                  <a:pt x="2" y="2"/>
                </a:cubicBezTo>
                <a:cubicBezTo>
                  <a:pt x="1" y="3"/>
                  <a:pt x="0" y="4"/>
                  <a:pt x="0" y="5"/>
                </a:cubicBezTo>
                <a:cubicBezTo>
                  <a:pt x="0" y="9"/>
                  <a:pt x="4" y="9"/>
                  <a:pt x="7" y="10"/>
                </a:cubicBezTo>
                <a:cubicBezTo>
                  <a:pt x="9" y="10"/>
                  <a:pt x="11" y="11"/>
                  <a:pt x="11" y="12"/>
                </a:cubicBezTo>
                <a:cubicBezTo>
                  <a:pt x="11" y="15"/>
                  <a:pt x="8" y="15"/>
                  <a:pt x="7" y="15"/>
                </a:cubicBezTo>
                <a:cubicBezTo>
                  <a:pt x="5" y="15"/>
                  <a:pt x="3" y="14"/>
                  <a:pt x="2" y="12"/>
                </a:cubicBezTo>
                <a:cubicBezTo>
                  <a:pt x="2" y="12"/>
                  <a:pt x="2" y="12"/>
                  <a:pt x="2" y="12"/>
                </a:cubicBezTo>
                <a:cubicBezTo>
                  <a:pt x="0" y="13"/>
                  <a:pt x="0" y="13"/>
                  <a:pt x="0" y="13"/>
                </a:cubicBezTo>
                <a:cubicBezTo>
                  <a:pt x="0" y="14"/>
                  <a:pt x="0" y="14"/>
                  <a:pt x="0" y="14"/>
                </a:cubicBezTo>
                <a:cubicBezTo>
                  <a:pt x="1" y="16"/>
                  <a:pt x="3" y="17"/>
                  <a:pt x="7" y="17"/>
                </a:cubicBezTo>
                <a:cubicBezTo>
                  <a:pt x="10" y="17"/>
                  <a:pt x="13" y="16"/>
                  <a:pt x="13" y="12"/>
                </a:cubicBezTo>
                <a:cubicBezTo>
                  <a:pt x="13" y="9"/>
                  <a:pt x="10" y="8"/>
                  <a:pt x="7" y="7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Freeform 15"/>
          <p:cNvSpPr>
            <a:spLocks/>
          </p:cNvSpPr>
          <p:nvPr userDrawn="1"/>
        </p:nvSpPr>
        <p:spPr bwMode="auto">
          <a:xfrm>
            <a:off x="7558088" y="800100"/>
            <a:ext cx="41275" cy="50800"/>
          </a:xfrm>
          <a:custGeom>
            <a:avLst/>
            <a:gdLst>
              <a:gd name="T0" fmla="*/ 0 w 26"/>
              <a:gd name="T1" fmla="*/ 4 h 32"/>
              <a:gd name="T2" fmla="*/ 10 w 26"/>
              <a:gd name="T3" fmla="*/ 4 h 32"/>
              <a:gd name="T4" fmla="*/ 10 w 26"/>
              <a:gd name="T5" fmla="*/ 32 h 32"/>
              <a:gd name="T6" fmla="*/ 16 w 26"/>
              <a:gd name="T7" fmla="*/ 32 h 32"/>
              <a:gd name="T8" fmla="*/ 16 w 26"/>
              <a:gd name="T9" fmla="*/ 4 h 32"/>
              <a:gd name="T10" fmla="*/ 26 w 26"/>
              <a:gd name="T11" fmla="*/ 4 h 32"/>
              <a:gd name="T12" fmla="*/ 26 w 26"/>
              <a:gd name="T13" fmla="*/ 0 h 32"/>
              <a:gd name="T14" fmla="*/ 0 w 26"/>
              <a:gd name="T15" fmla="*/ 0 h 32"/>
              <a:gd name="T16" fmla="*/ 0 w 26"/>
              <a:gd name="T17" fmla="*/ 4 h 32"/>
              <a:gd name="T18" fmla="*/ 0 w 26"/>
              <a:gd name="T19" fmla="*/ 4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6" h="32">
                <a:moveTo>
                  <a:pt x="0" y="4"/>
                </a:moveTo>
                <a:lnTo>
                  <a:pt x="10" y="4"/>
                </a:lnTo>
                <a:lnTo>
                  <a:pt x="10" y="32"/>
                </a:lnTo>
                <a:lnTo>
                  <a:pt x="16" y="32"/>
                </a:lnTo>
                <a:lnTo>
                  <a:pt x="16" y="4"/>
                </a:lnTo>
                <a:lnTo>
                  <a:pt x="26" y="4"/>
                </a:lnTo>
                <a:lnTo>
                  <a:pt x="26" y="0"/>
                </a:lnTo>
                <a:lnTo>
                  <a:pt x="0" y="0"/>
                </a:lnTo>
                <a:lnTo>
                  <a:pt x="0" y="4"/>
                </a:lnTo>
                <a:lnTo>
                  <a:pt x="0" y="4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Freeform 16"/>
          <p:cNvSpPr>
            <a:spLocks noEditPoints="1"/>
          </p:cNvSpPr>
          <p:nvPr userDrawn="1"/>
        </p:nvSpPr>
        <p:spPr bwMode="auto">
          <a:xfrm>
            <a:off x="7608888" y="800100"/>
            <a:ext cx="44450" cy="50800"/>
          </a:xfrm>
          <a:custGeom>
            <a:avLst/>
            <a:gdLst>
              <a:gd name="T0" fmla="*/ 13 w 14"/>
              <a:gd name="T1" fmla="*/ 5 h 16"/>
              <a:gd name="T2" fmla="*/ 7 w 14"/>
              <a:gd name="T3" fmla="*/ 0 h 16"/>
              <a:gd name="T4" fmla="*/ 0 w 14"/>
              <a:gd name="T5" fmla="*/ 0 h 16"/>
              <a:gd name="T6" fmla="*/ 0 w 14"/>
              <a:gd name="T7" fmla="*/ 16 h 16"/>
              <a:gd name="T8" fmla="*/ 2 w 14"/>
              <a:gd name="T9" fmla="*/ 16 h 16"/>
              <a:gd name="T10" fmla="*/ 2 w 14"/>
              <a:gd name="T11" fmla="*/ 10 h 16"/>
              <a:gd name="T12" fmla="*/ 6 w 14"/>
              <a:gd name="T13" fmla="*/ 10 h 16"/>
              <a:gd name="T14" fmla="*/ 10 w 14"/>
              <a:gd name="T15" fmla="*/ 16 h 16"/>
              <a:gd name="T16" fmla="*/ 14 w 14"/>
              <a:gd name="T17" fmla="*/ 16 h 16"/>
              <a:gd name="T18" fmla="*/ 8 w 14"/>
              <a:gd name="T19" fmla="*/ 10 h 16"/>
              <a:gd name="T20" fmla="*/ 13 w 14"/>
              <a:gd name="T21" fmla="*/ 5 h 16"/>
              <a:gd name="T22" fmla="*/ 2 w 14"/>
              <a:gd name="T23" fmla="*/ 2 h 16"/>
              <a:gd name="T24" fmla="*/ 7 w 14"/>
              <a:gd name="T25" fmla="*/ 2 h 16"/>
              <a:gd name="T26" fmla="*/ 10 w 14"/>
              <a:gd name="T27" fmla="*/ 5 h 16"/>
              <a:gd name="T28" fmla="*/ 7 w 14"/>
              <a:gd name="T29" fmla="*/ 8 h 16"/>
              <a:gd name="T30" fmla="*/ 2 w 14"/>
              <a:gd name="T31" fmla="*/ 8 h 16"/>
              <a:gd name="T32" fmla="*/ 2 w 14"/>
              <a:gd name="T33" fmla="*/ 2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</a:cxnLst>
            <a:rect l="0" t="0" r="r" b="b"/>
            <a:pathLst>
              <a:path w="14" h="16">
                <a:moveTo>
                  <a:pt x="13" y="5"/>
                </a:moveTo>
                <a:cubicBezTo>
                  <a:pt x="13" y="2"/>
                  <a:pt x="11" y="0"/>
                  <a:pt x="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"/>
                  <a:pt x="0" y="16"/>
                  <a:pt x="0" y="16"/>
                </a:cubicBezTo>
                <a:cubicBezTo>
                  <a:pt x="2" y="16"/>
                  <a:pt x="2" y="16"/>
                  <a:pt x="2" y="16"/>
                </a:cubicBezTo>
                <a:cubicBezTo>
                  <a:pt x="2" y="10"/>
                  <a:pt x="2" y="10"/>
                  <a:pt x="2" y="10"/>
                </a:cubicBezTo>
                <a:cubicBezTo>
                  <a:pt x="6" y="10"/>
                  <a:pt x="6" y="10"/>
                  <a:pt x="6" y="10"/>
                </a:cubicBezTo>
                <a:cubicBezTo>
                  <a:pt x="10" y="16"/>
                  <a:pt x="10" y="16"/>
                  <a:pt x="10" y="16"/>
                </a:cubicBezTo>
                <a:cubicBezTo>
                  <a:pt x="14" y="16"/>
                  <a:pt x="14" y="16"/>
                  <a:pt x="14" y="16"/>
                </a:cubicBezTo>
                <a:cubicBezTo>
                  <a:pt x="8" y="10"/>
                  <a:pt x="8" y="10"/>
                  <a:pt x="8" y="10"/>
                </a:cubicBezTo>
                <a:cubicBezTo>
                  <a:pt x="11" y="10"/>
                  <a:pt x="13" y="8"/>
                  <a:pt x="13" y="5"/>
                </a:cubicBezTo>
                <a:close/>
                <a:moveTo>
                  <a:pt x="2" y="2"/>
                </a:moveTo>
                <a:cubicBezTo>
                  <a:pt x="7" y="2"/>
                  <a:pt x="7" y="2"/>
                  <a:pt x="7" y="2"/>
                </a:cubicBezTo>
                <a:cubicBezTo>
                  <a:pt x="9" y="2"/>
                  <a:pt x="10" y="4"/>
                  <a:pt x="10" y="5"/>
                </a:cubicBezTo>
                <a:cubicBezTo>
                  <a:pt x="10" y="6"/>
                  <a:pt x="9" y="8"/>
                  <a:pt x="7" y="8"/>
                </a:cubicBezTo>
                <a:cubicBezTo>
                  <a:pt x="2" y="8"/>
                  <a:pt x="2" y="8"/>
                  <a:pt x="2" y="8"/>
                </a:cubicBezTo>
                <a:cubicBezTo>
                  <a:pt x="2" y="2"/>
                  <a:pt x="2" y="2"/>
                  <a:pt x="2" y="2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Freeform 17"/>
          <p:cNvSpPr>
            <a:spLocks noEditPoints="1"/>
          </p:cNvSpPr>
          <p:nvPr userDrawn="1"/>
        </p:nvSpPr>
        <p:spPr bwMode="auto">
          <a:xfrm>
            <a:off x="7656513" y="800100"/>
            <a:ext cx="53975" cy="50800"/>
          </a:xfrm>
          <a:custGeom>
            <a:avLst/>
            <a:gdLst>
              <a:gd name="T0" fmla="*/ 18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4 w 34"/>
              <a:gd name="T7" fmla="*/ 32 h 32"/>
              <a:gd name="T8" fmla="*/ 8 w 34"/>
              <a:gd name="T9" fmla="*/ 26 h 32"/>
              <a:gd name="T10" fmla="*/ 24 w 34"/>
              <a:gd name="T11" fmla="*/ 26 h 32"/>
              <a:gd name="T12" fmla="*/ 28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18 w 34"/>
              <a:gd name="T19" fmla="*/ 0 h 32"/>
              <a:gd name="T20" fmla="*/ 18 w 34"/>
              <a:gd name="T21" fmla="*/ 0 h 32"/>
              <a:gd name="T22" fmla="*/ 22 w 34"/>
              <a:gd name="T23" fmla="*/ 20 h 32"/>
              <a:gd name="T24" fmla="*/ 10 w 34"/>
              <a:gd name="T25" fmla="*/ 20 h 32"/>
              <a:gd name="T26" fmla="*/ 16 w 34"/>
              <a:gd name="T27" fmla="*/ 6 h 32"/>
              <a:gd name="T28" fmla="*/ 22 w 34"/>
              <a:gd name="T29" fmla="*/ 20 h 32"/>
              <a:gd name="T30" fmla="*/ 22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18" y="0"/>
                </a:moveTo>
                <a:lnTo>
                  <a:pt x="14" y="0"/>
                </a:lnTo>
                <a:lnTo>
                  <a:pt x="0" y="32"/>
                </a:lnTo>
                <a:lnTo>
                  <a:pt x="4" y="32"/>
                </a:lnTo>
                <a:lnTo>
                  <a:pt x="8" y="26"/>
                </a:lnTo>
                <a:lnTo>
                  <a:pt x="24" y="26"/>
                </a:lnTo>
                <a:lnTo>
                  <a:pt x="28" y="32"/>
                </a:lnTo>
                <a:lnTo>
                  <a:pt x="34" y="32"/>
                </a:lnTo>
                <a:lnTo>
                  <a:pt x="20" y="0"/>
                </a:lnTo>
                <a:lnTo>
                  <a:pt x="18" y="0"/>
                </a:lnTo>
                <a:lnTo>
                  <a:pt x="18" y="0"/>
                </a:lnTo>
                <a:close/>
                <a:moveTo>
                  <a:pt x="22" y="20"/>
                </a:moveTo>
                <a:lnTo>
                  <a:pt x="10" y="20"/>
                </a:lnTo>
                <a:lnTo>
                  <a:pt x="16" y="6"/>
                </a:lnTo>
                <a:lnTo>
                  <a:pt x="22" y="20"/>
                </a:lnTo>
                <a:lnTo>
                  <a:pt x="22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Freeform 18"/>
          <p:cNvSpPr>
            <a:spLocks/>
          </p:cNvSpPr>
          <p:nvPr userDrawn="1"/>
        </p:nvSpPr>
        <p:spPr bwMode="auto">
          <a:xfrm>
            <a:off x="7716838" y="800100"/>
            <a:ext cx="34925" cy="50800"/>
          </a:xfrm>
          <a:custGeom>
            <a:avLst/>
            <a:gdLst>
              <a:gd name="T0" fmla="*/ 6 w 22"/>
              <a:gd name="T1" fmla="*/ 0 h 32"/>
              <a:gd name="T2" fmla="*/ 0 w 22"/>
              <a:gd name="T3" fmla="*/ 0 h 32"/>
              <a:gd name="T4" fmla="*/ 0 w 22"/>
              <a:gd name="T5" fmla="*/ 32 h 32"/>
              <a:gd name="T6" fmla="*/ 22 w 22"/>
              <a:gd name="T7" fmla="*/ 32 h 32"/>
              <a:gd name="T8" fmla="*/ 22 w 22"/>
              <a:gd name="T9" fmla="*/ 28 h 32"/>
              <a:gd name="T10" fmla="*/ 6 w 22"/>
              <a:gd name="T11" fmla="*/ 28 h 32"/>
              <a:gd name="T12" fmla="*/ 6 w 22"/>
              <a:gd name="T13" fmla="*/ 0 h 32"/>
              <a:gd name="T14" fmla="*/ 6 w 22"/>
              <a:gd name="T15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2" h="32">
                <a:moveTo>
                  <a:pt x="6" y="0"/>
                </a:moveTo>
                <a:lnTo>
                  <a:pt x="0" y="0"/>
                </a:lnTo>
                <a:lnTo>
                  <a:pt x="0" y="32"/>
                </a:lnTo>
                <a:lnTo>
                  <a:pt x="22" y="32"/>
                </a:lnTo>
                <a:lnTo>
                  <a:pt x="22" y="28"/>
                </a:lnTo>
                <a:lnTo>
                  <a:pt x="6" y="28"/>
                </a:lnTo>
                <a:lnTo>
                  <a:pt x="6" y="0"/>
                </a:lnTo>
                <a:lnTo>
                  <a:pt x="6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Freeform 19"/>
          <p:cNvSpPr>
            <a:spLocks/>
          </p:cNvSpPr>
          <p:nvPr userDrawn="1"/>
        </p:nvSpPr>
        <p:spPr bwMode="auto">
          <a:xfrm>
            <a:off x="7761288" y="800100"/>
            <a:ext cx="6350" cy="50800"/>
          </a:xfrm>
          <a:custGeom>
            <a:avLst/>
            <a:gdLst>
              <a:gd name="T0" fmla="*/ 0 w 4"/>
              <a:gd name="T1" fmla="*/ 32 h 32"/>
              <a:gd name="T2" fmla="*/ 4 w 4"/>
              <a:gd name="T3" fmla="*/ 32 h 32"/>
              <a:gd name="T4" fmla="*/ 4 w 4"/>
              <a:gd name="T5" fmla="*/ 0 h 32"/>
              <a:gd name="T6" fmla="*/ 0 w 4"/>
              <a:gd name="T7" fmla="*/ 0 h 32"/>
              <a:gd name="T8" fmla="*/ 0 w 4"/>
              <a:gd name="T9" fmla="*/ 32 h 32"/>
              <a:gd name="T10" fmla="*/ 0 w 4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4" h="32">
                <a:moveTo>
                  <a:pt x="0" y="32"/>
                </a:moveTo>
                <a:lnTo>
                  <a:pt x="4" y="32"/>
                </a:lnTo>
                <a:lnTo>
                  <a:pt x="4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Freeform 20"/>
          <p:cNvSpPr>
            <a:spLocks noEditPoints="1"/>
          </p:cNvSpPr>
          <p:nvPr userDrawn="1"/>
        </p:nvSpPr>
        <p:spPr bwMode="auto">
          <a:xfrm>
            <a:off x="7777163" y="800100"/>
            <a:ext cx="53975" cy="50800"/>
          </a:xfrm>
          <a:custGeom>
            <a:avLst/>
            <a:gdLst>
              <a:gd name="T0" fmla="*/ 20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6 w 34"/>
              <a:gd name="T7" fmla="*/ 32 h 32"/>
              <a:gd name="T8" fmla="*/ 8 w 34"/>
              <a:gd name="T9" fmla="*/ 26 h 32"/>
              <a:gd name="T10" fmla="*/ 26 w 34"/>
              <a:gd name="T11" fmla="*/ 26 h 32"/>
              <a:gd name="T12" fmla="*/ 28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20 w 34"/>
              <a:gd name="T19" fmla="*/ 0 h 32"/>
              <a:gd name="T20" fmla="*/ 20 w 34"/>
              <a:gd name="T21" fmla="*/ 0 h 32"/>
              <a:gd name="T22" fmla="*/ 24 w 34"/>
              <a:gd name="T23" fmla="*/ 20 h 32"/>
              <a:gd name="T24" fmla="*/ 10 w 34"/>
              <a:gd name="T25" fmla="*/ 20 h 32"/>
              <a:gd name="T26" fmla="*/ 18 w 34"/>
              <a:gd name="T27" fmla="*/ 6 h 32"/>
              <a:gd name="T28" fmla="*/ 24 w 34"/>
              <a:gd name="T29" fmla="*/ 20 h 32"/>
              <a:gd name="T30" fmla="*/ 24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20" y="0"/>
                </a:moveTo>
                <a:lnTo>
                  <a:pt x="14" y="0"/>
                </a:lnTo>
                <a:lnTo>
                  <a:pt x="0" y="32"/>
                </a:lnTo>
                <a:lnTo>
                  <a:pt x="6" y="32"/>
                </a:lnTo>
                <a:lnTo>
                  <a:pt x="8" y="26"/>
                </a:lnTo>
                <a:lnTo>
                  <a:pt x="26" y="26"/>
                </a:lnTo>
                <a:lnTo>
                  <a:pt x="28" y="32"/>
                </a:lnTo>
                <a:lnTo>
                  <a:pt x="34" y="32"/>
                </a:lnTo>
                <a:lnTo>
                  <a:pt x="20" y="0"/>
                </a:lnTo>
                <a:lnTo>
                  <a:pt x="20" y="0"/>
                </a:lnTo>
                <a:lnTo>
                  <a:pt x="20" y="0"/>
                </a:lnTo>
                <a:close/>
                <a:moveTo>
                  <a:pt x="24" y="20"/>
                </a:moveTo>
                <a:lnTo>
                  <a:pt x="10" y="20"/>
                </a:lnTo>
                <a:lnTo>
                  <a:pt x="18" y="6"/>
                </a:lnTo>
                <a:lnTo>
                  <a:pt x="24" y="20"/>
                </a:lnTo>
                <a:lnTo>
                  <a:pt x="24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Freeform 21"/>
          <p:cNvSpPr>
            <a:spLocks/>
          </p:cNvSpPr>
          <p:nvPr userDrawn="1"/>
        </p:nvSpPr>
        <p:spPr bwMode="auto">
          <a:xfrm>
            <a:off x="7840663" y="800100"/>
            <a:ext cx="41275" cy="50800"/>
          </a:xfrm>
          <a:custGeom>
            <a:avLst/>
            <a:gdLst>
              <a:gd name="T0" fmla="*/ 22 w 26"/>
              <a:gd name="T1" fmla="*/ 22 h 32"/>
              <a:gd name="T2" fmla="*/ 2 w 26"/>
              <a:gd name="T3" fmla="*/ 0 h 32"/>
              <a:gd name="T4" fmla="*/ 0 w 26"/>
              <a:gd name="T5" fmla="*/ 0 h 32"/>
              <a:gd name="T6" fmla="*/ 0 w 26"/>
              <a:gd name="T7" fmla="*/ 32 h 32"/>
              <a:gd name="T8" fmla="*/ 4 w 26"/>
              <a:gd name="T9" fmla="*/ 32 h 32"/>
              <a:gd name="T10" fmla="*/ 4 w 26"/>
              <a:gd name="T11" fmla="*/ 10 h 32"/>
              <a:gd name="T12" fmla="*/ 22 w 26"/>
              <a:gd name="T13" fmla="*/ 32 h 32"/>
              <a:gd name="T14" fmla="*/ 26 w 26"/>
              <a:gd name="T15" fmla="*/ 32 h 32"/>
              <a:gd name="T16" fmla="*/ 26 w 26"/>
              <a:gd name="T17" fmla="*/ 0 h 32"/>
              <a:gd name="T18" fmla="*/ 22 w 26"/>
              <a:gd name="T19" fmla="*/ 0 h 32"/>
              <a:gd name="T20" fmla="*/ 22 w 26"/>
              <a:gd name="T21" fmla="*/ 22 h 32"/>
              <a:gd name="T22" fmla="*/ 22 w 26"/>
              <a:gd name="T23" fmla="*/ 2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26" h="32">
                <a:moveTo>
                  <a:pt x="22" y="22"/>
                </a:moveTo>
                <a:lnTo>
                  <a:pt x="2" y="0"/>
                </a:lnTo>
                <a:lnTo>
                  <a:pt x="0" y="0"/>
                </a:lnTo>
                <a:lnTo>
                  <a:pt x="0" y="32"/>
                </a:lnTo>
                <a:lnTo>
                  <a:pt x="4" y="32"/>
                </a:lnTo>
                <a:lnTo>
                  <a:pt x="4" y="10"/>
                </a:lnTo>
                <a:lnTo>
                  <a:pt x="22" y="32"/>
                </a:lnTo>
                <a:lnTo>
                  <a:pt x="26" y="32"/>
                </a:lnTo>
                <a:lnTo>
                  <a:pt x="26" y="0"/>
                </a:lnTo>
                <a:lnTo>
                  <a:pt x="22" y="0"/>
                </a:lnTo>
                <a:lnTo>
                  <a:pt x="22" y="22"/>
                </a:lnTo>
                <a:lnTo>
                  <a:pt x="22" y="2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Freeform 22"/>
          <p:cNvSpPr>
            <a:spLocks/>
          </p:cNvSpPr>
          <p:nvPr userDrawn="1"/>
        </p:nvSpPr>
        <p:spPr bwMode="auto">
          <a:xfrm>
            <a:off x="7920038" y="796925"/>
            <a:ext cx="47625" cy="53975"/>
          </a:xfrm>
          <a:custGeom>
            <a:avLst/>
            <a:gdLst>
              <a:gd name="T0" fmla="*/ 13 w 15"/>
              <a:gd name="T1" fmla="*/ 13 h 17"/>
              <a:gd name="T2" fmla="*/ 9 w 15"/>
              <a:gd name="T3" fmla="*/ 15 h 17"/>
              <a:gd name="T4" fmla="*/ 3 w 15"/>
              <a:gd name="T5" fmla="*/ 9 h 17"/>
              <a:gd name="T6" fmla="*/ 9 w 15"/>
              <a:gd name="T7" fmla="*/ 3 h 17"/>
              <a:gd name="T8" fmla="*/ 13 w 15"/>
              <a:gd name="T9" fmla="*/ 5 h 17"/>
              <a:gd name="T10" fmla="*/ 13 w 15"/>
              <a:gd name="T11" fmla="*/ 5 h 17"/>
              <a:gd name="T12" fmla="*/ 15 w 15"/>
              <a:gd name="T13" fmla="*/ 3 h 17"/>
              <a:gd name="T14" fmla="*/ 15 w 15"/>
              <a:gd name="T15" fmla="*/ 3 h 17"/>
              <a:gd name="T16" fmla="*/ 9 w 15"/>
              <a:gd name="T17" fmla="*/ 0 h 17"/>
              <a:gd name="T18" fmla="*/ 2 w 15"/>
              <a:gd name="T19" fmla="*/ 3 h 17"/>
              <a:gd name="T20" fmla="*/ 0 w 15"/>
              <a:gd name="T21" fmla="*/ 9 h 17"/>
              <a:gd name="T22" fmla="*/ 9 w 15"/>
              <a:gd name="T23" fmla="*/ 17 h 17"/>
              <a:gd name="T24" fmla="*/ 15 w 15"/>
              <a:gd name="T25" fmla="*/ 15 h 17"/>
              <a:gd name="T26" fmla="*/ 15 w 15"/>
              <a:gd name="T27" fmla="*/ 15 h 17"/>
              <a:gd name="T28" fmla="*/ 13 w 15"/>
              <a:gd name="T29" fmla="*/ 13 h 17"/>
              <a:gd name="T30" fmla="*/ 13 w 15"/>
              <a:gd name="T31" fmla="*/ 13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15" h="17">
                <a:moveTo>
                  <a:pt x="13" y="13"/>
                </a:moveTo>
                <a:cubicBezTo>
                  <a:pt x="12" y="14"/>
                  <a:pt x="10" y="15"/>
                  <a:pt x="9" y="15"/>
                </a:cubicBezTo>
                <a:cubicBezTo>
                  <a:pt x="4" y="15"/>
                  <a:pt x="3" y="12"/>
                  <a:pt x="3" y="9"/>
                </a:cubicBezTo>
                <a:cubicBezTo>
                  <a:pt x="3" y="6"/>
                  <a:pt x="4" y="3"/>
                  <a:pt x="9" y="3"/>
                </a:cubicBezTo>
                <a:cubicBezTo>
                  <a:pt x="10" y="3"/>
                  <a:pt x="12" y="3"/>
                  <a:pt x="13" y="5"/>
                </a:cubicBezTo>
                <a:cubicBezTo>
                  <a:pt x="13" y="5"/>
                  <a:pt x="13" y="5"/>
                  <a:pt x="13" y="5"/>
                </a:cubicBezTo>
                <a:cubicBezTo>
                  <a:pt x="15" y="3"/>
                  <a:pt x="15" y="3"/>
                  <a:pt x="15" y="3"/>
                </a:cubicBezTo>
                <a:cubicBezTo>
                  <a:pt x="15" y="3"/>
                  <a:pt x="15" y="3"/>
                  <a:pt x="15" y="3"/>
                </a:cubicBezTo>
                <a:cubicBezTo>
                  <a:pt x="13" y="1"/>
                  <a:pt x="11" y="0"/>
                  <a:pt x="9" y="0"/>
                </a:cubicBezTo>
                <a:cubicBezTo>
                  <a:pt x="6" y="0"/>
                  <a:pt x="4" y="1"/>
                  <a:pt x="2" y="3"/>
                </a:cubicBezTo>
                <a:cubicBezTo>
                  <a:pt x="1" y="4"/>
                  <a:pt x="0" y="7"/>
                  <a:pt x="0" y="9"/>
                </a:cubicBezTo>
                <a:cubicBezTo>
                  <a:pt x="0" y="13"/>
                  <a:pt x="3" y="17"/>
                  <a:pt x="9" y="17"/>
                </a:cubicBezTo>
                <a:cubicBezTo>
                  <a:pt x="11" y="17"/>
                  <a:pt x="13" y="16"/>
                  <a:pt x="15" y="15"/>
                </a:cubicBezTo>
                <a:cubicBezTo>
                  <a:pt x="15" y="15"/>
                  <a:pt x="15" y="15"/>
                  <a:pt x="15" y="15"/>
                </a:cubicBezTo>
                <a:cubicBezTo>
                  <a:pt x="13" y="13"/>
                  <a:pt x="13" y="13"/>
                  <a:pt x="13" y="13"/>
                </a:cubicBezTo>
                <a:cubicBezTo>
                  <a:pt x="13" y="13"/>
                  <a:pt x="13" y="13"/>
                  <a:pt x="13" y="13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Freeform 23"/>
          <p:cNvSpPr>
            <a:spLocks noEditPoints="1"/>
          </p:cNvSpPr>
          <p:nvPr userDrawn="1"/>
        </p:nvSpPr>
        <p:spPr bwMode="auto">
          <a:xfrm>
            <a:off x="7970838" y="800100"/>
            <a:ext cx="53975" cy="50800"/>
          </a:xfrm>
          <a:custGeom>
            <a:avLst/>
            <a:gdLst>
              <a:gd name="T0" fmla="*/ 20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6 w 34"/>
              <a:gd name="T7" fmla="*/ 32 h 32"/>
              <a:gd name="T8" fmla="*/ 8 w 34"/>
              <a:gd name="T9" fmla="*/ 26 h 32"/>
              <a:gd name="T10" fmla="*/ 26 w 34"/>
              <a:gd name="T11" fmla="*/ 26 h 32"/>
              <a:gd name="T12" fmla="*/ 28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20 w 34"/>
              <a:gd name="T19" fmla="*/ 0 h 32"/>
              <a:gd name="T20" fmla="*/ 20 w 34"/>
              <a:gd name="T21" fmla="*/ 0 h 32"/>
              <a:gd name="T22" fmla="*/ 24 w 34"/>
              <a:gd name="T23" fmla="*/ 20 h 32"/>
              <a:gd name="T24" fmla="*/ 10 w 34"/>
              <a:gd name="T25" fmla="*/ 20 h 32"/>
              <a:gd name="T26" fmla="*/ 16 w 34"/>
              <a:gd name="T27" fmla="*/ 6 h 32"/>
              <a:gd name="T28" fmla="*/ 24 w 34"/>
              <a:gd name="T29" fmla="*/ 20 h 32"/>
              <a:gd name="T30" fmla="*/ 24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20" y="0"/>
                </a:moveTo>
                <a:lnTo>
                  <a:pt x="14" y="0"/>
                </a:lnTo>
                <a:lnTo>
                  <a:pt x="0" y="32"/>
                </a:lnTo>
                <a:lnTo>
                  <a:pt x="6" y="32"/>
                </a:lnTo>
                <a:lnTo>
                  <a:pt x="8" y="26"/>
                </a:lnTo>
                <a:lnTo>
                  <a:pt x="26" y="26"/>
                </a:lnTo>
                <a:lnTo>
                  <a:pt x="28" y="32"/>
                </a:lnTo>
                <a:lnTo>
                  <a:pt x="34" y="32"/>
                </a:lnTo>
                <a:lnTo>
                  <a:pt x="20" y="0"/>
                </a:lnTo>
                <a:lnTo>
                  <a:pt x="20" y="0"/>
                </a:lnTo>
                <a:lnTo>
                  <a:pt x="20" y="0"/>
                </a:lnTo>
                <a:close/>
                <a:moveTo>
                  <a:pt x="24" y="20"/>
                </a:moveTo>
                <a:lnTo>
                  <a:pt x="10" y="20"/>
                </a:lnTo>
                <a:lnTo>
                  <a:pt x="16" y="6"/>
                </a:lnTo>
                <a:lnTo>
                  <a:pt x="24" y="20"/>
                </a:lnTo>
                <a:lnTo>
                  <a:pt x="24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Freeform 24"/>
          <p:cNvSpPr>
            <a:spLocks/>
          </p:cNvSpPr>
          <p:nvPr userDrawn="1"/>
        </p:nvSpPr>
        <p:spPr bwMode="auto">
          <a:xfrm>
            <a:off x="8021638" y="800100"/>
            <a:ext cx="44450" cy="50800"/>
          </a:xfrm>
          <a:custGeom>
            <a:avLst/>
            <a:gdLst>
              <a:gd name="T0" fmla="*/ 0 w 28"/>
              <a:gd name="T1" fmla="*/ 4 h 32"/>
              <a:gd name="T2" fmla="*/ 12 w 28"/>
              <a:gd name="T3" fmla="*/ 4 h 32"/>
              <a:gd name="T4" fmla="*/ 12 w 28"/>
              <a:gd name="T5" fmla="*/ 32 h 32"/>
              <a:gd name="T6" fmla="*/ 16 w 28"/>
              <a:gd name="T7" fmla="*/ 32 h 32"/>
              <a:gd name="T8" fmla="*/ 16 w 28"/>
              <a:gd name="T9" fmla="*/ 4 h 32"/>
              <a:gd name="T10" fmla="*/ 28 w 28"/>
              <a:gd name="T11" fmla="*/ 4 h 32"/>
              <a:gd name="T12" fmla="*/ 28 w 28"/>
              <a:gd name="T13" fmla="*/ 0 h 32"/>
              <a:gd name="T14" fmla="*/ 0 w 28"/>
              <a:gd name="T15" fmla="*/ 0 h 32"/>
              <a:gd name="T16" fmla="*/ 0 w 28"/>
              <a:gd name="T17" fmla="*/ 4 h 32"/>
              <a:gd name="T18" fmla="*/ 0 w 28"/>
              <a:gd name="T19" fmla="*/ 4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8" h="32">
                <a:moveTo>
                  <a:pt x="0" y="4"/>
                </a:moveTo>
                <a:lnTo>
                  <a:pt x="12" y="4"/>
                </a:lnTo>
                <a:lnTo>
                  <a:pt x="12" y="32"/>
                </a:lnTo>
                <a:lnTo>
                  <a:pt x="16" y="32"/>
                </a:lnTo>
                <a:lnTo>
                  <a:pt x="16" y="4"/>
                </a:lnTo>
                <a:lnTo>
                  <a:pt x="28" y="4"/>
                </a:lnTo>
                <a:lnTo>
                  <a:pt x="28" y="0"/>
                </a:lnTo>
                <a:lnTo>
                  <a:pt x="0" y="0"/>
                </a:lnTo>
                <a:lnTo>
                  <a:pt x="0" y="4"/>
                </a:lnTo>
                <a:lnTo>
                  <a:pt x="0" y="4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Freeform 25"/>
          <p:cNvSpPr>
            <a:spLocks/>
          </p:cNvSpPr>
          <p:nvPr userDrawn="1"/>
        </p:nvSpPr>
        <p:spPr bwMode="auto">
          <a:xfrm>
            <a:off x="8072438" y="800100"/>
            <a:ext cx="44450" cy="50800"/>
          </a:xfrm>
          <a:custGeom>
            <a:avLst/>
            <a:gdLst>
              <a:gd name="T0" fmla="*/ 22 w 28"/>
              <a:gd name="T1" fmla="*/ 12 h 32"/>
              <a:gd name="T2" fmla="*/ 6 w 28"/>
              <a:gd name="T3" fmla="*/ 12 h 32"/>
              <a:gd name="T4" fmla="*/ 6 w 28"/>
              <a:gd name="T5" fmla="*/ 0 h 32"/>
              <a:gd name="T6" fmla="*/ 0 w 28"/>
              <a:gd name="T7" fmla="*/ 0 h 32"/>
              <a:gd name="T8" fmla="*/ 0 w 28"/>
              <a:gd name="T9" fmla="*/ 32 h 32"/>
              <a:gd name="T10" fmla="*/ 6 w 28"/>
              <a:gd name="T11" fmla="*/ 32 h 32"/>
              <a:gd name="T12" fmla="*/ 6 w 28"/>
              <a:gd name="T13" fmla="*/ 18 h 32"/>
              <a:gd name="T14" fmla="*/ 22 w 28"/>
              <a:gd name="T15" fmla="*/ 18 h 32"/>
              <a:gd name="T16" fmla="*/ 22 w 28"/>
              <a:gd name="T17" fmla="*/ 32 h 32"/>
              <a:gd name="T18" fmla="*/ 28 w 28"/>
              <a:gd name="T19" fmla="*/ 32 h 32"/>
              <a:gd name="T20" fmla="*/ 28 w 28"/>
              <a:gd name="T21" fmla="*/ 0 h 32"/>
              <a:gd name="T22" fmla="*/ 22 w 28"/>
              <a:gd name="T23" fmla="*/ 0 h 32"/>
              <a:gd name="T24" fmla="*/ 22 w 28"/>
              <a:gd name="T25" fmla="*/ 12 h 32"/>
              <a:gd name="T26" fmla="*/ 22 w 28"/>
              <a:gd name="T27" fmla="*/ 1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28" h="32">
                <a:moveTo>
                  <a:pt x="22" y="12"/>
                </a:moveTo>
                <a:lnTo>
                  <a:pt x="6" y="12"/>
                </a:lnTo>
                <a:lnTo>
                  <a:pt x="6" y="0"/>
                </a:lnTo>
                <a:lnTo>
                  <a:pt x="0" y="0"/>
                </a:lnTo>
                <a:lnTo>
                  <a:pt x="0" y="32"/>
                </a:lnTo>
                <a:lnTo>
                  <a:pt x="6" y="32"/>
                </a:lnTo>
                <a:lnTo>
                  <a:pt x="6" y="18"/>
                </a:lnTo>
                <a:lnTo>
                  <a:pt x="22" y="18"/>
                </a:lnTo>
                <a:lnTo>
                  <a:pt x="22" y="32"/>
                </a:lnTo>
                <a:lnTo>
                  <a:pt x="28" y="32"/>
                </a:lnTo>
                <a:lnTo>
                  <a:pt x="28" y="0"/>
                </a:lnTo>
                <a:lnTo>
                  <a:pt x="22" y="0"/>
                </a:lnTo>
                <a:lnTo>
                  <a:pt x="22" y="12"/>
                </a:lnTo>
                <a:lnTo>
                  <a:pt x="22" y="1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Freeform 26"/>
          <p:cNvSpPr>
            <a:spLocks noEditPoints="1"/>
          </p:cNvSpPr>
          <p:nvPr userDrawn="1"/>
        </p:nvSpPr>
        <p:spPr bwMode="auto">
          <a:xfrm>
            <a:off x="8126413" y="796925"/>
            <a:ext cx="50800" cy="53975"/>
          </a:xfrm>
          <a:custGeom>
            <a:avLst/>
            <a:gdLst>
              <a:gd name="T0" fmla="*/ 8 w 16"/>
              <a:gd name="T1" fmla="*/ 0 h 17"/>
              <a:gd name="T2" fmla="*/ 0 w 16"/>
              <a:gd name="T3" fmla="*/ 9 h 17"/>
              <a:gd name="T4" fmla="*/ 8 w 16"/>
              <a:gd name="T5" fmla="*/ 17 h 17"/>
              <a:gd name="T6" fmla="*/ 16 w 16"/>
              <a:gd name="T7" fmla="*/ 9 h 17"/>
              <a:gd name="T8" fmla="*/ 8 w 16"/>
              <a:gd name="T9" fmla="*/ 0 h 17"/>
              <a:gd name="T10" fmla="*/ 8 w 16"/>
              <a:gd name="T11" fmla="*/ 15 h 17"/>
              <a:gd name="T12" fmla="*/ 2 w 16"/>
              <a:gd name="T13" fmla="*/ 9 h 17"/>
              <a:gd name="T14" fmla="*/ 8 w 16"/>
              <a:gd name="T15" fmla="*/ 3 h 17"/>
              <a:gd name="T16" fmla="*/ 14 w 16"/>
              <a:gd name="T17" fmla="*/ 9 h 17"/>
              <a:gd name="T18" fmla="*/ 8 w 16"/>
              <a:gd name="T19" fmla="*/ 15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16" h="17">
                <a:moveTo>
                  <a:pt x="8" y="0"/>
                </a:moveTo>
                <a:cubicBezTo>
                  <a:pt x="3" y="0"/>
                  <a:pt x="0" y="4"/>
                  <a:pt x="0" y="9"/>
                </a:cubicBezTo>
                <a:cubicBezTo>
                  <a:pt x="0" y="13"/>
                  <a:pt x="2" y="17"/>
                  <a:pt x="8" y="17"/>
                </a:cubicBezTo>
                <a:cubicBezTo>
                  <a:pt x="14" y="17"/>
                  <a:pt x="16" y="13"/>
                  <a:pt x="16" y="9"/>
                </a:cubicBezTo>
                <a:cubicBezTo>
                  <a:pt x="16" y="5"/>
                  <a:pt x="14" y="0"/>
                  <a:pt x="8" y="0"/>
                </a:cubicBezTo>
                <a:close/>
                <a:moveTo>
                  <a:pt x="8" y="15"/>
                </a:moveTo>
                <a:cubicBezTo>
                  <a:pt x="4" y="15"/>
                  <a:pt x="2" y="12"/>
                  <a:pt x="2" y="9"/>
                </a:cubicBezTo>
                <a:cubicBezTo>
                  <a:pt x="2" y="6"/>
                  <a:pt x="4" y="3"/>
                  <a:pt x="8" y="3"/>
                </a:cubicBezTo>
                <a:cubicBezTo>
                  <a:pt x="12" y="3"/>
                  <a:pt x="14" y="6"/>
                  <a:pt x="14" y="9"/>
                </a:cubicBezTo>
                <a:cubicBezTo>
                  <a:pt x="14" y="12"/>
                  <a:pt x="12" y="15"/>
                  <a:pt x="8" y="15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Freeform 27"/>
          <p:cNvSpPr>
            <a:spLocks/>
          </p:cNvSpPr>
          <p:nvPr userDrawn="1"/>
        </p:nvSpPr>
        <p:spPr bwMode="auto">
          <a:xfrm>
            <a:off x="8186738" y="800100"/>
            <a:ext cx="34925" cy="50800"/>
          </a:xfrm>
          <a:custGeom>
            <a:avLst/>
            <a:gdLst>
              <a:gd name="T0" fmla="*/ 6 w 22"/>
              <a:gd name="T1" fmla="*/ 0 h 32"/>
              <a:gd name="T2" fmla="*/ 0 w 22"/>
              <a:gd name="T3" fmla="*/ 0 h 32"/>
              <a:gd name="T4" fmla="*/ 0 w 22"/>
              <a:gd name="T5" fmla="*/ 32 h 32"/>
              <a:gd name="T6" fmla="*/ 22 w 22"/>
              <a:gd name="T7" fmla="*/ 32 h 32"/>
              <a:gd name="T8" fmla="*/ 22 w 22"/>
              <a:gd name="T9" fmla="*/ 28 h 32"/>
              <a:gd name="T10" fmla="*/ 6 w 22"/>
              <a:gd name="T11" fmla="*/ 28 h 32"/>
              <a:gd name="T12" fmla="*/ 6 w 22"/>
              <a:gd name="T13" fmla="*/ 0 h 32"/>
              <a:gd name="T14" fmla="*/ 6 w 22"/>
              <a:gd name="T15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2" h="32">
                <a:moveTo>
                  <a:pt x="6" y="0"/>
                </a:moveTo>
                <a:lnTo>
                  <a:pt x="0" y="0"/>
                </a:lnTo>
                <a:lnTo>
                  <a:pt x="0" y="32"/>
                </a:lnTo>
                <a:lnTo>
                  <a:pt x="22" y="32"/>
                </a:lnTo>
                <a:lnTo>
                  <a:pt x="22" y="28"/>
                </a:lnTo>
                <a:lnTo>
                  <a:pt x="6" y="28"/>
                </a:lnTo>
                <a:lnTo>
                  <a:pt x="6" y="0"/>
                </a:lnTo>
                <a:lnTo>
                  <a:pt x="6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Freeform 28"/>
          <p:cNvSpPr>
            <a:spLocks/>
          </p:cNvSpPr>
          <p:nvPr userDrawn="1"/>
        </p:nvSpPr>
        <p:spPr bwMode="auto">
          <a:xfrm>
            <a:off x="8231188" y="800100"/>
            <a:ext cx="6350" cy="50800"/>
          </a:xfrm>
          <a:custGeom>
            <a:avLst/>
            <a:gdLst>
              <a:gd name="T0" fmla="*/ 0 w 4"/>
              <a:gd name="T1" fmla="*/ 32 h 32"/>
              <a:gd name="T2" fmla="*/ 4 w 4"/>
              <a:gd name="T3" fmla="*/ 32 h 32"/>
              <a:gd name="T4" fmla="*/ 4 w 4"/>
              <a:gd name="T5" fmla="*/ 0 h 32"/>
              <a:gd name="T6" fmla="*/ 0 w 4"/>
              <a:gd name="T7" fmla="*/ 0 h 32"/>
              <a:gd name="T8" fmla="*/ 0 w 4"/>
              <a:gd name="T9" fmla="*/ 32 h 32"/>
              <a:gd name="T10" fmla="*/ 0 w 4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4" h="32">
                <a:moveTo>
                  <a:pt x="0" y="32"/>
                </a:moveTo>
                <a:lnTo>
                  <a:pt x="4" y="32"/>
                </a:lnTo>
                <a:lnTo>
                  <a:pt x="4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Freeform 29"/>
          <p:cNvSpPr>
            <a:spLocks/>
          </p:cNvSpPr>
          <p:nvPr userDrawn="1"/>
        </p:nvSpPr>
        <p:spPr bwMode="auto">
          <a:xfrm>
            <a:off x="8247063" y="796925"/>
            <a:ext cx="47625" cy="53975"/>
          </a:xfrm>
          <a:custGeom>
            <a:avLst/>
            <a:gdLst>
              <a:gd name="T0" fmla="*/ 13 w 15"/>
              <a:gd name="T1" fmla="*/ 13 h 17"/>
              <a:gd name="T2" fmla="*/ 9 w 15"/>
              <a:gd name="T3" fmla="*/ 15 h 17"/>
              <a:gd name="T4" fmla="*/ 3 w 15"/>
              <a:gd name="T5" fmla="*/ 9 h 17"/>
              <a:gd name="T6" fmla="*/ 9 w 15"/>
              <a:gd name="T7" fmla="*/ 3 h 17"/>
              <a:gd name="T8" fmla="*/ 13 w 15"/>
              <a:gd name="T9" fmla="*/ 5 h 17"/>
              <a:gd name="T10" fmla="*/ 13 w 15"/>
              <a:gd name="T11" fmla="*/ 5 h 17"/>
              <a:gd name="T12" fmla="*/ 15 w 15"/>
              <a:gd name="T13" fmla="*/ 3 h 17"/>
              <a:gd name="T14" fmla="*/ 15 w 15"/>
              <a:gd name="T15" fmla="*/ 3 h 17"/>
              <a:gd name="T16" fmla="*/ 9 w 15"/>
              <a:gd name="T17" fmla="*/ 0 h 17"/>
              <a:gd name="T18" fmla="*/ 3 w 15"/>
              <a:gd name="T19" fmla="*/ 3 h 17"/>
              <a:gd name="T20" fmla="*/ 0 w 15"/>
              <a:gd name="T21" fmla="*/ 9 h 17"/>
              <a:gd name="T22" fmla="*/ 9 w 15"/>
              <a:gd name="T23" fmla="*/ 17 h 17"/>
              <a:gd name="T24" fmla="*/ 15 w 15"/>
              <a:gd name="T25" fmla="*/ 15 h 17"/>
              <a:gd name="T26" fmla="*/ 15 w 15"/>
              <a:gd name="T27" fmla="*/ 15 h 17"/>
              <a:gd name="T28" fmla="*/ 13 w 15"/>
              <a:gd name="T29" fmla="*/ 13 h 17"/>
              <a:gd name="T30" fmla="*/ 13 w 15"/>
              <a:gd name="T31" fmla="*/ 13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15" h="17">
                <a:moveTo>
                  <a:pt x="13" y="13"/>
                </a:moveTo>
                <a:cubicBezTo>
                  <a:pt x="12" y="14"/>
                  <a:pt x="10" y="15"/>
                  <a:pt x="9" y="15"/>
                </a:cubicBezTo>
                <a:cubicBezTo>
                  <a:pt x="5" y="15"/>
                  <a:pt x="3" y="12"/>
                  <a:pt x="3" y="9"/>
                </a:cubicBezTo>
                <a:cubicBezTo>
                  <a:pt x="3" y="6"/>
                  <a:pt x="5" y="3"/>
                  <a:pt x="9" y="3"/>
                </a:cubicBezTo>
                <a:cubicBezTo>
                  <a:pt x="10" y="3"/>
                  <a:pt x="12" y="3"/>
                  <a:pt x="13" y="5"/>
                </a:cubicBezTo>
                <a:cubicBezTo>
                  <a:pt x="13" y="5"/>
                  <a:pt x="13" y="5"/>
                  <a:pt x="13" y="5"/>
                </a:cubicBezTo>
                <a:cubicBezTo>
                  <a:pt x="15" y="3"/>
                  <a:pt x="15" y="3"/>
                  <a:pt x="15" y="3"/>
                </a:cubicBezTo>
                <a:cubicBezTo>
                  <a:pt x="15" y="3"/>
                  <a:pt x="15" y="3"/>
                  <a:pt x="15" y="3"/>
                </a:cubicBezTo>
                <a:cubicBezTo>
                  <a:pt x="13" y="1"/>
                  <a:pt x="11" y="0"/>
                  <a:pt x="9" y="0"/>
                </a:cubicBezTo>
                <a:cubicBezTo>
                  <a:pt x="6" y="0"/>
                  <a:pt x="4" y="1"/>
                  <a:pt x="3" y="3"/>
                </a:cubicBezTo>
                <a:cubicBezTo>
                  <a:pt x="1" y="4"/>
                  <a:pt x="0" y="7"/>
                  <a:pt x="0" y="9"/>
                </a:cubicBezTo>
                <a:cubicBezTo>
                  <a:pt x="0" y="13"/>
                  <a:pt x="3" y="17"/>
                  <a:pt x="9" y="17"/>
                </a:cubicBezTo>
                <a:cubicBezTo>
                  <a:pt x="11" y="17"/>
                  <a:pt x="13" y="16"/>
                  <a:pt x="15" y="15"/>
                </a:cubicBezTo>
                <a:cubicBezTo>
                  <a:pt x="15" y="15"/>
                  <a:pt x="15" y="15"/>
                  <a:pt x="15" y="15"/>
                </a:cubicBezTo>
                <a:cubicBezTo>
                  <a:pt x="13" y="13"/>
                  <a:pt x="13" y="13"/>
                  <a:pt x="13" y="13"/>
                </a:cubicBezTo>
                <a:cubicBezTo>
                  <a:pt x="13" y="13"/>
                  <a:pt x="13" y="13"/>
                  <a:pt x="13" y="13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Freeform 30"/>
          <p:cNvSpPr>
            <a:spLocks/>
          </p:cNvSpPr>
          <p:nvPr userDrawn="1"/>
        </p:nvSpPr>
        <p:spPr bwMode="auto">
          <a:xfrm>
            <a:off x="8329613" y="800100"/>
            <a:ext cx="41275" cy="50800"/>
          </a:xfrm>
          <a:custGeom>
            <a:avLst/>
            <a:gdLst>
              <a:gd name="T0" fmla="*/ 11 w 13"/>
              <a:gd name="T1" fmla="*/ 9 h 16"/>
              <a:gd name="T2" fmla="*/ 7 w 13"/>
              <a:gd name="T3" fmla="*/ 14 h 16"/>
              <a:gd name="T4" fmla="*/ 2 w 13"/>
              <a:gd name="T5" fmla="*/ 9 h 16"/>
              <a:gd name="T6" fmla="*/ 2 w 13"/>
              <a:gd name="T7" fmla="*/ 0 h 16"/>
              <a:gd name="T8" fmla="*/ 0 w 13"/>
              <a:gd name="T9" fmla="*/ 0 h 16"/>
              <a:gd name="T10" fmla="*/ 0 w 13"/>
              <a:gd name="T11" fmla="*/ 9 h 16"/>
              <a:gd name="T12" fmla="*/ 7 w 13"/>
              <a:gd name="T13" fmla="*/ 16 h 16"/>
              <a:gd name="T14" fmla="*/ 13 w 13"/>
              <a:gd name="T15" fmla="*/ 9 h 16"/>
              <a:gd name="T16" fmla="*/ 13 w 13"/>
              <a:gd name="T17" fmla="*/ 0 h 16"/>
              <a:gd name="T18" fmla="*/ 11 w 13"/>
              <a:gd name="T19" fmla="*/ 0 h 16"/>
              <a:gd name="T20" fmla="*/ 11 w 13"/>
              <a:gd name="T21" fmla="*/ 9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3" h="16">
                <a:moveTo>
                  <a:pt x="11" y="9"/>
                </a:moveTo>
                <a:cubicBezTo>
                  <a:pt x="11" y="12"/>
                  <a:pt x="9" y="14"/>
                  <a:pt x="7" y="14"/>
                </a:cubicBezTo>
                <a:cubicBezTo>
                  <a:pt x="5" y="14"/>
                  <a:pt x="2" y="12"/>
                  <a:pt x="2" y="9"/>
                </a:cubicBezTo>
                <a:cubicBezTo>
                  <a:pt x="2" y="0"/>
                  <a:pt x="2" y="0"/>
                  <a:pt x="2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9"/>
                  <a:pt x="0" y="9"/>
                  <a:pt x="0" y="9"/>
                </a:cubicBezTo>
                <a:cubicBezTo>
                  <a:pt x="0" y="14"/>
                  <a:pt x="3" y="16"/>
                  <a:pt x="7" y="16"/>
                </a:cubicBezTo>
                <a:cubicBezTo>
                  <a:pt x="10" y="16"/>
                  <a:pt x="13" y="14"/>
                  <a:pt x="13" y="9"/>
                </a:cubicBezTo>
                <a:cubicBezTo>
                  <a:pt x="13" y="0"/>
                  <a:pt x="13" y="0"/>
                  <a:pt x="13" y="0"/>
                </a:cubicBezTo>
                <a:cubicBezTo>
                  <a:pt x="11" y="0"/>
                  <a:pt x="11" y="0"/>
                  <a:pt x="11" y="0"/>
                </a:cubicBezTo>
                <a:cubicBezTo>
                  <a:pt x="11" y="9"/>
                  <a:pt x="11" y="9"/>
                  <a:pt x="11" y="9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Freeform 31"/>
          <p:cNvSpPr>
            <a:spLocks/>
          </p:cNvSpPr>
          <p:nvPr userDrawn="1"/>
        </p:nvSpPr>
        <p:spPr bwMode="auto">
          <a:xfrm>
            <a:off x="8386763" y="800100"/>
            <a:ext cx="41275" cy="50800"/>
          </a:xfrm>
          <a:custGeom>
            <a:avLst/>
            <a:gdLst>
              <a:gd name="T0" fmla="*/ 20 w 26"/>
              <a:gd name="T1" fmla="*/ 22 h 32"/>
              <a:gd name="T2" fmla="*/ 2 w 26"/>
              <a:gd name="T3" fmla="*/ 0 h 32"/>
              <a:gd name="T4" fmla="*/ 0 w 26"/>
              <a:gd name="T5" fmla="*/ 0 h 32"/>
              <a:gd name="T6" fmla="*/ 0 w 26"/>
              <a:gd name="T7" fmla="*/ 32 h 32"/>
              <a:gd name="T8" fmla="*/ 4 w 26"/>
              <a:gd name="T9" fmla="*/ 32 h 32"/>
              <a:gd name="T10" fmla="*/ 4 w 26"/>
              <a:gd name="T11" fmla="*/ 10 h 32"/>
              <a:gd name="T12" fmla="*/ 22 w 26"/>
              <a:gd name="T13" fmla="*/ 32 h 32"/>
              <a:gd name="T14" fmla="*/ 26 w 26"/>
              <a:gd name="T15" fmla="*/ 32 h 32"/>
              <a:gd name="T16" fmla="*/ 26 w 26"/>
              <a:gd name="T17" fmla="*/ 0 h 32"/>
              <a:gd name="T18" fmla="*/ 20 w 26"/>
              <a:gd name="T19" fmla="*/ 0 h 32"/>
              <a:gd name="T20" fmla="*/ 20 w 26"/>
              <a:gd name="T21" fmla="*/ 22 h 32"/>
              <a:gd name="T22" fmla="*/ 20 w 26"/>
              <a:gd name="T23" fmla="*/ 2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26" h="32">
                <a:moveTo>
                  <a:pt x="20" y="22"/>
                </a:moveTo>
                <a:lnTo>
                  <a:pt x="2" y="0"/>
                </a:lnTo>
                <a:lnTo>
                  <a:pt x="0" y="0"/>
                </a:lnTo>
                <a:lnTo>
                  <a:pt x="0" y="32"/>
                </a:lnTo>
                <a:lnTo>
                  <a:pt x="4" y="32"/>
                </a:lnTo>
                <a:lnTo>
                  <a:pt x="4" y="10"/>
                </a:lnTo>
                <a:lnTo>
                  <a:pt x="22" y="32"/>
                </a:lnTo>
                <a:lnTo>
                  <a:pt x="26" y="32"/>
                </a:lnTo>
                <a:lnTo>
                  <a:pt x="26" y="0"/>
                </a:lnTo>
                <a:lnTo>
                  <a:pt x="20" y="0"/>
                </a:lnTo>
                <a:lnTo>
                  <a:pt x="20" y="22"/>
                </a:lnTo>
                <a:lnTo>
                  <a:pt x="20" y="2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Freeform 32"/>
          <p:cNvSpPr>
            <a:spLocks/>
          </p:cNvSpPr>
          <p:nvPr userDrawn="1"/>
        </p:nvSpPr>
        <p:spPr bwMode="auto">
          <a:xfrm>
            <a:off x="8440738" y="800100"/>
            <a:ext cx="9525" cy="50800"/>
          </a:xfrm>
          <a:custGeom>
            <a:avLst/>
            <a:gdLst>
              <a:gd name="T0" fmla="*/ 0 w 6"/>
              <a:gd name="T1" fmla="*/ 32 h 32"/>
              <a:gd name="T2" fmla="*/ 6 w 6"/>
              <a:gd name="T3" fmla="*/ 32 h 32"/>
              <a:gd name="T4" fmla="*/ 6 w 6"/>
              <a:gd name="T5" fmla="*/ 0 h 32"/>
              <a:gd name="T6" fmla="*/ 0 w 6"/>
              <a:gd name="T7" fmla="*/ 0 h 32"/>
              <a:gd name="T8" fmla="*/ 0 w 6"/>
              <a:gd name="T9" fmla="*/ 32 h 32"/>
              <a:gd name="T10" fmla="*/ 0 w 6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6" h="32">
                <a:moveTo>
                  <a:pt x="0" y="32"/>
                </a:moveTo>
                <a:lnTo>
                  <a:pt x="6" y="32"/>
                </a:lnTo>
                <a:lnTo>
                  <a:pt x="6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Freeform 33"/>
          <p:cNvSpPr>
            <a:spLocks/>
          </p:cNvSpPr>
          <p:nvPr userDrawn="1"/>
        </p:nvSpPr>
        <p:spPr bwMode="auto">
          <a:xfrm>
            <a:off x="8459788" y="800100"/>
            <a:ext cx="50800" cy="50800"/>
          </a:xfrm>
          <a:custGeom>
            <a:avLst/>
            <a:gdLst>
              <a:gd name="T0" fmla="*/ 6 w 32"/>
              <a:gd name="T1" fmla="*/ 0 h 32"/>
              <a:gd name="T2" fmla="*/ 0 w 32"/>
              <a:gd name="T3" fmla="*/ 0 h 32"/>
              <a:gd name="T4" fmla="*/ 12 w 32"/>
              <a:gd name="T5" fmla="*/ 32 h 32"/>
              <a:gd name="T6" fmla="*/ 18 w 32"/>
              <a:gd name="T7" fmla="*/ 32 h 32"/>
              <a:gd name="T8" fmla="*/ 32 w 32"/>
              <a:gd name="T9" fmla="*/ 0 h 32"/>
              <a:gd name="T10" fmla="*/ 26 w 32"/>
              <a:gd name="T11" fmla="*/ 0 h 32"/>
              <a:gd name="T12" fmla="*/ 16 w 32"/>
              <a:gd name="T13" fmla="*/ 26 h 32"/>
              <a:gd name="T14" fmla="*/ 6 w 32"/>
              <a:gd name="T15" fmla="*/ 0 h 32"/>
              <a:gd name="T16" fmla="*/ 6 w 32"/>
              <a:gd name="T17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2" h="32">
                <a:moveTo>
                  <a:pt x="6" y="0"/>
                </a:moveTo>
                <a:lnTo>
                  <a:pt x="0" y="0"/>
                </a:lnTo>
                <a:lnTo>
                  <a:pt x="12" y="32"/>
                </a:lnTo>
                <a:lnTo>
                  <a:pt x="18" y="32"/>
                </a:lnTo>
                <a:lnTo>
                  <a:pt x="32" y="0"/>
                </a:lnTo>
                <a:lnTo>
                  <a:pt x="26" y="0"/>
                </a:lnTo>
                <a:lnTo>
                  <a:pt x="16" y="26"/>
                </a:lnTo>
                <a:lnTo>
                  <a:pt x="6" y="0"/>
                </a:lnTo>
                <a:lnTo>
                  <a:pt x="6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Freeform 34"/>
          <p:cNvSpPr>
            <a:spLocks/>
          </p:cNvSpPr>
          <p:nvPr userDrawn="1"/>
        </p:nvSpPr>
        <p:spPr bwMode="auto">
          <a:xfrm>
            <a:off x="8516938" y="800100"/>
            <a:ext cx="38100" cy="50800"/>
          </a:xfrm>
          <a:custGeom>
            <a:avLst/>
            <a:gdLst>
              <a:gd name="T0" fmla="*/ 6 w 24"/>
              <a:gd name="T1" fmla="*/ 18 h 32"/>
              <a:gd name="T2" fmla="*/ 24 w 24"/>
              <a:gd name="T3" fmla="*/ 18 h 32"/>
              <a:gd name="T4" fmla="*/ 24 w 24"/>
              <a:gd name="T5" fmla="*/ 12 h 32"/>
              <a:gd name="T6" fmla="*/ 6 w 24"/>
              <a:gd name="T7" fmla="*/ 12 h 32"/>
              <a:gd name="T8" fmla="*/ 6 w 24"/>
              <a:gd name="T9" fmla="*/ 4 h 32"/>
              <a:gd name="T10" fmla="*/ 24 w 24"/>
              <a:gd name="T11" fmla="*/ 4 h 32"/>
              <a:gd name="T12" fmla="*/ 24 w 24"/>
              <a:gd name="T13" fmla="*/ 0 h 32"/>
              <a:gd name="T14" fmla="*/ 0 w 24"/>
              <a:gd name="T15" fmla="*/ 0 h 32"/>
              <a:gd name="T16" fmla="*/ 0 w 24"/>
              <a:gd name="T17" fmla="*/ 32 h 32"/>
              <a:gd name="T18" fmla="*/ 24 w 24"/>
              <a:gd name="T19" fmla="*/ 32 h 32"/>
              <a:gd name="T20" fmla="*/ 24 w 24"/>
              <a:gd name="T21" fmla="*/ 26 h 32"/>
              <a:gd name="T22" fmla="*/ 6 w 24"/>
              <a:gd name="T23" fmla="*/ 26 h 32"/>
              <a:gd name="T24" fmla="*/ 6 w 24"/>
              <a:gd name="T25" fmla="*/ 18 h 32"/>
              <a:gd name="T26" fmla="*/ 6 w 24"/>
              <a:gd name="T27" fmla="*/ 18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24" h="32">
                <a:moveTo>
                  <a:pt x="6" y="18"/>
                </a:moveTo>
                <a:lnTo>
                  <a:pt x="24" y="18"/>
                </a:lnTo>
                <a:lnTo>
                  <a:pt x="24" y="12"/>
                </a:lnTo>
                <a:lnTo>
                  <a:pt x="6" y="12"/>
                </a:lnTo>
                <a:lnTo>
                  <a:pt x="6" y="4"/>
                </a:lnTo>
                <a:lnTo>
                  <a:pt x="24" y="4"/>
                </a:lnTo>
                <a:lnTo>
                  <a:pt x="24" y="0"/>
                </a:lnTo>
                <a:lnTo>
                  <a:pt x="0" y="0"/>
                </a:lnTo>
                <a:lnTo>
                  <a:pt x="0" y="32"/>
                </a:lnTo>
                <a:lnTo>
                  <a:pt x="24" y="32"/>
                </a:lnTo>
                <a:lnTo>
                  <a:pt x="24" y="26"/>
                </a:lnTo>
                <a:lnTo>
                  <a:pt x="6" y="26"/>
                </a:lnTo>
                <a:lnTo>
                  <a:pt x="6" y="18"/>
                </a:lnTo>
                <a:lnTo>
                  <a:pt x="6" y="18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Freeform 35"/>
          <p:cNvSpPr>
            <a:spLocks noEditPoints="1"/>
          </p:cNvSpPr>
          <p:nvPr userDrawn="1"/>
        </p:nvSpPr>
        <p:spPr bwMode="auto">
          <a:xfrm>
            <a:off x="8567738" y="800100"/>
            <a:ext cx="44450" cy="50800"/>
          </a:xfrm>
          <a:custGeom>
            <a:avLst/>
            <a:gdLst>
              <a:gd name="T0" fmla="*/ 13 w 14"/>
              <a:gd name="T1" fmla="*/ 5 h 16"/>
              <a:gd name="T2" fmla="*/ 7 w 14"/>
              <a:gd name="T3" fmla="*/ 0 h 16"/>
              <a:gd name="T4" fmla="*/ 0 w 14"/>
              <a:gd name="T5" fmla="*/ 0 h 16"/>
              <a:gd name="T6" fmla="*/ 0 w 14"/>
              <a:gd name="T7" fmla="*/ 16 h 16"/>
              <a:gd name="T8" fmla="*/ 2 w 14"/>
              <a:gd name="T9" fmla="*/ 16 h 16"/>
              <a:gd name="T10" fmla="*/ 2 w 14"/>
              <a:gd name="T11" fmla="*/ 10 h 16"/>
              <a:gd name="T12" fmla="*/ 6 w 14"/>
              <a:gd name="T13" fmla="*/ 10 h 16"/>
              <a:gd name="T14" fmla="*/ 11 w 14"/>
              <a:gd name="T15" fmla="*/ 16 h 16"/>
              <a:gd name="T16" fmla="*/ 14 w 14"/>
              <a:gd name="T17" fmla="*/ 16 h 16"/>
              <a:gd name="T18" fmla="*/ 9 w 14"/>
              <a:gd name="T19" fmla="*/ 10 h 16"/>
              <a:gd name="T20" fmla="*/ 13 w 14"/>
              <a:gd name="T21" fmla="*/ 5 h 16"/>
              <a:gd name="T22" fmla="*/ 2 w 14"/>
              <a:gd name="T23" fmla="*/ 2 h 16"/>
              <a:gd name="T24" fmla="*/ 7 w 14"/>
              <a:gd name="T25" fmla="*/ 2 h 16"/>
              <a:gd name="T26" fmla="*/ 10 w 14"/>
              <a:gd name="T27" fmla="*/ 5 h 16"/>
              <a:gd name="T28" fmla="*/ 7 w 14"/>
              <a:gd name="T29" fmla="*/ 8 h 16"/>
              <a:gd name="T30" fmla="*/ 2 w 14"/>
              <a:gd name="T31" fmla="*/ 8 h 16"/>
              <a:gd name="T32" fmla="*/ 2 w 14"/>
              <a:gd name="T33" fmla="*/ 2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</a:cxnLst>
            <a:rect l="0" t="0" r="r" b="b"/>
            <a:pathLst>
              <a:path w="14" h="16">
                <a:moveTo>
                  <a:pt x="13" y="5"/>
                </a:moveTo>
                <a:cubicBezTo>
                  <a:pt x="13" y="2"/>
                  <a:pt x="11" y="0"/>
                  <a:pt x="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"/>
                  <a:pt x="0" y="16"/>
                  <a:pt x="0" y="16"/>
                </a:cubicBezTo>
                <a:cubicBezTo>
                  <a:pt x="2" y="16"/>
                  <a:pt x="2" y="16"/>
                  <a:pt x="2" y="16"/>
                </a:cubicBezTo>
                <a:cubicBezTo>
                  <a:pt x="2" y="10"/>
                  <a:pt x="2" y="10"/>
                  <a:pt x="2" y="10"/>
                </a:cubicBezTo>
                <a:cubicBezTo>
                  <a:pt x="6" y="10"/>
                  <a:pt x="6" y="10"/>
                  <a:pt x="6" y="10"/>
                </a:cubicBezTo>
                <a:cubicBezTo>
                  <a:pt x="11" y="16"/>
                  <a:pt x="11" y="16"/>
                  <a:pt x="11" y="16"/>
                </a:cubicBezTo>
                <a:cubicBezTo>
                  <a:pt x="14" y="16"/>
                  <a:pt x="14" y="16"/>
                  <a:pt x="14" y="16"/>
                </a:cubicBezTo>
                <a:cubicBezTo>
                  <a:pt x="9" y="10"/>
                  <a:pt x="9" y="10"/>
                  <a:pt x="9" y="10"/>
                </a:cubicBezTo>
                <a:cubicBezTo>
                  <a:pt x="11" y="10"/>
                  <a:pt x="13" y="8"/>
                  <a:pt x="13" y="5"/>
                </a:cubicBezTo>
                <a:close/>
                <a:moveTo>
                  <a:pt x="2" y="2"/>
                </a:moveTo>
                <a:cubicBezTo>
                  <a:pt x="7" y="2"/>
                  <a:pt x="7" y="2"/>
                  <a:pt x="7" y="2"/>
                </a:cubicBezTo>
                <a:cubicBezTo>
                  <a:pt x="9" y="2"/>
                  <a:pt x="10" y="4"/>
                  <a:pt x="10" y="5"/>
                </a:cubicBezTo>
                <a:cubicBezTo>
                  <a:pt x="10" y="6"/>
                  <a:pt x="9" y="8"/>
                  <a:pt x="7" y="8"/>
                </a:cubicBezTo>
                <a:cubicBezTo>
                  <a:pt x="2" y="8"/>
                  <a:pt x="2" y="8"/>
                  <a:pt x="2" y="8"/>
                </a:cubicBezTo>
                <a:cubicBezTo>
                  <a:pt x="2" y="2"/>
                  <a:pt x="2" y="2"/>
                  <a:pt x="2" y="2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Freeform 36"/>
          <p:cNvSpPr>
            <a:spLocks/>
          </p:cNvSpPr>
          <p:nvPr userDrawn="1"/>
        </p:nvSpPr>
        <p:spPr bwMode="auto">
          <a:xfrm>
            <a:off x="8615363" y="796925"/>
            <a:ext cx="44450" cy="53975"/>
          </a:xfrm>
          <a:custGeom>
            <a:avLst/>
            <a:gdLst>
              <a:gd name="T0" fmla="*/ 8 w 14"/>
              <a:gd name="T1" fmla="*/ 7 h 17"/>
              <a:gd name="T2" fmla="*/ 4 w 14"/>
              <a:gd name="T3" fmla="*/ 5 h 17"/>
              <a:gd name="T4" fmla="*/ 7 w 14"/>
              <a:gd name="T5" fmla="*/ 3 h 17"/>
              <a:gd name="T6" fmla="*/ 12 w 14"/>
              <a:gd name="T7" fmla="*/ 5 h 17"/>
              <a:gd name="T8" fmla="*/ 12 w 14"/>
              <a:gd name="T9" fmla="*/ 5 h 17"/>
              <a:gd name="T10" fmla="*/ 14 w 14"/>
              <a:gd name="T11" fmla="*/ 4 h 17"/>
              <a:gd name="T12" fmla="*/ 14 w 14"/>
              <a:gd name="T13" fmla="*/ 3 h 17"/>
              <a:gd name="T14" fmla="*/ 7 w 14"/>
              <a:gd name="T15" fmla="*/ 0 h 17"/>
              <a:gd name="T16" fmla="*/ 2 w 14"/>
              <a:gd name="T17" fmla="*/ 2 h 17"/>
              <a:gd name="T18" fmla="*/ 1 w 14"/>
              <a:gd name="T19" fmla="*/ 5 h 17"/>
              <a:gd name="T20" fmla="*/ 7 w 14"/>
              <a:gd name="T21" fmla="*/ 10 h 17"/>
              <a:gd name="T22" fmla="*/ 12 w 14"/>
              <a:gd name="T23" fmla="*/ 12 h 17"/>
              <a:gd name="T24" fmla="*/ 7 w 14"/>
              <a:gd name="T25" fmla="*/ 15 h 17"/>
              <a:gd name="T26" fmla="*/ 3 w 14"/>
              <a:gd name="T27" fmla="*/ 12 h 17"/>
              <a:gd name="T28" fmla="*/ 2 w 14"/>
              <a:gd name="T29" fmla="*/ 12 h 17"/>
              <a:gd name="T30" fmla="*/ 0 w 14"/>
              <a:gd name="T31" fmla="*/ 13 h 17"/>
              <a:gd name="T32" fmla="*/ 0 w 14"/>
              <a:gd name="T33" fmla="*/ 14 h 17"/>
              <a:gd name="T34" fmla="*/ 7 w 14"/>
              <a:gd name="T35" fmla="*/ 17 h 17"/>
              <a:gd name="T36" fmla="*/ 14 w 14"/>
              <a:gd name="T37" fmla="*/ 12 h 17"/>
              <a:gd name="T38" fmla="*/ 8 w 14"/>
              <a:gd name="T39" fmla="*/ 7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14" h="17">
                <a:moveTo>
                  <a:pt x="8" y="7"/>
                </a:moveTo>
                <a:cubicBezTo>
                  <a:pt x="5" y="7"/>
                  <a:pt x="4" y="6"/>
                  <a:pt x="4" y="5"/>
                </a:cubicBezTo>
                <a:cubicBezTo>
                  <a:pt x="4" y="4"/>
                  <a:pt x="5" y="3"/>
                  <a:pt x="7" y="3"/>
                </a:cubicBezTo>
                <a:cubicBezTo>
                  <a:pt x="9" y="3"/>
                  <a:pt x="11" y="3"/>
                  <a:pt x="12" y="5"/>
                </a:cubicBezTo>
                <a:cubicBezTo>
                  <a:pt x="12" y="5"/>
                  <a:pt x="12" y="5"/>
                  <a:pt x="12" y="5"/>
                </a:cubicBezTo>
                <a:cubicBezTo>
                  <a:pt x="14" y="4"/>
                  <a:pt x="14" y="4"/>
                  <a:pt x="14" y="4"/>
                </a:cubicBezTo>
                <a:cubicBezTo>
                  <a:pt x="14" y="3"/>
                  <a:pt x="14" y="3"/>
                  <a:pt x="14" y="3"/>
                </a:cubicBezTo>
                <a:cubicBezTo>
                  <a:pt x="12" y="1"/>
                  <a:pt x="10" y="0"/>
                  <a:pt x="7" y="0"/>
                </a:cubicBezTo>
                <a:cubicBezTo>
                  <a:pt x="6" y="0"/>
                  <a:pt x="3" y="1"/>
                  <a:pt x="2" y="2"/>
                </a:cubicBezTo>
                <a:cubicBezTo>
                  <a:pt x="1" y="3"/>
                  <a:pt x="1" y="4"/>
                  <a:pt x="1" y="5"/>
                </a:cubicBezTo>
                <a:cubicBezTo>
                  <a:pt x="1" y="9"/>
                  <a:pt x="5" y="9"/>
                  <a:pt x="7" y="10"/>
                </a:cubicBezTo>
                <a:cubicBezTo>
                  <a:pt x="10" y="10"/>
                  <a:pt x="12" y="11"/>
                  <a:pt x="12" y="12"/>
                </a:cubicBezTo>
                <a:cubicBezTo>
                  <a:pt x="12" y="15"/>
                  <a:pt x="8" y="15"/>
                  <a:pt x="7" y="15"/>
                </a:cubicBezTo>
                <a:cubicBezTo>
                  <a:pt x="6" y="15"/>
                  <a:pt x="4" y="14"/>
                  <a:pt x="3" y="12"/>
                </a:cubicBezTo>
                <a:cubicBezTo>
                  <a:pt x="2" y="12"/>
                  <a:pt x="2" y="12"/>
                  <a:pt x="2" y="12"/>
                </a:cubicBezTo>
                <a:cubicBezTo>
                  <a:pt x="0" y="13"/>
                  <a:pt x="0" y="13"/>
                  <a:pt x="0" y="13"/>
                </a:cubicBezTo>
                <a:cubicBezTo>
                  <a:pt x="0" y="14"/>
                  <a:pt x="0" y="14"/>
                  <a:pt x="0" y="14"/>
                </a:cubicBezTo>
                <a:cubicBezTo>
                  <a:pt x="2" y="16"/>
                  <a:pt x="4" y="17"/>
                  <a:pt x="7" y="17"/>
                </a:cubicBezTo>
                <a:cubicBezTo>
                  <a:pt x="11" y="17"/>
                  <a:pt x="14" y="16"/>
                  <a:pt x="14" y="12"/>
                </a:cubicBezTo>
                <a:cubicBezTo>
                  <a:pt x="14" y="9"/>
                  <a:pt x="11" y="8"/>
                  <a:pt x="8" y="7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Freeform 37"/>
          <p:cNvSpPr>
            <a:spLocks/>
          </p:cNvSpPr>
          <p:nvPr userDrawn="1"/>
        </p:nvSpPr>
        <p:spPr bwMode="auto">
          <a:xfrm>
            <a:off x="8669338" y="800100"/>
            <a:ext cx="9525" cy="50800"/>
          </a:xfrm>
          <a:custGeom>
            <a:avLst/>
            <a:gdLst>
              <a:gd name="T0" fmla="*/ 0 w 6"/>
              <a:gd name="T1" fmla="*/ 32 h 32"/>
              <a:gd name="T2" fmla="*/ 6 w 6"/>
              <a:gd name="T3" fmla="*/ 32 h 32"/>
              <a:gd name="T4" fmla="*/ 6 w 6"/>
              <a:gd name="T5" fmla="*/ 0 h 32"/>
              <a:gd name="T6" fmla="*/ 0 w 6"/>
              <a:gd name="T7" fmla="*/ 0 h 32"/>
              <a:gd name="T8" fmla="*/ 0 w 6"/>
              <a:gd name="T9" fmla="*/ 32 h 32"/>
              <a:gd name="T10" fmla="*/ 0 w 6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6" h="32">
                <a:moveTo>
                  <a:pt x="0" y="32"/>
                </a:moveTo>
                <a:lnTo>
                  <a:pt x="6" y="32"/>
                </a:lnTo>
                <a:lnTo>
                  <a:pt x="6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Freeform 38"/>
          <p:cNvSpPr>
            <a:spLocks/>
          </p:cNvSpPr>
          <p:nvPr userDrawn="1"/>
        </p:nvSpPr>
        <p:spPr bwMode="auto">
          <a:xfrm>
            <a:off x="8688388" y="800100"/>
            <a:ext cx="85725" cy="50800"/>
          </a:xfrm>
          <a:custGeom>
            <a:avLst/>
            <a:gdLst>
              <a:gd name="T0" fmla="*/ 30 w 54"/>
              <a:gd name="T1" fmla="*/ 0 h 32"/>
              <a:gd name="T2" fmla="*/ 0 w 54"/>
              <a:gd name="T3" fmla="*/ 0 h 32"/>
              <a:gd name="T4" fmla="*/ 0 w 54"/>
              <a:gd name="T5" fmla="*/ 4 h 32"/>
              <a:gd name="T6" fmla="*/ 10 w 54"/>
              <a:gd name="T7" fmla="*/ 4 h 32"/>
              <a:gd name="T8" fmla="*/ 10 w 54"/>
              <a:gd name="T9" fmla="*/ 32 h 32"/>
              <a:gd name="T10" fmla="*/ 16 w 54"/>
              <a:gd name="T11" fmla="*/ 32 h 32"/>
              <a:gd name="T12" fmla="*/ 16 w 54"/>
              <a:gd name="T13" fmla="*/ 4 h 32"/>
              <a:gd name="T14" fmla="*/ 26 w 54"/>
              <a:gd name="T15" fmla="*/ 4 h 32"/>
              <a:gd name="T16" fmla="*/ 36 w 54"/>
              <a:gd name="T17" fmla="*/ 18 h 32"/>
              <a:gd name="T18" fmla="*/ 36 w 54"/>
              <a:gd name="T19" fmla="*/ 32 h 32"/>
              <a:gd name="T20" fmla="*/ 42 w 54"/>
              <a:gd name="T21" fmla="*/ 32 h 32"/>
              <a:gd name="T22" fmla="*/ 42 w 54"/>
              <a:gd name="T23" fmla="*/ 18 h 32"/>
              <a:gd name="T24" fmla="*/ 54 w 54"/>
              <a:gd name="T25" fmla="*/ 0 h 32"/>
              <a:gd name="T26" fmla="*/ 54 w 54"/>
              <a:gd name="T27" fmla="*/ 0 h 32"/>
              <a:gd name="T28" fmla="*/ 54 w 54"/>
              <a:gd name="T29" fmla="*/ 0 h 32"/>
              <a:gd name="T30" fmla="*/ 48 w 54"/>
              <a:gd name="T31" fmla="*/ 0 h 32"/>
              <a:gd name="T32" fmla="*/ 38 w 54"/>
              <a:gd name="T33" fmla="*/ 14 h 32"/>
              <a:gd name="T34" fmla="*/ 30 w 54"/>
              <a:gd name="T35" fmla="*/ 0 h 32"/>
              <a:gd name="T36" fmla="*/ 30 w 54"/>
              <a:gd name="T37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</a:cxnLst>
            <a:rect l="0" t="0" r="r" b="b"/>
            <a:pathLst>
              <a:path w="54" h="32">
                <a:moveTo>
                  <a:pt x="30" y="0"/>
                </a:moveTo>
                <a:lnTo>
                  <a:pt x="0" y="0"/>
                </a:lnTo>
                <a:lnTo>
                  <a:pt x="0" y="4"/>
                </a:lnTo>
                <a:lnTo>
                  <a:pt x="10" y="4"/>
                </a:lnTo>
                <a:lnTo>
                  <a:pt x="10" y="32"/>
                </a:lnTo>
                <a:lnTo>
                  <a:pt x="16" y="32"/>
                </a:lnTo>
                <a:lnTo>
                  <a:pt x="16" y="4"/>
                </a:lnTo>
                <a:lnTo>
                  <a:pt x="26" y="4"/>
                </a:lnTo>
                <a:lnTo>
                  <a:pt x="36" y="18"/>
                </a:lnTo>
                <a:lnTo>
                  <a:pt x="36" y="32"/>
                </a:lnTo>
                <a:lnTo>
                  <a:pt x="42" y="32"/>
                </a:lnTo>
                <a:lnTo>
                  <a:pt x="42" y="18"/>
                </a:lnTo>
                <a:lnTo>
                  <a:pt x="54" y="0"/>
                </a:lnTo>
                <a:lnTo>
                  <a:pt x="54" y="0"/>
                </a:lnTo>
                <a:lnTo>
                  <a:pt x="54" y="0"/>
                </a:lnTo>
                <a:lnTo>
                  <a:pt x="48" y="0"/>
                </a:lnTo>
                <a:lnTo>
                  <a:pt x="38" y="14"/>
                </a:lnTo>
                <a:lnTo>
                  <a:pt x="30" y="0"/>
                </a:lnTo>
                <a:lnTo>
                  <a:pt x="30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Freeform 39"/>
          <p:cNvSpPr>
            <a:spLocks/>
          </p:cNvSpPr>
          <p:nvPr userDrawn="1"/>
        </p:nvSpPr>
        <p:spPr bwMode="auto">
          <a:xfrm>
            <a:off x="8482013" y="371475"/>
            <a:ext cx="292100" cy="365125"/>
          </a:xfrm>
          <a:custGeom>
            <a:avLst/>
            <a:gdLst>
              <a:gd name="T0" fmla="*/ 92 w 92"/>
              <a:gd name="T1" fmla="*/ 0 h 115"/>
              <a:gd name="T2" fmla="*/ 92 w 92"/>
              <a:gd name="T3" fmla="*/ 71 h 115"/>
              <a:gd name="T4" fmla="*/ 49 w 92"/>
              <a:gd name="T5" fmla="*/ 115 h 115"/>
              <a:gd name="T6" fmla="*/ 0 w 92"/>
              <a:gd name="T7" fmla="*/ 70 h 115"/>
              <a:gd name="T8" fmla="*/ 0 w 92"/>
              <a:gd name="T9" fmla="*/ 0 h 115"/>
              <a:gd name="T10" fmla="*/ 22 w 92"/>
              <a:gd name="T11" fmla="*/ 0 h 115"/>
              <a:gd name="T12" fmla="*/ 22 w 92"/>
              <a:gd name="T13" fmla="*/ 72 h 115"/>
              <a:gd name="T14" fmla="*/ 50 w 92"/>
              <a:gd name="T15" fmla="*/ 105 h 115"/>
              <a:gd name="T16" fmla="*/ 79 w 92"/>
              <a:gd name="T17" fmla="*/ 73 h 115"/>
              <a:gd name="T18" fmla="*/ 79 w 92"/>
              <a:gd name="T19" fmla="*/ 0 h 115"/>
              <a:gd name="T20" fmla="*/ 92 w 92"/>
              <a:gd name="T21" fmla="*/ 0 h 11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92" h="115">
                <a:moveTo>
                  <a:pt x="92" y="0"/>
                </a:moveTo>
                <a:cubicBezTo>
                  <a:pt x="92" y="71"/>
                  <a:pt x="92" y="71"/>
                  <a:pt x="92" y="71"/>
                </a:cubicBezTo>
                <a:cubicBezTo>
                  <a:pt x="92" y="109"/>
                  <a:pt x="62" y="115"/>
                  <a:pt x="49" y="115"/>
                </a:cubicBezTo>
                <a:cubicBezTo>
                  <a:pt x="25" y="115"/>
                  <a:pt x="0" y="107"/>
                  <a:pt x="0" y="70"/>
                </a:cubicBezTo>
                <a:cubicBezTo>
                  <a:pt x="0" y="0"/>
                  <a:pt x="0" y="0"/>
                  <a:pt x="0" y="0"/>
                </a:cubicBezTo>
                <a:cubicBezTo>
                  <a:pt x="22" y="0"/>
                  <a:pt x="22" y="0"/>
                  <a:pt x="22" y="0"/>
                </a:cubicBezTo>
                <a:cubicBezTo>
                  <a:pt x="22" y="72"/>
                  <a:pt x="22" y="72"/>
                  <a:pt x="22" y="72"/>
                </a:cubicBezTo>
                <a:cubicBezTo>
                  <a:pt x="22" y="93"/>
                  <a:pt x="32" y="105"/>
                  <a:pt x="50" y="105"/>
                </a:cubicBezTo>
                <a:cubicBezTo>
                  <a:pt x="66" y="105"/>
                  <a:pt x="79" y="95"/>
                  <a:pt x="79" y="73"/>
                </a:cubicBezTo>
                <a:cubicBezTo>
                  <a:pt x="79" y="0"/>
                  <a:pt x="79" y="0"/>
                  <a:pt x="79" y="0"/>
                </a:cubicBezTo>
                <a:cubicBezTo>
                  <a:pt x="92" y="0"/>
                  <a:pt x="92" y="0"/>
                  <a:pt x="92" y="0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Freeform 40"/>
          <p:cNvSpPr>
            <a:spLocks/>
          </p:cNvSpPr>
          <p:nvPr userDrawn="1"/>
        </p:nvSpPr>
        <p:spPr bwMode="auto">
          <a:xfrm>
            <a:off x="8094663" y="365125"/>
            <a:ext cx="336550" cy="371475"/>
          </a:xfrm>
          <a:custGeom>
            <a:avLst/>
            <a:gdLst>
              <a:gd name="T0" fmla="*/ 61 w 106"/>
              <a:gd name="T1" fmla="*/ 117 h 117"/>
              <a:gd name="T2" fmla="*/ 0 w 106"/>
              <a:gd name="T3" fmla="*/ 60 h 117"/>
              <a:gd name="T4" fmla="*/ 63 w 106"/>
              <a:gd name="T5" fmla="*/ 0 h 117"/>
              <a:gd name="T6" fmla="*/ 97 w 106"/>
              <a:gd name="T7" fmla="*/ 13 h 117"/>
              <a:gd name="T8" fmla="*/ 106 w 106"/>
              <a:gd name="T9" fmla="*/ 28 h 117"/>
              <a:gd name="T10" fmla="*/ 94 w 106"/>
              <a:gd name="T11" fmla="*/ 39 h 117"/>
              <a:gd name="T12" fmla="*/ 83 w 106"/>
              <a:gd name="T13" fmla="*/ 28 h 117"/>
              <a:gd name="T14" fmla="*/ 86 w 106"/>
              <a:gd name="T15" fmla="*/ 20 h 117"/>
              <a:gd name="T16" fmla="*/ 63 w 106"/>
              <a:gd name="T17" fmla="*/ 10 h 117"/>
              <a:gd name="T18" fmla="*/ 21 w 106"/>
              <a:gd name="T19" fmla="*/ 58 h 117"/>
              <a:gd name="T20" fmla="*/ 65 w 106"/>
              <a:gd name="T21" fmla="*/ 108 h 117"/>
              <a:gd name="T22" fmla="*/ 102 w 106"/>
              <a:gd name="T23" fmla="*/ 93 h 117"/>
              <a:gd name="T24" fmla="*/ 106 w 106"/>
              <a:gd name="T25" fmla="*/ 99 h 117"/>
              <a:gd name="T26" fmla="*/ 61 w 106"/>
              <a:gd name="T27" fmla="*/ 117 h 1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106" h="117">
                <a:moveTo>
                  <a:pt x="61" y="117"/>
                </a:moveTo>
                <a:cubicBezTo>
                  <a:pt x="23" y="117"/>
                  <a:pt x="0" y="91"/>
                  <a:pt x="0" y="60"/>
                </a:cubicBezTo>
                <a:cubicBezTo>
                  <a:pt x="0" y="29"/>
                  <a:pt x="24" y="0"/>
                  <a:pt x="63" y="0"/>
                </a:cubicBezTo>
                <a:cubicBezTo>
                  <a:pt x="74" y="0"/>
                  <a:pt x="88" y="4"/>
                  <a:pt x="97" y="13"/>
                </a:cubicBezTo>
                <a:cubicBezTo>
                  <a:pt x="102" y="16"/>
                  <a:pt x="106" y="23"/>
                  <a:pt x="106" y="28"/>
                </a:cubicBezTo>
                <a:cubicBezTo>
                  <a:pt x="106" y="34"/>
                  <a:pt x="101" y="39"/>
                  <a:pt x="94" y="39"/>
                </a:cubicBezTo>
                <a:cubicBezTo>
                  <a:pt x="88" y="39"/>
                  <a:pt x="83" y="34"/>
                  <a:pt x="83" y="28"/>
                </a:cubicBezTo>
                <a:cubicBezTo>
                  <a:pt x="83" y="25"/>
                  <a:pt x="84" y="22"/>
                  <a:pt x="86" y="20"/>
                </a:cubicBezTo>
                <a:cubicBezTo>
                  <a:pt x="81" y="14"/>
                  <a:pt x="71" y="10"/>
                  <a:pt x="63" y="10"/>
                </a:cubicBezTo>
                <a:cubicBezTo>
                  <a:pt x="36" y="10"/>
                  <a:pt x="21" y="35"/>
                  <a:pt x="21" y="58"/>
                </a:cubicBezTo>
                <a:cubicBezTo>
                  <a:pt x="21" y="85"/>
                  <a:pt x="38" y="108"/>
                  <a:pt x="65" y="108"/>
                </a:cubicBezTo>
                <a:cubicBezTo>
                  <a:pt x="79" y="108"/>
                  <a:pt x="90" y="102"/>
                  <a:pt x="102" y="93"/>
                </a:cubicBezTo>
                <a:cubicBezTo>
                  <a:pt x="106" y="99"/>
                  <a:pt x="106" y="99"/>
                  <a:pt x="106" y="99"/>
                </a:cubicBezTo>
                <a:cubicBezTo>
                  <a:pt x="94" y="111"/>
                  <a:pt x="77" y="117"/>
                  <a:pt x="61" y="117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Freeform 41"/>
          <p:cNvSpPr>
            <a:spLocks noEditPoints="1"/>
          </p:cNvSpPr>
          <p:nvPr userDrawn="1"/>
        </p:nvSpPr>
        <p:spPr bwMode="auto">
          <a:xfrm>
            <a:off x="7758113" y="371475"/>
            <a:ext cx="330200" cy="358775"/>
          </a:xfrm>
          <a:custGeom>
            <a:avLst/>
            <a:gdLst>
              <a:gd name="T0" fmla="*/ 164 w 208"/>
              <a:gd name="T1" fmla="*/ 226 h 226"/>
              <a:gd name="T2" fmla="*/ 208 w 208"/>
              <a:gd name="T3" fmla="*/ 226 h 226"/>
              <a:gd name="T4" fmla="*/ 120 w 208"/>
              <a:gd name="T5" fmla="*/ 0 h 226"/>
              <a:gd name="T6" fmla="*/ 86 w 208"/>
              <a:gd name="T7" fmla="*/ 0 h 226"/>
              <a:gd name="T8" fmla="*/ 0 w 208"/>
              <a:gd name="T9" fmla="*/ 226 h 226"/>
              <a:gd name="T10" fmla="*/ 22 w 208"/>
              <a:gd name="T11" fmla="*/ 226 h 226"/>
              <a:gd name="T12" fmla="*/ 48 w 208"/>
              <a:gd name="T13" fmla="*/ 162 h 226"/>
              <a:gd name="T14" fmla="*/ 140 w 208"/>
              <a:gd name="T15" fmla="*/ 162 h 226"/>
              <a:gd name="T16" fmla="*/ 164 w 208"/>
              <a:gd name="T17" fmla="*/ 226 h 226"/>
              <a:gd name="T18" fmla="*/ 164 w 208"/>
              <a:gd name="T19" fmla="*/ 226 h 226"/>
              <a:gd name="T20" fmla="*/ 54 w 208"/>
              <a:gd name="T21" fmla="*/ 142 h 226"/>
              <a:gd name="T22" fmla="*/ 94 w 208"/>
              <a:gd name="T23" fmla="*/ 36 h 226"/>
              <a:gd name="T24" fmla="*/ 134 w 208"/>
              <a:gd name="T25" fmla="*/ 142 h 226"/>
              <a:gd name="T26" fmla="*/ 54 w 208"/>
              <a:gd name="T27" fmla="*/ 142 h 226"/>
              <a:gd name="T28" fmla="*/ 54 w 208"/>
              <a:gd name="T29" fmla="*/ 142 h 22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208" h="226">
                <a:moveTo>
                  <a:pt x="164" y="226"/>
                </a:moveTo>
                <a:lnTo>
                  <a:pt x="208" y="226"/>
                </a:lnTo>
                <a:lnTo>
                  <a:pt x="120" y="0"/>
                </a:lnTo>
                <a:lnTo>
                  <a:pt x="86" y="0"/>
                </a:lnTo>
                <a:lnTo>
                  <a:pt x="0" y="226"/>
                </a:lnTo>
                <a:lnTo>
                  <a:pt x="22" y="226"/>
                </a:lnTo>
                <a:lnTo>
                  <a:pt x="48" y="162"/>
                </a:lnTo>
                <a:lnTo>
                  <a:pt x="140" y="162"/>
                </a:lnTo>
                <a:lnTo>
                  <a:pt x="164" y="226"/>
                </a:lnTo>
                <a:lnTo>
                  <a:pt x="164" y="226"/>
                </a:lnTo>
                <a:close/>
                <a:moveTo>
                  <a:pt x="54" y="142"/>
                </a:moveTo>
                <a:lnTo>
                  <a:pt x="94" y="36"/>
                </a:lnTo>
                <a:lnTo>
                  <a:pt x="134" y="142"/>
                </a:lnTo>
                <a:lnTo>
                  <a:pt x="54" y="142"/>
                </a:lnTo>
                <a:lnTo>
                  <a:pt x="54" y="14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1014757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7" name="Text Placeholder 49"/>
          <p:cNvSpPr>
            <a:spLocks noGrp="1"/>
          </p:cNvSpPr>
          <p:nvPr>
            <p:ph type="body" sz="quarter" idx="15" hasCustomPrompt="1"/>
          </p:nvPr>
        </p:nvSpPr>
        <p:spPr>
          <a:xfrm>
            <a:off x="440871" y="1751357"/>
            <a:ext cx="8284029" cy="39544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4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1492378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in with no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utoShape 3"/>
          <p:cNvSpPr>
            <a:spLocks noChangeAspect="1" noChangeArrowheads="1" noTextEdit="1"/>
          </p:cNvSpPr>
          <p:nvPr userDrawn="1"/>
        </p:nvSpPr>
        <p:spPr bwMode="auto">
          <a:xfrm>
            <a:off x="1588" y="0"/>
            <a:ext cx="9140825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Freeform 6"/>
          <p:cNvSpPr>
            <a:spLocks/>
          </p:cNvSpPr>
          <p:nvPr userDrawn="1"/>
        </p:nvSpPr>
        <p:spPr bwMode="auto">
          <a:xfrm>
            <a:off x="1588" y="-3175"/>
            <a:ext cx="5030788" cy="457200"/>
          </a:xfrm>
          <a:custGeom>
            <a:avLst/>
            <a:gdLst>
              <a:gd name="T0" fmla="*/ 0 w 3169"/>
              <a:gd name="T1" fmla="*/ 0 h 288"/>
              <a:gd name="T2" fmla="*/ 3169 w 3169"/>
              <a:gd name="T3" fmla="*/ 0 h 288"/>
              <a:gd name="T4" fmla="*/ 2879 w 3169"/>
              <a:gd name="T5" fmla="*/ 288 h 288"/>
              <a:gd name="T6" fmla="*/ 0 w 3169"/>
              <a:gd name="T7" fmla="*/ 288 h 288"/>
              <a:gd name="T8" fmla="*/ 0 w 3169"/>
              <a:gd name="T9" fmla="*/ 0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169" h="288">
                <a:moveTo>
                  <a:pt x="0" y="0"/>
                </a:moveTo>
                <a:lnTo>
                  <a:pt x="3169" y="0"/>
                </a:lnTo>
                <a:lnTo>
                  <a:pt x="2879" y="288"/>
                </a:lnTo>
                <a:lnTo>
                  <a:pt x="0" y="288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Freeform 8"/>
          <p:cNvSpPr>
            <a:spLocks/>
          </p:cNvSpPr>
          <p:nvPr userDrawn="1"/>
        </p:nvSpPr>
        <p:spPr bwMode="auto">
          <a:xfrm>
            <a:off x="4572001" y="6397625"/>
            <a:ext cx="4570413" cy="457200"/>
          </a:xfrm>
          <a:custGeom>
            <a:avLst/>
            <a:gdLst>
              <a:gd name="T0" fmla="*/ 2879 w 2879"/>
              <a:gd name="T1" fmla="*/ 288 h 288"/>
              <a:gd name="T2" fmla="*/ 0 w 2879"/>
              <a:gd name="T3" fmla="*/ 288 h 288"/>
              <a:gd name="T4" fmla="*/ 290 w 2879"/>
              <a:gd name="T5" fmla="*/ 0 h 288"/>
              <a:gd name="T6" fmla="*/ 2879 w 2879"/>
              <a:gd name="T7" fmla="*/ 0 h 288"/>
              <a:gd name="T8" fmla="*/ 2879 w 2879"/>
              <a:gd name="T9" fmla="*/ 288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879" h="288">
                <a:moveTo>
                  <a:pt x="2879" y="288"/>
                </a:moveTo>
                <a:lnTo>
                  <a:pt x="0" y="288"/>
                </a:lnTo>
                <a:lnTo>
                  <a:pt x="290" y="0"/>
                </a:lnTo>
                <a:lnTo>
                  <a:pt x="2879" y="0"/>
                </a:lnTo>
                <a:lnTo>
                  <a:pt x="2879" y="288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4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1014757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7" name="Text Placeholder 49"/>
          <p:cNvSpPr>
            <a:spLocks noGrp="1"/>
          </p:cNvSpPr>
          <p:nvPr>
            <p:ph type="body" sz="quarter" idx="15" hasCustomPrompt="1"/>
          </p:nvPr>
        </p:nvSpPr>
        <p:spPr>
          <a:xfrm>
            <a:off x="440871" y="1751357"/>
            <a:ext cx="8284029" cy="39544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4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10794077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 flipV="1">
            <a:off x="0" y="4137025"/>
            <a:ext cx="9144000" cy="46038"/>
          </a:xfrm>
          <a:prstGeom prst="rect">
            <a:avLst/>
          </a:prstGeom>
          <a:solidFill>
            <a:schemeClr val="accent2">
              <a:alpha val="6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 useBgFill="1">
        <p:nvSpPr>
          <p:cNvPr id="4" name="Rounded Rectangle 3"/>
          <p:cNvSpPr/>
          <p:nvPr/>
        </p:nvSpPr>
        <p:spPr bwMode="white">
          <a:xfrm>
            <a:off x="5410202" y="3962401"/>
            <a:ext cx="3063875" cy="26988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 useBgFill="1">
        <p:nvSpPr>
          <p:cNvPr id="5" name="Rounded Rectangle 4"/>
          <p:cNvSpPr/>
          <p:nvPr/>
        </p:nvSpPr>
        <p:spPr bwMode="white">
          <a:xfrm>
            <a:off x="7377113" y="4060826"/>
            <a:ext cx="1600200" cy="36513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3962401"/>
            <a:ext cx="9144000" cy="244475"/>
          </a:xfrm>
          <a:prstGeom prst="rect">
            <a:avLst/>
          </a:prstGeom>
          <a:solidFill>
            <a:schemeClr val="accent6">
              <a:lumMod val="40000"/>
              <a:lumOff val="60000"/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3970338"/>
            <a:ext cx="9144000" cy="141287"/>
          </a:xfrm>
          <a:prstGeom prst="rect">
            <a:avLst/>
          </a:prstGeom>
          <a:solidFill>
            <a:srgbClr val="002060"/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8" name="Rectangle 7"/>
          <p:cNvSpPr/>
          <p:nvPr userDrawn="1"/>
        </p:nvSpPr>
        <p:spPr>
          <a:xfrm>
            <a:off x="0" y="1"/>
            <a:ext cx="9144000" cy="3970338"/>
          </a:xfrm>
          <a:prstGeom prst="rect">
            <a:avLst/>
          </a:prstGeom>
          <a:solidFill>
            <a:schemeClr val="accent4">
              <a:lumMod val="75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584293" y="4724400"/>
            <a:ext cx="6324600" cy="1295400"/>
          </a:xfrm>
        </p:spPr>
        <p:txBody>
          <a:bodyPr>
            <a:noAutofit/>
          </a:bodyPr>
          <a:lstStyle>
            <a:lvl1pPr marL="59739" indent="0" algn="ctr">
              <a:buNone/>
              <a:defRPr sz="3200">
                <a:solidFill>
                  <a:schemeClr val="accent3">
                    <a:lumMod val="75000"/>
                  </a:schemeClr>
                </a:solidFill>
              </a:defRPr>
            </a:lvl1pPr>
            <a:lvl2pPr marL="426705" indent="0" algn="ctr">
              <a:buNone/>
            </a:lvl2pPr>
            <a:lvl3pPr marL="853410" indent="0" algn="ctr">
              <a:buNone/>
            </a:lvl3pPr>
            <a:lvl4pPr marL="1280114" indent="0" algn="ctr">
              <a:buNone/>
            </a:lvl4pPr>
            <a:lvl5pPr marL="1706819" indent="0" algn="ctr">
              <a:buNone/>
            </a:lvl5pPr>
            <a:lvl6pPr marL="2133524" indent="0" algn="ctr">
              <a:buNone/>
            </a:lvl6pPr>
            <a:lvl7pPr marL="2560229" indent="0" algn="ctr">
              <a:buNone/>
            </a:lvl7pPr>
            <a:lvl8pPr marL="2986933" indent="0" algn="ctr">
              <a:buNone/>
            </a:lvl8pPr>
            <a:lvl9pPr marL="3413638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00400" y="163286"/>
            <a:ext cx="2667000" cy="36884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8447248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5390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85992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72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0083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91368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23585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710073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97184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41201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389225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23152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29107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51446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323885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113242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0485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19385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74355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880084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563596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9329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49783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810934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75123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2574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083454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609703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40720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87420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223317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887792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316748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27098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6447082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44343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46776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152023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073204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54673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72074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06116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9359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22159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334682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567166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4321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0310288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405808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648637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45047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7901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831267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2361390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6860699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520900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73950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1161494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2039136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243803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299776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5632198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864728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721438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915840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250281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8152554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45878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7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272885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7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16914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rgbClr val="FFFFFF"/>
        </a:solid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" y="-3"/>
            <a:ext cx="11328385" cy="691943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0" name="Google Shape;40;p2"/>
          <p:cNvGrpSpPr/>
          <p:nvPr/>
        </p:nvGrpSpPr>
        <p:grpSpPr>
          <a:xfrm>
            <a:off x="22" y="4740126"/>
            <a:ext cx="7314320" cy="1169029"/>
            <a:chOff x="-11" y="1378677"/>
            <a:chExt cx="7314320" cy="4116300"/>
          </a:xfrm>
        </p:grpSpPr>
        <p:sp>
          <p:nvSpPr>
            <p:cNvPr id="41" name="Google Shape;41;p2"/>
            <p:cNvSpPr/>
            <p:nvPr/>
          </p:nvSpPr>
          <p:spPr>
            <a:xfrm flipH="1">
              <a:off x="-11" y="1378677"/>
              <a:ext cx="187800" cy="41163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42" name="Google Shape;42;p2"/>
            <p:cNvSpPr/>
            <p:nvPr/>
          </p:nvSpPr>
          <p:spPr>
            <a:xfrm flipH="1">
              <a:off x="187809" y="1378677"/>
              <a:ext cx="7126500" cy="4116300"/>
            </a:xfrm>
            <a:prstGeom prst="rect">
              <a:avLst/>
            </a:prstGeom>
            <a:solidFill>
              <a:srgbClr val="43434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43" name="Google Shape;43;p2"/>
          <p:cNvSpPr txBox="1">
            <a:spLocks noGrp="1"/>
          </p:cNvSpPr>
          <p:nvPr>
            <p:ph type="ctrTitle"/>
          </p:nvPr>
        </p:nvSpPr>
        <p:spPr>
          <a:xfrm>
            <a:off x="414375" y="4842443"/>
            <a:ext cx="6400800" cy="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None/>
              <a:defRPr sz="3600"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82201510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Google Shape;58;p5"/>
          <p:cNvGrpSpPr/>
          <p:nvPr/>
        </p:nvGrpSpPr>
        <p:grpSpPr>
          <a:xfrm>
            <a:off x="-13" y="-12188"/>
            <a:ext cx="8005728" cy="1612563"/>
            <a:chOff x="-13" y="-12188"/>
            <a:chExt cx="8005728" cy="1161900"/>
          </a:xfrm>
        </p:grpSpPr>
        <p:sp>
          <p:nvSpPr>
            <p:cNvPr id="59" name="Google Shape;59;p5"/>
            <p:cNvSpPr/>
            <p:nvPr/>
          </p:nvSpPr>
          <p:spPr>
            <a:xfrm flipH="1">
              <a:off x="-13" y="-12188"/>
              <a:ext cx="1878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60" name="Google Shape;60;p5"/>
            <p:cNvSpPr/>
            <p:nvPr/>
          </p:nvSpPr>
          <p:spPr>
            <a:xfrm flipH="1">
              <a:off x="187715" y="-12188"/>
              <a:ext cx="78180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61" name="Google Shape;61;p5"/>
          <p:cNvSpPr txBox="1">
            <a:spLocks noGrp="1"/>
          </p:cNvSpPr>
          <p:nvPr>
            <p:ph type="title"/>
          </p:nvPr>
        </p:nvSpPr>
        <p:spPr>
          <a:xfrm>
            <a:off x="457200" y="134801"/>
            <a:ext cx="7315500" cy="135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1939164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Google Shape;45;p3"/>
          <p:cNvGrpSpPr/>
          <p:nvPr/>
        </p:nvGrpSpPr>
        <p:grpSpPr>
          <a:xfrm>
            <a:off x="-13" y="-12188"/>
            <a:ext cx="8005728" cy="1612563"/>
            <a:chOff x="-13" y="-12188"/>
            <a:chExt cx="8005728" cy="1161900"/>
          </a:xfrm>
        </p:grpSpPr>
        <p:sp>
          <p:nvSpPr>
            <p:cNvPr id="46" name="Google Shape;46;p3"/>
            <p:cNvSpPr/>
            <p:nvPr/>
          </p:nvSpPr>
          <p:spPr>
            <a:xfrm flipH="1">
              <a:off x="-13" y="-12188"/>
              <a:ext cx="1878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47" name="Google Shape;47;p3"/>
            <p:cNvSpPr/>
            <p:nvPr/>
          </p:nvSpPr>
          <p:spPr>
            <a:xfrm flipH="1">
              <a:off x="187715" y="-12188"/>
              <a:ext cx="78180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48" name="Google Shape;48;p3"/>
          <p:cNvSpPr txBox="1">
            <a:spLocks noGrp="1"/>
          </p:cNvSpPr>
          <p:nvPr>
            <p:ph type="title"/>
          </p:nvPr>
        </p:nvSpPr>
        <p:spPr>
          <a:xfrm>
            <a:off x="457200" y="134801"/>
            <a:ext cx="7315500" cy="135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3"/>
          <p:cNvSpPr txBox="1">
            <a:spLocks noGrp="1"/>
          </p:cNvSpPr>
          <p:nvPr>
            <p:ph type="body" idx="1"/>
          </p:nvPr>
        </p:nvSpPr>
        <p:spPr>
          <a:xfrm>
            <a:off x="457200" y="1704688"/>
            <a:ext cx="8229600" cy="484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6218105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19596" y="713233"/>
            <a:ext cx="3767469" cy="33470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175" b="1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3840480"/>
            <a:ext cx="6400800" cy="21929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25" b="1" i="0">
                <a:solidFill>
                  <a:srgbClr val="0D0D0D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1841124602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19610" y="713233"/>
            <a:ext cx="6553200" cy="334707"/>
          </a:xfrm>
        </p:spPr>
        <p:txBody>
          <a:bodyPr lIns="0" tIns="0" rIns="0" bIns="0"/>
          <a:lstStyle>
            <a:lvl1pPr>
              <a:defRPr sz="2175" b="1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08455" y="1392429"/>
            <a:ext cx="8127091" cy="219291"/>
          </a:xfrm>
        </p:spPr>
        <p:txBody>
          <a:bodyPr lIns="0" tIns="0" rIns="0" bIns="0"/>
          <a:lstStyle>
            <a:lvl1pPr>
              <a:defRPr sz="1425" b="1" i="0">
                <a:solidFill>
                  <a:srgbClr val="0D0D0D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1035566474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19610" y="713233"/>
            <a:ext cx="6553200" cy="334707"/>
          </a:xfrm>
        </p:spPr>
        <p:txBody>
          <a:bodyPr lIns="0" tIns="0" rIns="0" bIns="0"/>
          <a:lstStyle>
            <a:lvl1pPr>
              <a:defRPr sz="2175" b="1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3/22/2026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3938031207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19610" y="713233"/>
            <a:ext cx="6553200" cy="334707"/>
          </a:xfrm>
        </p:spPr>
        <p:txBody>
          <a:bodyPr lIns="0" tIns="0" rIns="0" bIns="0"/>
          <a:lstStyle>
            <a:lvl1pPr>
              <a:defRPr sz="2175" b="1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3/22/2026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3687271149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3/22/2026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176683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84" Type="http://schemas.openxmlformats.org/officeDocument/2006/relationships/theme" Target="../theme/theme1.xml"/><Relationship Id="rId1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11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74" Type="http://schemas.openxmlformats.org/officeDocument/2006/relationships/slideLayout" Target="../slideLayouts/slideLayout74.xml"/><Relationship Id="rId79" Type="http://schemas.openxmlformats.org/officeDocument/2006/relationships/slideLayout" Target="../slideLayouts/slideLayout79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77" Type="http://schemas.openxmlformats.org/officeDocument/2006/relationships/slideLayout" Target="../slideLayouts/slideLayout77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slideLayout" Target="../slideLayouts/slideLayout72.xml"/><Relationship Id="rId80" Type="http://schemas.openxmlformats.org/officeDocument/2006/relationships/slideLayout" Target="../slideLayouts/slideLayout80.xml"/><Relationship Id="rId85" Type="http://schemas.openxmlformats.org/officeDocument/2006/relationships/tags" Target="../tags/tag2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67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70" Type="http://schemas.openxmlformats.org/officeDocument/2006/relationships/slideLayout" Target="../slideLayouts/slideLayout70.xml"/><Relationship Id="rId75" Type="http://schemas.openxmlformats.org/officeDocument/2006/relationships/slideLayout" Target="../slideLayouts/slideLayout75.xml"/><Relationship Id="rId83" Type="http://schemas.openxmlformats.org/officeDocument/2006/relationships/slideLayout" Target="../slideLayouts/slideLayout83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73" Type="http://schemas.openxmlformats.org/officeDocument/2006/relationships/slideLayout" Target="../slideLayouts/slideLayout73.xml"/><Relationship Id="rId78" Type="http://schemas.openxmlformats.org/officeDocument/2006/relationships/slideLayout" Target="../slideLayouts/slideLayout78.xml"/><Relationship Id="rId81" Type="http://schemas.openxmlformats.org/officeDocument/2006/relationships/slideLayout" Target="../slideLayouts/slideLayout81.xml"/><Relationship Id="rId86" Type="http://schemas.openxmlformats.org/officeDocument/2006/relationships/oleObject" Target="../embeddings/oleObject1.bin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34" Type="http://schemas.openxmlformats.org/officeDocument/2006/relationships/slideLayout" Target="../slideLayouts/slideLayout34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6" Type="http://schemas.openxmlformats.org/officeDocument/2006/relationships/slideLayout" Target="../slideLayouts/slideLayout76.xml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2.xml"/><Relationship Id="rId29" Type="http://schemas.openxmlformats.org/officeDocument/2006/relationships/slideLayout" Target="../slideLayouts/slideLayout29.xml"/><Relationship Id="rId24" Type="http://schemas.openxmlformats.org/officeDocument/2006/relationships/slideLayout" Target="../slideLayouts/slideLayout24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66" Type="http://schemas.openxmlformats.org/officeDocument/2006/relationships/slideLayout" Target="../slideLayouts/slideLayout66.xml"/><Relationship Id="rId87" Type="http://schemas.openxmlformats.org/officeDocument/2006/relationships/image" Target="../media/image1.emf"/><Relationship Id="rId61" Type="http://schemas.openxmlformats.org/officeDocument/2006/relationships/slideLayout" Target="../slideLayouts/slideLayout61.xml"/><Relationship Id="rId82" Type="http://schemas.openxmlformats.org/officeDocument/2006/relationships/slideLayout" Target="../slideLayouts/slideLayout82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6.xml"/><Relationship Id="rId7" Type="http://schemas.openxmlformats.org/officeDocument/2006/relationships/image" Target="../media/image9.png"/><Relationship Id="rId2" Type="http://schemas.openxmlformats.org/officeDocument/2006/relationships/slideLayout" Target="../slideLayouts/slideLayout85.xml"/><Relationship Id="rId1" Type="http://schemas.openxmlformats.org/officeDocument/2006/relationships/slideLayout" Target="../slideLayouts/slideLayout84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88.xml"/><Relationship Id="rId4" Type="http://schemas.openxmlformats.org/officeDocument/2006/relationships/slideLayout" Target="../slideLayouts/slideLayout8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85"/>
            </p:custDataLst>
            <p:extLst>
              <p:ext uri="{D42A27DB-BD31-4B8C-83A1-F6EECF244321}">
                <p14:modId xmlns:p14="http://schemas.microsoft.com/office/powerpoint/2010/main" val="347569646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6" imgW="347" imgH="348" progId="TCLayout.ActiveDocument.1">
                  <p:embed/>
                </p:oleObj>
              </mc:Choice>
              <mc:Fallback>
                <p:oleObj name="think-cell Slide" r:id="rId86" imgW="347" imgH="348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8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87" name="Group 4"/>
          <p:cNvGrpSpPr>
            <a:grpSpLocks noChangeAspect="1"/>
          </p:cNvGrpSpPr>
          <p:nvPr userDrawn="1"/>
        </p:nvGrpSpPr>
        <p:grpSpPr bwMode="auto">
          <a:xfrm>
            <a:off x="1588" y="0"/>
            <a:ext cx="9140825" cy="6858000"/>
            <a:chOff x="1" y="0"/>
            <a:chExt cx="5758" cy="4320"/>
          </a:xfrm>
        </p:grpSpPr>
        <p:sp>
          <p:nvSpPr>
            <p:cNvPr id="88" name="AutoShape 3"/>
            <p:cNvSpPr>
              <a:spLocks noChangeAspect="1" noChangeArrowheads="1" noTextEdit="1"/>
            </p:cNvSpPr>
            <p:nvPr userDrawn="1"/>
          </p:nvSpPr>
          <p:spPr bwMode="auto">
            <a:xfrm>
              <a:off x="1" y="0"/>
              <a:ext cx="5758" cy="43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9" name="Freeform 5"/>
            <p:cNvSpPr>
              <a:spLocks/>
            </p:cNvSpPr>
            <p:nvPr userDrawn="1"/>
          </p:nvSpPr>
          <p:spPr bwMode="auto">
            <a:xfrm>
              <a:off x="1" y="-2"/>
              <a:ext cx="3169" cy="288"/>
            </a:xfrm>
            <a:custGeom>
              <a:avLst/>
              <a:gdLst>
                <a:gd name="T0" fmla="*/ 0 w 3169"/>
                <a:gd name="T1" fmla="*/ 0 h 288"/>
                <a:gd name="T2" fmla="*/ 3169 w 3169"/>
                <a:gd name="T3" fmla="*/ 0 h 288"/>
                <a:gd name="T4" fmla="*/ 2879 w 3169"/>
                <a:gd name="T5" fmla="*/ 288 h 288"/>
                <a:gd name="T6" fmla="*/ 0 w 3169"/>
                <a:gd name="T7" fmla="*/ 288 h 288"/>
                <a:gd name="T8" fmla="*/ 0 w 3169"/>
                <a:gd name="T9" fmla="*/ 0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69" h="288">
                  <a:moveTo>
                    <a:pt x="0" y="0"/>
                  </a:moveTo>
                  <a:lnTo>
                    <a:pt x="3169" y="0"/>
                  </a:lnTo>
                  <a:lnTo>
                    <a:pt x="2879" y="288"/>
                  </a:lnTo>
                  <a:lnTo>
                    <a:pt x="0" y="2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3D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0" name="Freeform 6"/>
            <p:cNvSpPr>
              <a:spLocks/>
            </p:cNvSpPr>
            <p:nvPr userDrawn="1"/>
          </p:nvSpPr>
          <p:spPr bwMode="auto">
            <a:xfrm>
              <a:off x="1" y="-2"/>
              <a:ext cx="3169" cy="288"/>
            </a:xfrm>
            <a:custGeom>
              <a:avLst/>
              <a:gdLst>
                <a:gd name="T0" fmla="*/ 0 w 3169"/>
                <a:gd name="T1" fmla="*/ 0 h 288"/>
                <a:gd name="T2" fmla="*/ 3169 w 3169"/>
                <a:gd name="T3" fmla="*/ 0 h 288"/>
                <a:gd name="T4" fmla="*/ 2879 w 3169"/>
                <a:gd name="T5" fmla="*/ 288 h 288"/>
                <a:gd name="T6" fmla="*/ 0 w 3169"/>
                <a:gd name="T7" fmla="*/ 288 h 288"/>
                <a:gd name="T8" fmla="*/ 0 w 3169"/>
                <a:gd name="T9" fmla="*/ 0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69" h="288">
                  <a:moveTo>
                    <a:pt x="0" y="0"/>
                  </a:moveTo>
                  <a:lnTo>
                    <a:pt x="3169" y="0"/>
                  </a:lnTo>
                  <a:lnTo>
                    <a:pt x="2879" y="288"/>
                  </a:lnTo>
                  <a:lnTo>
                    <a:pt x="0" y="288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1" name="Freeform 7"/>
            <p:cNvSpPr>
              <a:spLocks/>
            </p:cNvSpPr>
            <p:nvPr userDrawn="1"/>
          </p:nvSpPr>
          <p:spPr bwMode="auto">
            <a:xfrm>
              <a:off x="2880" y="4030"/>
              <a:ext cx="2879" cy="288"/>
            </a:xfrm>
            <a:custGeom>
              <a:avLst/>
              <a:gdLst>
                <a:gd name="T0" fmla="*/ 2879 w 2879"/>
                <a:gd name="T1" fmla="*/ 288 h 288"/>
                <a:gd name="T2" fmla="*/ 0 w 2879"/>
                <a:gd name="T3" fmla="*/ 288 h 288"/>
                <a:gd name="T4" fmla="*/ 290 w 2879"/>
                <a:gd name="T5" fmla="*/ 0 h 288"/>
                <a:gd name="T6" fmla="*/ 2879 w 2879"/>
                <a:gd name="T7" fmla="*/ 0 h 288"/>
                <a:gd name="T8" fmla="*/ 2879 w 2879"/>
                <a:gd name="T9" fmla="*/ 288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879" h="288">
                  <a:moveTo>
                    <a:pt x="2879" y="288"/>
                  </a:moveTo>
                  <a:lnTo>
                    <a:pt x="0" y="288"/>
                  </a:lnTo>
                  <a:lnTo>
                    <a:pt x="290" y="0"/>
                  </a:lnTo>
                  <a:lnTo>
                    <a:pt x="2879" y="0"/>
                  </a:lnTo>
                  <a:lnTo>
                    <a:pt x="2879" y="288"/>
                  </a:lnTo>
                  <a:close/>
                </a:path>
              </a:pathLst>
            </a:custGeom>
            <a:solidFill>
              <a:srgbClr val="E8E3D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Freeform 8"/>
            <p:cNvSpPr>
              <a:spLocks/>
            </p:cNvSpPr>
            <p:nvPr userDrawn="1"/>
          </p:nvSpPr>
          <p:spPr bwMode="auto">
            <a:xfrm>
              <a:off x="2880" y="4030"/>
              <a:ext cx="2879" cy="288"/>
            </a:xfrm>
            <a:custGeom>
              <a:avLst/>
              <a:gdLst>
                <a:gd name="T0" fmla="*/ 2879 w 2879"/>
                <a:gd name="T1" fmla="*/ 288 h 288"/>
                <a:gd name="T2" fmla="*/ 0 w 2879"/>
                <a:gd name="T3" fmla="*/ 288 h 288"/>
                <a:gd name="T4" fmla="*/ 290 w 2879"/>
                <a:gd name="T5" fmla="*/ 0 h 288"/>
                <a:gd name="T6" fmla="*/ 2879 w 2879"/>
                <a:gd name="T7" fmla="*/ 0 h 288"/>
                <a:gd name="T8" fmla="*/ 2879 w 2879"/>
                <a:gd name="T9" fmla="*/ 288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879" h="288">
                  <a:moveTo>
                    <a:pt x="2879" y="288"/>
                  </a:moveTo>
                  <a:lnTo>
                    <a:pt x="0" y="288"/>
                  </a:lnTo>
                  <a:lnTo>
                    <a:pt x="290" y="0"/>
                  </a:lnTo>
                  <a:lnTo>
                    <a:pt x="2879" y="0"/>
                  </a:lnTo>
                  <a:lnTo>
                    <a:pt x="2879" y="288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Freeform 9"/>
            <p:cNvSpPr>
              <a:spLocks/>
            </p:cNvSpPr>
            <p:nvPr userDrawn="1"/>
          </p:nvSpPr>
          <p:spPr bwMode="auto">
            <a:xfrm>
              <a:off x="4661" y="234"/>
              <a:ext cx="182" cy="234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Freeform 10"/>
            <p:cNvSpPr>
              <a:spLocks/>
            </p:cNvSpPr>
            <p:nvPr userDrawn="1"/>
          </p:nvSpPr>
          <p:spPr bwMode="auto">
            <a:xfrm>
              <a:off x="4695" y="262"/>
              <a:ext cx="114" cy="150"/>
            </a:xfrm>
            <a:custGeom>
              <a:avLst/>
              <a:gdLst>
                <a:gd name="T0" fmla="*/ 0 w 114"/>
                <a:gd name="T1" fmla="*/ 74 h 150"/>
                <a:gd name="T2" fmla="*/ 58 w 114"/>
                <a:gd name="T3" fmla="*/ 0 h 150"/>
                <a:gd name="T4" fmla="*/ 114 w 114"/>
                <a:gd name="T5" fmla="*/ 74 h 150"/>
                <a:gd name="T6" fmla="*/ 58 w 114"/>
                <a:gd name="T7" fmla="*/ 150 h 150"/>
                <a:gd name="T8" fmla="*/ 0 w 114"/>
                <a:gd name="T9" fmla="*/ 74 h 150"/>
                <a:gd name="T10" fmla="*/ 0 w 114"/>
                <a:gd name="T11" fmla="*/ 74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50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50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5" name="Freeform 11"/>
            <p:cNvSpPr>
              <a:spLocks/>
            </p:cNvSpPr>
            <p:nvPr userDrawn="1"/>
          </p:nvSpPr>
          <p:spPr bwMode="auto">
            <a:xfrm>
              <a:off x="4711" y="294"/>
              <a:ext cx="82" cy="9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Freeform 12"/>
            <p:cNvSpPr>
              <a:spLocks noEditPoints="1"/>
            </p:cNvSpPr>
            <p:nvPr userDrawn="1"/>
          </p:nvSpPr>
          <p:spPr bwMode="auto">
            <a:xfrm>
              <a:off x="4661" y="504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Freeform 13"/>
            <p:cNvSpPr>
              <a:spLocks/>
            </p:cNvSpPr>
            <p:nvPr userDrawn="1"/>
          </p:nvSpPr>
          <p:spPr bwMode="auto">
            <a:xfrm>
              <a:off x="4697" y="504"/>
              <a:ext cx="28" cy="32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Freeform 14"/>
            <p:cNvSpPr>
              <a:spLocks/>
            </p:cNvSpPr>
            <p:nvPr userDrawn="1"/>
          </p:nvSpPr>
          <p:spPr bwMode="auto">
            <a:xfrm>
              <a:off x="4731" y="502"/>
              <a:ext cx="26" cy="34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Freeform 15"/>
            <p:cNvSpPr>
              <a:spLocks/>
            </p:cNvSpPr>
            <p:nvPr userDrawn="1"/>
          </p:nvSpPr>
          <p:spPr bwMode="auto">
            <a:xfrm>
              <a:off x="4761" y="504"/>
              <a:ext cx="26" cy="32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0" name="Freeform 16"/>
            <p:cNvSpPr>
              <a:spLocks noEditPoints="1"/>
            </p:cNvSpPr>
            <p:nvPr userDrawn="1"/>
          </p:nvSpPr>
          <p:spPr bwMode="auto">
            <a:xfrm>
              <a:off x="4793" y="504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1" name="Freeform 17"/>
            <p:cNvSpPr>
              <a:spLocks noEditPoints="1"/>
            </p:cNvSpPr>
            <p:nvPr userDrawn="1"/>
          </p:nvSpPr>
          <p:spPr bwMode="auto">
            <a:xfrm>
              <a:off x="4823" y="504"/>
              <a:ext cx="34" cy="32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2" name="Freeform 18"/>
            <p:cNvSpPr>
              <a:spLocks/>
            </p:cNvSpPr>
            <p:nvPr userDrawn="1"/>
          </p:nvSpPr>
          <p:spPr bwMode="auto">
            <a:xfrm>
              <a:off x="4861" y="504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" name="Freeform 19"/>
            <p:cNvSpPr>
              <a:spLocks/>
            </p:cNvSpPr>
            <p:nvPr userDrawn="1"/>
          </p:nvSpPr>
          <p:spPr bwMode="auto">
            <a:xfrm>
              <a:off x="4889" y="504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4" name="Freeform 20"/>
            <p:cNvSpPr>
              <a:spLocks noEditPoints="1"/>
            </p:cNvSpPr>
            <p:nvPr userDrawn="1"/>
          </p:nvSpPr>
          <p:spPr bwMode="auto">
            <a:xfrm>
              <a:off x="4899" y="504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Freeform 21"/>
            <p:cNvSpPr>
              <a:spLocks/>
            </p:cNvSpPr>
            <p:nvPr userDrawn="1"/>
          </p:nvSpPr>
          <p:spPr bwMode="auto">
            <a:xfrm>
              <a:off x="4939" y="504"/>
              <a:ext cx="26" cy="32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6" name="Freeform 22"/>
            <p:cNvSpPr>
              <a:spLocks/>
            </p:cNvSpPr>
            <p:nvPr userDrawn="1"/>
          </p:nvSpPr>
          <p:spPr bwMode="auto">
            <a:xfrm>
              <a:off x="4989" y="502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Freeform 23"/>
            <p:cNvSpPr>
              <a:spLocks noEditPoints="1"/>
            </p:cNvSpPr>
            <p:nvPr userDrawn="1"/>
          </p:nvSpPr>
          <p:spPr bwMode="auto">
            <a:xfrm>
              <a:off x="5021" y="504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8" name="Freeform 24"/>
            <p:cNvSpPr>
              <a:spLocks/>
            </p:cNvSpPr>
            <p:nvPr userDrawn="1"/>
          </p:nvSpPr>
          <p:spPr bwMode="auto">
            <a:xfrm>
              <a:off x="5053" y="504"/>
              <a:ext cx="28" cy="32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9" name="Freeform 25"/>
            <p:cNvSpPr>
              <a:spLocks/>
            </p:cNvSpPr>
            <p:nvPr userDrawn="1"/>
          </p:nvSpPr>
          <p:spPr bwMode="auto">
            <a:xfrm>
              <a:off x="5085" y="504"/>
              <a:ext cx="28" cy="32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0" name="Freeform 26"/>
            <p:cNvSpPr>
              <a:spLocks noEditPoints="1"/>
            </p:cNvSpPr>
            <p:nvPr userDrawn="1"/>
          </p:nvSpPr>
          <p:spPr bwMode="auto">
            <a:xfrm>
              <a:off x="5119" y="502"/>
              <a:ext cx="32" cy="34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1" name="Freeform 27"/>
            <p:cNvSpPr>
              <a:spLocks/>
            </p:cNvSpPr>
            <p:nvPr userDrawn="1"/>
          </p:nvSpPr>
          <p:spPr bwMode="auto">
            <a:xfrm>
              <a:off x="5157" y="504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2" name="Freeform 28"/>
            <p:cNvSpPr>
              <a:spLocks/>
            </p:cNvSpPr>
            <p:nvPr userDrawn="1"/>
          </p:nvSpPr>
          <p:spPr bwMode="auto">
            <a:xfrm>
              <a:off x="5185" y="504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3" name="Freeform 29"/>
            <p:cNvSpPr>
              <a:spLocks/>
            </p:cNvSpPr>
            <p:nvPr userDrawn="1"/>
          </p:nvSpPr>
          <p:spPr bwMode="auto">
            <a:xfrm>
              <a:off x="5195" y="502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4" name="Freeform 30"/>
            <p:cNvSpPr>
              <a:spLocks/>
            </p:cNvSpPr>
            <p:nvPr userDrawn="1"/>
          </p:nvSpPr>
          <p:spPr bwMode="auto">
            <a:xfrm>
              <a:off x="5247" y="504"/>
              <a:ext cx="26" cy="32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5" name="Freeform 31"/>
            <p:cNvSpPr>
              <a:spLocks/>
            </p:cNvSpPr>
            <p:nvPr userDrawn="1"/>
          </p:nvSpPr>
          <p:spPr bwMode="auto">
            <a:xfrm>
              <a:off x="5283" y="504"/>
              <a:ext cx="26" cy="32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6" name="Freeform 32"/>
            <p:cNvSpPr>
              <a:spLocks/>
            </p:cNvSpPr>
            <p:nvPr userDrawn="1"/>
          </p:nvSpPr>
          <p:spPr bwMode="auto">
            <a:xfrm>
              <a:off x="5317" y="504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7" name="Freeform 33"/>
            <p:cNvSpPr>
              <a:spLocks/>
            </p:cNvSpPr>
            <p:nvPr userDrawn="1"/>
          </p:nvSpPr>
          <p:spPr bwMode="auto">
            <a:xfrm>
              <a:off x="5329" y="504"/>
              <a:ext cx="32" cy="32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8" name="Freeform 34"/>
            <p:cNvSpPr>
              <a:spLocks/>
            </p:cNvSpPr>
            <p:nvPr userDrawn="1"/>
          </p:nvSpPr>
          <p:spPr bwMode="auto">
            <a:xfrm>
              <a:off x="5365" y="504"/>
              <a:ext cx="24" cy="32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9" name="Freeform 35"/>
            <p:cNvSpPr>
              <a:spLocks noEditPoints="1"/>
            </p:cNvSpPr>
            <p:nvPr userDrawn="1"/>
          </p:nvSpPr>
          <p:spPr bwMode="auto">
            <a:xfrm>
              <a:off x="5397" y="504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0" name="Freeform 36"/>
            <p:cNvSpPr>
              <a:spLocks/>
            </p:cNvSpPr>
            <p:nvPr userDrawn="1"/>
          </p:nvSpPr>
          <p:spPr bwMode="auto">
            <a:xfrm>
              <a:off x="5427" y="502"/>
              <a:ext cx="28" cy="34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1" name="Freeform 37"/>
            <p:cNvSpPr>
              <a:spLocks/>
            </p:cNvSpPr>
            <p:nvPr userDrawn="1"/>
          </p:nvSpPr>
          <p:spPr bwMode="auto">
            <a:xfrm>
              <a:off x="5461" y="504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2" name="Freeform 38"/>
            <p:cNvSpPr>
              <a:spLocks/>
            </p:cNvSpPr>
            <p:nvPr userDrawn="1"/>
          </p:nvSpPr>
          <p:spPr bwMode="auto">
            <a:xfrm>
              <a:off x="5473" y="504"/>
              <a:ext cx="54" cy="32"/>
            </a:xfrm>
            <a:custGeom>
              <a:avLst/>
              <a:gdLst>
                <a:gd name="T0" fmla="*/ 30 w 54"/>
                <a:gd name="T1" fmla="*/ 0 h 32"/>
                <a:gd name="T2" fmla="*/ 0 w 54"/>
                <a:gd name="T3" fmla="*/ 0 h 32"/>
                <a:gd name="T4" fmla="*/ 0 w 54"/>
                <a:gd name="T5" fmla="*/ 4 h 32"/>
                <a:gd name="T6" fmla="*/ 10 w 54"/>
                <a:gd name="T7" fmla="*/ 4 h 32"/>
                <a:gd name="T8" fmla="*/ 10 w 54"/>
                <a:gd name="T9" fmla="*/ 32 h 32"/>
                <a:gd name="T10" fmla="*/ 16 w 54"/>
                <a:gd name="T11" fmla="*/ 32 h 32"/>
                <a:gd name="T12" fmla="*/ 16 w 54"/>
                <a:gd name="T13" fmla="*/ 4 h 32"/>
                <a:gd name="T14" fmla="*/ 26 w 54"/>
                <a:gd name="T15" fmla="*/ 4 h 32"/>
                <a:gd name="T16" fmla="*/ 36 w 54"/>
                <a:gd name="T17" fmla="*/ 18 h 32"/>
                <a:gd name="T18" fmla="*/ 36 w 54"/>
                <a:gd name="T19" fmla="*/ 32 h 32"/>
                <a:gd name="T20" fmla="*/ 42 w 54"/>
                <a:gd name="T21" fmla="*/ 32 h 32"/>
                <a:gd name="T22" fmla="*/ 42 w 54"/>
                <a:gd name="T23" fmla="*/ 18 h 32"/>
                <a:gd name="T24" fmla="*/ 54 w 54"/>
                <a:gd name="T25" fmla="*/ 0 h 32"/>
                <a:gd name="T26" fmla="*/ 54 w 54"/>
                <a:gd name="T27" fmla="*/ 0 h 32"/>
                <a:gd name="T28" fmla="*/ 54 w 54"/>
                <a:gd name="T29" fmla="*/ 0 h 32"/>
                <a:gd name="T30" fmla="*/ 48 w 54"/>
                <a:gd name="T31" fmla="*/ 0 h 32"/>
                <a:gd name="T32" fmla="*/ 38 w 54"/>
                <a:gd name="T33" fmla="*/ 14 h 32"/>
                <a:gd name="T34" fmla="*/ 30 w 54"/>
                <a:gd name="T35" fmla="*/ 0 h 32"/>
                <a:gd name="T36" fmla="*/ 30 w 54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4" h="32">
                  <a:moveTo>
                    <a:pt x="30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36" y="18"/>
                  </a:lnTo>
                  <a:lnTo>
                    <a:pt x="36" y="32"/>
                  </a:lnTo>
                  <a:lnTo>
                    <a:pt x="42" y="32"/>
                  </a:lnTo>
                  <a:lnTo>
                    <a:pt x="42" y="18"/>
                  </a:lnTo>
                  <a:lnTo>
                    <a:pt x="54" y="0"/>
                  </a:lnTo>
                  <a:lnTo>
                    <a:pt x="54" y="0"/>
                  </a:lnTo>
                  <a:lnTo>
                    <a:pt x="54" y="0"/>
                  </a:lnTo>
                  <a:lnTo>
                    <a:pt x="48" y="0"/>
                  </a:lnTo>
                  <a:lnTo>
                    <a:pt x="38" y="14"/>
                  </a:lnTo>
                  <a:lnTo>
                    <a:pt x="30" y="0"/>
                  </a:lnTo>
                  <a:lnTo>
                    <a:pt x="30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3" name="Freeform 39"/>
            <p:cNvSpPr>
              <a:spLocks/>
            </p:cNvSpPr>
            <p:nvPr userDrawn="1"/>
          </p:nvSpPr>
          <p:spPr bwMode="auto">
            <a:xfrm>
              <a:off x="5343" y="234"/>
              <a:ext cx="184" cy="230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4" name="Freeform 40"/>
            <p:cNvSpPr>
              <a:spLocks/>
            </p:cNvSpPr>
            <p:nvPr userDrawn="1"/>
          </p:nvSpPr>
          <p:spPr bwMode="auto">
            <a:xfrm>
              <a:off x="5099" y="230"/>
              <a:ext cx="212" cy="234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5" name="Freeform 41"/>
            <p:cNvSpPr>
              <a:spLocks noEditPoints="1"/>
            </p:cNvSpPr>
            <p:nvPr userDrawn="1"/>
          </p:nvSpPr>
          <p:spPr bwMode="auto">
            <a:xfrm>
              <a:off x="4887" y="234"/>
              <a:ext cx="208" cy="226"/>
            </a:xfrm>
            <a:custGeom>
              <a:avLst/>
              <a:gdLst>
                <a:gd name="T0" fmla="*/ 164 w 208"/>
                <a:gd name="T1" fmla="*/ 226 h 226"/>
                <a:gd name="T2" fmla="*/ 208 w 208"/>
                <a:gd name="T3" fmla="*/ 226 h 226"/>
                <a:gd name="T4" fmla="*/ 120 w 208"/>
                <a:gd name="T5" fmla="*/ 0 h 226"/>
                <a:gd name="T6" fmla="*/ 86 w 208"/>
                <a:gd name="T7" fmla="*/ 0 h 226"/>
                <a:gd name="T8" fmla="*/ 0 w 208"/>
                <a:gd name="T9" fmla="*/ 226 h 226"/>
                <a:gd name="T10" fmla="*/ 22 w 208"/>
                <a:gd name="T11" fmla="*/ 226 h 226"/>
                <a:gd name="T12" fmla="*/ 48 w 208"/>
                <a:gd name="T13" fmla="*/ 162 h 226"/>
                <a:gd name="T14" fmla="*/ 140 w 208"/>
                <a:gd name="T15" fmla="*/ 162 h 226"/>
                <a:gd name="T16" fmla="*/ 164 w 208"/>
                <a:gd name="T17" fmla="*/ 226 h 226"/>
                <a:gd name="T18" fmla="*/ 164 w 208"/>
                <a:gd name="T19" fmla="*/ 226 h 226"/>
                <a:gd name="T20" fmla="*/ 54 w 208"/>
                <a:gd name="T21" fmla="*/ 142 h 226"/>
                <a:gd name="T22" fmla="*/ 94 w 208"/>
                <a:gd name="T23" fmla="*/ 36 h 226"/>
                <a:gd name="T24" fmla="*/ 134 w 208"/>
                <a:gd name="T25" fmla="*/ 142 h 226"/>
                <a:gd name="T26" fmla="*/ 54 w 208"/>
                <a:gd name="T27" fmla="*/ 142 h 226"/>
                <a:gd name="T28" fmla="*/ 54 w 208"/>
                <a:gd name="T29" fmla="*/ 142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8" h="226">
                  <a:moveTo>
                    <a:pt x="164" y="226"/>
                  </a:moveTo>
                  <a:lnTo>
                    <a:pt x="208" y="226"/>
                  </a:lnTo>
                  <a:lnTo>
                    <a:pt x="120" y="0"/>
                  </a:lnTo>
                  <a:lnTo>
                    <a:pt x="86" y="0"/>
                  </a:lnTo>
                  <a:lnTo>
                    <a:pt x="0" y="226"/>
                  </a:lnTo>
                  <a:lnTo>
                    <a:pt x="22" y="226"/>
                  </a:lnTo>
                  <a:lnTo>
                    <a:pt x="48" y="162"/>
                  </a:lnTo>
                  <a:lnTo>
                    <a:pt x="140" y="162"/>
                  </a:lnTo>
                  <a:lnTo>
                    <a:pt x="164" y="226"/>
                  </a:lnTo>
                  <a:lnTo>
                    <a:pt x="164" y="226"/>
                  </a:lnTo>
                  <a:close/>
                  <a:moveTo>
                    <a:pt x="54" y="142"/>
                  </a:moveTo>
                  <a:lnTo>
                    <a:pt x="94" y="36"/>
                  </a:lnTo>
                  <a:lnTo>
                    <a:pt x="134" y="142"/>
                  </a:lnTo>
                  <a:lnTo>
                    <a:pt x="54" y="142"/>
                  </a:lnTo>
                  <a:lnTo>
                    <a:pt x="54" y="14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2980067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91" r:id="rId2"/>
    <p:sldLayoutId id="2147483663" r:id="rId3"/>
    <p:sldLayoutId id="2147483664" r:id="rId4"/>
    <p:sldLayoutId id="2147483665" r:id="rId5"/>
    <p:sldLayoutId id="2147483682" r:id="rId6"/>
    <p:sldLayoutId id="2147483679" r:id="rId7"/>
    <p:sldLayoutId id="2147483686" r:id="rId8"/>
    <p:sldLayoutId id="2147483689" r:id="rId9"/>
    <p:sldLayoutId id="2147483692" r:id="rId10"/>
    <p:sldLayoutId id="2147483693" r:id="rId11"/>
    <p:sldLayoutId id="2147483695" r:id="rId12"/>
    <p:sldLayoutId id="2147483696" r:id="rId13"/>
    <p:sldLayoutId id="2147483697" r:id="rId14"/>
    <p:sldLayoutId id="2147483698" r:id="rId15"/>
    <p:sldLayoutId id="2147483699" r:id="rId16"/>
    <p:sldLayoutId id="2147483700" r:id="rId17"/>
    <p:sldLayoutId id="2147483701" r:id="rId18"/>
    <p:sldLayoutId id="2147483702" r:id="rId19"/>
    <p:sldLayoutId id="2147483703" r:id="rId20"/>
    <p:sldLayoutId id="2147483704" r:id="rId21"/>
    <p:sldLayoutId id="2147483705" r:id="rId22"/>
    <p:sldLayoutId id="2147483706" r:id="rId23"/>
    <p:sldLayoutId id="2147483707" r:id="rId24"/>
    <p:sldLayoutId id="2147483708" r:id="rId25"/>
    <p:sldLayoutId id="2147483709" r:id="rId26"/>
    <p:sldLayoutId id="2147483710" r:id="rId27"/>
    <p:sldLayoutId id="2147483711" r:id="rId28"/>
    <p:sldLayoutId id="2147483712" r:id="rId29"/>
    <p:sldLayoutId id="2147483713" r:id="rId30"/>
    <p:sldLayoutId id="2147483714" r:id="rId31"/>
    <p:sldLayoutId id="2147483715" r:id="rId32"/>
    <p:sldLayoutId id="2147483716" r:id="rId33"/>
    <p:sldLayoutId id="2147483717" r:id="rId34"/>
    <p:sldLayoutId id="2147483718" r:id="rId35"/>
    <p:sldLayoutId id="2147483719" r:id="rId36"/>
    <p:sldLayoutId id="2147483720" r:id="rId37"/>
    <p:sldLayoutId id="2147483721" r:id="rId38"/>
    <p:sldLayoutId id="2147483722" r:id="rId39"/>
    <p:sldLayoutId id="2147483723" r:id="rId40"/>
    <p:sldLayoutId id="2147483724" r:id="rId41"/>
    <p:sldLayoutId id="2147483726" r:id="rId42"/>
    <p:sldLayoutId id="2147483727" r:id="rId43"/>
    <p:sldLayoutId id="2147483728" r:id="rId44"/>
    <p:sldLayoutId id="2147483729" r:id="rId45"/>
    <p:sldLayoutId id="2147483730" r:id="rId46"/>
    <p:sldLayoutId id="2147483731" r:id="rId47"/>
    <p:sldLayoutId id="2147483732" r:id="rId48"/>
    <p:sldLayoutId id="2147483733" r:id="rId49"/>
    <p:sldLayoutId id="2147483734" r:id="rId50"/>
    <p:sldLayoutId id="2147483735" r:id="rId51"/>
    <p:sldLayoutId id="2147483736" r:id="rId52"/>
    <p:sldLayoutId id="2147483737" r:id="rId53"/>
    <p:sldLayoutId id="2147483738" r:id="rId54"/>
    <p:sldLayoutId id="2147483739" r:id="rId55"/>
    <p:sldLayoutId id="2147483740" r:id="rId56"/>
    <p:sldLayoutId id="2147483741" r:id="rId57"/>
    <p:sldLayoutId id="2147483742" r:id="rId58"/>
    <p:sldLayoutId id="2147483743" r:id="rId59"/>
    <p:sldLayoutId id="2147483744" r:id="rId60"/>
    <p:sldLayoutId id="2147483745" r:id="rId61"/>
    <p:sldLayoutId id="2147483746" r:id="rId62"/>
    <p:sldLayoutId id="2147483747" r:id="rId63"/>
    <p:sldLayoutId id="2147483748" r:id="rId64"/>
    <p:sldLayoutId id="2147483749" r:id="rId65"/>
    <p:sldLayoutId id="2147483750" r:id="rId66"/>
    <p:sldLayoutId id="2147483751" r:id="rId67"/>
    <p:sldLayoutId id="2147483752" r:id="rId68"/>
    <p:sldLayoutId id="2147483753" r:id="rId69"/>
    <p:sldLayoutId id="2147483754" r:id="rId70"/>
    <p:sldLayoutId id="2147483755" r:id="rId71"/>
    <p:sldLayoutId id="2147483756" r:id="rId72"/>
    <p:sldLayoutId id="2147483757" r:id="rId73"/>
    <p:sldLayoutId id="2147483758" r:id="rId74"/>
    <p:sldLayoutId id="2147483759" r:id="rId75"/>
    <p:sldLayoutId id="2147483760" r:id="rId76"/>
    <p:sldLayoutId id="2147483761" r:id="rId77"/>
    <p:sldLayoutId id="2147483762" r:id="rId78"/>
    <p:sldLayoutId id="2147483763" r:id="rId79"/>
    <p:sldLayoutId id="2147483764" r:id="rId80"/>
    <p:sldLayoutId id="2147483766" r:id="rId81"/>
    <p:sldLayoutId id="2147483767" r:id="rId82"/>
    <p:sldLayoutId id="2147483768" r:id="rId83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866" b="1" kern="1200">
          <a:solidFill>
            <a:srgbClr val="3D3935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rgbClr val="F2120C"/>
        </a:buClr>
        <a:buFont typeface="Arial" panose="020B0604020202020204" pitchFamily="34" charset="0"/>
        <a:buChar char="•"/>
        <a:defRPr sz="2533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24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20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18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18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1588" y="0"/>
            <a:ext cx="5027930" cy="454025"/>
          </a:xfrm>
          <a:custGeom>
            <a:avLst/>
            <a:gdLst/>
            <a:ahLst/>
            <a:cxnLst/>
            <a:rect l="l" t="t" r="r" b="b"/>
            <a:pathLst>
              <a:path w="5027930" h="454025">
                <a:moveTo>
                  <a:pt x="5027591" y="0"/>
                </a:moveTo>
                <a:lnTo>
                  <a:pt x="0" y="0"/>
                </a:lnTo>
                <a:lnTo>
                  <a:pt x="0" y="454025"/>
                </a:lnTo>
                <a:lnTo>
                  <a:pt x="4570413" y="454025"/>
                </a:lnTo>
                <a:lnTo>
                  <a:pt x="5027591" y="0"/>
                </a:lnTo>
                <a:close/>
              </a:path>
            </a:pathLst>
          </a:custGeom>
          <a:solidFill>
            <a:srgbClr val="E8E3DB"/>
          </a:solidFill>
        </p:spPr>
        <p:txBody>
          <a:bodyPr wrap="square" lIns="0" tIns="0" rIns="0" bIns="0" rtlCol="0"/>
          <a:lstStyle/>
          <a:p>
            <a:endParaRPr sz="1350"/>
          </a:p>
        </p:txBody>
      </p:sp>
      <p:sp>
        <p:nvSpPr>
          <p:cNvPr id="17" name="bg object 17"/>
          <p:cNvSpPr/>
          <p:nvPr/>
        </p:nvSpPr>
        <p:spPr>
          <a:xfrm>
            <a:off x="4572001" y="6397624"/>
            <a:ext cx="4570730" cy="457200"/>
          </a:xfrm>
          <a:custGeom>
            <a:avLst/>
            <a:gdLst/>
            <a:ahLst/>
            <a:cxnLst/>
            <a:rect l="l" t="t" r="r" b="b"/>
            <a:pathLst>
              <a:path w="4570730" h="457200">
                <a:moveTo>
                  <a:pt x="4570412" y="0"/>
                </a:moveTo>
                <a:lnTo>
                  <a:pt x="460375" y="0"/>
                </a:lnTo>
                <a:lnTo>
                  <a:pt x="0" y="457199"/>
                </a:lnTo>
                <a:lnTo>
                  <a:pt x="4570412" y="457199"/>
                </a:lnTo>
                <a:lnTo>
                  <a:pt x="4570412" y="0"/>
                </a:lnTo>
                <a:close/>
              </a:path>
            </a:pathLst>
          </a:custGeom>
          <a:solidFill>
            <a:srgbClr val="E8E3DB"/>
          </a:solidFill>
        </p:spPr>
        <p:txBody>
          <a:bodyPr wrap="square" lIns="0" tIns="0" rIns="0" bIns="0" rtlCol="0"/>
          <a:lstStyle/>
          <a:p>
            <a:endParaRPr sz="1350"/>
          </a:p>
        </p:txBody>
      </p:sp>
      <p:pic>
        <p:nvPicPr>
          <p:cNvPr id="18" name="bg object 18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399338" y="365127"/>
            <a:ext cx="1374775" cy="48577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19610" y="713233"/>
            <a:ext cx="6553200" cy="4462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900" b="1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08455" y="1392429"/>
            <a:ext cx="8127091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rgbClr val="0D0D0D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6377941"/>
            <a:ext cx="292608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6377941"/>
            <a:ext cx="210312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52269" y="6556594"/>
            <a:ext cx="3729354" cy="11541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25426089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0" r:id="rId1"/>
    <p:sldLayoutId id="2147483771" r:id="rId2"/>
    <p:sldLayoutId id="2147483772" r:id="rId3"/>
    <p:sldLayoutId id="2147483773" r:id="rId4"/>
    <p:sldLayoutId id="2147483774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42900">
        <a:defRPr>
          <a:latin typeface="+mn-lt"/>
          <a:ea typeface="+mn-ea"/>
          <a:cs typeface="+mn-cs"/>
        </a:defRPr>
      </a:lvl2pPr>
      <a:lvl3pPr marL="685800">
        <a:defRPr>
          <a:latin typeface="+mn-lt"/>
          <a:ea typeface="+mn-ea"/>
          <a:cs typeface="+mn-cs"/>
        </a:defRPr>
      </a:lvl3pPr>
      <a:lvl4pPr marL="1028700">
        <a:defRPr>
          <a:latin typeface="+mn-lt"/>
          <a:ea typeface="+mn-ea"/>
          <a:cs typeface="+mn-cs"/>
        </a:defRPr>
      </a:lvl4pPr>
      <a:lvl5pPr marL="1371600">
        <a:defRPr>
          <a:latin typeface="+mn-lt"/>
          <a:ea typeface="+mn-ea"/>
          <a:cs typeface="+mn-cs"/>
        </a:defRPr>
      </a:lvl5pPr>
      <a:lvl6pPr marL="1714500">
        <a:defRPr>
          <a:latin typeface="+mn-lt"/>
          <a:ea typeface="+mn-ea"/>
          <a:cs typeface="+mn-cs"/>
        </a:defRPr>
      </a:lvl6pPr>
      <a:lvl7pPr marL="2057400">
        <a:defRPr>
          <a:latin typeface="+mn-lt"/>
          <a:ea typeface="+mn-ea"/>
          <a:cs typeface="+mn-cs"/>
        </a:defRPr>
      </a:lvl7pPr>
      <a:lvl8pPr marL="2400300">
        <a:defRPr>
          <a:latin typeface="+mn-lt"/>
          <a:ea typeface="+mn-ea"/>
          <a:cs typeface="+mn-cs"/>
        </a:defRPr>
      </a:lvl8pPr>
      <a:lvl9pPr marL="27432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42900">
        <a:defRPr>
          <a:latin typeface="+mn-lt"/>
          <a:ea typeface="+mn-ea"/>
          <a:cs typeface="+mn-cs"/>
        </a:defRPr>
      </a:lvl2pPr>
      <a:lvl3pPr marL="685800">
        <a:defRPr>
          <a:latin typeface="+mn-lt"/>
          <a:ea typeface="+mn-ea"/>
          <a:cs typeface="+mn-cs"/>
        </a:defRPr>
      </a:lvl3pPr>
      <a:lvl4pPr marL="1028700">
        <a:defRPr>
          <a:latin typeface="+mn-lt"/>
          <a:ea typeface="+mn-ea"/>
          <a:cs typeface="+mn-cs"/>
        </a:defRPr>
      </a:lvl4pPr>
      <a:lvl5pPr marL="1371600">
        <a:defRPr>
          <a:latin typeface="+mn-lt"/>
          <a:ea typeface="+mn-ea"/>
          <a:cs typeface="+mn-cs"/>
        </a:defRPr>
      </a:lvl5pPr>
      <a:lvl6pPr marL="1714500">
        <a:defRPr>
          <a:latin typeface="+mn-lt"/>
          <a:ea typeface="+mn-ea"/>
          <a:cs typeface="+mn-cs"/>
        </a:defRPr>
      </a:lvl6pPr>
      <a:lvl7pPr marL="2057400">
        <a:defRPr>
          <a:latin typeface="+mn-lt"/>
          <a:ea typeface="+mn-ea"/>
          <a:cs typeface="+mn-cs"/>
        </a:defRPr>
      </a:lvl7pPr>
      <a:lvl8pPr marL="2400300">
        <a:defRPr>
          <a:latin typeface="+mn-lt"/>
          <a:ea typeface="+mn-ea"/>
          <a:cs typeface="+mn-cs"/>
        </a:defRPr>
      </a:lvl8pPr>
      <a:lvl9pPr marL="27432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5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5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5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5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5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5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5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5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5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5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5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5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5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5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5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5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5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5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5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5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5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5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5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5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5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5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5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5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5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5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5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5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5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5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5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5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5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ACF62-ED9D-4C0F-A976-E9C35DDB35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630" y="750523"/>
            <a:ext cx="5119302" cy="2320693"/>
          </a:xfrm>
        </p:spPr>
        <p:txBody>
          <a:bodyPr/>
          <a:lstStyle/>
          <a:p>
            <a:r>
              <a:rPr lang="en-US" sz="3400" dirty="0" err="1"/>
              <a:t>Normalisation</a:t>
            </a:r>
            <a:r>
              <a:rPr lang="en-US" sz="3400" dirty="0"/>
              <a:t> of Database Tables</a:t>
            </a:r>
            <a:endParaRPr lang="en-AU" sz="3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EEDDFE-62E7-4B7A-B286-FF3EA6C173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6288" y="3893642"/>
            <a:ext cx="3867150" cy="447675"/>
          </a:xfrm>
        </p:spPr>
        <p:txBody>
          <a:bodyPr/>
          <a:lstStyle/>
          <a:p>
            <a:r>
              <a:rPr lang="en-AU" sz="2000" b="1" dirty="0"/>
              <a:t>Week 4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DAEE5F-D393-479E-8BB0-2D5C057945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AU" dirty="0"/>
              <a:t>Dr. Farshid Keivanian</a:t>
            </a:r>
          </a:p>
        </p:txBody>
      </p:sp>
    </p:spTree>
    <p:extLst>
      <p:ext uri="{BB962C8B-B14F-4D97-AF65-F5344CB8AC3E}">
        <p14:creationId xmlns:p14="http://schemas.microsoft.com/office/powerpoint/2010/main" val="5816889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646AD0-6036-4879-B5D7-F60847E332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D78C77-E952-41E0-8B40-BAC1771F84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14796BC-CEFD-189B-E9D1-5A9CBE8BAF7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/>
              <a:t>Week 4 Outline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EE6214-3988-BA86-3529-05DB78221CDF}"/>
              </a:ext>
            </a:extLst>
          </p:cNvPr>
          <p:cNvSpPr txBox="1"/>
          <p:nvPr/>
        </p:nvSpPr>
        <p:spPr>
          <a:xfrm>
            <a:off x="23751" y="536028"/>
            <a:ext cx="9120249" cy="61338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200" dirty="0" err="1">
                <a:latin typeface="Calibir"/>
              </a:rPr>
              <a:t>Normalisation</a:t>
            </a:r>
            <a:r>
              <a:rPr lang="en-US" sz="2200" dirty="0">
                <a:latin typeface="Calibir"/>
              </a:rPr>
              <a:t>: What, Why, How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200" dirty="0">
                <a:latin typeface="Calibir"/>
              </a:rPr>
              <a:t>1NF (no repeating groups, atomic values, PK identified)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200" dirty="0">
                <a:latin typeface="Calibir"/>
              </a:rPr>
              <a:t>2NF (remove partial dependency on part of composite PK)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200" dirty="0">
                <a:latin typeface="Calibir"/>
              </a:rPr>
              <a:t>3NF (remove transitive dependency)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200" dirty="0">
                <a:latin typeface="Calibir"/>
              </a:rPr>
              <a:t>Higher normal forms (BCNF &amp; 4NF)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200" dirty="0" err="1">
                <a:latin typeface="Calibir"/>
              </a:rPr>
              <a:t>Denormalisation</a:t>
            </a:r>
            <a:r>
              <a:rPr lang="en-US" sz="2200" dirty="0">
                <a:latin typeface="Calibir"/>
              </a:rPr>
              <a:t> (when &amp; why)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200" dirty="0">
                <a:latin typeface="Calibir"/>
              </a:rPr>
              <a:t>Keys &amp; Surrogate Keys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200" dirty="0">
                <a:latin typeface="Calibir"/>
              </a:rPr>
              <a:t>Checklist &amp; Wrap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200" dirty="0">
                <a:latin typeface="Calibir"/>
              </a:rPr>
              <a:t>Hints for ITEC200 Week 4 Tutorial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200" dirty="0">
                <a:latin typeface="Calibir"/>
              </a:rPr>
              <a:t>Let's Do Problem 1 Together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200" dirty="0">
                <a:latin typeface="Calibir"/>
              </a:rPr>
              <a:t>What To Submit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200" dirty="0">
                <a:latin typeface="Calibir"/>
              </a:rPr>
              <a:t>Submission of Tutorials &amp; Assessments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BC55C3C-1C70-4B05-DCEF-7BC510781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E59A7F4-72EE-787C-9315-6B43A6FF78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87ED2A-D90D-9FF9-7659-CD0E5643E0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2F5CC17E-1EEA-6DF1-8B95-4FFA28C844F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 err="1"/>
              <a:t>Normalisation</a:t>
            </a:r>
            <a:r>
              <a:rPr lang="en-US" sz="3200" dirty="0"/>
              <a:t>: What, Why, How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C573C5-EDA9-F7CB-5DAD-074958321411}"/>
              </a:ext>
            </a:extLst>
          </p:cNvPr>
          <p:cNvSpPr txBox="1"/>
          <p:nvPr/>
        </p:nvSpPr>
        <p:spPr>
          <a:xfrm>
            <a:off x="11875" y="1477248"/>
            <a:ext cx="912024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What: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 step-by-step way to clean and </a:t>
            </a:r>
            <a:r>
              <a:rPr lang="en-US" sz="2800" dirty="0" err="1">
                <a:latin typeface="Calibir"/>
              </a:rPr>
              <a:t>organise</a:t>
            </a:r>
            <a:r>
              <a:rPr lang="en-US" sz="2800" dirty="0">
                <a:latin typeface="Calibir"/>
              </a:rPr>
              <a:t> tables so data isn’t messy or duplicated.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Why: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Keeps data accurate and consistent (no contradictions).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Makes updates easier (change once, not in many places).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Queries run smoother and are easier to understand.</a:t>
            </a:r>
          </a:p>
        </p:txBody>
      </p:sp>
    </p:spTree>
    <p:extLst>
      <p:ext uri="{BB962C8B-B14F-4D97-AF65-F5344CB8AC3E}">
        <p14:creationId xmlns:p14="http://schemas.microsoft.com/office/powerpoint/2010/main" val="2228658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4" dur="500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1E2D8CA-8F5F-6A6D-92C4-755ED6AAA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81092E-BE52-79F7-35E4-9D7A025ACE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8703A0-F103-400F-7A95-8B0072D665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960603FA-361E-FA79-0145-B98A2702DB1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 err="1"/>
              <a:t>Normalisation</a:t>
            </a:r>
            <a:r>
              <a:rPr lang="en-US" sz="3200" dirty="0"/>
              <a:t>: What, Why, How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76747A-3583-E91E-9D20-9DFB5DB36D33}"/>
              </a:ext>
            </a:extLst>
          </p:cNvPr>
          <p:cNvSpPr txBox="1"/>
          <p:nvPr/>
        </p:nvSpPr>
        <p:spPr>
          <a:xfrm>
            <a:off x="23751" y="1214490"/>
            <a:ext cx="9120249" cy="4546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How: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Think of it like cleaning your table step by step: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First (1NF)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Make sure: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No repeating data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Each cell has one value only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“No lists inside a cell”</a:t>
            </a:r>
          </a:p>
        </p:txBody>
      </p:sp>
    </p:spTree>
    <p:extLst>
      <p:ext uri="{BB962C8B-B14F-4D97-AF65-F5344CB8AC3E}">
        <p14:creationId xmlns:p14="http://schemas.microsoft.com/office/powerpoint/2010/main" val="4514065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255F579-48F1-1A6B-C422-13FD635B5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FF9E9F-F782-2F45-2F83-CFAEE23672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AA01A4-3EC6-AE94-C38C-E59F2524C2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A349735-348A-23AA-C116-92306FE868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 err="1"/>
              <a:t>Normalisation</a:t>
            </a:r>
            <a:r>
              <a:rPr lang="en-US" sz="3200" dirty="0"/>
              <a:t>: What, Why, How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39B170-899F-CAF3-0E6D-171FD7422175}"/>
              </a:ext>
            </a:extLst>
          </p:cNvPr>
          <p:cNvSpPr txBox="1"/>
          <p:nvPr/>
        </p:nvSpPr>
        <p:spPr>
          <a:xfrm>
            <a:off x="23751" y="1214490"/>
            <a:ext cx="9120249" cy="26079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Then (2NF)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Make sure: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Every column depends on the whole key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Nothing should depend on just part of the key</a:t>
            </a:r>
          </a:p>
        </p:txBody>
      </p:sp>
    </p:spTree>
    <p:extLst>
      <p:ext uri="{BB962C8B-B14F-4D97-AF65-F5344CB8AC3E}">
        <p14:creationId xmlns:p14="http://schemas.microsoft.com/office/powerpoint/2010/main" val="27182503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58C6E9B-2E05-8EED-8D81-1F177ECCB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B178E6E-5CB7-CE32-B653-4DE34579F1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620CCC-4B72-A8E8-5711-49288B5F52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6D031E7-C3F2-1895-BEF7-56714936ABA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 err="1"/>
              <a:t>Normalisation</a:t>
            </a:r>
            <a:r>
              <a:rPr lang="en-US" sz="3200" dirty="0"/>
              <a:t>: What, Why, How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87A090-04C7-8361-3280-C92D5F4A69C1}"/>
              </a:ext>
            </a:extLst>
          </p:cNvPr>
          <p:cNvSpPr txBox="1"/>
          <p:nvPr/>
        </p:nvSpPr>
        <p:spPr>
          <a:xfrm>
            <a:off x="23751" y="1214490"/>
            <a:ext cx="9120249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Then (3NF)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Make sure: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No column depends on another column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Columns should depend only on the key, not on each other</a:t>
            </a:r>
          </a:p>
        </p:txBody>
      </p:sp>
    </p:spTree>
    <p:extLst>
      <p:ext uri="{BB962C8B-B14F-4D97-AF65-F5344CB8AC3E}">
        <p14:creationId xmlns:p14="http://schemas.microsoft.com/office/powerpoint/2010/main" val="4033051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63242F5-C67F-5DAF-4AD1-B97C28145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0446FD-122B-C35F-1981-3D0C80169A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E6FD57-43AE-394D-4212-4527E5244D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260FE510-E0DA-D113-AA99-F0A75EC5837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 err="1"/>
              <a:t>Normalisation</a:t>
            </a:r>
            <a:r>
              <a:rPr lang="en-US" sz="3200" dirty="0"/>
              <a:t>: What, Why, How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86B63B5-502E-C1A1-A589-290E71EA0BA5}"/>
              </a:ext>
            </a:extLst>
          </p:cNvPr>
          <p:cNvSpPr txBox="1"/>
          <p:nvPr/>
        </p:nvSpPr>
        <p:spPr>
          <a:xfrm>
            <a:off x="23751" y="1214490"/>
            <a:ext cx="9120249" cy="19616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4. Higher levels (optional)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Go further only if needed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Stop at 3NF unless you have a special case</a:t>
            </a:r>
          </a:p>
        </p:txBody>
      </p:sp>
    </p:spTree>
    <p:extLst>
      <p:ext uri="{BB962C8B-B14F-4D97-AF65-F5344CB8AC3E}">
        <p14:creationId xmlns:p14="http://schemas.microsoft.com/office/powerpoint/2010/main" val="5045471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20846E6-389D-1EF7-E43C-BD4B18972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F5970EA-517B-C75A-53C9-61F5DB141B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5998C4-154F-F82C-023C-06756EBA34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B712295-EC33-09FB-180F-8669F1C1C2C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 err="1"/>
              <a:t>Normalisation</a:t>
            </a:r>
            <a:r>
              <a:rPr lang="en-US" sz="3200" dirty="0"/>
              <a:t>: What, Why, How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A0A6A2-8875-F47E-D3DB-0D2D7906B01E}"/>
              </a:ext>
            </a:extLst>
          </p:cNvPr>
          <p:cNvSpPr txBox="1"/>
          <p:nvPr/>
        </p:nvSpPr>
        <p:spPr>
          <a:xfrm>
            <a:off x="23751" y="1214490"/>
            <a:ext cx="9120249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Important note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Sometimes we break these rules on purpose to make the system faster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This is called:</a:t>
            </a:r>
            <a:br>
              <a:rPr lang="en-US" sz="2800" dirty="0">
                <a:latin typeface="Calibir"/>
              </a:rPr>
            </a:br>
            <a:r>
              <a:rPr lang="en-US" sz="2800" dirty="0" err="1">
                <a:latin typeface="Calibir"/>
              </a:rPr>
              <a:t>Denormalisation</a:t>
            </a:r>
            <a:endParaRPr lang="en-US" sz="2800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C4DEFB-5382-1741-5C56-EE0B80BF1486}"/>
              </a:ext>
            </a:extLst>
          </p:cNvPr>
          <p:cNvSpPr txBox="1"/>
          <p:nvPr/>
        </p:nvSpPr>
        <p:spPr>
          <a:xfrm>
            <a:off x="23751" y="4684622"/>
            <a:ext cx="894038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Make data simple (1NF), fully dependent on the key (2NF), and not dependent on other columns (3NF).”</a:t>
            </a:r>
          </a:p>
        </p:txBody>
      </p:sp>
    </p:spTree>
    <p:extLst>
      <p:ext uri="{BB962C8B-B14F-4D97-AF65-F5344CB8AC3E}">
        <p14:creationId xmlns:p14="http://schemas.microsoft.com/office/powerpoint/2010/main" val="1367204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97415D5-005D-5171-2119-BE4EB90DD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0F6A0F5-5978-3CC6-4057-B6DECA6A8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CB400D-C5E0-A9F7-3006-10D1A77764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84DF0CC-C78D-FB6D-F4B0-49524D76D30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945932"/>
          </a:xfrm>
        </p:spPr>
        <p:txBody>
          <a:bodyPr>
            <a:noAutofit/>
          </a:bodyPr>
          <a:lstStyle/>
          <a:p>
            <a:r>
              <a:rPr lang="en-US" sz="3200" dirty="0"/>
              <a:t>1NF (no repeating groups, atomic values, PK identified)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11CC30-1B9E-13FF-85AA-E0AF0A744956}"/>
              </a:ext>
            </a:extLst>
          </p:cNvPr>
          <p:cNvSpPr txBox="1"/>
          <p:nvPr/>
        </p:nvSpPr>
        <p:spPr>
          <a:xfrm>
            <a:off x="23751" y="1214490"/>
            <a:ext cx="9120249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Rules: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Every column = one single value (atomic).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No lists or repeating groups in one cell.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Must have a primary key to uniquely identify rows.</a:t>
            </a:r>
          </a:p>
        </p:txBody>
      </p:sp>
    </p:spTree>
    <p:extLst>
      <p:ext uri="{BB962C8B-B14F-4D97-AF65-F5344CB8AC3E}">
        <p14:creationId xmlns:p14="http://schemas.microsoft.com/office/powerpoint/2010/main" val="34624469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BA2E835-509B-D91B-BB14-B67F8801F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62AA0A6-08CC-F8CD-BE98-4DAF7FF9F4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1D32D7-5EFE-88E5-0139-3AA0C4FA0C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1009B72-835D-97E9-961C-18E34A3C36D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945932"/>
          </a:xfrm>
        </p:spPr>
        <p:txBody>
          <a:bodyPr>
            <a:noAutofit/>
          </a:bodyPr>
          <a:lstStyle/>
          <a:p>
            <a:r>
              <a:rPr lang="en-US" sz="3200" dirty="0"/>
              <a:t>1NF (no repeating groups, atomic values, PK identified)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E5CFC8-D5DE-16C5-F1C6-FDDA332C0D63}"/>
              </a:ext>
            </a:extLst>
          </p:cNvPr>
          <p:cNvSpPr txBox="1"/>
          <p:nvPr/>
        </p:nvSpPr>
        <p:spPr>
          <a:xfrm>
            <a:off x="23751" y="1214490"/>
            <a:ext cx="9120249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Analogy (AUS):</a:t>
            </a:r>
          </a:p>
          <a:p>
            <a:pPr lvl="1">
              <a:lnSpc>
                <a:spcPct val="150000"/>
              </a:lnSpc>
            </a:pPr>
            <a:r>
              <a:rPr lang="en-US" sz="2800" dirty="0">
                <a:latin typeface="Calibir"/>
              </a:rPr>
              <a:t>Imagine a Myki trip record in Melbourne.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Bad: one cell says “Stations: Richmond, Flinders, Parliament” (list inside one cell).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Good: each trip is one row → Richmond in one row, Flinders in another, Parliament in another.</a:t>
            </a:r>
          </a:p>
        </p:txBody>
      </p:sp>
    </p:spTree>
    <p:extLst>
      <p:ext uri="{BB962C8B-B14F-4D97-AF65-F5344CB8AC3E}">
        <p14:creationId xmlns:p14="http://schemas.microsoft.com/office/powerpoint/2010/main" val="30969593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8B94CCD-3FB0-B2A6-0F92-AA2B94129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9A90003-C42B-F76E-CAB9-35A30EA6AF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36A0A0-C482-E03E-9B20-2587306375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72C2326-B3BF-520F-06DA-2E8E1E93086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945932"/>
          </a:xfrm>
        </p:spPr>
        <p:txBody>
          <a:bodyPr>
            <a:noAutofit/>
          </a:bodyPr>
          <a:lstStyle/>
          <a:p>
            <a:r>
              <a:rPr lang="en-US" sz="3200" dirty="0"/>
              <a:t>1NF (no repeating groups, atomic values, PK identified)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62FDC11-35D6-9D29-3553-6CAFBC71ED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2107793"/>
              </p:ext>
            </p:extLst>
          </p:nvPr>
        </p:nvGraphicFramePr>
        <p:xfrm>
          <a:off x="628650" y="2671863"/>
          <a:ext cx="7886700" cy="1970786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750172118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55371793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81672129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 err="1">
                          <a:latin typeface="Calibir"/>
                        </a:rPr>
                        <a:t>TripID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Passenger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Stations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08701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Sarah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Richmond, Flinders, CBD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9582506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6A9615C3-B0CE-BBCA-14C5-452A7517A8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061369"/>
            <a:ext cx="2652136" cy="13181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Quick Problem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</a:b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Q: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 The table has: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E950AF-15E0-D3AB-21A8-CE0E282AE09F}"/>
              </a:ext>
            </a:extLst>
          </p:cNvPr>
          <p:cNvSpPr txBox="1"/>
          <p:nvPr/>
        </p:nvSpPr>
        <p:spPr>
          <a:xfrm>
            <a:off x="149773" y="4934962"/>
            <a:ext cx="8647386" cy="131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1.   What’s wrong here?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2.   How would you fix it to make it 1NF?</a:t>
            </a:r>
            <a:endParaRPr lang="en-AU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3013013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8B94CCD-3FB0-B2A6-0F92-AA2B94129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9A90003-C42B-F76E-CAB9-35A30EA6AF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36A0A0-C482-E03E-9B20-2587306375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72C2326-B3BF-520F-06DA-2E8E1E93086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945932"/>
          </a:xfrm>
        </p:spPr>
        <p:txBody>
          <a:bodyPr>
            <a:noAutofit/>
          </a:bodyPr>
          <a:lstStyle/>
          <a:p>
            <a:r>
              <a:rPr lang="en-US" sz="3200" dirty="0"/>
              <a:t>1NF (no repeating groups, atomic values, PK identified)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62FDC11-35D6-9D29-3553-6CAFBC71EDF4}"/>
              </a:ext>
            </a:extLst>
          </p:cNvPr>
          <p:cNvGraphicFramePr>
            <a:graphicFrameLocks noGrp="1"/>
          </p:cNvGraphicFramePr>
          <p:nvPr/>
        </p:nvGraphicFramePr>
        <p:xfrm>
          <a:off x="628650" y="2671863"/>
          <a:ext cx="7886700" cy="1970786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750172118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55371793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81672129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 err="1">
                          <a:latin typeface="Calibir"/>
                        </a:rPr>
                        <a:t>TripID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Passenger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Stations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08701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Sarah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Richmond, Flinders, CBD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958250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DE950AF-15E0-D3AB-21A8-CE0E282AE09F}"/>
              </a:ext>
            </a:extLst>
          </p:cNvPr>
          <p:cNvSpPr txBox="1"/>
          <p:nvPr/>
        </p:nvSpPr>
        <p:spPr>
          <a:xfrm>
            <a:off x="149773" y="4934962"/>
            <a:ext cx="8647386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latin typeface="Calibir"/>
              </a:rPr>
              <a:t>The Stations column contains multiple values inside one cell → violates 1NF. </a:t>
            </a:r>
          </a:p>
        </p:txBody>
      </p:sp>
    </p:spTree>
    <p:extLst>
      <p:ext uri="{BB962C8B-B14F-4D97-AF65-F5344CB8AC3E}">
        <p14:creationId xmlns:p14="http://schemas.microsoft.com/office/powerpoint/2010/main" val="41262345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8B94CCD-3FB0-B2A6-0F92-AA2B94129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9A90003-C42B-F76E-CAB9-35A30EA6AF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36A0A0-C482-E03E-9B20-2587306375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72C2326-B3BF-520F-06DA-2E8E1E93086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945932"/>
          </a:xfrm>
        </p:spPr>
        <p:txBody>
          <a:bodyPr>
            <a:noAutofit/>
          </a:bodyPr>
          <a:lstStyle/>
          <a:p>
            <a:r>
              <a:rPr lang="en-US" sz="3200" dirty="0"/>
              <a:t>1NF (no repeating groups, atomic values, PK identified)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6A9615C3-B0CE-BBCA-14C5-452A7517A8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061369"/>
            <a:ext cx="3698769" cy="13181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800" b="1" dirty="0">
                <a:latin typeface="Calibir"/>
              </a:rPr>
              <a:t>A: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Split into separate rows: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2558641-8738-4AF9-0705-A8252D1DB4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4929438"/>
              </p:ext>
            </p:extLst>
          </p:nvPr>
        </p:nvGraphicFramePr>
        <p:xfrm>
          <a:off x="628650" y="2816211"/>
          <a:ext cx="7886700" cy="207264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84592331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90008816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57512386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 err="1">
                          <a:latin typeface="Calibir"/>
                        </a:rPr>
                        <a:t>TripID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Passenger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Station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1561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Sarah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Richmond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59179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Sarah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Flinders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72317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Sarah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CBD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983034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622A0D13-D811-331A-B16F-B806C79EA86A}"/>
              </a:ext>
            </a:extLst>
          </p:cNvPr>
          <p:cNvSpPr txBox="1"/>
          <p:nvPr/>
        </p:nvSpPr>
        <p:spPr>
          <a:xfrm>
            <a:off x="0" y="5103674"/>
            <a:ext cx="9144000" cy="1295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When we move from the unnormalized form (UNF) to 1NF, we </a:t>
            </a:r>
            <a:r>
              <a:rPr lang="en-US" i="1" dirty="0">
                <a:latin typeface="Calibir"/>
              </a:rPr>
              <a:t>do</a:t>
            </a:r>
            <a:r>
              <a:rPr lang="en-US" dirty="0">
                <a:latin typeface="Calibir"/>
              </a:rPr>
              <a:t> create more rows (and that looks like duplicates). But this is exactly the goal of 1NF — each row must represent a single fact, and columns must be atomic (no lists).</a:t>
            </a:r>
            <a:endParaRPr lang="en-AU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41778907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EDDB82C-0973-A0AF-E645-DBF1F6500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ED391B-A8BB-F86A-F3E0-93C87A59A5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E2B5B-FA71-FBE8-E0C0-6FF0953E1C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239D8501-254D-D4EF-8AD7-A6853ACA571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945932"/>
          </a:xfrm>
        </p:spPr>
        <p:txBody>
          <a:bodyPr>
            <a:noAutofit/>
          </a:bodyPr>
          <a:lstStyle/>
          <a:p>
            <a:r>
              <a:rPr lang="en-US" sz="3200" dirty="0"/>
              <a:t>1NF (no repeating groups, atomic values, PK identified)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FA40244-03DD-FAF8-BB4C-129FE1C2B556}"/>
              </a:ext>
            </a:extLst>
          </p:cNvPr>
          <p:cNvGraphicFramePr>
            <a:graphicFrameLocks noGrp="1"/>
          </p:cNvGraphicFramePr>
          <p:nvPr/>
        </p:nvGraphicFramePr>
        <p:xfrm>
          <a:off x="628650" y="2816211"/>
          <a:ext cx="7886700" cy="207264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84592331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90008816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57512386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 err="1">
                          <a:latin typeface="Calibir"/>
                        </a:rPr>
                        <a:t>TripID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Passenger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Station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1561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Sarah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Richmond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59179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Sarah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Flinders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72317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Sarah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CBD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983034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9765C256-35A8-6874-B2F5-28BFF4733F8D}"/>
              </a:ext>
            </a:extLst>
          </p:cNvPr>
          <p:cNvSpPr txBox="1"/>
          <p:nvPr/>
        </p:nvSpPr>
        <p:spPr>
          <a:xfrm>
            <a:off x="0" y="5103674"/>
            <a:ext cx="9144000" cy="176394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Now, each row = one trip + one station only.</a:t>
            </a:r>
            <a:br>
              <a:rPr lang="en-US" sz="2500" dirty="0">
                <a:latin typeface="Calibir"/>
              </a:rPr>
            </a:br>
            <a:r>
              <a:rPr lang="en-US" sz="2500" dirty="0">
                <a:latin typeface="Calibir"/>
              </a:rPr>
              <a:t>The "duplicates" we see are not duplicates — they are valid multiple facts about Sarah’s trip.</a:t>
            </a:r>
            <a:endParaRPr lang="en-AU" sz="25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9755158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1638180-2C5C-125C-5C9B-358C65F64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50D865F-E94C-A17C-3EF7-D29F241655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2C50A2-D8C3-B55B-3D63-F8006B2792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2CE10643-31C9-2D0B-4FAE-D83CF0CD180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945932"/>
          </a:xfrm>
        </p:spPr>
        <p:txBody>
          <a:bodyPr>
            <a:noAutofit/>
          </a:bodyPr>
          <a:lstStyle/>
          <a:p>
            <a:r>
              <a:rPr lang="en-US" sz="3200" dirty="0"/>
              <a:t>1NF (no repeating groups, atomic values, PK identified)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48894CD-2D8E-5981-EA3B-C8F5BBD1AE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454330"/>
              </p:ext>
            </p:extLst>
          </p:nvPr>
        </p:nvGraphicFramePr>
        <p:xfrm>
          <a:off x="628650" y="1291316"/>
          <a:ext cx="7886700" cy="207264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84592331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90008816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57512386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 err="1">
                          <a:latin typeface="Calibir"/>
                        </a:rPr>
                        <a:t>TripID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Passenger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Station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1561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Sarah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Richmond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59179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Sarah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Flinders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72317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Sarah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CBD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983034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0F3B02B7-FC72-D4B4-975D-7BF418908FA3}"/>
              </a:ext>
            </a:extLst>
          </p:cNvPr>
          <p:cNvSpPr txBox="1"/>
          <p:nvPr/>
        </p:nvSpPr>
        <p:spPr>
          <a:xfrm>
            <a:off x="63062" y="3498939"/>
            <a:ext cx="9144000" cy="335906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400" b="1" dirty="0">
                <a:latin typeface="Calibir"/>
              </a:rPr>
              <a:t>Key point to explain to students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Calibir"/>
              </a:rPr>
              <a:t>UNF → 1NF often increases the number of rows.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Calibir"/>
              </a:rPr>
              <a:t>It’s not “duplicate data,” it’s decomposed data (atomic facts).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Calibir"/>
              </a:rPr>
              <a:t>Later, 2NF and 3NF will further reduce redundancy by splitting into separate tables (e.g., a Passenger table and a </a:t>
            </a:r>
            <a:r>
              <a:rPr lang="en-US" altLang="en-US" sz="2400" dirty="0" err="1">
                <a:latin typeface="Calibir"/>
              </a:rPr>
              <a:t>TripStation</a:t>
            </a:r>
            <a:r>
              <a:rPr lang="en-US" altLang="en-US" sz="2400" dirty="0">
                <a:latin typeface="Calibir"/>
              </a:rPr>
              <a:t> table).</a:t>
            </a:r>
          </a:p>
        </p:txBody>
      </p:sp>
    </p:spTree>
    <p:extLst>
      <p:ext uri="{BB962C8B-B14F-4D97-AF65-F5344CB8AC3E}">
        <p14:creationId xmlns:p14="http://schemas.microsoft.com/office/powerpoint/2010/main" val="17214504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B294B42-8EBE-04E3-9C94-6CF139F3C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8F27B2F-01E8-8478-006B-81D9AA2A79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765C8E-F2F9-4CB5-132D-30635B50B8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9E4E89E-1152-2929-3A69-779AD0F6A23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945932"/>
          </a:xfrm>
        </p:spPr>
        <p:txBody>
          <a:bodyPr>
            <a:noAutofit/>
          </a:bodyPr>
          <a:lstStyle/>
          <a:p>
            <a:r>
              <a:rPr lang="en-US" sz="3200" dirty="0"/>
              <a:t>2NF (remove partial dependency on part of composite PK)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BD6672D-5BEE-3D62-4E0F-330857FFC7EC}"/>
              </a:ext>
            </a:extLst>
          </p:cNvPr>
          <p:cNvSpPr txBox="1"/>
          <p:nvPr/>
        </p:nvSpPr>
        <p:spPr>
          <a:xfrm>
            <a:off x="23751" y="1214490"/>
            <a:ext cx="9120249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What: Table must already be in 1NF.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Every non-key attribute must depend on the whole composite key, not just part of it.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If some attributes only depend on one part, move them to a separate table</a:t>
            </a:r>
          </a:p>
        </p:txBody>
      </p:sp>
    </p:spTree>
    <p:extLst>
      <p:ext uri="{BB962C8B-B14F-4D97-AF65-F5344CB8AC3E}">
        <p14:creationId xmlns:p14="http://schemas.microsoft.com/office/powerpoint/2010/main" val="32439062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AB53DF8-D420-8FB4-B88B-8DCB51692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DCFDFF-F1C9-271A-347B-1A7D7CF7E3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BDD354-7328-82E0-D952-546EECEFF4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26B4809A-DA66-B051-7F5E-C13C9B3C162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945932"/>
          </a:xfrm>
        </p:spPr>
        <p:txBody>
          <a:bodyPr>
            <a:noAutofit/>
          </a:bodyPr>
          <a:lstStyle/>
          <a:p>
            <a:r>
              <a:rPr lang="en-US" sz="3200" dirty="0"/>
              <a:t>2NF (remove partial dependency on part of composite PK)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76C878C-64F6-F251-13A8-0384D92FD0D1}"/>
              </a:ext>
            </a:extLst>
          </p:cNvPr>
          <p:cNvSpPr txBox="1"/>
          <p:nvPr/>
        </p:nvSpPr>
        <p:spPr>
          <a:xfrm>
            <a:off x="23751" y="1214490"/>
            <a:ext cx="9120249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800" b="1" dirty="0">
                <a:latin typeface="Calibir"/>
              </a:rPr>
              <a:t>Analogy: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Your </a:t>
            </a:r>
            <a:r>
              <a:rPr lang="en-US" sz="2800" i="1" dirty="0">
                <a:latin typeface="Calibir"/>
              </a:rPr>
              <a:t>street name</a:t>
            </a:r>
            <a:r>
              <a:rPr lang="en-US" sz="2800" dirty="0">
                <a:latin typeface="Calibir"/>
              </a:rPr>
              <a:t> depends on your </a:t>
            </a:r>
            <a:r>
              <a:rPr lang="en-US" sz="2800" i="1" dirty="0">
                <a:latin typeface="Calibir"/>
              </a:rPr>
              <a:t>house number</a:t>
            </a:r>
            <a:r>
              <a:rPr lang="en-US" sz="2800" dirty="0">
                <a:latin typeface="Calibir"/>
              </a:rPr>
              <a:t>, not on your </a:t>
            </a:r>
            <a:r>
              <a:rPr lang="en-US" sz="2800" i="1" dirty="0">
                <a:latin typeface="Calibir"/>
              </a:rPr>
              <a:t>seat number in a classroom</a:t>
            </a:r>
            <a:r>
              <a:rPr lang="en-US" sz="2800" dirty="0">
                <a:latin typeface="Calibir"/>
              </a:rPr>
              <a:t>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So don’t tie unrelated facts together in the same table.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6174081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93CE1FE-F063-7913-0F4D-55E8BCFEC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462046C-4326-A266-22F3-9FD07586D8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156284-2B3C-9D31-A6A2-BD91D9A796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5779E77-7C1D-362B-AF02-A8039B1729A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945932"/>
          </a:xfrm>
        </p:spPr>
        <p:txBody>
          <a:bodyPr>
            <a:noAutofit/>
          </a:bodyPr>
          <a:lstStyle/>
          <a:p>
            <a:r>
              <a:rPr lang="en-US" sz="3200" dirty="0"/>
              <a:t>2NF (remove partial dependency on part of composite PK)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09C0C37-CCE7-654B-C197-6112275F04FA}"/>
              </a:ext>
            </a:extLst>
          </p:cNvPr>
          <p:cNvSpPr txBox="1"/>
          <p:nvPr/>
        </p:nvSpPr>
        <p:spPr>
          <a:xfrm>
            <a:off x="11875" y="921001"/>
            <a:ext cx="9120249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Example: Applying 2NF - </a:t>
            </a:r>
            <a:r>
              <a:rPr lang="en-US" sz="2800" dirty="0">
                <a:latin typeface="Calibir"/>
              </a:rPr>
              <a:t>From our current 1NF table: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8381AB1-3D3C-FB01-0FFB-C082DBF727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6692805"/>
              </p:ext>
            </p:extLst>
          </p:nvPr>
        </p:nvGraphicFramePr>
        <p:xfrm>
          <a:off x="628649" y="1592852"/>
          <a:ext cx="7886700" cy="207264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84592331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90008816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57512386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 err="1">
                          <a:latin typeface="Calibir"/>
                        </a:rPr>
                        <a:t>TripID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Passenger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Station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1561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Sarah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Richmond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59179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Sarah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Flinders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72317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Sarah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CBD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983034"/>
                  </a:ext>
                </a:extLst>
              </a:tr>
            </a:tbl>
          </a:graphicData>
        </a:graphic>
      </p:graphicFrame>
      <p:sp>
        <p:nvSpPr>
          <p:cNvPr id="7" name="Rectangle 1">
            <a:extLst>
              <a:ext uri="{FF2B5EF4-FFF2-40B4-BE49-F238E27FC236}">
                <a16:creationId xmlns:a16="http://schemas.microsoft.com/office/drawing/2014/main" id="{A6098273-C35E-9CEF-6347-B41944C529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75" y="3778536"/>
            <a:ext cx="9120249" cy="3031086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Composite PK here is: (</a:t>
            </a:r>
            <a:r>
              <a:rPr kumimoji="0" lang="en-US" altLang="en-US" sz="2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TripID</a:t>
            </a:r>
            <a:r>
              <a:rPr kumimoji="0" lang="en-US" altLang="en-US" sz="2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, Station).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Now check dependencies: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Station depends on both </a:t>
            </a:r>
            <a:r>
              <a:rPr kumimoji="0" lang="en-US" altLang="en-US" sz="2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TripID</a:t>
            </a:r>
            <a:r>
              <a:rPr kumimoji="0" lang="en-US" altLang="en-US" sz="2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 + Station (OK).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Passenger depends only on </a:t>
            </a:r>
            <a:r>
              <a:rPr kumimoji="0" lang="en-US" altLang="en-US" sz="2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TripID</a:t>
            </a:r>
            <a:r>
              <a:rPr kumimoji="0" lang="en-US" altLang="en-US" sz="2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 (not on Station). Partial dependency.</a:t>
            </a:r>
          </a:p>
        </p:txBody>
      </p:sp>
    </p:spTree>
    <p:extLst>
      <p:ext uri="{BB962C8B-B14F-4D97-AF65-F5344CB8AC3E}">
        <p14:creationId xmlns:p14="http://schemas.microsoft.com/office/powerpoint/2010/main" val="20561925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741E89C-5112-3034-C191-A2EDFA133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DACA63-4317-E045-C476-B1C82C14C4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A24A33-859C-5D43-D314-DE001EAD64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293BF9D6-C06C-1BD2-B582-F103D367EA4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945932"/>
          </a:xfrm>
        </p:spPr>
        <p:txBody>
          <a:bodyPr>
            <a:noAutofit/>
          </a:bodyPr>
          <a:lstStyle/>
          <a:p>
            <a:r>
              <a:rPr lang="en-US" sz="3200" dirty="0"/>
              <a:t>2NF (remove partial dependency on part of composite PK)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E68EB68-DA78-E879-42DA-EE3C99F2EE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5986429"/>
              </p:ext>
            </p:extLst>
          </p:nvPr>
        </p:nvGraphicFramePr>
        <p:xfrm>
          <a:off x="628650" y="1990108"/>
          <a:ext cx="5257800" cy="103632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84592331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90008816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 err="1">
                          <a:latin typeface="Calibir"/>
                        </a:rPr>
                        <a:t>TripID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Passenger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1561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Sarah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5917978"/>
                  </a:ext>
                </a:extLst>
              </a:tr>
            </a:tbl>
          </a:graphicData>
        </a:graphic>
      </p:graphicFrame>
      <p:sp>
        <p:nvSpPr>
          <p:cNvPr id="7" name="Rectangle 1">
            <a:extLst>
              <a:ext uri="{FF2B5EF4-FFF2-40B4-BE49-F238E27FC236}">
                <a16:creationId xmlns:a16="http://schemas.microsoft.com/office/drawing/2014/main" id="{AC89563A-4CBF-FD82-80E2-710C50CFC1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751" y="1025407"/>
            <a:ext cx="9120249" cy="669094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To fix this, split into two tables:</a:t>
            </a:r>
            <a:endParaRPr kumimoji="0" lang="en-US" altLang="en-US" sz="2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400EF61-AB28-83BF-E181-59CC057F7B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909222"/>
              </p:ext>
            </p:extLst>
          </p:nvPr>
        </p:nvGraphicFramePr>
        <p:xfrm>
          <a:off x="628650" y="3759953"/>
          <a:ext cx="5257800" cy="207264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84592331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57512386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 err="1">
                          <a:latin typeface="Calibir"/>
                        </a:rPr>
                        <a:t>TripID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Station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1561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Richmond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59179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Flinders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72317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CBD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98303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AA4357D-0748-74C6-B50E-C7DA0E1C29A6}"/>
              </a:ext>
            </a:extLst>
          </p:cNvPr>
          <p:cNvSpPr txBox="1"/>
          <p:nvPr/>
        </p:nvSpPr>
        <p:spPr>
          <a:xfrm>
            <a:off x="6036937" y="1359954"/>
            <a:ext cx="3083312" cy="5115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200" b="1" dirty="0">
                <a:latin typeface="Calibir"/>
              </a:rPr>
              <a:t>What Happened?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Passenger now depends only on </a:t>
            </a:r>
            <a:r>
              <a:rPr lang="en-US" sz="2200" dirty="0" err="1">
                <a:latin typeface="Calibir"/>
              </a:rPr>
              <a:t>TripID</a:t>
            </a:r>
            <a:r>
              <a:rPr lang="en-US" sz="2200" dirty="0">
                <a:latin typeface="Calibir"/>
              </a:rPr>
              <a:t> → moved to TRIP.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Stations remain tied to </a:t>
            </a:r>
            <a:r>
              <a:rPr lang="en-US" sz="2200" dirty="0" err="1">
                <a:latin typeface="Calibir"/>
              </a:rPr>
              <a:t>TripID</a:t>
            </a:r>
            <a:r>
              <a:rPr lang="en-US" sz="2200" dirty="0">
                <a:latin typeface="Calibir"/>
              </a:rPr>
              <a:t> in TRIP_STATION.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No partial dependency left.</a:t>
            </a:r>
          </a:p>
        </p:txBody>
      </p:sp>
    </p:spTree>
    <p:extLst>
      <p:ext uri="{BB962C8B-B14F-4D97-AF65-F5344CB8AC3E}">
        <p14:creationId xmlns:p14="http://schemas.microsoft.com/office/powerpoint/2010/main" val="41792443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953CA8C-27F4-72B8-C663-7528EAC9C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5B1124-60F6-7565-A46B-7613F584C0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7E6FD0-0170-F7C6-3250-77AB568B76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F4397A1-726B-680E-EECF-7F8C289807B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945932"/>
          </a:xfrm>
        </p:spPr>
        <p:txBody>
          <a:bodyPr>
            <a:noAutofit/>
          </a:bodyPr>
          <a:lstStyle/>
          <a:p>
            <a:r>
              <a:rPr lang="en-US" sz="3200" dirty="0"/>
              <a:t>2NF (remove partial dependency on part of composite PK)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4777B2C9-FEE1-72A0-4A9F-C9002C7A64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751" y="1025407"/>
            <a:ext cx="9120249" cy="669094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Quick Problem</a:t>
            </a:r>
            <a:endParaRPr kumimoji="0" lang="en-US" altLang="en-US" sz="2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9D3F78C-D937-35F2-E544-00372F607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0388817"/>
              </p:ext>
            </p:extLst>
          </p:nvPr>
        </p:nvGraphicFramePr>
        <p:xfrm>
          <a:off x="628650" y="1927389"/>
          <a:ext cx="7886700" cy="207264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84592331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90008816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57512386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 err="1">
                          <a:latin typeface="Calibir"/>
                        </a:rPr>
                        <a:t>OrderID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 err="1">
                          <a:latin typeface="Calibir"/>
                        </a:rPr>
                        <a:t>CustomerName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Product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1561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Alice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Phone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59179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Alice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Charger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72317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Bob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Tablet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983034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D32B9C8E-65CD-E0AD-BC39-1BDFA7F3C773}"/>
              </a:ext>
            </a:extLst>
          </p:cNvPr>
          <p:cNvSpPr txBox="1"/>
          <p:nvPr/>
        </p:nvSpPr>
        <p:spPr>
          <a:xfrm>
            <a:off x="128239" y="4232917"/>
            <a:ext cx="9015761" cy="131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What’s the partial dependency?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How would you split it into 2NF?</a:t>
            </a:r>
            <a:endParaRPr lang="en-AU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3082257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953CA8C-27F4-72B8-C663-7528EAC9C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5B1124-60F6-7565-A46B-7613F584C0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7E6FD0-0170-F7C6-3250-77AB568B76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F4397A1-726B-680E-EECF-7F8C289807B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945932"/>
          </a:xfrm>
        </p:spPr>
        <p:txBody>
          <a:bodyPr>
            <a:noAutofit/>
          </a:bodyPr>
          <a:lstStyle/>
          <a:p>
            <a:r>
              <a:rPr lang="en-US" sz="3200" dirty="0"/>
              <a:t>2NF (remove partial dependency on part of composite PK)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68AA160-C74F-6FC8-93D2-57B62617BD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1742955"/>
              </p:ext>
            </p:extLst>
          </p:nvPr>
        </p:nvGraphicFramePr>
        <p:xfrm>
          <a:off x="628650" y="1035291"/>
          <a:ext cx="7886700" cy="207264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84592331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90008816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57512386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 err="1">
                          <a:latin typeface="Calibir"/>
                        </a:rPr>
                        <a:t>OrderID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 err="1">
                          <a:latin typeface="Calibir"/>
                        </a:rPr>
                        <a:t>CustomerName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Product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1561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Alice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Phone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59179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Alice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Charger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72317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Bob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Tablet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983034"/>
                  </a:ext>
                </a:extLst>
              </a:tr>
            </a:tbl>
          </a:graphicData>
        </a:graphic>
      </p:graphicFrame>
      <p:sp>
        <p:nvSpPr>
          <p:cNvPr id="6" name="Rectangle 1">
            <a:extLst>
              <a:ext uri="{FF2B5EF4-FFF2-40B4-BE49-F238E27FC236}">
                <a16:creationId xmlns:a16="http://schemas.microsoft.com/office/drawing/2014/main" id="{03EDD533-8F01-A486-DF44-6C48B7EA15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514" y="3521056"/>
            <a:ext cx="9144000" cy="30772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What’s the partial dependency?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The composite PK here is (</a:t>
            </a:r>
            <a:r>
              <a:rPr kumimoji="0" lang="en-US" altLang="en-US" sz="2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OrderID</a:t>
            </a:r>
            <a:r>
              <a:rPr kumimoji="0" lang="en-US" altLang="en-US" sz="2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, Product).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CustomerName</a:t>
            </a:r>
            <a:r>
              <a:rPr kumimoji="0" lang="en-US" altLang="en-US" sz="2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 depends only on </a:t>
            </a:r>
            <a:r>
              <a:rPr kumimoji="0" lang="en-US" altLang="en-US" sz="2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OrderID</a:t>
            </a:r>
            <a:r>
              <a:rPr kumimoji="0" lang="en-US" altLang="en-US" sz="2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, not on the full PK (</a:t>
            </a:r>
            <a:r>
              <a:rPr kumimoji="0" lang="en-US" altLang="en-US" sz="2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OrderID</a:t>
            </a:r>
            <a:r>
              <a:rPr kumimoji="0" lang="en-US" altLang="en-US" sz="2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 + Product).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That means we have a partial dependency → violation of 2NF.</a:t>
            </a:r>
          </a:p>
        </p:txBody>
      </p:sp>
    </p:spTree>
    <p:extLst>
      <p:ext uri="{BB962C8B-B14F-4D97-AF65-F5344CB8AC3E}">
        <p14:creationId xmlns:p14="http://schemas.microsoft.com/office/powerpoint/2010/main" val="39581215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4B1B431-1D7F-DAE5-4ABE-8E7656D86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26FDE63-40B2-BDC8-0C19-52A6FD8C21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DBE8F4-BBC4-DD67-C34E-8D47DDE0AB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8BFC349-1576-5E49-364E-6BAE87F3340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945932"/>
          </a:xfrm>
        </p:spPr>
        <p:txBody>
          <a:bodyPr>
            <a:noAutofit/>
          </a:bodyPr>
          <a:lstStyle/>
          <a:p>
            <a:r>
              <a:rPr lang="en-US" sz="3200" dirty="0"/>
              <a:t>2NF (remove partial dependency on part of composite PK)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E43FF94-FE18-FF10-89B2-5897B90FF5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0112419"/>
              </p:ext>
            </p:extLst>
          </p:nvPr>
        </p:nvGraphicFramePr>
        <p:xfrm>
          <a:off x="0" y="4523313"/>
          <a:ext cx="5257800" cy="207264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84592331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90008816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 err="1">
                          <a:latin typeface="Calibir"/>
                        </a:rPr>
                        <a:t>OrderID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Product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1561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Phone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59179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Charger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72317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Tablet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983034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BBB9EF37-E076-C43F-BDE8-FEA18184FD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45011"/>
            <a:ext cx="9144000" cy="13181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How to split into 2NF?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ORDER table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65B0EE-02EF-9066-ADA6-E2C117F768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1529795"/>
              </p:ext>
            </p:extLst>
          </p:nvPr>
        </p:nvGraphicFramePr>
        <p:xfrm>
          <a:off x="19515" y="2341059"/>
          <a:ext cx="5257800" cy="155448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84592331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90008816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 err="1">
                          <a:latin typeface="Calibir"/>
                        </a:rPr>
                        <a:t>OrderID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 err="1">
                          <a:latin typeface="Calibir"/>
                        </a:rPr>
                        <a:t>CustomerName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1561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Alice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59179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Bob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7231737"/>
                  </a:ext>
                </a:extLst>
              </a:tr>
            </a:tbl>
          </a:graphicData>
        </a:graphic>
      </p:graphicFrame>
      <p:sp>
        <p:nvSpPr>
          <p:cNvPr id="8" name="Rectangle 1">
            <a:extLst>
              <a:ext uri="{FF2B5EF4-FFF2-40B4-BE49-F238E27FC236}">
                <a16:creationId xmlns:a16="http://schemas.microsoft.com/office/drawing/2014/main" id="{0278E06F-76E0-DBBE-6B26-F45CCCA859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753544"/>
            <a:ext cx="9144000" cy="6690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ORDER_PRODUCT table</a:t>
            </a: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00B05B31-CE94-26DD-12E8-99176DE74B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04832" y="1252466"/>
            <a:ext cx="4011651" cy="54317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Now: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CustomerName</a:t>
            </a:r>
            <a:r>
              <a:rPr kumimoji="0" lang="en-US" altLang="en-US" sz="2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 depends only on </a:t>
            </a:r>
            <a:r>
              <a:rPr kumimoji="0" lang="en-US" altLang="en-US" sz="2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OrderID</a:t>
            </a:r>
            <a:r>
              <a:rPr kumimoji="0" lang="en-US" altLang="en-US" sz="2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 (fixed).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Product depends on </a:t>
            </a:r>
            <a:r>
              <a:rPr kumimoji="0" lang="en-US" altLang="en-US" sz="2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OrderID</a:t>
            </a:r>
            <a:r>
              <a:rPr kumimoji="0" lang="en-US" altLang="en-US" sz="2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 + Product (still correct).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No partial dependency remains → table is in 2NF.</a:t>
            </a:r>
          </a:p>
        </p:txBody>
      </p:sp>
    </p:spTree>
    <p:extLst>
      <p:ext uri="{BB962C8B-B14F-4D97-AF65-F5344CB8AC3E}">
        <p14:creationId xmlns:p14="http://schemas.microsoft.com/office/powerpoint/2010/main" val="9691242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81881DD-1BD2-0A84-34BF-3863CA7AF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A02869-78AC-1FF5-8957-89C35C10B8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C4E490-7E84-3D25-E497-B684CF3D5B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36B301A-9516-01AD-36F9-933272DF02E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945932"/>
          </a:xfrm>
        </p:spPr>
        <p:txBody>
          <a:bodyPr>
            <a:noAutofit/>
          </a:bodyPr>
          <a:lstStyle/>
          <a:p>
            <a:r>
              <a:rPr lang="en-US" sz="3200" dirty="0"/>
              <a:t>2NF (remove partial dependency on part of composite PK)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4361D87-CA0F-9A24-D536-15324F70A4A9}"/>
              </a:ext>
            </a:extLst>
          </p:cNvPr>
          <p:cNvGraphicFramePr>
            <a:graphicFrameLocks noGrp="1"/>
          </p:cNvGraphicFramePr>
          <p:nvPr/>
        </p:nvGraphicFramePr>
        <p:xfrm>
          <a:off x="0" y="4523313"/>
          <a:ext cx="5257800" cy="207264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84592331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90008816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 err="1">
                          <a:latin typeface="Calibir"/>
                        </a:rPr>
                        <a:t>OrderID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Product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1561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Phone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59179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Charger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72317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Tablet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983034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F1B51CA6-2476-56D9-31E7-1CA123456C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45011"/>
            <a:ext cx="9144000" cy="13181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How to split into 2NF?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ORDER table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FE1F4C8-66DE-A5F7-5811-5BB97053E799}"/>
              </a:ext>
            </a:extLst>
          </p:cNvPr>
          <p:cNvGraphicFramePr>
            <a:graphicFrameLocks noGrp="1"/>
          </p:cNvGraphicFramePr>
          <p:nvPr/>
        </p:nvGraphicFramePr>
        <p:xfrm>
          <a:off x="19515" y="2341059"/>
          <a:ext cx="5257800" cy="155448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84592331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90008816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 err="1">
                          <a:latin typeface="Calibir"/>
                        </a:rPr>
                        <a:t>OrderID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 err="1">
                          <a:latin typeface="Calibir"/>
                        </a:rPr>
                        <a:t>CustomerName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1561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Alice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59179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Bob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7231737"/>
                  </a:ext>
                </a:extLst>
              </a:tr>
            </a:tbl>
          </a:graphicData>
        </a:graphic>
      </p:graphicFrame>
      <p:sp>
        <p:nvSpPr>
          <p:cNvPr id="8" name="Rectangle 1">
            <a:extLst>
              <a:ext uri="{FF2B5EF4-FFF2-40B4-BE49-F238E27FC236}">
                <a16:creationId xmlns:a16="http://schemas.microsoft.com/office/drawing/2014/main" id="{0C36525F-54EF-2B7D-32D3-50524C2864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753544"/>
            <a:ext cx="9144000" cy="6690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ORDER_PRODUCT table</a:t>
            </a: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AA7D3843-E1F1-6D1D-3203-5634836B3B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74229" y="1960636"/>
            <a:ext cx="3789286" cy="45498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800" dirty="0">
                <a:latin typeface="Calibir"/>
              </a:rPr>
              <a:t>It’s like storing Alice’s name again and again for every product Alice buys. In 2NF, we just list her name once in the ORDER table, and her products separately.</a:t>
            </a:r>
            <a:endParaRPr kumimoji="0" lang="en-US" altLang="en-US" sz="2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907652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E0E0E58-FFB2-6759-0F0F-6AE78F217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C8989A6-21B1-E1E0-F4A3-528A218565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1933C9-96FB-F935-0DF7-50B28FEE24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471B7D6-5640-6A58-2298-25FD1516F2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3NF (remove transitive dependency)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2D8843-A998-8C8A-AFDA-4E20A8EAEBA4}"/>
              </a:ext>
            </a:extLst>
          </p:cNvPr>
          <p:cNvSpPr txBox="1"/>
          <p:nvPr/>
        </p:nvSpPr>
        <p:spPr>
          <a:xfrm>
            <a:off x="0" y="1226634"/>
            <a:ext cx="8987882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Rules: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Must already be in 2NF.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No non-key attribute should depend on another non-key attribute.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 other words: every non-key attribute must depend only on the primary key.</a:t>
            </a:r>
          </a:p>
        </p:txBody>
      </p:sp>
    </p:spTree>
    <p:extLst>
      <p:ext uri="{BB962C8B-B14F-4D97-AF65-F5344CB8AC3E}">
        <p14:creationId xmlns:p14="http://schemas.microsoft.com/office/powerpoint/2010/main" val="36742024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3CA63B8-BFFF-EFF7-8CC2-CAF595FD6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2ECAAB-9837-E20E-8249-86C1223BAC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0ABF7B-7E5D-2C7D-9FD9-1CA3983936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1F1A366-31D8-C212-EF8E-8C127159456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3NF (remove transitive dependency)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9E00E4-D673-CBDD-5183-751DF22F47DC}"/>
              </a:ext>
            </a:extLst>
          </p:cNvPr>
          <p:cNvSpPr txBox="1"/>
          <p:nvPr/>
        </p:nvSpPr>
        <p:spPr>
          <a:xfrm>
            <a:off x="0" y="586429"/>
            <a:ext cx="8987882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If our EMPLOYEE table looks like this: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D6D1704-B737-8E9C-D98C-6854E023A3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4146381"/>
              </p:ext>
            </p:extLst>
          </p:nvPr>
        </p:nvGraphicFramePr>
        <p:xfrm>
          <a:off x="416776" y="1965522"/>
          <a:ext cx="7886700" cy="155448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971675">
                  <a:extLst>
                    <a:ext uri="{9D8B030D-6E8A-4147-A177-3AD203B41FA5}">
                      <a16:colId xmlns:a16="http://schemas.microsoft.com/office/drawing/2014/main" val="2845923313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2900088161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357512386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24118525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 err="1">
                          <a:latin typeface="Calibir"/>
                        </a:rPr>
                        <a:t>EmpID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 err="1">
                          <a:latin typeface="Calibir"/>
                        </a:rPr>
                        <a:t>EmpName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 err="1">
                          <a:latin typeface="Calibir"/>
                        </a:rPr>
                        <a:t>JobClass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 err="1">
                          <a:latin typeface="Calibir"/>
                        </a:rPr>
                        <a:t>HourlyRate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1561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Alice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DBA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$95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59179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Ben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Analyst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$65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7231737"/>
                  </a:ext>
                </a:extLst>
              </a:tr>
            </a:tbl>
          </a:graphicData>
        </a:graphic>
      </p:graphicFrame>
      <p:sp>
        <p:nvSpPr>
          <p:cNvPr id="6" name="Rectangle 1">
            <a:extLst>
              <a:ext uri="{FF2B5EF4-FFF2-40B4-BE49-F238E27FC236}">
                <a16:creationId xmlns:a16="http://schemas.microsoft.com/office/drawing/2014/main" id="{43BA4C47-8E06-77B7-D3B8-B1CE8D20C8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580914"/>
            <a:ext cx="9144000" cy="1964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Problem: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HourlyRate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 depends on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JobClass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, not directly on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EmpID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.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That’s a 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transitive dependency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→ violates 3NF. 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1395FB94-763E-0DAD-C3A8-82E4E72603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" y="5599721"/>
            <a:ext cx="7493622" cy="6718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800" dirty="0">
                <a:latin typeface="Calibir"/>
              </a:rPr>
              <a:t>Fix: Split into two tables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7318624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061AB24-CD72-6078-2765-C9A4B3E64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FBF598-5805-5690-CCC9-6DC735F203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D4704E-C338-20B6-BCD7-93E65D6D5D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093905B-0C67-8A04-B350-D69BBECE88A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3NF (remove transitive dependency)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9B4A06-1993-5647-7B06-B9B0B3BF3BEA}"/>
              </a:ext>
            </a:extLst>
          </p:cNvPr>
          <p:cNvSpPr txBox="1"/>
          <p:nvPr/>
        </p:nvSpPr>
        <p:spPr>
          <a:xfrm>
            <a:off x="0" y="586429"/>
            <a:ext cx="8987882" cy="669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EMPLOYEE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5EC1891-4B8E-99FC-9C2D-947764655E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7444156"/>
              </p:ext>
            </p:extLst>
          </p:nvPr>
        </p:nvGraphicFramePr>
        <p:xfrm>
          <a:off x="416776" y="1419224"/>
          <a:ext cx="5915025" cy="155448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971675">
                  <a:extLst>
                    <a:ext uri="{9D8B030D-6E8A-4147-A177-3AD203B41FA5}">
                      <a16:colId xmlns:a16="http://schemas.microsoft.com/office/drawing/2014/main" val="2845923313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2900088161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357512386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 err="1">
                          <a:latin typeface="Calibir"/>
                        </a:rPr>
                        <a:t>EmpID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 err="1">
                          <a:latin typeface="Calibir"/>
                        </a:rPr>
                        <a:t>EmpName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 err="1">
                          <a:latin typeface="Calibir"/>
                        </a:rPr>
                        <a:t>JobClass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1561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Alice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DBA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59179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Ben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Analyst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7231737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6F7646D0-E08F-3F3D-DE22-99BC1B7C5068}"/>
              </a:ext>
            </a:extLst>
          </p:cNvPr>
          <p:cNvSpPr txBox="1"/>
          <p:nvPr/>
        </p:nvSpPr>
        <p:spPr>
          <a:xfrm>
            <a:off x="0" y="3215425"/>
            <a:ext cx="8987882" cy="669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JOB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8E0EFD3-A82D-7A4D-13F8-967278F3C7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7777539"/>
              </p:ext>
            </p:extLst>
          </p:nvPr>
        </p:nvGraphicFramePr>
        <p:xfrm>
          <a:off x="416775" y="4156366"/>
          <a:ext cx="3943350" cy="155448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971675">
                  <a:extLst>
                    <a:ext uri="{9D8B030D-6E8A-4147-A177-3AD203B41FA5}">
                      <a16:colId xmlns:a16="http://schemas.microsoft.com/office/drawing/2014/main" val="2900088161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357512386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 err="1">
                          <a:latin typeface="Calibir"/>
                        </a:rPr>
                        <a:t>JobClass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 err="1">
                          <a:latin typeface="Calibir"/>
                        </a:rPr>
                        <a:t>HourlyRate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1561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DBA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$95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59179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Analyst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$65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72317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1025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E015420-C917-4C90-4F6D-3CA848E41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A5D8C9-FC94-4798-CF8C-FC7500C082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A4EF21-5020-F360-C0D7-2D1B5A28CF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4AB4D85-C1EA-BE27-8BD7-2F0950A467B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3NF (remove transitive dependency)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035197-0A70-0711-64C7-56FB90081CBA}"/>
              </a:ext>
            </a:extLst>
          </p:cNvPr>
          <p:cNvSpPr txBox="1"/>
          <p:nvPr/>
        </p:nvSpPr>
        <p:spPr>
          <a:xfrm>
            <a:off x="78059" y="1243076"/>
            <a:ext cx="8987882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Analogy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Think of a coffee order: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Customer record should store what size coffee they bought.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But the price of “Large” should not be in the customer’s record → it belongs in the Coffee Size table.</a:t>
            </a:r>
          </a:p>
        </p:txBody>
      </p:sp>
    </p:spTree>
    <p:extLst>
      <p:ext uri="{BB962C8B-B14F-4D97-AF65-F5344CB8AC3E}">
        <p14:creationId xmlns:p14="http://schemas.microsoft.com/office/powerpoint/2010/main" val="32410660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4FF8DF7-049F-DD83-11DC-A18B4A390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68593A-D0DD-F59A-9A4B-613E2EC570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06A2E7-53D6-D485-1149-DC0CE7F07A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C9059FB-D7A0-D8E3-1695-705A8F9AB09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3NF (remove transitive dependency)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483D3D-0FE7-A0BD-43F1-F813F153CEB0}"/>
              </a:ext>
            </a:extLst>
          </p:cNvPr>
          <p:cNvSpPr txBox="1"/>
          <p:nvPr/>
        </p:nvSpPr>
        <p:spPr>
          <a:xfrm>
            <a:off x="78059" y="785876"/>
            <a:ext cx="8987882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Question 5-min Problem for Students</a:t>
            </a:r>
            <a:endParaRPr lang="en-US" sz="2800" dirty="0">
              <a:latin typeface="Calibir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ACF2127-2EA2-7B84-6414-177C5C8F32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6574740"/>
              </p:ext>
            </p:extLst>
          </p:nvPr>
        </p:nvGraphicFramePr>
        <p:xfrm>
          <a:off x="416776" y="1965522"/>
          <a:ext cx="8571107" cy="207264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122092">
                  <a:extLst>
                    <a:ext uri="{9D8B030D-6E8A-4147-A177-3AD203B41FA5}">
                      <a16:colId xmlns:a16="http://schemas.microsoft.com/office/drawing/2014/main" val="2845923313"/>
                    </a:ext>
                  </a:extLst>
                </a:gridCol>
                <a:gridCol w="1817649">
                  <a:extLst>
                    <a:ext uri="{9D8B030D-6E8A-4147-A177-3AD203B41FA5}">
                      <a16:colId xmlns:a16="http://schemas.microsoft.com/office/drawing/2014/main" val="2900088161"/>
                    </a:ext>
                  </a:extLst>
                </a:gridCol>
                <a:gridCol w="2375210">
                  <a:extLst>
                    <a:ext uri="{9D8B030D-6E8A-4147-A177-3AD203B41FA5}">
                      <a16:colId xmlns:a16="http://schemas.microsoft.com/office/drawing/2014/main" val="3575123865"/>
                    </a:ext>
                  </a:extLst>
                </a:gridCol>
                <a:gridCol w="3256156">
                  <a:extLst>
                    <a:ext uri="{9D8B030D-6E8A-4147-A177-3AD203B41FA5}">
                      <a16:colId xmlns:a16="http://schemas.microsoft.com/office/drawing/2014/main" val="24118525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 err="1">
                          <a:latin typeface="Calibir"/>
                        </a:rPr>
                        <a:t>CarID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 err="1">
                          <a:latin typeface="Calibir"/>
                        </a:rPr>
                        <a:t>CarModel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Manufacturer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 err="1">
                          <a:latin typeface="Calibir"/>
                        </a:rPr>
                        <a:t>ManufactureCity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1561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Corolla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Toyota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Sydney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59179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Camry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Toyota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Sydney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72317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CX-5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Mazda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Melbourne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952749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64F8657-DD50-3BD8-0DB4-07DAF36A61D0}"/>
              </a:ext>
            </a:extLst>
          </p:cNvPr>
          <p:cNvSpPr txBox="1"/>
          <p:nvPr/>
        </p:nvSpPr>
        <p:spPr>
          <a:xfrm>
            <a:off x="0" y="4183127"/>
            <a:ext cx="8987882" cy="131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What’s the transitive dependency?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How would you split into 3NF?</a:t>
            </a:r>
            <a:endParaRPr lang="en-AU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84313968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4FF8DF7-049F-DD83-11DC-A18B4A390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68593A-D0DD-F59A-9A4B-613E2EC570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06A2E7-53D6-D485-1149-DC0CE7F07A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C9059FB-D7A0-D8E3-1695-705A8F9AB09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3NF (remove transitive dependency)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4F8657-DD50-3BD8-0DB4-07DAF36A61D0}"/>
              </a:ext>
            </a:extLst>
          </p:cNvPr>
          <p:cNvSpPr txBox="1"/>
          <p:nvPr/>
        </p:nvSpPr>
        <p:spPr>
          <a:xfrm>
            <a:off x="0" y="525517"/>
            <a:ext cx="8987882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Step 1: Identify the transitive dependency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Primary key: </a:t>
            </a:r>
            <a:r>
              <a:rPr lang="en-US" altLang="en-US" sz="2800" dirty="0" err="1">
                <a:latin typeface="Calibir"/>
              </a:rPr>
              <a:t>CarID</a:t>
            </a:r>
            <a:endParaRPr lang="en-US" altLang="en-US" sz="2800" dirty="0">
              <a:latin typeface="Calibir"/>
            </a:endParaRP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 err="1">
                <a:latin typeface="Calibir"/>
              </a:rPr>
              <a:t>CarID</a:t>
            </a:r>
            <a:r>
              <a:rPr lang="en-US" altLang="en-US" sz="2800" dirty="0">
                <a:latin typeface="Calibir"/>
              </a:rPr>
              <a:t> → </a:t>
            </a:r>
            <a:r>
              <a:rPr lang="en-US" altLang="en-US" sz="2800" dirty="0" err="1">
                <a:latin typeface="Calibir"/>
              </a:rPr>
              <a:t>CarModel</a:t>
            </a:r>
            <a:r>
              <a:rPr lang="en-US" altLang="en-US" sz="2800" dirty="0">
                <a:latin typeface="Calibir"/>
              </a:rPr>
              <a:t> (direct dependency)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 err="1">
                <a:latin typeface="Calibir"/>
              </a:rPr>
              <a:t>CarModel</a:t>
            </a:r>
            <a:r>
              <a:rPr lang="en-US" altLang="en-US" sz="2800" dirty="0">
                <a:latin typeface="Calibir"/>
              </a:rPr>
              <a:t> → Manufacturer (a model is made by one manufacturer)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Manufacturer → </a:t>
            </a:r>
            <a:r>
              <a:rPr lang="en-US" altLang="en-US" sz="2800" dirty="0" err="1">
                <a:latin typeface="Calibir"/>
              </a:rPr>
              <a:t>ManufactureCity</a:t>
            </a:r>
            <a:r>
              <a:rPr lang="en-US" altLang="en-US" sz="2800" dirty="0">
                <a:latin typeface="Calibir"/>
              </a:rPr>
              <a:t> (a manufacturer is based in one city)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latin typeface="Calibir"/>
              </a:rPr>
              <a:t>Thus, we have a transitive dependency:</a:t>
            </a:r>
            <a:br>
              <a:rPr lang="en-US" altLang="en-US" sz="2800" dirty="0">
                <a:latin typeface="Calibir"/>
              </a:rPr>
            </a:br>
            <a:r>
              <a:rPr lang="en-US" altLang="en-US" sz="2800" dirty="0" err="1">
                <a:latin typeface="Calibir"/>
              </a:rPr>
              <a:t>CarID</a:t>
            </a:r>
            <a:r>
              <a:rPr lang="en-US" altLang="en-US" sz="2800" dirty="0">
                <a:latin typeface="Calibir"/>
              </a:rPr>
              <a:t> → Manufacturer → </a:t>
            </a:r>
            <a:r>
              <a:rPr lang="en-US" altLang="en-US" sz="2800" dirty="0" err="1">
                <a:latin typeface="Calibir"/>
              </a:rPr>
              <a:t>ManufactureCity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1371234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8DFF83D-ADD9-5DDC-2FC1-9869BFC7E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B4BEB7-10FA-0F18-0FD8-1B92090662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B06C63-FFAB-38F7-410E-CC931022BD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B9EEBF4-2702-682E-4938-D7D4EB9662F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3NF (remove transitive dependency)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3F6BCB-C176-4997-6F05-EF68C8515EC7}"/>
              </a:ext>
            </a:extLst>
          </p:cNvPr>
          <p:cNvSpPr txBox="1"/>
          <p:nvPr/>
        </p:nvSpPr>
        <p:spPr>
          <a:xfrm>
            <a:off x="0" y="525517"/>
            <a:ext cx="8987882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2: Remove the transitive dependency (split into 3NF)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We decompose the original table into two (or three) tables: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b="1" dirty="0">
                <a:latin typeface="Calibir"/>
              </a:rPr>
              <a:t>Car Table</a:t>
            </a:r>
            <a:endParaRPr lang="en-US" sz="2800" dirty="0">
              <a:latin typeface="Calibir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B8CC441-61FA-75DA-E12E-BE0FFC9789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2151328"/>
              </p:ext>
            </p:extLst>
          </p:nvPr>
        </p:nvGraphicFramePr>
        <p:xfrm>
          <a:off x="0" y="2490029"/>
          <a:ext cx="5139559" cy="207264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122092">
                  <a:extLst>
                    <a:ext uri="{9D8B030D-6E8A-4147-A177-3AD203B41FA5}">
                      <a16:colId xmlns:a16="http://schemas.microsoft.com/office/drawing/2014/main" val="2845923313"/>
                    </a:ext>
                  </a:extLst>
                </a:gridCol>
                <a:gridCol w="1817649">
                  <a:extLst>
                    <a:ext uri="{9D8B030D-6E8A-4147-A177-3AD203B41FA5}">
                      <a16:colId xmlns:a16="http://schemas.microsoft.com/office/drawing/2014/main" val="2900088161"/>
                    </a:ext>
                  </a:extLst>
                </a:gridCol>
                <a:gridCol w="2199818">
                  <a:extLst>
                    <a:ext uri="{9D8B030D-6E8A-4147-A177-3AD203B41FA5}">
                      <a16:colId xmlns:a16="http://schemas.microsoft.com/office/drawing/2014/main" val="357512386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 err="1">
                          <a:latin typeface="Calibir"/>
                        </a:rPr>
                        <a:t>CarID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 err="1">
                          <a:latin typeface="Calibir"/>
                        </a:rPr>
                        <a:t>CarModel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Manufacturer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1561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Corolla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Toyota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59179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Camry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Toyota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72317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CX-5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Mazda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952749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5AA1B35-49EB-9DD4-875E-F1DFAD9E0211}"/>
              </a:ext>
            </a:extLst>
          </p:cNvPr>
          <p:cNvSpPr txBox="1"/>
          <p:nvPr/>
        </p:nvSpPr>
        <p:spPr>
          <a:xfrm>
            <a:off x="5285679" y="4226718"/>
            <a:ext cx="898788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AutoNum type="arabicPeriod" startAt="2"/>
            </a:pPr>
            <a:r>
              <a:rPr lang="en-US" altLang="en-US" sz="2800" b="1" dirty="0">
                <a:latin typeface="Calibir"/>
              </a:rPr>
              <a:t>   Manufacturer Table</a:t>
            </a:r>
            <a:endParaRPr lang="en-US" altLang="en-US" sz="2800" dirty="0">
              <a:latin typeface="Calibir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D1BBE98-8505-200A-5FB9-4BD001B117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2391000"/>
              </p:ext>
            </p:extLst>
          </p:nvPr>
        </p:nvGraphicFramePr>
        <p:xfrm>
          <a:off x="5285679" y="4865222"/>
          <a:ext cx="3858321" cy="198120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471960">
                  <a:extLst>
                    <a:ext uri="{9D8B030D-6E8A-4147-A177-3AD203B41FA5}">
                      <a16:colId xmlns:a16="http://schemas.microsoft.com/office/drawing/2014/main" val="2845923313"/>
                    </a:ext>
                  </a:extLst>
                </a:gridCol>
                <a:gridCol w="2386361">
                  <a:extLst>
                    <a:ext uri="{9D8B030D-6E8A-4147-A177-3AD203B41FA5}">
                      <a16:colId xmlns:a16="http://schemas.microsoft.com/office/drawing/2014/main" val="290008816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Manufacturer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 err="1">
                          <a:latin typeface="Calibir"/>
                        </a:rPr>
                        <a:t>ManufacturerCity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1561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Toyota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Sydney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59179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Mazda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Melbourne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95274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300878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D20E3F0-A2AA-207B-EB9F-806C763955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E30C69-0234-5CAE-99C3-F7F029FC0A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CA7BCF-EE1D-7096-CFE9-A0D5583B1B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67F8E2B6-AF18-510C-B0CC-0CD3059834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3NF (remove transitive dependency)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34D94E-A19F-8C64-1256-90F4DFBEC150}"/>
              </a:ext>
            </a:extLst>
          </p:cNvPr>
          <p:cNvSpPr txBox="1"/>
          <p:nvPr/>
        </p:nvSpPr>
        <p:spPr>
          <a:xfrm>
            <a:off x="0" y="525517"/>
            <a:ext cx="8987882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Final Result (3NF)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Car(</a:t>
            </a:r>
            <a:r>
              <a:rPr lang="en-US" altLang="en-US" sz="2800" dirty="0" err="1">
                <a:latin typeface="Calibir"/>
              </a:rPr>
              <a:t>CarID</a:t>
            </a:r>
            <a:r>
              <a:rPr lang="en-US" altLang="en-US" sz="2800" dirty="0">
                <a:latin typeface="Calibir"/>
              </a:rPr>
              <a:t>, </a:t>
            </a:r>
            <a:r>
              <a:rPr lang="en-US" altLang="en-US" sz="2800" dirty="0" err="1">
                <a:latin typeface="Calibir"/>
              </a:rPr>
              <a:t>CarModel</a:t>
            </a:r>
            <a:r>
              <a:rPr lang="en-US" altLang="en-US" sz="2800" dirty="0">
                <a:latin typeface="Calibir"/>
              </a:rPr>
              <a:t>, Manufacturer)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Manufacturer(Manufacturer, </a:t>
            </a:r>
            <a:r>
              <a:rPr lang="en-US" altLang="en-US" sz="2800" dirty="0" err="1">
                <a:latin typeface="Calibir"/>
              </a:rPr>
              <a:t>ManufactureCity</a:t>
            </a:r>
            <a:r>
              <a:rPr lang="en-US" altLang="en-US" sz="2800" dirty="0">
                <a:latin typeface="Calibir"/>
              </a:rPr>
              <a:t>)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latin typeface="Calibir"/>
              </a:rPr>
              <a:t>This removes the transitive dependency because </a:t>
            </a:r>
            <a:r>
              <a:rPr lang="en-US" altLang="en-US" sz="2800" dirty="0" err="1">
                <a:latin typeface="Calibir"/>
              </a:rPr>
              <a:t>ManufactureCity</a:t>
            </a:r>
            <a:r>
              <a:rPr lang="en-US" altLang="en-US" sz="2800" dirty="0">
                <a:latin typeface="Calibir"/>
              </a:rPr>
              <a:t> now depends only on Manufacturer (not transitively on </a:t>
            </a:r>
            <a:r>
              <a:rPr lang="en-US" altLang="en-US" sz="2800" dirty="0" err="1">
                <a:latin typeface="Calibir"/>
              </a:rPr>
              <a:t>CarID</a:t>
            </a:r>
            <a:r>
              <a:rPr lang="en-US" altLang="en-US" sz="2800" dirty="0">
                <a:latin typeface="Calibir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414164717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77F91E5-660F-2274-E5F8-3931043F5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BC3E315-2D04-012B-3308-0B4944E159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3E94A2-1E63-ED51-F291-F988365E29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942C9D4-517B-B88F-46BE-40DDCAA9503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3NF (remove transitive dependency)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15FF57-A373-DB4E-C690-D28BA422A6CF}"/>
              </a:ext>
            </a:extLst>
          </p:cNvPr>
          <p:cNvSpPr txBox="1"/>
          <p:nvPr/>
        </p:nvSpPr>
        <p:spPr>
          <a:xfrm>
            <a:off x="0" y="1492469"/>
            <a:ext cx="8987882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latin typeface="Calibir"/>
              </a:rPr>
              <a:t>In Summary, the transitive dependency is </a:t>
            </a:r>
            <a:r>
              <a:rPr lang="en-US" altLang="en-US" sz="2800" dirty="0" err="1">
                <a:latin typeface="Calibir"/>
              </a:rPr>
              <a:t>CarID</a:t>
            </a:r>
            <a:r>
              <a:rPr lang="en-US" altLang="en-US" sz="2800" dirty="0">
                <a:latin typeface="Calibir"/>
              </a:rPr>
              <a:t> → Manufacturer → </a:t>
            </a:r>
            <a:r>
              <a:rPr lang="en-US" altLang="en-US" sz="2800" dirty="0" err="1">
                <a:latin typeface="Calibir"/>
              </a:rPr>
              <a:t>ManufactureCity</a:t>
            </a:r>
            <a:r>
              <a:rPr lang="en-US" altLang="en-US" sz="2800" dirty="0">
                <a:latin typeface="Calibir"/>
              </a:rPr>
              <a:t>.</a:t>
            </a:r>
            <a:br>
              <a:rPr lang="en-US" altLang="en-US" sz="2800" dirty="0">
                <a:latin typeface="Calibir"/>
              </a:rPr>
            </a:br>
            <a:r>
              <a:rPr lang="en-US" altLang="en-US" sz="2800" dirty="0">
                <a:latin typeface="Calibir"/>
              </a:rPr>
              <a:t>To achieve 3NF, split into: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Car(</a:t>
            </a:r>
            <a:r>
              <a:rPr lang="en-US" altLang="en-US" sz="2800" dirty="0" err="1">
                <a:latin typeface="Calibir"/>
              </a:rPr>
              <a:t>CarID</a:t>
            </a:r>
            <a:r>
              <a:rPr lang="en-US" altLang="en-US" sz="2800" dirty="0">
                <a:latin typeface="Calibir"/>
              </a:rPr>
              <a:t>, </a:t>
            </a:r>
            <a:r>
              <a:rPr lang="en-US" altLang="en-US" sz="2800" dirty="0" err="1">
                <a:latin typeface="Calibir"/>
              </a:rPr>
              <a:t>CarModel</a:t>
            </a:r>
            <a:r>
              <a:rPr lang="en-US" altLang="en-US" sz="2800" dirty="0">
                <a:latin typeface="Calibir"/>
              </a:rPr>
              <a:t>, Manufacturer)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Manufacturer(Manufacturer, </a:t>
            </a:r>
            <a:r>
              <a:rPr lang="en-US" altLang="en-US" sz="2800" dirty="0" err="1">
                <a:latin typeface="Calibir"/>
              </a:rPr>
              <a:t>ManufactureCity</a:t>
            </a:r>
            <a:r>
              <a:rPr lang="en-US" altLang="en-US" sz="2800" dirty="0">
                <a:latin typeface="Calibir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9831570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5AD8E7C-F228-847A-868E-63373D1153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A89D04-5A6C-68F6-52F4-CBEE2E4C44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7D8AF6-3303-08DC-2A03-9EE06C7394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0F70BF3-2E97-C90E-4377-4E776654E85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170234" cy="525518"/>
          </a:xfrm>
        </p:spPr>
        <p:txBody>
          <a:bodyPr>
            <a:noAutofit/>
          </a:bodyPr>
          <a:lstStyle/>
          <a:p>
            <a:r>
              <a:rPr lang="en-US" sz="3200" dirty="0"/>
              <a:t>Higher normal forms (BCNF &amp; 4NF)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9B34BD-2F75-643D-E68B-41C55BF17A1A}"/>
              </a:ext>
            </a:extLst>
          </p:cNvPr>
          <p:cNvSpPr txBox="1"/>
          <p:nvPr/>
        </p:nvSpPr>
        <p:spPr>
          <a:xfrm>
            <a:off x="23751" y="1214490"/>
            <a:ext cx="9120249" cy="5226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500" b="1" dirty="0">
                <a:latin typeface="Calibir"/>
              </a:rPr>
              <a:t>Boyce–Codd Normal Form (BCNF)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Extension of 3NF.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Rule: Every determinant must be a candidate key.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Usually only needed in </a:t>
            </a:r>
            <a:r>
              <a:rPr lang="en-US" sz="2500" i="1" dirty="0">
                <a:latin typeface="Calibir"/>
              </a:rPr>
              <a:t>edge cases</a:t>
            </a:r>
            <a:r>
              <a:rPr lang="en-US" sz="2500" dirty="0">
                <a:latin typeface="Calibir"/>
              </a:rPr>
              <a:t> where 3NF still leaves anomalies.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Example: A room can only have one course, and each course has only one teacher → can create anomalies unless restructured.</a:t>
            </a:r>
            <a:br>
              <a:rPr lang="en-US" sz="2500" dirty="0">
                <a:latin typeface="Calibir"/>
              </a:rPr>
            </a:br>
            <a:r>
              <a:rPr lang="en-US" sz="2500" dirty="0">
                <a:latin typeface="Calibir"/>
              </a:rPr>
              <a:t>We’ll only touch this conceptually.</a:t>
            </a:r>
          </a:p>
        </p:txBody>
      </p:sp>
    </p:spTree>
    <p:extLst>
      <p:ext uri="{BB962C8B-B14F-4D97-AF65-F5344CB8AC3E}">
        <p14:creationId xmlns:p14="http://schemas.microsoft.com/office/powerpoint/2010/main" val="379896695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2A824BE-F0BB-2C68-749D-9008E6007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65F0500-30E1-AEB7-2308-9419C87E29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A4E6D3-070C-8EB0-E76E-5C33DDC419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FFC8BC4-4920-1EC3-A146-D8AF8970B9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170234" cy="525518"/>
          </a:xfrm>
        </p:spPr>
        <p:txBody>
          <a:bodyPr>
            <a:noAutofit/>
          </a:bodyPr>
          <a:lstStyle/>
          <a:p>
            <a:r>
              <a:rPr lang="en-US" sz="3200" dirty="0"/>
              <a:t>Higher normal forms (BCNF &amp; 4NF)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4D2AAA-41A3-D9A4-6A1D-8841768EE05A}"/>
              </a:ext>
            </a:extLst>
          </p:cNvPr>
          <p:cNvSpPr txBox="1"/>
          <p:nvPr/>
        </p:nvSpPr>
        <p:spPr>
          <a:xfrm>
            <a:off x="23751" y="679232"/>
            <a:ext cx="9120249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Fourth Normal Form (4NF)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Removes multi-valued dependencies.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Problem: one table contains two independent lists, and combining them creates wrong “spurious” rows.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Example: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C52EB61-DEF2-766C-B959-9082F18658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514249"/>
              </p:ext>
            </p:extLst>
          </p:nvPr>
        </p:nvGraphicFramePr>
        <p:xfrm>
          <a:off x="613317" y="4090121"/>
          <a:ext cx="5668304" cy="259080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475445">
                  <a:extLst>
                    <a:ext uri="{9D8B030D-6E8A-4147-A177-3AD203B41FA5}">
                      <a16:colId xmlns:a16="http://schemas.microsoft.com/office/drawing/2014/main" val="2845923313"/>
                    </a:ext>
                  </a:extLst>
                </a:gridCol>
                <a:gridCol w="1817649">
                  <a:extLst>
                    <a:ext uri="{9D8B030D-6E8A-4147-A177-3AD203B41FA5}">
                      <a16:colId xmlns:a16="http://schemas.microsoft.com/office/drawing/2014/main" val="2900088161"/>
                    </a:ext>
                  </a:extLst>
                </a:gridCol>
                <a:gridCol w="2375210">
                  <a:extLst>
                    <a:ext uri="{9D8B030D-6E8A-4147-A177-3AD203B41FA5}">
                      <a16:colId xmlns:a16="http://schemas.microsoft.com/office/drawing/2014/main" val="357512386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Student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Sport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Instrument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1561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Alice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Soccer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Piano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59179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Alice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Soccer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Guitar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72317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Alice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Tennis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Piano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95274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Alice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Tennis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Guitar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048779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99CF4C46-AFAC-67C2-FA0C-BAD48EEBE34D}"/>
              </a:ext>
            </a:extLst>
          </p:cNvPr>
          <p:cNvSpPr txBox="1"/>
          <p:nvPr/>
        </p:nvSpPr>
        <p:spPr>
          <a:xfrm>
            <a:off x="6348528" y="3263298"/>
            <a:ext cx="2827477" cy="3594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200" dirty="0">
                <a:latin typeface="Calibir"/>
              </a:rPr>
              <a:t>We don’t mean Alice plays every instrument </a:t>
            </a:r>
            <a:r>
              <a:rPr lang="en-US" sz="2200" i="1" dirty="0">
                <a:latin typeface="Calibir"/>
              </a:rPr>
              <a:t>with every sport</a:t>
            </a:r>
            <a:r>
              <a:rPr lang="en-US" sz="2200" dirty="0">
                <a:latin typeface="Calibir"/>
              </a:rPr>
              <a:t> — but the table forces that combination.</a:t>
            </a:r>
          </a:p>
          <a:p>
            <a:pPr>
              <a:lnSpc>
                <a:spcPct val="150000"/>
              </a:lnSpc>
              <a:buNone/>
            </a:pPr>
            <a:r>
              <a:rPr lang="en-US" sz="2200" dirty="0">
                <a:latin typeface="Calibir"/>
              </a:rPr>
              <a:t>Fix: Split into two independent tables.</a:t>
            </a:r>
          </a:p>
        </p:txBody>
      </p:sp>
    </p:spTree>
    <p:extLst>
      <p:ext uri="{BB962C8B-B14F-4D97-AF65-F5344CB8AC3E}">
        <p14:creationId xmlns:p14="http://schemas.microsoft.com/office/powerpoint/2010/main" val="3373292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0C7D7B9-D28D-FF16-3812-1213A16A3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2D4359E-87A6-CF9E-B750-34F0BE9986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1DD0D-7ACF-737D-5179-C30397208A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2155850-56D7-6FA9-DA01-C3294F9E23E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170234" cy="525518"/>
          </a:xfrm>
        </p:spPr>
        <p:txBody>
          <a:bodyPr>
            <a:noAutofit/>
          </a:bodyPr>
          <a:lstStyle/>
          <a:p>
            <a:r>
              <a:rPr lang="en-US" sz="3200" dirty="0"/>
              <a:t>Higher normal forms (BCNF &amp; 4NF)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CB63DD2-969F-54F2-028C-5D38A56D0462}"/>
              </a:ext>
            </a:extLst>
          </p:cNvPr>
          <p:cNvSpPr txBox="1"/>
          <p:nvPr/>
        </p:nvSpPr>
        <p:spPr>
          <a:xfrm>
            <a:off x="23751" y="679232"/>
            <a:ext cx="9120249" cy="669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STUDENT_SPORT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8886A1E-53AA-33AD-7AF1-0DC57BA10D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8972790"/>
              </p:ext>
            </p:extLst>
          </p:nvPr>
        </p:nvGraphicFramePr>
        <p:xfrm>
          <a:off x="92669" y="1423823"/>
          <a:ext cx="3293094" cy="155448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475445">
                  <a:extLst>
                    <a:ext uri="{9D8B030D-6E8A-4147-A177-3AD203B41FA5}">
                      <a16:colId xmlns:a16="http://schemas.microsoft.com/office/drawing/2014/main" val="2845923313"/>
                    </a:ext>
                  </a:extLst>
                </a:gridCol>
                <a:gridCol w="1817649">
                  <a:extLst>
                    <a:ext uri="{9D8B030D-6E8A-4147-A177-3AD203B41FA5}">
                      <a16:colId xmlns:a16="http://schemas.microsoft.com/office/drawing/2014/main" val="290008816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Student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Sport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1561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Alice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Soccer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59179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Alice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Tennis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723173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C9BE473-CB69-4A7C-9A72-6B2E25838CF9}"/>
              </a:ext>
            </a:extLst>
          </p:cNvPr>
          <p:cNvSpPr txBox="1"/>
          <p:nvPr/>
        </p:nvSpPr>
        <p:spPr>
          <a:xfrm>
            <a:off x="-19076" y="2978303"/>
            <a:ext cx="9120249" cy="669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STUDENT_INSTRUMENT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83205054-B894-0931-B363-A72A737415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3040931"/>
              </p:ext>
            </p:extLst>
          </p:nvPr>
        </p:nvGraphicFramePr>
        <p:xfrm>
          <a:off x="49842" y="3722894"/>
          <a:ext cx="3293094" cy="155448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475445">
                  <a:extLst>
                    <a:ext uri="{9D8B030D-6E8A-4147-A177-3AD203B41FA5}">
                      <a16:colId xmlns:a16="http://schemas.microsoft.com/office/drawing/2014/main" val="2845923313"/>
                    </a:ext>
                  </a:extLst>
                </a:gridCol>
                <a:gridCol w="1817649">
                  <a:extLst>
                    <a:ext uri="{9D8B030D-6E8A-4147-A177-3AD203B41FA5}">
                      <a16:colId xmlns:a16="http://schemas.microsoft.com/office/drawing/2014/main" val="290008816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Student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Instrument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1561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Alice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Piano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59179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Alice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Guitar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7231737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80C8CAE5-AE4F-8EB9-6B92-81177168B2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7816955"/>
              </p:ext>
            </p:extLst>
          </p:nvPr>
        </p:nvGraphicFramePr>
        <p:xfrm>
          <a:off x="4404732" y="2133600"/>
          <a:ext cx="4728117" cy="259080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561170">
                  <a:extLst>
                    <a:ext uri="{9D8B030D-6E8A-4147-A177-3AD203B41FA5}">
                      <a16:colId xmlns:a16="http://schemas.microsoft.com/office/drawing/2014/main" val="2845923313"/>
                    </a:ext>
                  </a:extLst>
                </a:gridCol>
                <a:gridCol w="1330480">
                  <a:extLst>
                    <a:ext uri="{9D8B030D-6E8A-4147-A177-3AD203B41FA5}">
                      <a16:colId xmlns:a16="http://schemas.microsoft.com/office/drawing/2014/main" val="2900088161"/>
                    </a:ext>
                  </a:extLst>
                </a:gridCol>
                <a:gridCol w="1836467">
                  <a:extLst>
                    <a:ext uri="{9D8B030D-6E8A-4147-A177-3AD203B41FA5}">
                      <a16:colId xmlns:a16="http://schemas.microsoft.com/office/drawing/2014/main" val="357512386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Student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Sport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Instrument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1561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Alice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Soccer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Piano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59179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Alice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Soccer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Guitar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72317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Alice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Tennis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Piano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95274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Alice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Tennis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Guitar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0487795"/>
                  </a:ext>
                </a:extLst>
              </a:tr>
            </a:tbl>
          </a:graphicData>
        </a:graphic>
      </p:graphicFrame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32C0DA5-98B6-3C9C-710C-DD20F629FEAB}"/>
              </a:ext>
            </a:extLst>
          </p:cNvPr>
          <p:cNvCxnSpPr>
            <a:cxnSpLocks/>
          </p:cNvCxnSpPr>
          <p:nvPr/>
        </p:nvCxnSpPr>
        <p:spPr>
          <a:xfrm flipH="1">
            <a:off x="3780263" y="3312850"/>
            <a:ext cx="62446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12053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C22FC98-C09C-FF4C-8780-A6B21D8AD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B95BCF-D277-9EB4-C7F0-B54E87C0BF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0B31C3-07A2-62E3-35FA-9D81146BD8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9104FE11-2FA7-1915-D167-65B36C89957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170234" cy="525518"/>
          </a:xfrm>
        </p:spPr>
        <p:txBody>
          <a:bodyPr>
            <a:noAutofit/>
          </a:bodyPr>
          <a:lstStyle/>
          <a:p>
            <a:r>
              <a:rPr lang="en-US" sz="3200" dirty="0"/>
              <a:t>Higher normal forms (BCNF &amp; 4NF)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45C5FA-CCFE-0880-1A4F-8F2A6BB30A8C}"/>
              </a:ext>
            </a:extLst>
          </p:cNvPr>
          <p:cNvSpPr txBox="1"/>
          <p:nvPr/>
        </p:nvSpPr>
        <p:spPr>
          <a:xfrm>
            <a:off x="0" y="1126273"/>
            <a:ext cx="8987882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Analogy (Australia context)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Think of a Myki cardholder: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 passenger can have many train lines they travel on and many discounts they qualify for.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If we keep both lists in one table, it wrongly suggests every train line is linked to every discount.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Better: keep Passenger–</a:t>
            </a:r>
            <a:r>
              <a:rPr lang="en-US" sz="2800" dirty="0" err="1">
                <a:latin typeface="Calibir"/>
              </a:rPr>
              <a:t>TrainLine</a:t>
            </a:r>
            <a:r>
              <a:rPr lang="en-US" sz="2800" dirty="0">
                <a:latin typeface="Calibir"/>
              </a:rPr>
              <a:t> separate from Passenger–Discount.</a:t>
            </a:r>
          </a:p>
        </p:txBody>
      </p:sp>
    </p:spTree>
    <p:extLst>
      <p:ext uri="{BB962C8B-B14F-4D97-AF65-F5344CB8AC3E}">
        <p14:creationId xmlns:p14="http://schemas.microsoft.com/office/powerpoint/2010/main" val="114110272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5E80726-6C26-585D-2259-FC8B1AA3B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97BDE8-CD07-E9A7-D652-E5C1AE47CD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400D64-C8DB-BC87-8695-13090C3355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0C78E6C-AAD7-960A-3F47-478136BDF4D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170234" cy="525518"/>
          </a:xfrm>
        </p:spPr>
        <p:txBody>
          <a:bodyPr>
            <a:noAutofit/>
          </a:bodyPr>
          <a:lstStyle/>
          <a:p>
            <a:r>
              <a:rPr lang="en-US" sz="3200" dirty="0"/>
              <a:t>Higher normal forms (BCNF &amp; 4NF)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D97F97-0FBC-6A21-7C3C-4735EF3B1D02}"/>
              </a:ext>
            </a:extLst>
          </p:cNvPr>
          <p:cNvSpPr txBox="1"/>
          <p:nvPr/>
        </p:nvSpPr>
        <p:spPr>
          <a:xfrm>
            <a:off x="0" y="1126273"/>
            <a:ext cx="8987882" cy="1315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Quick Problem for Students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Q: This table shows: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6D051AF-36B9-52FA-22EF-CA1EBE4AD4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7553489"/>
              </p:ext>
            </p:extLst>
          </p:nvPr>
        </p:nvGraphicFramePr>
        <p:xfrm>
          <a:off x="133815" y="2668858"/>
          <a:ext cx="6133170" cy="259080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561170">
                  <a:extLst>
                    <a:ext uri="{9D8B030D-6E8A-4147-A177-3AD203B41FA5}">
                      <a16:colId xmlns:a16="http://schemas.microsoft.com/office/drawing/2014/main" val="2845923313"/>
                    </a:ext>
                  </a:extLst>
                </a:gridCol>
                <a:gridCol w="1906859">
                  <a:extLst>
                    <a:ext uri="{9D8B030D-6E8A-4147-A177-3AD203B41FA5}">
                      <a16:colId xmlns:a16="http://schemas.microsoft.com/office/drawing/2014/main" val="2900088161"/>
                    </a:ext>
                  </a:extLst>
                </a:gridCol>
                <a:gridCol w="2665141">
                  <a:extLst>
                    <a:ext uri="{9D8B030D-6E8A-4147-A177-3AD203B41FA5}">
                      <a16:colId xmlns:a16="http://schemas.microsoft.com/office/drawing/2014/main" val="357512386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Teacher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Language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Sport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1561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Lee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English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Football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59179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Lee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English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Cricket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72317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Lee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French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Football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95274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Lee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French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Cricket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048779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762DE80F-A963-309B-CEEE-CAD10C5B721E}"/>
              </a:ext>
            </a:extLst>
          </p:cNvPr>
          <p:cNvSpPr txBox="1"/>
          <p:nvPr/>
        </p:nvSpPr>
        <p:spPr>
          <a:xfrm>
            <a:off x="0" y="5259658"/>
            <a:ext cx="4650058" cy="131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What’s the issue?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How would you fix it?</a:t>
            </a:r>
            <a:endParaRPr lang="en-AU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64404772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5E80726-6C26-585D-2259-FC8B1AA3B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97BDE8-CD07-E9A7-D652-E5C1AE47CD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400D64-C8DB-BC87-8695-13090C3355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0C78E6C-AAD7-960A-3F47-478136BDF4D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170234" cy="525518"/>
          </a:xfrm>
        </p:spPr>
        <p:txBody>
          <a:bodyPr>
            <a:noAutofit/>
          </a:bodyPr>
          <a:lstStyle/>
          <a:p>
            <a:r>
              <a:rPr lang="en-US" sz="3200" dirty="0"/>
              <a:t>Higher normal forms (BCNF &amp; 4NF)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CC03280C-ED9D-A2C9-0605-0E5A3D63EA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278960"/>
            <a:ext cx="9144000" cy="15633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Before 4NF: </a:t>
            </a:r>
            <a:r>
              <a:rPr kumimoji="0" lang="en-US" altLang="en-US" sz="2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One table stores both Sports and Instruments for Alice.</a:t>
            </a:r>
            <a:br>
              <a:rPr kumimoji="0" lang="en-US" altLang="en-US" sz="2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</a:br>
            <a:r>
              <a:rPr kumimoji="0" lang="en-US" altLang="en-US" sz="2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→ This creates spurious combinations (implies Alice plays Piano while playing Soccer, which isn’t true).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6CF0618-E669-B8A5-3B5F-448D2BCD86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5394619"/>
              </p:ext>
            </p:extLst>
          </p:nvPr>
        </p:nvGraphicFramePr>
        <p:xfrm>
          <a:off x="0" y="683941"/>
          <a:ext cx="6133170" cy="259080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561170">
                  <a:extLst>
                    <a:ext uri="{9D8B030D-6E8A-4147-A177-3AD203B41FA5}">
                      <a16:colId xmlns:a16="http://schemas.microsoft.com/office/drawing/2014/main" val="2845923313"/>
                    </a:ext>
                  </a:extLst>
                </a:gridCol>
                <a:gridCol w="1906859">
                  <a:extLst>
                    <a:ext uri="{9D8B030D-6E8A-4147-A177-3AD203B41FA5}">
                      <a16:colId xmlns:a16="http://schemas.microsoft.com/office/drawing/2014/main" val="2900088161"/>
                    </a:ext>
                  </a:extLst>
                </a:gridCol>
                <a:gridCol w="2665141">
                  <a:extLst>
                    <a:ext uri="{9D8B030D-6E8A-4147-A177-3AD203B41FA5}">
                      <a16:colId xmlns:a16="http://schemas.microsoft.com/office/drawing/2014/main" val="357512386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Teacher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Language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Sport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1561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Lee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English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Football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59179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Lee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English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Cricket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72317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Lee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French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Football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95274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Lee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French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Cricket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0487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581322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6D5AEDF-48EC-CC50-1735-5291FF0F6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F581F6-8524-B820-3956-A7801DE1E1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423C88-CFBE-EE27-830B-CCF191A3F4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959C9E51-C2D7-3A73-6901-98D9D878B3C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170234" cy="525518"/>
          </a:xfrm>
        </p:spPr>
        <p:txBody>
          <a:bodyPr>
            <a:noAutofit/>
          </a:bodyPr>
          <a:lstStyle/>
          <a:p>
            <a:r>
              <a:rPr lang="en-US" sz="3200" dirty="0"/>
              <a:t>Higher normal forms (BCNF &amp; 4NF)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B3D779FD-D1EA-B7D9-5CA7-4F8CFC3A1D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482308"/>
            <a:ext cx="9144000" cy="20712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200" b="1" dirty="0">
                <a:latin typeface="Calibir"/>
              </a:rPr>
              <a:t>After (4NF split into two tables)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ir"/>
              </a:rPr>
              <a:t>Keep Student–Sport in one table.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ir"/>
              </a:rPr>
              <a:t>Keep Student–Instrument in another.</a:t>
            </a:r>
            <a:br>
              <a:rPr lang="en-US" altLang="en-US" sz="2200" dirty="0">
                <a:latin typeface="Calibir"/>
              </a:rPr>
            </a:br>
            <a:r>
              <a:rPr lang="en-US" altLang="en-US" sz="2200" dirty="0">
                <a:latin typeface="Calibir"/>
              </a:rPr>
              <a:t>→ No fake combinations; each fact is recorded once and correctly.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D02A39E-283E-7193-122E-8470104412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5285557"/>
              </p:ext>
            </p:extLst>
          </p:nvPr>
        </p:nvGraphicFramePr>
        <p:xfrm>
          <a:off x="0" y="1303473"/>
          <a:ext cx="3468029" cy="155448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561170">
                  <a:extLst>
                    <a:ext uri="{9D8B030D-6E8A-4147-A177-3AD203B41FA5}">
                      <a16:colId xmlns:a16="http://schemas.microsoft.com/office/drawing/2014/main" val="2845923313"/>
                    </a:ext>
                  </a:extLst>
                </a:gridCol>
                <a:gridCol w="1906859">
                  <a:extLst>
                    <a:ext uri="{9D8B030D-6E8A-4147-A177-3AD203B41FA5}">
                      <a16:colId xmlns:a16="http://schemas.microsoft.com/office/drawing/2014/main" val="290008816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Teacher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Language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1561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Lee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English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59179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Lee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French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7231737"/>
                  </a:ext>
                </a:extLst>
              </a:tr>
            </a:tbl>
          </a:graphicData>
        </a:graphic>
      </p:graphicFrame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597EC3E-7654-870E-AECE-1A73918338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1611998"/>
              </p:ext>
            </p:extLst>
          </p:nvPr>
        </p:nvGraphicFramePr>
        <p:xfrm>
          <a:off x="4572000" y="1303473"/>
          <a:ext cx="4226311" cy="155448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561170">
                  <a:extLst>
                    <a:ext uri="{9D8B030D-6E8A-4147-A177-3AD203B41FA5}">
                      <a16:colId xmlns:a16="http://schemas.microsoft.com/office/drawing/2014/main" val="2845923313"/>
                    </a:ext>
                  </a:extLst>
                </a:gridCol>
                <a:gridCol w="2665141">
                  <a:extLst>
                    <a:ext uri="{9D8B030D-6E8A-4147-A177-3AD203B41FA5}">
                      <a16:colId xmlns:a16="http://schemas.microsoft.com/office/drawing/2014/main" val="357512386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Teacher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Sport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1561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Lee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Football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59179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Lee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Cricket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7231737"/>
                  </a:ext>
                </a:extLst>
              </a:tr>
            </a:tbl>
          </a:graphicData>
        </a:graphic>
      </p:graphicFrame>
      <p:sp>
        <p:nvSpPr>
          <p:cNvPr id="6" name="Rectangle 1">
            <a:extLst>
              <a:ext uri="{FF2B5EF4-FFF2-40B4-BE49-F238E27FC236}">
                <a16:creationId xmlns:a16="http://schemas.microsoft.com/office/drawing/2014/main" id="{C4A35F27-72CF-5B39-38BA-C6E5369533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9244"/>
            <a:ext cx="9144000" cy="5477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200" b="1" dirty="0" err="1">
                <a:latin typeface="Calibir"/>
              </a:rPr>
              <a:t>Teacher_Language</a:t>
            </a:r>
            <a:endParaRPr lang="en-US" altLang="en-US" sz="2200" dirty="0">
              <a:latin typeface="Calibir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D957D8A6-DF0E-38D3-808D-B1856C6F17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05093" y="639244"/>
            <a:ext cx="4638907" cy="5477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200" b="1" dirty="0" err="1">
                <a:latin typeface="Calibir"/>
              </a:rPr>
              <a:t>Teacher_Sport</a:t>
            </a:r>
            <a:endParaRPr lang="en-US" altLang="en-US" sz="2200" dirty="0">
              <a:latin typeface="Calibir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56F0606-E960-E731-DDCA-A75C11C32203}"/>
              </a:ext>
            </a:extLst>
          </p:cNvPr>
          <p:cNvSpPr txBox="1"/>
          <p:nvPr/>
        </p:nvSpPr>
        <p:spPr>
          <a:xfrm>
            <a:off x="0" y="2888442"/>
            <a:ext cx="8987882" cy="15633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Languages and sports are independent lists. Keeping them in one table falsely creates every Language × Sport combination. Splitting removes those spurious rows.</a:t>
            </a:r>
            <a:endParaRPr lang="en-AU" sz="22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63289771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430B6BE-BF20-9435-8CAB-DD9102C4B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C16A5E-4AF7-C687-39F8-BFA42E6752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EF94DB-2322-9C5F-C5B9-D307017165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0C63F47-5E7A-9674-DCED-C864A6C92B6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 err="1"/>
              <a:t>Denormalisation</a:t>
            </a:r>
            <a:r>
              <a:rPr lang="en-US" sz="3200" dirty="0"/>
              <a:t> (when &amp; why)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54A6421-F9F3-D1C9-D399-4872EFD35E97}"/>
              </a:ext>
            </a:extLst>
          </p:cNvPr>
          <p:cNvSpPr txBox="1"/>
          <p:nvPr/>
        </p:nvSpPr>
        <p:spPr>
          <a:xfrm>
            <a:off x="0" y="612324"/>
            <a:ext cx="9120249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What it means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We break the rules of </a:t>
            </a:r>
            <a:r>
              <a:rPr lang="en-US" sz="2800" dirty="0" err="1">
                <a:latin typeface="Calibir"/>
              </a:rPr>
              <a:t>normalisation</a:t>
            </a:r>
            <a:r>
              <a:rPr lang="en-US" sz="2800" dirty="0">
                <a:latin typeface="Calibir"/>
              </a:rPr>
              <a:t> on purpose.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We store a derived or repeated value to make queries run faster.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5F5F76-8B8A-0194-CA21-5DCA517803B6}"/>
              </a:ext>
            </a:extLst>
          </p:cNvPr>
          <p:cNvSpPr txBox="1"/>
          <p:nvPr/>
        </p:nvSpPr>
        <p:spPr>
          <a:xfrm>
            <a:off x="41729" y="3426316"/>
            <a:ext cx="8731404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Why we do it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Sometimes reading/joining from many tables is too slow.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 err="1">
                <a:latin typeface="Calibir"/>
              </a:rPr>
              <a:t>Denormalisation</a:t>
            </a:r>
            <a:r>
              <a:rPr lang="en-US" sz="2800" dirty="0">
                <a:latin typeface="Calibir"/>
              </a:rPr>
              <a:t> makes reading simpler and faster.</a:t>
            </a:r>
          </a:p>
        </p:txBody>
      </p:sp>
    </p:spTree>
    <p:extLst>
      <p:ext uri="{BB962C8B-B14F-4D97-AF65-F5344CB8AC3E}">
        <p14:creationId xmlns:p14="http://schemas.microsoft.com/office/powerpoint/2010/main" val="837951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3BAF6E0-81D6-A34C-8F72-0B0B812C3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66497F-7A52-1BF3-C488-D71113444D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566802-4FFF-0D04-8A0A-74337A0059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2B82D10-02E2-5D5A-F4FC-01669894FAB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 err="1"/>
              <a:t>Denormalisation</a:t>
            </a:r>
            <a:r>
              <a:rPr lang="en-US" sz="3200" dirty="0"/>
              <a:t> (when &amp; why)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74A3E19-4C96-19F9-4B96-C89EECB8669D}"/>
              </a:ext>
            </a:extLst>
          </p:cNvPr>
          <p:cNvSpPr txBox="1"/>
          <p:nvPr/>
        </p:nvSpPr>
        <p:spPr>
          <a:xfrm>
            <a:off x="0" y="612324"/>
            <a:ext cx="9120249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Trade-off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More redundancy → same data stored in multiple places.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Updates are costlier: if one value changes, we must update it in several places.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Higher risk of inconsistency (values don’t match).</a:t>
            </a:r>
          </a:p>
        </p:txBody>
      </p:sp>
    </p:spTree>
    <p:extLst>
      <p:ext uri="{BB962C8B-B14F-4D97-AF65-F5344CB8AC3E}">
        <p14:creationId xmlns:p14="http://schemas.microsoft.com/office/powerpoint/2010/main" val="345399279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1EE7108-581A-4B96-A01C-DFB1D94FE1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3D013CE-184E-F6FE-E67B-217C731F1A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4CF4B4-BA35-2AEB-EEFC-85784A579F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6812ABB-322E-61E9-6AF5-DCFD0D29724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 err="1"/>
              <a:t>Denormalisation</a:t>
            </a:r>
            <a:r>
              <a:rPr lang="en-US" sz="3200" dirty="0"/>
              <a:t> (when &amp; why)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62C7330-A838-95B0-B90B-D58B40906649}"/>
              </a:ext>
            </a:extLst>
          </p:cNvPr>
          <p:cNvSpPr txBox="1"/>
          <p:nvPr/>
        </p:nvSpPr>
        <p:spPr>
          <a:xfrm>
            <a:off x="0" y="612324"/>
            <a:ext cx="912024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Example (Australia)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 a university system, instead of always recalculating GPA from every subject’s marks, we store a “Current GPA” column in the student table.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Faster to display transcripts.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But if subject marks change and GPA isn’t updated everywhere → inconsistency.</a:t>
            </a:r>
          </a:p>
        </p:txBody>
      </p:sp>
    </p:spTree>
    <p:extLst>
      <p:ext uri="{BB962C8B-B14F-4D97-AF65-F5344CB8AC3E}">
        <p14:creationId xmlns:p14="http://schemas.microsoft.com/office/powerpoint/2010/main" val="261088785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1F91BCA-E689-EC60-D46F-970978AD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41561D8-FDCE-87D7-DB80-B5AA488628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E71316-5C59-7B23-DEAA-1D73B475EC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2436972-1E91-DD4F-F47D-6ED42E35795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 err="1"/>
              <a:t>Denormalisation</a:t>
            </a:r>
            <a:r>
              <a:rPr lang="en-US" sz="3200" dirty="0"/>
              <a:t> (when &amp; why)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524081-9993-832B-0116-C002352EB7FE}"/>
              </a:ext>
            </a:extLst>
          </p:cNvPr>
          <p:cNvSpPr txBox="1"/>
          <p:nvPr/>
        </p:nvSpPr>
        <p:spPr>
          <a:xfrm>
            <a:off x="0" y="612324"/>
            <a:ext cx="9120249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Safety Tip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Only </a:t>
            </a:r>
            <a:r>
              <a:rPr lang="en-US" sz="2800" dirty="0" err="1">
                <a:latin typeface="Calibir"/>
              </a:rPr>
              <a:t>denormalise</a:t>
            </a:r>
            <a:r>
              <a:rPr lang="en-US" sz="2800" dirty="0">
                <a:latin typeface="Calibir"/>
              </a:rPr>
              <a:t> when: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There is a clear performance need, and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You guard correctness with constraints, triggers, or stored procedures.</a:t>
            </a:r>
          </a:p>
        </p:txBody>
      </p:sp>
    </p:spTree>
    <p:extLst>
      <p:ext uri="{BB962C8B-B14F-4D97-AF65-F5344CB8AC3E}">
        <p14:creationId xmlns:p14="http://schemas.microsoft.com/office/powerpoint/2010/main" val="129196443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70352B3-1D95-0491-C007-7A57C912C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40428C-EE9D-113D-D1ED-3B6D49687A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D8FCFD-16B5-859A-4FE8-6E2FE6072E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9C9C87A4-6856-702F-1497-96EA321A202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 err="1"/>
              <a:t>Denormalisation</a:t>
            </a:r>
            <a:r>
              <a:rPr lang="en-US" sz="3200" dirty="0"/>
              <a:t> (when &amp; why)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35585BD-0EF5-FF53-C82D-3DE4865D0BE8}"/>
              </a:ext>
            </a:extLst>
          </p:cNvPr>
          <p:cNvSpPr txBox="1"/>
          <p:nvPr/>
        </p:nvSpPr>
        <p:spPr>
          <a:xfrm>
            <a:off x="0" y="612324"/>
            <a:ext cx="9120249" cy="1315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Quick Problem for Class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Q: You have this </a:t>
            </a:r>
            <a:r>
              <a:rPr lang="en-US" sz="2800" dirty="0" err="1">
                <a:latin typeface="Calibir"/>
              </a:rPr>
              <a:t>normalised</a:t>
            </a:r>
            <a:r>
              <a:rPr lang="en-US" sz="2800" dirty="0">
                <a:latin typeface="Calibir"/>
              </a:rPr>
              <a:t> setup: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DE388D-C58E-3911-0E97-5C7242A71B3C}"/>
              </a:ext>
            </a:extLst>
          </p:cNvPr>
          <p:cNvSpPr txBox="1"/>
          <p:nvPr/>
        </p:nvSpPr>
        <p:spPr>
          <a:xfrm>
            <a:off x="0" y="2141034"/>
            <a:ext cx="681897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800" dirty="0">
                <a:latin typeface="Calibir"/>
              </a:rPr>
              <a:t>ORDER (</a:t>
            </a:r>
            <a:r>
              <a:rPr lang="en-AU" sz="2800" dirty="0" err="1">
                <a:latin typeface="Calibir"/>
              </a:rPr>
              <a:t>OrderID</a:t>
            </a:r>
            <a:r>
              <a:rPr lang="en-AU" sz="2800" dirty="0">
                <a:latin typeface="Calibir"/>
              </a:rPr>
              <a:t>, CustomerID, Date)</a:t>
            </a:r>
          </a:p>
          <a:p>
            <a:pPr>
              <a:lnSpc>
                <a:spcPct val="150000"/>
              </a:lnSpc>
            </a:pPr>
            <a:r>
              <a:rPr lang="en-AU" sz="2800" dirty="0">
                <a:latin typeface="Calibir"/>
              </a:rPr>
              <a:t>CUSTOMER (CustomerID, Name, Address)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0CA0A6-2A4A-5993-1AF9-AA4432EBAF76}"/>
              </a:ext>
            </a:extLst>
          </p:cNvPr>
          <p:cNvSpPr txBox="1"/>
          <p:nvPr/>
        </p:nvSpPr>
        <p:spPr>
          <a:xfrm>
            <a:off x="0" y="3576773"/>
            <a:ext cx="8987882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To speed up reporting, someone adds </a:t>
            </a:r>
            <a:r>
              <a:rPr lang="en-US" sz="2800" dirty="0" err="1">
                <a:latin typeface="Calibir"/>
              </a:rPr>
              <a:t>CustomerName</a:t>
            </a:r>
            <a:r>
              <a:rPr lang="en-US" sz="2800" dirty="0">
                <a:latin typeface="Calibir"/>
              </a:rPr>
              <a:t> directly into ORDER.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What’s the advantage?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What’s the risk?</a:t>
            </a:r>
          </a:p>
        </p:txBody>
      </p:sp>
    </p:spTree>
    <p:extLst>
      <p:ext uri="{BB962C8B-B14F-4D97-AF65-F5344CB8AC3E}">
        <p14:creationId xmlns:p14="http://schemas.microsoft.com/office/powerpoint/2010/main" val="17497111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70352B3-1D95-0491-C007-7A57C912C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40428C-EE9D-113D-D1ED-3B6D49687A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D8FCFD-16B5-859A-4FE8-6E2FE6072E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9C9C87A4-6856-702F-1497-96EA321A202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 err="1"/>
              <a:t>Denormalisation</a:t>
            </a:r>
            <a:r>
              <a:rPr lang="en-US" sz="3200" dirty="0"/>
              <a:t> (when &amp; why)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B7BE08-349F-D244-26C1-CE3B059F52CE}"/>
              </a:ext>
            </a:extLst>
          </p:cNvPr>
          <p:cNvSpPr txBox="1"/>
          <p:nvPr/>
        </p:nvSpPr>
        <p:spPr>
          <a:xfrm>
            <a:off x="0" y="1312048"/>
            <a:ext cx="8987882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Answer: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Advantage: Faster to display order + customer info (no join needed).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Risk: If customer changes name/address → mismatch between ORDER and CUSTOMER tables.</a:t>
            </a:r>
          </a:p>
        </p:txBody>
      </p:sp>
    </p:spTree>
    <p:extLst>
      <p:ext uri="{BB962C8B-B14F-4D97-AF65-F5344CB8AC3E}">
        <p14:creationId xmlns:p14="http://schemas.microsoft.com/office/powerpoint/2010/main" val="303551326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A04B05C-3FF6-8867-F6D0-58D361A40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A2BCD1A-7F3E-2BCB-EE4A-6CA6B7A7A9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EB2D6D-0D2C-D66D-4B1C-F296F0825A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0AA5967-5E5E-3CEE-4495-1C191DAE087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Keys &amp; Surrogate Keys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EE0C0F1-4BB7-D6C2-F8C9-6A45FA719C42}"/>
              </a:ext>
            </a:extLst>
          </p:cNvPr>
          <p:cNvSpPr txBox="1"/>
          <p:nvPr/>
        </p:nvSpPr>
        <p:spPr>
          <a:xfrm>
            <a:off x="0" y="706959"/>
            <a:ext cx="9120249" cy="5803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500" b="1" dirty="0">
                <a:latin typeface="Calibir"/>
              </a:rPr>
              <a:t>Natural Key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ir"/>
              </a:rPr>
              <a:t>Comes from real-world data (e.g., Tax File Number, Passport Number, Student Email).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ir"/>
              </a:rPr>
              <a:t>Problem: These can change (name/email updates, passport expiry).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500" b="1" dirty="0">
                <a:latin typeface="Calibir"/>
              </a:rPr>
              <a:t>Surrogate Key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ir"/>
              </a:rPr>
              <a:t>A system-generated key (usually an INTEGER with auto-increment).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ir"/>
              </a:rPr>
              <a:t>Has no meaning outside the database.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ir"/>
              </a:rPr>
              <a:t>Stable: won’t change even if other values change.</a:t>
            </a:r>
          </a:p>
        </p:txBody>
      </p:sp>
    </p:spTree>
    <p:extLst>
      <p:ext uri="{BB962C8B-B14F-4D97-AF65-F5344CB8AC3E}">
        <p14:creationId xmlns:p14="http://schemas.microsoft.com/office/powerpoint/2010/main" val="92713711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AA881A3-9240-855E-6EE8-B1D85C723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12E6D2-BB46-96D5-DCFE-E00C16D466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FEE42E-DF0B-5299-D24F-10D79BCB3A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AB2F2F4-0217-9249-B62B-48DB660352C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Keys &amp; Surrogate Keys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271E91-9A38-42DC-C39A-01907725E321}"/>
              </a:ext>
            </a:extLst>
          </p:cNvPr>
          <p:cNvSpPr txBox="1"/>
          <p:nvPr/>
        </p:nvSpPr>
        <p:spPr>
          <a:xfrm>
            <a:off x="0" y="830917"/>
            <a:ext cx="9120249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Analogy (Australia context)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Think of a Medicare record: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Your Medicare number (real-world) could change if the government re-issues cards → not stable.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But in the hospital’s database, you also get an internal </a:t>
            </a:r>
            <a:r>
              <a:rPr lang="en-US" sz="2800" dirty="0" err="1">
                <a:latin typeface="Calibir"/>
              </a:rPr>
              <a:t>PatientID</a:t>
            </a:r>
            <a:r>
              <a:rPr lang="en-US" sz="2800" dirty="0">
                <a:latin typeface="Calibir"/>
              </a:rPr>
              <a:t> (surrogate key).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The </a:t>
            </a:r>
            <a:r>
              <a:rPr lang="en-US" sz="2800" dirty="0" err="1">
                <a:latin typeface="Calibir"/>
              </a:rPr>
              <a:t>PatientID</a:t>
            </a:r>
            <a:r>
              <a:rPr lang="en-US" sz="2800" dirty="0">
                <a:latin typeface="Calibir"/>
              </a:rPr>
              <a:t> never changes, even if your address, phone, or Medicare number changes.</a:t>
            </a:r>
          </a:p>
        </p:txBody>
      </p:sp>
    </p:spTree>
    <p:extLst>
      <p:ext uri="{BB962C8B-B14F-4D97-AF65-F5344CB8AC3E}">
        <p14:creationId xmlns:p14="http://schemas.microsoft.com/office/powerpoint/2010/main" val="54074132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C0D61E6-7FB3-68A7-8634-0C16439DF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AE20CE-AB08-3D84-4B3E-0AEDC7FA0B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BCBA4E-1585-01CF-D7D2-644FF56EAA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C2CA130-C7AA-764B-9C9C-F7FC46E6A08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Keys &amp; Surrogate Keys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AF1958-9F5E-DDC9-4DC2-5D7D2B0D39A7}"/>
              </a:ext>
            </a:extLst>
          </p:cNvPr>
          <p:cNvSpPr txBox="1"/>
          <p:nvPr/>
        </p:nvSpPr>
        <p:spPr>
          <a:xfrm>
            <a:off x="0" y="830917"/>
            <a:ext cx="9120249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Quick Problem for Students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Q: You are designing a database for university students.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Should you use </a:t>
            </a:r>
            <a:r>
              <a:rPr lang="en-US" sz="2800" dirty="0" err="1">
                <a:latin typeface="Calibir"/>
              </a:rPr>
              <a:t>StudentEmail</a:t>
            </a:r>
            <a:r>
              <a:rPr lang="en-US" sz="2800" dirty="0">
                <a:latin typeface="Calibir"/>
              </a:rPr>
              <a:t> or an auto-generated </a:t>
            </a:r>
            <a:r>
              <a:rPr lang="en-US" sz="2800" dirty="0" err="1">
                <a:latin typeface="Calibir"/>
              </a:rPr>
              <a:t>StudentID</a:t>
            </a:r>
            <a:r>
              <a:rPr lang="en-US" sz="2800" dirty="0">
                <a:latin typeface="Calibir"/>
              </a:rPr>
              <a:t> as the PK? Why?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46AF5F8-DEE7-7881-599C-5512681C317F}"/>
              </a:ext>
            </a:extLst>
          </p:cNvPr>
          <p:cNvSpPr txBox="1"/>
          <p:nvPr/>
        </p:nvSpPr>
        <p:spPr>
          <a:xfrm>
            <a:off x="0" y="3600826"/>
            <a:ext cx="9021336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Answer: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 err="1">
                <a:latin typeface="Calibir"/>
              </a:rPr>
              <a:t>StudentEmail</a:t>
            </a:r>
            <a:r>
              <a:rPr lang="en-US" sz="2800" dirty="0">
                <a:latin typeface="Calibir"/>
              </a:rPr>
              <a:t>: can change (students graduate, change providers).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 err="1">
                <a:latin typeface="Calibir"/>
              </a:rPr>
              <a:t>StudentID</a:t>
            </a:r>
            <a:r>
              <a:rPr lang="en-US" sz="2800" dirty="0">
                <a:latin typeface="Calibir"/>
              </a:rPr>
              <a:t>: stable, system-generated, and unique → best choice.</a:t>
            </a:r>
          </a:p>
        </p:txBody>
      </p:sp>
    </p:spTree>
    <p:extLst>
      <p:ext uri="{BB962C8B-B14F-4D97-AF65-F5344CB8AC3E}">
        <p14:creationId xmlns:p14="http://schemas.microsoft.com/office/powerpoint/2010/main" val="2925987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C0D61E6-7FB3-68A7-8634-0C16439DF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AE20CE-AB08-3D84-4B3E-0AEDC7FA0B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BCBA4E-1585-01CF-D7D2-644FF56EAA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C2CA130-C7AA-764B-9C9C-F7FC46E6A08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Checklist &amp; Wrap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AF1958-9F5E-DDC9-4DC2-5D7D2B0D39A7}"/>
              </a:ext>
            </a:extLst>
          </p:cNvPr>
          <p:cNvSpPr txBox="1"/>
          <p:nvPr/>
        </p:nvSpPr>
        <p:spPr>
          <a:xfrm>
            <a:off x="0" y="1155525"/>
            <a:ext cx="9120249" cy="4546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Use surrogate keys for stability.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Ensure all entities are in 3NF or higher (unless </a:t>
            </a:r>
            <a:r>
              <a:rPr lang="en-US" altLang="en-US" sz="2800" dirty="0" err="1">
                <a:latin typeface="Calibir"/>
              </a:rPr>
              <a:t>denormalisation</a:t>
            </a:r>
            <a:r>
              <a:rPr lang="en-US" altLang="en-US" sz="2800" dirty="0">
                <a:latin typeface="Calibir"/>
              </a:rPr>
              <a:t> is justified).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Check PKs are unique &amp; non-intelligent.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Verify FKs match PKs (referential integrity).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Relationships are clearly labelled (1:1, 1:M, M:N).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All business rules are reflected.</a:t>
            </a:r>
          </a:p>
        </p:txBody>
      </p:sp>
    </p:spTree>
    <p:extLst>
      <p:ext uri="{BB962C8B-B14F-4D97-AF65-F5344CB8AC3E}">
        <p14:creationId xmlns:p14="http://schemas.microsoft.com/office/powerpoint/2010/main" val="96219537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032DCF3-BDA5-99E6-60D8-21A85A81E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8007C2-4C91-8BD8-9B0A-E00862CB6E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C8849D-8DBB-8F2A-B12F-F5EDEEBB8A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27F1FF79-586F-E1F5-A4E4-5239F653199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Hints for ITEC200 Week 4 Tutorial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389F4D-B863-D855-7F87-04556E0A6DD1}"/>
              </a:ext>
            </a:extLst>
          </p:cNvPr>
          <p:cNvSpPr txBox="1"/>
          <p:nvPr/>
        </p:nvSpPr>
        <p:spPr>
          <a:xfrm>
            <a:off x="136634" y="1187670"/>
            <a:ext cx="8713076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The main idea in both questions is: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find the primary key 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find what each key determines 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identify partial dependencies 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identify transitive dependencies 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then split the table into smaller tables until it reaches 3NF</a:t>
            </a:r>
          </a:p>
        </p:txBody>
      </p:sp>
    </p:spTree>
    <p:extLst>
      <p:ext uri="{BB962C8B-B14F-4D97-AF65-F5344CB8AC3E}">
        <p14:creationId xmlns:p14="http://schemas.microsoft.com/office/powerpoint/2010/main" val="210202703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28A1761-B99B-7219-86AA-8A95FFABE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40D8C61-BA4C-D2A9-AEB5-FDEC2D4C41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5B7C2B-72D2-6F2A-5634-0E8DD5D3F2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37B0C48-1CB6-F11B-A569-ECECC85F4CC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Hints for ITEC200 Week 4 Tutorial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BE97E3-76B5-D050-919B-67106317E632}"/>
              </a:ext>
            </a:extLst>
          </p:cNvPr>
          <p:cNvSpPr txBox="1"/>
          <p:nvPr/>
        </p:nvSpPr>
        <p:spPr>
          <a:xfrm>
            <a:off x="126124" y="804100"/>
            <a:ext cx="8713076" cy="5829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Question 1 — Office equipment table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First, understand the table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table has these attributes: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ITEM_ID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ITEM_LABEL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ROOM_NUMBER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BLDG_CODE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BLDG_NAME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BLDG_MANAGER</a:t>
            </a:r>
          </a:p>
        </p:txBody>
      </p:sp>
    </p:spTree>
    <p:extLst>
      <p:ext uri="{BB962C8B-B14F-4D97-AF65-F5344CB8AC3E}">
        <p14:creationId xmlns:p14="http://schemas.microsoft.com/office/powerpoint/2010/main" val="73067085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8A769E5-9D94-8567-B183-0F4F39DC6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1D4EC8-1572-4918-0DEC-40D2C53310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9A5167-BA68-ED67-16CD-D5870F7CAC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CDA611E-691F-6AED-84F2-E4455851436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Hints for ITEC200 Week 4 Tutorial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D8A5BA-C1F3-9DB5-D9A9-C2E280F47687}"/>
              </a:ext>
            </a:extLst>
          </p:cNvPr>
          <p:cNvSpPr txBox="1"/>
          <p:nvPr/>
        </p:nvSpPr>
        <p:spPr>
          <a:xfrm>
            <a:off x="126124" y="804100"/>
            <a:ext cx="8713076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Hint 1: Find the primary key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Ask: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Does ITEM_ID uniquely identify each item?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Yes, because each equipment item should have its own ID.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So start by assuming: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Primary Key = ITEM_ID</a:t>
            </a:r>
          </a:p>
        </p:txBody>
      </p:sp>
    </p:spTree>
    <p:extLst>
      <p:ext uri="{BB962C8B-B14F-4D97-AF65-F5344CB8AC3E}">
        <p14:creationId xmlns:p14="http://schemas.microsoft.com/office/powerpoint/2010/main" val="2150226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AF8CA0E-BF82-7A12-26E3-1CC3A4CF9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54F5E4F-A48C-BDD9-74BF-F11E045492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9DFA37-FDD2-EBAC-E886-96553BB3FD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20EFF2C-8B9B-4FF5-4BD9-139B08A63A4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Hints for ITEC200 Week 4 Tutorial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A6FD7F-810A-F617-32DB-04871E81264D}"/>
              </a:ext>
            </a:extLst>
          </p:cNvPr>
          <p:cNvSpPr txBox="1"/>
          <p:nvPr/>
        </p:nvSpPr>
        <p:spPr>
          <a:xfrm>
            <a:off x="126124" y="804100"/>
            <a:ext cx="8713076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Hint 2: Ask what depends on ITEM_ID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Think like this: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“If I know the ITEM_ID, what can I find?”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For one item, you can know: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ITEM_LABEL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ROOM_NUMBER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BLDG_CODE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So these probably depend on: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ITEM_ID → ITEM_LABEL, ROOM_NUMBER, BLDG_CODE</a:t>
            </a:r>
          </a:p>
        </p:txBody>
      </p:sp>
    </p:spTree>
    <p:extLst>
      <p:ext uri="{BB962C8B-B14F-4D97-AF65-F5344CB8AC3E}">
        <p14:creationId xmlns:p14="http://schemas.microsoft.com/office/powerpoint/2010/main" val="323599422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2710BD3-D671-4CAF-DF3A-08AF0BE9C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2359C21-FEFF-E147-4BFA-090A59D20F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222F1B-6696-2210-9B36-F9093F2A4D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5B35708-B857-91D9-85FF-BF44D07CF51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Hints for ITEC200 Week 4 Tutorial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38E306-4B9C-8D35-DD37-8C999119DB4D}"/>
              </a:ext>
            </a:extLst>
          </p:cNvPr>
          <p:cNvSpPr txBox="1"/>
          <p:nvPr/>
        </p:nvSpPr>
        <p:spPr>
          <a:xfrm>
            <a:off x="126124" y="804100"/>
            <a:ext cx="8713076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Hint 3: Look for dependency between non-key attributes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Now ask: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“If I know BLDG_CODE, can I find something else?”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Yes, from the sample: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NTC always gives the same building name and manager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CSF always gives the same building name and manager</a:t>
            </a:r>
          </a:p>
        </p:txBody>
      </p:sp>
    </p:spTree>
    <p:extLst>
      <p:ext uri="{BB962C8B-B14F-4D97-AF65-F5344CB8AC3E}">
        <p14:creationId xmlns:p14="http://schemas.microsoft.com/office/powerpoint/2010/main" val="391163766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2D4D323-3365-3F5F-111F-0BF853961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94C603-92C5-7627-CB73-ADE7B3B78F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408772-78B6-9F8E-9E27-8224458990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29001F4-D387-101C-E93D-65BD1365439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Hints for ITEC200 Week 4 Tutorial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675A24-8D46-7086-80C6-66028D8115BD}"/>
              </a:ext>
            </a:extLst>
          </p:cNvPr>
          <p:cNvSpPr txBox="1"/>
          <p:nvPr/>
        </p:nvSpPr>
        <p:spPr>
          <a:xfrm>
            <a:off x="126124" y="804100"/>
            <a:ext cx="8713076" cy="4536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So: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BLDG_CODE → BLDG_NAME, BLDG_MANAGER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This means those two attributes do not depend directly on ITEM_ID.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They depend on BLDG_CODE, which itself depends on ITEM_ID.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That is a transitive dependency.</a:t>
            </a:r>
          </a:p>
        </p:txBody>
      </p:sp>
    </p:spTree>
    <p:extLst>
      <p:ext uri="{BB962C8B-B14F-4D97-AF65-F5344CB8AC3E}">
        <p14:creationId xmlns:p14="http://schemas.microsoft.com/office/powerpoint/2010/main" val="14376921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97F55E8-D62F-355C-0C89-A22604608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952D4C1-4287-D9A9-A832-4AA667E506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918878-623E-5B10-6D9F-D8153999DC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F09EBF9-2D7C-A7E7-68F1-250F2950E79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Hints for ITEC200 Week 4 Tutorial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39EE7F-9A09-7750-8B1D-223B9B8B1B9D}"/>
              </a:ext>
            </a:extLst>
          </p:cNvPr>
          <p:cNvSpPr txBox="1"/>
          <p:nvPr/>
        </p:nvSpPr>
        <p:spPr>
          <a:xfrm>
            <a:off x="126124" y="804100"/>
            <a:ext cx="8713076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Hint 4: Is there any partial dependency?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 partial dependency happens only when the primary key is composite.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Here the key seems to be only ITEM_ID, so: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No partial dependency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Yes, transitive dependency</a:t>
            </a:r>
          </a:p>
        </p:txBody>
      </p:sp>
    </p:spTree>
    <p:extLst>
      <p:ext uri="{BB962C8B-B14F-4D97-AF65-F5344CB8AC3E}">
        <p14:creationId xmlns:p14="http://schemas.microsoft.com/office/powerpoint/2010/main" val="307364842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235F188-E5D6-B0EB-610B-EE768476B0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31AE3C-938C-1E2A-B399-52C9DE625D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88AEDA-65EA-CBDA-EE32-593E068DEB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AB951CB-DD14-09D7-A1AF-44ED8C8844C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Hints for ITEC200 Week 4 Tutorial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0C3FC0-9775-E202-CC42-6783D684327A}"/>
              </a:ext>
            </a:extLst>
          </p:cNvPr>
          <p:cNvSpPr txBox="1"/>
          <p:nvPr/>
        </p:nvSpPr>
        <p:spPr>
          <a:xfrm>
            <a:off x="73572" y="525517"/>
            <a:ext cx="8713076" cy="61338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Hint 5: For part (a), dependency diagram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Your diagram should start with: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ITEM_ID as the key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arrows from ITEM_ID to: 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ITEM_LABEL 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ROOM_NUMBER 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BLDG_CODE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arrow from BLDG_CODE to: 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BLDG_NAME 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BLDG_MANAGER 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Label the dependency from ITEM_ID to BLDG_NAME / BLDG_MANAGER through BLDG_CODE as transitive</a:t>
            </a:r>
          </a:p>
        </p:txBody>
      </p:sp>
    </p:spTree>
    <p:extLst>
      <p:ext uri="{BB962C8B-B14F-4D97-AF65-F5344CB8AC3E}">
        <p14:creationId xmlns:p14="http://schemas.microsoft.com/office/powerpoint/2010/main" val="256878443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300F238-617C-9D5B-4BAB-336112345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1A0312-A8CC-57C1-197F-FAE6679860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24DF8D-0739-0131-CC29-A3AC2D7EF0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742BE37-838E-F60F-7501-E11F199486F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Hints for ITEC200 Week 4 Tutorial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6305D6-33C2-90F4-3201-0E7416ED2532}"/>
              </a:ext>
            </a:extLst>
          </p:cNvPr>
          <p:cNvSpPr txBox="1"/>
          <p:nvPr/>
        </p:nvSpPr>
        <p:spPr>
          <a:xfrm>
            <a:off x="73572" y="525517"/>
            <a:ext cx="8713076" cy="55750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Hint 6: For part (b), split into 3NF tables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To remove the transitive dependency, create a separate building table.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Think of these tables: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Table 1: ITEM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Contains facts about the item itself: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ITEM_ID 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ITEM_LABEL 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ROOM_NUMBER 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BLDG_CODE</a:t>
            </a:r>
          </a:p>
        </p:txBody>
      </p:sp>
    </p:spTree>
    <p:extLst>
      <p:ext uri="{BB962C8B-B14F-4D97-AF65-F5344CB8AC3E}">
        <p14:creationId xmlns:p14="http://schemas.microsoft.com/office/powerpoint/2010/main" val="227972695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81EF073-41C3-A41E-C76E-C31BB5B00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A4FDB47-923B-3629-A530-AB2DD0A1CC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DC70CE-2A91-00A7-6BB1-767467C66D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495F38B-9E22-A14A-08C4-2CA974E94DD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Hints for ITEC200 Week 4 Tutorial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427BBD-C31E-7B0B-7DE0-D0AB2F3EFE1F}"/>
              </a:ext>
            </a:extLst>
          </p:cNvPr>
          <p:cNvSpPr txBox="1"/>
          <p:nvPr/>
        </p:nvSpPr>
        <p:spPr>
          <a:xfrm>
            <a:off x="73572" y="525517"/>
            <a:ext cx="8713076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Table 2: BUILDING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Contains facts about the building: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BLDG_CODE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BLDG_NAME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BLDG_MANAGER</a:t>
            </a:r>
          </a:p>
        </p:txBody>
      </p:sp>
    </p:spTree>
    <p:extLst>
      <p:ext uri="{BB962C8B-B14F-4D97-AF65-F5344CB8AC3E}">
        <p14:creationId xmlns:p14="http://schemas.microsoft.com/office/powerpoint/2010/main" val="165099116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0A78554-CE01-1AC9-4590-A16B5D5B7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1125B5D-0878-D6FE-5C64-5804E56215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1C901E-9E37-6994-5EAA-C4B834D946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5707E44-B6B9-A23B-9C0A-5626514B229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Hints for ITEC200 Week 4 Tutorial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235EF0-0B76-8670-06A3-E30ABE1316C7}"/>
              </a:ext>
            </a:extLst>
          </p:cNvPr>
          <p:cNvSpPr txBox="1"/>
          <p:nvPr/>
        </p:nvSpPr>
        <p:spPr>
          <a:xfrm>
            <a:off x="73572" y="525517"/>
            <a:ext cx="8713076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Hint 7: Naming conventions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Use names that are clear and consistent.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For example: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ITEM_ID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ITEM_LABEL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BLDG_CODE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BLDG_NAME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BLDG_MANAGER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That already looks fine.</a:t>
            </a:r>
          </a:p>
        </p:txBody>
      </p:sp>
    </p:spTree>
    <p:extLst>
      <p:ext uri="{BB962C8B-B14F-4D97-AF65-F5344CB8AC3E}">
        <p14:creationId xmlns:p14="http://schemas.microsoft.com/office/powerpoint/2010/main" val="370299383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CEFC603-F964-CCC4-2A4F-8208E8A76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1C9E2F-4CF1-D034-9C03-74C24F7A23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DD0441-EBEB-F491-349E-85FCE1B2FE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91C272DB-162C-5199-2D3D-2BB2D650532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Let's Do Problem 1 Together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F63C6BD2-4AC7-4576-A11D-BD8B241B47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34780"/>
            <a:ext cx="9144000" cy="52322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B0AF71-7BC7-49D0-DAC0-3454541C4CF4}"/>
              </a:ext>
            </a:extLst>
          </p:cNvPr>
          <p:cNvSpPr txBox="1"/>
          <p:nvPr/>
        </p:nvSpPr>
        <p:spPr>
          <a:xfrm>
            <a:off x="0" y="2124727"/>
            <a:ext cx="914400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sz="2800" b="1" dirty="0">
                <a:latin typeface="Calibir"/>
              </a:rPr>
              <a:t>What is the main key?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ITEM_ID is the main key (primary key)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This means: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Each item is uniquely identified by ITEM_ID</a:t>
            </a:r>
          </a:p>
        </p:txBody>
      </p:sp>
    </p:spTree>
    <p:extLst>
      <p:ext uri="{BB962C8B-B14F-4D97-AF65-F5344CB8AC3E}">
        <p14:creationId xmlns:p14="http://schemas.microsoft.com/office/powerpoint/2010/main" val="628196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8021361-6F89-6712-66A6-2577D4F82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01994A-EA45-6B45-6B94-C8EB09635B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C10ADD-2E7F-C793-26FE-A606796E44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FD10E4E-9241-87A4-E215-FEDC3320B20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Let's Do Problem 1 Together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E751B831-9579-B3D0-8EA1-3874D72009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34780"/>
            <a:ext cx="9144000" cy="52322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005C426-86E0-17BB-947C-8482D4D9DC04}"/>
              </a:ext>
            </a:extLst>
          </p:cNvPr>
          <p:cNvSpPr txBox="1"/>
          <p:nvPr/>
        </p:nvSpPr>
        <p:spPr>
          <a:xfrm>
            <a:off x="0" y="2278684"/>
            <a:ext cx="9144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2. What does ITEM_ID determine?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If you know ITEM_ID, you can find: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ITEM_DESCRIPTION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ROOM_NUMBER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BLDG_CODE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A29170-29D7-C8A2-2C61-B1035154AA4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3607" b="35221"/>
          <a:stretch>
            <a:fillRect/>
          </a:stretch>
        </p:blipFill>
        <p:spPr>
          <a:xfrm>
            <a:off x="0" y="1250731"/>
            <a:ext cx="9144000" cy="388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4545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992F6B7-4E0B-CD5A-978B-1498B0A16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49651F-854F-BB32-03F3-287E4F1758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4C2130-D672-2011-087A-3E5CD42FC9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2315AE9F-F051-73C3-CD06-C775A3E0FDC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Let's Do Problem 1 Together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4FC181CE-D710-0853-7D7A-5748039B0B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34780"/>
            <a:ext cx="9144000" cy="52322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5F3D95-9DF4-5100-8F15-0B88CB278D7D}"/>
              </a:ext>
            </a:extLst>
          </p:cNvPr>
          <p:cNvSpPr txBox="1"/>
          <p:nvPr/>
        </p:nvSpPr>
        <p:spPr>
          <a:xfrm>
            <a:off x="0" y="2278684"/>
            <a:ext cx="9144000" cy="26079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So we write: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ITEM_ID → ITEM_DESCRIPTION, ROOM_NUMBER, BLDG_CODE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This is the main dependency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4E8AC1-5E42-F60A-3EA8-5B8A4C4BB1B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3607" b="35221"/>
          <a:stretch>
            <a:fillRect/>
          </a:stretch>
        </p:blipFill>
        <p:spPr>
          <a:xfrm>
            <a:off x="0" y="1250731"/>
            <a:ext cx="9144000" cy="388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11280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B37E435-67F1-E1E6-EF00-6822E6C80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AB0F54F-E6D9-93C0-8F23-58BFDD83D3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E3B610-6AEE-581A-9F7D-7A2BC51172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17AECCC-5E20-E08B-6774-371FC92FE64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Let's Do Problem 1 Together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AA8B29B7-334D-E855-CA6E-B2B457D378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34780"/>
            <a:ext cx="9144000" cy="52322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04B203D-0A3E-F333-362D-F425EF5FF6EF}"/>
              </a:ext>
            </a:extLst>
          </p:cNvPr>
          <p:cNvSpPr txBox="1"/>
          <p:nvPr/>
        </p:nvSpPr>
        <p:spPr>
          <a:xfrm>
            <a:off x="0" y="2278684"/>
            <a:ext cx="914400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3. What happens with BLDG_CODE?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Now look at this part: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If you know BLDG_CODE, you can find: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BLDG_NAME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BLDG_MANAGER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So: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BLDG_CODE → BLDG_NAME, BLDG_MANAGER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9D346D-2B10-5F52-B58B-D8386E6CE9D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3607" b="35221"/>
          <a:stretch>
            <a:fillRect/>
          </a:stretch>
        </p:blipFill>
        <p:spPr>
          <a:xfrm>
            <a:off x="0" y="1250731"/>
            <a:ext cx="9144000" cy="388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73327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897E656-A572-E4D1-D7C9-28D67E91B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D051BB-F58F-DE2D-C66D-01395F07C8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4FF85B-80A7-978E-E178-73ABC47C8B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6D9F72C-0546-81EC-BB2F-EF40FD183D2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Let's Do Problem 1 Together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92F8B59E-B7FB-0699-5F46-5F097D8A32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34780"/>
            <a:ext cx="9144000" cy="52322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350C746-0DAC-5361-6C03-F8DCA02B8301}"/>
              </a:ext>
            </a:extLst>
          </p:cNvPr>
          <p:cNvSpPr txBox="1"/>
          <p:nvPr/>
        </p:nvSpPr>
        <p:spPr>
          <a:xfrm>
            <a:off x="0" y="2278684"/>
            <a:ext cx="9144000" cy="390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4. What type of dependency is this?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This is important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ITEM_ID gives BLDG_CODE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BLDG_CODE gives BLDG_NAME and BLDG_MANAGER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So ITEM_ID gets those indirectly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This is called a transitive dependency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1C1E7A-33F9-6C8B-7258-EE18BF1FC9B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3607" b="35221"/>
          <a:stretch>
            <a:fillRect/>
          </a:stretch>
        </p:blipFill>
        <p:spPr>
          <a:xfrm>
            <a:off x="0" y="1250731"/>
            <a:ext cx="9144000" cy="388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2994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977CF8B-B948-A5D1-E58A-40E566149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002721-0877-0F07-43C9-87B97092D0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133974-3B96-7A61-7C05-6A5B848525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994AD5E9-C1CD-3045-1A60-9D88F233425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Let's Do Problem 1 Together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B760762B-83BF-D8CC-5210-EED5AA5E44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34780"/>
            <a:ext cx="9144000" cy="52322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AB3D19C-D837-B547-D358-5507ABA7A1CF}"/>
              </a:ext>
            </a:extLst>
          </p:cNvPr>
          <p:cNvSpPr txBox="1"/>
          <p:nvPr/>
        </p:nvSpPr>
        <p:spPr>
          <a:xfrm>
            <a:off x="0" y="2278684"/>
            <a:ext cx="9144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5. Is there any partial dependency?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No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Why?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primary key is only one attribute (ITEM_ID)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Partial dependency only happens with composite keys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D8DC0D-6D03-84E5-BB87-6734C212C35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3607" b="35221"/>
          <a:stretch>
            <a:fillRect/>
          </a:stretch>
        </p:blipFill>
        <p:spPr>
          <a:xfrm>
            <a:off x="0" y="1250731"/>
            <a:ext cx="9144000" cy="388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004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EDD3F16-AD56-00CC-BA12-2473DA0AE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BACA2B4-46E0-039B-4198-A1E9BE318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98CDC5-2A50-373D-8D50-6BB5215CD5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76A4544-9C6E-D250-071A-B1517BC9E40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Let's Do Problem 1 Together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DEF8CB-0D09-CF8F-CF25-5955ACC10F21}"/>
              </a:ext>
            </a:extLst>
          </p:cNvPr>
          <p:cNvSpPr txBox="1"/>
          <p:nvPr/>
        </p:nvSpPr>
        <p:spPr>
          <a:xfrm>
            <a:off x="0" y="2753710"/>
            <a:ext cx="914400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The arrows:</a:t>
            </a:r>
            <a:endParaRPr lang="en-US" altLang="en-US" sz="2800" dirty="0">
              <a:latin typeface="Calibir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Solid arrow A → B = “A determines B.”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Dotted chain = transitive link (e.g., ITEM_ID → BLDG_CODE → BLDG_NAME).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85FF7C5-89AB-EEEB-76DA-3199D22D629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3607" b="35221"/>
          <a:stretch>
            <a:fillRect/>
          </a:stretch>
        </p:blipFill>
        <p:spPr>
          <a:xfrm>
            <a:off x="0" y="1250731"/>
            <a:ext cx="9144000" cy="388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816962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8D107F4-E824-8DAF-7E93-0AFC27215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B793CD6-C2BE-FD78-8390-5C5D5E7B11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CED1A1-222C-AD3F-8F4D-A15FF87D9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1847FB3-83E9-390A-9D9C-9DC3F23CE6B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Let's Do Problem 1 Together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4A6C0903-27B2-A60B-362A-FA77F108E0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34780"/>
            <a:ext cx="9144000" cy="52322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F57DB0-6BF2-7068-8F93-BB5D25D1A988}"/>
              </a:ext>
            </a:extLst>
          </p:cNvPr>
          <p:cNvSpPr txBox="1"/>
          <p:nvPr/>
        </p:nvSpPr>
        <p:spPr>
          <a:xfrm>
            <a:off x="0" y="2278684"/>
            <a:ext cx="914400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Final Summary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ITEM_ID is the primary key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It determines: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ITEM_DESCRIPTION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ROOM_NUMBER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BLDG_CODE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531E98-5495-3387-E4D4-094C90BF430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3607" b="35221"/>
          <a:stretch>
            <a:fillRect/>
          </a:stretch>
        </p:blipFill>
        <p:spPr>
          <a:xfrm>
            <a:off x="0" y="1250731"/>
            <a:ext cx="9144000" cy="388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614706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B2C950F-B8D2-D61C-9E5C-4666FE8CE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CDD991-3C30-BE4E-A086-3819B3AD4C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A2091F-6747-BF1F-7B82-02AF2FB0C9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D627748-1C13-FC1C-06EA-B04C602FA17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Let's Do Problem 1 Together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CB57F0EF-4084-F9E0-9206-63B9AF995C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34780"/>
            <a:ext cx="9144000" cy="52322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67AD202-086B-F279-C8FA-16AED8F952A4}"/>
              </a:ext>
            </a:extLst>
          </p:cNvPr>
          <p:cNvSpPr txBox="1"/>
          <p:nvPr/>
        </p:nvSpPr>
        <p:spPr>
          <a:xfrm>
            <a:off x="0" y="2278684"/>
            <a:ext cx="914400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BLDG_CODE determines: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BLDG_NAME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BLDG_MANAGER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So: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There is a transitive dependency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There is no partial dependency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A69B86-A4D6-12B1-D2D1-83DFE4A58F6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3607" b="35221"/>
          <a:stretch>
            <a:fillRect/>
          </a:stretch>
        </p:blipFill>
        <p:spPr>
          <a:xfrm>
            <a:off x="0" y="1250731"/>
            <a:ext cx="9144000" cy="388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337065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BFC407D-BA19-8861-9A7F-0A0ECEA86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B34C919-0C09-9AD3-0B25-F7A59640F8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FB88A1-7003-6BB5-C751-7AA3D6FFC2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73E8283-88DB-C6B9-821F-04C3E23EB83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Let's Do Problem 1 Together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2F2B4A3E-28D2-534F-04B1-C0009D10FE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34780"/>
            <a:ext cx="9144000" cy="52322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2519FE-F351-0569-5139-BB3DCFDBA1D2}"/>
              </a:ext>
            </a:extLst>
          </p:cNvPr>
          <p:cNvSpPr txBox="1"/>
          <p:nvPr/>
        </p:nvSpPr>
        <p:spPr>
          <a:xfrm>
            <a:off x="0" y="2278684"/>
            <a:ext cx="9144000" cy="1315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ITEM_ID gives building code, and building code gives building details — so that is a transitive dependency.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13A654-2AE9-F552-16F8-EADE5F4E9A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3607" b="35221"/>
          <a:stretch>
            <a:fillRect/>
          </a:stretch>
        </p:blipFill>
        <p:spPr>
          <a:xfrm>
            <a:off x="0" y="1250731"/>
            <a:ext cx="9144000" cy="388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368365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6D07FCD-69BA-07A3-E6D6-9EE574F84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F51DBCE-CCF5-2790-CA97-2DE115DA08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B12756-76C3-D8EA-3815-3EADECB318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D47FADE-D10A-32D3-30F7-097C2EC74DF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Let's Do Problem 1 Together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E1E291F-A13D-DFB8-67FD-10E75552297B}"/>
              </a:ext>
            </a:extLst>
          </p:cNvPr>
          <p:cNvSpPr txBox="1"/>
          <p:nvPr/>
        </p:nvSpPr>
        <p:spPr>
          <a:xfrm>
            <a:off x="0" y="2753710"/>
            <a:ext cx="9144000" cy="1961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800" dirty="0">
                <a:latin typeface="Calibir"/>
              </a:rPr>
              <a:t>This is the starting point before normalization; next we’ll split building/employee info out to remove the transitive dependency.</a:t>
            </a:r>
            <a:endParaRPr lang="en-US" altLang="en-US" sz="2800" dirty="0">
              <a:latin typeface="Calibir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9265B8C-439F-9880-E86B-29E3BE88185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3607" b="35221"/>
          <a:stretch>
            <a:fillRect/>
          </a:stretch>
        </p:blipFill>
        <p:spPr>
          <a:xfrm>
            <a:off x="0" y="1250731"/>
            <a:ext cx="9144000" cy="388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95086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388909F-2A54-4B73-6664-58051FBA3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A66260-A123-632B-9023-B816A36E01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E52C32-2D56-B92F-0B72-D49B13A33E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E7F0D02-E20D-7B37-FA17-31FF4C5B659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Let's Do Problem 1 Together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1CCA90A-7F39-A6A6-E2D6-2C3277EDF0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3607" b="35221"/>
          <a:stretch>
            <a:fillRect/>
          </a:stretch>
        </p:blipFill>
        <p:spPr>
          <a:xfrm>
            <a:off x="0" y="1250731"/>
            <a:ext cx="9144000" cy="38888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8B30FEF-E336-1482-2180-7E618F558822}"/>
              </a:ext>
            </a:extLst>
          </p:cNvPr>
          <p:cNvSpPr txBox="1"/>
          <p:nvPr/>
        </p:nvSpPr>
        <p:spPr>
          <a:xfrm>
            <a:off x="0" y="2013411"/>
            <a:ext cx="9144000" cy="257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200" b="1" dirty="0">
                <a:latin typeface="Calibir"/>
              </a:rPr>
              <a:t>Transitive dependency</a:t>
            </a:r>
            <a:endParaRPr lang="en-US" altLang="en-US" sz="2200" dirty="0">
              <a:latin typeface="Calibir"/>
            </a:endParaRPr>
          </a:p>
          <a:p>
            <a:pPr marL="342900" lvl="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ir"/>
              </a:rPr>
              <a:t>ITEM_ID → BLDG_CODE → (BLDG_NAME, BLDG_MANAGER) ← (this causes redundancy)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200" dirty="0">
                <a:latin typeface="Calibir"/>
              </a:rPr>
              <a:t>(Optional/arguable: if room numbers embed the building, you might also have</a:t>
            </a:r>
            <a:br>
              <a:rPr lang="en-US" altLang="en-US" sz="2200" dirty="0">
                <a:latin typeface="Calibir"/>
              </a:rPr>
            </a:br>
            <a:r>
              <a:rPr lang="en-US" altLang="en-US" sz="2200" dirty="0">
                <a:latin typeface="Calibir"/>
              </a:rPr>
              <a:t>ROOM_NUMBER → BLDG_CODE, BLDG_NAME, but we won’t rely on that.)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5A34D9-8C1F-5870-A5AA-E9991FF10D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731060"/>
            <a:ext cx="9144000" cy="17113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Definition: Transitive dependency = A→B and B→C ⇒ A→C where C is non-key.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Determinant note: BLDG_CODE is the determinant of (BLDG_NAME, BLDG_MANAGER).</a:t>
            </a:r>
          </a:p>
          <a:p>
            <a:pPr marL="342900" lvl="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>
                <a:latin typeface="Calibir"/>
              </a:rPr>
              <a:t>Location key tip: treat (BLDG_CODE, ROOM_NUMBER) as a candidate key for room uniqueness.</a:t>
            </a:r>
          </a:p>
        </p:txBody>
      </p:sp>
    </p:spTree>
    <p:extLst>
      <p:ext uri="{BB962C8B-B14F-4D97-AF65-F5344CB8AC3E}">
        <p14:creationId xmlns:p14="http://schemas.microsoft.com/office/powerpoint/2010/main" val="32133234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2B220CE-81AA-390F-40BE-69A84A48A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BA158E-3B31-DBCD-FB9E-6BC3594F28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03F174-FAEC-30D8-5492-D90EA44FF5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80B4CCB-7A6A-CF12-AE3A-5BBA141C5DF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Let's Do Problem 1 Together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A95C38-E0F9-2F04-8CAC-941CEC27DA12}"/>
              </a:ext>
            </a:extLst>
          </p:cNvPr>
          <p:cNvSpPr txBox="1"/>
          <p:nvPr/>
        </p:nvSpPr>
        <p:spPr>
          <a:xfrm>
            <a:off x="1" y="1800413"/>
            <a:ext cx="9143999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Part (b) – Make it 3NF (Simple Explanation)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Goal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We want to: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remove the transitive dependency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split the table into smaller tables</a:t>
            </a:r>
          </a:p>
        </p:txBody>
      </p:sp>
    </p:spTree>
    <p:extLst>
      <p:ext uri="{BB962C8B-B14F-4D97-AF65-F5344CB8AC3E}">
        <p14:creationId xmlns:p14="http://schemas.microsoft.com/office/powerpoint/2010/main" val="355234859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3442319-5DA5-2FEF-97DD-D27D46CB1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EA3136-E4D2-1362-595F-0FB7DD6735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B43EDF-5226-3F92-6C4E-5C9DC1C603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1AEF246-64F0-0037-28AE-6319276D96C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Let's Do Problem 1 Together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E72EFF-BEC9-761F-ADC3-CB4300B20182}"/>
              </a:ext>
            </a:extLst>
          </p:cNvPr>
          <p:cNvSpPr txBox="1"/>
          <p:nvPr/>
        </p:nvSpPr>
        <p:spPr>
          <a:xfrm>
            <a:off x="0" y="921353"/>
            <a:ext cx="9143999" cy="51932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1: What is the problem in Part (a)?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From Part (a):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ITEM_ID → BLDG_CODE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BLDG_CODE → BLDG_NAME, BLDG_MANAGER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This means: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BLDG_NAME and BLDG_MANAGER are not directly dependent on ITEM_ID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This is not 3NF.</a:t>
            </a:r>
          </a:p>
        </p:txBody>
      </p:sp>
    </p:spTree>
    <p:extLst>
      <p:ext uri="{BB962C8B-B14F-4D97-AF65-F5344CB8AC3E}">
        <p14:creationId xmlns:p14="http://schemas.microsoft.com/office/powerpoint/2010/main" val="327912243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CBA5069-1C53-4558-5455-8EBE1B069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4CD976-B225-7A4C-C5F9-D6DBDF3773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2ED6DB-A693-C6EE-42E5-C521B39C0A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4756537-7DD9-38BD-16E5-E28E7A5F040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Let's Do Problem 1 Together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6BDEBA-1646-C14E-D37C-D40FA0981C07}"/>
              </a:ext>
            </a:extLst>
          </p:cNvPr>
          <p:cNvSpPr txBox="1"/>
          <p:nvPr/>
        </p:nvSpPr>
        <p:spPr>
          <a:xfrm>
            <a:off x="0" y="921353"/>
            <a:ext cx="9143999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2: How do we fix it?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Rule: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If one attribute depends on another non-key attribute, move it to a new table.</a:t>
            </a:r>
          </a:p>
        </p:txBody>
      </p:sp>
    </p:spTree>
    <p:extLst>
      <p:ext uri="{BB962C8B-B14F-4D97-AF65-F5344CB8AC3E}">
        <p14:creationId xmlns:p14="http://schemas.microsoft.com/office/powerpoint/2010/main" val="193299698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5043B84-8962-144E-0972-51A24C1D5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5D78B3-251C-948D-67F9-07115C951B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600DD4-0662-A255-F008-525E8A7464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6E59E63C-7189-A8D7-83D0-96FA2154574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Let's Do Problem 1 Together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5FAE42-006B-2115-4823-D0F0EBDD9087}"/>
              </a:ext>
            </a:extLst>
          </p:cNvPr>
          <p:cNvSpPr txBox="1"/>
          <p:nvPr/>
        </p:nvSpPr>
        <p:spPr>
          <a:xfrm>
            <a:off x="0" y="831666"/>
            <a:ext cx="9143999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3: Create two tables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Table 1: ITEM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This table keeps only item-related data: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ITEM_ID (Primary Key)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ITEM_DESCRIPTION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ROOM_NUMBER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BLDG_CODE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Why keep BLDG_CODE?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Because each item is in a building</a:t>
            </a:r>
          </a:p>
        </p:txBody>
      </p:sp>
    </p:spTree>
    <p:extLst>
      <p:ext uri="{BB962C8B-B14F-4D97-AF65-F5344CB8AC3E}">
        <p14:creationId xmlns:p14="http://schemas.microsoft.com/office/powerpoint/2010/main" val="152021523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F6DBB84-5EC0-69A5-D267-97568429F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7CFE98-74AF-4BC8-D0BA-6AE32ACD69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79177F-D424-3D99-C888-AE91FB2EF3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1966B93-605E-F069-B762-5B18F11D6CF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Let's Do Problem 1 Together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79805A-7E2D-1D35-89C1-65FDBB876DFF}"/>
              </a:ext>
            </a:extLst>
          </p:cNvPr>
          <p:cNvSpPr txBox="1"/>
          <p:nvPr/>
        </p:nvSpPr>
        <p:spPr>
          <a:xfrm>
            <a:off x="0" y="831666"/>
            <a:ext cx="914399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Table 2: BUILDING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This table keeps building details: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BLDG_CODE (Primary Key)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BLDG_NAME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BLDG_MANAGER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Why?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Because these depend only on BLDG_CODE</a:t>
            </a:r>
          </a:p>
        </p:txBody>
      </p:sp>
    </p:spTree>
    <p:extLst>
      <p:ext uri="{BB962C8B-B14F-4D97-AF65-F5344CB8AC3E}">
        <p14:creationId xmlns:p14="http://schemas.microsoft.com/office/powerpoint/2010/main" val="322369872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8C72A5C-7731-8387-74F9-0BA4D1425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A02A3BF-9BE8-BD01-7C25-AD1FDFB56C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2DB7B7-0EC2-DF2C-1DF5-2BC04034F1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5BEF741-3A30-3A9A-9124-BCC1A98AFF6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Let's Do Problem 1 Together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373DD0-9B00-9C8D-607C-E6B5EF1EB6BC}"/>
              </a:ext>
            </a:extLst>
          </p:cNvPr>
          <p:cNvSpPr txBox="1"/>
          <p:nvPr/>
        </p:nvSpPr>
        <p:spPr>
          <a:xfrm>
            <a:off x="0" y="831666"/>
            <a:ext cx="9143999" cy="3254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4: What changed?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Before: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Everything was in one big table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Now: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Data is split into two logical tables</a:t>
            </a:r>
          </a:p>
        </p:txBody>
      </p:sp>
    </p:spTree>
    <p:extLst>
      <p:ext uri="{BB962C8B-B14F-4D97-AF65-F5344CB8AC3E}">
        <p14:creationId xmlns:p14="http://schemas.microsoft.com/office/powerpoint/2010/main" val="126885157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8F0473C-0234-C71E-3758-559990D7D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664A18-F3EC-3085-ECFC-15FD39125B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093555-3E36-FDBB-C657-995ABDC1F2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6A98A5E6-3BAA-E690-3027-A35E7258A96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Let's Do Problem 1 Together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E64865-1C25-9050-ADDA-1A3E5BE62B0E}"/>
              </a:ext>
            </a:extLst>
          </p:cNvPr>
          <p:cNvSpPr txBox="1"/>
          <p:nvPr/>
        </p:nvSpPr>
        <p:spPr>
          <a:xfrm>
            <a:off x="0" y="831666"/>
            <a:ext cx="9143999" cy="3254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5: How are tables connected?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They are linked by BLDG_CODE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ITEM table → has BLDG_CODE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BUILDING table → uses BLDG_CODE as primary key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This creates a relationship</a:t>
            </a:r>
          </a:p>
        </p:txBody>
      </p:sp>
    </p:spTree>
    <p:extLst>
      <p:ext uri="{BB962C8B-B14F-4D97-AF65-F5344CB8AC3E}">
        <p14:creationId xmlns:p14="http://schemas.microsoft.com/office/powerpoint/2010/main" val="271020098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E92F20B-D6C9-29DC-D62B-302F29A32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297AC4-6659-1BEB-BC52-05690BE937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A2508E-9A9B-9537-A12B-DDC0D295C1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3D03D21-BF3F-7911-A6E5-A17E1AED86D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Let's Do Problem 1 Together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9AC929-B078-648C-2DA9-C608DAE33A65}"/>
              </a:ext>
            </a:extLst>
          </p:cNvPr>
          <p:cNvSpPr txBox="1"/>
          <p:nvPr/>
        </p:nvSpPr>
        <p:spPr>
          <a:xfrm>
            <a:off x="0" y="831666"/>
            <a:ext cx="9143999" cy="390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6: Why is this 3NF?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Now: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All attributes depend on the primary key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No attribute depends on another non-key attribute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No transitive dependency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So it is 3NF</a:t>
            </a:r>
          </a:p>
        </p:txBody>
      </p:sp>
    </p:spTree>
    <p:extLst>
      <p:ext uri="{BB962C8B-B14F-4D97-AF65-F5344CB8AC3E}">
        <p14:creationId xmlns:p14="http://schemas.microsoft.com/office/powerpoint/2010/main" val="409269328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1422991-F8A9-7FB7-53E0-300013786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7350D3F-1825-663A-C622-CC2B46830B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51C036-A682-D266-8132-3A7050A0C1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65A978A-CB97-DA97-5436-31F84F95D10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Let's Do Problem 1 Together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02B8C7-DA9D-B4E7-4FA6-DB74718F4C89}"/>
              </a:ext>
            </a:extLst>
          </p:cNvPr>
          <p:cNvSpPr txBox="1"/>
          <p:nvPr/>
        </p:nvSpPr>
        <p:spPr>
          <a:xfrm>
            <a:off x="0" y="831666"/>
            <a:ext cx="9143999" cy="1315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 summary, move building details to a separate table because they depend on BLDG_CODE, not ITEM_ID.”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132A8A-9ECC-7F99-655C-1241ACBC8D95}"/>
              </a:ext>
            </a:extLst>
          </p:cNvPr>
          <p:cNvSpPr txBox="1"/>
          <p:nvPr/>
        </p:nvSpPr>
        <p:spPr>
          <a:xfrm>
            <a:off x="0" y="2768401"/>
            <a:ext cx="914400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To achieve 3NF, the relation is decomposed into ITEM and BUILDING tables to remove the transitive dependency between ITEM_ID and building attributes.</a:t>
            </a:r>
          </a:p>
        </p:txBody>
      </p:sp>
    </p:spTree>
    <p:extLst>
      <p:ext uri="{BB962C8B-B14F-4D97-AF65-F5344CB8AC3E}">
        <p14:creationId xmlns:p14="http://schemas.microsoft.com/office/powerpoint/2010/main" val="417717453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F1EB8F9-97B7-9FB8-BEAA-D29B55482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3B7BBD-3FF3-67FC-D32B-05B25FED25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C2395C-994D-B75D-1FDF-AA2F71A2CF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B536590-8B40-00A7-FA16-8364C3EF540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Let's Do Problem 1 Together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996AD5-44BE-9E84-CFC8-78A374FAF697}"/>
              </a:ext>
            </a:extLst>
          </p:cNvPr>
          <p:cNvSpPr txBox="1"/>
          <p:nvPr/>
        </p:nvSpPr>
        <p:spPr>
          <a:xfrm>
            <a:off x="0" y="1847411"/>
            <a:ext cx="9143998" cy="131818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3NF quick test:</a:t>
            </a:r>
            <a:r>
              <a:rPr lang="en-US" sz="2800" dirty="0">
                <a:latin typeface="Calibir"/>
              </a:rPr>
              <a:t> For each non-key column ask: “Does it depend only on this table’s PK?” If yes for all, you’re in 3NF.</a:t>
            </a:r>
          </a:p>
        </p:txBody>
      </p:sp>
    </p:spTree>
    <p:extLst>
      <p:ext uri="{BB962C8B-B14F-4D97-AF65-F5344CB8AC3E}">
        <p14:creationId xmlns:p14="http://schemas.microsoft.com/office/powerpoint/2010/main" val="292952746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B97CF66-6452-1F53-290D-D709CCD50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EF64D89-D4BC-546B-2B16-8246E86F51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921A84-1088-C0E6-2036-E89BCB65A5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B7833C9-9050-8EDB-165C-74E67F6896E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Let's Do Problem 1 Together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1CEB8A4-1CF1-42D4-3E76-B681088E29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4230"/>
          <a:stretch>
            <a:fillRect/>
          </a:stretch>
        </p:blipFill>
        <p:spPr>
          <a:xfrm>
            <a:off x="1174192" y="872534"/>
            <a:ext cx="6795616" cy="3018235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041A5106-C9E5-D13F-F2F1-3672493400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890769"/>
            <a:ext cx="8439807" cy="26920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3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First, we show what determines what: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3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ITEM_ID → (ITEM_DESCRIPTION, ROOM_NUMBER, BLDG_CODE);</a:t>
            </a:r>
            <a:br>
              <a:rPr kumimoji="0" lang="en-US" altLang="en-US" sz="23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</a:br>
            <a:r>
              <a:rPr kumimoji="0" lang="en-US" altLang="en-US" sz="23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BLDG_CODE → (BLDG_NAME, EMP_NUM);</a:t>
            </a:r>
            <a:br>
              <a:rPr kumimoji="0" lang="en-US" altLang="en-US" sz="23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</a:br>
            <a:r>
              <a:rPr kumimoji="0" lang="en-US" altLang="en-US" sz="23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EMP_NUM → (EMP_LNAME, EMP_FNAME, EMP_INITIAL) </a:t>
            </a:r>
          </a:p>
        </p:txBody>
      </p:sp>
    </p:spTree>
    <p:extLst>
      <p:ext uri="{BB962C8B-B14F-4D97-AF65-F5344CB8AC3E}">
        <p14:creationId xmlns:p14="http://schemas.microsoft.com/office/powerpoint/2010/main" val="140283281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12E41A2-51DE-AE1B-3A8A-65A55E15D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C88909E-EA74-2CF3-BCD4-940361DB46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7F4C03-9B46-17C1-EFB0-ED31059217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8138AA1-C54A-B24D-27AA-13216A9B925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Let's Do Problem 1 Together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B248C3C7-112B-CC59-1AB8-7D830CD568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817533"/>
            <a:ext cx="9144000" cy="3222934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lvl="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300" dirty="0">
                <a:latin typeface="Calibir"/>
              </a:rPr>
              <a:t>Then, we turn those rules into three tables: EMPLOYEE, BUILDING, and ITEM with keys EMP_NUM, BLDG_CODE, and ITEM_ID.</a:t>
            </a:r>
          </a:p>
          <a:p>
            <a:pPr marL="342900" lvl="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300" dirty="0">
                <a:latin typeface="Calibir"/>
              </a:rPr>
              <a:t>Relationships: one employee manages many buildings (1→M); one building contains many items (1→M).</a:t>
            </a:r>
          </a:p>
          <a:p>
            <a:pPr marL="342900" lvl="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300" dirty="0">
                <a:latin typeface="Calibir"/>
              </a:rPr>
              <a:t>This split is 3NF: each column depends only on its table’s key, so building/manager details aren’t repeated on every item.</a:t>
            </a:r>
          </a:p>
        </p:txBody>
      </p:sp>
    </p:spTree>
    <p:extLst>
      <p:ext uri="{BB962C8B-B14F-4D97-AF65-F5344CB8AC3E}">
        <p14:creationId xmlns:p14="http://schemas.microsoft.com/office/powerpoint/2010/main" val="342244647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3C9C10E-B366-81FF-22B2-37FE97A8F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A32481-061D-D1B6-7408-4231AD779C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791B0-0A98-20F4-1F6D-62FFECC141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B6479EA-1569-F942-2CB7-4B710BDD691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What to Submit – Problem 1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E5EC36F-4D10-15A4-61D9-E301EF6099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212573"/>
            <a:ext cx="9144000" cy="26108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Part (a)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Students should include: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1. One table (original table)</a:t>
            </a:r>
            <a:endParaRPr lang="en-US" sz="28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Write the table with all attributes (no splitting yet)</a:t>
            </a:r>
          </a:p>
        </p:txBody>
      </p:sp>
    </p:spTree>
    <p:extLst>
      <p:ext uri="{BB962C8B-B14F-4D97-AF65-F5344CB8AC3E}">
        <p14:creationId xmlns:p14="http://schemas.microsoft.com/office/powerpoint/2010/main" val="349281691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0161909-C7F8-6CA7-9F64-20E033889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35E2AC6-2946-DA3B-B92C-CA1B3F47C1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7F502C-C7D3-8024-9A61-5F40BE0002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2A30716-7555-70A9-CA48-7C040461CAE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What to Submit – Problem 1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E8778FC-F0D9-E5C3-64F7-71BEE6DAE5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889408"/>
            <a:ext cx="9144000" cy="32571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2.  Functional Dependencies (FDs)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List clearly, for example: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ITEM_ID → ITEM_DESCRIPTION, ROOM_NUMBER, BLDG_CODE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BLDG_CODE → BLDG_NAME, BLDG_MANAGER</a:t>
            </a:r>
          </a:p>
        </p:txBody>
      </p:sp>
    </p:spTree>
    <p:extLst>
      <p:ext uri="{BB962C8B-B14F-4D97-AF65-F5344CB8AC3E}">
        <p14:creationId xmlns:p14="http://schemas.microsoft.com/office/powerpoint/2010/main" val="168924869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3155ED5-4CDB-2C16-09E7-94A51CA75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74FB60-CFFE-3FB9-2DB4-BBBF268B58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ABA3D8-D798-0117-4986-DE9153252E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4B283D5-A893-21E9-15BB-5DDC5B3C5DF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What to Submit – Problem 1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7013FE8-99D5-B3FD-444F-29C7F40881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43077"/>
            <a:ext cx="9144000" cy="45498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3. Dependency diagram (simple sketch)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Show: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ITEM_ID as the key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arrows to other attributes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arrow from BLDG_CODE to building details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Must show: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Transitive dependency</a:t>
            </a:r>
          </a:p>
        </p:txBody>
      </p:sp>
    </p:spTree>
    <p:extLst>
      <p:ext uri="{BB962C8B-B14F-4D97-AF65-F5344CB8AC3E}">
        <p14:creationId xmlns:p14="http://schemas.microsoft.com/office/powerpoint/2010/main" val="402497811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CF1A62F-4F62-285F-6A30-7C5C776A8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D1B77A-C860-20A5-2F07-8C5D8EF718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E91822-6815-A43A-5ECE-2803CCF355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A4C567E-7AD4-C030-785F-06056F2EFDC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What to Submit – Problem 1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52850B3-8EB1-678E-B73B-0495F6DDB9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596747"/>
            <a:ext cx="9144000" cy="58424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Part (b)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Students should include: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1. </a:t>
            </a:r>
            <a:r>
              <a:rPr lang="en-US" sz="2800" b="1" dirty="0">
                <a:latin typeface="Calibir"/>
              </a:rPr>
              <a:t>New tables (3NF tables)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Split into: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ITEM table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BUILDING table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2. </a:t>
            </a:r>
            <a:r>
              <a:rPr lang="en-US" sz="2800" b="1" dirty="0">
                <a:latin typeface="Calibir"/>
              </a:rPr>
              <a:t>Keys clearly shown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Primary keys (PK)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Foreign keys (FK)</a:t>
            </a:r>
          </a:p>
        </p:txBody>
      </p:sp>
    </p:spTree>
    <p:extLst>
      <p:ext uri="{BB962C8B-B14F-4D97-AF65-F5344CB8AC3E}">
        <p14:creationId xmlns:p14="http://schemas.microsoft.com/office/powerpoint/2010/main" val="211677205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874287B-F7F7-267A-E59E-F1A84009B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D44963-0482-B63D-C826-475B591A5E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4F1E44-2E61-38E7-C18E-7A4F2300F8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E062A41-5A0C-5728-0C79-784C7159818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What to Submit – Problem 1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EC16C31-6E7B-3B96-4FF3-4FAE038368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535740"/>
            <a:ext cx="9144000" cy="1964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Example: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ITEM: ITEM_ID (PK), BLDG_CODE (FK)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BUILDING: BLDG_CODE (PK)</a:t>
            </a:r>
          </a:p>
        </p:txBody>
      </p:sp>
    </p:spTree>
    <p:extLst>
      <p:ext uri="{BB962C8B-B14F-4D97-AF65-F5344CB8AC3E}">
        <p14:creationId xmlns:p14="http://schemas.microsoft.com/office/powerpoint/2010/main" val="328805287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DD9018A-DAE5-86A2-0E17-429CAC9A6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C870404-70D4-E374-C7F4-70CF55998F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411942-9D72-76C3-B236-023CA70DAD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CD3D646-EF9A-07BE-094F-9E09519289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What to Submit – Problem 1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DBD161F-54AE-218D-CF72-0DE0E51BC7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212575"/>
            <a:ext cx="9144000" cy="26108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3.</a:t>
            </a:r>
            <a:r>
              <a:rPr lang="en-US" sz="2800" dirty="0">
                <a:latin typeface="Calibir"/>
              </a:rPr>
              <a:t> </a:t>
            </a:r>
            <a:r>
              <a:rPr lang="en-US" sz="2800" b="1" dirty="0">
                <a:latin typeface="Calibir"/>
              </a:rPr>
              <a:t>Short explanation (1–2 lines)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Example: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“Building details were moved to a separate table to remove transitive dependency.”</a:t>
            </a:r>
          </a:p>
        </p:txBody>
      </p:sp>
    </p:spTree>
    <p:extLst>
      <p:ext uri="{BB962C8B-B14F-4D97-AF65-F5344CB8AC3E}">
        <p14:creationId xmlns:p14="http://schemas.microsoft.com/office/powerpoint/2010/main" val="64175949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02FC1C9-AAA3-A56F-89E7-8B3B8E559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BE68F7-B8D5-6A90-3FA8-6E749328F5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049ED8-4F35-5663-5606-4E42C6B422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470BEE3-3B1B-22BD-7E8E-91ACD8A48AD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What to Submit – Problem 1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D0AA0A9-7AF3-E861-9EB8-B2526E2BA0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44522"/>
            <a:ext cx="9144000" cy="4546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What to Submit – Problem 2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Part (a)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Students should include: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1. One big table (original structure)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2. Composite primary key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Show clearly: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(MEMBER_NUM, INVITE_NUM)</a:t>
            </a:r>
          </a:p>
        </p:txBody>
      </p:sp>
    </p:spTree>
    <p:extLst>
      <p:ext uri="{BB962C8B-B14F-4D97-AF65-F5344CB8AC3E}">
        <p14:creationId xmlns:p14="http://schemas.microsoft.com/office/powerpoint/2010/main" val="3183043916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130953F-AD23-65DE-BDCE-743A3FE24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552AEAA-592F-B1BC-3805-56E0CEDA2F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998077-82E0-6763-179D-CCB6698DCD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B0CC526-812F-8C8A-B758-28EF87A37AF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What to Submit – Problem 1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0486CBA-DD7A-9F09-298B-D64B517636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889411"/>
            <a:ext cx="9144000" cy="32571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3. Functional Dependencies (FDs)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Include: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Partial dependencies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Full dependencies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Transitive dependencies</a:t>
            </a:r>
          </a:p>
        </p:txBody>
      </p:sp>
    </p:spTree>
    <p:extLst>
      <p:ext uri="{BB962C8B-B14F-4D97-AF65-F5344CB8AC3E}">
        <p14:creationId xmlns:p14="http://schemas.microsoft.com/office/powerpoint/2010/main" val="131838611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051BE8F-1304-5FCA-950E-9A1AF65A5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B8C70C8-0EDD-1394-538E-ED6B9CA045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16B78E-E214-0AF1-AA7F-655C808C68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1E29EAB-E683-40A5-4821-54580918DD4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What to Submit – Problem 1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ECA8B2-5D04-95C0-97A5-856D0466D6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212577"/>
            <a:ext cx="9144000" cy="26108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4.</a:t>
            </a:r>
            <a:r>
              <a:rPr lang="en-US" sz="2800" dirty="0">
                <a:latin typeface="Calibir"/>
              </a:rPr>
              <a:t> </a:t>
            </a:r>
            <a:r>
              <a:rPr lang="en-US" sz="2800" b="1" dirty="0">
                <a:latin typeface="Calibir"/>
              </a:rPr>
              <a:t>Dependency diagram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Must clearly show: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Partial dependency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Transitive dependency</a:t>
            </a:r>
          </a:p>
        </p:txBody>
      </p:sp>
    </p:spTree>
    <p:extLst>
      <p:ext uri="{BB962C8B-B14F-4D97-AF65-F5344CB8AC3E}">
        <p14:creationId xmlns:p14="http://schemas.microsoft.com/office/powerpoint/2010/main" val="399980770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5208D18-AAA7-2924-10A9-8C88B77C4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2913C9-DFDD-A776-64F8-9485742611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E25E73-37EC-A4C0-849D-612F2112F8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7A73E42-D8F3-6904-AD74-450A30B3EE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69172"/>
            <a:ext cx="9144000" cy="648882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Part (b)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Students should include: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1.</a:t>
            </a:r>
            <a:r>
              <a:rPr lang="en-US" sz="2800" dirty="0">
                <a:latin typeface="Calibir"/>
              </a:rPr>
              <a:t> </a:t>
            </a:r>
            <a:r>
              <a:rPr lang="en-US" sz="2800" b="1" dirty="0">
                <a:latin typeface="Calibir"/>
              </a:rPr>
              <a:t>New tables (3NF design)</a:t>
            </a:r>
            <a:endParaRPr lang="en-US" sz="28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Usually: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MEMBER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INVITATION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DINNER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ENTREE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DESSERT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ATTENDANCE (bridge table)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6F531CE-A766-5910-0CB6-47F4F62640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What to Submit – Problem 1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077486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ACDF59B-697C-83DA-EAAA-590C00359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E32A35-FB5C-8CF7-D514-FD21DECC24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55A6ED-71EA-949C-20E7-520D95E4B4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9B87A95-EFFF-FBF8-5843-4504146D84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631331"/>
            <a:ext cx="9144000" cy="196451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2.</a:t>
            </a:r>
            <a:r>
              <a:rPr lang="en-US" sz="2800" dirty="0">
                <a:latin typeface="Calibir"/>
              </a:rPr>
              <a:t> </a:t>
            </a:r>
            <a:r>
              <a:rPr lang="en-US" sz="2800" b="1" dirty="0">
                <a:latin typeface="Calibir"/>
              </a:rPr>
              <a:t>Keys clearly shown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Primary keys (PK)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Foreign keys (FK)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292F1CD5-2CFC-29D5-C863-21A0F48AC26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What to Submit – Problem 1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374351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8D59058-0FC1-0C05-73A9-7436CF177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73ADD-1264-D22B-60CC-EAB87119C3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AACD19-A3CB-94A5-2157-D9A033B758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FDC5459-18BE-8DAF-E07C-B2B5038CB0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309544"/>
            <a:ext cx="9144000" cy="2608086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3.</a:t>
            </a:r>
            <a:r>
              <a:rPr lang="en-US" sz="2800" dirty="0">
                <a:latin typeface="Calibir"/>
              </a:rPr>
              <a:t> </a:t>
            </a:r>
            <a:r>
              <a:rPr lang="en-US" sz="2800" b="1" dirty="0">
                <a:latin typeface="Calibir"/>
              </a:rPr>
              <a:t>Short explanation (very simple)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Example: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Tables were split to remove partial and transitive dependencies.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210D474-7DB4-74C8-59F2-E8A9FBD8030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What to Submit – Problem 1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344595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9DF9278-8015-5CE4-5797-BB527F7DC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C815DF-3809-B5D1-10F1-5F22647775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EFDD88-9248-AB2C-5648-704F117785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9F547A0-25E6-B9B6-E340-EC33B951EC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43076"/>
            <a:ext cx="9144000" cy="454983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Before submitting, check:</a:t>
            </a:r>
          </a:p>
          <a:p>
            <a:pPr marL="623888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Did I show the original table?</a:t>
            </a:r>
          </a:p>
          <a:p>
            <a:pPr marL="623888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Did I list dependencies?</a:t>
            </a:r>
          </a:p>
          <a:p>
            <a:pPr marL="623888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Did I draw the diagram?</a:t>
            </a:r>
          </a:p>
          <a:p>
            <a:pPr marL="623888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Did I split into 3NF tables?</a:t>
            </a:r>
          </a:p>
          <a:p>
            <a:pPr marL="623888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Did I mark PK and FK?</a:t>
            </a:r>
          </a:p>
          <a:p>
            <a:pPr marL="623888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Did I write a short explanation?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67814F34-3C5D-F0AC-19E7-8A9E55321BF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25518"/>
          </a:xfrm>
        </p:spPr>
        <p:txBody>
          <a:bodyPr>
            <a:noAutofit/>
          </a:bodyPr>
          <a:lstStyle/>
          <a:p>
            <a:r>
              <a:rPr lang="en-US" sz="3200" dirty="0"/>
              <a:t>What to Submit – Problem 1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732949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87AAA-CDD7-14D9-F3F2-7750965A9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>
            <a:extLst>
              <a:ext uri="{FF2B5EF4-FFF2-40B4-BE49-F238E27FC236}">
                <a16:creationId xmlns:a16="http://schemas.microsoft.com/office/drawing/2014/main" id="{5669F4BD-7260-8C96-81B2-B35F9DA1CF5A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476" rIns="0" bIns="0" rtlCol="0">
            <a:spAutoFit/>
          </a:bodyPr>
          <a:lstStyle/>
          <a:p>
            <a:pPr marL="28575" defTabSz="685800">
              <a:spcBef>
                <a:spcPts val="4"/>
              </a:spcBef>
            </a:pPr>
            <a:fld id="{81D60167-4931-47E6-BA6A-407CBD079E47}" type="slidenum">
              <a:rPr dirty="0"/>
              <a:pPr marL="28575" defTabSz="685800">
                <a:spcBef>
                  <a:spcPts val="4"/>
                </a:spcBef>
              </a:pPr>
              <a:t>98</a:t>
            </a:fld>
            <a:r>
              <a:rPr spc="176" dirty="0"/>
              <a:t> </a:t>
            </a:r>
            <a:r>
              <a:rPr dirty="0"/>
              <a:t>|</a:t>
            </a:r>
            <a:r>
              <a:rPr spc="300" dirty="0"/>
              <a:t> </a:t>
            </a:r>
            <a:r>
              <a:rPr dirty="0"/>
              <a:t>Faculty</a:t>
            </a:r>
            <a:r>
              <a:rPr spc="-11" dirty="0"/>
              <a:t> </a:t>
            </a:r>
            <a:r>
              <a:rPr dirty="0"/>
              <a:t>of</a:t>
            </a:r>
            <a:r>
              <a:rPr spc="-15" dirty="0"/>
              <a:t> </a:t>
            </a:r>
            <a:r>
              <a:rPr dirty="0"/>
              <a:t>Business</a:t>
            </a:r>
            <a:r>
              <a:rPr spc="-15" dirty="0"/>
              <a:t> </a:t>
            </a:r>
            <a:r>
              <a:rPr dirty="0"/>
              <a:t>and</a:t>
            </a:r>
            <a:r>
              <a:rPr spc="-15" dirty="0"/>
              <a:t> </a:t>
            </a:r>
            <a:r>
              <a:rPr dirty="0"/>
              <a:t>Law</a:t>
            </a:r>
            <a:r>
              <a:rPr spc="-11" dirty="0"/>
              <a:t> </a:t>
            </a:r>
            <a:r>
              <a:rPr dirty="0"/>
              <a:t>|</a:t>
            </a:r>
            <a:r>
              <a:rPr spc="-11" dirty="0"/>
              <a:t> </a:t>
            </a:r>
            <a:r>
              <a:rPr dirty="0"/>
              <a:t>Peter</a:t>
            </a:r>
            <a:r>
              <a:rPr spc="-8" dirty="0"/>
              <a:t> </a:t>
            </a:r>
            <a:r>
              <a:rPr dirty="0"/>
              <a:t>Faber</a:t>
            </a:r>
            <a:r>
              <a:rPr spc="-11" dirty="0"/>
              <a:t> </a:t>
            </a:r>
            <a:r>
              <a:rPr dirty="0"/>
              <a:t>Business</a:t>
            </a:r>
            <a:r>
              <a:rPr spc="-11" dirty="0"/>
              <a:t> </a:t>
            </a:r>
            <a:r>
              <a:rPr spc="-8" dirty="0"/>
              <a:t>School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5375A7-EFFE-CBBB-27C1-753C2CBECA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811955"/>
            <a:ext cx="9144000" cy="32340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 defTabSz="6858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prstClr val="black"/>
                </a:solidFill>
                <a:latin typeface="Calibri"/>
              </a:rPr>
              <a:t>These guidelines are designed to support your learning and help you apply necessary techniques effectively. Please do the </a:t>
            </a:r>
            <a:r>
              <a:rPr lang="en-US" sz="2800" dirty="0">
                <a:solidFill>
                  <a:prstClr val="black"/>
                </a:solidFill>
                <a:highlight>
                  <a:srgbClr val="FFFF00"/>
                </a:highlight>
                <a:latin typeface="Calibri"/>
              </a:rPr>
              <a:t>remaining problems/tasks</a:t>
            </a:r>
            <a:r>
              <a:rPr lang="en-US" sz="2800" dirty="0">
                <a:solidFill>
                  <a:prstClr val="black"/>
                </a:solidFill>
                <a:latin typeface="Calibri"/>
              </a:rPr>
              <a:t> and follow the instructions based on </a:t>
            </a:r>
            <a:r>
              <a:rPr lang="en-US" sz="2800" dirty="0">
                <a:solidFill>
                  <a:prstClr val="black"/>
                </a:solidFill>
                <a:highlight>
                  <a:srgbClr val="FFFF00"/>
                </a:highlight>
                <a:latin typeface="Calibri"/>
              </a:rPr>
              <a:t>Canvas</a:t>
            </a:r>
            <a:r>
              <a:rPr lang="en-US" sz="2800" dirty="0">
                <a:solidFill>
                  <a:prstClr val="black"/>
                </a:solidFill>
                <a:latin typeface="Calibri"/>
              </a:rPr>
              <a:t>. If you have any questions, feel free to ask—I’m happy to help!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2EA3DD23-80EE-0261-9214-F4FC0F567A4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7240979" cy="994503"/>
          </a:xfrm>
          <a:prstGeom prst="rect">
            <a:avLst/>
          </a:prstGeom>
          <a:noFill/>
        </p:spPr>
        <p:txBody>
          <a:bodyPr vert="horz" wrap="square" lIns="0" tIns="9525" rIns="0" bIns="0" rtlCol="0">
            <a:spAutoFit/>
          </a:bodyPr>
          <a:lstStyle>
            <a:lvl1pPr>
              <a:defRPr sz="2900" b="1" i="0">
                <a:solidFill>
                  <a:srgbClr val="3D3935"/>
                </a:solidFill>
                <a:latin typeface="Arial"/>
                <a:ea typeface="+mj-ea"/>
                <a:cs typeface="Arial"/>
              </a:defRPr>
            </a:lvl1pPr>
          </a:lstStyle>
          <a:p>
            <a:pPr marL="9525" defTabSz="685800">
              <a:spcBef>
                <a:spcPts val="75"/>
              </a:spcBef>
            </a:pPr>
            <a:r>
              <a:rPr lang="en-US" sz="3200" kern="0" spc="-8" dirty="0"/>
              <a:t>Submission of Tutorials &amp; Assessments</a:t>
            </a:r>
          </a:p>
        </p:txBody>
      </p:sp>
    </p:spTree>
    <p:extLst>
      <p:ext uri="{BB962C8B-B14F-4D97-AF65-F5344CB8AC3E}">
        <p14:creationId xmlns:p14="http://schemas.microsoft.com/office/powerpoint/2010/main" val="291898377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ACU Presentation">
  <a:themeElements>
    <a:clrScheme name="ACUColourScheme">
      <a:dk1>
        <a:srgbClr val="3C1053"/>
      </a:dk1>
      <a:lt1>
        <a:srgbClr val="FFFFFF"/>
      </a:lt1>
      <a:dk2>
        <a:srgbClr val="3C1053"/>
      </a:dk2>
      <a:lt2>
        <a:srgbClr val="E8E3DB"/>
      </a:lt2>
      <a:accent1>
        <a:srgbClr val="F2120C"/>
      </a:accent1>
      <a:accent2>
        <a:srgbClr val="3D3935"/>
      </a:accent2>
      <a:accent3>
        <a:srgbClr val="8C857B"/>
      </a:accent3>
      <a:accent4>
        <a:srgbClr val="3C1053"/>
      </a:accent4>
      <a:accent5>
        <a:srgbClr val="E8E3DB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dirty="0" err="1" smtClean="0">
            <a:solidFill>
              <a:srgbClr val="3D3935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_Template_4_3_V2.potx" id="{F3B38964-EE74-4E1D-A3FE-21D8EB788CBF}" vid="{2C9D612A-0DB5-43BD-9B9F-0A9FAAF24DC0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CDC8B17FFF79F46AB892AACDE15F09D" ma:contentTypeVersion="1" ma:contentTypeDescription="Create a new document." ma:contentTypeScope="" ma:versionID="a5ba99c893f738a110fead59b8aec548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6c96ba11fc0b0f11135d6dc28d8a2ff0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 ma:readOnly="tru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360E499-BA5F-475B-94B4-A8CCAB27634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719D6D79-91EF-4340-8C3D-E484566A2E2F}">
  <ds:schemaRefs>
    <ds:schemaRef ds:uri="http://purl.org/dc/dcmitype/"/>
    <ds:schemaRef ds:uri="http://schemas.microsoft.com/office/2006/documentManagement/types"/>
    <ds:schemaRef ds:uri="http://www.w3.org/XML/1998/namespace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05866CA7-3031-48D4-BC56-8127880CD39C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PPT_Template_4_3_V2.potx</Template>
  <TotalTime>3084</TotalTime>
  <Words>5880</Words>
  <Application>Microsoft Office PowerPoint</Application>
  <PresentationFormat>On-screen Show (4:3)</PresentationFormat>
  <Paragraphs>1679</Paragraphs>
  <Slides>98</Slides>
  <Notes>96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98</vt:i4>
      </vt:variant>
    </vt:vector>
  </HeadingPairs>
  <TitlesOfParts>
    <vt:vector size="105" baseType="lpstr">
      <vt:lpstr>Arial</vt:lpstr>
      <vt:lpstr>Calibir</vt:lpstr>
      <vt:lpstr>Calibri</vt:lpstr>
      <vt:lpstr>Wingdings</vt:lpstr>
      <vt:lpstr>ACU Presentation</vt:lpstr>
      <vt:lpstr>1_Office Theme</vt:lpstr>
      <vt:lpstr>think-cell Slide</vt:lpstr>
      <vt:lpstr>Normalisation of Database Tables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ACU Presentation</dc:title>
  <dc:creator>Husnen Rupani;Simone.Byrnes@acu.edu.au</dc:creator>
  <cp:lastModifiedBy>Farshid Keivanian</cp:lastModifiedBy>
  <cp:revision>548</cp:revision>
  <cp:lastPrinted>2017-08-03T04:07:41Z</cp:lastPrinted>
  <dcterms:created xsi:type="dcterms:W3CDTF">2017-05-11T09:33:32Z</dcterms:created>
  <dcterms:modified xsi:type="dcterms:W3CDTF">2026-03-22T09:33:27Z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0x0101007CDC8B17FFF79F46AB892AACDE15F09D</vt:lpwstr>
  </property>
</Properties>
</file>