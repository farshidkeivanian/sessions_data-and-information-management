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84"/>
  </p:notesMasterIdLst>
  <p:sldIdLst>
    <p:sldId id="421" r:id="rId5"/>
    <p:sldId id="2984" r:id="rId6"/>
    <p:sldId id="3288" r:id="rId7"/>
    <p:sldId id="3358" r:id="rId8"/>
    <p:sldId id="3359" r:id="rId9"/>
    <p:sldId id="3360" r:id="rId10"/>
    <p:sldId id="3361" r:id="rId11"/>
    <p:sldId id="3357" r:id="rId12"/>
    <p:sldId id="3362" r:id="rId13"/>
    <p:sldId id="3289" r:id="rId14"/>
    <p:sldId id="3290" r:id="rId15"/>
    <p:sldId id="3301" r:id="rId16"/>
    <p:sldId id="3302" r:id="rId17"/>
    <p:sldId id="3303" r:id="rId18"/>
    <p:sldId id="3321" r:id="rId19"/>
    <p:sldId id="3322" r:id="rId20"/>
    <p:sldId id="3323" r:id="rId21"/>
    <p:sldId id="3304" r:id="rId22"/>
    <p:sldId id="3305" r:id="rId23"/>
    <p:sldId id="3324" r:id="rId24"/>
    <p:sldId id="3325" r:id="rId25"/>
    <p:sldId id="3326" r:id="rId26"/>
    <p:sldId id="3327" r:id="rId27"/>
    <p:sldId id="3328" r:id="rId28"/>
    <p:sldId id="3306" r:id="rId29"/>
    <p:sldId id="3307" r:id="rId30"/>
    <p:sldId id="3329" r:id="rId31"/>
    <p:sldId id="3330" r:id="rId32"/>
    <p:sldId id="3331" r:id="rId33"/>
    <p:sldId id="3308" r:id="rId34"/>
    <p:sldId id="3332" r:id="rId35"/>
    <p:sldId id="3333" r:id="rId36"/>
    <p:sldId id="3334" r:id="rId37"/>
    <p:sldId id="3335" r:id="rId38"/>
    <p:sldId id="3336" r:id="rId39"/>
    <p:sldId id="3309" r:id="rId40"/>
    <p:sldId id="3337" r:id="rId41"/>
    <p:sldId id="3338" r:id="rId42"/>
    <p:sldId id="3339" r:id="rId43"/>
    <p:sldId id="3340" r:id="rId44"/>
    <p:sldId id="3310" r:id="rId45"/>
    <p:sldId id="3341" r:id="rId46"/>
    <p:sldId id="3342" r:id="rId47"/>
    <p:sldId id="3343" r:id="rId48"/>
    <p:sldId id="3311" r:id="rId49"/>
    <p:sldId id="3344" r:id="rId50"/>
    <p:sldId id="3345" r:id="rId51"/>
    <p:sldId id="3346" r:id="rId52"/>
    <p:sldId id="3347" r:id="rId53"/>
    <p:sldId id="3312" r:id="rId54"/>
    <p:sldId id="3348" r:id="rId55"/>
    <p:sldId id="3349" r:id="rId56"/>
    <p:sldId id="3350" r:id="rId57"/>
    <p:sldId id="3351" r:id="rId58"/>
    <p:sldId id="3313" r:id="rId59"/>
    <p:sldId id="3314" r:id="rId60"/>
    <p:sldId id="3352" r:id="rId61"/>
    <p:sldId id="3353" r:id="rId62"/>
    <p:sldId id="3354" r:id="rId63"/>
    <p:sldId id="3355" r:id="rId64"/>
    <p:sldId id="3356" r:id="rId65"/>
    <p:sldId id="3315" r:id="rId66"/>
    <p:sldId id="3316" r:id="rId67"/>
    <p:sldId id="3291" r:id="rId68"/>
    <p:sldId id="3292" r:id="rId69"/>
    <p:sldId id="3293" r:id="rId70"/>
    <p:sldId id="3294" r:id="rId71"/>
    <p:sldId id="3295" r:id="rId72"/>
    <p:sldId id="3296" r:id="rId73"/>
    <p:sldId id="3297" r:id="rId74"/>
    <p:sldId id="3298" r:id="rId75"/>
    <p:sldId id="3299" r:id="rId76"/>
    <p:sldId id="3300" r:id="rId77"/>
    <p:sldId id="2373" r:id="rId78"/>
    <p:sldId id="3318" r:id="rId79"/>
    <p:sldId id="3319" r:id="rId80"/>
    <p:sldId id="3320" r:id="rId81"/>
    <p:sldId id="3317" r:id="rId82"/>
    <p:sldId id="749" r:id="rId83"/>
  </p:sldIdLst>
  <p:sldSz cx="9144000" cy="6858000" type="screen4x3"/>
  <p:notesSz cx="6805613" cy="9939338"/>
  <p:custDataLst>
    <p:tags r:id="rId8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120C"/>
    <a:srgbClr val="8C857B"/>
    <a:srgbClr val="3C1053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4694"/>
  </p:normalViewPr>
  <p:slideViewPr>
    <p:cSldViewPr snapToGrid="0">
      <p:cViewPr>
        <p:scale>
          <a:sx n="50" d="100"/>
          <a:sy n="50" d="100"/>
        </p:scale>
        <p:origin x="1544" y="4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tags" Target="tags/tag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9E031-7821-4947-9A91-EC03C15F7566}" type="datetimeFigureOut">
              <a:rPr lang="en-AU" smtClean="0"/>
              <a:t>26/10/2025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8A5C1-1CB9-4F08-9AE0-90C38B1EBB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5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8A5C1-1CB9-4F08-9AE0-90C38B1EBB9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480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4DDECE2-2C03-6D0D-7451-4AD87CF2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746AA02-44F0-E41C-8C34-0C7E413EE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C6DF3DA-5601-6BB4-ADB8-0C2E64FC1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5492648-6074-1426-5629-8D50B61CBA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0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133A834-0F60-C21C-BF73-896D8C16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8250D01-FA8E-673E-32BF-CFF3940A9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F75FEED-C63E-386E-E799-A6F618442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19A751B-CC27-BC6A-B0C2-5EEBF08922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783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8B4DB3C-8B4D-9D0D-089D-2F6C046DC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56D27BA-623E-EFA7-1257-61A2AD8DED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62198FA-6C9E-913B-D2BF-19D9AF45B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FF55725-C780-9EE2-4D51-29910BDA33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26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760CAF8-5850-0228-8A7E-B703120A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D241735-0B2E-5F05-76A1-9B4762EAD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671CC93-F9D4-9ABA-81F2-C995FAC3A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F8D1507-3B6F-E644-DBF7-95DECF6FF6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570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68FFD26-F7D3-1FFC-D5C1-307EB988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F7AA6CD-1B05-9722-F35A-1B1F27EAA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199A1F-DC3A-991E-2F30-CBB841A50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1BCBF92-7044-AF45-B3C5-061DBD2066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3757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68FFD26-F7D3-1FFC-D5C1-307EB988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F7AA6CD-1B05-9722-F35A-1B1F27EAA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199A1F-DC3A-991E-2F30-CBB841A50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1BCBF92-7044-AF45-B3C5-061DBD2066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9192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E056C53-719B-1161-663A-B11B10BA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F04C2BB-8148-C17E-E3F4-FE5CC8E83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4DED4B6-7359-B4EA-E1B4-9697BFE00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A2BBA7A-2C3D-3A0A-13E2-ECE865AC79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022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618811F-8786-E961-7ECF-40B18963D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5107FCD-E7CF-026F-EF82-9EBBF6D71C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E679CA7-842F-FBC9-1254-8A158F0A6B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5C1F814-C676-1326-5140-854B49C503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889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A2BC5EA-7FB6-6EB4-78DE-350343C5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B33161F-B219-CDA7-8AA1-26B47AAE5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E88D086-E61D-CC37-50F9-09C282745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BF299FF-EA6A-F260-25FD-B1885CAC91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946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9ECBCB8-8670-7867-DFE7-7E5EE34B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9751EF7-514F-FFA7-773D-EA3FC04F85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8DBBA7E-5040-309F-2993-FDA1E849D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C202B3E-089C-5BC7-4B13-9A81DAB430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187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FE8F8AE-147D-FEC8-884E-974872FF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B57A0E0-2E4B-FA93-F31C-0539BA69D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ED7D0F6-8BBB-E03F-AC0B-F3B2762A3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112060F-0777-C31C-B726-8F8A21F14E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8376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74EFCD4-5398-7731-476A-C0B475667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E3557CF-244C-C924-9079-BD7E305F4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1FA2542-88A8-71EA-D9B7-F296C9B71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036AA93-AFD5-891D-DF60-7E84D7C94F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8054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4BC69D8-B10B-2AE3-7844-E04DB932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7DD14BE-5E37-722E-44BA-603BC4DD0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E52DB0D-518B-0373-4287-7316DD205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3AC0C21-F1BE-FD94-5975-66788AFEBE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2932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D35879F-C4EB-EA20-BB0F-089F5165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C0CF283-888A-45D0-25F4-E1798A2D3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E313126-2D72-B842-6890-8F4A60F870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C785FCF-00B1-BCC6-1146-32875A5E60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4536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D6E8069-B780-0D60-C106-6CA0D9B7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EEF9EE8-7A92-C94E-A026-1F3672F7C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B1392C4-E5B6-6925-BCC5-B23B6866A2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CE3C80F-8430-AD66-85BE-11C71A8975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517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B8848F-2F88-30F1-5990-F1F1CBD2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C6D800F-600C-3266-9334-FEA3C0407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AF6659B-FFF3-81C5-E52E-A2419C6CA4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5DDC6FD-FF54-1B06-C2EB-A080EC111B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2332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B62C665-2E8F-DB58-F5A0-9BD338617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AF6E4CC-2D90-16EC-1239-87918E865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65A4F37-F6CD-8C9F-DA99-E2BBD1F07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CF818D6-E5AE-5B94-2904-C9FA075021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74646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7DF78DA-BCDB-FA6C-75F6-59EF5C018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E3D8D0D-0479-88A6-B433-80D380A0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48AD960-4F5D-40C2-EB9B-B3DDB7BB2A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5CD5442-BEB4-3AB3-929A-0D18CFD324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2432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9B234E6-C666-CCC8-0D45-71577418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F091DBF-D8EE-BF99-3F23-F3195FA7C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46473A5-42FA-47E2-D390-D85BB0797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F3DEFC7-17C8-2D12-B233-731B64E160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97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53F0514-14B1-0401-A755-2DB570EB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7D0961F-AA9D-EC8E-B2A5-5BE72FFEF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AB92D90-231A-DE34-4174-20142B111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7D8A187-A2CA-DBF4-154A-4097D1A0E3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698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090C00C-24C7-3C58-222D-E9897CC1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474001F-4707-CCBA-D15A-E89FF5A9F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6365E50-D718-E34E-0A22-A9505E873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5C083AE-385F-11D3-F4DF-147A2A86F1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8535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333AE82-0ACE-9D2D-EC1F-FB498DC3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6DDC1AC-85BE-3063-54D4-5C9CC29AC2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8A2F879-6424-B619-54DD-5B376CC04D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41044DA-91A9-8DB0-9F2D-246C83E9B3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2225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7D6D35C-73DB-8F54-79FC-1630EE749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6B4503F-0BBC-533F-CE11-9FE335104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BA344B4-BE4E-F5F4-E3FF-217E305E6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7148668-76FA-1F80-172C-BFAA3AACA7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315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80BAE0E-41B0-BF05-FDB0-7CF32A58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EC8A6EE-A1F6-165F-093A-1CDAF935E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546C6A8-660F-ADB2-D467-FDA24553E5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6C01146-8150-9736-BD62-E09AE7816A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5347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2E1FA4D-D3DD-E3C0-7D7E-688CA4BF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0BCACC4-A137-AF42-8263-3D55F0568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BDE6549-5AB9-3ED1-AEA2-B47278DCB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85DF953-74B3-3E83-2707-0470839B77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95275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AA72BF8-CB8B-D10A-CF11-7733B719C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B9C05BA-3FAC-3DE3-81C3-C43AA7B74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C4760BA-68C1-93B1-6305-D85A0502F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7A37409-635D-D141-886C-604A1D6920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8674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8EB64E5-0BE3-89A9-7D72-B736AF4B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CFA4F12-212B-E909-D6C6-694B93DA00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027E0CC-6C67-F80E-522D-AF6E05C68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FE2D386-F023-E804-20D6-9AAEEDADA0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421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CE74A0D-650A-19A1-E612-005D8F17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DC91DAC-2B6A-8A47-95DA-CF3FCDD8AC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4B92C49-F277-7764-8101-F0D73A841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5C3516C-7478-BC91-BE6A-B8F626A4DD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9111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BA75D40-C208-BADE-A946-1946A1324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C232BE2-E475-2300-FB7C-9D2CBB1A4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ECC6B6E-0B89-21FF-8297-B7D3F94B8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B9974ED-E25B-991A-054A-3818D97B19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75866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DA75174-DD6C-3E3A-4375-4F45B1AC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850EAE1-8BEB-428C-4CE6-E2A58D3B6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1881303-7FFD-1C2C-C902-E8E4721D0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6DAFFE7-78C3-EB41-0600-66D7D79EAD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22034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2A38EC8-1CA1-166F-7D98-0C9919B4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341BA8D-6DC0-6521-2007-6B98979040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33B4303-F75A-7608-1CF0-9A80B1BED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D10DB03-15B9-E268-845B-794CFC2D3A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672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DB5BD22-DFD5-95D1-8D9E-C1BB581F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60F5F12-497B-D27D-61BC-0536DD779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16F63FD-0052-9C58-55F2-03BF25104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F3030C7-E2FB-6DD1-B3FB-225BFFCC2C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1662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D1D0591-E4EC-8EB0-7F80-82E66668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267C7B5-6853-617D-F12D-6DED3D23E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CD86E70-C5C4-0375-7A90-CDFA4E5F0B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D71EBE7-5A56-8A7E-97E4-5A02C0F78A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15855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EABC426-254C-6D9B-6066-18427433D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91780ED-9232-6BFC-EE94-6288A7415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56E3025-2DF8-6AFD-F8FD-E48F7CAAF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B90651D-49A8-E2F2-97AD-76B9BB8E33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88385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1F67EBD-0755-F0AE-4886-CE0C0E02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186C85D-924F-AB37-61C2-02E599A26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5EEF29A-A6C3-6EDE-4EE6-45E0A8A4D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4AEC4A2-DFE7-6091-E0AE-4231A86597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008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7CE1DAB-0B63-F214-1B39-80E6693D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6DDF5C7-B708-64DD-FFCB-E14A89C40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36C36E9-DAA7-8E87-D7C4-0E86CD2D3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DFB7842-A558-42EB-7978-104F56B6E2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51125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6A631A-9084-FD79-4784-28CBAE702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382D01F-F7DF-A23F-427E-1314EB14B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1E0110D-B434-FF7A-EACC-FAF6F15932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DA26D28-670B-158D-8003-E0AEDC8C24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20009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5AAEC1B-DF24-0FF7-6FC0-E75A1CBE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45CD53E-F517-97F6-D850-EAA5E18642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CA85B17-C192-0A4D-A4F3-DDE9B34A2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48E58C8-019C-EA53-1CA5-10387CAE47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30560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F524B23-BD6B-AE37-0121-DC11FD55A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8CCA1E6-6903-4A97-1DA2-B5125D20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6FC5F7A-AB25-F10A-A18F-8A7C928A1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ED613B5-496A-BE82-5557-5EA919CB56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7207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EC70302-FE64-6DD4-80BD-4DCAAAD5F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4DE1993-5F53-FCE5-AD40-D404DD0D4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8E79DAA-D42D-019E-BD52-6CD1D3BEF5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6F99982-DB8F-419C-5C07-FE41619CD5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0688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2284743-16B4-EEB4-1C60-BF969570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EA09C6E-182B-FC02-ACC4-79FB4E7235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33C66E5-2581-8298-A2C1-9280C3E2C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934CE84-CEF8-2A27-7AA5-23A115A8BF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94279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D02B9ED-8FC3-D5D1-7BEF-20EEC3327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184B320-4C0C-075E-6454-D187E1537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EBDB7EB-DC47-175D-321D-EC9C28855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C406396-42AB-7237-4DB8-69E7D010CE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255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0D49E78-4F59-E0E4-580C-02246FC5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00D63EF-46DD-BF1B-C406-18790D090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9F64AA7-EA77-29D9-B4E5-04663F4BD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26C20D9-976B-A3D0-E939-28EB18C64F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35163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E57DDA6-3FBE-C28A-DEBB-5AD5BAB8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EC04ED9-6F41-C4CD-89A8-D8FDF3E011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0293384-0CDF-4487-E65A-E4802263D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5729D8C-0789-8532-1207-E965A99010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60536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264D914-2AA1-7C29-6234-50D5158C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7F38A24-8392-6D60-6546-19C8A360F9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09BA547-30DE-88C0-7E33-DCCCD627A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C404543-8C42-C53B-5529-982EF7643A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1962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4A543C0-E90D-B252-76D7-919FF6155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DE2EB66-A75C-2896-2C28-441BCECC63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65636B5-2F3E-73A0-D04A-2F668D395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A4E5635-CF9C-960F-1661-8ECEABD634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8924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1372B3B-7C03-312B-68EF-8FBC5B01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2DFD2D6-4747-4195-03BD-5BEACE6D5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6B2F10E-9268-25CE-1F39-229335F75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206A8FB-9057-1195-8D3C-58B8C6DE8D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97991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9F229ED-0D71-2C66-5EEE-F121A3FEA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3043CD4-D94C-B94A-8383-CFD1A7371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C437C20-2BA1-39A2-FC36-5C87605FA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5C831A0-B5FE-DBD0-87A8-A93AF80F2D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0672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EF679C9-D5AC-A77D-51DF-A1037351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065A211-A24F-9592-4289-F9657E893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E1AE5EF-9534-6317-A23A-F745FBB13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37AD7FC-BC07-AD54-8D68-37221E797D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0413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36C068D-9945-DDEA-BFA5-D624DC35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244B528-0F5D-9C61-5944-02DBF3439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55B88AB-8E84-382A-BFBA-7F3D6256DB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289B706-CA13-EBDF-EC49-4BA06AFC33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4295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188C767-540B-04B5-C85D-97698C62E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9BF6C37-E07B-737C-7485-93B9B5BA1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3AF0882-6F8F-AE99-8108-4A857E6BA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594CA77-E165-25AE-0507-A6AD78439D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12121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80D9AA6-1C0A-6E7D-4697-163515740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D767D39-E341-F558-8DF1-887D725A8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BD4C82E-C0A9-6CCA-5E1C-048A47438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630D53A-2C18-509D-997C-62577C5A3C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4935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DE19622-9EBA-4417-0F97-96860A91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BE9921E-5192-678C-D852-0479804BBF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1C64754-75B4-EE58-247A-4AA7D622B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7175E30-1AA5-2839-BACA-298BA7F302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15850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F45EAB5-27F6-B092-673E-9AEF064A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FEAA0EC-11D6-95E2-4525-0A332AEB7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13E915E-9BCD-8FE3-7C4B-7639DF658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2084D12-2601-6FED-F7AA-DD402E9F2C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401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B9C801A-ACB3-0BB8-B771-93497784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5EDBAA0-FB4D-0F6E-34CE-AFBF0C245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678813B-8625-86D9-4704-B55D84DB2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AF2D157-461E-127F-BC4A-64C0A76CD1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21821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A37F2BB-35FD-27D5-6C3E-A28143F6D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EAE9B8C-B12B-1EBE-7E97-4E23C6E66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4F180A-E0CE-DB64-1E19-845EB9D732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549FFFD-5FD0-7CFD-45FC-F935F0C42A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59838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052D2F5-AA12-3DFB-EFFE-9AA6B651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6C1C3B4-F6B3-1CB3-6570-96951486C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B69CFD3-A701-7242-2211-1A9E45D883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E5992CA-CD13-C6D3-2918-44E6E20DED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05268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1EE7704-F1E7-711D-160B-8FDDAB412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C0555CF-518E-C8D4-A57F-5EF06C6BF5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8482BA7-BF13-8178-A945-84403EDFE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E8E9330-C6E3-E1E2-502F-5869D862C4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1374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8FD0FCE-E951-1B5C-CC86-2BFE13B1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B568AD6-7BE6-685F-20E2-1EB24E27C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5F3BE4B-FE54-E335-6BCE-35C9C9798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A3DF8E8-6DA2-D356-D203-F1B117BF3A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4021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4F4EE96-9FD6-ABBC-3B0C-3C4A09B5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488C774-D563-70A3-B535-6DD452F4CB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DCD5F51-1365-70FF-67B0-640BC4D72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6A2A341-4EF4-7670-94BB-81A8C1C9D3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009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A2E93D8-F841-7BDE-5683-4E6071DC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6F28989-AF33-2711-3566-C356EC393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1550992-23C6-6BB7-9A02-CB27ECF2B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649662E-D22A-9165-CC18-F8AE7E7D22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0337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F079FBC-0705-D345-9F42-53754D29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5C9BF4E-2166-E0CF-B30C-43CA979A6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C9349AB-B53E-3ECB-E35E-8F221650D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EF84AAB-59DD-D3BE-43DF-0BDD78A24E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45836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A1CDDA3-F39B-395C-EF2B-7372193AB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14CE692-0BE1-C440-EBCF-89F591637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13A7A4E-BC9A-2CBA-C659-5F4E3F4BB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E581518-C717-C72A-A8CF-5263848E02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48010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5996D57-1DDC-EF36-BEB7-8E9EABC59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FC0E316-8039-1162-F003-63B4E6AE6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1BA68E7-8820-5365-AC56-A0E896923F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A8F0809-58A6-6E6F-D8E4-E2883B608E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6043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7B3A70B-BB4C-2479-1B1C-D2CF511C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117E3EC-3037-D971-262C-48E606DFCA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0752824-FE20-B929-A597-7050CFBB63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FFE6A38-585B-2484-935F-B76BCBB304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13064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90613F9-3A05-E503-86DF-5403D4A5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A66192A-7206-A5F7-35E0-F6AFE6C9D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67CF378-36B8-2F20-4312-B26A3FBB0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0FBEDAE-B712-7918-7C0A-26D510D061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296081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13B852F-6EC4-C6AD-4CD3-C15CEB9B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CFF6641-F004-5AB3-2197-3E25121AB3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E2B9697-4276-CEAB-889F-AF7144C50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FF9F3D4-D8BB-42A6-39DF-F283A71D50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24644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23E4FC7-79CC-E6E3-B30F-8FC45C9F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F36538F-C379-2194-DB3A-57FCEC8662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9F1E693-D086-8FF3-AB51-568ED63C4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D869BA5-B006-0289-562E-F12109FF38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827079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CB98D00-7645-4A36-6C7E-782ED05D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47CC025-CC7E-5FF6-0631-0B18A5782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8DF54D9-8C75-F1E2-7945-E942ED4963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30D010B-E571-0513-04E4-B7CAC6B889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813350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E67D4AB-5345-C202-2C50-8F2F43EE7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4BF1B5E-2CCA-08E6-1C75-64504861D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82BC6B7-5DCB-D8C1-70E5-680BA9310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250F2BB-00E2-69BF-19FF-4DB2DA81F2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576045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29A59E7-FEBF-4CB8-1271-317E1E9E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0FD2078-DE99-5848-F5E4-03C10D706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F07034A-376E-5399-6738-C20CD10BA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D3DA868-D05C-BE56-4EAD-C283F04BA8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24123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BF62036-0975-5FFD-33AB-8A4821BD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2F11BF0-73B8-D3E6-1231-F7B3CCD88F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96836D4-8746-EB95-45ED-EA4717FDAB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90505A0-BDE5-5C4A-7016-B2DA6D746E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5436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>
            <a:grpSpLocks noChangeAspect="1"/>
          </p:cNvGrpSpPr>
          <p:nvPr userDrawn="1"/>
        </p:nvGrpSpPr>
        <p:grpSpPr bwMode="auto">
          <a:xfrm>
            <a:off x="0" y="0"/>
            <a:ext cx="9144227" cy="6858000"/>
            <a:chOff x="5" y="0"/>
            <a:chExt cx="5750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" y="0"/>
              <a:ext cx="575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" y="288"/>
              <a:ext cx="2875" cy="1871"/>
            </a:xfrm>
            <a:custGeom>
              <a:avLst/>
              <a:gdLst>
                <a:gd name="T0" fmla="*/ 2875 w 2875"/>
                <a:gd name="T1" fmla="*/ 0 h 1871"/>
                <a:gd name="T2" fmla="*/ 2875 w 2875"/>
                <a:gd name="T3" fmla="*/ 1871 h 1871"/>
                <a:gd name="T4" fmla="*/ 0 w 2875"/>
                <a:gd name="T5" fmla="*/ 1871 h 1871"/>
                <a:gd name="T6" fmla="*/ 0 w 2875"/>
                <a:gd name="T7" fmla="*/ 0 h 1871"/>
                <a:gd name="T8" fmla="*/ 2875 w 2875"/>
                <a:gd name="T9" fmla="*/ 0 h 1871"/>
                <a:gd name="T10" fmla="*/ 2875 w 2875"/>
                <a:gd name="T11" fmla="*/ 0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1871">
                  <a:moveTo>
                    <a:pt x="2875" y="0"/>
                  </a:moveTo>
                  <a:lnTo>
                    <a:pt x="2875" y="1871"/>
                  </a:lnTo>
                  <a:lnTo>
                    <a:pt x="0" y="1871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3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2880" y="2159"/>
              <a:ext cx="2875" cy="2159"/>
            </a:xfrm>
            <a:custGeom>
              <a:avLst/>
              <a:gdLst>
                <a:gd name="T0" fmla="*/ 2875 w 2875"/>
                <a:gd name="T1" fmla="*/ 0 h 2159"/>
                <a:gd name="T2" fmla="*/ 2875 w 2875"/>
                <a:gd name="T3" fmla="*/ 1869 h 2159"/>
                <a:gd name="T4" fmla="*/ 290 w 2875"/>
                <a:gd name="T5" fmla="*/ 1869 h 2159"/>
                <a:gd name="T6" fmla="*/ 0 w 2875"/>
                <a:gd name="T7" fmla="*/ 2159 h 2159"/>
                <a:gd name="T8" fmla="*/ 0 w 2875"/>
                <a:gd name="T9" fmla="*/ 0 h 2159"/>
                <a:gd name="T10" fmla="*/ 2875 w 2875"/>
                <a:gd name="T11" fmla="*/ 0 h 2159"/>
                <a:gd name="T12" fmla="*/ 2875 w 2875"/>
                <a:gd name="T13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59">
                  <a:moveTo>
                    <a:pt x="2875" y="0"/>
                  </a:moveTo>
                  <a:lnTo>
                    <a:pt x="2875" y="1869"/>
                  </a:lnTo>
                  <a:lnTo>
                    <a:pt x="290" y="1869"/>
                  </a:lnTo>
                  <a:lnTo>
                    <a:pt x="0" y="2159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F212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5" y="2159"/>
              <a:ext cx="2875" cy="2155"/>
            </a:xfrm>
            <a:custGeom>
              <a:avLst/>
              <a:gdLst>
                <a:gd name="T0" fmla="*/ 2875 w 2875"/>
                <a:gd name="T1" fmla="*/ 0 h 2155"/>
                <a:gd name="T2" fmla="*/ 2875 w 2875"/>
                <a:gd name="T3" fmla="*/ 2155 h 2155"/>
                <a:gd name="T4" fmla="*/ 0 w 2875"/>
                <a:gd name="T5" fmla="*/ 2155 h 2155"/>
                <a:gd name="T6" fmla="*/ 0 w 2875"/>
                <a:gd name="T7" fmla="*/ 0 h 2155"/>
                <a:gd name="T8" fmla="*/ 2875 w 2875"/>
                <a:gd name="T9" fmla="*/ 0 h 2155"/>
                <a:gd name="T10" fmla="*/ 2875 w 2875"/>
                <a:gd name="T11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2155">
                  <a:moveTo>
                    <a:pt x="2875" y="0"/>
                  </a:moveTo>
                  <a:lnTo>
                    <a:pt x="2875" y="2155"/>
                  </a:lnTo>
                  <a:lnTo>
                    <a:pt x="0" y="2155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8C8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880" y="-2"/>
              <a:ext cx="2875" cy="2161"/>
            </a:xfrm>
            <a:custGeom>
              <a:avLst/>
              <a:gdLst>
                <a:gd name="T0" fmla="*/ 2875 w 2875"/>
                <a:gd name="T1" fmla="*/ 0 h 2161"/>
                <a:gd name="T2" fmla="*/ 2875 w 2875"/>
                <a:gd name="T3" fmla="*/ 2161 h 2161"/>
                <a:gd name="T4" fmla="*/ 0 w 2875"/>
                <a:gd name="T5" fmla="*/ 2161 h 2161"/>
                <a:gd name="T6" fmla="*/ 0 w 2875"/>
                <a:gd name="T7" fmla="*/ 290 h 2161"/>
                <a:gd name="T8" fmla="*/ 290 w 2875"/>
                <a:gd name="T9" fmla="*/ 0 h 2161"/>
                <a:gd name="T10" fmla="*/ 2875 w 2875"/>
                <a:gd name="T11" fmla="*/ 0 h 2161"/>
                <a:gd name="T12" fmla="*/ 2875 w 2875"/>
                <a:gd name="T13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61">
                  <a:moveTo>
                    <a:pt x="2875" y="0"/>
                  </a:moveTo>
                  <a:lnTo>
                    <a:pt x="2875" y="2161"/>
                  </a:lnTo>
                  <a:lnTo>
                    <a:pt x="0" y="2161"/>
                  </a:lnTo>
                  <a:lnTo>
                    <a:pt x="0" y="290"/>
                  </a:lnTo>
                  <a:lnTo>
                    <a:pt x="29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4659" y="234"/>
              <a:ext cx="182" cy="233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693" y="262"/>
              <a:ext cx="114" cy="149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4709" y="294"/>
              <a:ext cx="82" cy="97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4659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4695" y="503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4729" y="501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4759" y="503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4791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4821" y="503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4859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4887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0"/>
            <p:cNvSpPr>
              <a:spLocks noEditPoints="1"/>
            </p:cNvSpPr>
            <p:nvPr userDrawn="1"/>
          </p:nvSpPr>
          <p:spPr bwMode="auto">
            <a:xfrm>
              <a:off x="4897" y="503"/>
              <a:ext cx="33" cy="32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4936" y="503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4986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3"/>
            <p:cNvSpPr>
              <a:spLocks noEditPoints="1"/>
            </p:cNvSpPr>
            <p:nvPr userDrawn="1"/>
          </p:nvSpPr>
          <p:spPr bwMode="auto">
            <a:xfrm>
              <a:off x="5018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4"/>
            <p:cNvSpPr>
              <a:spLocks/>
            </p:cNvSpPr>
            <p:nvPr userDrawn="1"/>
          </p:nvSpPr>
          <p:spPr bwMode="auto">
            <a:xfrm>
              <a:off x="5050" y="503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auto">
            <a:xfrm>
              <a:off x="5082" y="503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26"/>
            <p:cNvSpPr>
              <a:spLocks noEditPoints="1"/>
            </p:cNvSpPr>
            <p:nvPr userDrawn="1"/>
          </p:nvSpPr>
          <p:spPr bwMode="auto">
            <a:xfrm>
              <a:off x="5116" y="501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27"/>
            <p:cNvSpPr>
              <a:spLocks/>
            </p:cNvSpPr>
            <p:nvPr userDrawn="1"/>
          </p:nvSpPr>
          <p:spPr bwMode="auto">
            <a:xfrm>
              <a:off x="5154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auto">
            <a:xfrm>
              <a:off x="5182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29"/>
            <p:cNvSpPr>
              <a:spLocks/>
            </p:cNvSpPr>
            <p:nvPr userDrawn="1"/>
          </p:nvSpPr>
          <p:spPr bwMode="auto">
            <a:xfrm>
              <a:off x="5192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auto">
            <a:xfrm>
              <a:off x="5244" y="503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auto">
            <a:xfrm>
              <a:off x="5280" y="503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2"/>
            <p:cNvSpPr>
              <a:spLocks/>
            </p:cNvSpPr>
            <p:nvPr userDrawn="1"/>
          </p:nvSpPr>
          <p:spPr bwMode="auto">
            <a:xfrm>
              <a:off x="5314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3"/>
            <p:cNvSpPr>
              <a:spLocks/>
            </p:cNvSpPr>
            <p:nvPr userDrawn="1"/>
          </p:nvSpPr>
          <p:spPr bwMode="auto">
            <a:xfrm>
              <a:off x="5326" y="503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4"/>
            <p:cNvSpPr>
              <a:spLocks/>
            </p:cNvSpPr>
            <p:nvPr userDrawn="1"/>
          </p:nvSpPr>
          <p:spPr bwMode="auto">
            <a:xfrm>
              <a:off x="5362" y="503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5"/>
            <p:cNvSpPr>
              <a:spLocks noEditPoints="1"/>
            </p:cNvSpPr>
            <p:nvPr userDrawn="1"/>
          </p:nvSpPr>
          <p:spPr bwMode="auto">
            <a:xfrm>
              <a:off x="5394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6"/>
            <p:cNvSpPr>
              <a:spLocks/>
            </p:cNvSpPr>
            <p:nvPr userDrawn="1"/>
          </p:nvSpPr>
          <p:spPr bwMode="auto">
            <a:xfrm>
              <a:off x="5424" y="501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7"/>
            <p:cNvSpPr>
              <a:spLocks/>
            </p:cNvSpPr>
            <p:nvPr userDrawn="1"/>
          </p:nvSpPr>
          <p:spPr bwMode="auto">
            <a:xfrm>
              <a:off x="5458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8"/>
            <p:cNvSpPr>
              <a:spLocks/>
            </p:cNvSpPr>
            <p:nvPr userDrawn="1"/>
          </p:nvSpPr>
          <p:spPr bwMode="auto">
            <a:xfrm>
              <a:off x="5470" y="503"/>
              <a:ext cx="53" cy="32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39"/>
            <p:cNvSpPr>
              <a:spLocks/>
            </p:cNvSpPr>
            <p:nvPr userDrawn="1"/>
          </p:nvSpPr>
          <p:spPr bwMode="auto">
            <a:xfrm>
              <a:off x="5340" y="234"/>
              <a:ext cx="183" cy="229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0"/>
            <p:cNvSpPr>
              <a:spLocks/>
            </p:cNvSpPr>
            <p:nvPr userDrawn="1"/>
          </p:nvSpPr>
          <p:spPr bwMode="auto">
            <a:xfrm>
              <a:off x="5096" y="230"/>
              <a:ext cx="212" cy="233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1"/>
            <p:cNvSpPr>
              <a:spLocks noEditPoints="1"/>
            </p:cNvSpPr>
            <p:nvPr userDrawn="1"/>
          </p:nvSpPr>
          <p:spPr bwMode="auto">
            <a:xfrm>
              <a:off x="4885" y="234"/>
              <a:ext cx="207" cy="225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3513" y="1366463"/>
            <a:ext cx="3770617" cy="1137024"/>
          </a:xfrm>
        </p:spPr>
        <p:txBody>
          <a:bodyPr anchor="b">
            <a:normAutofit/>
          </a:bodyPr>
          <a:lstStyle>
            <a:lvl1pPr algn="l"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03513" y="2503487"/>
            <a:ext cx="3770617" cy="599309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03800" y="39449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03800" y="42398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69901"/>
            <a:ext cx="4565649" cy="29527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3422650"/>
            <a:ext cx="4565649" cy="34353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7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4" y="2653276"/>
            <a:ext cx="1766125" cy="502731"/>
          </a:xfrm>
        </p:spPr>
        <p:txBody>
          <a:bodyPr/>
          <a:lstStyle>
            <a:lvl1pPr marL="0" indent="0">
              <a:buNone/>
              <a:defRPr sz="12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8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8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22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0" y="457200"/>
            <a:ext cx="4572114" cy="6388100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8C857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6"/>
          <p:cNvSpPr>
            <a:spLocks/>
          </p:cNvSpPr>
          <p:nvPr userDrawn="1"/>
        </p:nvSpPr>
        <p:spPr bwMode="auto">
          <a:xfrm>
            <a:off x="4572114" y="-3175"/>
            <a:ext cx="4572114" cy="6858000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48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038725" y="28486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2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387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3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387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84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387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86" name="Picture Placeholder 85"/>
          <p:cNvSpPr>
            <a:spLocks noGrp="1"/>
          </p:cNvSpPr>
          <p:nvPr userDrawn="1">
            <p:ph type="pic" sz="quarter" idx="12"/>
          </p:nvPr>
        </p:nvSpPr>
        <p:spPr>
          <a:xfrm>
            <a:off x="0" y="457200"/>
            <a:ext cx="4572000" cy="6388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77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0732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Freeform 5"/>
          <p:cNvSpPr>
            <a:spLocks/>
          </p:cNvSpPr>
          <p:nvPr userDrawn="1"/>
        </p:nvSpPr>
        <p:spPr bwMode="auto">
          <a:xfrm>
            <a:off x="0" y="457201"/>
            <a:ext cx="4572232" cy="6388107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F2120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Freeform 6"/>
          <p:cNvSpPr>
            <a:spLocks/>
          </p:cNvSpPr>
          <p:nvPr userDrawn="1"/>
        </p:nvSpPr>
        <p:spPr bwMode="auto">
          <a:xfrm>
            <a:off x="4572232" y="-3174"/>
            <a:ext cx="4572232" cy="6858007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"/>
            <a:ext cx="9144464" cy="685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04755" y="1054317"/>
            <a:ext cx="4247805" cy="4749367"/>
          </a:xfrm>
        </p:spPr>
        <p:txBody>
          <a:bodyPr lIns="0" tIns="0" rIns="0" bIns="0" anchor="ctr" anchorCtr="0">
            <a:noAutofit/>
          </a:bodyPr>
          <a:lstStyle>
            <a:lvl1pPr>
              <a:defRPr sz="37857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</a:t>
            </a:r>
            <a:endParaRPr lang="en-AU" dirty="0"/>
          </a:p>
        </p:txBody>
      </p:sp>
      <p:sp>
        <p:nvSpPr>
          <p:cNvPr id="47" name="Text Placeholder 4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74420" y="3246827"/>
            <a:ext cx="3092450" cy="357995"/>
          </a:xfrm>
        </p:spPr>
        <p:txBody>
          <a:bodyPr>
            <a:normAutofit/>
          </a:bodyPr>
          <a:lstStyle>
            <a:lvl1pPr marL="0" indent="0">
              <a:buNone/>
              <a:defRPr sz="199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title</a:t>
            </a:r>
          </a:p>
        </p:txBody>
      </p:sp>
      <p:grpSp>
        <p:nvGrpSpPr>
          <p:cNvPr id="82" name="Group 8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83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1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71533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7" name="Object 4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40871" y="689568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50" name="Text Placeholder 4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40871" y="1463720"/>
            <a:ext cx="8284029" cy="42725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52" name="Text Placeholder 5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0871" y="-8733"/>
            <a:ext cx="4343399" cy="462758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heading</a:t>
            </a:r>
          </a:p>
        </p:txBody>
      </p:sp>
      <p:sp>
        <p:nvSpPr>
          <p:cNvPr id="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  <p:sp>
        <p:nvSpPr>
          <p:cNvPr id="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Faculty of Business and Law | Peter Faber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27187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70735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2" name="Text Placeholder 45"/>
          <p:cNvSpPr>
            <a:spLocks noGrp="1"/>
          </p:cNvSpPr>
          <p:nvPr>
            <p:ph type="body" sz="quarter" idx="13" hasCustomPrompt="1"/>
          </p:nvPr>
        </p:nvSpPr>
        <p:spPr>
          <a:xfrm>
            <a:off x="440871" y="1339935"/>
            <a:ext cx="6734398" cy="507831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27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Title</a:t>
            </a:r>
          </a:p>
        </p:txBody>
      </p:sp>
      <p:sp>
        <p:nvSpPr>
          <p:cNvPr id="43" name="Text Placeholder 47"/>
          <p:cNvSpPr>
            <a:spLocks noGrp="1"/>
          </p:cNvSpPr>
          <p:nvPr>
            <p:ph type="body" sz="quarter" idx="14" hasCustomPrompt="1"/>
          </p:nvPr>
        </p:nvSpPr>
        <p:spPr>
          <a:xfrm>
            <a:off x="440872" y="2275570"/>
            <a:ext cx="8284028" cy="359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heading</a:t>
            </a:r>
          </a:p>
        </p:txBody>
      </p:sp>
      <p:sp>
        <p:nvSpPr>
          <p:cNvPr id="83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2640809"/>
            <a:ext cx="8284029" cy="30955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872246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20893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626054"/>
            <a:ext cx="3867150" cy="427194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51000"/>
            <a:ext cx="3887788" cy="424699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93049"/>
            <a:ext cx="6734398" cy="493981"/>
          </a:xfrm>
        </p:spPr>
        <p:txBody>
          <a:bodyPr>
            <a:sp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3887787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2895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888" y="1864188"/>
            <a:ext cx="7886700" cy="4070577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8929" y="1056579"/>
            <a:ext cx="6734398" cy="493981"/>
          </a:xfrm>
        </p:spPr>
        <p:txBody>
          <a:bodyPr>
            <a:norm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40636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hi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 userDrawn="1"/>
        </p:nvSpPr>
        <p:spPr bwMode="auto">
          <a:xfrm>
            <a:off x="7399338" y="371475"/>
            <a:ext cx="288925" cy="371475"/>
          </a:xfrm>
          <a:custGeom>
            <a:avLst/>
            <a:gdLst>
              <a:gd name="T0" fmla="*/ 91 w 91"/>
              <a:gd name="T1" fmla="*/ 0 h 117"/>
              <a:gd name="T2" fmla="*/ 91 w 91"/>
              <a:gd name="T3" fmla="*/ 51 h 117"/>
              <a:gd name="T4" fmla="*/ 46 w 91"/>
              <a:gd name="T5" fmla="*/ 117 h 117"/>
              <a:gd name="T6" fmla="*/ 0 w 91"/>
              <a:gd name="T7" fmla="*/ 51 h 117"/>
              <a:gd name="T8" fmla="*/ 0 w 91"/>
              <a:gd name="T9" fmla="*/ 0 h 117"/>
              <a:gd name="T10" fmla="*/ 91 w 91"/>
              <a:gd name="T11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117">
                <a:moveTo>
                  <a:pt x="91" y="0"/>
                </a:moveTo>
                <a:cubicBezTo>
                  <a:pt x="91" y="51"/>
                  <a:pt x="91" y="51"/>
                  <a:pt x="91" y="51"/>
                </a:cubicBezTo>
                <a:cubicBezTo>
                  <a:pt x="91" y="77"/>
                  <a:pt x="74" y="105"/>
                  <a:pt x="46" y="117"/>
                </a:cubicBezTo>
                <a:cubicBezTo>
                  <a:pt x="18" y="105"/>
                  <a:pt x="0" y="77"/>
                  <a:pt x="0" y="51"/>
                </a:cubicBezTo>
                <a:cubicBezTo>
                  <a:pt x="0" y="0"/>
                  <a:pt x="0" y="0"/>
                  <a:pt x="0" y="0"/>
                </a:cubicBezTo>
                <a:cubicBezTo>
                  <a:pt x="91" y="0"/>
                  <a:pt x="91" y="0"/>
                  <a:pt x="91" y="0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 userDrawn="1"/>
        </p:nvSpPr>
        <p:spPr bwMode="auto">
          <a:xfrm>
            <a:off x="7453313" y="415925"/>
            <a:ext cx="180975" cy="238125"/>
          </a:xfrm>
          <a:custGeom>
            <a:avLst/>
            <a:gdLst>
              <a:gd name="T0" fmla="*/ 0 w 114"/>
              <a:gd name="T1" fmla="*/ 74 h 150"/>
              <a:gd name="T2" fmla="*/ 58 w 114"/>
              <a:gd name="T3" fmla="*/ 0 h 150"/>
              <a:gd name="T4" fmla="*/ 114 w 114"/>
              <a:gd name="T5" fmla="*/ 74 h 150"/>
              <a:gd name="T6" fmla="*/ 58 w 114"/>
              <a:gd name="T7" fmla="*/ 150 h 150"/>
              <a:gd name="T8" fmla="*/ 0 w 114"/>
              <a:gd name="T9" fmla="*/ 74 h 150"/>
              <a:gd name="T10" fmla="*/ 0 w 114"/>
              <a:gd name="T11" fmla="*/ 74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" h="150">
                <a:moveTo>
                  <a:pt x="0" y="74"/>
                </a:moveTo>
                <a:lnTo>
                  <a:pt x="58" y="0"/>
                </a:lnTo>
                <a:lnTo>
                  <a:pt x="114" y="74"/>
                </a:lnTo>
                <a:lnTo>
                  <a:pt x="58" y="150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1"/>
          <p:cNvSpPr>
            <a:spLocks/>
          </p:cNvSpPr>
          <p:nvPr userDrawn="1"/>
        </p:nvSpPr>
        <p:spPr bwMode="auto">
          <a:xfrm>
            <a:off x="7478713" y="466725"/>
            <a:ext cx="130175" cy="155575"/>
          </a:xfrm>
          <a:custGeom>
            <a:avLst/>
            <a:gdLst>
              <a:gd name="T0" fmla="*/ 18 w 41"/>
              <a:gd name="T1" fmla="*/ 26 h 49"/>
              <a:gd name="T2" fmla="*/ 21 w 41"/>
              <a:gd name="T3" fmla="*/ 49 h 49"/>
              <a:gd name="T4" fmla="*/ 21 w 41"/>
              <a:gd name="T5" fmla="*/ 49 h 49"/>
              <a:gd name="T6" fmla="*/ 21 w 41"/>
              <a:gd name="T7" fmla="*/ 49 h 49"/>
              <a:gd name="T8" fmla="*/ 23 w 41"/>
              <a:gd name="T9" fmla="*/ 26 h 49"/>
              <a:gd name="T10" fmla="*/ 23 w 41"/>
              <a:gd name="T11" fmla="*/ 24 h 49"/>
              <a:gd name="T12" fmla="*/ 32 w 41"/>
              <a:gd name="T13" fmla="*/ 24 h 49"/>
              <a:gd name="T14" fmla="*/ 32 w 41"/>
              <a:gd name="T15" fmla="*/ 25 h 49"/>
              <a:gd name="T16" fmla="*/ 35 w 41"/>
              <a:gd name="T17" fmla="*/ 28 h 49"/>
              <a:gd name="T18" fmla="*/ 37 w 41"/>
              <a:gd name="T19" fmla="*/ 25 h 49"/>
              <a:gd name="T20" fmla="*/ 37 w 41"/>
              <a:gd name="T21" fmla="*/ 24 h 49"/>
              <a:gd name="T22" fmla="*/ 38 w 41"/>
              <a:gd name="T23" fmla="*/ 24 h 49"/>
              <a:gd name="T24" fmla="*/ 41 w 41"/>
              <a:gd name="T25" fmla="*/ 21 h 49"/>
              <a:gd name="T26" fmla="*/ 38 w 41"/>
              <a:gd name="T27" fmla="*/ 19 h 49"/>
              <a:gd name="T28" fmla="*/ 37 w 41"/>
              <a:gd name="T29" fmla="*/ 19 h 49"/>
              <a:gd name="T30" fmla="*/ 37 w 41"/>
              <a:gd name="T31" fmla="*/ 18 h 49"/>
              <a:gd name="T32" fmla="*/ 35 w 41"/>
              <a:gd name="T33" fmla="*/ 15 h 49"/>
              <a:gd name="T34" fmla="*/ 32 w 41"/>
              <a:gd name="T35" fmla="*/ 18 h 49"/>
              <a:gd name="T36" fmla="*/ 32 w 41"/>
              <a:gd name="T37" fmla="*/ 19 h 49"/>
              <a:gd name="T38" fmla="*/ 23 w 41"/>
              <a:gd name="T39" fmla="*/ 19 h 49"/>
              <a:gd name="T40" fmla="*/ 23 w 41"/>
              <a:gd name="T41" fmla="*/ 9 h 49"/>
              <a:gd name="T42" fmla="*/ 24 w 41"/>
              <a:gd name="T43" fmla="*/ 9 h 49"/>
              <a:gd name="T44" fmla="*/ 27 w 41"/>
              <a:gd name="T45" fmla="*/ 6 h 49"/>
              <a:gd name="T46" fmla="*/ 24 w 41"/>
              <a:gd name="T47" fmla="*/ 3 h 49"/>
              <a:gd name="T48" fmla="*/ 23 w 41"/>
              <a:gd name="T49" fmla="*/ 3 h 49"/>
              <a:gd name="T50" fmla="*/ 23 w 41"/>
              <a:gd name="T51" fmla="*/ 3 h 49"/>
              <a:gd name="T52" fmla="*/ 21 w 41"/>
              <a:gd name="T53" fmla="*/ 0 h 49"/>
              <a:gd name="T54" fmla="*/ 18 w 41"/>
              <a:gd name="T55" fmla="*/ 3 h 49"/>
              <a:gd name="T56" fmla="*/ 18 w 41"/>
              <a:gd name="T57" fmla="*/ 3 h 49"/>
              <a:gd name="T58" fmla="*/ 17 w 41"/>
              <a:gd name="T59" fmla="*/ 3 h 49"/>
              <a:gd name="T60" fmla="*/ 14 w 41"/>
              <a:gd name="T61" fmla="*/ 6 h 49"/>
              <a:gd name="T62" fmla="*/ 17 w 41"/>
              <a:gd name="T63" fmla="*/ 9 h 49"/>
              <a:gd name="T64" fmla="*/ 18 w 41"/>
              <a:gd name="T65" fmla="*/ 9 h 49"/>
              <a:gd name="T66" fmla="*/ 18 w 41"/>
              <a:gd name="T67" fmla="*/ 19 h 49"/>
              <a:gd name="T68" fmla="*/ 18 w 41"/>
              <a:gd name="T69" fmla="*/ 19 h 49"/>
              <a:gd name="T70" fmla="*/ 10 w 41"/>
              <a:gd name="T71" fmla="*/ 19 h 49"/>
              <a:gd name="T72" fmla="*/ 10 w 41"/>
              <a:gd name="T73" fmla="*/ 18 h 49"/>
              <a:gd name="T74" fmla="*/ 7 w 41"/>
              <a:gd name="T75" fmla="*/ 15 h 49"/>
              <a:gd name="T76" fmla="*/ 4 w 41"/>
              <a:gd name="T77" fmla="*/ 18 h 49"/>
              <a:gd name="T78" fmla="*/ 4 w 41"/>
              <a:gd name="T79" fmla="*/ 19 h 49"/>
              <a:gd name="T80" fmla="*/ 4 w 41"/>
              <a:gd name="T81" fmla="*/ 19 h 49"/>
              <a:gd name="T82" fmla="*/ 0 w 41"/>
              <a:gd name="T83" fmla="*/ 21 h 49"/>
              <a:gd name="T84" fmla="*/ 4 w 41"/>
              <a:gd name="T85" fmla="*/ 24 h 49"/>
              <a:gd name="T86" fmla="*/ 4 w 41"/>
              <a:gd name="T87" fmla="*/ 24 h 49"/>
              <a:gd name="T88" fmla="*/ 4 w 41"/>
              <a:gd name="T89" fmla="*/ 25 h 49"/>
              <a:gd name="T90" fmla="*/ 7 w 41"/>
              <a:gd name="T91" fmla="*/ 28 h 49"/>
              <a:gd name="T92" fmla="*/ 10 w 41"/>
              <a:gd name="T93" fmla="*/ 25 h 49"/>
              <a:gd name="T94" fmla="*/ 10 w 41"/>
              <a:gd name="T95" fmla="*/ 24 h 49"/>
              <a:gd name="T96" fmla="*/ 18 w 41"/>
              <a:gd name="T97" fmla="*/ 24 h 49"/>
              <a:gd name="T98" fmla="*/ 18 w 41"/>
              <a:gd name="T9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1" h="49">
                <a:moveTo>
                  <a:pt x="18" y="26"/>
                </a:moveTo>
                <a:cubicBezTo>
                  <a:pt x="18" y="36"/>
                  <a:pt x="20" y="48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8"/>
                  <a:pt x="23" y="3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6"/>
                  <a:pt x="33" y="28"/>
                  <a:pt x="35" y="28"/>
                </a:cubicBezTo>
                <a:cubicBezTo>
                  <a:pt x="36" y="28"/>
                  <a:pt x="37" y="26"/>
                  <a:pt x="37" y="25"/>
                </a:cubicBezTo>
                <a:cubicBezTo>
                  <a:pt x="37" y="24"/>
                  <a:pt x="37" y="24"/>
                  <a:pt x="37" y="24"/>
                </a:cubicBezTo>
                <a:cubicBezTo>
                  <a:pt x="38" y="24"/>
                  <a:pt x="38" y="24"/>
                  <a:pt x="38" y="24"/>
                </a:cubicBezTo>
                <a:cubicBezTo>
                  <a:pt x="39" y="24"/>
                  <a:pt x="41" y="23"/>
                  <a:pt x="41" y="21"/>
                </a:cubicBezTo>
                <a:cubicBezTo>
                  <a:pt x="41" y="20"/>
                  <a:pt x="39" y="19"/>
                  <a:pt x="38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7"/>
                  <a:pt x="36" y="15"/>
                  <a:pt x="35" y="15"/>
                </a:cubicBezTo>
                <a:cubicBezTo>
                  <a:pt x="33" y="15"/>
                  <a:pt x="32" y="17"/>
                  <a:pt x="32" y="18"/>
                </a:cubicBezTo>
                <a:cubicBezTo>
                  <a:pt x="32" y="19"/>
                  <a:pt x="32" y="19"/>
                  <a:pt x="3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9"/>
                  <a:pt x="23" y="9"/>
                  <a:pt x="2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5" y="9"/>
                  <a:pt x="27" y="8"/>
                  <a:pt x="27" y="6"/>
                </a:cubicBezTo>
                <a:cubicBezTo>
                  <a:pt x="27" y="5"/>
                  <a:pt x="25" y="3"/>
                  <a:pt x="24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2" y="0"/>
                  <a:pt x="21" y="0"/>
                </a:cubicBezTo>
                <a:cubicBezTo>
                  <a:pt x="19" y="0"/>
                  <a:pt x="18" y="1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6" y="3"/>
                  <a:pt x="14" y="5"/>
                  <a:pt x="14" y="6"/>
                </a:cubicBezTo>
                <a:cubicBezTo>
                  <a:pt x="14" y="8"/>
                  <a:pt x="16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8" y="15"/>
                  <a:pt x="7" y="15"/>
                </a:cubicBezTo>
                <a:cubicBezTo>
                  <a:pt x="5" y="15"/>
                  <a:pt x="4" y="17"/>
                  <a:pt x="4" y="18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2" y="19"/>
                  <a:pt x="0" y="20"/>
                  <a:pt x="0" y="21"/>
                </a:cubicBezTo>
                <a:cubicBezTo>
                  <a:pt x="0" y="23"/>
                  <a:pt x="2" y="24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6"/>
                  <a:pt x="5" y="28"/>
                  <a:pt x="7" y="28"/>
                </a:cubicBezTo>
                <a:cubicBezTo>
                  <a:pt x="8" y="28"/>
                  <a:pt x="10" y="26"/>
                  <a:pt x="10" y="25"/>
                </a:cubicBezTo>
                <a:cubicBezTo>
                  <a:pt x="10" y="24"/>
                  <a:pt x="10" y="24"/>
                  <a:pt x="10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6"/>
                  <a:pt x="18" y="26"/>
                  <a:pt x="18" y="26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2"/>
          <p:cNvSpPr>
            <a:spLocks noEditPoints="1"/>
          </p:cNvSpPr>
          <p:nvPr userDrawn="1"/>
        </p:nvSpPr>
        <p:spPr bwMode="auto">
          <a:xfrm>
            <a:off x="73993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10 w 34"/>
              <a:gd name="T9" fmla="*/ 26 h 32"/>
              <a:gd name="T10" fmla="*/ 26 w 34"/>
              <a:gd name="T11" fmla="*/ 26 h 32"/>
              <a:gd name="T12" fmla="*/ 30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2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10" y="26"/>
                </a:lnTo>
                <a:lnTo>
                  <a:pt x="26" y="26"/>
                </a:lnTo>
                <a:lnTo>
                  <a:pt x="30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2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 userDrawn="1"/>
        </p:nvSpPr>
        <p:spPr bwMode="auto">
          <a:xfrm>
            <a:off x="7456488" y="800100"/>
            <a:ext cx="44450" cy="50800"/>
          </a:xfrm>
          <a:custGeom>
            <a:avLst/>
            <a:gdLst>
              <a:gd name="T0" fmla="*/ 11 w 14"/>
              <a:gd name="T1" fmla="*/ 9 h 16"/>
              <a:gd name="T2" fmla="*/ 7 w 14"/>
              <a:gd name="T3" fmla="*/ 14 h 16"/>
              <a:gd name="T4" fmla="*/ 3 w 14"/>
              <a:gd name="T5" fmla="*/ 9 h 16"/>
              <a:gd name="T6" fmla="*/ 3 w 14"/>
              <a:gd name="T7" fmla="*/ 0 h 16"/>
              <a:gd name="T8" fmla="*/ 0 w 14"/>
              <a:gd name="T9" fmla="*/ 0 h 16"/>
              <a:gd name="T10" fmla="*/ 0 w 14"/>
              <a:gd name="T11" fmla="*/ 9 h 16"/>
              <a:gd name="T12" fmla="*/ 7 w 14"/>
              <a:gd name="T13" fmla="*/ 16 h 16"/>
              <a:gd name="T14" fmla="*/ 14 w 14"/>
              <a:gd name="T15" fmla="*/ 9 h 16"/>
              <a:gd name="T16" fmla="*/ 14 w 14"/>
              <a:gd name="T17" fmla="*/ 0 h 16"/>
              <a:gd name="T18" fmla="*/ 11 w 14"/>
              <a:gd name="T19" fmla="*/ 0 h 16"/>
              <a:gd name="T20" fmla="*/ 11 w 14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3" y="12"/>
                  <a:pt x="3" y="9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4" y="16"/>
                  <a:pt x="7" y="16"/>
                </a:cubicBezTo>
                <a:cubicBezTo>
                  <a:pt x="10" y="16"/>
                  <a:pt x="14" y="14"/>
                  <a:pt x="14" y="9"/>
                </a:cubicBezTo>
                <a:cubicBezTo>
                  <a:pt x="14" y="0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4"/>
          <p:cNvSpPr>
            <a:spLocks/>
          </p:cNvSpPr>
          <p:nvPr userDrawn="1"/>
        </p:nvSpPr>
        <p:spPr bwMode="auto">
          <a:xfrm>
            <a:off x="7510463" y="796925"/>
            <a:ext cx="41275" cy="53975"/>
          </a:xfrm>
          <a:custGeom>
            <a:avLst/>
            <a:gdLst>
              <a:gd name="T0" fmla="*/ 7 w 13"/>
              <a:gd name="T1" fmla="*/ 7 h 17"/>
              <a:gd name="T2" fmla="*/ 3 w 13"/>
              <a:gd name="T3" fmla="*/ 5 h 17"/>
              <a:gd name="T4" fmla="*/ 7 w 13"/>
              <a:gd name="T5" fmla="*/ 3 h 17"/>
              <a:gd name="T6" fmla="*/ 11 w 13"/>
              <a:gd name="T7" fmla="*/ 5 h 17"/>
              <a:gd name="T8" fmla="*/ 11 w 13"/>
              <a:gd name="T9" fmla="*/ 5 h 17"/>
              <a:gd name="T10" fmla="*/ 13 w 13"/>
              <a:gd name="T11" fmla="*/ 4 h 17"/>
              <a:gd name="T12" fmla="*/ 13 w 13"/>
              <a:gd name="T13" fmla="*/ 3 h 17"/>
              <a:gd name="T14" fmla="*/ 7 w 13"/>
              <a:gd name="T15" fmla="*/ 0 h 17"/>
              <a:gd name="T16" fmla="*/ 2 w 13"/>
              <a:gd name="T17" fmla="*/ 2 h 17"/>
              <a:gd name="T18" fmla="*/ 0 w 13"/>
              <a:gd name="T19" fmla="*/ 5 h 17"/>
              <a:gd name="T20" fmla="*/ 7 w 13"/>
              <a:gd name="T21" fmla="*/ 10 h 17"/>
              <a:gd name="T22" fmla="*/ 11 w 13"/>
              <a:gd name="T23" fmla="*/ 12 h 17"/>
              <a:gd name="T24" fmla="*/ 7 w 13"/>
              <a:gd name="T25" fmla="*/ 15 h 17"/>
              <a:gd name="T26" fmla="*/ 2 w 13"/>
              <a:gd name="T27" fmla="*/ 12 h 17"/>
              <a:gd name="T28" fmla="*/ 2 w 13"/>
              <a:gd name="T29" fmla="*/ 12 h 17"/>
              <a:gd name="T30" fmla="*/ 0 w 13"/>
              <a:gd name="T31" fmla="*/ 13 h 17"/>
              <a:gd name="T32" fmla="*/ 0 w 13"/>
              <a:gd name="T33" fmla="*/ 14 h 17"/>
              <a:gd name="T34" fmla="*/ 7 w 13"/>
              <a:gd name="T35" fmla="*/ 17 h 17"/>
              <a:gd name="T36" fmla="*/ 13 w 13"/>
              <a:gd name="T37" fmla="*/ 12 h 17"/>
              <a:gd name="T38" fmla="*/ 7 w 13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" h="17">
                <a:moveTo>
                  <a:pt x="7" y="7"/>
                </a:moveTo>
                <a:cubicBezTo>
                  <a:pt x="5" y="7"/>
                  <a:pt x="3" y="6"/>
                  <a:pt x="3" y="5"/>
                </a:cubicBezTo>
                <a:cubicBezTo>
                  <a:pt x="3" y="4"/>
                  <a:pt x="5" y="3"/>
                  <a:pt x="7" y="3"/>
                </a:cubicBezTo>
                <a:cubicBezTo>
                  <a:pt x="9" y="3"/>
                  <a:pt x="10" y="3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4"/>
                  <a:pt x="0" y="5"/>
                </a:cubicBezTo>
                <a:cubicBezTo>
                  <a:pt x="0" y="9"/>
                  <a:pt x="4" y="9"/>
                  <a:pt x="7" y="10"/>
                </a:cubicBezTo>
                <a:cubicBezTo>
                  <a:pt x="9" y="10"/>
                  <a:pt x="11" y="11"/>
                  <a:pt x="11" y="12"/>
                </a:cubicBezTo>
                <a:cubicBezTo>
                  <a:pt x="11" y="15"/>
                  <a:pt x="8" y="15"/>
                  <a:pt x="7" y="15"/>
                </a:cubicBezTo>
                <a:cubicBezTo>
                  <a:pt x="5" y="15"/>
                  <a:pt x="3" y="14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1" y="16"/>
                  <a:pt x="3" y="17"/>
                  <a:pt x="7" y="17"/>
                </a:cubicBezTo>
                <a:cubicBezTo>
                  <a:pt x="10" y="17"/>
                  <a:pt x="13" y="16"/>
                  <a:pt x="13" y="12"/>
                </a:cubicBezTo>
                <a:cubicBezTo>
                  <a:pt x="13" y="9"/>
                  <a:pt x="10" y="8"/>
                  <a:pt x="7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5"/>
          <p:cNvSpPr>
            <a:spLocks/>
          </p:cNvSpPr>
          <p:nvPr userDrawn="1"/>
        </p:nvSpPr>
        <p:spPr bwMode="auto">
          <a:xfrm>
            <a:off x="7558088" y="800100"/>
            <a:ext cx="41275" cy="50800"/>
          </a:xfrm>
          <a:custGeom>
            <a:avLst/>
            <a:gdLst>
              <a:gd name="T0" fmla="*/ 0 w 26"/>
              <a:gd name="T1" fmla="*/ 4 h 32"/>
              <a:gd name="T2" fmla="*/ 10 w 26"/>
              <a:gd name="T3" fmla="*/ 4 h 32"/>
              <a:gd name="T4" fmla="*/ 10 w 26"/>
              <a:gd name="T5" fmla="*/ 32 h 32"/>
              <a:gd name="T6" fmla="*/ 16 w 26"/>
              <a:gd name="T7" fmla="*/ 32 h 32"/>
              <a:gd name="T8" fmla="*/ 16 w 26"/>
              <a:gd name="T9" fmla="*/ 4 h 32"/>
              <a:gd name="T10" fmla="*/ 26 w 26"/>
              <a:gd name="T11" fmla="*/ 4 h 32"/>
              <a:gd name="T12" fmla="*/ 26 w 26"/>
              <a:gd name="T13" fmla="*/ 0 h 32"/>
              <a:gd name="T14" fmla="*/ 0 w 26"/>
              <a:gd name="T15" fmla="*/ 0 h 32"/>
              <a:gd name="T16" fmla="*/ 0 w 26"/>
              <a:gd name="T17" fmla="*/ 4 h 32"/>
              <a:gd name="T18" fmla="*/ 0 w 26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2">
                <a:moveTo>
                  <a:pt x="0" y="4"/>
                </a:move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26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6"/>
          <p:cNvSpPr>
            <a:spLocks noEditPoints="1"/>
          </p:cNvSpPr>
          <p:nvPr userDrawn="1"/>
        </p:nvSpPr>
        <p:spPr bwMode="auto">
          <a:xfrm>
            <a:off x="760888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0 w 14"/>
              <a:gd name="T15" fmla="*/ 16 h 16"/>
              <a:gd name="T16" fmla="*/ 14 w 14"/>
              <a:gd name="T17" fmla="*/ 16 h 16"/>
              <a:gd name="T18" fmla="*/ 8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0" y="16"/>
                  <a:pt x="10" y="16"/>
                  <a:pt x="10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8" y="10"/>
                  <a:pt x="8" y="10"/>
                  <a:pt x="8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7"/>
          <p:cNvSpPr>
            <a:spLocks noEditPoints="1"/>
          </p:cNvSpPr>
          <p:nvPr userDrawn="1"/>
        </p:nvSpPr>
        <p:spPr bwMode="auto">
          <a:xfrm>
            <a:off x="7656513" y="800100"/>
            <a:ext cx="53975" cy="50800"/>
          </a:xfrm>
          <a:custGeom>
            <a:avLst/>
            <a:gdLst>
              <a:gd name="T0" fmla="*/ 18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4 w 34"/>
              <a:gd name="T7" fmla="*/ 32 h 32"/>
              <a:gd name="T8" fmla="*/ 8 w 34"/>
              <a:gd name="T9" fmla="*/ 26 h 32"/>
              <a:gd name="T10" fmla="*/ 24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18 w 34"/>
              <a:gd name="T19" fmla="*/ 0 h 32"/>
              <a:gd name="T20" fmla="*/ 18 w 34"/>
              <a:gd name="T21" fmla="*/ 0 h 32"/>
              <a:gd name="T22" fmla="*/ 22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2 w 34"/>
              <a:gd name="T29" fmla="*/ 20 h 32"/>
              <a:gd name="T30" fmla="*/ 22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18" y="0"/>
                </a:moveTo>
                <a:lnTo>
                  <a:pt x="14" y="0"/>
                </a:lnTo>
                <a:lnTo>
                  <a:pt x="0" y="32"/>
                </a:lnTo>
                <a:lnTo>
                  <a:pt x="4" y="32"/>
                </a:lnTo>
                <a:lnTo>
                  <a:pt x="8" y="26"/>
                </a:lnTo>
                <a:lnTo>
                  <a:pt x="24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18" y="0"/>
                </a:lnTo>
                <a:lnTo>
                  <a:pt x="18" y="0"/>
                </a:lnTo>
                <a:close/>
                <a:moveTo>
                  <a:pt x="22" y="20"/>
                </a:moveTo>
                <a:lnTo>
                  <a:pt x="10" y="20"/>
                </a:lnTo>
                <a:lnTo>
                  <a:pt x="16" y="6"/>
                </a:lnTo>
                <a:lnTo>
                  <a:pt x="22" y="20"/>
                </a:lnTo>
                <a:lnTo>
                  <a:pt x="22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8"/>
          <p:cNvSpPr>
            <a:spLocks/>
          </p:cNvSpPr>
          <p:nvPr userDrawn="1"/>
        </p:nvSpPr>
        <p:spPr bwMode="auto">
          <a:xfrm>
            <a:off x="77168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9"/>
          <p:cNvSpPr>
            <a:spLocks/>
          </p:cNvSpPr>
          <p:nvPr userDrawn="1"/>
        </p:nvSpPr>
        <p:spPr bwMode="auto">
          <a:xfrm>
            <a:off x="77612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 userDrawn="1"/>
        </p:nvSpPr>
        <p:spPr bwMode="auto">
          <a:xfrm>
            <a:off x="7777163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1"/>
          <p:cNvSpPr>
            <a:spLocks/>
          </p:cNvSpPr>
          <p:nvPr userDrawn="1"/>
        </p:nvSpPr>
        <p:spPr bwMode="auto">
          <a:xfrm>
            <a:off x="7840663" y="800100"/>
            <a:ext cx="41275" cy="50800"/>
          </a:xfrm>
          <a:custGeom>
            <a:avLst/>
            <a:gdLst>
              <a:gd name="T0" fmla="*/ 22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2 w 26"/>
              <a:gd name="T19" fmla="*/ 0 h 32"/>
              <a:gd name="T20" fmla="*/ 22 w 26"/>
              <a:gd name="T21" fmla="*/ 22 h 32"/>
              <a:gd name="T22" fmla="*/ 22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2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2" y="0"/>
                </a:lnTo>
                <a:lnTo>
                  <a:pt x="22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2"/>
          <p:cNvSpPr>
            <a:spLocks/>
          </p:cNvSpPr>
          <p:nvPr userDrawn="1"/>
        </p:nvSpPr>
        <p:spPr bwMode="auto">
          <a:xfrm>
            <a:off x="7920038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2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4" y="15"/>
                  <a:pt x="3" y="12"/>
                  <a:pt x="3" y="9"/>
                </a:cubicBezTo>
                <a:cubicBezTo>
                  <a:pt x="3" y="6"/>
                  <a:pt x="4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2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3"/>
          <p:cNvSpPr>
            <a:spLocks noEditPoints="1"/>
          </p:cNvSpPr>
          <p:nvPr userDrawn="1"/>
        </p:nvSpPr>
        <p:spPr bwMode="auto">
          <a:xfrm>
            <a:off x="79708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6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4"/>
          <p:cNvSpPr>
            <a:spLocks/>
          </p:cNvSpPr>
          <p:nvPr userDrawn="1"/>
        </p:nvSpPr>
        <p:spPr bwMode="auto">
          <a:xfrm>
            <a:off x="8021638" y="800100"/>
            <a:ext cx="44450" cy="50800"/>
          </a:xfrm>
          <a:custGeom>
            <a:avLst/>
            <a:gdLst>
              <a:gd name="T0" fmla="*/ 0 w 28"/>
              <a:gd name="T1" fmla="*/ 4 h 32"/>
              <a:gd name="T2" fmla="*/ 12 w 28"/>
              <a:gd name="T3" fmla="*/ 4 h 32"/>
              <a:gd name="T4" fmla="*/ 12 w 28"/>
              <a:gd name="T5" fmla="*/ 32 h 32"/>
              <a:gd name="T6" fmla="*/ 16 w 28"/>
              <a:gd name="T7" fmla="*/ 32 h 32"/>
              <a:gd name="T8" fmla="*/ 16 w 28"/>
              <a:gd name="T9" fmla="*/ 4 h 32"/>
              <a:gd name="T10" fmla="*/ 28 w 28"/>
              <a:gd name="T11" fmla="*/ 4 h 32"/>
              <a:gd name="T12" fmla="*/ 28 w 28"/>
              <a:gd name="T13" fmla="*/ 0 h 32"/>
              <a:gd name="T14" fmla="*/ 0 w 28"/>
              <a:gd name="T15" fmla="*/ 0 h 32"/>
              <a:gd name="T16" fmla="*/ 0 w 28"/>
              <a:gd name="T17" fmla="*/ 4 h 32"/>
              <a:gd name="T18" fmla="*/ 0 w 28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" h="32">
                <a:moveTo>
                  <a:pt x="0" y="4"/>
                </a:moveTo>
                <a:lnTo>
                  <a:pt x="12" y="4"/>
                </a:lnTo>
                <a:lnTo>
                  <a:pt x="12" y="32"/>
                </a:lnTo>
                <a:lnTo>
                  <a:pt x="16" y="32"/>
                </a:lnTo>
                <a:lnTo>
                  <a:pt x="16" y="4"/>
                </a:lnTo>
                <a:lnTo>
                  <a:pt x="28" y="4"/>
                </a:lnTo>
                <a:lnTo>
                  <a:pt x="28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5"/>
          <p:cNvSpPr>
            <a:spLocks/>
          </p:cNvSpPr>
          <p:nvPr userDrawn="1"/>
        </p:nvSpPr>
        <p:spPr bwMode="auto">
          <a:xfrm>
            <a:off x="8072438" y="800100"/>
            <a:ext cx="44450" cy="50800"/>
          </a:xfrm>
          <a:custGeom>
            <a:avLst/>
            <a:gdLst>
              <a:gd name="T0" fmla="*/ 22 w 28"/>
              <a:gd name="T1" fmla="*/ 12 h 32"/>
              <a:gd name="T2" fmla="*/ 6 w 28"/>
              <a:gd name="T3" fmla="*/ 12 h 32"/>
              <a:gd name="T4" fmla="*/ 6 w 28"/>
              <a:gd name="T5" fmla="*/ 0 h 32"/>
              <a:gd name="T6" fmla="*/ 0 w 28"/>
              <a:gd name="T7" fmla="*/ 0 h 32"/>
              <a:gd name="T8" fmla="*/ 0 w 28"/>
              <a:gd name="T9" fmla="*/ 32 h 32"/>
              <a:gd name="T10" fmla="*/ 6 w 28"/>
              <a:gd name="T11" fmla="*/ 32 h 32"/>
              <a:gd name="T12" fmla="*/ 6 w 28"/>
              <a:gd name="T13" fmla="*/ 18 h 32"/>
              <a:gd name="T14" fmla="*/ 22 w 28"/>
              <a:gd name="T15" fmla="*/ 18 h 32"/>
              <a:gd name="T16" fmla="*/ 22 w 28"/>
              <a:gd name="T17" fmla="*/ 32 h 32"/>
              <a:gd name="T18" fmla="*/ 28 w 28"/>
              <a:gd name="T19" fmla="*/ 32 h 32"/>
              <a:gd name="T20" fmla="*/ 28 w 28"/>
              <a:gd name="T21" fmla="*/ 0 h 32"/>
              <a:gd name="T22" fmla="*/ 22 w 28"/>
              <a:gd name="T23" fmla="*/ 0 h 32"/>
              <a:gd name="T24" fmla="*/ 22 w 28"/>
              <a:gd name="T25" fmla="*/ 12 h 32"/>
              <a:gd name="T26" fmla="*/ 22 w 28"/>
              <a:gd name="T27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32">
                <a:moveTo>
                  <a:pt x="22" y="12"/>
                </a:move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6" y="32"/>
                </a:lnTo>
                <a:lnTo>
                  <a:pt x="6" y="18"/>
                </a:lnTo>
                <a:lnTo>
                  <a:pt x="22" y="18"/>
                </a:lnTo>
                <a:lnTo>
                  <a:pt x="22" y="32"/>
                </a:lnTo>
                <a:lnTo>
                  <a:pt x="28" y="32"/>
                </a:lnTo>
                <a:lnTo>
                  <a:pt x="28" y="0"/>
                </a:lnTo>
                <a:lnTo>
                  <a:pt x="22" y="0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6"/>
          <p:cNvSpPr>
            <a:spLocks noEditPoints="1"/>
          </p:cNvSpPr>
          <p:nvPr userDrawn="1"/>
        </p:nvSpPr>
        <p:spPr bwMode="auto">
          <a:xfrm>
            <a:off x="8126413" y="796925"/>
            <a:ext cx="50800" cy="53975"/>
          </a:xfrm>
          <a:custGeom>
            <a:avLst/>
            <a:gdLst>
              <a:gd name="T0" fmla="*/ 8 w 16"/>
              <a:gd name="T1" fmla="*/ 0 h 17"/>
              <a:gd name="T2" fmla="*/ 0 w 16"/>
              <a:gd name="T3" fmla="*/ 9 h 17"/>
              <a:gd name="T4" fmla="*/ 8 w 16"/>
              <a:gd name="T5" fmla="*/ 17 h 17"/>
              <a:gd name="T6" fmla="*/ 16 w 16"/>
              <a:gd name="T7" fmla="*/ 9 h 17"/>
              <a:gd name="T8" fmla="*/ 8 w 16"/>
              <a:gd name="T9" fmla="*/ 0 h 17"/>
              <a:gd name="T10" fmla="*/ 8 w 16"/>
              <a:gd name="T11" fmla="*/ 15 h 17"/>
              <a:gd name="T12" fmla="*/ 2 w 16"/>
              <a:gd name="T13" fmla="*/ 9 h 17"/>
              <a:gd name="T14" fmla="*/ 8 w 16"/>
              <a:gd name="T15" fmla="*/ 3 h 17"/>
              <a:gd name="T16" fmla="*/ 14 w 16"/>
              <a:gd name="T17" fmla="*/ 9 h 17"/>
              <a:gd name="T18" fmla="*/ 8 w 16"/>
              <a:gd name="T19" fmla="*/ 1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7">
                <a:moveTo>
                  <a:pt x="8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3"/>
                  <a:pt x="2" y="17"/>
                  <a:pt x="8" y="17"/>
                </a:cubicBezTo>
                <a:cubicBezTo>
                  <a:pt x="14" y="17"/>
                  <a:pt x="16" y="13"/>
                  <a:pt x="16" y="9"/>
                </a:cubicBezTo>
                <a:cubicBezTo>
                  <a:pt x="16" y="5"/>
                  <a:pt x="14" y="0"/>
                  <a:pt x="8" y="0"/>
                </a:cubicBezTo>
                <a:close/>
                <a:moveTo>
                  <a:pt x="8" y="15"/>
                </a:moveTo>
                <a:cubicBezTo>
                  <a:pt x="4" y="15"/>
                  <a:pt x="2" y="12"/>
                  <a:pt x="2" y="9"/>
                </a:cubicBezTo>
                <a:cubicBezTo>
                  <a:pt x="2" y="6"/>
                  <a:pt x="4" y="3"/>
                  <a:pt x="8" y="3"/>
                </a:cubicBezTo>
                <a:cubicBezTo>
                  <a:pt x="12" y="3"/>
                  <a:pt x="14" y="6"/>
                  <a:pt x="14" y="9"/>
                </a:cubicBezTo>
                <a:cubicBezTo>
                  <a:pt x="14" y="12"/>
                  <a:pt x="12" y="15"/>
                  <a:pt x="8" y="15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7"/>
          <p:cNvSpPr>
            <a:spLocks/>
          </p:cNvSpPr>
          <p:nvPr userDrawn="1"/>
        </p:nvSpPr>
        <p:spPr bwMode="auto">
          <a:xfrm>
            <a:off x="81867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8"/>
          <p:cNvSpPr>
            <a:spLocks/>
          </p:cNvSpPr>
          <p:nvPr userDrawn="1"/>
        </p:nvSpPr>
        <p:spPr bwMode="auto">
          <a:xfrm>
            <a:off x="82311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29"/>
          <p:cNvSpPr>
            <a:spLocks/>
          </p:cNvSpPr>
          <p:nvPr userDrawn="1"/>
        </p:nvSpPr>
        <p:spPr bwMode="auto">
          <a:xfrm>
            <a:off x="8247063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3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5" y="15"/>
                  <a:pt x="3" y="12"/>
                  <a:pt x="3" y="9"/>
                </a:cubicBezTo>
                <a:cubicBezTo>
                  <a:pt x="3" y="6"/>
                  <a:pt x="5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3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0"/>
          <p:cNvSpPr>
            <a:spLocks/>
          </p:cNvSpPr>
          <p:nvPr userDrawn="1"/>
        </p:nvSpPr>
        <p:spPr bwMode="auto">
          <a:xfrm>
            <a:off x="8329613" y="800100"/>
            <a:ext cx="41275" cy="50800"/>
          </a:xfrm>
          <a:custGeom>
            <a:avLst/>
            <a:gdLst>
              <a:gd name="T0" fmla="*/ 11 w 13"/>
              <a:gd name="T1" fmla="*/ 9 h 16"/>
              <a:gd name="T2" fmla="*/ 7 w 13"/>
              <a:gd name="T3" fmla="*/ 14 h 16"/>
              <a:gd name="T4" fmla="*/ 2 w 13"/>
              <a:gd name="T5" fmla="*/ 9 h 16"/>
              <a:gd name="T6" fmla="*/ 2 w 13"/>
              <a:gd name="T7" fmla="*/ 0 h 16"/>
              <a:gd name="T8" fmla="*/ 0 w 13"/>
              <a:gd name="T9" fmla="*/ 0 h 16"/>
              <a:gd name="T10" fmla="*/ 0 w 13"/>
              <a:gd name="T11" fmla="*/ 9 h 16"/>
              <a:gd name="T12" fmla="*/ 7 w 13"/>
              <a:gd name="T13" fmla="*/ 16 h 16"/>
              <a:gd name="T14" fmla="*/ 13 w 13"/>
              <a:gd name="T15" fmla="*/ 9 h 16"/>
              <a:gd name="T16" fmla="*/ 13 w 13"/>
              <a:gd name="T17" fmla="*/ 0 h 16"/>
              <a:gd name="T18" fmla="*/ 11 w 13"/>
              <a:gd name="T19" fmla="*/ 0 h 16"/>
              <a:gd name="T20" fmla="*/ 11 w 13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2" y="12"/>
                  <a:pt x="2" y="9"/>
                </a:cubicBezTo>
                <a:cubicBezTo>
                  <a:pt x="2" y="0"/>
                  <a:pt x="2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3" y="16"/>
                  <a:pt x="7" y="16"/>
                </a:cubicBezTo>
                <a:cubicBezTo>
                  <a:pt x="10" y="16"/>
                  <a:pt x="13" y="14"/>
                  <a:pt x="13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1"/>
          <p:cNvSpPr>
            <a:spLocks/>
          </p:cNvSpPr>
          <p:nvPr userDrawn="1"/>
        </p:nvSpPr>
        <p:spPr bwMode="auto">
          <a:xfrm>
            <a:off x="8386763" y="800100"/>
            <a:ext cx="41275" cy="50800"/>
          </a:xfrm>
          <a:custGeom>
            <a:avLst/>
            <a:gdLst>
              <a:gd name="T0" fmla="*/ 20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0 w 26"/>
              <a:gd name="T19" fmla="*/ 0 h 32"/>
              <a:gd name="T20" fmla="*/ 20 w 26"/>
              <a:gd name="T21" fmla="*/ 22 h 32"/>
              <a:gd name="T22" fmla="*/ 20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0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0" y="0"/>
                </a:lnTo>
                <a:lnTo>
                  <a:pt x="20" y="22"/>
                </a:lnTo>
                <a:lnTo>
                  <a:pt x="20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2"/>
          <p:cNvSpPr>
            <a:spLocks/>
          </p:cNvSpPr>
          <p:nvPr userDrawn="1"/>
        </p:nvSpPr>
        <p:spPr bwMode="auto">
          <a:xfrm>
            <a:off x="84407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3"/>
          <p:cNvSpPr>
            <a:spLocks/>
          </p:cNvSpPr>
          <p:nvPr userDrawn="1"/>
        </p:nvSpPr>
        <p:spPr bwMode="auto">
          <a:xfrm>
            <a:off x="8459788" y="800100"/>
            <a:ext cx="50800" cy="50800"/>
          </a:xfrm>
          <a:custGeom>
            <a:avLst/>
            <a:gdLst>
              <a:gd name="T0" fmla="*/ 6 w 32"/>
              <a:gd name="T1" fmla="*/ 0 h 32"/>
              <a:gd name="T2" fmla="*/ 0 w 32"/>
              <a:gd name="T3" fmla="*/ 0 h 32"/>
              <a:gd name="T4" fmla="*/ 12 w 32"/>
              <a:gd name="T5" fmla="*/ 32 h 32"/>
              <a:gd name="T6" fmla="*/ 18 w 32"/>
              <a:gd name="T7" fmla="*/ 32 h 32"/>
              <a:gd name="T8" fmla="*/ 32 w 32"/>
              <a:gd name="T9" fmla="*/ 0 h 32"/>
              <a:gd name="T10" fmla="*/ 26 w 32"/>
              <a:gd name="T11" fmla="*/ 0 h 32"/>
              <a:gd name="T12" fmla="*/ 16 w 32"/>
              <a:gd name="T13" fmla="*/ 26 h 32"/>
              <a:gd name="T14" fmla="*/ 6 w 32"/>
              <a:gd name="T15" fmla="*/ 0 h 32"/>
              <a:gd name="T16" fmla="*/ 6 w 32"/>
              <a:gd name="T1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2">
                <a:moveTo>
                  <a:pt x="6" y="0"/>
                </a:moveTo>
                <a:lnTo>
                  <a:pt x="0" y="0"/>
                </a:lnTo>
                <a:lnTo>
                  <a:pt x="12" y="32"/>
                </a:lnTo>
                <a:lnTo>
                  <a:pt x="18" y="32"/>
                </a:lnTo>
                <a:lnTo>
                  <a:pt x="32" y="0"/>
                </a:lnTo>
                <a:lnTo>
                  <a:pt x="26" y="0"/>
                </a:lnTo>
                <a:lnTo>
                  <a:pt x="16" y="26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4"/>
          <p:cNvSpPr>
            <a:spLocks/>
          </p:cNvSpPr>
          <p:nvPr userDrawn="1"/>
        </p:nvSpPr>
        <p:spPr bwMode="auto">
          <a:xfrm>
            <a:off x="8516938" y="800100"/>
            <a:ext cx="38100" cy="50800"/>
          </a:xfrm>
          <a:custGeom>
            <a:avLst/>
            <a:gdLst>
              <a:gd name="T0" fmla="*/ 6 w 24"/>
              <a:gd name="T1" fmla="*/ 18 h 32"/>
              <a:gd name="T2" fmla="*/ 24 w 24"/>
              <a:gd name="T3" fmla="*/ 18 h 32"/>
              <a:gd name="T4" fmla="*/ 24 w 24"/>
              <a:gd name="T5" fmla="*/ 12 h 32"/>
              <a:gd name="T6" fmla="*/ 6 w 24"/>
              <a:gd name="T7" fmla="*/ 12 h 32"/>
              <a:gd name="T8" fmla="*/ 6 w 24"/>
              <a:gd name="T9" fmla="*/ 4 h 32"/>
              <a:gd name="T10" fmla="*/ 24 w 24"/>
              <a:gd name="T11" fmla="*/ 4 h 32"/>
              <a:gd name="T12" fmla="*/ 24 w 24"/>
              <a:gd name="T13" fmla="*/ 0 h 32"/>
              <a:gd name="T14" fmla="*/ 0 w 24"/>
              <a:gd name="T15" fmla="*/ 0 h 32"/>
              <a:gd name="T16" fmla="*/ 0 w 24"/>
              <a:gd name="T17" fmla="*/ 32 h 32"/>
              <a:gd name="T18" fmla="*/ 24 w 24"/>
              <a:gd name="T19" fmla="*/ 32 h 32"/>
              <a:gd name="T20" fmla="*/ 24 w 24"/>
              <a:gd name="T21" fmla="*/ 26 h 32"/>
              <a:gd name="T22" fmla="*/ 6 w 24"/>
              <a:gd name="T23" fmla="*/ 26 h 32"/>
              <a:gd name="T24" fmla="*/ 6 w 24"/>
              <a:gd name="T25" fmla="*/ 18 h 32"/>
              <a:gd name="T26" fmla="*/ 6 w 24"/>
              <a:gd name="T27" fmla="*/ 1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2">
                <a:moveTo>
                  <a:pt x="6" y="18"/>
                </a:moveTo>
                <a:lnTo>
                  <a:pt x="24" y="18"/>
                </a:lnTo>
                <a:lnTo>
                  <a:pt x="24" y="12"/>
                </a:lnTo>
                <a:lnTo>
                  <a:pt x="6" y="12"/>
                </a:lnTo>
                <a:lnTo>
                  <a:pt x="6" y="4"/>
                </a:lnTo>
                <a:lnTo>
                  <a:pt x="24" y="4"/>
                </a:lnTo>
                <a:lnTo>
                  <a:pt x="24" y="0"/>
                </a:lnTo>
                <a:lnTo>
                  <a:pt x="0" y="0"/>
                </a:lnTo>
                <a:lnTo>
                  <a:pt x="0" y="32"/>
                </a:lnTo>
                <a:lnTo>
                  <a:pt x="24" y="32"/>
                </a:lnTo>
                <a:lnTo>
                  <a:pt x="24" y="26"/>
                </a:lnTo>
                <a:lnTo>
                  <a:pt x="6" y="26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5"/>
          <p:cNvSpPr>
            <a:spLocks noEditPoints="1"/>
          </p:cNvSpPr>
          <p:nvPr userDrawn="1"/>
        </p:nvSpPr>
        <p:spPr bwMode="auto">
          <a:xfrm>
            <a:off x="856773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1 w 14"/>
              <a:gd name="T15" fmla="*/ 16 h 16"/>
              <a:gd name="T16" fmla="*/ 14 w 14"/>
              <a:gd name="T17" fmla="*/ 16 h 16"/>
              <a:gd name="T18" fmla="*/ 9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1" y="16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9" y="10"/>
                  <a:pt x="9" y="10"/>
                  <a:pt x="9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6"/>
          <p:cNvSpPr>
            <a:spLocks/>
          </p:cNvSpPr>
          <p:nvPr userDrawn="1"/>
        </p:nvSpPr>
        <p:spPr bwMode="auto">
          <a:xfrm>
            <a:off x="8615363" y="796925"/>
            <a:ext cx="44450" cy="53975"/>
          </a:xfrm>
          <a:custGeom>
            <a:avLst/>
            <a:gdLst>
              <a:gd name="T0" fmla="*/ 8 w 14"/>
              <a:gd name="T1" fmla="*/ 7 h 17"/>
              <a:gd name="T2" fmla="*/ 4 w 14"/>
              <a:gd name="T3" fmla="*/ 5 h 17"/>
              <a:gd name="T4" fmla="*/ 7 w 14"/>
              <a:gd name="T5" fmla="*/ 3 h 17"/>
              <a:gd name="T6" fmla="*/ 12 w 14"/>
              <a:gd name="T7" fmla="*/ 5 h 17"/>
              <a:gd name="T8" fmla="*/ 12 w 14"/>
              <a:gd name="T9" fmla="*/ 5 h 17"/>
              <a:gd name="T10" fmla="*/ 14 w 14"/>
              <a:gd name="T11" fmla="*/ 4 h 17"/>
              <a:gd name="T12" fmla="*/ 14 w 14"/>
              <a:gd name="T13" fmla="*/ 3 h 17"/>
              <a:gd name="T14" fmla="*/ 7 w 14"/>
              <a:gd name="T15" fmla="*/ 0 h 17"/>
              <a:gd name="T16" fmla="*/ 2 w 14"/>
              <a:gd name="T17" fmla="*/ 2 h 17"/>
              <a:gd name="T18" fmla="*/ 1 w 14"/>
              <a:gd name="T19" fmla="*/ 5 h 17"/>
              <a:gd name="T20" fmla="*/ 7 w 14"/>
              <a:gd name="T21" fmla="*/ 10 h 17"/>
              <a:gd name="T22" fmla="*/ 12 w 14"/>
              <a:gd name="T23" fmla="*/ 12 h 17"/>
              <a:gd name="T24" fmla="*/ 7 w 14"/>
              <a:gd name="T25" fmla="*/ 15 h 17"/>
              <a:gd name="T26" fmla="*/ 3 w 14"/>
              <a:gd name="T27" fmla="*/ 12 h 17"/>
              <a:gd name="T28" fmla="*/ 2 w 14"/>
              <a:gd name="T29" fmla="*/ 12 h 17"/>
              <a:gd name="T30" fmla="*/ 0 w 14"/>
              <a:gd name="T31" fmla="*/ 13 h 17"/>
              <a:gd name="T32" fmla="*/ 0 w 14"/>
              <a:gd name="T33" fmla="*/ 14 h 17"/>
              <a:gd name="T34" fmla="*/ 7 w 14"/>
              <a:gd name="T35" fmla="*/ 17 h 17"/>
              <a:gd name="T36" fmla="*/ 14 w 14"/>
              <a:gd name="T37" fmla="*/ 12 h 17"/>
              <a:gd name="T38" fmla="*/ 8 w 14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" h="17">
                <a:moveTo>
                  <a:pt x="8" y="7"/>
                </a:moveTo>
                <a:cubicBezTo>
                  <a:pt x="5" y="7"/>
                  <a:pt x="4" y="6"/>
                  <a:pt x="4" y="5"/>
                </a:cubicBezTo>
                <a:cubicBezTo>
                  <a:pt x="4" y="4"/>
                  <a:pt x="5" y="3"/>
                  <a:pt x="7" y="3"/>
                </a:cubicBezTo>
                <a:cubicBezTo>
                  <a:pt x="9" y="3"/>
                  <a:pt x="11" y="3"/>
                  <a:pt x="12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ubicBezTo>
                  <a:pt x="12" y="1"/>
                  <a:pt x="10" y="0"/>
                  <a:pt x="7" y="0"/>
                </a:cubicBezTo>
                <a:cubicBezTo>
                  <a:pt x="6" y="0"/>
                  <a:pt x="3" y="1"/>
                  <a:pt x="2" y="2"/>
                </a:cubicBezTo>
                <a:cubicBezTo>
                  <a:pt x="1" y="3"/>
                  <a:pt x="1" y="4"/>
                  <a:pt x="1" y="5"/>
                </a:cubicBezTo>
                <a:cubicBezTo>
                  <a:pt x="1" y="9"/>
                  <a:pt x="5" y="9"/>
                  <a:pt x="7" y="10"/>
                </a:cubicBezTo>
                <a:cubicBezTo>
                  <a:pt x="10" y="10"/>
                  <a:pt x="12" y="11"/>
                  <a:pt x="12" y="12"/>
                </a:cubicBezTo>
                <a:cubicBezTo>
                  <a:pt x="12" y="15"/>
                  <a:pt x="8" y="15"/>
                  <a:pt x="7" y="15"/>
                </a:cubicBezTo>
                <a:cubicBezTo>
                  <a:pt x="6" y="15"/>
                  <a:pt x="4" y="14"/>
                  <a:pt x="3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6"/>
                  <a:pt x="4" y="17"/>
                  <a:pt x="7" y="17"/>
                </a:cubicBezTo>
                <a:cubicBezTo>
                  <a:pt x="11" y="17"/>
                  <a:pt x="14" y="16"/>
                  <a:pt x="14" y="12"/>
                </a:cubicBezTo>
                <a:cubicBezTo>
                  <a:pt x="14" y="9"/>
                  <a:pt x="11" y="8"/>
                  <a:pt x="8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7"/>
          <p:cNvSpPr>
            <a:spLocks/>
          </p:cNvSpPr>
          <p:nvPr userDrawn="1"/>
        </p:nvSpPr>
        <p:spPr bwMode="auto">
          <a:xfrm>
            <a:off x="86693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8"/>
          <p:cNvSpPr>
            <a:spLocks/>
          </p:cNvSpPr>
          <p:nvPr userDrawn="1"/>
        </p:nvSpPr>
        <p:spPr bwMode="auto">
          <a:xfrm>
            <a:off x="8688388" y="800100"/>
            <a:ext cx="85725" cy="50800"/>
          </a:xfrm>
          <a:custGeom>
            <a:avLst/>
            <a:gdLst>
              <a:gd name="T0" fmla="*/ 30 w 54"/>
              <a:gd name="T1" fmla="*/ 0 h 32"/>
              <a:gd name="T2" fmla="*/ 0 w 54"/>
              <a:gd name="T3" fmla="*/ 0 h 32"/>
              <a:gd name="T4" fmla="*/ 0 w 54"/>
              <a:gd name="T5" fmla="*/ 4 h 32"/>
              <a:gd name="T6" fmla="*/ 10 w 54"/>
              <a:gd name="T7" fmla="*/ 4 h 32"/>
              <a:gd name="T8" fmla="*/ 10 w 54"/>
              <a:gd name="T9" fmla="*/ 32 h 32"/>
              <a:gd name="T10" fmla="*/ 16 w 54"/>
              <a:gd name="T11" fmla="*/ 32 h 32"/>
              <a:gd name="T12" fmla="*/ 16 w 54"/>
              <a:gd name="T13" fmla="*/ 4 h 32"/>
              <a:gd name="T14" fmla="*/ 26 w 54"/>
              <a:gd name="T15" fmla="*/ 4 h 32"/>
              <a:gd name="T16" fmla="*/ 36 w 54"/>
              <a:gd name="T17" fmla="*/ 18 h 32"/>
              <a:gd name="T18" fmla="*/ 36 w 54"/>
              <a:gd name="T19" fmla="*/ 32 h 32"/>
              <a:gd name="T20" fmla="*/ 42 w 54"/>
              <a:gd name="T21" fmla="*/ 32 h 32"/>
              <a:gd name="T22" fmla="*/ 42 w 54"/>
              <a:gd name="T23" fmla="*/ 18 h 32"/>
              <a:gd name="T24" fmla="*/ 54 w 54"/>
              <a:gd name="T25" fmla="*/ 0 h 32"/>
              <a:gd name="T26" fmla="*/ 54 w 54"/>
              <a:gd name="T27" fmla="*/ 0 h 32"/>
              <a:gd name="T28" fmla="*/ 54 w 54"/>
              <a:gd name="T29" fmla="*/ 0 h 32"/>
              <a:gd name="T30" fmla="*/ 48 w 54"/>
              <a:gd name="T31" fmla="*/ 0 h 32"/>
              <a:gd name="T32" fmla="*/ 38 w 54"/>
              <a:gd name="T33" fmla="*/ 14 h 32"/>
              <a:gd name="T34" fmla="*/ 30 w 54"/>
              <a:gd name="T35" fmla="*/ 0 h 32"/>
              <a:gd name="T36" fmla="*/ 30 w 54"/>
              <a:gd name="T3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32">
                <a:moveTo>
                  <a:pt x="30" y="0"/>
                </a:moveTo>
                <a:lnTo>
                  <a:pt x="0" y="0"/>
                </a:lnTo>
                <a:lnTo>
                  <a:pt x="0" y="4"/>
                </a:ln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36" y="18"/>
                </a:lnTo>
                <a:lnTo>
                  <a:pt x="36" y="32"/>
                </a:lnTo>
                <a:lnTo>
                  <a:pt x="42" y="32"/>
                </a:lnTo>
                <a:lnTo>
                  <a:pt x="42" y="18"/>
                </a:lnTo>
                <a:lnTo>
                  <a:pt x="54" y="0"/>
                </a:lnTo>
                <a:lnTo>
                  <a:pt x="54" y="0"/>
                </a:lnTo>
                <a:lnTo>
                  <a:pt x="54" y="0"/>
                </a:lnTo>
                <a:lnTo>
                  <a:pt x="48" y="0"/>
                </a:lnTo>
                <a:lnTo>
                  <a:pt x="38" y="14"/>
                </a:lnTo>
                <a:lnTo>
                  <a:pt x="30" y="0"/>
                </a:lnTo>
                <a:lnTo>
                  <a:pt x="30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39"/>
          <p:cNvSpPr>
            <a:spLocks/>
          </p:cNvSpPr>
          <p:nvPr userDrawn="1"/>
        </p:nvSpPr>
        <p:spPr bwMode="auto">
          <a:xfrm>
            <a:off x="8482013" y="371475"/>
            <a:ext cx="292100" cy="365125"/>
          </a:xfrm>
          <a:custGeom>
            <a:avLst/>
            <a:gdLst>
              <a:gd name="T0" fmla="*/ 92 w 92"/>
              <a:gd name="T1" fmla="*/ 0 h 115"/>
              <a:gd name="T2" fmla="*/ 92 w 92"/>
              <a:gd name="T3" fmla="*/ 71 h 115"/>
              <a:gd name="T4" fmla="*/ 49 w 92"/>
              <a:gd name="T5" fmla="*/ 115 h 115"/>
              <a:gd name="T6" fmla="*/ 0 w 92"/>
              <a:gd name="T7" fmla="*/ 70 h 115"/>
              <a:gd name="T8" fmla="*/ 0 w 92"/>
              <a:gd name="T9" fmla="*/ 0 h 115"/>
              <a:gd name="T10" fmla="*/ 22 w 92"/>
              <a:gd name="T11" fmla="*/ 0 h 115"/>
              <a:gd name="T12" fmla="*/ 22 w 92"/>
              <a:gd name="T13" fmla="*/ 72 h 115"/>
              <a:gd name="T14" fmla="*/ 50 w 92"/>
              <a:gd name="T15" fmla="*/ 105 h 115"/>
              <a:gd name="T16" fmla="*/ 79 w 92"/>
              <a:gd name="T17" fmla="*/ 73 h 115"/>
              <a:gd name="T18" fmla="*/ 79 w 92"/>
              <a:gd name="T19" fmla="*/ 0 h 115"/>
              <a:gd name="T20" fmla="*/ 92 w 92"/>
              <a:gd name="T21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115">
                <a:moveTo>
                  <a:pt x="92" y="0"/>
                </a:moveTo>
                <a:cubicBezTo>
                  <a:pt x="92" y="71"/>
                  <a:pt x="92" y="71"/>
                  <a:pt x="92" y="71"/>
                </a:cubicBezTo>
                <a:cubicBezTo>
                  <a:pt x="92" y="109"/>
                  <a:pt x="62" y="115"/>
                  <a:pt x="49" y="115"/>
                </a:cubicBezTo>
                <a:cubicBezTo>
                  <a:pt x="25" y="115"/>
                  <a:pt x="0" y="107"/>
                  <a:pt x="0" y="70"/>
                </a:cubicBezTo>
                <a:cubicBezTo>
                  <a:pt x="0" y="0"/>
                  <a:pt x="0" y="0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2"/>
                  <a:pt x="22" y="72"/>
                  <a:pt x="22" y="72"/>
                </a:cubicBezTo>
                <a:cubicBezTo>
                  <a:pt x="22" y="93"/>
                  <a:pt x="32" y="105"/>
                  <a:pt x="50" y="105"/>
                </a:cubicBezTo>
                <a:cubicBezTo>
                  <a:pt x="66" y="105"/>
                  <a:pt x="79" y="95"/>
                  <a:pt x="79" y="73"/>
                </a:cubicBezTo>
                <a:cubicBezTo>
                  <a:pt x="79" y="0"/>
                  <a:pt x="79" y="0"/>
                  <a:pt x="79" y="0"/>
                </a:cubicBezTo>
                <a:cubicBezTo>
                  <a:pt x="92" y="0"/>
                  <a:pt x="92" y="0"/>
                  <a:pt x="92" y="0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0"/>
          <p:cNvSpPr>
            <a:spLocks/>
          </p:cNvSpPr>
          <p:nvPr userDrawn="1"/>
        </p:nvSpPr>
        <p:spPr bwMode="auto">
          <a:xfrm>
            <a:off x="8094663" y="365125"/>
            <a:ext cx="336550" cy="371475"/>
          </a:xfrm>
          <a:custGeom>
            <a:avLst/>
            <a:gdLst>
              <a:gd name="T0" fmla="*/ 61 w 106"/>
              <a:gd name="T1" fmla="*/ 117 h 117"/>
              <a:gd name="T2" fmla="*/ 0 w 106"/>
              <a:gd name="T3" fmla="*/ 60 h 117"/>
              <a:gd name="T4" fmla="*/ 63 w 106"/>
              <a:gd name="T5" fmla="*/ 0 h 117"/>
              <a:gd name="T6" fmla="*/ 97 w 106"/>
              <a:gd name="T7" fmla="*/ 13 h 117"/>
              <a:gd name="T8" fmla="*/ 106 w 106"/>
              <a:gd name="T9" fmla="*/ 28 h 117"/>
              <a:gd name="T10" fmla="*/ 94 w 106"/>
              <a:gd name="T11" fmla="*/ 39 h 117"/>
              <a:gd name="T12" fmla="*/ 83 w 106"/>
              <a:gd name="T13" fmla="*/ 28 h 117"/>
              <a:gd name="T14" fmla="*/ 86 w 106"/>
              <a:gd name="T15" fmla="*/ 20 h 117"/>
              <a:gd name="T16" fmla="*/ 63 w 106"/>
              <a:gd name="T17" fmla="*/ 10 h 117"/>
              <a:gd name="T18" fmla="*/ 21 w 106"/>
              <a:gd name="T19" fmla="*/ 58 h 117"/>
              <a:gd name="T20" fmla="*/ 65 w 106"/>
              <a:gd name="T21" fmla="*/ 108 h 117"/>
              <a:gd name="T22" fmla="*/ 102 w 106"/>
              <a:gd name="T23" fmla="*/ 93 h 117"/>
              <a:gd name="T24" fmla="*/ 106 w 106"/>
              <a:gd name="T25" fmla="*/ 99 h 117"/>
              <a:gd name="T26" fmla="*/ 61 w 106"/>
              <a:gd name="T2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6" h="117">
                <a:moveTo>
                  <a:pt x="61" y="117"/>
                </a:moveTo>
                <a:cubicBezTo>
                  <a:pt x="23" y="117"/>
                  <a:pt x="0" y="91"/>
                  <a:pt x="0" y="60"/>
                </a:cubicBezTo>
                <a:cubicBezTo>
                  <a:pt x="0" y="29"/>
                  <a:pt x="24" y="0"/>
                  <a:pt x="63" y="0"/>
                </a:cubicBezTo>
                <a:cubicBezTo>
                  <a:pt x="74" y="0"/>
                  <a:pt x="88" y="4"/>
                  <a:pt x="97" y="13"/>
                </a:cubicBezTo>
                <a:cubicBezTo>
                  <a:pt x="102" y="16"/>
                  <a:pt x="106" y="23"/>
                  <a:pt x="106" y="28"/>
                </a:cubicBezTo>
                <a:cubicBezTo>
                  <a:pt x="106" y="34"/>
                  <a:pt x="101" y="39"/>
                  <a:pt x="94" y="39"/>
                </a:cubicBezTo>
                <a:cubicBezTo>
                  <a:pt x="88" y="39"/>
                  <a:pt x="83" y="34"/>
                  <a:pt x="83" y="28"/>
                </a:cubicBezTo>
                <a:cubicBezTo>
                  <a:pt x="83" y="25"/>
                  <a:pt x="84" y="22"/>
                  <a:pt x="86" y="20"/>
                </a:cubicBezTo>
                <a:cubicBezTo>
                  <a:pt x="81" y="14"/>
                  <a:pt x="71" y="10"/>
                  <a:pt x="63" y="10"/>
                </a:cubicBezTo>
                <a:cubicBezTo>
                  <a:pt x="36" y="10"/>
                  <a:pt x="21" y="35"/>
                  <a:pt x="21" y="58"/>
                </a:cubicBezTo>
                <a:cubicBezTo>
                  <a:pt x="21" y="85"/>
                  <a:pt x="38" y="108"/>
                  <a:pt x="65" y="108"/>
                </a:cubicBezTo>
                <a:cubicBezTo>
                  <a:pt x="79" y="108"/>
                  <a:pt x="90" y="102"/>
                  <a:pt x="102" y="93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94" y="111"/>
                  <a:pt x="77" y="117"/>
                  <a:pt x="61" y="11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1"/>
          <p:cNvSpPr>
            <a:spLocks noEditPoints="1"/>
          </p:cNvSpPr>
          <p:nvPr userDrawn="1"/>
        </p:nvSpPr>
        <p:spPr bwMode="auto">
          <a:xfrm>
            <a:off x="7758113" y="371475"/>
            <a:ext cx="330200" cy="358775"/>
          </a:xfrm>
          <a:custGeom>
            <a:avLst/>
            <a:gdLst>
              <a:gd name="T0" fmla="*/ 164 w 208"/>
              <a:gd name="T1" fmla="*/ 226 h 226"/>
              <a:gd name="T2" fmla="*/ 208 w 208"/>
              <a:gd name="T3" fmla="*/ 226 h 226"/>
              <a:gd name="T4" fmla="*/ 120 w 208"/>
              <a:gd name="T5" fmla="*/ 0 h 226"/>
              <a:gd name="T6" fmla="*/ 86 w 208"/>
              <a:gd name="T7" fmla="*/ 0 h 226"/>
              <a:gd name="T8" fmla="*/ 0 w 208"/>
              <a:gd name="T9" fmla="*/ 226 h 226"/>
              <a:gd name="T10" fmla="*/ 22 w 208"/>
              <a:gd name="T11" fmla="*/ 226 h 226"/>
              <a:gd name="T12" fmla="*/ 48 w 208"/>
              <a:gd name="T13" fmla="*/ 162 h 226"/>
              <a:gd name="T14" fmla="*/ 140 w 208"/>
              <a:gd name="T15" fmla="*/ 162 h 226"/>
              <a:gd name="T16" fmla="*/ 164 w 208"/>
              <a:gd name="T17" fmla="*/ 226 h 226"/>
              <a:gd name="T18" fmla="*/ 164 w 208"/>
              <a:gd name="T19" fmla="*/ 226 h 226"/>
              <a:gd name="T20" fmla="*/ 54 w 208"/>
              <a:gd name="T21" fmla="*/ 142 h 226"/>
              <a:gd name="T22" fmla="*/ 94 w 208"/>
              <a:gd name="T23" fmla="*/ 36 h 226"/>
              <a:gd name="T24" fmla="*/ 134 w 208"/>
              <a:gd name="T25" fmla="*/ 142 h 226"/>
              <a:gd name="T26" fmla="*/ 54 w 208"/>
              <a:gd name="T27" fmla="*/ 142 h 226"/>
              <a:gd name="T28" fmla="*/ 54 w 208"/>
              <a:gd name="T29" fmla="*/ 142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8" h="226">
                <a:moveTo>
                  <a:pt x="164" y="226"/>
                </a:moveTo>
                <a:lnTo>
                  <a:pt x="208" y="226"/>
                </a:lnTo>
                <a:lnTo>
                  <a:pt x="120" y="0"/>
                </a:lnTo>
                <a:lnTo>
                  <a:pt x="86" y="0"/>
                </a:lnTo>
                <a:lnTo>
                  <a:pt x="0" y="226"/>
                </a:lnTo>
                <a:lnTo>
                  <a:pt x="22" y="226"/>
                </a:lnTo>
                <a:lnTo>
                  <a:pt x="48" y="162"/>
                </a:lnTo>
                <a:lnTo>
                  <a:pt x="140" y="162"/>
                </a:lnTo>
                <a:lnTo>
                  <a:pt x="164" y="226"/>
                </a:lnTo>
                <a:lnTo>
                  <a:pt x="164" y="226"/>
                </a:lnTo>
                <a:close/>
                <a:moveTo>
                  <a:pt x="54" y="142"/>
                </a:moveTo>
                <a:lnTo>
                  <a:pt x="94" y="36"/>
                </a:lnTo>
                <a:lnTo>
                  <a:pt x="134" y="142"/>
                </a:lnTo>
                <a:lnTo>
                  <a:pt x="54" y="142"/>
                </a:lnTo>
                <a:lnTo>
                  <a:pt x="54" y="14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9237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ith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0794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1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6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1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6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472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3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9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3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00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1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1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2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3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43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00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35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2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9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7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7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3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67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70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7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43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67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6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0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1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5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1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468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6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32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02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48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9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12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606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9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4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7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2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4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1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58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02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5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8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2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69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"/>
            <a:ext cx="11328385" cy="691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2"/>
          <p:cNvGrpSpPr/>
          <p:nvPr/>
        </p:nvGrpSpPr>
        <p:grpSpPr>
          <a:xfrm>
            <a:off x="22" y="4740126"/>
            <a:ext cx="7314320" cy="1169029"/>
            <a:chOff x="-11" y="1378677"/>
            <a:chExt cx="7314320" cy="4116300"/>
          </a:xfrm>
        </p:grpSpPr>
        <p:sp>
          <p:nvSpPr>
            <p:cNvPr id="41" name="Google Shape;41;p2"/>
            <p:cNvSpPr/>
            <p:nvPr/>
          </p:nvSpPr>
          <p:spPr>
            <a:xfrm flipH="1">
              <a:off x="-11" y="1378677"/>
              <a:ext cx="187800" cy="41163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7809" y="1378677"/>
              <a:ext cx="7126500" cy="4116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414375" y="4842443"/>
            <a:ext cx="6400800" cy="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2015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59" name="Google Shape;59;p5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93916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46" name="Google Shape;46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457200" y="1704688"/>
            <a:ext cx="8229600" cy="4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810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r>
              <a:rPr spc="240" dirty="0"/>
              <a:t> </a:t>
            </a:r>
            <a:r>
              <a:rPr dirty="0"/>
              <a:t>|</a:t>
            </a:r>
            <a:r>
              <a:rPr spc="409" dirty="0"/>
              <a:t> </a:t>
            </a:r>
            <a:r>
              <a:rPr dirty="0"/>
              <a:t>Directorate</a:t>
            </a:r>
            <a:r>
              <a:rPr spc="-20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dirty="0"/>
              <a:t>Office</a:t>
            </a:r>
            <a:r>
              <a:rPr spc="-20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dirty="0"/>
              <a:t>Faculty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r>
              <a:rPr spc="-10" dirty="0"/>
              <a:t>School</a:t>
            </a:r>
          </a:p>
        </p:txBody>
      </p:sp>
    </p:spTree>
    <p:extLst>
      <p:ext uri="{BB962C8B-B14F-4D97-AF65-F5344CB8AC3E}">
        <p14:creationId xmlns:p14="http://schemas.microsoft.com/office/powerpoint/2010/main" val="411829408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628A-7B10-1144-B563-9F7D35EB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B5F27-03B0-0645-8735-8C6D1CD55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image" Target="../media/image1.emf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tags" Target="../tags/tag2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7"/>
            </p:custDataLst>
            <p:extLst>
              <p:ext uri="{D42A27DB-BD31-4B8C-83A1-F6EECF244321}">
                <p14:modId xmlns:p14="http://schemas.microsoft.com/office/powerpoint/2010/main" val="3475696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8" imgW="347" imgH="348" progId="TCLayout.ActiveDocument.1">
                  <p:embed/>
                </p:oleObj>
              </mc:Choice>
              <mc:Fallback>
                <p:oleObj name="think-cell Slide" r:id="rId88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7" name="Group 4"/>
          <p:cNvGrpSpPr>
            <a:grpSpLocks noChangeAspect="1"/>
          </p:cNvGrpSpPr>
          <p:nvPr userDrawn="1"/>
        </p:nvGrpSpPr>
        <p:grpSpPr bwMode="auto">
          <a:xfrm>
            <a:off x="1588" y="0"/>
            <a:ext cx="9140825" cy="6858000"/>
            <a:chOff x="1" y="0"/>
            <a:chExt cx="5758" cy="4320"/>
          </a:xfrm>
        </p:grpSpPr>
        <p:sp>
          <p:nvSpPr>
            <p:cNvPr id="88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1" y="0"/>
              <a:ext cx="575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6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7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8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9"/>
            <p:cNvSpPr>
              <a:spLocks/>
            </p:cNvSpPr>
            <p:nvPr userDrawn="1"/>
          </p:nvSpPr>
          <p:spPr bwMode="auto">
            <a:xfrm>
              <a:off x="4661" y="234"/>
              <a:ext cx="182" cy="234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0"/>
            <p:cNvSpPr>
              <a:spLocks/>
            </p:cNvSpPr>
            <p:nvPr userDrawn="1"/>
          </p:nvSpPr>
          <p:spPr bwMode="auto">
            <a:xfrm>
              <a:off x="4695" y="262"/>
              <a:ext cx="114" cy="150"/>
            </a:xfrm>
            <a:custGeom>
              <a:avLst/>
              <a:gdLst>
                <a:gd name="T0" fmla="*/ 0 w 114"/>
                <a:gd name="T1" fmla="*/ 74 h 150"/>
                <a:gd name="T2" fmla="*/ 58 w 114"/>
                <a:gd name="T3" fmla="*/ 0 h 150"/>
                <a:gd name="T4" fmla="*/ 114 w 114"/>
                <a:gd name="T5" fmla="*/ 74 h 150"/>
                <a:gd name="T6" fmla="*/ 58 w 114"/>
                <a:gd name="T7" fmla="*/ 150 h 150"/>
                <a:gd name="T8" fmla="*/ 0 w 114"/>
                <a:gd name="T9" fmla="*/ 74 h 150"/>
                <a:gd name="T10" fmla="*/ 0 w 114"/>
                <a:gd name="T11" fmla="*/ 7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50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50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1"/>
            <p:cNvSpPr>
              <a:spLocks/>
            </p:cNvSpPr>
            <p:nvPr userDrawn="1"/>
          </p:nvSpPr>
          <p:spPr bwMode="auto">
            <a:xfrm>
              <a:off x="4711" y="294"/>
              <a:ext cx="82" cy="9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12"/>
            <p:cNvSpPr>
              <a:spLocks noEditPoints="1"/>
            </p:cNvSpPr>
            <p:nvPr userDrawn="1"/>
          </p:nvSpPr>
          <p:spPr bwMode="auto">
            <a:xfrm>
              <a:off x="466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13"/>
            <p:cNvSpPr>
              <a:spLocks/>
            </p:cNvSpPr>
            <p:nvPr userDrawn="1"/>
          </p:nvSpPr>
          <p:spPr bwMode="auto">
            <a:xfrm>
              <a:off x="4697" y="504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14"/>
            <p:cNvSpPr>
              <a:spLocks/>
            </p:cNvSpPr>
            <p:nvPr userDrawn="1"/>
          </p:nvSpPr>
          <p:spPr bwMode="auto">
            <a:xfrm>
              <a:off x="4731" y="502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15"/>
            <p:cNvSpPr>
              <a:spLocks/>
            </p:cNvSpPr>
            <p:nvPr userDrawn="1"/>
          </p:nvSpPr>
          <p:spPr bwMode="auto">
            <a:xfrm>
              <a:off x="4761" y="504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16"/>
            <p:cNvSpPr>
              <a:spLocks noEditPoints="1"/>
            </p:cNvSpPr>
            <p:nvPr userDrawn="1"/>
          </p:nvSpPr>
          <p:spPr bwMode="auto">
            <a:xfrm>
              <a:off x="4793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7"/>
            <p:cNvSpPr>
              <a:spLocks noEditPoints="1"/>
            </p:cNvSpPr>
            <p:nvPr userDrawn="1"/>
          </p:nvSpPr>
          <p:spPr bwMode="auto">
            <a:xfrm>
              <a:off x="4823" y="504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18"/>
            <p:cNvSpPr>
              <a:spLocks/>
            </p:cNvSpPr>
            <p:nvPr userDrawn="1"/>
          </p:nvSpPr>
          <p:spPr bwMode="auto">
            <a:xfrm>
              <a:off x="4861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19"/>
            <p:cNvSpPr>
              <a:spLocks/>
            </p:cNvSpPr>
            <p:nvPr userDrawn="1"/>
          </p:nvSpPr>
          <p:spPr bwMode="auto">
            <a:xfrm>
              <a:off x="4889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0"/>
            <p:cNvSpPr>
              <a:spLocks noEditPoints="1"/>
            </p:cNvSpPr>
            <p:nvPr userDrawn="1"/>
          </p:nvSpPr>
          <p:spPr bwMode="auto">
            <a:xfrm>
              <a:off x="4899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1"/>
            <p:cNvSpPr>
              <a:spLocks/>
            </p:cNvSpPr>
            <p:nvPr userDrawn="1"/>
          </p:nvSpPr>
          <p:spPr bwMode="auto">
            <a:xfrm>
              <a:off x="4939" y="504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22"/>
            <p:cNvSpPr>
              <a:spLocks/>
            </p:cNvSpPr>
            <p:nvPr userDrawn="1"/>
          </p:nvSpPr>
          <p:spPr bwMode="auto">
            <a:xfrm>
              <a:off x="4989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23"/>
            <p:cNvSpPr>
              <a:spLocks noEditPoints="1"/>
            </p:cNvSpPr>
            <p:nvPr userDrawn="1"/>
          </p:nvSpPr>
          <p:spPr bwMode="auto">
            <a:xfrm>
              <a:off x="502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24"/>
            <p:cNvSpPr>
              <a:spLocks/>
            </p:cNvSpPr>
            <p:nvPr userDrawn="1"/>
          </p:nvSpPr>
          <p:spPr bwMode="auto">
            <a:xfrm>
              <a:off x="5053" y="504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25"/>
            <p:cNvSpPr>
              <a:spLocks/>
            </p:cNvSpPr>
            <p:nvPr userDrawn="1"/>
          </p:nvSpPr>
          <p:spPr bwMode="auto">
            <a:xfrm>
              <a:off x="5085" y="504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26"/>
            <p:cNvSpPr>
              <a:spLocks noEditPoints="1"/>
            </p:cNvSpPr>
            <p:nvPr userDrawn="1"/>
          </p:nvSpPr>
          <p:spPr bwMode="auto">
            <a:xfrm>
              <a:off x="5119" y="502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27"/>
            <p:cNvSpPr>
              <a:spLocks/>
            </p:cNvSpPr>
            <p:nvPr userDrawn="1"/>
          </p:nvSpPr>
          <p:spPr bwMode="auto">
            <a:xfrm>
              <a:off x="5157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28"/>
            <p:cNvSpPr>
              <a:spLocks/>
            </p:cNvSpPr>
            <p:nvPr userDrawn="1"/>
          </p:nvSpPr>
          <p:spPr bwMode="auto">
            <a:xfrm>
              <a:off x="5185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29"/>
            <p:cNvSpPr>
              <a:spLocks/>
            </p:cNvSpPr>
            <p:nvPr userDrawn="1"/>
          </p:nvSpPr>
          <p:spPr bwMode="auto">
            <a:xfrm>
              <a:off x="5195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0"/>
            <p:cNvSpPr>
              <a:spLocks/>
            </p:cNvSpPr>
            <p:nvPr userDrawn="1"/>
          </p:nvSpPr>
          <p:spPr bwMode="auto">
            <a:xfrm>
              <a:off x="5247" y="504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1"/>
            <p:cNvSpPr>
              <a:spLocks/>
            </p:cNvSpPr>
            <p:nvPr userDrawn="1"/>
          </p:nvSpPr>
          <p:spPr bwMode="auto">
            <a:xfrm>
              <a:off x="5283" y="504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32"/>
            <p:cNvSpPr>
              <a:spLocks/>
            </p:cNvSpPr>
            <p:nvPr userDrawn="1"/>
          </p:nvSpPr>
          <p:spPr bwMode="auto">
            <a:xfrm>
              <a:off x="5317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33"/>
            <p:cNvSpPr>
              <a:spLocks/>
            </p:cNvSpPr>
            <p:nvPr userDrawn="1"/>
          </p:nvSpPr>
          <p:spPr bwMode="auto">
            <a:xfrm>
              <a:off x="5329" y="504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34"/>
            <p:cNvSpPr>
              <a:spLocks/>
            </p:cNvSpPr>
            <p:nvPr userDrawn="1"/>
          </p:nvSpPr>
          <p:spPr bwMode="auto">
            <a:xfrm>
              <a:off x="5365" y="504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35"/>
            <p:cNvSpPr>
              <a:spLocks noEditPoints="1"/>
            </p:cNvSpPr>
            <p:nvPr userDrawn="1"/>
          </p:nvSpPr>
          <p:spPr bwMode="auto">
            <a:xfrm>
              <a:off x="5397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6"/>
            <p:cNvSpPr>
              <a:spLocks/>
            </p:cNvSpPr>
            <p:nvPr userDrawn="1"/>
          </p:nvSpPr>
          <p:spPr bwMode="auto">
            <a:xfrm>
              <a:off x="5427" y="502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37"/>
            <p:cNvSpPr>
              <a:spLocks/>
            </p:cNvSpPr>
            <p:nvPr userDrawn="1"/>
          </p:nvSpPr>
          <p:spPr bwMode="auto">
            <a:xfrm>
              <a:off x="5461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38"/>
            <p:cNvSpPr>
              <a:spLocks/>
            </p:cNvSpPr>
            <p:nvPr userDrawn="1"/>
          </p:nvSpPr>
          <p:spPr bwMode="auto">
            <a:xfrm>
              <a:off x="5473" y="504"/>
              <a:ext cx="54" cy="32"/>
            </a:xfrm>
            <a:custGeom>
              <a:avLst/>
              <a:gdLst>
                <a:gd name="T0" fmla="*/ 30 w 54"/>
                <a:gd name="T1" fmla="*/ 0 h 32"/>
                <a:gd name="T2" fmla="*/ 0 w 54"/>
                <a:gd name="T3" fmla="*/ 0 h 32"/>
                <a:gd name="T4" fmla="*/ 0 w 54"/>
                <a:gd name="T5" fmla="*/ 4 h 32"/>
                <a:gd name="T6" fmla="*/ 10 w 54"/>
                <a:gd name="T7" fmla="*/ 4 h 32"/>
                <a:gd name="T8" fmla="*/ 10 w 54"/>
                <a:gd name="T9" fmla="*/ 32 h 32"/>
                <a:gd name="T10" fmla="*/ 16 w 54"/>
                <a:gd name="T11" fmla="*/ 32 h 32"/>
                <a:gd name="T12" fmla="*/ 16 w 54"/>
                <a:gd name="T13" fmla="*/ 4 h 32"/>
                <a:gd name="T14" fmla="*/ 26 w 54"/>
                <a:gd name="T15" fmla="*/ 4 h 32"/>
                <a:gd name="T16" fmla="*/ 36 w 54"/>
                <a:gd name="T17" fmla="*/ 18 h 32"/>
                <a:gd name="T18" fmla="*/ 36 w 54"/>
                <a:gd name="T19" fmla="*/ 32 h 32"/>
                <a:gd name="T20" fmla="*/ 42 w 54"/>
                <a:gd name="T21" fmla="*/ 32 h 32"/>
                <a:gd name="T22" fmla="*/ 42 w 54"/>
                <a:gd name="T23" fmla="*/ 18 h 32"/>
                <a:gd name="T24" fmla="*/ 54 w 54"/>
                <a:gd name="T25" fmla="*/ 0 h 32"/>
                <a:gd name="T26" fmla="*/ 54 w 54"/>
                <a:gd name="T27" fmla="*/ 0 h 32"/>
                <a:gd name="T28" fmla="*/ 54 w 54"/>
                <a:gd name="T29" fmla="*/ 0 h 32"/>
                <a:gd name="T30" fmla="*/ 48 w 54"/>
                <a:gd name="T31" fmla="*/ 0 h 32"/>
                <a:gd name="T32" fmla="*/ 38 w 54"/>
                <a:gd name="T33" fmla="*/ 14 h 32"/>
                <a:gd name="T34" fmla="*/ 30 w 54"/>
                <a:gd name="T35" fmla="*/ 0 h 32"/>
                <a:gd name="T36" fmla="*/ 30 w 54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2">
                  <a:moveTo>
                    <a:pt x="3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36" y="18"/>
                  </a:lnTo>
                  <a:lnTo>
                    <a:pt x="36" y="32"/>
                  </a:lnTo>
                  <a:lnTo>
                    <a:pt x="42" y="32"/>
                  </a:lnTo>
                  <a:lnTo>
                    <a:pt x="42" y="18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38" y="1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39"/>
            <p:cNvSpPr>
              <a:spLocks/>
            </p:cNvSpPr>
            <p:nvPr userDrawn="1"/>
          </p:nvSpPr>
          <p:spPr bwMode="auto">
            <a:xfrm>
              <a:off x="5343" y="234"/>
              <a:ext cx="184" cy="230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40"/>
            <p:cNvSpPr>
              <a:spLocks/>
            </p:cNvSpPr>
            <p:nvPr userDrawn="1"/>
          </p:nvSpPr>
          <p:spPr bwMode="auto">
            <a:xfrm>
              <a:off x="5099" y="230"/>
              <a:ext cx="212" cy="234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41"/>
            <p:cNvSpPr>
              <a:spLocks noEditPoints="1"/>
            </p:cNvSpPr>
            <p:nvPr userDrawn="1"/>
          </p:nvSpPr>
          <p:spPr bwMode="auto">
            <a:xfrm>
              <a:off x="4887" y="234"/>
              <a:ext cx="208" cy="226"/>
            </a:xfrm>
            <a:custGeom>
              <a:avLst/>
              <a:gdLst>
                <a:gd name="T0" fmla="*/ 164 w 208"/>
                <a:gd name="T1" fmla="*/ 226 h 226"/>
                <a:gd name="T2" fmla="*/ 208 w 208"/>
                <a:gd name="T3" fmla="*/ 226 h 226"/>
                <a:gd name="T4" fmla="*/ 120 w 208"/>
                <a:gd name="T5" fmla="*/ 0 h 226"/>
                <a:gd name="T6" fmla="*/ 86 w 208"/>
                <a:gd name="T7" fmla="*/ 0 h 226"/>
                <a:gd name="T8" fmla="*/ 0 w 208"/>
                <a:gd name="T9" fmla="*/ 226 h 226"/>
                <a:gd name="T10" fmla="*/ 22 w 208"/>
                <a:gd name="T11" fmla="*/ 226 h 226"/>
                <a:gd name="T12" fmla="*/ 48 w 208"/>
                <a:gd name="T13" fmla="*/ 162 h 226"/>
                <a:gd name="T14" fmla="*/ 140 w 208"/>
                <a:gd name="T15" fmla="*/ 162 h 226"/>
                <a:gd name="T16" fmla="*/ 164 w 208"/>
                <a:gd name="T17" fmla="*/ 226 h 226"/>
                <a:gd name="T18" fmla="*/ 164 w 208"/>
                <a:gd name="T19" fmla="*/ 226 h 226"/>
                <a:gd name="T20" fmla="*/ 54 w 208"/>
                <a:gd name="T21" fmla="*/ 142 h 226"/>
                <a:gd name="T22" fmla="*/ 94 w 208"/>
                <a:gd name="T23" fmla="*/ 36 h 226"/>
                <a:gd name="T24" fmla="*/ 134 w 208"/>
                <a:gd name="T25" fmla="*/ 142 h 226"/>
                <a:gd name="T26" fmla="*/ 54 w 208"/>
                <a:gd name="T27" fmla="*/ 142 h 226"/>
                <a:gd name="T28" fmla="*/ 54 w 208"/>
                <a:gd name="T29" fmla="*/ 14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226">
                  <a:moveTo>
                    <a:pt x="164" y="226"/>
                  </a:moveTo>
                  <a:lnTo>
                    <a:pt x="208" y="226"/>
                  </a:lnTo>
                  <a:lnTo>
                    <a:pt x="120" y="0"/>
                  </a:lnTo>
                  <a:lnTo>
                    <a:pt x="86" y="0"/>
                  </a:lnTo>
                  <a:lnTo>
                    <a:pt x="0" y="226"/>
                  </a:lnTo>
                  <a:lnTo>
                    <a:pt x="22" y="226"/>
                  </a:lnTo>
                  <a:lnTo>
                    <a:pt x="48" y="162"/>
                  </a:lnTo>
                  <a:lnTo>
                    <a:pt x="140" y="162"/>
                  </a:lnTo>
                  <a:lnTo>
                    <a:pt x="164" y="226"/>
                  </a:lnTo>
                  <a:lnTo>
                    <a:pt x="164" y="226"/>
                  </a:lnTo>
                  <a:close/>
                  <a:moveTo>
                    <a:pt x="54" y="142"/>
                  </a:moveTo>
                  <a:lnTo>
                    <a:pt x="94" y="36"/>
                  </a:lnTo>
                  <a:lnTo>
                    <a:pt x="134" y="142"/>
                  </a:lnTo>
                  <a:lnTo>
                    <a:pt x="54" y="142"/>
                  </a:lnTo>
                  <a:lnTo>
                    <a:pt x="54" y="14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2980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63" r:id="rId3"/>
    <p:sldLayoutId id="2147483664" r:id="rId4"/>
    <p:sldLayoutId id="2147483665" r:id="rId5"/>
    <p:sldLayoutId id="2147483682" r:id="rId6"/>
    <p:sldLayoutId id="2147483679" r:id="rId7"/>
    <p:sldLayoutId id="2147483686" r:id="rId8"/>
    <p:sldLayoutId id="2147483689" r:id="rId9"/>
    <p:sldLayoutId id="2147483692" r:id="rId10"/>
    <p:sldLayoutId id="2147483693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  <p:sldLayoutId id="2147483749" r:id="rId65"/>
    <p:sldLayoutId id="2147483750" r:id="rId66"/>
    <p:sldLayoutId id="2147483751" r:id="rId67"/>
    <p:sldLayoutId id="2147483752" r:id="rId68"/>
    <p:sldLayoutId id="2147483753" r:id="rId69"/>
    <p:sldLayoutId id="2147483754" r:id="rId70"/>
    <p:sldLayoutId id="2147483755" r:id="rId71"/>
    <p:sldLayoutId id="2147483756" r:id="rId72"/>
    <p:sldLayoutId id="2147483757" r:id="rId73"/>
    <p:sldLayoutId id="2147483758" r:id="rId74"/>
    <p:sldLayoutId id="2147483759" r:id="rId75"/>
    <p:sldLayoutId id="2147483760" r:id="rId76"/>
    <p:sldLayoutId id="2147483761" r:id="rId77"/>
    <p:sldLayoutId id="2147483762" r:id="rId78"/>
    <p:sldLayoutId id="2147483763" r:id="rId79"/>
    <p:sldLayoutId id="2147483764" r:id="rId80"/>
    <p:sldLayoutId id="2147483766" r:id="rId81"/>
    <p:sldLayoutId id="2147483767" r:id="rId82"/>
    <p:sldLayoutId id="2147483768" r:id="rId83"/>
    <p:sldLayoutId id="2147483775" r:id="rId84"/>
    <p:sldLayoutId id="2147483776" r:id="rId8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866" b="1" kern="1200">
          <a:solidFill>
            <a:srgbClr val="3D393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F2120C"/>
        </a:buClr>
        <a:buFont typeface="Arial" panose="020B0604020202020204" pitchFamily="34" charset="0"/>
        <a:buChar char="•"/>
        <a:defRPr sz="2533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4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0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linkedin.com/in/farshid-keivanian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4.xml"/><Relationship Id="rId4" Type="http://schemas.openxmlformats.org/officeDocument/2006/relationships/hyperlink" Target="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30" y="0"/>
            <a:ext cx="4373370" cy="2130422"/>
          </a:xfrm>
        </p:spPr>
        <p:txBody>
          <a:bodyPr/>
          <a:lstStyle/>
          <a:p>
            <a:r>
              <a:rPr lang="en-US" sz="3400" dirty="0"/>
              <a:t>Data Privacy and Legal and Ethical Aspects of Data Management</a:t>
            </a:r>
            <a:endParaRPr lang="en-AU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DDFE-62E7-4B7A-B286-FF3EA6C1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88" y="3893642"/>
            <a:ext cx="3867150" cy="447675"/>
          </a:xfrm>
        </p:spPr>
        <p:txBody>
          <a:bodyPr/>
          <a:lstStyle/>
          <a:p>
            <a:r>
              <a:rPr lang="en-AU" sz="2000" b="1" dirty="0"/>
              <a:t>Week 12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AEE5F-D393-479E-8BB0-2D5C05794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58168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0660180-C222-1C0E-972D-3D88A9D4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5A6B1-8B80-DB67-9023-1B2F212A7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A225C-DA99-BC7A-E7E6-1795A0912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EF29E-E553-F396-FF4A-DC7E74AA1C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493987"/>
          </a:xfrm>
        </p:spPr>
        <p:txBody>
          <a:bodyPr>
            <a:noAutofit/>
          </a:bodyPr>
          <a:lstStyle/>
          <a:p>
            <a:r>
              <a:rPr lang="en-US" sz="3200" dirty="0"/>
              <a:t>Week 12: Outline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D2261-8415-F09D-030E-8807BD50DF84}"/>
              </a:ext>
            </a:extLst>
          </p:cNvPr>
          <p:cNvSpPr txBox="1"/>
          <p:nvPr/>
        </p:nvSpPr>
        <p:spPr>
          <a:xfrm>
            <a:off x="0" y="1154082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Key Concepts – Data Transparency, Ethics, and Privacy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Story 1: The Consent Confusion at </a:t>
            </a:r>
            <a:r>
              <a:rPr lang="en-US" sz="2800" dirty="0" err="1">
                <a:latin typeface="Calibir"/>
              </a:rPr>
              <a:t>MedData</a:t>
            </a:r>
            <a:r>
              <a:rPr lang="en-US" sz="2800" dirty="0">
                <a:latin typeface="Calibir"/>
              </a:rPr>
              <a:t> Research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Story 2: The Algorithm Audit at </a:t>
            </a:r>
            <a:r>
              <a:rPr lang="en-US" sz="2800" dirty="0" err="1">
                <a:latin typeface="Calibir"/>
              </a:rPr>
              <a:t>EduTrack</a:t>
            </a:r>
            <a:r>
              <a:rPr lang="en-US" sz="2800" dirty="0">
                <a:latin typeface="Calibir"/>
              </a:rPr>
              <a:t> Analytics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Part B – Independent Work on Assessment 3 (60 minutes)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Week 12 – Milestone Unlocked: From Raw Data to Reliable Insights</a:t>
            </a:r>
          </a:p>
          <a:p>
            <a:pPr marL="514350" lvl="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Have You Completed the Survey</a:t>
            </a:r>
          </a:p>
        </p:txBody>
      </p:sp>
    </p:spTree>
    <p:extLst>
      <p:ext uri="{BB962C8B-B14F-4D97-AF65-F5344CB8AC3E}">
        <p14:creationId xmlns:p14="http://schemas.microsoft.com/office/powerpoint/2010/main" val="187479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FD54456-A46A-CADF-7274-FC9ED47B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4A3BB-A4C2-00C6-7AB6-B13BBED8F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D9CE0-5D7D-2603-D9AC-F18AA8893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4D68BED-B61A-C091-02A7-4B9F376B89F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Key Concepts – Data Transparency, Ethics, and Privacy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8BF9589-64CF-E883-4A17-01A705BD6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18016"/>
            <a:ext cx="9144000" cy="584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1. Data Transparency &amp; Accountability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Organisations</a:t>
            </a:r>
            <a:r>
              <a:rPr lang="en-US" sz="2800" dirty="0">
                <a:latin typeface="Calibir"/>
              </a:rPr>
              <a:t> must be open about how they collect, use, and share data.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Clear records and audit trails build trust and responsibility.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2. Ethical Data Practices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Follow fairness, honesty, and respect when handling people’s data.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decisions that are ethical, not just legal.</a:t>
            </a:r>
          </a:p>
        </p:txBody>
      </p:sp>
    </p:spTree>
    <p:extLst>
      <p:ext uri="{BB962C8B-B14F-4D97-AF65-F5344CB8AC3E}">
        <p14:creationId xmlns:p14="http://schemas.microsoft.com/office/powerpoint/2010/main" val="2437128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42375FC-1199-7483-3B85-CA48DCE6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FA0D7-F71C-B919-86E6-4B75A7B25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ED530-3D38-2E3D-3D4C-70D60F22F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7306FAD-2A43-56F5-4ACB-62B36352F3D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Key Concepts – Data Transparency, Ethics, and Privacy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879F7B3-1B56-D02C-73DA-3011D9449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10678"/>
            <a:ext cx="9144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3. Privacy Laws &amp; Protection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Australian Privacy Act (APPs): Sets rules for how businesses handle personal info.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EU GDPR: European law that gives individuals strong rights over their data.</a:t>
            </a:r>
          </a:p>
        </p:txBody>
      </p:sp>
    </p:spTree>
    <p:extLst>
      <p:ext uri="{BB962C8B-B14F-4D97-AF65-F5344CB8AC3E}">
        <p14:creationId xmlns:p14="http://schemas.microsoft.com/office/powerpoint/2010/main" val="250520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8ED9CD7-8169-36E1-7B60-52FD647B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70D8C0-DFEF-E1E4-EB99-ACB719F3B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FF4A7-7AA3-2D58-D6C9-7CBCE689D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2E0DCB4-BC59-6D1C-9F20-CAD49265A23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Key Concepts – Data Transparency, Ethics, and Privacy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818500E-D9E9-1AB8-CEA6-5706ADBD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195"/>
            <a:ext cx="9144000" cy="584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4. Key Terms to Know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Personal information: </a:t>
            </a:r>
            <a:r>
              <a:rPr lang="en-US" sz="2800" dirty="0">
                <a:latin typeface="Calibir"/>
              </a:rPr>
              <a:t>Data that identifies a person (name, email, address).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Sensitive information: </a:t>
            </a:r>
            <a:r>
              <a:rPr lang="en-US" sz="2800" dirty="0">
                <a:latin typeface="Calibir"/>
              </a:rPr>
              <a:t>Private details like health, beliefs, or ethnicity.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Privacy policy: </a:t>
            </a:r>
            <a:r>
              <a:rPr lang="en-US" sz="2800" dirty="0">
                <a:latin typeface="Calibir"/>
              </a:rPr>
              <a:t>Explains how an </a:t>
            </a:r>
            <a:r>
              <a:rPr lang="en-US" sz="2800" dirty="0" err="1">
                <a:latin typeface="Calibir"/>
              </a:rPr>
              <a:t>organisation</a:t>
            </a:r>
            <a:r>
              <a:rPr lang="en-US" sz="2800" dirty="0">
                <a:latin typeface="Calibir"/>
              </a:rPr>
              <a:t> manages and protects data.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Data ethics: </a:t>
            </a:r>
            <a:r>
              <a:rPr lang="en-US" sz="2800" dirty="0">
                <a:latin typeface="Calibir"/>
              </a:rPr>
              <a:t>Doing the right thing with data — not just what’s allowed.</a:t>
            </a:r>
          </a:p>
        </p:txBody>
      </p:sp>
    </p:spTree>
    <p:extLst>
      <p:ext uri="{BB962C8B-B14F-4D97-AF65-F5344CB8AC3E}">
        <p14:creationId xmlns:p14="http://schemas.microsoft.com/office/powerpoint/2010/main" val="3689169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1AA2C1D-56D4-6457-A44B-6732987B1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81469-A530-5495-5161-DA61030DB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5EE1F-8B4C-53D4-4C20-579AA4BC9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48CE1B2-853D-66F6-9594-73EF119FC01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Story 1: The Consent Confusion at </a:t>
            </a:r>
            <a:r>
              <a:rPr lang="en-US" sz="3200" dirty="0" err="1"/>
              <a:t>MedData</a:t>
            </a:r>
            <a:r>
              <a:rPr lang="en-US" sz="3200" dirty="0"/>
              <a:t> Research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2CF6C-0DF3-A7A5-BFFC-2CB2235A5A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736" t="34010" r="16782" b="7139"/>
          <a:stretch>
            <a:fillRect/>
          </a:stretch>
        </p:blipFill>
        <p:spPr>
          <a:xfrm>
            <a:off x="0" y="1012727"/>
            <a:ext cx="9144000" cy="4694245"/>
          </a:xfrm>
          <a:prstGeom prst="rect">
            <a:avLst/>
          </a:prstGeom>
        </p:spPr>
      </p:pic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C3D353C9-37AD-E42D-8814-337DE6D57BC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40690" t="44432" r="41149" b="40856"/>
          <a:stretch>
            <a:fillRect/>
          </a:stretch>
        </p:blipFill>
        <p:spPr>
          <a:xfrm>
            <a:off x="7367752" y="1012727"/>
            <a:ext cx="1660635" cy="75674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719D9C-B89A-F926-1652-AC87971594EE}"/>
              </a:ext>
            </a:extLst>
          </p:cNvPr>
          <p:cNvSpPr txBox="1"/>
          <p:nvPr/>
        </p:nvSpPr>
        <p:spPr>
          <a:xfrm>
            <a:off x="-796" y="5088529"/>
            <a:ext cx="9144000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ir"/>
              </a:rPr>
              <a:t>Explain key terms</a:t>
            </a:r>
            <a:r>
              <a:rPr lang="en-US" dirty="0">
                <a:latin typeface="Calibir"/>
              </a:rPr>
              <a:t> — define </a:t>
            </a:r>
            <a:r>
              <a:rPr lang="en-US" i="1" dirty="0">
                <a:latin typeface="Calibir"/>
              </a:rPr>
              <a:t>personal information</a:t>
            </a:r>
            <a:r>
              <a:rPr lang="en-US" dirty="0">
                <a:latin typeface="Calibir"/>
              </a:rPr>
              <a:t> and </a:t>
            </a:r>
            <a:r>
              <a:rPr lang="en-US" i="1" dirty="0">
                <a:latin typeface="Calibir"/>
              </a:rPr>
              <a:t>sensitive information</a:t>
            </a:r>
            <a:r>
              <a:rPr lang="en-US" dirty="0">
                <a:latin typeface="Calibir"/>
              </a:rPr>
              <a:t> in this case.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ir"/>
              </a:rPr>
              <a:t>Find privacy breaches</a:t>
            </a:r>
            <a:r>
              <a:rPr lang="en-US" dirty="0">
                <a:latin typeface="Calibir"/>
              </a:rPr>
              <a:t> — identify which APPs or GDPR rules may have been broken.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ir"/>
              </a:rPr>
              <a:t>Suggest solutions</a:t>
            </a:r>
            <a:r>
              <a:rPr lang="en-US" dirty="0">
                <a:latin typeface="Calibir"/>
              </a:rPr>
              <a:t> — propose three actions </a:t>
            </a:r>
            <a:r>
              <a:rPr lang="en-US" dirty="0" err="1">
                <a:latin typeface="Calibir"/>
              </a:rPr>
              <a:t>MedData</a:t>
            </a:r>
            <a:r>
              <a:rPr lang="en-US" dirty="0">
                <a:latin typeface="Calibir"/>
              </a:rPr>
              <a:t> can take to rebuild trust and ensure ethical data use.</a:t>
            </a:r>
          </a:p>
          <a:p>
            <a:pPr>
              <a:buNone/>
            </a:pPr>
            <a:r>
              <a:rPr lang="en-US" dirty="0">
                <a:latin typeface="Calibir"/>
              </a:rPr>
              <a:t>Then, present their findings in a 5–7 minute group discussion, showing how clear consent and transparency prevent data misuse.</a:t>
            </a:r>
          </a:p>
        </p:txBody>
      </p:sp>
    </p:spTree>
    <p:extLst>
      <p:ext uri="{BB962C8B-B14F-4D97-AF65-F5344CB8AC3E}">
        <p14:creationId xmlns:p14="http://schemas.microsoft.com/office/powerpoint/2010/main" val="221477975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1AA2C1D-56D4-6457-A44B-6732987B1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095126-703A-D7F4-B6EC-B48AB46C3C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71" t="25610" r="17683" b="18455"/>
          <a:stretch>
            <a:fillRect/>
          </a:stretch>
        </p:blipFill>
        <p:spPr>
          <a:xfrm>
            <a:off x="0" y="1012727"/>
            <a:ext cx="8218449" cy="403110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81469-A530-5495-5161-DA61030DB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5EE1F-8B4C-53D4-4C20-579AA4BC9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48CE1B2-853D-66F6-9594-73EF119FC01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Story 2: The Algorithm Audit at </a:t>
            </a:r>
            <a:r>
              <a:rPr lang="en-US" sz="3200" dirty="0" err="1"/>
              <a:t>EduTrack</a:t>
            </a:r>
            <a:r>
              <a:rPr lang="en-US" sz="3200" dirty="0"/>
              <a:t> Analytics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C3D353C9-37AD-E42D-8814-337DE6D57BC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40690" t="44432" r="41149" b="40856"/>
          <a:stretch>
            <a:fillRect/>
          </a:stretch>
        </p:blipFill>
        <p:spPr>
          <a:xfrm>
            <a:off x="7367752" y="1012727"/>
            <a:ext cx="1660635" cy="75674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719D9C-B89A-F926-1652-AC87971594EE}"/>
              </a:ext>
            </a:extLst>
          </p:cNvPr>
          <p:cNvSpPr txBox="1"/>
          <p:nvPr/>
        </p:nvSpPr>
        <p:spPr>
          <a:xfrm>
            <a:off x="0" y="4549676"/>
            <a:ext cx="914400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ir"/>
              </a:rPr>
              <a:t>Find issues </a:t>
            </a:r>
            <a:r>
              <a:rPr lang="en-US" dirty="0">
                <a:latin typeface="Calibir"/>
              </a:rPr>
              <a:t>– Identify three ethical challenges </a:t>
            </a:r>
            <a:r>
              <a:rPr lang="en-US" dirty="0" err="1">
                <a:latin typeface="Calibir"/>
              </a:rPr>
              <a:t>EduTrack</a:t>
            </a:r>
            <a:r>
              <a:rPr lang="en-US" dirty="0">
                <a:latin typeface="Calibir"/>
              </a:rPr>
              <a:t> faced (e.g., bias, lack of transparency, or fairness).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ir"/>
              </a:rPr>
              <a:t>Suggest principles </a:t>
            </a:r>
            <a:r>
              <a:rPr lang="en-US" dirty="0">
                <a:latin typeface="Calibir"/>
              </a:rPr>
              <a:t>– List key ideas for a Data Ethics Charter (like fairness, accountability, and explainability).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ir"/>
              </a:rPr>
              <a:t>Recommend one action </a:t>
            </a:r>
            <a:r>
              <a:rPr lang="en-US" dirty="0">
                <a:latin typeface="Calibir"/>
              </a:rPr>
              <a:t>– Propose a practical step </a:t>
            </a:r>
            <a:r>
              <a:rPr lang="en-US" dirty="0" err="1">
                <a:latin typeface="Calibir"/>
              </a:rPr>
              <a:t>EduTrack</a:t>
            </a:r>
            <a:r>
              <a:rPr lang="en-US" dirty="0">
                <a:latin typeface="Calibir"/>
              </a:rPr>
              <a:t> can take to make its system more transparent and fair.</a:t>
            </a:r>
          </a:p>
          <a:p>
            <a:r>
              <a:rPr lang="en-US" dirty="0">
                <a:latin typeface="Calibir"/>
              </a:rPr>
              <a:t>Then, in a 5–7 minute group talk, explain how these ideas help build long-term trust with schools, parents, and students.</a:t>
            </a:r>
          </a:p>
        </p:txBody>
      </p:sp>
    </p:spTree>
    <p:extLst>
      <p:ext uri="{BB962C8B-B14F-4D97-AF65-F5344CB8AC3E}">
        <p14:creationId xmlns:p14="http://schemas.microsoft.com/office/powerpoint/2010/main" val="318733447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1B20C5-CD93-2665-D1D5-C34EA564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C2D75-ADFC-63BB-787D-AAB9FBB48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D8DCD-8141-C834-E433-6EDFADEC3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729712F-8427-62CC-9F2D-82A988E70BB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1A3274-843C-78FF-8D5C-7EC4BBF832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64" t="57312" r="40807" b="18889"/>
          <a:stretch>
            <a:fillRect/>
          </a:stretch>
        </p:blipFill>
        <p:spPr>
          <a:xfrm>
            <a:off x="0" y="1935927"/>
            <a:ext cx="9144000" cy="297628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3204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D8889FC-503B-5FEB-6DA5-1BD6CFAA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8EB44-FB8D-3BDB-2A53-167703EE9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FD5E5-C039-9BF7-7251-BC7A555F9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5B6820-4592-CA13-B6A9-EFAAEAD26BA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A94C072-B2C6-08C3-4340-42F55D663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Save and Verify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Save Layout (</a:t>
            </a:r>
            <a:r>
              <a:rPr lang="en-US" sz="2800" dirty="0" err="1">
                <a:latin typeface="Calibir"/>
              </a:rPr>
              <a:t>Ctrl+S</a:t>
            </a:r>
            <a:r>
              <a:rPr lang="en-US" sz="2800" dirty="0">
                <a:latin typeface="Calibir"/>
              </a:rPr>
              <a:t>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should now see all relationship lines with 1–∞ symbols.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Close the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DFA7ED-3853-5A33-BEA8-F368A00C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92" t="20976" r="12644" b="12043"/>
          <a:stretch>
            <a:fillRect/>
          </a:stretch>
        </p:blipFill>
        <p:spPr>
          <a:xfrm>
            <a:off x="2638097" y="2856938"/>
            <a:ext cx="6505903" cy="400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2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59CDDBC-BA08-4E56-65B8-8FBA73AD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1366D-ACCB-8666-4807-C57683071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D13B8-5AFB-48ED-7BB7-C6689BDE1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00F07D7-3E1C-3CAC-9BEE-6574B39C4B02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B6DA2C-7BDB-EAE6-057A-A9CE3E1DD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682716"/>
              </p:ext>
            </p:extLst>
          </p:nvPr>
        </p:nvGraphicFramePr>
        <p:xfrm>
          <a:off x="161692" y="2069624"/>
          <a:ext cx="8820615" cy="33392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282391">
                  <a:extLst>
                    <a:ext uri="{9D8B030D-6E8A-4147-A177-3AD203B41FA5}">
                      <a16:colId xmlns:a16="http://schemas.microsoft.com/office/drawing/2014/main" val="3851823202"/>
                    </a:ext>
                  </a:extLst>
                </a:gridCol>
                <a:gridCol w="2051824">
                  <a:extLst>
                    <a:ext uri="{9D8B030D-6E8A-4147-A177-3AD203B41FA5}">
                      <a16:colId xmlns:a16="http://schemas.microsoft.com/office/drawing/2014/main" val="3828465692"/>
                    </a:ext>
                  </a:extLst>
                </a:gridCol>
                <a:gridCol w="1622503">
                  <a:extLst>
                    <a:ext uri="{9D8B030D-6E8A-4147-A177-3AD203B41FA5}">
                      <a16:colId xmlns:a16="http://schemas.microsoft.com/office/drawing/2014/main" val="4056478516"/>
                    </a:ext>
                  </a:extLst>
                </a:gridCol>
                <a:gridCol w="1789770">
                  <a:extLst>
                    <a:ext uri="{9D8B030D-6E8A-4147-A177-3AD203B41FA5}">
                      <a16:colId xmlns:a16="http://schemas.microsoft.com/office/drawing/2014/main" val="780147630"/>
                    </a:ext>
                  </a:extLst>
                </a:gridCol>
                <a:gridCol w="1248937">
                  <a:extLst>
                    <a:ext uri="{9D8B030D-6E8A-4147-A177-3AD203B41FA5}">
                      <a16:colId xmlns:a16="http://schemas.microsoft.com/office/drawing/2014/main" val="413904290"/>
                    </a:ext>
                  </a:extLst>
                </a:gridCol>
                <a:gridCol w="825190">
                  <a:extLst>
                    <a:ext uri="{9D8B030D-6E8A-4147-A177-3AD203B41FA5}">
                      <a16:colId xmlns:a16="http://schemas.microsoft.com/office/drawing/2014/main" val="2147176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Relationship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From Table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Field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To Table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Field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Type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70669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LGINVOICE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Cust_Code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LGCUSTOMER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Cust_Code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837997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2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LGINVOICE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Employee_ID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LGEMPLOYEE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19957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3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LGLINE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Inv_Num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LGINVOICE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Inv_Num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371250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4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LGLINE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Prod_SKU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LGPRODUCT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libir"/>
                        </a:rPr>
                        <a:t>Prod_SKU</a:t>
                      </a:r>
                      <a:endParaRPr lang="en-US" sz="1800" dirty="0">
                        <a:latin typeface="Calibir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531890144"/>
                  </a:ext>
                </a:extLst>
              </a:tr>
              <a:tr h="21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5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LGPRODUCT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Brand_ID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LGBRAND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Calibir"/>
                        </a:rPr>
                        <a:t>Brand_ID</a:t>
                      </a:r>
                      <a:endParaRPr lang="en-US" sz="1800" dirty="0">
                        <a:latin typeface="Calibir"/>
                      </a:endParaRP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845638787"/>
                  </a:ext>
                </a:extLst>
              </a:tr>
              <a:tr h="258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6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LGSUPPLIES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Vend_ID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LGVENDOR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Vend_ID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12714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7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LGSUPPLIES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Prod_SKU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LGPRODUCT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Prod_SKU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3708248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8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LGEMPLOYEE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Dept_Num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LGDEPARTMENT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Dept_Num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2129995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9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LGSALARY_HISTORY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LGEMPLOYEE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alibir"/>
                        </a:rPr>
                        <a:t>Emp_Num</a:t>
                      </a:r>
                    </a:p>
                  </a:txBody>
                  <a:tcPr marL="59607" marR="59607" marT="29804" marB="298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alibir"/>
                        </a:rPr>
                        <a:t>1–∞</a:t>
                      </a:r>
                    </a:p>
                  </a:txBody>
                  <a:tcPr marL="59607" marR="59607" marT="29804" marB="29804" anchor="ctr"/>
                </a:tc>
                <a:extLst>
                  <a:ext uri="{0D108BD9-81ED-4DB2-BD59-A6C34878D82A}">
                    <a16:rowId xmlns:a16="http://schemas.microsoft.com/office/drawing/2014/main" val="65220111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FE2B86D4-432D-2DD0-0BC8-6C3D7B2F7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9277"/>
            <a:ext cx="35605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Visual Check Summary</a:t>
            </a:r>
          </a:p>
        </p:txBody>
      </p:sp>
    </p:spTree>
    <p:extLst>
      <p:ext uri="{BB962C8B-B14F-4D97-AF65-F5344CB8AC3E}">
        <p14:creationId xmlns:p14="http://schemas.microsoft.com/office/powerpoint/2010/main" val="339435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D72F196-4BFE-348D-80FE-DD8BBFB3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50A5C-3C15-C94B-C780-C12B2B118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DA299-8A28-A7C6-D973-A6E703998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3528E3D-9138-9E04-DBCE-A0CBE5AB7BC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6B0FD-B39F-026B-577E-D11D16D3D180}"/>
              </a:ext>
            </a:extLst>
          </p:cNvPr>
          <p:cNvSpPr txBox="1"/>
          <p:nvPr/>
        </p:nvSpPr>
        <p:spPr>
          <a:xfrm>
            <a:off x="0" y="1315844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 Create Each Query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Query Design (QBE) or SQL View.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Name them exactly: Query 1, Query 2, … Query 15.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query must correspond to the question number below.</a:t>
            </a:r>
          </a:p>
        </p:txBody>
      </p:sp>
    </p:spTree>
    <p:extLst>
      <p:ext uri="{BB962C8B-B14F-4D97-AF65-F5344CB8AC3E}">
        <p14:creationId xmlns:p14="http://schemas.microsoft.com/office/powerpoint/2010/main" val="3761245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0E92901-DC56-3CF5-DCE9-19FA3D6C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19D3B-1DAF-160C-BB37-6FCAEC291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AD889-5CFE-5B8B-86C4-435341AA7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EA3F3ED-F564-4C03-44F5-5DCD20274EA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A1E7A-7BD1-23D3-66F6-99DEA6EA73F7}"/>
              </a:ext>
            </a:extLst>
          </p:cNvPr>
          <p:cNvSpPr txBox="1"/>
          <p:nvPr/>
        </p:nvSpPr>
        <p:spPr>
          <a:xfrm>
            <a:off x="0" y="1315844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How to Create Each Query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 the Create tab → click Query Design.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the required table(s).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Switch to SQL View (bottom-right corner).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Paste the SQL statement below.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Save as Query 1, Query 2, 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9CB727-ADB3-EDF0-551A-F0096C6C25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484" b="63047"/>
          <a:stretch>
            <a:fillRect/>
          </a:stretch>
        </p:blipFill>
        <p:spPr>
          <a:xfrm>
            <a:off x="5354715" y="4533277"/>
            <a:ext cx="3789286" cy="228198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114242-B1D0-91DA-B11D-9CF97C7F7C04}"/>
              </a:ext>
            </a:extLst>
          </p:cNvPr>
          <p:cNvSpPr/>
          <p:nvPr/>
        </p:nvSpPr>
        <p:spPr>
          <a:xfrm>
            <a:off x="7725103" y="5108027"/>
            <a:ext cx="336331" cy="65164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08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CB335A2-4F45-4125-DECA-41FD85E23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9DFE4-A7DA-13D1-31CB-5A012D833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40EFC-B50D-F119-C328-BA00146D7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876A839-61F2-837F-88A1-74780115FC8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4B6D9-F06C-4988-6239-DADBE3997454}"/>
              </a:ext>
            </a:extLst>
          </p:cNvPr>
          <p:cNvSpPr txBox="1"/>
          <p:nvPr/>
        </p:nvSpPr>
        <p:spPr>
          <a:xfrm>
            <a:off x="0" y="1315844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1 – Customers in NY or OH with balance &gt; $1000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9E0B22-65DB-DF46-CDEB-5A3D4CD09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1149" b="65581"/>
          <a:stretch>
            <a:fillRect/>
          </a:stretch>
        </p:blipFill>
        <p:spPr>
          <a:xfrm>
            <a:off x="0" y="2213083"/>
            <a:ext cx="3993931" cy="410199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08C6B0-EBB6-A9B2-3FB4-EF34210DA7B5}"/>
              </a:ext>
            </a:extLst>
          </p:cNvPr>
          <p:cNvSpPr/>
          <p:nvPr/>
        </p:nvSpPr>
        <p:spPr>
          <a:xfrm>
            <a:off x="315310" y="4487917"/>
            <a:ext cx="2081049" cy="66909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16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1DB970C-4418-61BF-7C59-EBEA2171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7294C-E328-475F-5C04-83526FADC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D27AD-70F4-E987-D4F4-89700048D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6F71F09-CFEE-CD74-38F4-1E9EAC9971A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1D4E8C-1A7D-A84C-6905-E6F9E2AC7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560175"/>
            <a:ext cx="9144000" cy="48813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5F8EE6-6BC4-9D9F-8786-8763765F63F2}"/>
              </a:ext>
            </a:extLst>
          </p:cNvPr>
          <p:cNvSpPr txBox="1"/>
          <p:nvPr/>
        </p:nvSpPr>
        <p:spPr>
          <a:xfrm>
            <a:off x="-2221" y="1036955"/>
            <a:ext cx="428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Run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17E516-E7BD-56C9-55FA-5ADDD39F8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689" y="4207884"/>
            <a:ext cx="6512311" cy="19645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* → Show 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all columns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of data.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FROM LGCUSTOMER → Get the data from the table called LGCUSTOMER.</a:t>
            </a:r>
          </a:p>
        </p:txBody>
      </p:sp>
    </p:spTree>
    <p:extLst>
      <p:ext uri="{BB962C8B-B14F-4D97-AF65-F5344CB8AC3E}">
        <p14:creationId xmlns:p14="http://schemas.microsoft.com/office/powerpoint/2010/main" val="4002360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69BFFF5-6BDF-35EF-7402-18E5FDA3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BFCB53-F83E-E8A8-F66C-FE3A4F1ED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FAAE0-51BE-A764-82ED-B8DA19049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B04A101-E178-B327-78CA-D8B89435F28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10845E-6A54-CB03-64E1-C7154BD36C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560175"/>
            <a:ext cx="9144000" cy="48813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C442CE-5DCC-D22C-F212-A0823CE1FFC7}"/>
              </a:ext>
            </a:extLst>
          </p:cNvPr>
          <p:cNvSpPr txBox="1"/>
          <p:nvPr/>
        </p:nvSpPr>
        <p:spPr>
          <a:xfrm>
            <a:off x="-2221" y="1036955"/>
            <a:ext cx="428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Run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560D10-1301-0121-E1CD-00CE7F091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2695" y="4148358"/>
            <a:ext cx="6512311" cy="19645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WHERE (CUST_STATE IN ('NY', 'OH')) → Only include customers who live in New York (NY) or Ohio (OH).</a:t>
            </a:r>
          </a:p>
        </p:txBody>
      </p:sp>
    </p:spTree>
    <p:extLst>
      <p:ext uri="{BB962C8B-B14F-4D97-AF65-F5344CB8AC3E}">
        <p14:creationId xmlns:p14="http://schemas.microsoft.com/office/powerpoint/2010/main" val="3909918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18913E0-6154-42B6-F0FA-E0643D77E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3E7E4-E1C6-FECE-50E6-9C15D7C90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82361-2974-1CC5-A0EA-3DFB7F78F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621F679-56E7-48EF-9E50-85D54B82E18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9FA8D4-5279-400C-F43A-7A8E60C98D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560175"/>
            <a:ext cx="9144000" cy="48813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DDBFFE-D5DD-7AF6-6996-355643A8DADB}"/>
              </a:ext>
            </a:extLst>
          </p:cNvPr>
          <p:cNvSpPr txBox="1"/>
          <p:nvPr/>
        </p:nvSpPr>
        <p:spPr>
          <a:xfrm>
            <a:off x="-2221" y="1036955"/>
            <a:ext cx="428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Run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481EDD-90AD-332B-F188-7A7B969E9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2695" y="4148358"/>
            <a:ext cx="6512311" cy="19645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AND CUST_BALANCE &gt; 1000 → Also, only include customers whose balance is greater than 1000.</a:t>
            </a:r>
          </a:p>
        </p:txBody>
      </p:sp>
    </p:spTree>
    <p:extLst>
      <p:ext uri="{BB962C8B-B14F-4D97-AF65-F5344CB8AC3E}">
        <p14:creationId xmlns:p14="http://schemas.microsoft.com/office/powerpoint/2010/main" val="321987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7501B32-BB8E-A71B-377D-A6D425E5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38A5D-BB1E-64CD-14F4-ACE223CAF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FE104-0979-4D1B-B018-23E8327C9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5F4E8FE-1F84-F19F-2F14-D54EAFD5970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BBA378-4A31-0E18-3CDF-60D87061E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560175"/>
            <a:ext cx="9144000" cy="48813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872A43-1727-4981-D0D3-B2E8387FC38B}"/>
              </a:ext>
            </a:extLst>
          </p:cNvPr>
          <p:cNvSpPr txBox="1"/>
          <p:nvPr/>
        </p:nvSpPr>
        <p:spPr>
          <a:xfrm>
            <a:off x="-2221" y="1036955"/>
            <a:ext cx="428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Run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394F42-6920-34F0-4327-108E64D3E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456" y="4148606"/>
            <a:ext cx="6674544" cy="26080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In short, Show all customer records from the LGCUSTOMER table where the customer lives in New York or Ohio and owes more than $1000.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181888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DB6942B-9210-4EE6-728E-8B94B2A41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BF955-8C78-4B1D-DEFD-E49D7E19C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E1BC0-1F5C-0A1C-5FD2-6AB6D12F2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044902B-E38E-2444-EA6F-605BA57758E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5524-FFD9-7F2D-43DE-5DB3BAE1DD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322" b="7139"/>
          <a:stretch>
            <a:fillRect/>
          </a:stretch>
        </p:blipFill>
        <p:spPr>
          <a:xfrm>
            <a:off x="832757" y="1351117"/>
            <a:ext cx="7651531" cy="477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73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FD9761F-9512-B564-3254-6D653EA6A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A8DB8-A3C5-708D-C583-6251ED5A5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B7458-6F1B-A29D-6539-1F49E55A4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44648A1-A391-E30A-EAEA-7F5689293B6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A203A4-D9F7-093F-4A9A-1FA680653261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2 – Vendors in VT or VA whose ZIP starts with 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37F8EB-D078-FD4E-F56A-5242CE58F0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849011"/>
            <a:ext cx="9144000" cy="491292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A231C2-1074-7027-B779-6F3B0F9E1970}"/>
              </a:ext>
            </a:extLst>
          </p:cNvPr>
          <p:cNvSpPr/>
          <p:nvPr/>
        </p:nvSpPr>
        <p:spPr>
          <a:xfrm>
            <a:off x="8607972" y="6510471"/>
            <a:ext cx="315311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8C8B0E-EE39-6498-050C-9FAA23DD45E3}"/>
              </a:ext>
            </a:extLst>
          </p:cNvPr>
          <p:cNvCxnSpPr/>
          <p:nvPr/>
        </p:nvCxnSpPr>
        <p:spPr>
          <a:xfrm>
            <a:off x="4792717" y="3720662"/>
            <a:ext cx="3731173" cy="278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D9524861-5E39-5544-1483-974099F58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0" y="5315400"/>
            <a:ext cx="6164826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*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Show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all columns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(all information) about each vendor.</a:t>
            </a:r>
          </a:p>
        </p:txBody>
      </p:sp>
    </p:spTree>
    <p:extLst>
      <p:ext uri="{BB962C8B-B14F-4D97-AF65-F5344CB8AC3E}">
        <p14:creationId xmlns:p14="http://schemas.microsoft.com/office/powerpoint/2010/main" val="3264745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9E1BBA3-88AC-701A-6A62-68FA4BF2B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1506-15F5-DB4A-0155-B05D3A8DC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01CC3-47DE-22BE-E85A-16638B539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EBF9D3A-D0CE-0C1B-D0A9-20DD98FC5CE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BE73C-E714-5AC6-B06E-4C3E82B46CD3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2 – Vendors in VT or VA whose ZIP starts with 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AB151D-4E15-C72A-9C70-61ACB7517A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849011"/>
            <a:ext cx="9144000" cy="491292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3DD0DE-BC5B-99D7-E9B2-FE8DF27F5DC1}"/>
              </a:ext>
            </a:extLst>
          </p:cNvPr>
          <p:cNvSpPr/>
          <p:nvPr/>
        </p:nvSpPr>
        <p:spPr>
          <a:xfrm>
            <a:off x="8607972" y="6510471"/>
            <a:ext cx="315311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0AAFE4-9226-FC36-B3D8-703CE8CEA5B5}"/>
              </a:ext>
            </a:extLst>
          </p:cNvPr>
          <p:cNvCxnSpPr/>
          <p:nvPr/>
        </p:nvCxnSpPr>
        <p:spPr>
          <a:xfrm>
            <a:off x="4792717" y="3720662"/>
            <a:ext cx="3731173" cy="278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23AF2BD8-CFE8-BD5C-E54B-551D4452C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39819"/>
            <a:ext cx="6164826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FROM LGVENDOR</a:t>
            </a:r>
            <a:r>
              <a:rPr lang="en-US" altLang="en-US" sz="2800" dirty="0">
                <a:latin typeface="Calibir"/>
              </a:rPr>
              <a:t> → The data is taken from the LGVENDOR table.</a:t>
            </a:r>
          </a:p>
        </p:txBody>
      </p:sp>
    </p:spTree>
    <p:extLst>
      <p:ext uri="{BB962C8B-B14F-4D97-AF65-F5344CB8AC3E}">
        <p14:creationId xmlns:p14="http://schemas.microsoft.com/office/powerpoint/2010/main" val="3798792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E83AA2E-9947-8D1C-8DDE-EE463CDB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A3D12-9C32-FA9E-5D74-87C188F6A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82D73-A849-709D-EBF4-1F7E714ED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2C3254F-ADDB-957E-96F2-5EDEEF6886C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2C694-75FE-20A9-203B-EE7247ACE78E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2 – Vendors in VT or VA whose ZIP starts with 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23776F-5F2F-3C52-0D5B-D3BADFC729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849011"/>
            <a:ext cx="9144000" cy="491292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99A78C-777C-DAB6-080D-BABCD92AC178}"/>
              </a:ext>
            </a:extLst>
          </p:cNvPr>
          <p:cNvSpPr/>
          <p:nvPr/>
        </p:nvSpPr>
        <p:spPr>
          <a:xfrm>
            <a:off x="8607972" y="6510471"/>
            <a:ext cx="315311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5EFC19-ADC5-350E-E35F-0FA2ACA1C40C}"/>
              </a:ext>
            </a:extLst>
          </p:cNvPr>
          <p:cNvCxnSpPr/>
          <p:nvPr/>
        </p:nvCxnSpPr>
        <p:spPr>
          <a:xfrm>
            <a:off x="4792717" y="3720662"/>
            <a:ext cx="3731173" cy="278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F88A9262-4679-6412-53D0-A2F4FB747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2" y="4920539"/>
            <a:ext cx="6164826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WHERE VEND_STATE IN ('VT', 'VA')</a:t>
            </a:r>
            <a:r>
              <a:rPr lang="en-US" altLang="en-US" sz="2800" dirty="0">
                <a:latin typeface="Calibir"/>
              </a:rPr>
              <a:t> → Only include vendors located in Vermont (VT) or Virginia (VA).</a:t>
            </a:r>
          </a:p>
        </p:txBody>
      </p:sp>
    </p:spTree>
    <p:extLst>
      <p:ext uri="{BB962C8B-B14F-4D97-AF65-F5344CB8AC3E}">
        <p14:creationId xmlns:p14="http://schemas.microsoft.com/office/powerpoint/2010/main" val="2437213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9721701-214C-BE23-353C-710E7E66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0380D-9445-F3C3-8434-7BD6AC6B6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E4D7C-32F6-922E-BB14-4AA54000A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1404695-ADB8-9B5E-963A-E4BD0C55029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A65CE-5A6D-2B25-00EE-186CF251C20A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2 – Vendors in VT or VA whose ZIP starts with 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50658A-D14E-CB9C-AB46-6828F4D4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849011"/>
            <a:ext cx="9144000" cy="491292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01C72F-69B8-1B85-A24F-5D978C6C7A79}"/>
              </a:ext>
            </a:extLst>
          </p:cNvPr>
          <p:cNvSpPr/>
          <p:nvPr/>
        </p:nvSpPr>
        <p:spPr>
          <a:xfrm>
            <a:off x="8607972" y="6510471"/>
            <a:ext cx="315311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89A2CE-FA6F-94DE-544E-2D34B8C20E69}"/>
              </a:ext>
            </a:extLst>
          </p:cNvPr>
          <p:cNvCxnSpPr/>
          <p:nvPr/>
        </p:nvCxnSpPr>
        <p:spPr>
          <a:xfrm>
            <a:off x="4792717" y="3720662"/>
            <a:ext cx="3731173" cy="278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83390F9C-325C-CF86-E300-F70085322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2" y="4920539"/>
            <a:ext cx="6164826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AND VEND_ZIP LIKE '05*'</a:t>
            </a:r>
            <a:r>
              <a:rPr lang="en-US" altLang="en-US" sz="2800" dirty="0">
                <a:latin typeface="Calibir"/>
              </a:rPr>
              <a:t> → Also, only include vendors whose ZIP code starts with “05”.</a:t>
            </a:r>
          </a:p>
        </p:txBody>
      </p:sp>
    </p:spTree>
    <p:extLst>
      <p:ext uri="{BB962C8B-B14F-4D97-AF65-F5344CB8AC3E}">
        <p14:creationId xmlns:p14="http://schemas.microsoft.com/office/powerpoint/2010/main" val="993387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BEF7C62-626A-0A13-3EED-5BE59D1A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E4CFC-9CAD-C7B2-7984-8DA6C429E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7633D-DF8F-D5E9-9EE3-47E5CC55F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A9FFC9C-46EC-DFD9-8AB4-52591E77C4E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F5BDE-71DF-9075-303E-8607F3594AB6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2 – Vendors in VT or VA whose ZIP starts with 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6F2249-8324-5F62-97ED-DFA3C82FE7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849011"/>
            <a:ext cx="9144000" cy="491292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E97C31-17C3-C920-9BD5-6094B4B14A63}"/>
              </a:ext>
            </a:extLst>
          </p:cNvPr>
          <p:cNvSpPr/>
          <p:nvPr/>
        </p:nvSpPr>
        <p:spPr>
          <a:xfrm>
            <a:off x="8607972" y="6510471"/>
            <a:ext cx="315311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B9819A-66AE-E16C-A3CF-E042523D6686}"/>
              </a:ext>
            </a:extLst>
          </p:cNvPr>
          <p:cNvCxnSpPr/>
          <p:nvPr/>
        </p:nvCxnSpPr>
        <p:spPr>
          <a:xfrm>
            <a:off x="4792717" y="3720662"/>
            <a:ext cx="3731173" cy="278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F63BAFD8-1809-0A4F-C84F-B71907C9E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2" y="5243704"/>
            <a:ext cx="6164826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 * means “any characters after 05” — for example: 05123, 05876, etc.</a:t>
            </a:r>
          </a:p>
        </p:txBody>
      </p:sp>
    </p:spTree>
    <p:extLst>
      <p:ext uri="{BB962C8B-B14F-4D97-AF65-F5344CB8AC3E}">
        <p14:creationId xmlns:p14="http://schemas.microsoft.com/office/powerpoint/2010/main" val="4272390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53FBF32-1EAF-5DB1-6246-63EE3DAE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16BAD5-CE11-9CC2-68FC-38F52E59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F78DF-C21E-6389-11D5-A7F44B984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B62FCF-AD2E-217D-19C2-3F2C831C3EE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1A03F-20B1-0ED8-7F70-7B1E2885EB0C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2 – Vendors in VT or VA whose ZIP starts with 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0022B2-5D82-C766-E4C4-F63BBA0462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849011"/>
            <a:ext cx="9144000" cy="491292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754533-4857-11E8-5CEE-D3968296C8F8}"/>
              </a:ext>
            </a:extLst>
          </p:cNvPr>
          <p:cNvSpPr/>
          <p:nvPr/>
        </p:nvSpPr>
        <p:spPr>
          <a:xfrm>
            <a:off x="8607972" y="6510471"/>
            <a:ext cx="315311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B3FC54-6E4D-45D0-AC96-75E605F092FD}"/>
              </a:ext>
            </a:extLst>
          </p:cNvPr>
          <p:cNvCxnSpPr/>
          <p:nvPr/>
        </p:nvCxnSpPr>
        <p:spPr>
          <a:xfrm>
            <a:off x="4792717" y="3720662"/>
            <a:ext cx="3731173" cy="278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8C79E2FE-42A3-4B07-B9EA-CFEAF7EB8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39819"/>
            <a:ext cx="6594402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In short, </a:t>
            </a:r>
            <a:r>
              <a:rPr lang="en-US" sz="2800" dirty="0">
                <a:latin typeface="Calibir"/>
              </a:rPr>
              <a:t>show all vendors from Vermont or Virginia whose ZIP code begins with 05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864303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2317453-A915-F443-DE62-BC5C8EB30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1F34D9-5BDF-1C07-FF7A-D36482130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6D283-CE5E-A7F9-37A2-B6A5C6142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E23B707-C5A9-73EB-1C51-4D0EF3B20A7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5A349-F72B-7679-9374-033074F9F745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2 – Vendors in VT or VA whose ZIP starts with 05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2A0CF7-0017-49C6-937A-11A9C8B6B2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973"/>
          <a:stretch>
            <a:fillRect/>
          </a:stretch>
        </p:blipFill>
        <p:spPr>
          <a:xfrm>
            <a:off x="0" y="2058113"/>
            <a:ext cx="9144000" cy="324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01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FFC5057-76AD-B402-D69E-2DB72382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31CDD-56FD-B20D-BE6D-6ED165169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DAEEB-6DE2-B0BE-5DFB-79081BC92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C8CCDA1-F824-650F-1A13-B92E36D57CC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2CDE7-6CFA-43BE-ECEA-F705C7A6AAE9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3 – Customers with last name starting M or B, not in VT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F49D36-5808-9933-5D2D-938667B102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3744D52-33CF-DB21-611A-F7A918F8A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361" y="4145849"/>
            <a:ext cx="6757639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*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Show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all columns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of customer information.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FROM LGCUSTOMER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Data comes from the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LGCUSTOMER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table.</a:t>
            </a:r>
          </a:p>
        </p:txBody>
      </p:sp>
    </p:spTree>
    <p:extLst>
      <p:ext uri="{BB962C8B-B14F-4D97-AF65-F5344CB8AC3E}">
        <p14:creationId xmlns:p14="http://schemas.microsoft.com/office/powerpoint/2010/main" val="3951022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A30A9AC-0BDB-742B-53E9-FDEC0A25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29DCEA-834D-B71F-01FF-514A723B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BCE9A-5E05-BCFD-F7C9-C72AEB242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4B8DA45-D64F-66FE-E855-D03032FB4ED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52249-D816-5363-C2D3-10A2F7E786D5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3 – Customers with last name starting M or B, not in VT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0A877D-D995-243E-8BDB-CE085A9BCD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91F7F87-529F-09EE-F3EA-EB6DE0CE7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361" y="4145849"/>
            <a:ext cx="6757639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WHERE (CUST_LNAME LIKE 'M*' OR CUST_LNAME LIKE 'B*') → Only include customers whose last name starts with “M” or “B”.</a:t>
            </a:r>
          </a:p>
        </p:txBody>
      </p:sp>
    </p:spTree>
    <p:extLst>
      <p:ext uri="{BB962C8B-B14F-4D97-AF65-F5344CB8AC3E}">
        <p14:creationId xmlns:p14="http://schemas.microsoft.com/office/powerpoint/2010/main" val="2615070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6C97BFA-1127-5688-C966-6138D7F9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ECDEF-E7A8-ED5B-1B91-3CA44A8B9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107F2-681E-79BD-8615-7F951F77E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DE60954-936D-239F-A5DB-50DB63EAF39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BBE9F-C69B-60FE-3371-BAACFED8902D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3 – Customers with last name starting M or B, not in VT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7B0C36-59E0-8DFA-FEDE-4543242EE9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7EAEBF8-F2DF-B3F2-0478-300D56E9D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145849"/>
            <a:ext cx="9144000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Example: </a:t>
            </a:r>
            <a:r>
              <a:rPr lang="en-US" altLang="en-US" sz="2800" i="1" dirty="0">
                <a:latin typeface="Calibir"/>
              </a:rPr>
              <a:t>Miller, Brown, Baker, Martin, etc.</a:t>
            </a:r>
            <a:endParaRPr lang="en-US" altLang="en-US" sz="2800" dirty="0">
              <a:latin typeface="Calibir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AND CUST_STATE &lt;&gt; 'VT' → Exclude customers who live in Vermont (VT).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 symbol &lt;&gt; means “not equal to.”</a:t>
            </a:r>
          </a:p>
        </p:txBody>
      </p:sp>
    </p:spTree>
    <p:extLst>
      <p:ext uri="{BB962C8B-B14F-4D97-AF65-F5344CB8AC3E}">
        <p14:creationId xmlns:p14="http://schemas.microsoft.com/office/powerpoint/2010/main" val="516443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31210D3-2857-3EC3-1F88-2CA3D11C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854ECC-62A2-9625-3DB1-8E0DD88E2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66517-BE38-961D-C5B8-2266178C1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E411E2F-2CFF-9F95-0F86-39E42DB4C16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40DB4-E64F-3299-5719-74D9D5978733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3 – Customers with last name starting M or B, not in VT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CABF3-9C31-9714-255F-5BEDCDBDE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C47F4DF-4BA2-F76C-E773-0A504B60C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42575"/>
            <a:ext cx="9144000" cy="13154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In short, show all customers whose last name begins with M or B, but who do not live in Vermont (VT).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154270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00DBFD9-17AF-ACD0-257F-9C42438D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5C684C-22BF-C5DE-97EE-E54DEE1E9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13"/>
          <a:stretch>
            <a:fillRect/>
          </a:stretch>
        </p:blipFill>
        <p:spPr>
          <a:xfrm>
            <a:off x="0" y="2459370"/>
            <a:ext cx="8311243" cy="43986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F93DC-B8E5-936C-3AEF-677DEFBC1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10531-F1BF-A03A-C8B5-70EC0547C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A2A8487-13AC-225F-2E05-A4B093C0BCF9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5D68-A74D-D89C-5BEB-490AEBE02468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4 – Departments containing “SERVICE” or “SALES”, phone starts 555-2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E6ED1AE-51FD-414C-30E9-709888BFC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4" y="4247157"/>
            <a:ext cx="9144000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* → Show </a:t>
            </a:r>
            <a:r>
              <a:rPr kumimoji="0" lang="en-US" altLang="en-US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all columns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(every piece of information) from the results.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FROM LGDEPARTMENT → Get the data from the LGDEPARTMENT table.</a:t>
            </a:r>
          </a:p>
        </p:txBody>
      </p:sp>
    </p:spTree>
    <p:extLst>
      <p:ext uri="{BB962C8B-B14F-4D97-AF65-F5344CB8AC3E}">
        <p14:creationId xmlns:p14="http://schemas.microsoft.com/office/powerpoint/2010/main" val="4063148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F4A8F41-B8DD-E154-DE85-DABB6ACA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EE047A-0CF2-AF1F-12EF-23B35C39AD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13"/>
          <a:stretch>
            <a:fillRect/>
          </a:stretch>
        </p:blipFill>
        <p:spPr>
          <a:xfrm>
            <a:off x="0" y="2459370"/>
            <a:ext cx="8311243" cy="43986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104A0-D699-5197-F659-2487CD152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C39BD-7C4B-724D-3E2A-57F8CD5B1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A4C8B60-9F6B-61AC-1F06-E369B6F6B49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3389B-0890-E6E5-32EF-80D2C95315EC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4 – Departments containing “SERVICE” or “SALES”, phone starts 555-2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449CBE-620D-FA49-0C6E-6EFA5582F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39819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SELECT *</a:t>
            </a:r>
            <a:r>
              <a:rPr lang="en-US" altLang="en-US" sz="2800" dirty="0">
                <a:latin typeface="Calibir"/>
              </a:rPr>
              <a:t> → Show </a:t>
            </a:r>
            <a:r>
              <a:rPr lang="en-US" altLang="en-US" sz="2800" i="1" dirty="0">
                <a:latin typeface="Calibir"/>
              </a:rPr>
              <a:t>all columns</a:t>
            </a:r>
            <a:r>
              <a:rPr lang="en-US" altLang="en-US" sz="2800" dirty="0">
                <a:latin typeface="Calibir"/>
              </a:rPr>
              <a:t> (every piece of information) from the results.</a:t>
            </a:r>
          </a:p>
        </p:txBody>
      </p:sp>
    </p:spTree>
    <p:extLst>
      <p:ext uri="{BB962C8B-B14F-4D97-AF65-F5344CB8AC3E}">
        <p14:creationId xmlns:p14="http://schemas.microsoft.com/office/powerpoint/2010/main" val="2140987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9B61B84-BD60-A39F-7A05-F17666A5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85DDB5-049A-F213-CA29-4F8D5198D7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13"/>
          <a:stretch>
            <a:fillRect/>
          </a:stretch>
        </p:blipFill>
        <p:spPr>
          <a:xfrm>
            <a:off x="0" y="2459370"/>
            <a:ext cx="8311243" cy="43986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64D7D1-F191-8BB2-A285-152BD6B7F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D3347-CFF9-951E-23DB-36692FA70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A9397D3-AC6E-EB9B-666E-3267D8FC125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50F88-24F2-6A55-947B-B4D6CDB505FD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4 – Departments containing “SERVICE” or “SALES”, phone starts 555-2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6C377D0-723D-C33D-E8C8-25F4DD52F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10322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FROM LGDEPARTMENT</a:t>
            </a:r>
            <a:r>
              <a:rPr lang="en-US" altLang="en-US" sz="2800" dirty="0">
                <a:latin typeface="Calibir"/>
              </a:rPr>
              <a:t> → Get the data from the LGDEPARTMENT table.</a:t>
            </a:r>
          </a:p>
        </p:txBody>
      </p:sp>
    </p:spTree>
    <p:extLst>
      <p:ext uri="{BB962C8B-B14F-4D97-AF65-F5344CB8AC3E}">
        <p14:creationId xmlns:p14="http://schemas.microsoft.com/office/powerpoint/2010/main" val="740653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EB22386-93BD-0926-BB2F-2C560EBB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11B996-FB38-1B9F-FC98-FB7BDFC39A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13"/>
          <a:stretch>
            <a:fillRect/>
          </a:stretch>
        </p:blipFill>
        <p:spPr>
          <a:xfrm>
            <a:off x="0" y="2459370"/>
            <a:ext cx="8311243" cy="43986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6D12A-8DDF-B7E7-1DCE-C75851A84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39ADC-600B-4D31-C48F-50E8DBBE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89B1FAE-8365-67B2-5B48-FCDCA1E03EF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23A42-7243-F95C-D787-032E9B0F91BC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4 – Departments containing “SERVICE” or “SALES”, phone starts 555-2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F13F6C-CDB2-1E8D-6A2D-E349BA3CE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47157"/>
            <a:ext cx="9144000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WHERE (DEPT_NAME LIKE '*SERVICE*' OR DEPT_NAME LIKE '*SALES*') </a:t>
            </a:r>
            <a:r>
              <a:rPr lang="en-US" sz="2800" dirty="0">
                <a:latin typeface="Calibir"/>
              </a:rPr>
              <a:t>→ Find departments whose name contains “SERVICE” or “SALES” anywhere in it.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Example: </a:t>
            </a:r>
            <a:r>
              <a:rPr lang="en-US" sz="2800" i="1" dirty="0">
                <a:latin typeface="Calibir"/>
              </a:rPr>
              <a:t>Customer Service</a:t>
            </a:r>
            <a:r>
              <a:rPr lang="en-US" sz="2800" dirty="0">
                <a:latin typeface="Calibir"/>
              </a:rPr>
              <a:t>, </a:t>
            </a:r>
            <a:r>
              <a:rPr lang="en-US" sz="2800" i="1" dirty="0">
                <a:latin typeface="Calibir"/>
              </a:rPr>
              <a:t>After-Sales Support</a:t>
            </a:r>
            <a:r>
              <a:rPr lang="en-US" sz="2800" dirty="0">
                <a:latin typeface="Calibir"/>
              </a:rPr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984394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25B6F11-EB66-519A-0999-19CFE149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A5716A-8003-B242-3576-6174A53CB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13"/>
          <a:stretch>
            <a:fillRect/>
          </a:stretch>
        </p:blipFill>
        <p:spPr>
          <a:xfrm>
            <a:off x="0" y="2459370"/>
            <a:ext cx="8311243" cy="43986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15D23-71C2-D3E3-1494-191B3D571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6A591-1218-ABE9-31A7-8DDC4BFB5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82E16DF-6F0C-3549-E16C-F4DEFED59F92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47D6F-0C51-022C-C42F-1512ABA0D53C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4 – Departments containing “SERVICE” or “SALES”, phone starts 555-2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F2E3E0-8C47-5EBC-0CF3-0862721A2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14669"/>
            <a:ext cx="9144000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AND DEPT_PHONE LIKE '555-2*'</a:t>
            </a:r>
            <a:r>
              <a:rPr lang="en-US" sz="2800" dirty="0">
                <a:latin typeface="Calibir"/>
              </a:rPr>
              <a:t> → Only include departments whose phone number starts with “555-2” (e.g., 555-2000, 555-2345, etc.).</a:t>
            </a:r>
          </a:p>
        </p:txBody>
      </p:sp>
    </p:spTree>
    <p:extLst>
      <p:ext uri="{BB962C8B-B14F-4D97-AF65-F5344CB8AC3E}">
        <p14:creationId xmlns:p14="http://schemas.microsoft.com/office/powerpoint/2010/main" val="7773665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ED0EC49-11EB-DC4B-76C2-5406F421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98B762-2300-3088-D019-8938814AB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13"/>
          <a:stretch>
            <a:fillRect/>
          </a:stretch>
        </p:blipFill>
        <p:spPr>
          <a:xfrm>
            <a:off x="0" y="2459370"/>
            <a:ext cx="8311243" cy="43986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7A679-1744-2938-8EEF-380341DF0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0A5A7-4C90-76BC-ABA0-C85F82D55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EC1BFE0-46B9-D042-E903-BD050572A65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F9247-FB58-F2F9-EF9F-2504EC01987A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4 – Departments containing “SERVICE” or “SALES”, phone starts 555-2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4724F50-3052-9677-D483-29D422B2E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39819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short, show all departments that have ‘Service’ or ‘Sales’ in their name and whose phone number begins with 555-2.</a:t>
            </a:r>
          </a:p>
        </p:txBody>
      </p:sp>
    </p:spTree>
    <p:extLst>
      <p:ext uri="{BB962C8B-B14F-4D97-AF65-F5344CB8AC3E}">
        <p14:creationId xmlns:p14="http://schemas.microsoft.com/office/powerpoint/2010/main" val="36221471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8A972FB-065B-CAA2-1DCF-C29C9B5A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647D8A-BB99-DA15-9A63-3391061F8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0F607-BE78-8053-53D9-1B43E98D5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9E16B2-139A-A345-9805-44158CBE7D3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65F479-0192-0B59-7B51-DC4A2A233D98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5 – PREMIUM or VALUE brands whose vendors are not in VT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52A7D4-6C29-9F10-1ADE-6C63EE0CFC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499554" y="2492585"/>
            <a:ext cx="8145517" cy="436709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9DC7E8D-EC51-4F8D-6829-05219EAFA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93668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DISTINCT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Show each combination of results only once (no duplicates).</a:t>
            </a:r>
          </a:p>
        </p:txBody>
      </p:sp>
    </p:spTree>
    <p:extLst>
      <p:ext uri="{BB962C8B-B14F-4D97-AF65-F5344CB8AC3E}">
        <p14:creationId xmlns:p14="http://schemas.microsoft.com/office/powerpoint/2010/main" val="18914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2A0B745-E8EB-0F42-C4CD-BF351D48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A61427-E922-F2DD-4317-DD349C1BF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2698B-DA1C-87C5-04A4-05FEF22A1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1EDB2C1-0EB6-5753-6E40-B8017ADE7BB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69BEC-FB01-22CF-0AF8-B73FC36345BE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5 – PREMIUM or VALUE brands whose vendors are not in VT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B30C6-7984-6A12-522D-A08FE122A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499554" y="2492585"/>
            <a:ext cx="8145517" cy="436709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B33CCF3-6A0C-F0A8-F35D-4C3BDEF1F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93488"/>
            <a:ext cx="9144000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LGBRAND.BRAND_NAME, LGVENDOR.VEND_NAME, LGVENDOR.VEND_STATE</a:t>
            </a:r>
            <a:r>
              <a:rPr lang="en-US" altLang="en-US" sz="2800" dirty="0">
                <a:latin typeface="Calibir"/>
              </a:rPr>
              <a:t> → Display the brand name, vendor name, and vendor state.</a:t>
            </a:r>
          </a:p>
        </p:txBody>
      </p:sp>
    </p:spTree>
    <p:extLst>
      <p:ext uri="{BB962C8B-B14F-4D97-AF65-F5344CB8AC3E}">
        <p14:creationId xmlns:p14="http://schemas.microsoft.com/office/powerpoint/2010/main" val="19224099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D76A583-C18B-506B-4682-A8B6E50CC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11D89-F614-3DAA-B246-B6D4A66AB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88ACD-E60D-8CD5-7148-0B2D97B5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1735D84-F6E2-96BA-E549-B2F63E246B4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2F604B-E708-58B4-3A43-F30BBBC0D1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498929" y="1245451"/>
            <a:ext cx="8145517" cy="436709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A66DB6A-D51C-0B77-52D7-AF2F2D190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00139"/>
            <a:ext cx="9144000" cy="295786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FROM ... INNER JOIN ... → Connect several tables together so you can combine brand, product, supply, and vendor data:</a:t>
            </a:r>
          </a:p>
          <a:p>
            <a:pPr marL="72231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LGBRAND is joined with LGPRODUCT using BRAND_ID.</a:t>
            </a:r>
          </a:p>
          <a:p>
            <a:pPr marL="72231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LGPRODUCT connects with LGSUPPLIES using PROD_SKU.</a:t>
            </a:r>
          </a:p>
          <a:p>
            <a:pPr marL="72231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LGSUPPLIES connects with LGVENDOR using VEND_ID.</a:t>
            </a:r>
            <a:br>
              <a:rPr lang="en-US" dirty="0">
                <a:latin typeface="Calibir"/>
              </a:rPr>
            </a:br>
            <a:r>
              <a:rPr lang="en-US" dirty="0">
                <a:latin typeface="Calibir"/>
              </a:rPr>
              <a:t>These joins make sure the query links each brand to its vendor through the products and supplies.</a:t>
            </a:r>
          </a:p>
        </p:txBody>
      </p:sp>
    </p:spTree>
    <p:extLst>
      <p:ext uri="{BB962C8B-B14F-4D97-AF65-F5344CB8AC3E}">
        <p14:creationId xmlns:p14="http://schemas.microsoft.com/office/powerpoint/2010/main" val="1973181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61A2699-7C62-F18D-C3ED-E8D5228C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78EBEA-DDDE-ADED-88A4-A245F2FB8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DA535-F00A-A7CE-A18B-1114DDAFA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32CC9A6-478A-EAB7-64BE-729A9400910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CEE83-6AC9-7479-5EED-E00544BC9E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498929" y="1245451"/>
            <a:ext cx="8145517" cy="436709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CE4C79C-36E5-518F-AB96-AE963EA61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00826"/>
            <a:ext cx="9144000" cy="32571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WHERE (LGBRAND.BRAND_TYPE IN ('PREMIUM','VALUE')) → Only include brands that are Premium or Value type.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AND LGVENDOR.VEND_STATE &lt;&gt; 'VT' → Exclude vendors located in Vermont (VT).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(&lt;&gt; means “not equal to”).</a:t>
            </a:r>
          </a:p>
        </p:txBody>
      </p:sp>
    </p:spTree>
    <p:extLst>
      <p:ext uri="{BB962C8B-B14F-4D97-AF65-F5344CB8AC3E}">
        <p14:creationId xmlns:p14="http://schemas.microsoft.com/office/powerpoint/2010/main" val="4099259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2C91F7B-7D98-14D9-D0EC-27C5960A8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96481-3D34-A441-1559-99EB291BE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90044-6E8B-97EE-172C-1EC1BF58A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4AA92E5-BA62-9162-79EF-75F5FDC787C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F10017-E70B-ADB1-2A99-C9487CCD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498929" y="1245451"/>
            <a:ext cx="8145517" cy="436709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3C36A2A-DAC0-E3EE-325D-C318DA3AE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3" y="4896245"/>
            <a:ext cx="9144000" cy="196175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In short, s</a:t>
            </a:r>
            <a:r>
              <a:rPr lang="en-US" sz="2800" dirty="0">
                <a:latin typeface="Calibir"/>
              </a:rPr>
              <a:t>how a unique list of all Premium or Value brands and their vendors, but only for vendors not located in Vermont (VT).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730736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4A72FF8-6B5B-B906-C08A-519D9804D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B717A2-0669-DA95-F052-AF1177942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6174-C28D-E471-0D5E-5C9F36241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4D7F681-A38D-AE71-2DCA-59B50885706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183F0-105A-2FA7-1A99-C3E6F96B82C0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6 – Products in VALUE brands with quantity on hand &lt; 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A35CD-9563-1972-3306-F1B3DB1870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722993" y="1834872"/>
            <a:ext cx="8092966" cy="4338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262D68-3BBF-18FB-CC64-10659E1B1AF8}"/>
              </a:ext>
            </a:extLst>
          </p:cNvPr>
          <p:cNvSpPr txBox="1"/>
          <p:nvPr/>
        </p:nvSpPr>
        <p:spPr>
          <a:xfrm>
            <a:off x="0" y="4225034"/>
            <a:ext cx="9144000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SELECT</a:t>
            </a:r>
            <a:r>
              <a:rPr lang="en-US" sz="2800" dirty="0">
                <a:latin typeface="Calibir"/>
              </a:rPr>
              <a:t> → Choose the columns to display: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PROD_SKU → Product code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PROD_DESCRIPT → Product description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PROD_QOH → Quantity on hand</a:t>
            </a:r>
          </a:p>
        </p:txBody>
      </p:sp>
    </p:spTree>
    <p:extLst>
      <p:ext uri="{BB962C8B-B14F-4D97-AF65-F5344CB8AC3E}">
        <p14:creationId xmlns:p14="http://schemas.microsoft.com/office/powerpoint/2010/main" val="1830724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9631CB6-DCE5-0618-9FB9-BBBC3D36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7A3F3-C8D8-1F35-90DC-2558BCA3C9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5EB23-0904-14C5-DFBD-30C3A0965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7C7126D-7439-76FB-5D89-96124F5E0F1D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19D9D-61BA-E3CF-3F41-7C1C13A39DDB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6 – Products in VALUE brands with quantity on hand &lt; 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403FC2-81E9-D2C3-4999-73DB66C7A4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722993" y="1834873"/>
            <a:ext cx="7300130" cy="39138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C1E7A-8371-5FB6-CC42-795A93DB8446}"/>
              </a:ext>
            </a:extLst>
          </p:cNvPr>
          <p:cNvSpPr txBox="1"/>
          <p:nvPr/>
        </p:nvSpPr>
        <p:spPr>
          <a:xfrm>
            <a:off x="0" y="3600826"/>
            <a:ext cx="9144000" cy="32571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FROM LGPRODUCT → Get data from the LGPRODUCT table (the product list).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INNER JOIN LGBRAND ON LGPRODUCT.BRAND_ID = LGBRAND.BRAND_ID → Match each product with its brand based on their shared BRAND_ID field.</a:t>
            </a:r>
          </a:p>
        </p:txBody>
      </p:sp>
    </p:spTree>
    <p:extLst>
      <p:ext uri="{BB962C8B-B14F-4D97-AF65-F5344CB8AC3E}">
        <p14:creationId xmlns:p14="http://schemas.microsoft.com/office/powerpoint/2010/main" val="13342213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B3F32CF-40EC-E543-4769-2D769A481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C1333-E78B-A88A-8D39-6367F12A2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619B7-A8A7-1661-AF87-F96260FA8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1D532A4-2C75-A3AC-6F1F-01A0660192F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F1410-DBDD-517D-BFB1-97D2B1A38A39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6 – Products in VALUE brands with quantity on hand &lt; 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37BEA-B9C5-7B0A-9B85-4245D7AF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722993" y="1834873"/>
            <a:ext cx="7300130" cy="39138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E25490-6D44-73B4-510F-0127257D44F8}"/>
              </a:ext>
            </a:extLst>
          </p:cNvPr>
          <p:cNvSpPr txBox="1"/>
          <p:nvPr/>
        </p:nvSpPr>
        <p:spPr>
          <a:xfrm>
            <a:off x="0" y="3600826"/>
            <a:ext cx="9144000" cy="32571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WHERE LGBRAND.BRAND_TYPE = 'VALUE'</a:t>
            </a:r>
            <a:r>
              <a:rPr lang="en-US" altLang="en-US" sz="2800" dirty="0">
                <a:latin typeface="Calibir"/>
              </a:rPr>
              <a:t> → Only show products that belong to </a:t>
            </a:r>
            <a:r>
              <a:rPr lang="en-US" altLang="en-US" sz="2800" b="1" dirty="0">
                <a:latin typeface="Calibir"/>
              </a:rPr>
              <a:t>Value</a:t>
            </a:r>
            <a:r>
              <a:rPr lang="en-US" altLang="en-US" sz="2800" dirty="0">
                <a:latin typeface="Calibir"/>
              </a:rPr>
              <a:t> brands.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AND LGPRODUCT.PROD_QOH &lt; 50</a:t>
            </a:r>
            <a:r>
              <a:rPr lang="en-US" altLang="en-US" sz="2800" dirty="0">
                <a:latin typeface="Calibir"/>
              </a:rPr>
              <a:t> → Further filter to show only products that have less than 50 units available in stock.</a:t>
            </a:r>
          </a:p>
        </p:txBody>
      </p:sp>
    </p:spTree>
    <p:extLst>
      <p:ext uri="{BB962C8B-B14F-4D97-AF65-F5344CB8AC3E}">
        <p14:creationId xmlns:p14="http://schemas.microsoft.com/office/powerpoint/2010/main" val="5190144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7CB72F0-0ECF-1816-026D-77E37C7D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76B9D-3173-2CE6-D60B-60016EB96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3B0B1-9DAF-37D3-C5A5-5244FE2FA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E7AF2A-ACFA-EF07-783C-326F7D1E1EC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A2AAA-79F8-983B-42C3-A182A3EFA631}"/>
              </a:ext>
            </a:extLst>
          </p:cNvPr>
          <p:cNvSpPr txBox="1"/>
          <p:nvPr/>
        </p:nvSpPr>
        <p:spPr>
          <a:xfrm>
            <a:off x="0" y="1177160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6 – Products in VALUE brands with quantity on hand &lt; 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A9B559-5F2A-25EF-214A-21C8C9F638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722993" y="1834873"/>
            <a:ext cx="7300130" cy="39138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343D54-8002-CBA4-4AB7-B3538DD9B363}"/>
              </a:ext>
            </a:extLst>
          </p:cNvPr>
          <p:cNvSpPr txBox="1"/>
          <p:nvPr/>
        </p:nvSpPr>
        <p:spPr>
          <a:xfrm>
            <a:off x="0" y="5542575"/>
            <a:ext cx="9144000" cy="13154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In short, l</a:t>
            </a:r>
            <a:r>
              <a:rPr lang="en-US" sz="2800" dirty="0">
                <a:latin typeface="Calibir"/>
              </a:rPr>
              <a:t>ist all products from Value brands that have fewer than 50 items left in stock.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4482674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A040BE8-FDE4-92B4-63C7-C9119817F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FA122-BD70-22D9-DE4A-BD85F0D56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F484C-E5D7-06F8-2058-20E27F9E8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911E451-4817-1A5B-0733-C0316C8A81D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D3652E-4486-EF8B-39DC-CB5C0290C87D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7 – Vendors supplying PREMIUM-brand products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28B666-09FB-B79E-D448-09EFB047C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1"/>
          <a:stretch>
            <a:fillRect/>
          </a:stretch>
        </p:blipFill>
        <p:spPr>
          <a:xfrm>
            <a:off x="0" y="1846254"/>
            <a:ext cx="9144000" cy="489190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73FF42A-57C9-4768-F1CF-15CDD0188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39819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DISTINCT → Show each vendor–brand combination only once (no duplicates).</a:t>
            </a:r>
          </a:p>
        </p:txBody>
      </p:sp>
    </p:spTree>
    <p:extLst>
      <p:ext uri="{BB962C8B-B14F-4D97-AF65-F5344CB8AC3E}">
        <p14:creationId xmlns:p14="http://schemas.microsoft.com/office/powerpoint/2010/main" val="41874996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A7CE48E-BA17-BC24-A58F-6002973E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6B0AA-166C-73F2-38B6-B4A958E40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B3C0A-055A-4BE6-9202-46EA3B9FF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9ABC19D-5EB3-5039-7F10-8A3D1BC185A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75E62-C552-083C-74C5-8262932B90EE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7 – Vendors supplying PREMIUM-brand products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C80A7B-7982-1DBB-2779-1927D837F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1"/>
          <a:stretch>
            <a:fillRect/>
          </a:stretch>
        </p:blipFill>
        <p:spPr>
          <a:xfrm>
            <a:off x="0" y="1846254"/>
            <a:ext cx="9144000" cy="489190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AF9710-F401-1D41-E001-AE0E3C2E0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93488"/>
            <a:ext cx="9144000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LGVENDOR.VEND_NAME, LGBRAND.BRAND_NAME, LGBRAND.BRAND_TYPE → Display the vendor name, brand name, and brand type.</a:t>
            </a:r>
          </a:p>
        </p:txBody>
      </p:sp>
    </p:spTree>
    <p:extLst>
      <p:ext uri="{BB962C8B-B14F-4D97-AF65-F5344CB8AC3E}">
        <p14:creationId xmlns:p14="http://schemas.microsoft.com/office/powerpoint/2010/main" val="9039917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57FF22B-43D3-08A3-E022-21224FBD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EB5FE-1105-DDB8-20E0-E27544F46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514B-857F-C889-EFB0-A740BF9FF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FDB27FB-CAE4-3767-C127-FF915FC427B3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71690-0B85-848A-A7D4-55F6580EA1DD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7 – Vendors supplying PREMIUM-brand products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AB3188-CE9C-1D38-8D2B-8D1E0476F6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1"/>
          <a:stretch>
            <a:fillRect/>
          </a:stretch>
        </p:blipFill>
        <p:spPr>
          <a:xfrm>
            <a:off x="0" y="1846254"/>
            <a:ext cx="9144000" cy="489190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9A35D5C-5AF1-8D64-7338-96E9776E7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04364"/>
            <a:ext cx="9144000" cy="23529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FROM ... INNER JOIN ... → Connect the tables together: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LGVENDOR links with LGSUPPLIES using VEND_ID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LGSUPPLIES links with LGPRODUCT using PROD_SKU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LGPRODUCT links with LGBRAND using BRAND_ID</a:t>
            </a:r>
            <a:br>
              <a:rPr lang="en-US" sz="2000" dirty="0">
                <a:latin typeface="Calibir"/>
              </a:rPr>
            </a:br>
            <a:r>
              <a:rPr lang="en-US" sz="2000" dirty="0">
                <a:latin typeface="Calibir"/>
              </a:rPr>
              <a:t>This chain allows Access to trace which vendor supplies which brand’s products.</a:t>
            </a:r>
          </a:p>
        </p:txBody>
      </p:sp>
    </p:spTree>
    <p:extLst>
      <p:ext uri="{BB962C8B-B14F-4D97-AF65-F5344CB8AC3E}">
        <p14:creationId xmlns:p14="http://schemas.microsoft.com/office/powerpoint/2010/main" val="865022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033FC92-CED2-2ABF-9EEA-44299B403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E2820-CD52-C9E3-BA75-C20FBB33B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3178C-A64A-A0D1-66F7-64F741906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6226E66-5087-5E3A-5C06-FB6EEF78588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3E2FE-EFC4-FFB1-911D-AD96353C20C3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7 – Vendors supplying PREMIUM-brand products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EE75FA-E071-E0D3-837E-0FAEC82691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1"/>
          <a:stretch>
            <a:fillRect/>
          </a:stretch>
        </p:blipFill>
        <p:spPr>
          <a:xfrm>
            <a:off x="0" y="1846254"/>
            <a:ext cx="9144000" cy="489190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04C4D92-6434-98B5-41AD-E62D6BB6B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21750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WHERE LGBRAND.BRAND_TYPE = 'PREMIUM'</a:t>
            </a:r>
            <a:r>
              <a:rPr lang="en-US" sz="2800" dirty="0">
                <a:latin typeface="Calibir"/>
              </a:rPr>
              <a:t> → Only include rows where the brand is Premium.</a:t>
            </a:r>
          </a:p>
        </p:txBody>
      </p:sp>
    </p:spTree>
    <p:extLst>
      <p:ext uri="{BB962C8B-B14F-4D97-AF65-F5344CB8AC3E}">
        <p14:creationId xmlns:p14="http://schemas.microsoft.com/office/powerpoint/2010/main" val="15712063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D53B084-C1F9-BC23-6A00-E8714CFA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9FF54-2E47-B291-5EB8-2D36CE132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71C82-8088-08DF-5A97-28D0FBB34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6BFC8E2-DCC3-1F76-6B5C-45B6CF9781A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124F2-DC86-A208-F81B-5742B774BEB5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7 – Vendors supplying PREMIUM-brand products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0B0C11-735B-72B5-ED46-3C327F37D5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1"/>
          <a:stretch>
            <a:fillRect/>
          </a:stretch>
        </p:blipFill>
        <p:spPr>
          <a:xfrm>
            <a:off x="0" y="1846254"/>
            <a:ext cx="9144000" cy="489190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3B923DD-0FD8-FBF7-7B96-B0BF5EEB0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21751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short, show a unique list of vendors who supply Premium-brand products, including the brand name and its type.”</a:t>
            </a:r>
          </a:p>
        </p:txBody>
      </p:sp>
    </p:spTree>
    <p:extLst>
      <p:ext uri="{BB962C8B-B14F-4D97-AF65-F5344CB8AC3E}">
        <p14:creationId xmlns:p14="http://schemas.microsoft.com/office/powerpoint/2010/main" val="3350792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88790DF-9719-FB21-8CD0-DB1471B4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A9E60-26C4-9EC2-DD68-E6797E8CA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07D12-F2A1-5E91-D30D-0048AD009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19465CA-304E-9466-4363-A923BE774AD2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A7B98-425A-A485-B50F-079469B0C03C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8 – Employees in SALES or MARKETING departments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00F91-64CC-28F3-4161-65E1C3D5C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976602"/>
            <a:ext cx="9144000" cy="4881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DE7F51-EB5B-99B6-A4BA-0C31E673A401}"/>
              </a:ext>
            </a:extLst>
          </p:cNvPr>
          <p:cNvSpPr txBox="1"/>
          <p:nvPr/>
        </p:nvSpPr>
        <p:spPr>
          <a:xfrm>
            <a:off x="0" y="4247157"/>
            <a:ext cx="9144000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SELECT</a:t>
            </a:r>
            <a:r>
              <a:rPr lang="en-US" sz="2800" dirty="0">
                <a:latin typeface="Calibir"/>
              </a:rPr>
              <a:t> → Choose the fields to display: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EMP_FNAME → Employee’s first name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EMP_LNAME → Employee’s last name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DEPT_NAME → Department name</a:t>
            </a:r>
          </a:p>
        </p:txBody>
      </p:sp>
    </p:spTree>
    <p:extLst>
      <p:ext uri="{BB962C8B-B14F-4D97-AF65-F5344CB8AC3E}">
        <p14:creationId xmlns:p14="http://schemas.microsoft.com/office/powerpoint/2010/main" val="8410180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47AE902-01B9-FC77-00C2-0F747DCB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614CD-C4E0-DC76-DF54-4A2867C87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3512-9F90-2DDB-491C-5E2AB8B68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56C5F0E-F398-95A9-454E-52F1E5BA7816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1F76A-BC01-4952-4F2D-94840405C7F3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8 – Employees in SALES or MARKETING departments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F9A4BB-B893-CC24-3961-D4D8F902BC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976602"/>
            <a:ext cx="9144000" cy="4881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7BC0B0-E8D3-429B-4558-9C3C7B211E70}"/>
              </a:ext>
            </a:extLst>
          </p:cNvPr>
          <p:cNvSpPr txBox="1"/>
          <p:nvPr/>
        </p:nvSpPr>
        <p:spPr>
          <a:xfrm>
            <a:off x="0" y="5128494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FROM LGEMPLOYEE → Data comes from the LGEMPLOYEE table.</a:t>
            </a:r>
          </a:p>
        </p:txBody>
      </p:sp>
    </p:spTree>
    <p:extLst>
      <p:ext uri="{BB962C8B-B14F-4D97-AF65-F5344CB8AC3E}">
        <p14:creationId xmlns:p14="http://schemas.microsoft.com/office/powerpoint/2010/main" val="33901954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A8105BE-DAA7-FBFE-7012-95A0CB06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F52E8-8D27-FDE1-0C3A-8041BC035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A6823-F701-1A70-548D-239D41E12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18C7404-A86A-409F-C1C5-472F78585FF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843-807A-AAD2-D901-5C4C1578AB43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8 – Employees in SALES or MARKETING departments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3E37DE-A532-2FCD-66C3-C737D83796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976602"/>
            <a:ext cx="9144000" cy="4881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856F6B-E235-E275-4BB6-6FF2C2F656A9}"/>
              </a:ext>
            </a:extLst>
          </p:cNvPr>
          <p:cNvSpPr txBox="1"/>
          <p:nvPr/>
        </p:nvSpPr>
        <p:spPr>
          <a:xfrm>
            <a:off x="0" y="4247157"/>
            <a:ext cx="9144000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INNER JOIN LGDEPARTMENT ON LGEMPLOYEE.DEPT_NUM = LGDEPARTMENT.DEPT_NUM → Connect employees with their corresponding department using the DEPT_NUM (department number).</a:t>
            </a:r>
          </a:p>
        </p:txBody>
      </p:sp>
    </p:spTree>
    <p:extLst>
      <p:ext uri="{BB962C8B-B14F-4D97-AF65-F5344CB8AC3E}">
        <p14:creationId xmlns:p14="http://schemas.microsoft.com/office/powerpoint/2010/main" val="42122809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F94632A-9C7F-6901-3956-03E26879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C8DA0-7CF1-7320-E901-698442E83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68C98-A38D-6900-F437-61D265BFA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EB9C94A-84B8-EDD0-981C-A991D2BBE5E1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D4954-CD45-F938-83D1-4AE21999152E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8 – Employees in SALES or MARKETING departments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B881C6-3BA5-7C2B-294C-A7F3E51BBE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976602"/>
            <a:ext cx="9144000" cy="4881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385A30-59A3-793E-8028-4F231DCFD1B5}"/>
              </a:ext>
            </a:extLst>
          </p:cNvPr>
          <p:cNvSpPr txBox="1"/>
          <p:nvPr/>
        </p:nvSpPr>
        <p:spPr>
          <a:xfrm>
            <a:off x="0" y="4893488"/>
            <a:ext cx="9144000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WHERE LGDEPARTMENT.DEPT_NAME IN ('SALES','MARKETING') → Only include employees who work in Sales or Marketing departments.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0056522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81DB20E-345B-7399-6AC2-BE3BE780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79D5D-148D-85F6-8CBD-F59DADA2A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E45B8-4E47-03A6-C6C3-9AA3F8FFA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66B6DC1-7C84-2868-BBBA-5D37A8A2DB9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5BA82-A822-676C-4401-E00FE6D71025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8 – Employees in SALES or MARKETING departments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B847A9-CA36-4C0E-DA6B-09BAE29662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976602"/>
            <a:ext cx="9144000" cy="4881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C0157B-4551-CEEF-A57B-5F5328BC8AA0}"/>
              </a:ext>
            </a:extLst>
          </p:cNvPr>
          <p:cNvSpPr txBox="1"/>
          <p:nvPr/>
        </p:nvSpPr>
        <p:spPr>
          <a:xfrm>
            <a:off x="0" y="4893488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In short, s</a:t>
            </a:r>
            <a:r>
              <a:rPr lang="en-US" sz="2800" dirty="0">
                <a:latin typeface="Calibir"/>
              </a:rPr>
              <a:t>how all employees who work in the Sales or Marketing departments, along with their department name.”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1599039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2255A30-34C1-FA08-B273-2AC6490B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C2A00-03F2-F5AE-9897-E1E5E951E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61BA7-270A-01FB-B279-0274893AC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2C7291E-2FE2-823A-BD46-9E1385B747C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C3C56-C19D-8E55-0989-2F3E65CE23A0}"/>
              </a:ext>
            </a:extLst>
          </p:cNvPr>
          <p:cNvSpPr txBox="1"/>
          <p:nvPr/>
        </p:nvSpPr>
        <p:spPr>
          <a:xfrm>
            <a:off x="0" y="1177160"/>
            <a:ext cx="9144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8 – Employees in SALES or MARKETING departments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D15E9-2FBF-41AD-05BA-739C3975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7"/>
          <a:stretch>
            <a:fillRect/>
          </a:stretch>
        </p:blipFill>
        <p:spPr>
          <a:xfrm>
            <a:off x="0" y="1955581"/>
            <a:ext cx="9144000" cy="490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082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F87D6EF-CAF3-1B01-EBC1-8E36E0359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CEB267-0B11-F3D4-4CF4-C7FF7FCC0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07A39-3F50-A43F-3801-73A92B9A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DF1A05D-7C00-CA9E-84D5-64CA2367445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2B6B9-789A-A80E-0FBA-AB04A76C8BC6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9 – Vendors in OH that supply any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87C32A-06D6-6237-92CF-20ACBFCDDD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A1A72D3-79A0-930C-8966-D8C38690D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995" y="5321192"/>
            <a:ext cx="6799005" cy="131818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SELECT DISTINCT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→ Show each vendor only once (no duplicate rows).</a:t>
            </a:r>
          </a:p>
        </p:txBody>
      </p:sp>
    </p:spTree>
    <p:extLst>
      <p:ext uri="{BB962C8B-B14F-4D97-AF65-F5344CB8AC3E}">
        <p14:creationId xmlns:p14="http://schemas.microsoft.com/office/powerpoint/2010/main" val="4255589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CD3A9B9-1536-2F1E-C2FD-2D04FE45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5D8F1A-4BB6-AEDC-6769-B86BB846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639C5-D77C-0CEA-2CDD-869D3D495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06856CC-4326-2A00-FFB3-8110AF3C518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DCCAA-6FCA-6AA1-0256-C60B5D84885C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9 – Vendors in OH that supply any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83F23-A190-3DE3-3266-57C741300B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76BF72C-DEA7-96F1-9DF0-536C00392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93488"/>
            <a:ext cx="9144000" cy="196451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LGVENDOR.VEND_NAME, LGVENDOR.VEND_STATE</a:t>
            </a:r>
            <a:r>
              <a:rPr lang="en-US" altLang="en-US" sz="2800" dirty="0">
                <a:latin typeface="Calibir"/>
              </a:rPr>
              <a:t> → Display the vendor’s name and the state they are located in.</a:t>
            </a:r>
          </a:p>
        </p:txBody>
      </p:sp>
    </p:spTree>
    <p:extLst>
      <p:ext uri="{BB962C8B-B14F-4D97-AF65-F5344CB8AC3E}">
        <p14:creationId xmlns:p14="http://schemas.microsoft.com/office/powerpoint/2010/main" val="11671144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629116A-B734-26E8-21A8-66199B5A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40793-82BC-F298-6C2E-01AB84827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E26F7-859E-E3F4-239A-09949C3EB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752A9F6-E806-1596-064D-89A0930A6A0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44E938-AACA-6A70-C006-54C95A5526FA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9 – Vendors in OH that supply any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C6E6DF-07E5-A42B-249A-A1E0DB4913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CB677B8-D275-BE83-7DDC-B27D029A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16653"/>
            <a:ext cx="9144000" cy="131818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FROM LGVENDOR</a:t>
            </a:r>
            <a:r>
              <a:rPr lang="en-US" sz="2800" dirty="0">
                <a:latin typeface="Calibir"/>
              </a:rPr>
              <a:t> → Get vendor data from the LGVENDOR table.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3497001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6386AF4-2C02-22F8-2E08-DCFDC702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771E9-9A9C-2C32-6B07-F0FD9D13E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0A7D0-8C93-2047-600B-349D87886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85C9066-C10C-3409-071E-9C32B6790D4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56A47-F604-47B4-8963-2C0DAD47EDBB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9 – Vendors in OH that supply any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15786-342F-DCCE-EA2E-445D6535A3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D07E5F3-7EEF-0D1C-DA83-6B186A002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47157"/>
            <a:ext cx="9144000" cy="26108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INNER JOIN LGSUPPLIES ON LGVENDOR.VEND_ID = LGSUPPLIES.VEND_ID</a:t>
            </a:r>
            <a:r>
              <a:rPr lang="en-US" sz="2800" dirty="0">
                <a:latin typeface="Calibir"/>
              </a:rPr>
              <a:t> → Link each vendor with the LGSUPPLIES table to show only those vendors who actually supply at least one product.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5073930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683D38-CEAE-DFA4-91D6-CF9E1E70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59146-9D16-3D8B-6955-54FEA75CA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564F9-053F-23B2-6798-0765A9EF2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2DD7406-6A93-8273-AC07-32F1E87774C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2BB16-20BA-9357-B0A1-E1FA65BC8BB5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9 – Vendors in OH that supply any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F28B8-64CC-9C25-97DB-DF8A91D83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DC7A6F5-6B89-46F4-BA5F-E66A18850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42575"/>
            <a:ext cx="9144000" cy="131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WHERE LGVENDOR.VEND_STATE = 'OH'</a:t>
            </a:r>
            <a:r>
              <a:rPr lang="en-US" sz="2800" dirty="0">
                <a:latin typeface="Calibir"/>
              </a:rPr>
              <a:t> → Only include vendors located in the state of Ohio (OH).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8009930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2DCACCF-F883-AD7B-6986-B031F90A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2CE62-EE8E-E7E7-66B6-24AF26DC7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AE033-46F9-D634-9183-8FD7D048E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3E0DFBE-F591-26E1-9B55-7EA97FD64C1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ADBE3-6296-54CC-95CA-296009DCC848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9 – Vendors in OH that supply any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BFC2A-99CC-AA7E-6D47-325319ED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83"/>
          <a:stretch>
            <a:fillRect/>
          </a:stretch>
        </p:blipFill>
        <p:spPr>
          <a:xfrm>
            <a:off x="0" y="1945071"/>
            <a:ext cx="9144000" cy="491292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800C5AA-FFB5-22A1-E3FA-A5F443F8D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45637"/>
            <a:ext cx="9144000" cy="131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In short, show all vendors in Ohio (OH) who supply any product, listing each vendor only once.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6234984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98A928A-BE11-F342-A44E-B46BA9E9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E23C5-4325-2514-B28C-34EE3952D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1EBEF-3638-6A68-3A58-758CA5E48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6BC08BC-1DE0-7557-AA69-1EDE1F3C3BE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DBC6E-5BE7-5867-B239-304F00D698EF}"/>
              </a:ext>
            </a:extLst>
          </p:cNvPr>
          <p:cNvSpPr txBox="1"/>
          <p:nvPr/>
        </p:nvSpPr>
        <p:spPr>
          <a:xfrm>
            <a:off x="0" y="1177160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Query 9 – Vendors in OH that supply any product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2AE321-90F6-9ADE-9471-C8A06E29C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198" b="30638"/>
          <a:stretch>
            <a:fillRect/>
          </a:stretch>
        </p:blipFill>
        <p:spPr>
          <a:xfrm>
            <a:off x="1923392" y="1998105"/>
            <a:ext cx="5297216" cy="451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17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4711ACB-F251-4E48-A3E1-C058083F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35B35-BF52-B14D-FBF9-D53674BA9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B9AFC-796F-F499-919B-5FFD73519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85C5BEF-11A4-34A4-A255-E6A1D05C38F1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843E6-F9D7-9133-28EB-79B82557D492}"/>
              </a:ext>
            </a:extLst>
          </p:cNvPr>
          <p:cNvSpPr txBox="1"/>
          <p:nvPr/>
        </p:nvSpPr>
        <p:spPr>
          <a:xfrm>
            <a:off x="0" y="1177160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When You’re Done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Save each as Query 1, Query 2, … Query 9...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Run each query once to ensure results display correctly.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Keep the database saved as OzCo-2.accdb (or .</a:t>
            </a:r>
            <a:r>
              <a:rPr lang="en-US" sz="2800" dirty="0" err="1">
                <a:latin typeface="Calibir"/>
              </a:rPr>
              <a:t>mdb</a:t>
            </a:r>
            <a:r>
              <a:rPr lang="en-US" sz="2800" dirty="0">
                <a:latin typeface="Calibir"/>
              </a:rPr>
              <a:t>) and upload it for Part A submission.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9941B-7F97-4B74-D999-00262531CBF0}"/>
              </a:ext>
            </a:extLst>
          </p:cNvPr>
          <p:cNvSpPr txBox="1"/>
          <p:nvPr/>
        </p:nvSpPr>
        <p:spPr>
          <a:xfrm>
            <a:off x="0" y="4643436"/>
            <a:ext cx="914399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Continue working on the rest of Part A — to </a:t>
            </a:r>
            <a:r>
              <a:rPr lang="en-US" sz="2800" dirty="0">
                <a:highlight>
                  <a:srgbClr val="00FF00"/>
                </a:highlight>
                <a:latin typeface="Calibir"/>
              </a:rPr>
              <a:t>Query 15 (there are 15 total queries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in the assessment).</a:t>
            </a:r>
          </a:p>
        </p:txBody>
      </p:sp>
    </p:spTree>
    <p:extLst>
      <p:ext uri="{BB962C8B-B14F-4D97-AF65-F5344CB8AC3E}">
        <p14:creationId xmlns:p14="http://schemas.microsoft.com/office/powerpoint/2010/main" val="19987761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DE31CB7-96E7-2B52-0056-A1B6FBEE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AF6D6-BC8C-7D0E-91BB-61C0BFE1D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D8ADD-509A-3E74-8574-96038A42C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E282F7B-252E-172C-D38C-813C22ED1A01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0B203E-66CC-EE8C-34ED-42AE8904E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121365"/>
              </p:ext>
            </p:extLst>
          </p:nvPr>
        </p:nvGraphicFramePr>
        <p:xfrm>
          <a:off x="98314" y="1817741"/>
          <a:ext cx="8947372" cy="48158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326674">
                  <a:extLst>
                    <a:ext uri="{9D8B030D-6E8A-4147-A177-3AD203B41FA5}">
                      <a16:colId xmlns:a16="http://schemas.microsoft.com/office/drawing/2014/main" val="1526934532"/>
                    </a:ext>
                  </a:extLst>
                </a:gridCol>
                <a:gridCol w="4620698">
                  <a:extLst>
                    <a:ext uri="{9D8B030D-6E8A-4147-A177-3AD203B41FA5}">
                      <a16:colId xmlns:a16="http://schemas.microsoft.com/office/drawing/2014/main" val="3529468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Common Issue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Correct Practice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57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Wrong query names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Always “Query 1” … “Query 15”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248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Missing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Re-link foreign keys before running queries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569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Using wrong comparison 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Text values → in quotes ('VA'); wildcards → LIKE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571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Only screenshots submitted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Upload the actual Access file (.</a:t>
                      </a:r>
                      <a:r>
                        <a:rPr lang="en-US" sz="2800" dirty="0" err="1">
                          <a:latin typeface="Calibir"/>
                        </a:rPr>
                        <a:t>mdb</a:t>
                      </a:r>
                      <a:r>
                        <a:rPr lang="en-US" sz="2800" dirty="0">
                          <a:latin typeface="Calibir"/>
                        </a:rPr>
                        <a:t> or .</a:t>
                      </a:r>
                      <a:r>
                        <a:rPr lang="en-US" sz="2800" dirty="0" err="1">
                          <a:latin typeface="Calibir"/>
                        </a:rPr>
                        <a:t>accdb</a:t>
                      </a:r>
                      <a:r>
                        <a:rPr lang="en-US" sz="2800" dirty="0">
                          <a:latin typeface="Calibir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206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&lt;10 working 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Implement all 15 for full credit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80757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3C2CF009-3CD6-A5BC-7A67-8459FF372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6473"/>
            <a:ext cx="23281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What to Avoid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0223841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B8379D3-0E03-0136-3A86-BDE432859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5CC66E-45EC-B991-976A-17AF54460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6DF78-1DC7-EA1B-C406-679ACD3D9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A562BE8-EA31-A753-460F-DAAEC3EF7598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445A7F5-44F5-550F-A013-435A73134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6473"/>
            <a:ext cx="40448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Submission Requirements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D80357-B76A-1DC2-B660-D612E5917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330737"/>
              </p:ext>
            </p:extLst>
          </p:nvPr>
        </p:nvGraphicFramePr>
        <p:xfrm>
          <a:off x="628650" y="2455354"/>
          <a:ext cx="7886700" cy="32613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456653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055084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62894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Item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What to Submit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Format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10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Part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Completed </a:t>
                      </a:r>
                      <a:r>
                        <a:rPr lang="en-US" sz="2800" dirty="0" err="1">
                          <a:latin typeface="Calibir"/>
                        </a:rPr>
                        <a:t>OzCo</a:t>
                      </a:r>
                      <a:r>
                        <a:rPr lang="en-US" sz="2800" dirty="0">
                          <a:latin typeface="Calibir"/>
                        </a:rPr>
                        <a:t> database with Queries 1–15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.accdb or .mdb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920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File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ITEC200_AT3A_StudentID_FullName.accdb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407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2916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B5D14E2-A924-7D1A-68F9-C22E2B25A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38B1D-4853-B412-BAC8-D83D60AD1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88F41-D4F0-A7B3-7ED2-2210BE7B6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D0A4B4F-2B8C-3983-EC98-F30AA0703BA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B9AB3E9-872B-B01E-8186-76DE23AD9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Part B – Recorded Presentation (20 marks)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Scenario: </a:t>
            </a:r>
            <a:r>
              <a:rPr lang="en-US" sz="2800" b="1" dirty="0" err="1">
                <a:latin typeface="Calibir"/>
              </a:rPr>
              <a:t>EcoMart</a:t>
            </a:r>
            <a:r>
              <a:rPr lang="en-US" sz="2800" b="1" dirty="0">
                <a:latin typeface="Calibir"/>
              </a:rPr>
              <a:t> — “The Data Dilemma”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fast-growing eco-retailer faces serious data quality, security, and privacy issues.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You are the Data Governance Consultant tasked with </a:t>
            </a:r>
            <a:r>
              <a:rPr lang="en-US" sz="2800" dirty="0" err="1">
                <a:latin typeface="Calibir"/>
              </a:rPr>
              <a:t>analysing</a:t>
            </a:r>
            <a:r>
              <a:rPr lang="en-US" sz="2800" dirty="0">
                <a:latin typeface="Calibir"/>
              </a:rPr>
              <a:t> the situation and recommending solutions.</a:t>
            </a:r>
          </a:p>
        </p:txBody>
      </p:sp>
    </p:spTree>
    <p:extLst>
      <p:ext uri="{BB962C8B-B14F-4D97-AF65-F5344CB8AC3E}">
        <p14:creationId xmlns:p14="http://schemas.microsoft.com/office/powerpoint/2010/main" val="42761735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45D107F-16D5-4C4B-98CF-F7DCE4EA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89F04-10E5-D10F-8F7F-B279F22EB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A5F7-B7C5-7E64-4D49-297BB6EFE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DA807A8-8ECB-900F-414D-B0540EC69EF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B1A49AD-6D27-3975-F361-F99FA5A42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8058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Presentation Goals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Identify and evaluate data-related issues.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Classify issues into: Data Quality, Database Administration &amp; Security, Privacy &amp; Ethics.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Recommend ethical and legally compliant solutions.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Deliver a 7-minute narrated PowerPoint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7466156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FF87A0B-FA56-4D41-90F6-79392B4B2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BF510B-E4E8-F767-2C5E-C85537F7A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E7FC5-96E0-F7EE-8F93-6241133B4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C261FD9-0D6F-CD36-8513-CC15CE4CD81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775D1D-C7FC-EAC1-B88F-93451D4C5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061472"/>
              </p:ext>
            </p:extLst>
          </p:nvPr>
        </p:nvGraphicFramePr>
        <p:xfrm>
          <a:off x="94593" y="1801304"/>
          <a:ext cx="8975835" cy="473466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858814">
                  <a:extLst>
                    <a:ext uri="{9D8B030D-6E8A-4147-A177-3AD203B41FA5}">
                      <a16:colId xmlns:a16="http://schemas.microsoft.com/office/drawing/2014/main" val="4147727980"/>
                    </a:ext>
                  </a:extLst>
                </a:gridCol>
                <a:gridCol w="1161393">
                  <a:extLst>
                    <a:ext uri="{9D8B030D-6E8A-4147-A177-3AD203B41FA5}">
                      <a16:colId xmlns:a16="http://schemas.microsoft.com/office/drawing/2014/main" val="3214569713"/>
                    </a:ext>
                  </a:extLst>
                </a:gridCol>
                <a:gridCol w="4955628">
                  <a:extLst>
                    <a:ext uri="{9D8B030D-6E8A-4147-A177-3AD203B41FA5}">
                      <a16:colId xmlns:a16="http://schemas.microsoft.com/office/drawing/2014/main" val="1266326564"/>
                    </a:ext>
                  </a:extLst>
                </a:gridCol>
              </a:tblGrid>
              <a:tr h="376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Calibir"/>
                        </a:rPr>
                        <a:t>Section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Slides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Guidance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1721483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1. Introduction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1–2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Introduce EcoMart + why data governance matters + presentation overview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932288071"/>
                  </a:ext>
                </a:extLst>
              </a:tr>
              <a:tr h="192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2. Data Quality &amp; Decision-Making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1–2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Define data quality; identify 3 issues (e.g., duplicate IDs, missing timestamps, unsynchronised data); explain business impact &amp; solutions (ETL, validation rules, automated refresh)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3415375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Calibir"/>
                        </a:rPr>
                        <a:t>3. Database Administration &amp; Security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2–3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Calibir"/>
                        </a:rPr>
                        <a:t>Differentiate DBA vs DA; identify 2 admin issues and 2 security flaws (unrestricted IP access, shared logins); recommend role-based access, VPN firewall rules, MFA, audit logging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389201440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FAB8A1D0-418E-BF6F-2FAC-B5D3E7CAC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1" y="920257"/>
            <a:ext cx="28434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Content Structure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277843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087A51B-56C2-DB08-66F6-44B74234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039E93-3CD4-401B-A227-3A2322F39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0F29E-DBEF-AB66-EE81-AA4138A26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1C55168-BD47-31D7-CF98-12437908ADA5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36EC45-4961-9112-D0A7-29F33C85C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387854"/>
              </p:ext>
            </p:extLst>
          </p:nvPr>
        </p:nvGraphicFramePr>
        <p:xfrm>
          <a:off x="94593" y="1801304"/>
          <a:ext cx="8975835" cy="372882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858814">
                  <a:extLst>
                    <a:ext uri="{9D8B030D-6E8A-4147-A177-3AD203B41FA5}">
                      <a16:colId xmlns:a16="http://schemas.microsoft.com/office/drawing/2014/main" val="4147727980"/>
                    </a:ext>
                  </a:extLst>
                </a:gridCol>
                <a:gridCol w="1161393">
                  <a:extLst>
                    <a:ext uri="{9D8B030D-6E8A-4147-A177-3AD203B41FA5}">
                      <a16:colId xmlns:a16="http://schemas.microsoft.com/office/drawing/2014/main" val="3214569713"/>
                    </a:ext>
                  </a:extLst>
                </a:gridCol>
                <a:gridCol w="4955628">
                  <a:extLst>
                    <a:ext uri="{9D8B030D-6E8A-4147-A177-3AD203B41FA5}">
                      <a16:colId xmlns:a16="http://schemas.microsoft.com/office/drawing/2014/main" val="1266326564"/>
                    </a:ext>
                  </a:extLst>
                </a:gridCol>
              </a:tblGrid>
              <a:tr h="376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Calibir"/>
                        </a:rPr>
                        <a:t>Section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Slides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Guidance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1721483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Calibir"/>
                        </a:rPr>
                        <a:t>4. Data Privacy &amp; Ethics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Calibir"/>
                        </a:rPr>
                        <a:t>2–3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Calibir"/>
                        </a:rPr>
                        <a:t>Identify ethical/legal risks (no deletion policy, third-party non-GDPR vendor); link to APPs &amp; GDPR compliance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932288071"/>
                  </a:ext>
                </a:extLst>
              </a:tr>
              <a:tr h="192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5. Conclusion &amp; Recommendations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1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 err="1">
                          <a:latin typeface="Calibir"/>
                        </a:rPr>
                        <a:t>Summarise</a:t>
                      </a:r>
                      <a:r>
                        <a:rPr lang="en-US" sz="2200" b="0" dirty="0">
                          <a:latin typeface="Calibir"/>
                        </a:rPr>
                        <a:t> key actions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3415375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6. References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Calibir"/>
                        </a:rPr>
                        <a:t>1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Calibir"/>
                        </a:rPr>
                        <a:t>APA 7th style, ≥ 5 academic sources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389201440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61CD898A-DB15-8BCE-9AFF-9E0825C98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1" y="920257"/>
            <a:ext cx="28434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Content Structure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828598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3F39FBF-4599-E739-A80E-EE93363A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68DB7-FC55-F630-BBAB-2E0EE161A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FDC36-59B6-D190-3B9B-0B9C646F1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DBD2ECD-9582-F2F5-1AE4-8CA6095C8F6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37A778E-1345-83FE-63A4-DDE53AA09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5203"/>
            <a:ext cx="9144000" cy="584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Recording and Submission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Record in PowerPoint: Slide Show → Record Slide Show → Record from Beginning.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Speak clearly; total length ≈ 6–8 minutes (ideal 7 min).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Export to Video: File → Export → Create a Video (Standard 480p).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Ensure timings/narrations enabled.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Keep file &lt; 50 MB (verify via Properties).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Submit MP4 file on Canvas.</a:t>
            </a:r>
          </a:p>
        </p:txBody>
      </p:sp>
    </p:spTree>
    <p:extLst>
      <p:ext uri="{BB962C8B-B14F-4D97-AF65-F5344CB8AC3E}">
        <p14:creationId xmlns:p14="http://schemas.microsoft.com/office/powerpoint/2010/main" val="20967087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7B5C3DD-F48D-B8BE-F74B-04E7C6FF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DA55C0-01CB-A5DB-17C4-07BC0E4CF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E724-EB96-D819-2CDC-03BEB9F73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ECECF7A-ABC7-1A64-0456-46F86FBDE33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2DADBD-AB45-2E62-F66C-A1929BA0A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772305"/>
              </p:ext>
            </p:extLst>
          </p:nvPr>
        </p:nvGraphicFramePr>
        <p:xfrm>
          <a:off x="628650" y="2697480"/>
          <a:ext cx="7886700" cy="14630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126408">
                  <a:extLst>
                    <a:ext uri="{9D8B030D-6E8A-4147-A177-3AD203B41FA5}">
                      <a16:colId xmlns:a16="http://schemas.microsoft.com/office/drawing/2014/main" val="266606813"/>
                    </a:ext>
                  </a:extLst>
                </a:gridCol>
                <a:gridCol w="4131392">
                  <a:extLst>
                    <a:ext uri="{9D8B030D-6E8A-4147-A177-3AD203B41FA5}">
                      <a16:colId xmlns:a16="http://schemas.microsoft.com/office/drawing/2014/main" val="6120015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33795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File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Format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167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Part B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ITEC200_AT3B_StudentID_FullName.mp4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MP4 (video)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570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1896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185AD9B-8D72-F949-80ED-A82E7D3E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B4DAF-712E-0715-157B-9D02F425A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87CFD-DE3B-C012-AF67-E391D9CCB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223DF87-B897-4090-2162-390AE407C141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2C08F4-CF00-82AB-07C6-B555B291D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553209"/>
              </p:ext>
            </p:extLst>
          </p:nvPr>
        </p:nvGraphicFramePr>
        <p:xfrm>
          <a:off x="514757" y="1973376"/>
          <a:ext cx="7886700" cy="46329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34498346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341699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Category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Key Criteria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Content (10 marks)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Identifies and analyses all major issues; accurate and logical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622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Professionalism (5 marks)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Clear speech, logical structure, visual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294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Referencing (5 marks)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≥ 5 academic APA sources, in-text citations + reference slide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97021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E6F5BA3-307D-57A4-8D96-57E444A85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456" y="1213126"/>
            <a:ext cx="23491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Marking Focus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767671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4B3A8C6-F182-A470-1748-E1410141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D00D98-D823-4253-A83E-8F29F322D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B8C84-347B-3582-352A-4988D21A1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3AAF548-1B7C-D7F6-A775-4C85863F930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968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Part B – Independent Work on Assessment 3 (60 minutes)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3E099-813C-5E21-8400-D7D351D16756}"/>
              </a:ext>
            </a:extLst>
          </p:cNvPr>
          <p:cNvSpPr txBox="1"/>
          <p:nvPr/>
        </p:nvSpPr>
        <p:spPr>
          <a:xfrm>
            <a:off x="0" y="1194619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Final Checklist Before Submission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15 queries named and tested successfully.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Database file (.</a:t>
            </a:r>
            <a:r>
              <a:rPr lang="en-US" sz="2800" dirty="0" err="1">
                <a:latin typeface="Calibir"/>
              </a:rPr>
              <a:t>accdb</a:t>
            </a:r>
            <a:r>
              <a:rPr lang="en-US" sz="2800" dirty="0">
                <a:latin typeface="Calibir"/>
              </a:rPr>
              <a:t> /.</a:t>
            </a:r>
            <a:r>
              <a:rPr lang="en-US" sz="2800" dirty="0" err="1">
                <a:latin typeface="Calibir"/>
              </a:rPr>
              <a:t>mdb</a:t>
            </a:r>
            <a:r>
              <a:rPr lang="en-US" sz="2800" dirty="0">
                <a:latin typeface="Calibir"/>
              </a:rPr>
              <a:t>) runs without errors.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Presentation 6–8 minutes long and under 50 MB.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References use APA 7th edition.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No AI-generated content (except grammar checking).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Both files uploaded before 5 pm 10 Nov 2025.</a:t>
            </a:r>
          </a:p>
        </p:txBody>
      </p:sp>
    </p:spTree>
    <p:extLst>
      <p:ext uri="{BB962C8B-B14F-4D97-AF65-F5344CB8AC3E}">
        <p14:creationId xmlns:p14="http://schemas.microsoft.com/office/powerpoint/2010/main" val="33739899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B2CF-21BC-9031-323D-5BB63120F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32662E-338E-53CF-61BC-1C9925EF9A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241738"/>
            <a:ext cx="6920865" cy="1247008"/>
          </a:xfrm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123825">
              <a:spcBef>
                <a:spcPts val="100"/>
              </a:spcBef>
            </a:pPr>
            <a:r>
              <a:rPr lang="en-US" sz="3200" dirty="0">
                <a:latin typeface="+mj-lt"/>
              </a:rPr>
              <a:t>Week 12 – Milestone Unlocked: From Raw Data to Reliable Insights</a:t>
            </a:r>
            <a:endParaRPr spc="-20" dirty="0">
              <a:latin typeface="+mj-l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0E70C77-13BF-59E9-EC44-617B3278B50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52269" y="6556594"/>
            <a:ext cx="243713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r>
              <a:rPr kumimoji="0" lang="en-US" sz="1000" b="0" i="0" u="none" strike="noStrike" kern="1200" cap="none" spc="24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409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Directorate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Faculty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School</a:t>
            </a:r>
            <a:endParaRPr kumimoji="0" sz="1000" b="0" i="0" u="none" strike="noStrike" kern="0" cap="none" spc="-10" normalizeH="0" baseline="0" noProof="0" dirty="0">
              <a:ln>
                <a:noFill/>
              </a:ln>
              <a:solidFill>
                <a:srgbClr val="3D3935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35D12-671C-C09A-C2BA-A575F9F59933}"/>
              </a:ext>
            </a:extLst>
          </p:cNvPr>
          <p:cNvSpPr txBox="1"/>
          <p:nvPr/>
        </p:nvSpPr>
        <p:spPr>
          <a:xfrm>
            <a:off x="1" y="1506014"/>
            <a:ext cx="9143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Our students have just wrapped up a powerful journey through Data Quality, Database Design, and Security — transforming raw data into meaningful business insights!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From building ERD models and enforcing referential integrity in Microsoft Access, to running SQL queries and strengthening data governance, they’ve mastered real-world skills in:</a:t>
            </a:r>
          </a:p>
        </p:txBody>
      </p:sp>
    </p:spTree>
    <p:extLst>
      <p:ext uri="{BB962C8B-B14F-4D97-AF65-F5344CB8AC3E}">
        <p14:creationId xmlns:p14="http://schemas.microsoft.com/office/powerpoint/2010/main" val="9019315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42F8-7968-C2F4-49B8-56350605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6247F40-5830-5C13-4EE4-3BC44B7EE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241738"/>
            <a:ext cx="6920865" cy="1247008"/>
          </a:xfrm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123825">
              <a:spcBef>
                <a:spcPts val="100"/>
              </a:spcBef>
            </a:pPr>
            <a:r>
              <a:rPr lang="en-US" sz="3200" dirty="0">
                <a:latin typeface="+mj-lt"/>
              </a:rPr>
              <a:t>Week 12 – Milestone Unlocked: From Raw Data to Reliable Insights</a:t>
            </a:r>
            <a:endParaRPr spc="-20" dirty="0">
              <a:latin typeface="+mj-l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C8EB3DB-4827-8E28-F679-67D86F83721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52269" y="6556594"/>
            <a:ext cx="243713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r>
              <a:rPr kumimoji="0" lang="en-US" sz="1000" b="0" i="0" u="none" strike="noStrike" kern="1200" cap="none" spc="24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409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Directorate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Faculty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School</a:t>
            </a:r>
            <a:endParaRPr kumimoji="0" sz="1000" b="0" i="0" u="none" strike="noStrike" kern="0" cap="none" spc="-10" normalizeH="0" baseline="0" noProof="0" dirty="0">
              <a:ln>
                <a:noFill/>
              </a:ln>
              <a:solidFill>
                <a:srgbClr val="3D3935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98F849-8BFD-6DC7-3182-CF78C2308EAF}"/>
              </a:ext>
            </a:extLst>
          </p:cNvPr>
          <p:cNvSpPr txBox="1"/>
          <p:nvPr/>
        </p:nvSpPr>
        <p:spPr>
          <a:xfrm>
            <a:off x="1" y="1506014"/>
            <a:ext cx="9143999" cy="390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#DataModeling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#SQLQueries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#DatabaseSecurity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#PowerBI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#ETL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#ProblemSolving</a:t>
            </a:r>
          </a:p>
        </p:txBody>
      </p:sp>
    </p:spTree>
    <p:extLst>
      <p:ext uri="{BB962C8B-B14F-4D97-AF65-F5344CB8AC3E}">
        <p14:creationId xmlns:p14="http://schemas.microsoft.com/office/powerpoint/2010/main" val="16391087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653D0-493D-9C9B-7ADF-278F171B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53B7FF-4105-FA7B-D9F1-15D08F0E7A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241738"/>
            <a:ext cx="6920865" cy="1247008"/>
          </a:xfrm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123825">
              <a:spcBef>
                <a:spcPts val="100"/>
              </a:spcBef>
            </a:pPr>
            <a:r>
              <a:rPr lang="en-US" sz="3200" dirty="0">
                <a:latin typeface="+mj-lt"/>
              </a:rPr>
              <a:t>Week 12 – Milestone Unlocked: From Raw Data to Reliable Insights</a:t>
            </a:r>
            <a:endParaRPr spc="-20" dirty="0">
              <a:latin typeface="+mj-l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B550DFF-7DFF-5BD5-7F91-8707AF9175A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52269" y="6556594"/>
            <a:ext cx="243713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r>
              <a:rPr kumimoji="0" lang="en-US" sz="1000" b="0" i="0" u="none" strike="noStrike" kern="1200" cap="none" spc="24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409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Directorate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Faculty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School</a:t>
            </a:r>
            <a:endParaRPr kumimoji="0" sz="1000" b="0" i="0" u="none" strike="noStrike" kern="0" cap="none" spc="-10" normalizeH="0" baseline="0" noProof="0" dirty="0">
              <a:ln>
                <a:noFill/>
              </a:ln>
              <a:solidFill>
                <a:srgbClr val="3D3935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08401-657D-AAED-4AB7-0CA272B6FE90}"/>
              </a:ext>
            </a:extLst>
          </p:cNvPr>
          <p:cNvSpPr txBox="1"/>
          <p:nvPr/>
        </p:nvSpPr>
        <p:spPr>
          <a:xfrm>
            <a:off x="1" y="1506014"/>
            <a:ext cx="9143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hands-on projects — from the </a:t>
            </a:r>
            <a:r>
              <a:rPr lang="en-US" sz="2800" dirty="0" err="1">
                <a:latin typeface="Calibir"/>
              </a:rPr>
              <a:t>OzCo</a:t>
            </a:r>
            <a:r>
              <a:rPr lang="en-US" sz="2800" dirty="0">
                <a:latin typeface="Calibir"/>
              </a:rPr>
              <a:t> relational database to data validation and backup planning — have shaped our learners into confident, job-ready data professionals.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Let’s mark the achievement with a #SelfieCelebration! Share your proud learning moment — your query results, ERD diagram, or dashboard — and tag your peers and lecturer to inspire others.</a:t>
            </a:r>
          </a:p>
        </p:txBody>
      </p:sp>
    </p:spTree>
    <p:extLst>
      <p:ext uri="{BB962C8B-B14F-4D97-AF65-F5344CB8AC3E}">
        <p14:creationId xmlns:p14="http://schemas.microsoft.com/office/powerpoint/2010/main" val="6000636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27129-43D1-2789-2E2C-3E61762D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60F5CD-20CC-816F-5CD3-A54FA1D0C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241738"/>
            <a:ext cx="6920865" cy="1247008"/>
          </a:xfrm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123825">
              <a:spcBef>
                <a:spcPts val="100"/>
              </a:spcBef>
            </a:pPr>
            <a:r>
              <a:rPr lang="en-US" sz="3200" dirty="0">
                <a:latin typeface="+mj-lt"/>
              </a:rPr>
              <a:t>Week 12 – Milestone Unlocked: From Raw Data to Reliable Insights</a:t>
            </a:r>
            <a:endParaRPr spc="-20" dirty="0">
              <a:latin typeface="+mj-l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1615DEE-A354-FE9D-DF69-A659886E8FA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52269" y="6556594"/>
            <a:ext cx="243713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r>
              <a:rPr kumimoji="0" lang="en-US" sz="1000" b="0" i="0" u="none" strike="noStrike" kern="1200" cap="none" spc="24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409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Directorate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Faculty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School</a:t>
            </a:r>
            <a:endParaRPr kumimoji="0" sz="1000" b="0" i="0" u="none" strike="noStrike" kern="0" cap="none" spc="-10" normalizeH="0" baseline="0" noProof="0" dirty="0">
              <a:ln>
                <a:noFill/>
              </a:ln>
              <a:solidFill>
                <a:srgbClr val="3D3935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842D5-3FC9-ED69-D33E-6F7307338F0F}"/>
              </a:ext>
            </a:extLst>
          </p:cNvPr>
          <p:cNvSpPr txBox="1"/>
          <p:nvPr/>
        </p:nvSpPr>
        <p:spPr>
          <a:xfrm>
            <a:off x="0" y="1801791"/>
            <a:ext cx="9143999" cy="3254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#StudentSuccess #DataManagement #DatabaseDesign #BusinessIntelligence #MicrosoftAccess #DataAnalytics #LearningByDoing #HigherEducation #ACU #HolmesInstitute #TorrensUniversity #OzCoProject #ProudMoment #DataDrivenFuture</a:t>
            </a:r>
          </a:p>
        </p:txBody>
      </p:sp>
    </p:spTree>
    <p:extLst>
      <p:ext uri="{BB962C8B-B14F-4D97-AF65-F5344CB8AC3E}">
        <p14:creationId xmlns:p14="http://schemas.microsoft.com/office/powerpoint/2010/main" val="31601483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A38AB-6E2F-393F-A7F2-8CF62CFD3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4B0C47-8274-EB4D-D217-0913B8C14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3751" y="-220434"/>
            <a:ext cx="6920865" cy="754566"/>
          </a:xfrm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latin typeface="+mj-lt"/>
              </a:rPr>
              <a:t>Have You Completed the Survey</a:t>
            </a:r>
            <a:endParaRPr spc="-20" dirty="0">
              <a:latin typeface="+mj-l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934AEB8-944D-15FF-1EE5-1196D6D7AE1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52269" y="6556594"/>
            <a:ext cx="243713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r>
              <a:rPr kumimoji="0" lang="en-US" sz="1000" b="0" i="0" u="none" strike="noStrike" kern="1200" cap="none" spc="24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409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Directorate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Office</a:t>
            </a:r>
            <a:r>
              <a:rPr kumimoji="0" lang="en-US" sz="1000" b="0" i="0" u="none" strike="noStrike" kern="1200" cap="none" spc="-2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Faculty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</a:t>
            </a:r>
            <a:r>
              <a:rPr kumimoji="0" lang="en-US" sz="1000" b="0" i="0" u="none" strike="noStrike" kern="1200" cap="none" spc="-15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1000" b="0" i="0" u="none" strike="noStrike" kern="1200" cap="none" spc="-10" normalizeH="0" baseline="0" noProof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School</a:t>
            </a:r>
            <a:endParaRPr kumimoji="0" sz="1000" b="0" i="0" u="none" strike="noStrike" kern="0" cap="none" spc="-10" normalizeH="0" baseline="0" noProof="0" dirty="0">
              <a:ln>
                <a:noFill/>
              </a:ln>
              <a:solidFill>
                <a:srgbClr val="3D3935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0BCB50-780E-47B1-09BE-C7DA09D6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54" b="5555"/>
          <a:stretch>
            <a:fillRect/>
          </a:stretch>
        </p:blipFill>
        <p:spPr>
          <a:xfrm>
            <a:off x="0" y="1744716"/>
            <a:ext cx="9144000" cy="39702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DC1C90-3DF8-085E-9350-ED695686E64B}"/>
              </a:ext>
            </a:extLst>
          </p:cNvPr>
          <p:cNvSpPr txBox="1"/>
          <p:nvPr/>
        </p:nvSpPr>
        <p:spPr>
          <a:xfrm>
            <a:off x="89209" y="1143001"/>
            <a:ext cx="7125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It is currently showing 0 submission</a:t>
            </a:r>
          </a:p>
        </p:txBody>
      </p:sp>
    </p:spTree>
    <p:extLst>
      <p:ext uri="{BB962C8B-B14F-4D97-AF65-F5344CB8AC3E}">
        <p14:creationId xmlns:p14="http://schemas.microsoft.com/office/powerpoint/2010/main" val="38593198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637624-0BBE-F959-CF34-04F3E9ABA6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46378"/>
            <a:ext cx="6920865" cy="737108"/>
          </a:xfrm>
        </p:spPr>
        <p:txBody>
          <a:bodyPr vert="horz" wrap="square" lIns="0" tIns="0" rIns="0" bIns="0" rtlCol="0"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US" b="1" i="0" dirty="0">
                <a:latin typeface="Arial"/>
                <a:ea typeface="+mj-ea"/>
                <a:cs typeface="Arial"/>
              </a:rPr>
              <a:t>Thank You</a:t>
            </a:r>
            <a:endParaRPr lang="en-US" b="1" i="0" spc="-10" dirty="0">
              <a:latin typeface="Arial"/>
              <a:ea typeface="+mj-ea"/>
              <a:cs typeface="Arial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27" r="20212" b="-2"/>
          <a:stretch>
            <a:fillRect/>
          </a:stretch>
        </p:blipFill>
        <p:spPr>
          <a:xfrm>
            <a:off x="457200" y="1577340"/>
            <a:ext cx="3977640" cy="452628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4709160" y="1577340"/>
            <a:ext cx="3977640" cy="406146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defTabSz="685800" rtl="0">
              <a:lnSpc>
                <a:spcPct val="150000"/>
              </a:lnSpc>
              <a:spcAft>
                <a:spcPts val="450"/>
              </a:spcAft>
              <a:defRPr/>
            </a:pP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Happy Learning and Bright Futures Ahead!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Dr. Farshid Keivanian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Stay Connected: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3" action="ppaction://hlinkfile"/>
              </a:rPr>
              <a:t>linkedin.com/in/farshid-keivanian</a:t>
            </a: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3" action="ppaction://hlinkfile"/>
              </a:rPr>
              <a:t> </a:t>
            </a:r>
            <a:b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</a:b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4" action="ppaction://hlinkfile"/>
              </a:rPr>
              <a:t>github.com/</a:t>
            </a:r>
            <a:r>
              <a:rPr lang="en-US" sz="1900" i="0" kern="1200" dirty="0" err="1">
                <a:solidFill>
                  <a:schemeClr val="tx1"/>
                </a:solidFill>
                <a:latin typeface="+mj-lt"/>
                <a:ea typeface="+mn-ea"/>
                <a:cs typeface="Arial"/>
                <a:hlinkClick r:id="rId4" action="ppaction://hlinkfile"/>
              </a:rPr>
              <a:t>FarshidKeivanian</a:t>
            </a: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  <a:hlinkClick r:id="rId4" action="ppaction://hlinkfile"/>
              </a:rPr>
              <a:t> </a:t>
            </a:r>
            <a:endParaRPr lang="en-US" sz="1900" i="0" kern="1200" dirty="0">
              <a:solidFill>
                <a:schemeClr val="tx1"/>
              </a:solidFill>
              <a:latin typeface="+mj-lt"/>
              <a:ea typeface="+mn-ea"/>
              <a:cs typeface="Arial"/>
            </a:endParaRPr>
          </a:p>
          <a:p>
            <a:pPr indent="-171450" defTabSz="685800" rtl="0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  <a:defRPr/>
            </a:pPr>
            <a:r>
              <a:rPr lang="en-US" sz="1900" i="0" kern="1200" dirty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Education is the most powerful weapon you can use to change the world. — Nelson Mandela</a:t>
            </a:r>
          </a:p>
        </p:txBody>
      </p: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U Presentation">
  <a:themeElements>
    <a:clrScheme name="ACUColourScheme">
      <a:dk1>
        <a:srgbClr val="3C1053"/>
      </a:dk1>
      <a:lt1>
        <a:srgbClr val="FFFFFF"/>
      </a:lt1>
      <a:dk2>
        <a:srgbClr val="3C1053"/>
      </a:dk2>
      <a:lt2>
        <a:srgbClr val="E8E3DB"/>
      </a:lt2>
      <a:accent1>
        <a:srgbClr val="F2120C"/>
      </a:accent1>
      <a:accent2>
        <a:srgbClr val="3D3935"/>
      </a:accent2>
      <a:accent3>
        <a:srgbClr val="8C857B"/>
      </a:accent3>
      <a:accent4>
        <a:srgbClr val="3C1053"/>
      </a:accent4>
      <a:accent5>
        <a:srgbClr val="E8E3DB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3D393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4_3_V2.potx" id="{F3B38964-EE74-4E1D-A3FE-21D8EB788CBF}" vid="{2C9D612A-0DB5-43BD-9B9F-0A9FAAF24D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C8B17FFF79F46AB892AACDE15F09D" ma:contentTypeVersion="1" ma:contentTypeDescription="Create a new document." ma:contentTypeScope="" ma:versionID="a5ba99c893f738a110fead59b8aec5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96ba11fc0b0f11135d6dc28d8a2ff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9D6D79-91EF-4340-8C3D-E484566A2E2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5866CA7-3031-48D4-BC56-8127880CD3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60E499-BA5F-475B-94B4-A8CCAB276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PPT_Template_4_3_V2.potx</Template>
  <TotalTime>5529</TotalTime>
  <Words>4906</Words>
  <Application>Microsoft Office PowerPoint</Application>
  <PresentationFormat>On-screen Show (4:3)</PresentationFormat>
  <Paragraphs>1055</Paragraphs>
  <Slides>79</Slides>
  <Notes>73</Notes>
  <HiddenSlides>0</HiddenSlides>
  <MMClips>2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Arial</vt:lpstr>
      <vt:lpstr>Calibir</vt:lpstr>
      <vt:lpstr>Calibri</vt:lpstr>
      <vt:lpstr>ACU Presentation</vt:lpstr>
      <vt:lpstr>think-cell Slide</vt:lpstr>
      <vt:lpstr>Data Privacy and Legal and Ethical Aspects of Data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Week 12 – Milestone Unlocked: From Raw Data to Reliable Insights</vt:lpstr>
      <vt:lpstr>Week 12 – Milestone Unlocked: From Raw Data to Reliable Insights</vt:lpstr>
      <vt:lpstr>Week 12 – Milestone Unlocked: From Raw Data to Reliable Insights</vt:lpstr>
      <vt:lpstr>Week 12 – Milestone Unlocked: From Raw Data to Reliable Insights</vt:lpstr>
      <vt:lpstr>Have You Completed the Survey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 Presentation</dc:title>
  <dc:creator>Husnen Rupani;Simone.Byrnes@acu.edu.au</dc:creator>
  <cp:lastModifiedBy>Farshid Keivanian</cp:lastModifiedBy>
  <cp:revision>1453</cp:revision>
  <cp:lastPrinted>2017-08-03T04:07:41Z</cp:lastPrinted>
  <dcterms:created xsi:type="dcterms:W3CDTF">2017-05-11T09:33:32Z</dcterms:created>
  <dcterms:modified xsi:type="dcterms:W3CDTF">2025-10-26T09:02:16Z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0x0101007CDC8B17FFF79F46AB892AACDE15F09D</vt:lpwstr>
  </property>
</Properties>
</file>