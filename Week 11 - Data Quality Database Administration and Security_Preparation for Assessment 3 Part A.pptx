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76"/>
  </p:notesMasterIdLst>
  <p:sldIdLst>
    <p:sldId id="421" r:id="rId5"/>
    <p:sldId id="2984" r:id="rId6"/>
    <p:sldId id="3317" r:id="rId7"/>
    <p:sldId id="3319" r:id="rId8"/>
    <p:sldId id="3320" r:id="rId9"/>
    <p:sldId id="3321" r:id="rId10"/>
    <p:sldId id="3322" r:id="rId11"/>
    <p:sldId id="3323" r:id="rId12"/>
    <p:sldId id="3324" r:id="rId13"/>
    <p:sldId id="3325" r:id="rId14"/>
    <p:sldId id="3326" r:id="rId15"/>
    <p:sldId id="3327" r:id="rId16"/>
    <p:sldId id="3328" r:id="rId17"/>
    <p:sldId id="3329" r:id="rId18"/>
    <p:sldId id="3330" r:id="rId19"/>
    <p:sldId id="3252" r:id="rId20"/>
    <p:sldId id="3257" r:id="rId21"/>
    <p:sldId id="3258" r:id="rId22"/>
    <p:sldId id="3256" r:id="rId23"/>
    <p:sldId id="3333" r:id="rId24"/>
    <p:sldId id="3335" r:id="rId25"/>
    <p:sldId id="3332" r:id="rId26"/>
    <p:sldId id="3262" r:id="rId27"/>
    <p:sldId id="3259" r:id="rId28"/>
    <p:sldId id="3263" r:id="rId29"/>
    <p:sldId id="3264" r:id="rId30"/>
    <p:sldId id="3265" r:id="rId31"/>
    <p:sldId id="3266" r:id="rId32"/>
    <p:sldId id="3267" r:id="rId33"/>
    <p:sldId id="3268" r:id="rId34"/>
    <p:sldId id="3269" r:id="rId35"/>
    <p:sldId id="3270" r:id="rId36"/>
    <p:sldId id="3271" r:id="rId37"/>
    <p:sldId id="3272" r:id="rId38"/>
    <p:sldId id="3273" r:id="rId39"/>
    <p:sldId id="3274" r:id="rId40"/>
    <p:sldId id="3275" r:id="rId41"/>
    <p:sldId id="3276" r:id="rId42"/>
    <p:sldId id="3277" r:id="rId43"/>
    <p:sldId id="3278" r:id="rId44"/>
    <p:sldId id="3279" r:id="rId45"/>
    <p:sldId id="3280" r:id="rId46"/>
    <p:sldId id="3281" r:id="rId47"/>
    <p:sldId id="3282" r:id="rId48"/>
    <p:sldId id="3283" r:id="rId49"/>
    <p:sldId id="3284" r:id="rId50"/>
    <p:sldId id="3285" r:id="rId51"/>
    <p:sldId id="3286" r:id="rId52"/>
    <p:sldId id="3287" r:id="rId53"/>
    <p:sldId id="3288" r:id="rId54"/>
    <p:sldId id="3289" r:id="rId55"/>
    <p:sldId id="3336" r:id="rId56"/>
    <p:sldId id="3337" r:id="rId57"/>
    <p:sldId id="3346" r:id="rId58"/>
    <p:sldId id="3347" r:id="rId59"/>
    <p:sldId id="3339" r:id="rId60"/>
    <p:sldId id="3338" r:id="rId61"/>
    <p:sldId id="3348" r:id="rId62"/>
    <p:sldId id="3340" r:id="rId63"/>
    <p:sldId id="3341" r:id="rId64"/>
    <p:sldId id="3349" r:id="rId65"/>
    <p:sldId id="3350" r:id="rId66"/>
    <p:sldId id="3345" r:id="rId67"/>
    <p:sldId id="3342" r:id="rId68"/>
    <p:sldId id="3351" r:id="rId69"/>
    <p:sldId id="3352" r:id="rId70"/>
    <p:sldId id="3344" r:id="rId71"/>
    <p:sldId id="3353" r:id="rId72"/>
    <p:sldId id="3354" r:id="rId73"/>
    <p:sldId id="3356" r:id="rId74"/>
    <p:sldId id="749" r:id="rId75"/>
  </p:sldIdLst>
  <p:sldSz cx="9144000" cy="6858000" type="screen4x3"/>
  <p:notesSz cx="6805613" cy="9939338"/>
  <p:custDataLst>
    <p:tags r:id="rId7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120C"/>
    <a:srgbClr val="8C857B"/>
    <a:srgbClr val="3C1053"/>
    <a:srgbClr val="3D39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0" autoAdjust="0"/>
    <p:restoredTop sz="94541" autoAdjust="0"/>
  </p:normalViewPr>
  <p:slideViewPr>
    <p:cSldViewPr snapToGrid="0">
      <p:cViewPr varScale="1">
        <p:scale>
          <a:sx n="67" d="100"/>
          <a:sy n="67" d="100"/>
        </p:scale>
        <p:origin x="1269" y="7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tags" Target="tags/tag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9E031-7821-4947-9A91-EC03C15F7566}" type="datetimeFigureOut">
              <a:rPr lang="en-AU" smtClean="0"/>
              <a:t>25/05/2026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98A5C1-1CB9-4F08-9AE0-90C38B1EBB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2559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8A5C1-1CB9-4F08-9AE0-90C38B1EBB91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6480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4DDECE2-2C03-6D0D-7451-4AD87CF2B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746AA02-44F0-E41C-8C34-0C7E413EE9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C6DF3DA-5601-6BB4-ADB8-0C2E64FC18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5492648-6074-1426-5629-8D50B61CBA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204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0165CFB-8541-91EB-4135-A06C815D4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8790794-CB67-1935-310B-A353F84E6B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7ABF011-E06E-3BB7-14A2-DF68BAAADD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91A767E-BB00-08F1-D12A-246C684D4E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6602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C81501D-EDC2-3045-1E0C-32D41D061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5EE3909-33CF-C9AC-40B4-A70AA91CF9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F2128C5-25D3-65F5-3306-BA1BFD64BE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F53D8DA-0C98-8F77-6DE2-4D5DC67A44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2387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B0401F0-6F44-5A32-7680-757346D23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29F19C8-DA60-2BB9-3F0D-FFCA7374C3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01ABD30-5687-5276-1206-DD8C3C3E32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FF12410-FD22-C92B-B5FF-E37A956252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9056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903814F-6AA7-05C5-E05C-8F8ED4A9A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84D6146-E092-0A42-CABD-CBFF7170E6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C702B99-5C58-6FD6-77D1-02336C7C60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EF57C91-ABB7-A17C-DE71-4FBE56932E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74159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330CCA4-90DE-CAB0-6AF4-6B7C91AE1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5DBF5C1-8ED9-1C98-98B0-12D728C11B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105275F-1AEC-F5F9-C999-6767A8FCE9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A336E51-BEDC-C065-6055-3631D8ECEF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12099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30B4E23-C5CA-3E33-54EB-1DBDD157C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CB8BFF0-D503-3B46-FD0D-5F6863EFDA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1BE8060-6438-A4E3-A247-F7D441F817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CECAEE8-0D75-9CEC-4E2B-B4201FAC47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32510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2EBB9E8-0B54-9D2C-FD4B-71BA4F261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1E6A0FD-26D7-73B9-58D6-47BA17F60D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B9042B5-AB88-ACEF-8C73-CCE4C7C581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5957FA2-88EC-7A49-F503-8F9E06212E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3751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A9A32D1-3E3A-A5FA-155E-48905D677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9829B0F-0D4F-62A7-FDD1-66B9867AD4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325E3AB-D3AE-A3A9-3771-8484344C79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C707D02-35E7-796F-4CD9-F70C4671FA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46092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916A675-5F65-71C6-6E8C-8A9946C9B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24C5E39-DED0-704A-5990-14EC177B89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CBD51D5-5AE8-16E0-D735-83E69CC429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2566C0F-FF96-4702-42DF-8D11A277CA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0552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F91F3B9-2237-48EF-071D-B51147773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7C8F9C5-8875-970C-11ED-459D343942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F6437DF-C948-9AF2-5117-C98A21307E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AFFA5B5-BB4F-30D3-E850-D3ACD8E009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79866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477A7A9-E700-1EA0-AD2A-9F22B75B9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ADFA21F-FB12-989D-28A5-1DB38AFA44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A839079-DA63-E4D0-B982-4E63937985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3FE928D-ECCD-4E26-65FE-8F010F4750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19789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46C5AC0-5AA4-C3EC-C23D-EFEC4F9AF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2A651A3-52BB-EB4E-F487-722AA55F14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7A3D611-FFAF-FF3C-8067-8BFF9000C1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199EAFB-C0C4-F561-6451-09524D9144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23638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C355729-64F3-750C-FB07-D0AE33C71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45D48FB-0152-41B4-7F8C-F354769F98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C1F1127-4123-55E1-F939-915FC57E27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90AD9EE-EE0D-4730-4768-2E1B7F5B1F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78031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CF58945-A6E1-F50D-3D35-9156AAB1C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CBBC2F8-60FB-1E38-3B41-3CD1785EC4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641E54C-6284-3C5D-BC3C-87B25E4BA1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0A8E4AA-0EDD-BDB8-AC3E-BD6F293987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4891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993CED0-8B64-ADC2-202E-F535B50B1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1FC6060-1699-1A36-A7B3-DF2DE53BB6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749343F-95B4-891C-5B81-129003328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FFFDF6C-769F-EFE2-8A63-70A953BBCC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47628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E250EFB-E22B-9AF5-D2DD-D92ECA12C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E43B838-CE8E-56C0-7693-7E2D947C90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96326BA-454D-4D9F-2911-32DDAD9645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90D8D3D-0025-8C58-D1FF-D3E7BFE0AB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2830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53DD8FB-DAF2-E1DE-72AF-7AF8104E5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E8FB361-C9C8-BDF8-521C-F37735CC1E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14FA9C7-1ECA-1437-6664-E9CB1923E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054F8BA-8767-358D-452B-FFF9F5B2CE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03241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27D7F7D-2E00-ACFE-4039-39FA0D4D5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E0E33DE-3D00-D14E-BAFA-9041AD945C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3397458-ECAF-9D29-4DB4-1399FEBBAC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04F8A3F-8C47-4F2A-4A3A-B40A6D71656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12157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52FE2DD-CA4F-947B-C210-E9C6A9D94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2FAC58D-0A9A-F677-4C47-C364BD547F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22AE58D-0D50-A4DF-6E39-87B2033104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726626D-2106-3A18-87EB-CB717D7CF5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48889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F7AEB3F-C208-2650-7AC6-4F414C7B7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BFBCF87-48B5-43D4-8CD6-2E5AEA1D7F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34B4D0B-B5FC-44EB-8209-9211F8C526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17612A7-F096-443B-D6F8-C42F2FE7EF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14318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2A15A8F-ED10-07DE-E291-0F35B8F94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2736139-9532-D427-6687-95C2F53FAC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E90EB30-559E-A00D-D035-9319F9A990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9DF5AB7-3DDD-07F9-EE2D-C9617D409B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13277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A8F6A2A-958D-B2C7-5427-BE8CBA1FE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CFA52E8-2A4B-3003-2FE9-AE223E39C1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46C07CC-459E-ADC9-14F6-13638C6E90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F371DE7-F433-7DAE-CBC5-DA71E6438A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80361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128BF35-D695-F811-26AC-F477A0272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6AEEF17-08B3-C427-A9A8-77C640663A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5BBE4F5-5ACF-5C47-7806-C5F432CA50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134D15E-4880-FA1F-07A9-2753624B49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81767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B8A2124-70EE-6AD6-E82C-4ACEFFDDE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925AFA2-9BDB-E2D6-EEF8-474DCF0BC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2971D82-65C4-0F67-07F9-5B54559817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2A0BE90-F3CD-A837-788D-99092177AA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15657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E5D5C5B-3058-316E-4D40-3839C6696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C7976A5-F36E-AB7B-578F-490984518A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36DA19E-EE4D-2A5F-DEF4-A9F23B96AC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5990411-2892-94FB-A285-3ABE4BCCA9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4775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6F8C8E9-5F41-CA28-6259-7C837BDAA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8ADE9CD-5B1F-F492-FEAA-380626D4B4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C5F851A-3DAD-9274-9003-B44AF00579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9DDA7DC-4B25-302F-912D-56E8547425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67345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0B1C4A5-85C7-B858-2EBE-3FCA0B8A4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D63211E-470D-DC12-74CA-A59D257920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43FF9C4-B567-DE9A-E451-E102B851E4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3EC0A52-CF69-B235-48E1-571266586F7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15750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BB5331E-5F40-6DDF-0347-D94433B74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2C6DAE2-2FD2-97AE-82A7-E886AA328F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2CAEDD1-CE08-6D3E-947A-226FC23573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089E2F5-9054-BDCF-4788-CED9EEFDD4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84965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2F5988B-5FE6-93CD-EBEA-843766860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B693D4A-19DB-65DC-D369-9D80628A90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24BF208-9304-3281-B833-3863634DED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ACF3BF5-9431-59B6-2677-44105F91C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89785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8ABB176-F709-F818-B74E-193085F80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2D80403-18B1-58F8-8058-5C7A188631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1495275-D577-1549-6CD9-79FC2CF57A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E9B5BCE-389E-C199-C81F-32B25E3D20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20472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0A2F28C-96D3-09B5-1E09-924EB9011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A1C65D0-FDFA-21AB-B117-6FF6A801F4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76FB402-A5AE-60F0-699F-62C69C51CC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D193DCF-989E-7BA8-A009-C219FC0347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00858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CFC61FB-1373-75A6-CE4A-621DB61C9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7883B77-C260-76CB-2C77-A7D997942F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435C5FA-EBA9-A58B-DFB0-0B0FFA326B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2784717-6F7C-929D-946D-158CC907032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0834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6DE5D51-1433-2004-5597-E5E0E46F6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2794D18-923E-4A3C-2A99-68579360B4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B1150B4-A73E-7C0D-4A20-BB0EB7B767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37B70C6-A853-E26D-E1AA-B660E3FFFB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821567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E6ACD6B-4C4D-9FFE-7391-B9BD84754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D7175E6-DC4B-DCA5-7774-1BA6F7D4C0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6ACB55C-6C46-8D6F-64FD-2632BA950D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8EC450C-D3DB-3654-8A54-664F5A0817F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614420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6D95723-5716-DFCD-3BB2-45466C5D2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66EF51E-A4E1-776F-6112-E5A3579485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B5A24C6-BB1C-CC6D-0B14-7CAC70A9CB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1A3BEFA-97DA-989F-5F8B-593C4BDB8B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7297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BB7C8B4-BAD8-EDB1-3B00-357C4F337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9CD61A6-220F-1FB1-D766-D97A83F249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C0827F6-E1B8-E795-472C-E1EA4B1D68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FD4781D-40D5-F22B-54DC-3289034047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230302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CB99392-6CA7-8BCC-7D43-2FF62A792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7782ECC-8042-58B2-2048-76FACF1BCE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7D3B683-AF8C-1843-9D61-833C21FFC4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55ABA27-F8A1-1824-8D62-B9DB7B32AC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874915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FBD2257-D13D-A705-8700-7CBF44E9C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0307A03-8BB2-62A0-C967-2C387DCB8B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4B78A1D-5A17-3BB5-A484-A7DB1B0C88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974882D-D1BA-4815-A7B6-EAD4E39D64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723655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A814465-FCA3-74F6-FB53-DC01DD9C8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4A13B84-6860-E249-BB2F-3554EBEDA7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4F255F4-4EC4-9621-17E8-20814A81D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AC6C048-ADEF-6192-A894-D3C5CF5A54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13006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C9747E0-1A49-7BE0-793E-2004639FF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3770895-85FA-F16A-3082-AFCEEC92D9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6C77186-5118-E297-1822-DED984CD68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5E81764-65C6-E96D-D935-F5FCE34612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172152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AC1DEDB-6988-E6E3-B4A6-34EC55969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A227A88-52B4-09B5-C0F4-923AAC9D56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6394E43-322F-74E2-A4B8-A1BA3A55BD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24C96C3-1527-0E65-0F90-D4C720CC34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545701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A894FCD-9031-9792-94BC-547CC7BBB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C66BEC4-1E2B-1C6A-A0A1-FE6B25068C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B93438E-EB12-A50C-7B8B-FCFAB5317B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8D1EC43-D55B-930F-C735-6E3FD3738B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275860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ECA4ED2-CD4B-061E-DBAA-FA997F70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E8330CD-9DAA-A748-A10D-BF496309B1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417DBEF-839F-D0E8-4384-00C6260EC7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DA0CA82-AB16-039C-46F9-C55B994B6F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492222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4A6003F-FEF0-80A1-676C-2D2C3B3B9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6F7F6FA-2DE5-3FC3-1C44-3B753D4662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B1A31BA-09FB-6CF6-BF07-70D73B2E5B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D596235-659D-8A5B-0ECE-9449A43AF8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554329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78AC7D7-9498-A2B3-EC47-F728FA0A9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30902AB-3679-D129-4C4C-2E8FE1130B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5638D9F-5679-F7AE-55E5-C372B2F7AA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893855E-D583-B106-0FCB-C487AC7610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139220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4753E5C-DB7D-2701-EA9B-3FC3FD407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9F17EBC-871E-13D1-04F7-47FC32DB87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E8CC8B8-54F3-ED2D-2D91-D632A7FCE3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EFE6B3A-4BE2-D57C-CC59-2F8AF70126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649136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12F51F4-EE0D-77A8-1002-5A9196108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D37A6A5-607B-9E1C-D130-16833934E9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5FA22DE-9CB3-B64E-5214-35EB9CC9F1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110A402-92AC-1977-11D0-69660148F3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900063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133A834-0F60-C21C-BF73-896D8C160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8250D01-FA8E-673E-32BF-CFF3940A9D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F75FEED-C63E-386E-E799-A6F6184422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19A751B-CC27-BC6A-B0C2-5EEBF08922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078378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A2BC5EA-7FB6-6EB4-78DE-350343C57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B33161F-B219-CDA7-8AA1-26B47AAE54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E88D086-E61D-CC37-50F9-09C282745B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BF299FF-EA6A-F260-25FD-B1885CAC91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094620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BAF6076-B8B8-88B3-6E9B-6A68780CB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0B4825A-2F84-6562-82C7-84330B35BD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D73455C-F919-A695-B5DF-96FB9B2CA3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0C7B5CC-05CE-ED21-0393-21B2A9597C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718775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3461B6F-7C23-4F91-C0AB-BEF517F6B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9ED9EAC-1863-639F-A746-F1C32CF2FE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91D6F1E-DD3D-FC40-BCA3-B3F8CF1046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C2CF07A-5A51-A51E-58A8-14179B61FF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726646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00C72E3-F674-DCDC-C4EE-E950892E8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636AD21-5C72-1372-327A-AA5B74BABF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0C4F5CB-81A5-828B-89C2-FC4C3D8A1A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0A3704C-E715-B478-4208-EEB236071B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235186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9C6041E-2469-C9A7-B781-BD3F7D5E1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8EBF43E-97D8-721A-6088-91D13AD415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3173B05-DBF2-7DCD-2882-E2F7772CCC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54FA197-83B1-C420-B11A-E5A8CAE58D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606676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0ED3C36-A2F3-6FC6-572E-B66D917E4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E1B4C8F-77D3-7100-A615-9C8CB19C0F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32FBC77-A884-2BE0-0B55-2427DECEA8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DD5DF1B-8EB5-2DE6-2895-6E95790C03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590988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EA86E99-49B1-B509-8227-EAECCF2E0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536F569-E9CA-CCD9-4E72-4F53A06E2C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390A13D-4A8E-655F-EAAE-CC3D35AA4B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BE4D75E-4BCF-31AF-1A8E-38A81E3369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42425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9A866A1-8D1F-2DE4-F725-66334AD19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3D54289-3823-EF9B-51F5-4D072D80B5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1E49070-D271-37F9-C670-F9F603E0A0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E7241F4-A6AD-86BD-1832-ACD3F10F05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227141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A196655-8C3F-98FE-A568-1B15C5B44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48492EB-4EF4-CE10-E685-A8413D7470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A356A0F-9BB3-6299-D111-3873D73B93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FDB4FF3-084F-22C1-0C15-8E80C1A29CD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070443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A54416C-0EEA-4B2E-494F-AA4A754E4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71B88F7-7FCA-96C6-FBDC-ACBC500818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0A20931-A2B6-C522-58B1-980AE70167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49B0694-A1ED-91A3-4357-B67647C97E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461140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4E19914-573A-EB99-73DE-3EDEF71C7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779BD95-BE0F-FF5A-21BD-B82C55F1C2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7877D94-DDDF-2789-603C-43B6001ACD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B517428-EB08-ED66-401D-7CED7BBC48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205591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CDE1297-0826-E08D-AF5B-56A9C8A50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0501541-1F16-1A88-BA85-D8574887A6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24DEC41-D968-8897-CF13-593C2E45C7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DFA49CD-77E2-585C-3085-989A5B2C55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168359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36AB95D-FCB5-B9B1-D9CF-FBBDE313E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58E1E50-FACC-8F22-9D54-1F2F926DF2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CCEBF0A-2F5F-EDC6-686A-F4AB56EB77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335CBBD-060C-E819-D79D-F2AD63C59D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266631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CC43DF2-18FE-5848-1087-3DC0CB6F9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431F2F7-A582-E1E1-B0B3-75CFA2C403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1B2BA65-B38A-5D55-28AA-1D5F0E39B5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D5F1BC5-6C06-7EDE-B8DB-D116EB09DA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242152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2EE7B61-E523-D0C4-2907-9DDB32F70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6964A5D-F39C-C10C-9F79-BA1CA10698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1624815-5ACC-4012-D721-F019BA6F9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A1C9A43-3A01-00E0-BEAF-373E3B906C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701064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D609887-5474-E1E1-9405-393AC35CA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DB782E6-6FB7-FBB5-AF00-8CD20FB7AF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DA4B8F4-45F5-705B-9839-4B9C1C1983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64FC155-EDD6-EAD4-1563-9FA9BB3DD8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694914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A3823D1-F17F-172A-4321-DF05C3234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D5F4217-AF68-94E0-E9B4-BFE8965BF4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763F2A1-F08D-65B4-91B7-409BA5696C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D98DCD8-2EA9-8B4A-1F98-DCF2A23595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30243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6B451D8-C883-DA06-A367-7E20D0C84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C5F78A0-9270-1C68-A35C-71C5F552D5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D55B791-55A1-4405-A299-185A96ED58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F43E09D-E236-4FE8-9FC9-1E797688C3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256405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E793434-EAA2-12E1-AA38-9153C31E2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E0BC195-9678-A055-544A-861C0F34BC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5C6EBFE-3D44-0DA6-B027-D9E806A882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08E8C21-3B2B-EF46-4ACC-4ABA228E27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357098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6047A63-6136-010D-B17D-7F5E77B3F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2C906B7-28ED-8407-4055-BD3806837E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EA62346-4F93-7376-A83A-27361AB07A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E2BCED3-D734-0E2E-0115-C2E031236F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5392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5" name="Group 4"/>
          <p:cNvGrpSpPr>
            <a:grpSpLocks noChangeAspect="1"/>
          </p:cNvGrpSpPr>
          <p:nvPr userDrawn="1"/>
        </p:nvGrpSpPr>
        <p:grpSpPr bwMode="auto">
          <a:xfrm>
            <a:off x="0" y="0"/>
            <a:ext cx="9144227" cy="6858000"/>
            <a:chOff x="5" y="0"/>
            <a:chExt cx="5750" cy="4320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5" y="0"/>
              <a:ext cx="5750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Freeform 5"/>
            <p:cNvSpPr>
              <a:spLocks/>
            </p:cNvSpPr>
            <p:nvPr userDrawn="1"/>
          </p:nvSpPr>
          <p:spPr bwMode="auto">
            <a:xfrm>
              <a:off x="5" y="288"/>
              <a:ext cx="2875" cy="1871"/>
            </a:xfrm>
            <a:custGeom>
              <a:avLst/>
              <a:gdLst>
                <a:gd name="T0" fmla="*/ 2875 w 2875"/>
                <a:gd name="T1" fmla="*/ 0 h 1871"/>
                <a:gd name="T2" fmla="*/ 2875 w 2875"/>
                <a:gd name="T3" fmla="*/ 1871 h 1871"/>
                <a:gd name="T4" fmla="*/ 0 w 2875"/>
                <a:gd name="T5" fmla="*/ 1871 h 1871"/>
                <a:gd name="T6" fmla="*/ 0 w 2875"/>
                <a:gd name="T7" fmla="*/ 0 h 1871"/>
                <a:gd name="T8" fmla="*/ 2875 w 2875"/>
                <a:gd name="T9" fmla="*/ 0 h 1871"/>
                <a:gd name="T10" fmla="*/ 2875 w 2875"/>
                <a:gd name="T11" fmla="*/ 0 h 1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75" h="1871">
                  <a:moveTo>
                    <a:pt x="2875" y="0"/>
                  </a:moveTo>
                  <a:lnTo>
                    <a:pt x="2875" y="1871"/>
                  </a:lnTo>
                  <a:lnTo>
                    <a:pt x="0" y="1871"/>
                  </a:lnTo>
                  <a:lnTo>
                    <a:pt x="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3D3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2880" y="2159"/>
              <a:ext cx="2875" cy="2159"/>
            </a:xfrm>
            <a:custGeom>
              <a:avLst/>
              <a:gdLst>
                <a:gd name="T0" fmla="*/ 2875 w 2875"/>
                <a:gd name="T1" fmla="*/ 0 h 2159"/>
                <a:gd name="T2" fmla="*/ 2875 w 2875"/>
                <a:gd name="T3" fmla="*/ 1869 h 2159"/>
                <a:gd name="T4" fmla="*/ 290 w 2875"/>
                <a:gd name="T5" fmla="*/ 1869 h 2159"/>
                <a:gd name="T6" fmla="*/ 0 w 2875"/>
                <a:gd name="T7" fmla="*/ 2159 h 2159"/>
                <a:gd name="T8" fmla="*/ 0 w 2875"/>
                <a:gd name="T9" fmla="*/ 0 h 2159"/>
                <a:gd name="T10" fmla="*/ 2875 w 2875"/>
                <a:gd name="T11" fmla="*/ 0 h 2159"/>
                <a:gd name="T12" fmla="*/ 2875 w 2875"/>
                <a:gd name="T13" fmla="*/ 0 h 2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75" h="2159">
                  <a:moveTo>
                    <a:pt x="2875" y="0"/>
                  </a:moveTo>
                  <a:lnTo>
                    <a:pt x="2875" y="1869"/>
                  </a:lnTo>
                  <a:lnTo>
                    <a:pt x="290" y="1869"/>
                  </a:lnTo>
                  <a:lnTo>
                    <a:pt x="0" y="2159"/>
                  </a:lnTo>
                  <a:lnTo>
                    <a:pt x="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F212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5" y="2159"/>
              <a:ext cx="2875" cy="2155"/>
            </a:xfrm>
            <a:custGeom>
              <a:avLst/>
              <a:gdLst>
                <a:gd name="T0" fmla="*/ 2875 w 2875"/>
                <a:gd name="T1" fmla="*/ 0 h 2155"/>
                <a:gd name="T2" fmla="*/ 2875 w 2875"/>
                <a:gd name="T3" fmla="*/ 2155 h 2155"/>
                <a:gd name="T4" fmla="*/ 0 w 2875"/>
                <a:gd name="T5" fmla="*/ 2155 h 2155"/>
                <a:gd name="T6" fmla="*/ 0 w 2875"/>
                <a:gd name="T7" fmla="*/ 0 h 2155"/>
                <a:gd name="T8" fmla="*/ 2875 w 2875"/>
                <a:gd name="T9" fmla="*/ 0 h 2155"/>
                <a:gd name="T10" fmla="*/ 2875 w 2875"/>
                <a:gd name="T11" fmla="*/ 0 h 2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75" h="2155">
                  <a:moveTo>
                    <a:pt x="2875" y="0"/>
                  </a:moveTo>
                  <a:lnTo>
                    <a:pt x="2875" y="2155"/>
                  </a:lnTo>
                  <a:lnTo>
                    <a:pt x="0" y="2155"/>
                  </a:lnTo>
                  <a:lnTo>
                    <a:pt x="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8C85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880" y="-2"/>
              <a:ext cx="2875" cy="2161"/>
            </a:xfrm>
            <a:custGeom>
              <a:avLst/>
              <a:gdLst>
                <a:gd name="T0" fmla="*/ 2875 w 2875"/>
                <a:gd name="T1" fmla="*/ 0 h 2161"/>
                <a:gd name="T2" fmla="*/ 2875 w 2875"/>
                <a:gd name="T3" fmla="*/ 2161 h 2161"/>
                <a:gd name="T4" fmla="*/ 0 w 2875"/>
                <a:gd name="T5" fmla="*/ 2161 h 2161"/>
                <a:gd name="T6" fmla="*/ 0 w 2875"/>
                <a:gd name="T7" fmla="*/ 290 h 2161"/>
                <a:gd name="T8" fmla="*/ 290 w 2875"/>
                <a:gd name="T9" fmla="*/ 0 h 2161"/>
                <a:gd name="T10" fmla="*/ 2875 w 2875"/>
                <a:gd name="T11" fmla="*/ 0 h 2161"/>
                <a:gd name="T12" fmla="*/ 2875 w 2875"/>
                <a:gd name="T13" fmla="*/ 0 h 2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75" h="2161">
                  <a:moveTo>
                    <a:pt x="2875" y="0"/>
                  </a:moveTo>
                  <a:lnTo>
                    <a:pt x="2875" y="2161"/>
                  </a:lnTo>
                  <a:lnTo>
                    <a:pt x="0" y="2161"/>
                  </a:lnTo>
                  <a:lnTo>
                    <a:pt x="0" y="290"/>
                  </a:lnTo>
                  <a:lnTo>
                    <a:pt x="29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 9"/>
            <p:cNvSpPr>
              <a:spLocks/>
            </p:cNvSpPr>
            <p:nvPr userDrawn="1"/>
          </p:nvSpPr>
          <p:spPr bwMode="auto">
            <a:xfrm>
              <a:off x="4659" y="234"/>
              <a:ext cx="182" cy="233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693" y="262"/>
              <a:ext cx="114" cy="149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4709" y="294"/>
              <a:ext cx="82" cy="97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4659" y="503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4695" y="503"/>
              <a:ext cx="28" cy="32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4729" y="501"/>
              <a:ext cx="26" cy="34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4759" y="503"/>
              <a:ext cx="26" cy="32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Freeform 16"/>
            <p:cNvSpPr>
              <a:spLocks noEditPoints="1"/>
            </p:cNvSpPr>
            <p:nvPr userDrawn="1"/>
          </p:nvSpPr>
          <p:spPr bwMode="auto">
            <a:xfrm>
              <a:off x="4791" y="503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reeform 17"/>
            <p:cNvSpPr>
              <a:spLocks noEditPoints="1"/>
            </p:cNvSpPr>
            <p:nvPr userDrawn="1"/>
          </p:nvSpPr>
          <p:spPr bwMode="auto">
            <a:xfrm>
              <a:off x="4821" y="503"/>
              <a:ext cx="34" cy="32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4859" y="503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4887" y="503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 20"/>
            <p:cNvSpPr>
              <a:spLocks noEditPoints="1"/>
            </p:cNvSpPr>
            <p:nvPr userDrawn="1"/>
          </p:nvSpPr>
          <p:spPr bwMode="auto">
            <a:xfrm>
              <a:off x="4897" y="503"/>
              <a:ext cx="33" cy="32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4936" y="503"/>
              <a:ext cx="26" cy="32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4986" y="501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reeform 23"/>
            <p:cNvSpPr>
              <a:spLocks noEditPoints="1"/>
            </p:cNvSpPr>
            <p:nvPr userDrawn="1"/>
          </p:nvSpPr>
          <p:spPr bwMode="auto">
            <a:xfrm>
              <a:off x="5018" y="503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Freeform 24"/>
            <p:cNvSpPr>
              <a:spLocks/>
            </p:cNvSpPr>
            <p:nvPr userDrawn="1"/>
          </p:nvSpPr>
          <p:spPr bwMode="auto">
            <a:xfrm>
              <a:off x="5050" y="503"/>
              <a:ext cx="28" cy="32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Freeform 25"/>
            <p:cNvSpPr>
              <a:spLocks/>
            </p:cNvSpPr>
            <p:nvPr userDrawn="1"/>
          </p:nvSpPr>
          <p:spPr bwMode="auto">
            <a:xfrm>
              <a:off x="5082" y="503"/>
              <a:ext cx="28" cy="32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Freeform 26"/>
            <p:cNvSpPr>
              <a:spLocks noEditPoints="1"/>
            </p:cNvSpPr>
            <p:nvPr userDrawn="1"/>
          </p:nvSpPr>
          <p:spPr bwMode="auto">
            <a:xfrm>
              <a:off x="5116" y="501"/>
              <a:ext cx="32" cy="34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Freeform 27"/>
            <p:cNvSpPr>
              <a:spLocks/>
            </p:cNvSpPr>
            <p:nvPr userDrawn="1"/>
          </p:nvSpPr>
          <p:spPr bwMode="auto">
            <a:xfrm>
              <a:off x="5154" y="503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Freeform 28"/>
            <p:cNvSpPr>
              <a:spLocks/>
            </p:cNvSpPr>
            <p:nvPr userDrawn="1"/>
          </p:nvSpPr>
          <p:spPr bwMode="auto">
            <a:xfrm>
              <a:off x="5182" y="503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Freeform 29"/>
            <p:cNvSpPr>
              <a:spLocks/>
            </p:cNvSpPr>
            <p:nvPr userDrawn="1"/>
          </p:nvSpPr>
          <p:spPr bwMode="auto">
            <a:xfrm>
              <a:off x="5192" y="501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Freeform 30"/>
            <p:cNvSpPr>
              <a:spLocks/>
            </p:cNvSpPr>
            <p:nvPr userDrawn="1"/>
          </p:nvSpPr>
          <p:spPr bwMode="auto">
            <a:xfrm>
              <a:off x="5244" y="503"/>
              <a:ext cx="26" cy="32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Freeform 31"/>
            <p:cNvSpPr>
              <a:spLocks/>
            </p:cNvSpPr>
            <p:nvPr userDrawn="1"/>
          </p:nvSpPr>
          <p:spPr bwMode="auto">
            <a:xfrm>
              <a:off x="5280" y="503"/>
              <a:ext cx="26" cy="32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Freeform 32"/>
            <p:cNvSpPr>
              <a:spLocks/>
            </p:cNvSpPr>
            <p:nvPr userDrawn="1"/>
          </p:nvSpPr>
          <p:spPr bwMode="auto">
            <a:xfrm>
              <a:off x="5314" y="503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 33"/>
            <p:cNvSpPr>
              <a:spLocks/>
            </p:cNvSpPr>
            <p:nvPr userDrawn="1"/>
          </p:nvSpPr>
          <p:spPr bwMode="auto">
            <a:xfrm>
              <a:off x="5326" y="503"/>
              <a:ext cx="32" cy="32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Freeform 34"/>
            <p:cNvSpPr>
              <a:spLocks/>
            </p:cNvSpPr>
            <p:nvPr userDrawn="1"/>
          </p:nvSpPr>
          <p:spPr bwMode="auto">
            <a:xfrm>
              <a:off x="5362" y="503"/>
              <a:ext cx="24" cy="32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 35"/>
            <p:cNvSpPr>
              <a:spLocks noEditPoints="1"/>
            </p:cNvSpPr>
            <p:nvPr userDrawn="1"/>
          </p:nvSpPr>
          <p:spPr bwMode="auto">
            <a:xfrm>
              <a:off x="5394" y="503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 36"/>
            <p:cNvSpPr>
              <a:spLocks/>
            </p:cNvSpPr>
            <p:nvPr userDrawn="1"/>
          </p:nvSpPr>
          <p:spPr bwMode="auto">
            <a:xfrm>
              <a:off x="5424" y="501"/>
              <a:ext cx="28" cy="34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 37"/>
            <p:cNvSpPr>
              <a:spLocks/>
            </p:cNvSpPr>
            <p:nvPr userDrawn="1"/>
          </p:nvSpPr>
          <p:spPr bwMode="auto">
            <a:xfrm>
              <a:off x="5458" y="503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 38"/>
            <p:cNvSpPr>
              <a:spLocks/>
            </p:cNvSpPr>
            <p:nvPr userDrawn="1"/>
          </p:nvSpPr>
          <p:spPr bwMode="auto">
            <a:xfrm>
              <a:off x="5470" y="503"/>
              <a:ext cx="53" cy="32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Freeform 39"/>
            <p:cNvSpPr>
              <a:spLocks/>
            </p:cNvSpPr>
            <p:nvPr userDrawn="1"/>
          </p:nvSpPr>
          <p:spPr bwMode="auto">
            <a:xfrm>
              <a:off x="5340" y="234"/>
              <a:ext cx="183" cy="229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Freeform 40"/>
            <p:cNvSpPr>
              <a:spLocks/>
            </p:cNvSpPr>
            <p:nvPr userDrawn="1"/>
          </p:nvSpPr>
          <p:spPr bwMode="auto">
            <a:xfrm>
              <a:off x="5096" y="230"/>
              <a:ext cx="212" cy="233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 41"/>
            <p:cNvSpPr>
              <a:spLocks noEditPoints="1"/>
            </p:cNvSpPr>
            <p:nvPr userDrawn="1"/>
          </p:nvSpPr>
          <p:spPr bwMode="auto">
            <a:xfrm>
              <a:off x="4885" y="234"/>
              <a:ext cx="207" cy="225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03513" y="1366463"/>
            <a:ext cx="3770617" cy="1137024"/>
          </a:xfrm>
        </p:spPr>
        <p:txBody>
          <a:bodyPr anchor="b">
            <a:normAutofit/>
          </a:bodyPr>
          <a:lstStyle>
            <a:lvl1pPr algn="l">
              <a:defRPr sz="386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003513" y="2503487"/>
            <a:ext cx="3770617" cy="599309"/>
          </a:xfrm>
        </p:spPr>
        <p:txBody>
          <a:bodyPr anchor="b">
            <a:noAutofit/>
          </a:bodyPr>
          <a:lstStyle>
            <a:lvl1pPr marL="0" indent="0" algn="l">
              <a:buNone/>
              <a:defRPr sz="186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5003800" y="39449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597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003800" y="4239820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597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0" y="469901"/>
            <a:ext cx="4565649" cy="295275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0" y="3422650"/>
            <a:ext cx="4565649" cy="343534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77774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co-bra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73125" y="2658154"/>
            <a:ext cx="3867150" cy="580346"/>
          </a:xfrm>
        </p:spPr>
        <p:txBody>
          <a:bodyPr anchor="b">
            <a:noAutofit/>
          </a:bodyPr>
          <a:lstStyle>
            <a:lvl1pPr>
              <a:defRPr sz="386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73125" y="3652838"/>
            <a:ext cx="3867150" cy="447675"/>
          </a:xfrm>
        </p:spPr>
        <p:txBody>
          <a:bodyPr anchor="b">
            <a:noAutofit/>
          </a:bodyPr>
          <a:lstStyle>
            <a:lvl1pPr marL="0" indent="0" algn="l">
              <a:buNone/>
              <a:defRPr sz="1863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" name="Text Placeholder 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73125" y="53165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597" b="1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9" name="Text Placeholder 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73125" y="5611420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597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44" name="Picture Placeholder 85"/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6639194" y="2653276"/>
            <a:ext cx="1766125" cy="502731"/>
          </a:xfrm>
        </p:spPr>
        <p:txBody>
          <a:bodyPr/>
          <a:lstStyle>
            <a:lvl1pPr marL="0" indent="0">
              <a:buNone/>
              <a:defRPr sz="12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Drag co-branded logo to placeholder or click icon to add</a:t>
            </a:r>
            <a:endParaRPr lang="en-AU" dirty="0"/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7401258" y="6092825"/>
            <a:ext cx="1374019" cy="484188"/>
            <a:chOff x="7401258" y="365125"/>
            <a:chExt cx="1374019" cy="484188"/>
          </a:xfrm>
        </p:grpSpPr>
        <p:sp>
          <p:nvSpPr>
            <p:cNvPr id="46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887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5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0"/>
            <a:ext cx="914422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Freeform 5"/>
          <p:cNvSpPr>
            <a:spLocks/>
          </p:cNvSpPr>
          <p:nvPr userDrawn="1"/>
        </p:nvSpPr>
        <p:spPr bwMode="auto">
          <a:xfrm>
            <a:off x="0" y="457200"/>
            <a:ext cx="4572114" cy="6388100"/>
          </a:xfrm>
          <a:custGeom>
            <a:avLst/>
            <a:gdLst>
              <a:gd name="T0" fmla="*/ 2875 w 2875"/>
              <a:gd name="T1" fmla="*/ 0 h 4024"/>
              <a:gd name="T2" fmla="*/ 2875 w 2875"/>
              <a:gd name="T3" fmla="*/ 4024 h 4024"/>
              <a:gd name="T4" fmla="*/ 0 w 2875"/>
              <a:gd name="T5" fmla="*/ 4024 h 4024"/>
              <a:gd name="T6" fmla="*/ 0 w 2875"/>
              <a:gd name="T7" fmla="*/ 0 h 4024"/>
              <a:gd name="T8" fmla="*/ 2875 w 2875"/>
              <a:gd name="T9" fmla="*/ 0 h 4024"/>
              <a:gd name="T10" fmla="*/ 2875 w 2875"/>
              <a:gd name="T11" fmla="*/ 0 h 4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75" h="4024">
                <a:moveTo>
                  <a:pt x="2875" y="0"/>
                </a:moveTo>
                <a:lnTo>
                  <a:pt x="2875" y="4024"/>
                </a:lnTo>
                <a:lnTo>
                  <a:pt x="0" y="4024"/>
                </a:lnTo>
                <a:lnTo>
                  <a:pt x="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8C857B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Freeform 6"/>
          <p:cNvSpPr>
            <a:spLocks/>
          </p:cNvSpPr>
          <p:nvPr userDrawn="1"/>
        </p:nvSpPr>
        <p:spPr bwMode="auto">
          <a:xfrm>
            <a:off x="4572114" y="-3175"/>
            <a:ext cx="4572114" cy="6858000"/>
          </a:xfrm>
          <a:custGeom>
            <a:avLst/>
            <a:gdLst>
              <a:gd name="T0" fmla="*/ 2875 w 2875"/>
              <a:gd name="T1" fmla="*/ 0 h 4320"/>
              <a:gd name="T2" fmla="*/ 2875 w 2875"/>
              <a:gd name="T3" fmla="*/ 4030 h 4320"/>
              <a:gd name="T4" fmla="*/ 290 w 2875"/>
              <a:gd name="T5" fmla="*/ 4030 h 4320"/>
              <a:gd name="T6" fmla="*/ 0 w 2875"/>
              <a:gd name="T7" fmla="*/ 4320 h 4320"/>
              <a:gd name="T8" fmla="*/ 0 w 2875"/>
              <a:gd name="T9" fmla="*/ 290 h 4320"/>
              <a:gd name="T10" fmla="*/ 290 w 2875"/>
              <a:gd name="T11" fmla="*/ 0 h 4320"/>
              <a:gd name="T12" fmla="*/ 2875 w 2875"/>
              <a:gd name="T13" fmla="*/ 0 h 4320"/>
              <a:gd name="T14" fmla="*/ 2875 w 2875"/>
              <a:gd name="T15" fmla="*/ 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75" h="4320">
                <a:moveTo>
                  <a:pt x="2875" y="0"/>
                </a:moveTo>
                <a:lnTo>
                  <a:pt x="2875" y="4030"/>
                </a:lnTo>
                <a:lnTo>
                  <a:pt x="290" y="4030"/>
                </a:lnTo>
                <a:lnTo>
                  <a:pt x="0" y="4320"/>
                </a:lnTo>
                <a:lnTo>
                  <a:pt x="0" y="290"/>
                </a:lnTo>
                <a:lnTo>
                  <a:pt x="29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 userDrawn="1"/>
        </p:nvGrpSpPr>
        <p:grpSpPr>
          <a:xfrm>
            <a:off x="7401258" y="365125"/>
            <a:ext cx="1374019" cy="484188"/>
            <a:chOff x="7401258" y="365125"/>
            <a:chExt cx="1374019" cy="484188"/>
          </a:xfrm>
        </p:grpSpPr>
        <p:sp>
          <p:nvSpPr>
            <p:cNvPr id="48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038725" y="2848654"/>
            <a:ext cx="3867150" cy="580346"/>
          </a:xfrm>
        </p:spPr>
        <p:txBody>
          <a:bodyPr anchor="b">
            <a:noAutofit/>
          </a:bodyPr>
          <a:lstStyle>
            <a:lvl1pPr>
              <a:defRPr sz="386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82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038725" y="3652838"/>
            <a:ext cx="3867150" cy="447675"/>
          </a:xfrm>
        </p:spPr>
        <p:txBody>
          <a:bodyPr anchor="b">
            <a:noAutofit/>
          </a:bodyPr>
          <a:lstStyle>
            <a:lvl1pPr marL="0" indent="0" algn="l">
              <a:buNone/>
              <a:defRPr sz="186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3" name="Text Placeholder 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038725" y="53165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597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84" name="Text Placeholder 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038725" y="5611420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597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86" name="Picture Placeholder 85"/>
          <p:cNvSpPr>
            <a:spLocks noGrp="1"/>
          </p:cNvSpPr>
          <p:nvPr userDrawn="1">
            <p:ph type="pic" sz="quarter" idx="12"/>
          </p:nvPr>
        </p:nvSpPr>
        <p:spPr>
          <a:xfrm>
            <a:off x="0" y="457200"/>
            <a:ext cx="4572000" cy="63881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77701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073272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" name="Freeform 5"/>
          <p:cNvSpPr>
            <a:spLocks/>
          </p:cNvSpPr>
          <p:nvPr userDrawn="1"/>
        </p:nvSpPr>
        <p:spPr bwMode="auto">
          <a:xfrm>
            <a:off x="0" y="457201"/>
            <a:ext cx="4572232" cy="6388107"/>
          </a:xfrm>
          <a:custGeom>
            <a:avLst/>
            <a:gdLst>
              <a:gd name="T0" fmla="*/ 2875 w 2875"/>
              <a:gd name="T1" fmla="*/ 0 h 4024"/>
              <a:gd name="T2" fmla="*/ 2875 w 2875"/>
              <a:gd name="T3" fmla="*/ 4024 h 4024"/>
              <a:gd name="T4" fmla="*/ 0 w 2875"/>
              <a:gd name="T5" fmla="*/ 4024 h 4024"/>
              <a:gd name="T6" fmla="*/ 0 w 2875"/>
              <a:gd name="T7" fmla="*/ 0 h 4024"/>
              <a:gd name="T8" fmla="*/ 2875 w 2875"/>
              <a:gd name="T9" fmla="*/ 0 h 4024"/>
              <a:gd name="T10" fmla="*/ 2875 w 2875"/>
              <a:gd name="T11" fmla="*/ 0 h 4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75" h="4024">
                <a:moveTo>
                  <a:pt x="2875" y="0"/>
                </a:moveTo>
                <a:lnTo>
                  <a:pt x="2875" y="4024"/>
                </a:lnTo>
                <a:lnTo>
                  <a:pt x="0" y="4024"/>
                </a:lnTo>
                <a:lnTo>
                  <a:pt x="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F2120D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Freeform 6"/>
          <p:cNvSpPr>
            <a:spLocks/>
          </p:cNvSpPr>
          <p:nvPr userDrawn="1"/>
        </p:nvSpPr>
        <p:spPr bwMode="auto">
          <a:xfrm>
            <a:off x="4572232" y="-3174"/>
            <a:ext cx="4572232" cy="6858007"/>
          </a:xfrm>
          <a:custGeom>
            <a:avLst/>
            <a:gdLst>
              <a:gd name="T0" fmla="*/ 2875 w 2875"/>
              <a:gd name="T1" fmla="*/ 0 h 4320"/>
              <a:gd name="T2" fmla="*/ 2875 w 2875"/>
              <a:gd name="T3" fmla="*/ 4030 h 4320"/>
              <a:gd name="T4" fmla="*/ 290 w 2875"/>
              <a:gd name="T5" fmla="*/ 4030 h 4320"/>
              <a:gd name="T6" fmla="*/ 0 w 2875"/>
              <a:gd name="T7" fmla="*/ 4320 h 4320"/>
              <a:gd name="T8" fmla="*/ 0 w 2875"/>
              <a:gd name="T9" fmla="*/ 290 h 4320"/>
              <a:gd name="T10" fmla="*/ 290 w 2875"/>
              <a:gd name="T11" fmla="*/ 0 h 4320"/>
              <a:gd name="T12" fmla="*/ 2875 w 2875"/>
              <a:gd name="T13" fmla="*/ 0 h 4320"/>
              <a:gd name="T14" fmla="*/ 2875 w 2875"/>
              <a:gd name="T15" fmla="*/ 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75" h="4320">
                <a:moveTo>
                  <a:pt x="2875" y="0"/>
                </a:moveTo>
                <a:lnTo>
                  <a:pt x="2875" y="4030"/>
                </a:lnTo>
                <a:lnTo>
                  <a:pt x="290" y="4030"/>
                </a:lnTo>
                <a:lnTo>
                  <a:pt x="0" y="4320"/>
                </a:lnTo>
                <a:lnTo>
                  <a:pt x="0" y="290"/>
                </a:lnTo>
                <a:lnTo>
                  <a:pt x="29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1"/>
            <a:ext cx="9144464" cy="6858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04755" y="1054317"/>
            <a:ext cx="4247805" cy="4749367"/>
          </a:xfrm>
        </p:spPr>
        <p:txBody>
          <a:bodyPr lIns="0" tIns="0" rIns="0" bIns="0" anchor="ctr" anchorCtr="0">
            <a:noAutofit/>
          </a:bodyPr>
          <a:lstStyle>
            <a:lvl1pPr>
              <a:defRPr sz="37857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</a:t>
            </a:r>
            <a:endParaRPr lang="en-AU" dirty="0"/>
          </a:p>
        </p:txBody>
      </p:sp>
      <p:sp>
        <p:nvSpPr>
          <p:cNvPr id="47" name="Text Placeholder 4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74420" y="3246827"/>
            <a:ext cx="3092450" cy="357995"/>
          </a:xfrm>
        </p:spPr>
        <p:txBody>
          <a:bodyPr>
            <a:normAutofit/>
          </a:bodyPr>
          <a:lstStyle>
            <a:lvl1pPr marL="0" indent="0">
              <a:buNone/>
              <a:defRPr sz="199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Section title</a:t>
            </a:r>
          </a:p>
        </p:txBody>
      </p:sp>
      <p:grpSp>
        <p:nvGrpSpPr>
          <p:cNvPr id="82" name="Group 81"/>
          <p:cNvGrpSpPr/>
          <p:nvPr userDrawn="1"/>
        </p:nvGrpSpPr>
        <p:grpSpPr>
          <a:xfrm>
            <a:off x="7401258" y="365125"/>
            <a:ext cx="1374019" cy="484188"/>
            <a:chOff x="7401258" y="365125"/>
            <a:chExt cx="1374019" cy="484188"/>
          </a:xfrm>
        </p:grpSpPr>
        <p:sp>
          <p:nvSpPr>
            <p:cNvPr id="83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3114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Object 4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715332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7" name="Object 4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40871" y="689568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50" name="Text Placeholder 49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40871" y="1463720"/>
            <a:ext cx="8284029" cy="427259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52" name="Text Placeholder 51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40871" y="-8733"/>
            <a:ext cx="4343399" cy="462758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Section heading</a:t>
            </a:r>
          </a:p>
        </p:txBody>
      </p:sp>
      <p:sp>
        <p:nvSpPr>
          <p:cNvPr id="8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  <p:sp>
        <p:nvSpPr>
          <p:cNvPr id="8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7" y="6510471"/>
            <a:ext cx="4188129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Faculty of Business and Law | Peter Faber Business School</a:t>
            </a:r>
          </a:p>
        </p:txBody>
      </p:sp>
    </p:spTree>
    <p:extLst>
      <p:ext uri="{BB962C8B-B14F-4D97-AF65-F5344CB8AC3E}">
        <p14:creationId xmlns:p14="http://schemas.microsoft.com/office/powerpoint/2010/main" val="271879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770735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2" name="Text Placeholder 45"/>
          <p:cNvSpPr>
            <a:spLocks noGrp="1"/>
          </p:cNvSpPr>
          <p:nvPr>
            <p:ph type="body" sz="quarter" idx="13" hasCustomPrompt="1"/>
          </p:nvPr>
        </p:nvSpPr>
        <p:spPr>
          <a:xfrm>
            <a:off x="440871" y="1339935"/>
            <a:ext cx="6734398" cy="507831"/>
          </a:xfrm>
        </p:spPr>
        <p:txBody>
          <a:bodyPr anchor="ctr">
            <a:spAutoFit/>
          </a:bodyPr>
          <a:lstStyle>
            <a:lvl1pPr marL="0" indent="0">
              <a:lnSpc>
                <a:spcPct val="100000"/>
              </a:lnSpc>
              <a:buNone/>
              <a:defRPr sz="27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Sub Title</a:t>
            </a:r>
          </a:p>
        </p:txBody>
      </p:sp>
      <p:sp>
        <p:nvSpPr>
          <p:cNvPr id="43" name="Text Placeholder 47"/>
          <p:cNvSpPr>
            <a:spLocks noGrp="1"/>
          </p:cNvSpPr>
          <p:nvPr>
            <p:ph type="body" sz="quarter" idx="14" hasCustomPrompt="1"/>
          </p:nvPr>
        </p:nvSpPr>
        <p:spPr>
          <a:xfrm>
            <a:off x="440872" y="2275570"/>
            <a:ext cx="8284028" cy="35968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000" b="1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Sub heading</a:t>
            </a:r>
          </a:p>
        </p:txBody>
      </p:sp>
      <p:sp>
        <p:nvSpPr>
          <p:cNvPr id="83" name="Text Placeholder 49"/>
          <p:cNvSpPr>
            <a:spLocks noGrp="1"/>
          </p:cNvSpPr>
          <p:nvPr>
            <p:ph type="body" sz="quarter" idx="15" hasCustomPrompt="1"/>
          </p:nvPr>
        </p:nvSpPr>
        <p:spPr>
          <a:xfrm>
            <a:off x="440871" y="2640809"/>
            <a:ext cx="8284029" cy="309551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8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872246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8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3208934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1" y="1626054"/>
            <a:ext cx="3867150" cy="4271941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51000"/>
            <a:ext cx="3887788" cy="4246995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7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793049"/>
            <a:ext cx="6734398" cy="493981"/>
          </a:xfrm>
        </p:spPr>
        <p:txBody>
          <a:bodyPr>
            <a:spAutoFit/>
          </a:bodyPr>
          <a:lstStyle>
            <a:lvl1pPr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8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7" y="6510471"/>
            <a:ext cx="3887787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8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289585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3888" y="1864188"/>
            <a:ext cx="7886700" cy="4070577"/>
          </a:xfr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8929" y="1056579"/>
            <a:ext cx="6734398" cy="493981"/>
          </a:xfrm>
        </p:spPr>
        <p:txBody>
          <a:bodyPr>
            <a:normAutofit/>
          </a:bodyPr>
          <a:lstStyle>
            <a:lvl1pPr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3406363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Whit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AutoShape 3"/>
          <p:cNvSpPr>
            <a:spLocks noChangeAspect="1" noChangeArrowheads="1" noTextEdit="1"/>
          </p:cNvSpPr>
          <p:nvPr userDrawn="1"/>
        </p:nvSpPr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 6"/>
          <p:cNvSpPr>
            <a:spLocks/>
          </p:cNvSpPr>
          <p:nvPr userDrawn="1"/>
        </p:nvSpPr>
        <p:spPr bwMode="auto">
          <a:xfrm>
            <a:off x="1588" y="-3175"/>
            <a:ext cx="5030788" cy="457200"/>
          </a:xfrm>
          <a:custGeom>
            <a:avLst/>
            <a:gdLst>
              <a:gd name="T0" fmla="*/ 0 w 3169"/>
              <a:gd name="T1" fmla="*/ 0 h 288"/>
              <a:gd name="T2" fmla="*/ 3169 w 3169"/>
              <a:gd name="T3" fmla="*/ 0 h 288"/>
              <a:gd name="T4" fmla="*/ 2879 w 3169"/>
              <a:gd name="T5" fmla="*/ 288 h 288"/>
              <a:gd name="T6" fmla="*/ 0 w 3169"/>
              <a:gd name="T7" fmla="*/ 288 h 288"/>
              <a:gd name="T8" fmla="*/ 0 w 3169"/>
              <a:gd name="T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69" h="288">
                <a:moveTo>
                  <a:pt x="0" y="0"/>
                </a:moveTo>
                <a:lnTo>
                  <a:pt x="3169" y="0"/>
                </a:lnTo>
                <a:lnTo>
                  <a:pt x="2879" y="288"/>
                </a:lnTo>
                <a:lnTo>
                  <a:pt x="0" y="28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 8"/>
          <p:cNvSpPr>
            <a:spLocks/>
          </p:cNvSpPr>
          <p:nvPr userDrawn="1"/>
        </p:nvSpPr>
        <p:spPr bwMode="auto">
          <a:xfrm>
            <a:off x="4572001" y="6397625"/>
            <a:ext cx="4570413" cy="457200"/>
          </a:xfrm>
          <a:custGeom>
            <a:avLst/>
            <a:gdLst>
              <a:gd name="T0" fmla="*/ 2879 w 2879"/>
              <a:gd name="T1" fmla="*/ 288 h 288"/>
              <a:gd name="T2" fmla="*/ 0 w 2879"/>
              <a:gd name="T3" fmla="*/ 288 h 288"/>
              <a:gd name="T4" fmla="*/ 290 w 2879"/>
              <a:gd name="T5" fmla="*/ 0 h 288"/>
              <a:gd name="T6" fmla="*/ 2879 w 2879"/>
              <a:gd name="T7" fmla="*/ 0 h 288"/>
              <a:gd name="T8" fmla="*/ 2879 w 2879"/>
              <a:gd name="T9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79" h="288">
                <a:moveTo>
                  <a:pt x="2879" y="288"/>
                </a:moveTo>
                <a:lnTo>
                  <a:pt x="0" y="288"/>
                </a:lnTo>
                <a:lnTo>
                  <a:pt x="290" y="0"/>
                </a:lnTo>
                <a:lnTo>
                  <a:pt x="2879" y="0"/>
                </a:lnTo>
                <a:lnTo>
                  <a:pt x="2879" y="28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reeform 9"/>
          <p:cNvSpPr>
            <a:spLocks/>
          </p:cNvSpPr>
          <p:nvPr userDrawn="1"/>
        </p:nvSpPr>
        <p:spPr bwMode="auto">
          <a:xfrm>
            <a:off x="7399338" y="371475"/>
            <a:ext cx="288925" cy="371475"/>
          </a:xfrm>
          <a:custGeom>
            <a:avLst/>
            <a:gdLst>
              <a:gd name="T0" fmla="*/ 91 w 91"/>
              <a:gd name="T1" fmla="*/ 0 h 117"/>
              <a:gd name="T2" fmla="*/ 91 w 91"/>
              <a:gd name="T3" fmla="*/ 51 h 117"/>
              <a:gd name="T4" fmla="*/ 46 w 91"/>
              <a:gd name="T5" fmla="*/ 117 h 117"/>
              <a:gd name="T6" fmla="*/ 0 w 91"/>
              <a:gd name="T7" fmla="*/ 51 h 117"/>
              <a:gd name="T8" fmla="*/ 0 w 91"/>
              <a:gd name="T9" fmla="*/ 0 h 117"/>
              <a:gd name="T10" fmla="*/ 91 w 91"/>
              <a:gd name="T11" fmla="*/ 0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1" h="117">
                <a:moveTo>
                  <a:pt x="91" y="0"/>
                </a:moveTo>
                <a:cubicBezTo>
                  <a:pt x="91" y="51"/>
                  <a:pt x="91" y="51"/>
                  <a:pt x="91" y="51"/>
                </a:cubicBezTo>
                <a:cubicBezTo>
                  <a:pt x="91" y="77"/>
                  <a:pt x="74" y="105"/>
                  <a:pt x="46" y="117"/>
                </a:cubicBezTo>
                <a:cubicBezTo>
                  <a:pt x="18" y="105"/>
                  <a:pt x="0" y="77"/>
                  <a:pt x="0" y="51"/>
                </a:cubicBezTo>
                <a:cubicBezTo>
                  <a:pt x="0" y="0"/>
                  <a:pt x="0" y="0"/>
                  <a:pt x="0" y="0"/>
                </a:cubicBezTo>
                <a:cubicBezTo>
                  <a:pt x="91" y="0"/>
                  <a:pt x="91" y="0"/>
                  <a:pt x="91" y="0"/>
                </a:cubicBezTo>
                <a:close/>
              </a:path>
            </a:pathLst>
          </a:custGeom>
          <a:solidFill>
            <a:srgbClr val="E2231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reeform 10"/>
          <p:cNvSpPr>
            <a:spLocks/>
          </p:cNvSpPr>
          <p:nvPr userDrawn="1"/>
        </p:nvSpPr>
        <p:spPr bwMode="auto">
          <a:xfrm>
            <a:off x="7453313" y="415925"/>
            <a:ext cx="180975" cy="238125"/>
          </a:xfrm>
          <a:custGeom>
            <a:avLst/>
            <a:gdLst>
              <a:gd name="T0" fmla="*/ 0 w 114"/>
              <a:gd name="T1" fmla="*/ 74 h 150"/>
              <a:gd name="T2" fmla="*/ 58 w 114"/>
              <a:gd name="T3" fmla="*/ 0 h 150"/>
              <a:gd name="T4" fmla="*/ 114 w 114"/>
              <a:gd name="T5" fmla="*/ 74 h 150"/>
              <a:gd name="T6" fmla="*/ 58 w 114"/>
              <a:gd name="T7" fmla="*/ 150 h 150"/>
              <a:gd name="T8" fmla="*/ 0 w 114"/>
              <a:gd name="T9" fmla="*/ 74 h 150"/>
              <a:gd name="T10" fmla="*/ 0 w 114"/>
              <a:gd name="T11" fmla="*/ 74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" h="150">
                <a:moveTo>
                  <a:pt x="0" y="74"/>
                </a:moveTo>
                <a:lnTo>
                  <a:pt x="58" y="0"/>
                </a:lnTo>
                <a:lnTo>
                  <a:pt x="114" y="74"/>
                </a:lnTo>
                <a:lnTo>
                  <a:pt x="58" y="150"/>
                </a:lnTo>
                <a:lnTo>
                  <a:pt x="0" y="74"/>
                </a:lnTo>
                <a:lnTo>
                  <a:pt x="0" y="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reeform 11"/>
          <p:cNvSpPr>
            <a:spLocks/>
          </p:cNvSpPr>
          <p:nvPr userDrawn="1"/>
        </p:nvSpPr>
        <p:spPr bwMode="auto">
          <a:xfrm>
            <a:off x="7478713" y="466725"/>
            <a:ext cx="130175" cy="155575"/>
          </a:xfrm>
          <a:custGeom>
            <a:avLst/>
            <a:gdLst>
              <a:gd name="T0" fmla="*/ 18 w 41"/>
              <a:gd name="T1" fmla="*/ 26 h 49"/>
              <a:gd name="T2" fmla="*/ 21 w 41"/>
              <a:gd name="T3" fmla="*/ 49 h 49"/>
              <a:gd name="T4" fmla="*/ 21 w 41"/>
              <a:gd name="T5" fmla="*/ 49 h 49"/>
              <a:gd name="T6" fmla="*/ 21 w 41"/>
              <a:gd name="T7" fmla="*/ 49 h 49"/>
              <a:gd name="T8" fmla="*/ 23 w 41"/>
              <a:gd name="T9" fmla="*/ 26 h 49"/>
              <a:gd name="T10" fmla="*/ 23 w 41"/>
              <a:gd name="T11" fmla="*/ 24 h 49"/>
              <a:gd name="T12" fmla="*/ 32 w 41"/>
              <a:gd name="T13" fmla="*/ 24 h 49"/>
              <a:gd name="T14" fmla="*/ 32 w 41"/>
              <a:gd name="T15" fmla="*/ 25 h 49"/>
              <a:gd name="T16" fmla="*/ 35 w 41"/>
              <a:gd name="T17" fmla="*/ 28 h 49"/>
              <a:gd name="T18" fmla="*/ 37 w 41"/>
              <a:gd name="T19" fmla="*/ 25 h 49"/>
              <a:gd name="T20" fmla="*/ 37 w 41"/>
              <a:gd name="T21" fmla="*/ 24 h 49"/>
              <a:gd name="T22" fmla="*/ 38 w 41"/>
              <a:gd name="T23" fmla="*/ 24 h 49"/>
              <a:gd name="T24" fmla="*/ 41 w 41"/>
              <a:gd name="T25" fmla="*/ 21 h 49"/>
              <a:gd name="T26" fmla="*/ 38 w 41"/>
              <a:gd name="T27" fmla="*/ 19 h 49"/>
              <a:gd name="T28" fmla="*/ 37 w 41"/>
              <a:gd name="T29" fmla="*/ 19 h 49"/>
              <a:gd name="T30" fmla="*/ 37 w 41"/>
              <a:gd name="T31" fmla="*/ 18 h 49"/>
              <a:gd name="T32" fmla="*/ 35 w 41"/>
              <a:gd name="T33" fmla="*/ 15 h 49"/>
              <a:gd name="T34" fmla="*/ 32 w 41"/>
              <a:gd name="T35" fmla="*/ 18 h 49"/>
              <a:gd name="T36" fmla="*/ 32 w 41"/>
              <a:gd name="T37" fmla="*/ 19 h 49"/>
              <a:gd name="T38" fmla="*/ 23 w 41"/>
              <a:gd name="T39" fmla="*/ 19 h 49"/>
              <a:gd name="T40" fmla="*/ 23 w 41"/>
              <a:gd name="T41" fmla="*/ 9 h 49"/>
              <a:gd name="T42" fmla="*/ 24 w 41"/>
              <a:gd name="T43" fmla="*/ 9 h 49"/>
              <a:gd name="T44" fmla="*/ 27 w 41"/>
              <a:gd name="T45" fmla="*/ 6 h 49"/>
              <a:gd name="T46" fmla="*/ 24 w 41"/>
              <a:gd name="T47" fmla="*/ 3 h 49"/>
              <a:gd name="T48" fmla="*/ 23 w 41"/>
              <a:gd name="T49" fmla="*/ 3 h 49"/>
              <a:gd name="T50" fmla="*/ 23 w 41"/>
              <a:gd name="T51" fmla="*/ 3 h 49"/>
              <a:gd name="T52" fmla="*/ 21 w 41"/>
              <a:gd name="T53" fmla="*/ 0 h 49"/>
              <a:gd name="T54" fmla="*/ 18 w 41"/>
              <a:gd name="T55" fmla="*/ 3 h 49"/>
              <a:gd name="T56" fmla="*/ 18 w 41"/>
              <a:gd name="T57" fmla="*/ 3 h 49"/>
              <a:gd name="T58" fmla="*/ 17 w 41"/>
              <a:gd name="T59" fmla="*/ 3 h 49"/>
              <a:gd name="T60" fmla="*/ 14 w 41"/>
              <a:gd name="T61" fmla="*/ 6 h 49"/>
              <a:gd name="T62" fmla="*/ 17 w 41"/>
              <a:gd name="T63" fmla="*/ 9 h 49"/>
              <a:gd name="T64" fmla="*/ 18 w 41"/>
              <a:gd name="T65" fmla="*/ 9 h 49"/>
              <a:gd name="T66" fmla="*/ 18 w 41"/>
              <a:gd name="T67" fmla="*/ 19 h 49"/>
              <a:gd name="T68" fmla="*/ 18 w 41"/>
              <a:gd name="T69" fmla="*/ 19 h 49"/>
              <a:gd name="T70" fmla="*/ 10 w 41"/>
              <a:gd name="T71" fmla="*/ 19 h 49"/>
              <a:gd name="T72" fmla="*/ 10 w 41"/>
              <a:gd name="T73" fmla="*/ 18 h 49"/>
              <a:gd name="T74" fmla="*/ 7 w 41"/>
              <a:gd name="T75" fmla="*/ 15 h 49"/>
              <a:gd name="T76" fmla="*/ 4 w 41"/>
              <a:gd name="T77" fmla="*/ 18 h 49"/>
              <a:gd name="T78" fmla="*/ 4 w 41"/>
              <a:gd name="T79" fmla="*/ 19 h 49"/>
              <a:gd name="T80" fmla="*/ 4 w 41"/>
              <a:gd name="T81" fmla="*/ 19 h 49"/>
              <a:gd name="T82" fmla="*/ 0 w 41"/>
              <a:gd name="T83" fmla="*/ 21 h 49"/>
              <a:gd name="T84" fmla="*/ 4 w 41"/>
              <a:gd name="T85" fmla="*/ 24 h 49"/>
              <a:gd name="T86" fmla="*/ 4 w 41"/>
              <a:gd name="T87" fmla="*/ 24 h 49"/>
              <a:gd name="T88" fmla="*/ 4 w 41"/>
              <a:gd name="T89" fmla="*/ 25 h 49"/>
              <a:gd name="T90" fmla="*/ 7 w 41"/>
              <a:gd name="T91" fmla="*/ 28 h 49"/>
              <a:gd name="T92" fmla="*/ 10 w 41"/>
              <a:gd name="T93" fmla="*/ 25 h 49"/>
              <a:gd name="T94" fmla="*/ 10 w 41"/>
              <a:gd name="T95" fmla="*/ 24 h 49"/>
              <a:gd name="T96" fmla="*/ 18 w 41"/>
              <a:gd name="T97" fmla="*/ 24 h 49"/>
              <a:gd name="T98" fmla="*/ 18 w 41"/>
              <a:gd name="T99" fmla="*/ 26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1" h="49">
                <a:moveTo>
                  <a:pt x="18" y="26"/>
                </a:moveTo>
                <a:cubicBezTo>
                  <a:pt x="18" y="36"/>
                  <a:pt x="20" y="48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8"/>
                  <a:pt x="23" y="36"/>
                  <a:pt x="23" y="26"/>
                </a:cubicBezTo>
                <a:cubicBezTo>
                  <a:pt x="23" y="24"/>
                  <a:pt x="23" y="24"/>
                  <a:pt x="23" y="24"/>
                </a:cubicBezTo>
                <a:cubicBezTo>
                  <a:pt x="32" y="24"/>
                  <a:pt x="32" y="24"/>
                  <a:pt x="32" y="24"/>
                </a:cubicBezTo>
                <a:cubicBezTo>
                  <a:pt x="32" y="25"/>
                  <a:pt x="32" y="25"/>
                  <a:pt x="32" y="25"/>
                </a:cubicBezTo>
                <a:cubicBezTo>
                  <a:pt x="32" y="26"/>
                  <a:pt x="33" y="28"/>
                  <a:pt x="35" y="28"/>
                </a:cubicBezTo>
                <a:cubicBezTo>
                  <a:pt x="36" y="28"/>
                  <a:pt x="37" y="26"/>
                  <a:pt x="37" y="25"/>
                </a:cubicBezTo>
                <a:cubicBezTo>
                  <a:pt x="37" y="24"/>
                  <a:pt x="37" y="24"/>
                  <a:pt x="37" y="24"/>
                </a:cubicBezTo>
                <a:cubicBezTo>
                  <a:pt x="38" y="24"/>
                  <a:pt x="38" y="24"/>
                  <a:pt x="38" y="24"/>
                </a:cubicBezTo>
                <a:cubicBezTo>
                  <a:pt x="39" y="24"/>
                  <a:pt x="41" y="23"/>
                  <a:pt x="41" y="21"/>
                </a:cubicBezTo>
                <a:cubicBezTo>
                  <a:pt x="41" y="20"/>
                  <a:pt x="39" y="19"/>
                  <a:pt x="38" y="19"/>
                </a:cubicBezTo>
                <a:cubicBezTo>
                  <a:pt x="37" y="19"/>
                  <a:pt x="37" y="19"/>
                  <a:pt x="37" y="19"/>
                </a:cubicBezTo>
                <a:cubicBezTo>
                  <a:pt x="37" y="18"/>
                  <a:pt x="37" y="18"/>
                  <a:pt x="37" y="18"/>
                </a:cubicBezTo>
                <a:cubicBezTo>
                  <a:pt x="37" y="17"/>
                  <a:pt x="36" y="15"/>
                  <a:pt x="35" y="15"/>
                </a:cubicBezTo>
                <a:cubicBezTo>
                  <a:pt x="33" y="15"/>
                  <a:pt x="32" y="17"/>
                  <a:pt x="32" y="18"/>
                </a:cubicBezTo>
                <a:cubicBezTo>
                  <a:pt x="32" y="19"/>
                  <a:pt x="32" y="19"/>
                  <a:pt x="32" y="19"/>
                </a:cubicBezTo>
                <a:cubicBezTo>
                  <a:pt x="23" y="19"/>
                  <a:pt x="23" y="19"/>
                  <a:pt x="23" y="19"/>
                </a:cubicBezTo>
                <a:cubicBezTo>
                  <a:pt x="23" y="9"/>
                  <a:pt x="23" y="9"/>
                  <a:pt x="23" y="9"/>
                </a:cubicBezTo>
                <a:cubicBezTo>
                  <a:pt x="24" y="9"/>
                  <a:pt x="24" y="9"/>
                  <a:pt x="24" y="9"/>
                </a:cubicBezTo>
                <a:cubicBezTo>
                  <a:pt x="25" y="9"/>
                  <a:pt x="27" y="8"/>
                  <a:pt x="27" y="6"/>
                </a:cubicBezTo>
                <a:cubicBezTo>
                  <a:pt x="27" y="5"/>
                  <a:pt x="25" y="3"/>
                  <a:pt x="24" y="3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2" y="0"/>
                  <a:pt x="21" y="0"/>
                </a:cubicBezTo>
                <a:cubicBezTo>
                  <a:pt x="19" y="0"/>
                  <a:pt x="18" y="1"/>
                  <a:pt x="18" y="3"/>
                </a:cubicBezTo>
                <a:cubicBezTo>
                  <a:pt x="18" y="3"/>
                  <a:pt x="18" y="3"/>
                  <a:pt x="18" y="3"/>
                </a:cubicBezTo>
                <a:cubicBezTo>
                  <a:pt x="17" y="3"/>
                  <a:pt x="17" y="3"/>
                  <a:pt x="17" y="3"/>
                </a:cubicBezTo>
                <a:cubicBezTo>
                  <a:pt x="16" y="3"/>
                  <a:pt x="14" y="5"/>
                  <a:pt x="14" y="6"/>
                </a:cubicBezTo>
                <a:cubicBezTo>
                  <a:pt x="14" y="8"/>
                  <a:pt x="16" y="9"/>
                  <a:pt x="17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0" y="19"/>
                  <a:pt x="10" y="19"/>
                  <a:pt x="10" y="19"/>
                </a:cubicBezTo>
                <a:cubicBezTo>
                  <a:pt x="10" y="18"/>
                  <a:pt x="10" y="18"/>
                  <a:pt x="10" y="18"/>
                </a:cubicBezTo>
                <a:cubicBezTo>
                  <a:pt x="10" y="17"/>
                  <a:pt x="8" y="15"/>
                  <a:pt x="7" y="15"/>
                </a:cubicBezTo>
                <a:cubicBezTo>
                  <a:pt x="5" y="15"/>
                  <a:pt x="4" y="17"/>
                  <a:pt x="4" y="18"/>
                </a:cubicBezTo>
                <a:cubicBezTo>
                  <a:pt x="4" y="19"/>
                  <a:pt x="4" y="19"/>
                  <a:pt x="4" y="19"/>
                </a:cubicBezTo>
                <a:cubicBezTo>
                  <a:pt x="4" y="19"/>
                  <a:pt x="4" y="19"/>
                  <a:pt x="4" y="19"/>
                </a:cubicBezTo>
                <a:cubicBezTo>
                  <a:pt x="2" y="19"/>
                  <a:pt x="0" y="20"/>
                  <a:pt x="0" y="21"/>
                </a:cubicBezTo>
                <a:cubicBezTo>
                  <a:pt x="0" y="23"/>
                  <a:pt x="2" y="24"/>
                  <a:pt x="4" y="24"/>
                </a:cubicBezTo>
                <a:cubicBezTo>
                  <a:pt x="4" y="24"/>
                  <a:pt x="4" y="24"/>
                  <a:pt x="4" y="24"/>
                </a:cubicBezTo>
                <a:cubicBezTo>
                  <a:pt x="4" y="25"/>
                  <a:pt x="4" y="25"/>
                  <a:pt x="4" y="25"/>
                </a:cubicBezTo>
                <a:cubicBezTo>
                  <a:pt x="4" y="26"/>
                  <a:pt x="5" y="28"/>
                  <a:pt x="7" y="28"/>
                </a:cubicBezTo>
                <a:cubicBezTo>
                  <a:pt x="8" y="28"/>
                  <a:pt x="10" y="26"/>
                  <a:pt x="10" y="25"/>
                </a:cubicBezTo>
                <a:cubicBezTo>
                  <a:pt x="10" y="24"/>
                  <a:pt x="10" y="24"/>
                  <a:pt x="10" y="24"/>
                </a:cubicBezTo>
                <a:cubicBezTo>
                  <a:pt x="18" y="24"/>
                  <a:pt x="18" y="24"/>
                  <a:pt x="18" y="24"/>
                </a:cubicBezTo>
                <a:cubicBezTo>
                  <a:pt x="18" y="26"/>
                  <a:pt x="18" y="26"/>
                  <a:pt x="18" y="26"/>
                </a:cubicBezTo>
                <a:close/>
              </a:path>
            </a:pathLst>
          </a:custGeom>
          <a:solidFill>
            <a:srgbClr val="E2231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reeform 12"/>
          <p:cNvSpPr>
            <a:spLocks noEditPoints="1"/>
          </p:cNvSpPr>
          <p:nvPr userDrawn="1"/>
        </p:nvSpPr>
        <p:spPr bwMode="auto">
          <a:xfrm>
            <a:off x="7399338" y="800100"/>
            <a:ext cx="53975" cy="50800"/>
          </a:xfrm>
          <a:custGeom>
            <a:avLst/>
            <a:gdLst>
              <a:gd name="T0" fmla="*/ 20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6 w 34"/>
              <a:gd name="T7" fmla="*/ 32 h 32"/>
              <a:gd name="T8" fmla="*/ 10 w 34"/>
              <a:gd name="T9" fmla="*/ 26 h 32"/>
              <a:gd name="T10" fmla="*/ 26 w 34"/>
              <a:gd name="T11" fmla="*/ 26 h 32"/>
              <a:gd name="T12" fmla="*/ 30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20 w 34"/>
              <a:gd name="T19" fmla="*/ 0 h 32"/>
              <a:gd name="T20" fmla="*/ 20 w 34"/>
              <a:gd name="T21" fmla="*/ 0 h 32"/>
              <a:gd name="T22" fmla="*/ 24 w 34"/>
              <a:gd name="T23" fmla="*/ 20 h 32"/>
              <a:gd name="T24" fmla="*/ 12 w 34"/>
              <a:gd name="T25" fmla="*/ 20 h 32"/>
              <a:gd name="T26" fmla="*/ 18 w 34"/>
              <a:gd name="T27" fmla="*/ 6 h 32"/>
              <a:gd name="T28" fmla="*/ 24 w 34"/>
              <a:gd name="T29" fmla="*/ 20 h 32"/>
              <a:gd name="T30" fmla="*/ 24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20" y="0"/>
                </a:moveTo>
                <a:lnTo>
                  <a:pt x="14" y="0"/>
                </a:lnTo>
                <a:lnTo>
                  <a:pt x="0" y="32"/>
                </a:lnTo>
                <a:lnTo>
                  <a:pt x="6" y="32"/>
                </a:lnTo>
                <a:lnTo>
                  <a:pt x="10" y="26"/>
                </a:lnTo>
                <a:lnTo>
                  <a:pt x="26" y="26"/>
                </a:lnTo>
                <a:lnTo>
                  <a:pt x="30" y="32"/>
                </a:lnTo>
                <a:lnTo>
                  <a:pt x="34" y="32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close/>
                <a:moveTo>
                  <a:pt x="24" y="20"/>
                </a:moveTo>
                <a:lnTo>
                  <a:pt x="12" y="20"/>
                </a:lnTo>
                <a:lnTo>
                  <a:pt x="18" y="6"/>
                </a:lnTo>
                <a:lnTo>
                  <a:pt x="24" y="20"/>
                </a:lnTo>
                <a:lnTo>
                  <a:pt x="24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reeform 13"/>
          <p:cNvSpPr>
            <a:spLocks/>
          </p:cNvSpPr>
          <p:nvPr userDrawn="1"/>
        </p:nvSpPr>
        <p:spPr bwMode="auto">
          <a:xfrm>
            <a:off x="7456488" y="800100"/>
            <a:ext cx="44450" cy="50800"/>
          </a:xfrm>
          <a:custGeom>
            <a:avLst/>
            <a:gdLst>
              <a:gd name="T0" fmla="*/ 11 w 14"/>
              <a:gd name="T1" fmla="*/ 9 h 16"/>
              <a:gd name="T2" fmla="*/ 7 w 14"/>
              <a:gd name="T3" fmla="*/ 14 h 16"/>
              <a:gd name="T4" fmla="*/ 3 w 14"/>
              <a:gd name="T5" fmla="*/ 9 h 16"/>
              <a:gd name="T6" fmla="*/ 3 w 14"/>
              <a:gd name="T7" fmla="*/ 0 h 16"/>
              <a:gd name="T8" fmla="*/ 0 w 14"/>
              <a:gd name="T9" fmla="*/ 0 h 16"/>
              <a:gd name="T10" fmla="*/ 0 w 14"/>
              <a:gd name="T11" fmla="*/ 9 h 16"/>
              <a:gd name="T12" fmla="*/ 7 w 14"/>
              <a:gd name="T13" fmla="*/ 16 h 16"/>
              <a:gd name="T14" fmla="*/ 14 w 14"/>
              <a:gd name="T15" fmla="*/ 9 h 16"/>
              <a:gd name="T16" fmla="*/ 14 w 14"/>
              <a:gd name="T17" fmla="*/ 0 h 16"/>
              <a:gd name="T18" fmla="*/ 11 w 14"/>
              <a:gd name="T19" fmla="*/ 0 h 16"/>
              <a:gd name="T20" fmla="*/ 11 w 14"/>
              <a:gd name="T21" fmla="*/ 9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" h="16">
                <a:moveTo>
                  <a:pt x="11" y="9"/>
                </a:moveTo>
                <a:cubicBezTo>
                  <a:pt x="11" y="12"/>
                  <a:pt x="9" y="14"/>
                  <a:pt x="7" y="14"/>
                </a:cubicBezTo>
                <a:cubicBezTo>
                  <a:pt x="5" y="14"/>
                  <a:pt x="3" y="12"/>
                  <a:pt x="3" y="9"/>
                </a:cubicBezTo>
                <a:cubicBezTo>
                  <a:pt x="3" y="0"/>
                  <a:pt x="3" y="0"/>
                  <a:pt x="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9"/>
                  <a:pt x="0" y="9"/>
                  <a:pt x="0" y="9"/>
                </a:cubicBezTo>
                <a:cubicBezTo>
                  <a:pt x="0" y="14"/>
                  <a:pt x="4" y="16"/>
                  <a:pt x="7" y="16"/>
                </a:cubicBezTo>
                <a:cubicBezTo>
                  <a:pt x="10" y="16"/>
                  <a:pt x="14" y="14"/>
                  <a:pt x="14" y="9"/>
                </a:cubicBezTo>
                <a:cubicBezTo>
                  <a:pt x="14" y="0"/>
                  <a:pt x="14" y="0"/>
                  <a:pt x="14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1" y="9"/>
                  <a:pt x="11" y="9"/>
                  <a:pt x="11" y="9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 14"/>
          <p:cNvSpPr>
            <a:spLocks/>
          </p:cNvSpPr>
          <p:nvPr userDrawn="1"/>
        </p:nvSpPr>
        <p:spPr bwMode="auto">
          <a:xfrm>
            <a:off x="7510463" y="796925"/>
            <a:ext cx="41275" cy="53975"/>
          </a:xfrm>
          <a:custGeom>
            <a:avLst/>
            <a:gdLst>
              <a:gd name="T0" fmla="*/ 7 w 13"/>
              <a:gd name="T1" fmla="*/ 7 h 17"/>
              <a:gd name="T2" fmla="*/ 3 w 13"/>
              <a:gd name="T3" fmla="*/ 5 h 17"/>
              <a:gd name="T4" fmla="*/ 7 w 13"/>
              <a:gd name="T5" fmla="*/ 3 h 17"/>
              <a:gd name="T6" fmla="*/ 11 w 13"/>
              <a:gd name="T7" fmla="*/ 5 h 17"/>
              <a:gd name="T8" fmla="*/ 11 w 13"/>
              <a:gd name="T9" fmla="*/ 5 h 17"/>
              <a:gd name="T10" fmla="*/ 13 w 13"/>
              <a:gd name="T11" fmla="*/ 4 h 17"/>
              <a:gd name="T12" fmla="*/ 13 w 13"/>
              <a:gd name="T13" fmla="*/ 3 h 17"/>
              <a:gd name="T14" fmla="*/ 7 w 13"/>
              <a:gd name="T15" fmla="*/ 0 h 17"/>
              <a:gd name="T16" fmla="*/ 2 w 13"/>
              <a:gd name="T17" fmla="*/ 2 h 17"/>
              <a:gd name="T18" fmla="*/ 0 w 13"/>
              <a:gd name="T19" fmla="*/ 5 h 17"/>
              <a:gd name="T20" fmla="*/ 7 w 13"/>
              <a:gd name="T21" fmla="*/ 10 h 17"/>
              <a:gd name="T22" fmla="*/ 11 w 13"/>
              <a:gd name="T23" fmla="*/ 12 h 17"/>
              <a:gd name="T24" fmla="*/ 7 w 13"/>
              <a:gd name="T25" fmla="*/ 15 h 17"/>
              <a:gd name="T26" fmla="*/ 2 w 13"/>
              <a:gd name="T27" fmla="*/ 12 h 17"/>
              <a:gd name="T28" fmla="*/ 2 w 13"/>
              <a:gd name="T29" fmla="*/ 12 h 17"/>
              <a:gd name="T30" fmla="*/ 0 w 13"/>
              <a:gd name="T31" fmla="*/ 13 h 17"/>
              <a:gd name="T32" fmla="*/ 0 w 13"/>
              <a:gd name="T33" fmla="*/ 14 h 17"/>
              <a:gd name="T34" fmla="*/ 7 w 13"/>
              <a:gd name="T35" fmla="*/ 17 h 17"/>
              <a:gd name="T36" fmla="*/ 13 w 13"/>
              <a:gd name="T37" fmla="*/ 12 h 17"/>
              <a:gd name="T38" fmla="*/ 7 w 13"/>
              <a:gd name="T39" fmla="*/ 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3" h="17">
                <a:moveTo>
                  <a:pt x="7" y="7"/>
                </a:moveTo>
                <a:cubicBezTo>
                  <a:pt x="5" y="7"/>
                  <a:pt x="3" y="6"/>
                  <a:pt x="3" y="5"/>
                </a:cubicBezTo>
                <a:cubicBezTo>
                  <a:pt x="3" y="4"/>
                  <a:pt x="5" y="3"/>
                  <a:pt x="7" y="3"/>
                </a:cubicBezTo>
                <a:cubicBezTo>
                  <a:pt x="9" y="3"/>
                  <a:pt x="10" y="3"/>
                  <a:pt x="11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3" y="4"/>
                  <a:pt x="13" y="4"/>
                  <a:pt x="13" y="4"/>
                </a:cubicBezTo>
                <a:cubicBezTo>
                  <a:pt x="13" y="3"/>
                  <a:pt x="13" y="3"/>
                  <a:pt x="13" y="3"/>
                </a:cubicBezTo>
                <a:cubicBezTo>
                  <a:pt x="12" y="1"/>
                  <a:pt x="10" y="0"/>
                  <a:pt x="7" y="0"/>
                </a:cubicBezTo>
                <a:cubicBezTo>
                  <a:pt x="5" y="0"/>
                  <a:pt x="3" y="1"/>
                  <a:pt x="2" y="2"/>
                </a:cubicBezTo>
                <a:cubicBezTo>
                  <a:pt x="1" y="3"/>
                  <a:pt x="0" y="4"/>
                  <a:pt x="0" y="5"/>
                </a:cubicBezTo>
                <a:cubicBezTo>
                  <a:pt x="0" y="9"/>
                  <a:pt x="4" y="9"/>
                  <a:pt x="7" y="10"/>
                </a:cubicBezTo>
                <a:cubicBezTo>
                  <a:pt x="9" y="10"/>
                  <a:pt x="11" y="11"/>
                  <a:pt x="11" y="12"/>
                </a:cubicBezTo>
                <a:cubicBezTo>
                  <a:pt x="11" y="15"/>
                  <a:pt x="8" y="15"/>
                  <a:pt x="7" y="15"/>
                </a:cubicBezTo>
                <a:cubicBezTo>
                  <a:pt x="5" y="15"/>
                  <a:pt x="3" y="14"/>
                  <a:pt x="2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4"/>
                  <a:pt x="0" y="14"/>
                  <a:pt x="0" y="14"/>
                </a:cubicBezTo>
                <a:cubicBezTo>
                  <a:pt x="1" y="16"/>
                  <a:pt x="3" y="17"/>
                  <a:pt x="7" y="17"/>
                </a:cubicBezTo>
                <a:cubicBezTo>
                  <a:pt x="10" y="17"/>
                  <a:pt x="13" y="16"/>
                  <a:pt x="13" y="12"/>
                </a:cubicBezTo>
                <a:cubicBezTo>
                  <a:pt x="13" y="9"/>
                  <a:pt x="10" y="8"/>
                  <a:pt x="7" y="7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reeform 15"/>
          <p:cNvSpPr>
            <a:spLocks/>
          </p:cNvSpPr>
          <p:nvPr userDrawn="1"/>
        </p:nvSpPr>
        <p:spPr bwMode="auto">
          <a:xfrm>
            <a:off x="7558088" y="800100"/>
            <a:ext cx="41275" cy="50800"/>
          </a:xfrm>
          <a:custGeom>
            <a:avLst/>
            <a:gdLst>
              <a:gd name="T0" fmla="*/ 0 w 26"/>
              <a:gd name="T1" fmla="*/ 4 h 32"/>
              <a:gd name="T2" fmla="*/ 10 w 26"/>
              <a:gd name="T3" fmla="*/ 4 h 32"/>
              <a:gd name="T4" fmla="*/ 10 w 26"/>
              <a:gd name="T5" fmla="*/ 32 h 32"/>
              <a:gd name="T6" fmla="*/ 16 w 26"/>
              <a:gd name="T7" fmla="*/ 32 h 32"/>
              <a:gd name="T8" fmla="*/ 16 w 26"/>
              <a:gd name="T9" fmla="*/ 4 h 32"/>
              <a:gd name="T10" fmla="*/ 26 w 26"/>
              <a:gd name="T11" fmla="*/ 4 h 32"/>
              <a:gd name="T12" fmla="*/ 26 w 26"/>
              <a:gd name="T13" fmla="*/ 0 h 32"/>
              <a:gd name="T14" fmla="*/ 0 w 26"/>
              <a:gd name="T15" fmla="*/ 0 h 32"/>
              <a:gd name="T16" fmla="*/ 0 w 26"/>
              <a:gd name="T17" fmla="*/ 4 h 32"/>
              <a:gd name="T18" fmla="*/ 0 w 26"/>
              <a:gd name="T19" fmla="*/ 4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" h="32">
                <a:moveTo>
                  <a:pt x="0" y="4"/>
                </a:moveTo>
                <a:lnTo>
                  <a:pt x="10" y="4"/>
                </a:lnTo>
                <a:lnTo>
                  <a:pt x="10" y="32"/>
                </a:lnTo>
                <a:lnTo>
                  <a:pt x="16" y="32"/>
                </a:lnTo>
                <a:lnTo>
                  <a:pt x="16" y="4"/>
                </a:lnTo>
                <a:lnTo>
                  <a:pt x="26" y="4"/>
                </a:lnTo>
                <a:lnTo>
                  <a:pt x="26" y="0"/>
                </a:lnTo>
                <a:lnTo>
                  <a:pt x="0" y="0"/>
                </a:lnTo>
                <a:lnTo>
                  <a:pt x="0" y="4"/>
                </a:lnTo>
                <a:lnTo>
                  <a:pt x="0" y="4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reeform 16"/>
          <p:cNvSpPr>
            <a:spLocks noEditPoints="1"/>
          </p:cNvSpPr>
          <p:nvPr userDrawn="1"/>
        </p:nvSpPr>
        <p:spPr bwMode="auto">
          <a:xfrm>
            <a:off x="7608888" y="800100"/>
            <a:ext cx="44450" cy="50800"/>
          </a:xfrm>
          <a:custGeom>
            <a:avLst/>
            <a:gdLst>
              <a:gd name="T0" fmla="*/ 13 w 14"/>
              <a:gd name="T1" fmla="*/ 5 h 16"/>
              <a:gd name="T2" fmla="*/ 7 w 14"/>
              <a:gd name="T3" fmla="*/ 0 h 16"/>
              <a:gd name="T4" fmla="*/ 0 w 14"/>
              <a:gd name="T5" fmla="*/ 0 h 16"/>
              <a:gd name="T6" fmla="*/ 0 w 14"/>
              <a:gd name="T7" fmla="*/ 16 h 16"/>
              <a:gd name="T8" fmla="*/ 2 w 14"/>
              <a:gd name="T9" fmla="*/ 16 h 16"/>
              <a:gd name="T10" fmla="*/ 2 w 14"/>
              <a:gd name="T11" fmla="*/ 10 h 16"/>
              <a:gd name="T12" fmla="*/ 6 w 14"/>
              <a:gd name="T13" fmla="*/ 10 h 16"/>
              <a:gd name="T14" fmla="*/ 10 w 14"/>
              <a:gd name="T15" fmla="*/ 16 h 16"/>
              <a:gd name="T16" fmla="*/ 14 w 14"/>
              <a:gd name="T17" fmla="*/ 16 h 16"/>
              <a:gd name="T18" fmla="*/ 8 w 14"/>
              <a:gd name="T19" fmla="*/ 10 h 16"/>
              <a:gd name="T20" fmla="*/ 13 w 14"/>
              <a:gd name="T21" fmla="*/ 5 h 16"/>
              <a:gd name="T22" fmla="*/ 2 w 14"/>
              <a:gd name="T23" fmla="*/ 2 h 16"/>
              <a:gd name="T24" fmla="*/ 7 w 14"/>
              <a:gd name="T25" fmla="*/ 2 h 16"/>
              <a:gd name="T26" fmla="*/ 10 w 14"/>
              <a:gd name="T27" fmla="*/ 5 h 16"/>
              <a:gd name="T28" fmla="*/ 7 w 14"/>
              <a:gd name="T29" fmla="*/ 8 h 16"/>
              <a:gd name="T30" fmla="*/ 2 w 14"/>
              <a:gd name="T31" fmla="*/ 8 h 16"/>
              <a:gd name="T32" fmla="*/ 2 w 14"/>
              <a:gd name="T33" fmla="*/ 2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" h="16">
                <a:moveTo>
                  <a:pt x="13" y="5"/>
                </a:moveTo>
                <a:cubicBezTo>
                  <a:pt x="13" y="2"/>
                  <a:pt x="11" y="0"/>
                  <a:pt x="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"/>
                  <a:pt x="0" y="16"/>
                  <a:pt x="0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2" y="10"/>
                  <a:pt x="2" y="10"/>
                  <a:pt x="2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10" y="16"/>
                  <a:pt x="10" y="16"/>
                  <a:pt x="10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8" y="10"/>
                  <a:pt x="8" y="10"/>
                  <a:pt x="8" y="10"/>
                </a:cubicBezTo>
                <a:cubicBezTo>
                  <a:pt x="11" y="10"/>
                  <a:pt x="13" y="8"/>
                  <a:pt x="13" y="5"/>
                </a:cubicBezTo>
                <a:close/>
                <a:moveTo>
                  <a:pt x="2" y="2"/>
                </a:moveTo>
                <a:cubicBezTo>
                  <a:pt x="7" y="2"/>
                  <a:pt x="7" y="2"/>
                  <a:pt x="7" y="2"/>
                </a:cubicBezTo>
                <a:cubicBezTo>
                  <a:pt x="9" y="2"/>
                  <a:pt x="10" y="4"/>
                  <a:pt x="10" y="5"/>
                </a:cubicBezTo>
                <a:cubicBezTo>
                  <a:pt x="10" y="6"/>
                  <a:pt x="9" y="8"/>
                  <a:pt x="7" y="8"/>
                </a:cubicBezTo>
                <a:cubicBezTo>
                  <a:pt x="2" y="8"/>
                  <a:pt x="2" y="8"/>
                  <a:pt x="2" y="8"/>
                </a:cubicBezTo>
                <a:cubicBezTo>
                  <a:pt x="2" y="2"/>
                  <a:pt x="2" y="2"/>
                  <a:pt x="2" y="2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reeform 17"/>
          <p:cNvSpPr>
            <a:spLocks noEditPoints="1"/>
          </p:cNvSpPr>
          <p:nvPr userDrawn="1"/>
        </p:nvSpPr>
        <p:spPr bwMode="auto">
          <a:xfrm>
            <a:off x="7656513" y="800100"/>
            <a:ext cx="53975" cy="50800"/>
          </a:xfrm>
          <a:custGeom>
            <a:avLst/>
            <a:gdLst>
              <a:gd name="T0" fmla="*/ 18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4 w 34"/>
              <a:gd name="T7" fmla="*/ 32 h 32"/>
              <a:gd name="T8" fmla="*/ 8 w 34"/>
              <a:gd name="T9" fmla="*/ 26 h 32"/>
              <a:gd name="T10" fmla="*/ 24 w 34"/>
              <a:gd name="T11" fmla="*/ 26 h 32"/>
              <a:gd name="T12" fmla="*/ 28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18 w 34"/>
              <a:gd name="T19" fmla="*/ 0 h 32"/>
              <a:gd name="T20" fmla="*/ 18 w 34"/>
              <a:gd name="T21" fmla="*/ 0 h 32"/>
              <a:gd name="T22" fmla="*/ 22 w 34"/>
              <a:gd name="T23" fmla="*/ 20 h 32"/>
              <a:gd name="T24" fmla="*/ 10 w 34"/>
              <a:gd name="T25" fmla="*/ 20 h 32"/>
              <a:gd name="T26" fmla="*/ 16 w 34"/>
              <a:gd name="T27" fmla="*/ 6 h 32"/>
              <a:gd name="T28" fmla="*/ 22 w 34"/>
              <a:gd name="T29" fmla="*/ 20 h 32"/>
              <a:gd name="T30" fmla="*/ 22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18" y="0"/>
                </a:moveTo>
                <a:lnTo>
                  <a:pt x="14" y="0"/>
                </a:lnTo>
                <a:lnTo>
                  <a:pt x="0" y="32"/>
                </a:lnTo>
                <a:lnTo>
                  <a:pt x="4" y="32"/>
                </a:lnTo>
                <a:lnTo>
                  <a:pt x="8" y="26"/>
                </a:lnTo>
                <a:lnTo>
                  <a:pt x="24" y="26"/>
                </a:lnTo>
                <a:lnTo>
                  <a:pt x="28" y="32"/>
                </a:lnTo>
                <a:lnTo>
                  <a:pt x="34" y="32"/>
                </a:lnTo>
                <a:lnTo>
                  <a:pt x="20" y="0"/>
                </a:lnTo>
                <a:lnTo>
                  <a:pt x="18" y="0"/>
                </a:lnTo>
                <a:lnTo>
                  <a:pt x="18" y="0"/>
                </a:lnTo>
                <a:close/>
                <a:moveTo>
                  <a:pt x="22" y="20"/>
                </a:moveTo>
                <a:lnTo>
                  <a:pt x="10" y="20"/>
                </a:lnTo>
                <a:lnTo>
                  <a:pt x="16" y="6"/>
                </a:lnTo>
                <a:lnTo>
                  <a:pt x="22" y="20"/>
                </a:lnTo>
                <a:lnTo>
                  <a:pt x="22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Freeform 18"/>
          <p:cNvSpPr>
            <a:spLocks/>
          </p:cNvSpPr>
          <p:nvPr userDrawn="1"/>
        </p:nvSpPr>
        <p:spPr bwMode="auto">
          <a:xfrm>
            <a:off x="7716838" y="800100"/>
            <a:ext cx="34925" cy="50800"/>
          </a:xfrm>
          <a:custGeom>
            <a:avLst/>
            <a:gdLst>
              <a:gd name="T0" fmla="*/ 6 w 22"/>
              <a:gd name="T1" fmla="*/ 0 h 32"/>
              <a:gd name="T2" fmla="*/ 0 w 22"/>
              <a:gd name="T3" fmla="*/ 0 h 32"/>
              <a:gd name="T4" fmla="*/ 0 w 22"/>
              <a:gd name="T5" fmla="*/ 32 h 32"/>
              <a:gd name="T6" fmla="*/ 22 w 22"/>
              <a:gd name="T7" fmla="*/ 32 h 32"/>
              <a:gd name="T8" fmla="*/ 22 w 22"/>
              <a:gd name="T9" fmla="*/ 28 h 32"/>
              <a:gd name="T10" fmla="*/ 6 w 22"/>
              <a:gd name="T11" fmla="*/ 28 h 32"/>
              <a:gd name="T12" fmla="*/ 6 w 22"/>
              <a:gd name="T13" fmla="*/ 0 h 32"/>
              <a:gd name="T14" fmla="*/ 6 w 22"/>
              <a:gd name="T1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" h="32">
                <a:moveTo>
                  <a:pt x="6" y="0"/>
                </a:moveTo>
                <a:lnTo>
                  <a:pt x="0" y="0"/>
                </a:lnTo>
                <a:lnTo>
                  <a:pt x="0" y="32"/>
                </a:lnTo>
                <a:lnTo>
                  <a:pt x="22" y="32"/>
                </a:lnTo>
                <a:lnTo>
                  <a:pt x="22" y="28"/>
                </a:lnTo>
                <a:lnTo>
                  <a:pt x="6" y="28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reeform 19"/>
          <p:cNvSpPr>
            <a:spLocks/>
          </p:cNvSpPr>
          <p:nvPr userDrawn="1"/>
        </p:nvSpPr>
        <p:spPr bwMode="auto">
          <a:xfrm>
            <a:off x="7761288" y="800100"/>
            <a:ext cx="6350" cy="50800"/>
          </a:xfrm>
          <a:custGeom>
            <a:avLst/>
            <a:gdLst>
              <a:gd name="T0" fmla="*/ 0 w 4"/>
              <a:gd name="T1" fmla="*/ 32 h 32"/>
              <a:gd name="T2" fmla="*/ 4 w 4"/>
              <a:gd name="T3" fmla="*/ 32 h 32"/>
              <a:gd name="T4" fmla="*/ 4 w 4"/>
              <a:gd name="T5" fmla="*/ 0 h 32"/>
              <a:gd name="T6" fmla="*/ 0 w 4"/>
              <a:gd name="T7" fmla="*/ 0 h 32"/>
              <a:gd name="T8" fmla="*/ 0 w 4"/>
              <a:gd name="T9" fmla="*/ 32 h 32"/>
              <a:gd name="T10" fmla="*/ 0 w 4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32">
                <a:moveTo>
                  <a:pt x="0" y="32"/>
                </a:moveTo>
                <a:lnTo>
                  <a:pt x="4" y="32"/>
                </a:lnTo>
                <a:lnTo>
                  <a:pt x="4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reeform 20"/>
          <p:cNvSpPr>
            <a:spLocks noEditPoints="1"/>
          </p:cNvSpPr>
          <p:nvPr userDrawn="1"/>
        </p:nvSpPr>
        <p:spPr bwMode="auto">
          <a:xfrm>
            <a:off x="7777163" y="800100"/>
            <a:ext cx="53975" cy="50800"/>
          </a:xfrm>
          <a:custGeom>
            <a:avLst/>
            <a:gdLst>
              <a:gd name="T0" fmla="*/ 20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6 w 34"/>
              <a:gd name="T7" fmla="*/ 32 h 32"/>
              <a:gd name="T8" fmla="*/ 8 w 34"/>
              <a:gd name="T9" fmla="*/ 26 h 32"/>
              <a:gd name="T10" fmla="*/ 26 w 34"/>
              <a:gd name="T11" fmla="*/ 26 h 32"/>
              <a:gd name="T12" fmla="*/ 28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20 w 34"/>
              <a:gd name="T19" fmla="*/ 0 h 32"/>
              <a:gd name="T20" fmla="*/ 20 w 34"/>
              <a:gd name="T21" fmla="*/ 0 h 32"/>
              <a:gd name="T22" fmla="*/ 24 w 34"/>
              <a:gd name="T23" fmla="*/ 20 h 32"/>
              <a:gd name="T24" fmla="*/ 10 w 34"/>
              <a:gd name="T25" fmla="*/ 20 h 32"/>
              <a:gd name="T26" fmla="*/ 18 w 34"/>
              <a:gd name="T27" fmla="*/ 6 h 32"/>
              <a:gd name="T28" fmla="*/ 24 w 34"/>
              <a:gd name="T29" fmla="*/ 20 h 32"/>
              <a:gd name="T30" fmla="*/ 24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20" y="0"/>
                </a:moveTo>
                <a:lnTo>
                  <a:pt x="14" y="0"/>
                </a:lnTo>
                <a:lnTo>
                  <a:pt x="0" y="32"/>
                </a:lnTo>
                <a:lnTo>
                  <a:pt x="6" y="32"/>
                </a:lnTo>
                <a:lnTo>
                  <a:pt x="8" y="26"/>
                </a:lnTo>
                <a:lnTo>
                  <a:pt x="26" y="26"/>
                </a:lnTo>
                <a:lnTo>
                  <a:pt x="28" y="32"/>
                </a:lnTo>
                <a:lnTo>
                  <a:pt x="34" y="32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close/>
                <a:moveTo>
                  <a:pt x="24" y="20"/>
                </a:moveTo>
                <a:lnTo>
                  <a:pt x="10" y="20"/>
                </a:lnTo>
                <a:lnTo>
                  <a:pt x="18" y="6"/>
                </a:lnTo>
                <a:lnTo>
                  <a:pt x="24" y="20"/>
                </a:lnTo>
                <a:lnTo>
                  <a:pt x="24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reeform 21"/>
          <p:cNvSpPr>
            <a:spLocks/>
          </p:cNvSpPr>
          <p:nvPr userDrawn="1"/>
        </p:nvSpPr>
        <p:spPr bwMode="auto">
          <a:xfrm>
            <a:off x="7840663" y="800100"/>
            <a:ext cx="41275" cy="50800"/>
          </a:xfrm>
          <a:custGeom>
            <a:avLst/>
            <a:gdLst>
              <a:gd name="T0" fmla="*/ 22 w 26"/>
              <a:gd name="T1" fmla="*/ 22 h 32"/>
              <a:gd name="T2" fmla="*/ 2 w 26"/>
              <a:gd name="T3" fmla="*/ 0 h 32"/>
              <a:gd name="T4" fmla="*/ 0 w 26"/>
              <a:gd name="T5" fmla="*/ 0 h 32"/>
              <a:gd name="T6" fmla="*/ 0 w 26"/>
              <a:gd name="T7" fmla="*/ 32 h 32"/>
              <a:gd name="T8" fmla="*/ 4 w 26"/>
              <a:gd name="T9" fmla="*/ 32 h 32"/>
              <a:gd name="T10" fmla="*/ 4 w 26"/>
              <a:gd name="T11" fmla="*/ 10 h 32"/>
              <a:gd name="T12" fmla="*/ 22 w 26"/>
              <a:gd name="T13" fmla="*/ 32 h 32"/>
              <a:gd name="T14" fmla="*/ 26 w 26"/>
              <a:gd name="T15" fmla="*/ 32 h 32"/>
              <a:gd name="T16" fmla="*/ 26 w 26"/>
              <a:gd name="T17" fmla="*/ 0 h 32"/>
              <a:gd name="T18" fmla="*/ 22 w 26"/>
              <a:gd name="T19" fmla="*/ 0 h 32"/>
              <a:gd name="T20" fmla="*/ 22 w 26"/>
              <a:gd name="T21" fmla="*/ 22 h 32"/>
              <a:gd name="T22" fmla="*/ 22 w 26"/>
              <a:gd name="T23" fmla="*/ 2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6" h="32">
                <a:moveTo>
                  <a:pt x="22" y="22"/>
                </a:moveTo>
                <a:lnTo>
                  <a:pt x="2" y="0"/>
                </a:lnTo>
                <a:lnTo>
                  <a:pt x="0" y="0"/>
                </a:lnTo>
                <a:lnTo>
                  <a:pt x="0" y="32"/>
                </a:lnTo>
                <a:lnTo>
                  <a:pt x="4" y="32"/>
                </a:lnTo>
                <a:lnTo>
                  <a:pt x="4" y="10"/>
                </a:lnTo>
                <a:lnTo>
                  <a:pt x="22" y="32"/>
                </a:lnTo>
                <a:lnTo>
                  <a:pt x="26" y="32"/>
                </a:lnTo>
                <a:lnTo>
                  <a:pt x="26" y="0"/>
                </a:lnTo>
                <a:lnTo>
                  <a:pt x="22" y="0"/>
                </a:lnTo>
                <a:lnTo>
                  <a:pt x="22" y="22"/>
                </a:lnTo>
                <a:lnTo>
                  <a:pt x="22" y="2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eform 22"/>
          <p:cNvSpPr>
            <a:spLocks/>
          </p:cNvSpPr>
          <p:nvPr userDrawn="1"/>
        </p:nvSpPr>
        <p:spPr bwMode="auto">
          <a:xfrm>
            <a:off x="7920038" y="796925"/>
            <a:ext cx="47625" cy="53975"/>
          </a:xfrm>
          <a:custGeom>
            <a:avLst/>
            <a:gdLst>
              <a:gd name="T0" fmla="*/ 13 w 15"/>
              <a:gd name="T1" fmla="*/ 13 h 17"/>
              <a:gd name="T2" fmla="*/ 9 w 15"/>
              <a:gd name="T3" fmla="*/ 15 h 17"/>
              <a:gd name="T4" fmla="*/ 3 w 15"/>
              <a:gd name="T5" fmla="*/ 9 h 17"/>
              <a:gd name="T6" fmla="*/ 9 w 15"/>
              <a:gd name="T7" fmla="*/ 3 h 17"/>
              <a:gd name="T8" fmla="*/ 13 w 15"/>
              <a:gd name="T9" fmla="*/ 5 h 17"/>
              <a:gd name="T10" fmla="*/ 13 w 15"/>
              <a:gd name="T11" fmla="*/ 5 h 17"/>
              <a:gd name="T12" fmla="*/ 15 w 15"/>
              <a:gd name="T13" fmla="*/ 3 h 17"/>
              <a:gd name="T14" fmla="*/ 15 w 15"/>
              <a:gd name="T15" fmla="*/ 3 h 17"/>
              <a:gd name="T16" fmla="*/ 9 w 15"/>
              <a:gd name="T17" fmla="*/ 0 h 17"/>
              <a:gd name="T18" fmla="*/ 2 w 15"/>
              <a:gd name="T19" fmla="*/ 3 h 17"/>
              <a:gd name="T20" fmla="*/ 0 w 15"/>
              <a:gd name="T21" fmla="*/ 9 h 17"/>
              <a:gd name="T22" fmla="*/ 9 w 15"/>
              <a:gd name="T23" fmla="*/ 17 h 17"/>
              <a:gd name="T24" fmla="*/ 15 w 15"/>
              <a:gd name="T25" fmla="*/ 15 h 17"/>
              <a:gd name="T26" fmla="*/ 15 w 15"/>
              <a:gd name="T27" fmla="*/ 15 h 17"/>
              <a:gd name="T28" fmla="*/ 13 w 15"/>
              <a:gd name="T29" fmla="*/ 13 h 17"/>
              <a:gd name="T30" fmla="*/ 13 w 15"/>
              <a:gd name="T31" fmla="*/ 13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5" h="17">
                <a:moveTo>
                  <a:pt x="13" y="13"/>
                </a:moveTo>
                <a:cubicBezTo>
                  <a:pt x="12" y="14"/>
                  <a:pt x="10" y="15"/>
                  <a:pt x="9" y="15"/>
                </a:cubicBezTo>
                <a:cubicBezTo>
                  <a:pt x="4" y="15"/>
                  <a:pt x="3" y="12"/>
                  <a:pt x="3" y="9"/>
                </a:cubicBezTo>
                <a:cubicBezTo>
                  <a:pt x="3" y="6"/>
                  <a:pt x="4" y="3"/>
                  <a:pt x="9" y="3"/>
                </a:cubicBezTo>
                <a:cubicBezTo>
                  <a:pt x="10" y="3"/>
                  <a:pt x="12" y="3"/>
                  <a:pt x="13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5" y="3"/>
                  <a:pt x="15" y="3"/>
                </a:cubicBezTo>
                <a:cubicBezTo>
                  <a:pt x="13" y="1"/>
                  <a:pt x="11" y="0"/>
                  <a:pt x="9" y="0"/>
                </a:cubicBezTo>
                <a:cubicBezTo>
                  <a:pt x="6" y="0"/>
                  <a:pt x="4" y="1"/>
                  <a:pt x="2" y="3"/>
                </a:cubicBezTo>
                <a:cubicBezTo>
                  <a:pt x="1" y="4"/>
                  <a:pt x="0" y="7"/>
                  <a:pt x="0" y="9"/>
                </a:cubicBezTo>
                <a:cubicBezTo>
                  <a:pt x="0" y="13"/>
                  <a:pt x="3" y="17"/>
                  <a:pt x="9" y="17"/>
                </a:cubicBezTo>
                <a:cubicBezTo>
                  <a:pt x="11" y="17"/>
                  <a:pt x="13" y="16"/>
                  <a:pt x="15" y="15"/>
                </a:cubicBezTo>
                <a:cubicBezTo>
                  <a:pt x="15" y="15"/>
                  <a:pt x="15" y="15"/>
                  <a:pt x="15" y="15"/>
                </a:cubicBezTo>
                <a:cubicBezTo>
                  <a:pt x="13" y="13"/>
                  <a:pt x="13" y="13"/>
                  <a:pt x="13" y="13"/>
                </a:cubicBezTo>
                <a:cubicBezTo>
                  <a:pt x="13" y="13"/>
                  <a:pt x="13" y="13"/>
                  <a:pt x="13" y="13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Freeform 23"/>
          <p:cNvSpPr>
            <a:spLocks noEditPoints="1"/>
          </p:cNvSpPr>
          <p:nvPr userDrawn="1"/>
        </p:nvSpPr>
        <p:spPr bwMode="auto">
          <a:xfrm>
            <a:off x="7970838" y="800100"/>
            <a:ext cx="53975" cy="50800"/>
          </a:xfrm>
          <a:custGeom>
            <a:avLst/>
            <a:gdLst>
              <a:gd name="T0" fmla="*/ 20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6 w 34"/>
              <a:gd name="T7" fmla="*/ 32 h 32"/>
              <a:gd name="T8" fmla="*/ 8 w 34"/>
              <a:gd name="T9" fmla="*/ 26 h 32"/>
              <a:gd name="T10" fmla="*/ 26 w 34"/>
              <a:gd name="T11" fmla="*/ 26 h 32"/>
              <a:gd name="T12" fmla="*/ 28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20 w 34"/>
              <a:gd name="T19" fmla="*/ 0 h 32"/>
              <a:gd name="T20" fmla="*/ 20 w 34"/>
              <a:gd name="T21" fmla="*/ 0 h 32"/>
              <a:gd name="T22" fmla="*/ 24 w 34"/>
              <a:gd name="T23" fmla="*/ 20 h 32"/>
              <a:gd name="T24" fmla="*/ 10 w 34"/>
              <a:gd name="T25" fmla="*/ 20 h 32"/>
              <a:gd name="T26" fmla="*/ 16 w 34"/>
              <a:gd name="T27" fmla="*/ 6 h 32"/>
              <a:gd name="T28" fmla="*/ 24 w 34"/>
              <a:gd name="T29" fmla="*/ 20 h 32"/>
              <a:gd name="T30" fmla="*/ 24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20" y="0"/>
                </a:moveTo>
                <a:lnTo>
                  <a:pt x="14" y="0"/>
                </a:lnTo>
                <a:lnTo>
                  <a:pt x="0" y="32"/>
                </a:lnTo>
                <a:lnTo>
                  <a:pt x="6" y="32"/>
                </a:lnTo>
                <a:lnTo>
                  <a:pt x="8" y="26"/>
                </a:lnTo>
                <a:lnTo>
                  <a:pt x="26" y="26"/>
                </a:lnTo>
                <a:lnTo>
                  <a:pt x="28" y="32"/>
                </a:lnTo>
                <a:lnTo>
                  <a:pt x="34" y="32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close/>
                <a:moveTo>
                  <a:pt x="24" y="20"/>
                </a:moveTo>
                <a:lnTo>
                  <a:pt x="10" y="20"/>
                </a:lnTo>
                <a:lnTo>
                  <a:pt x="16" y="6"/>
                </a:lnTo>
                <a:lnTo>
                  <a:pt x="24" y="20"/>
                </a:lnTo>
                <a:lnTo>
                  <a:pt x="24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eform 24"/>
          <p:cNvSpPr>
            <a:spLocks/>
          </p:cNvSpPr>
          <p:nvPr userDrawn="1"/>
        </p:nvSpPr>
        <p:spPr bwMode="auto">
          <a:xfrm>
            <a:off x="8021638" y="800100"/>
            <a:ext cx="44450" cy="50800"/>
          </a:xfrm>
          <a:custGeom>
            <a:avLst/>
            <a:gdLst>
              <a:gd name="T0" fmla="*/ 0 w 28"/>
              <a:gd name="T1" fmla="*/ 4 h 32"/>
              <a:gd name="T2" fmla="*/ 12 w 28"/>
              <a:gd name="T3" fmla="*/ 4 h 32"/>
              <a:gd name="T4" fmla="*/ 12 w 28"/>
              <a:gd name="T5" fmla="*/ 32 h 32"/>
              <a:gd name="T6" fmla="*/ 16 w 28"/>
              <a:gd name="T7" fmla="*/ 32 h 32"/>
              <a:gd name="T8" fmla="*/ 16 w 28"/>
              <a:gd name="T9" fmla="*/ 4 h 32"/>
              <a:gd name="T10" fmla="*/ 28 w 28"/>
              <a:gd name="T11" fmla="*/ 4 h 32"/>
              <a:gd name="T12" fmla="*/ 28 w 28"/>
              <a:gd name="T13" fmla="*/ 0 h 32"/>
              <a:gd name="T14" fmla="*/ 0 w 28"/>
              <a:gd name="T15" fmla="*/ 0 h 32"/>
              <a:gd name="T16" fmla="*/ 0 w 28"/>
              <a:gd name="T17" fmla="*/ 4 h 32"/>
              <a:gd name="T18" fmla="*/ 0 w 28"/>
              <a:gd name="T19" fmla="*/ 4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8" h="32">
                <a:moveTo>
                  <a:pt x="0" y="4"/>
                </a:moveTo>
                <a:lnTo>
                  <a:pt x="12" y="4"/>
                </a:lnTo>
                <a:lnTo>
                  <a:pt x="12" y="32"/>
                </a:lnTo>
                <a:lnTo>
                  <a:pt x="16" y="32"/>
                </a:lnTo>
                <a:lnTo>
                  <a:pt x="16" y="4"/>
                </a:lnTo>
                <a:lnTo>
                  <a:pt x="28" y="4"/>
                </a:lnTo>
                <a:lnTo>
                  <a:pt x="28" y="0"/>
                </a:lnTo>
                <a:lnTo>
                  <a:pt x="0" y="0"/>
                </a:lnTo>
                <a:lnTo>
                  <a:pt x="0" y="4"/>
                </a:lnTo>
                <a:lnTo>
                  <a:pt x="0" y="4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Freeform 25"/>
          <p:cNvSpPr>
            <a:spLocks/>
          </p:cNvSpPr>
          <p:nvPr userDrawn="1"/>
        </p:nvSpPr>
        <p:spPr bwMode="auto">
          <a:xfrm>
            <a:off x="8072438" y="800100"/>
            <a:ext cx="44450" cy="50800"/>
          </a:xfrm>
          <a:custGeom>
            <a:avLst/>
            <a:gdLst>
              <a:gd name="T0" fmla="*/ 22 w 28"/>
              <a:gd name="T1" fmla="*/ 12 h 32"/>
              <a:gd name="T2" fmla="*/ 6 w 28"/>
              <a:gd name="T3" fmla="*/ 12 h 32"/>
              <a:gd name="T4" fmla="*/ 6 w 28"/>
              <a:gd name="T5" fmla="*/ 0 h 32"/>
              <a:gd name="T6" fmla="*/ 0 w 28"/>
              <a:gd name="T7" fmla="*/ 0 h 32"/>
              <a:gd name="T8" fmla="*/ 0 w 28"/>
              <a:gd name="T9" fmla="*/ 32 h 32"/>
              <a:gd name="T10" fmla="*/ 6 w 28"/>
              <a:gd name="T11" fmla="*/ 32 h 32"/>
              <a:gd name="T12" fmla="*/ 6 w 28"/>
              <a:gd name="T13" fmla="*/ 18 h 32"/>
              <a:gd name="T14" fmla="*/ 22 w 28"/>
              <a:gd name="T15" fmla="*/ 18 h 32"/>
              <a:gd name="T16" fmla="*/ 22 w 28"/>
              <a:gd name="T17" fmla="*/ 32 h 32"/>
              <a:gd name="T18" fmla="*/ 28 w 28"/>
              <a:gd name="T19" fmla="*/ 32 h 32"/>
              <a:gd name="T20" fmla="*/ 28 w 28"/>
              <a:gd name="T21" fmla="*/ 0 h 32"/>
              <a:gd name="T22" fmla="*/ 22 w 28"/>
              <a:gd name="T23" fmla="*/ 0 h 32"/>
              <a:gd name="T24" fmla="*/ 22 w 28"/>
              <a:gd name="T25" fmla="*/ 12 h 32"/>
              <a:gd name="T26" fmla="*/ 22 w 28"/>
              <a:gd name="T27" fmla="*/ 1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8" h="32">
                <a:moveTo>
                  <a:pt x="22" y="12"/>
                </a:moveTo>
                <a:lnTo>
                  <a:pt x="6" y="12"/>
                </a:lnTo>
                <a:lnTo>
                  <a:pt x="6" y="0"/>
                </a:lnTo>
                <a:lnTo>
                  <a:pt x="0" y="0"/>
                </a:lnTo>
                <a:lnTo>
                  <a:pt x="0" y="32"/>
                </a:lnTo>
                <a:lnTo>
                  <a:pt x="6" y="32"/>
                </a:lnTo>
                <a:lnTo>
                  <a:pt x="6" y="18"/>
                </a:lnTo>
                <a:lnTo>
                  <a:pt x="22" y="18"/>
                </a:lnTo>
                <a:lnTo>
                  <a:pt x="22" y="32"/>
                </a:lnTo>
                <a:lnTo>
                  <a:pt x="28" y="32"/>
                </a:lnTo>
                <a:lnTo>
                  <a:pt x="28" y="0"/>
                </a:lnTo>
                <a:lnTo>
                  <a:pt x="22" y="0"/>
                </a:lnTo>
                <a:lnTo>
                  <a:pt x="22" y="12"/>
                </a:lnTo>
                <a:lnTo>
                  <a:pt x="22" y="1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Freeform 26"/>
          <p:cNvSpPr>
            <a:spLocks noEditPoints="1"/>
          </p:cNvSpPr>
          <p:nvPr userDrawn="1"/>
        </p:nvSpPr>
        <p:spPr bwMode="auto">
          <a:xfrm>
            <a:off x="8126413" y="796925"/>
            <a:ext cx="50800" cy="53975"/>
          </a:xfrm>
          <a:custGeom>
            <a:avLst/>
            <a:gdLst>
              <a:gd name="T0" fmla="*/ 8 w 16"/>
              <a:gd name="T1" fmla="*/ 0 h 17"/>
              <a:gd name="T2" fmla="*/ 0 w 16"/>
              <a:gd name="T3" fmla="*/ 9 h 17"/>
              <a:gd name="T4" fmla="*/ 8 w 16"/>
              <a:gd name="T5" fmla="*/ 17 h 17"/>
              <a:gd name="T6" fmla="*/ 16 w 16"/>
              <a:gd name="T7" fmla="*/ 9 h 17"/>
              <a:gd name="T8" fmla="*/ 8 w 16"/>
              <a:gd name="T9" fmla="*/ 0 h 17"/>
              <a:gd name="T10" fmla="*/ 8 w 16"/>
              <a:gd name="T11" fmla="*/ 15 h 17"/>
              <a:gd name="T12" fmla="*/ 2 w 16"/>
              <a:gd name="T13" fmla="*/ 9 h 17"/>
              <a:gd name="T14" fmla="*/ 8 w 16"/>
              <a:gd name="T15" fmla="*/ 3 h 17"/>
              <a:gd name="T16" fmla="*/ 14 w 16"/>
              <a:gd name="T17" fmla="*/ 9 h 17"/>
              <a:gd name="T18" fmla="*/ 8 w 16"/>
              <a:gd name="T19" fmla="*/ 15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" h="17">
                <a:moveTo>
                  <a:pt x="8" y="0"/>
                </a:moveTo>
                <a:cubicBezTo>
                  <a:pt x="3" y="0"/>
                  <a:pt x="0" y="4"/>
                  <a:pt x="0" y="9"/>
                </a:cubicBezTo>
                <a:cubicBezTo>
                  <a:pt x="0" y="13"/>
                  <a:pt x="2" y="17"/>
                  <a:pt x="8" y="17"/>
                </a:cubicBezTo>
                <a:cubicBezTo>
                  <a:pt x="14" y="17"/>
                  <a:pt x="16" y="13"/>
                  <a:pt x="16" y="9"/>
                </a:cubicBezTo>
                <a:cubicBezTo>
                  <a:pt x="16" y="5"/>
                  <a:pt x="14" y="0"/>
                  <a:pt x="8" y="0"/>
                </a:cubicBezTo>
                <a:close/>
                <a:moveTo>
                  <a:pt x="8" y="15"/>
                </a:moveTo>
                <a:cubicBezTo>
                  <a:pt x="4" y="15"/>
                  <a:pt x="2" y="12"/>
                  <a:pt x="2" y="9"/>
                </a:cubicBezTo>
                <a:cubicBezTo>
                  <a:pt x="2" y="6"/>
                  <a:pt x="4" y="3"/>
                  <a:pt x="8" y="3"/>
                </a:cubicBezTo>
                <a:cubicBezTo>
                  <a:pt x="12" y="3"/>
                  <a:pt x="14" y="6"/>
                  <a:pt x="14" y="9"/>
                </a:cubicBezTo>
                <a:cubicBezTo>
                  <a:pt x="14" y="12"/>
                  <a:pt x="12" y="15"/>
                  <a:pt x="8" y="15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Freeform 27"/>
          <p:cNvSpPr>
            <a:spLocks/>
          </p:cNvSpPr>
          <p:nvPr userDrawn="1"/>
        </p:nvSpPr>
        <p:spPr bwMode="auto">
          <a:xfrm>
            <a:off x="8186738" y="800100"/>
            <a:ext cx="34925" cy="50800"/>
          </a:xfrm>
          <a:custGeom>
            <a:avLst/>
            <a:gdLst>
              <a:gd name="T0" fmla="*/ 6 w 22"/>
              <a:gd name="T1" fmla="*/ 0 h 32"/>
              <a:gd name="T2" fmla="*/ 0 w 22"/>
              <a:gd name="T3" fmla="*/ 0 h 32"/>
              <a:gd name="T4" fmla="*/ 0 w 22"/>
              <a:gd name="T5" fmla="*/ 32 h 32"/>
              <a:gd name="T6" fmla="*/ 22 w 22"/>
              <a:gd name="T7" fmla="*/ 32 h 32"/>
              <a:gd name="T8" fmla="*/ 22 w 22"/>
              <a:gd name="T9" fmla="*/ 28 h 32"/>
              <a:gd name="T10" fmla="*/ 6 w 22"/>
              <a:gd name="T11" fmla="*/ 28 h 32"/>
              <a:gd name="T12" fmla="*/ 6 w 22"/>
              <a:gd name="T13" fmla="*/ 0 h 32"/>
              <a:gd name="T14" fmla="*/ 6 w 22"/>
              <a:gd name="T1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" h="32">
                <a:moveTo>
                  <a:pt x="6" y="0"/>
                </a:moveTo>
                <a:lnTo>
                  <a:pt x="0" y="0"/>
                </a:lnTo>
                <a:lnTo>
                  <a:pt x="0" y="32"/>
                </a:lnTo>
                <a:lnTo>
                  <a:pt x="22" y="32"/>
                </a:lnTo>
                <a:lnTo>
                  <a:pt x="22" y="28"/>
                </a:lnTo>
                <a:lnTo>
                  <a:pt x="6" y="28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Freeform 28"/>
          <p:cNvSpPr>
            <a:spLocks/>
          </p:cNvSpPr>
          <p:nvPr userDrawn="1"/>
        </p:nvSpPr>
        <p:spPr bwMode="auto">
          <a:xfrm>
            <a:off x="8231188" y="800100"/>
            <a:ext cx="6350" cy="50800"/>
          </a:xfrm>
          <a:custGeom>
            <a:avLst/>
            <a:gdLst>
              <a:gd name="T0" fmla="*/ 0 w 4"/>
              <a:gd name="T1" fmla="*/ 32 h 32"/>
              <a:gd name="T2" fmla="*/ 4 w 4"/>
              <a:gd name="T3" fmla="*/ 32 h 32"/>
              <a:gd name="T4" fmla="*/ 4 w 4"/>
              <a:gd name="T5" fmla="*/ 0 h 32"/>
              <a:gd name="T6" fmla="*/ 0 w 4"/>
              <a:gd name="T7" fmla="*/ 0 h 32"/>
              <a:gd name="T8" fmla="*/ 0 w 4"/>
              <a:gd name="T9" fmla="*/ 32 h 32"/>
              <a:gd name="T10" fmla="*/ 0 w 4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32">
                <a:moveTo>
                  <a:pt x="0" y="32"/>
                </a:moveTo>
                <a:lnTo>
                  <a:pt x="4" y="32"/>
                </a:lnTo>
                <a:lnTo>
                  <a:pt x="4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Freeform 29"/>
          <p:cNvSpPr>
            <a:spLocks/>
          </p:cNvSpPr>
          <p:nvPr userDrawn="1"/>
        </p:nvSpPr>
        <p:spPr bwMode="auto">
          <a:xfrm>
            <a:off x="8247063" y="796925"/>
            <a:ext cx="47625" cy="53975"/>
          </a:xfrm>
          <a:custGeom>
            <a:avLst/>
            <a:gdLst>
              <a:gd name="T0" fmla="*/ 13 w 15"/>
              <a:gd name="T1" fmla="*/ 13 h 17"/>
              <a:gd name="T2" fmla="*/ 9 w 15"/>
              <a:gd name="T3" fmla="*/ 15 h 17"/>
              <a:gd name="T4" fmla="*/ 3 w 15"/>
              <a:gd name="T5" fmla="*/ 9 h 17"/>
              <a:gd name="T6" fmla="*/ 9 w 15"/>
              <a:gd name="T7" fmla="*/ 3 h 17"/>
              <a:gd name="T8" fmla="*/ 13 w 15"/>
              <a:gd name="T9" fmla="*/ 5 h 17"/>
              <a:gd name="T10" fmla="*/ 13 w 15"/>
              <a:gd name="T11" fmla="*/ 5 h 17"/>
              <a:gd name="T12" fmla="*/ 15 w 15"/>
              <a:gd name="T13" fmla="*/ 3 h 17"/>
              <a:gd name="T14" fmla="*/ 15 w 15"/>
              <a:gd name="T15" fmla="*/ 3 h 17"/>
              <a:gd name="T16" fmla="*/ 9 w 15"/>
              <a:gd name="T17" fmla="*/ 0 h 17"/>
              <a:gd name="T18" fmla="*/ 3 w 15"/>
              <a:gd name="T19" fmla="*/ 3 h 17"/>
              <a:gd name="T20" fmla="*/ 0 w 15"/>
              <a:gd name="T21" fmla="*/ 9 h 17"/>
              <a:gd name="T22" fmla="*/ 9 w 15"/>
              <a:gd name="T23" fmla="*/ 17 h 17"/>
              <a:gd name="T24" fmla="*/ 15 w 15"/>
              <a:gd name="T25" fmla="*/ 15 h 17"/>
              <a:gd name="T26" fmla="*/ 15 w 15"/>
              <a:gd name="T27" fmla="*/ 15 h 17"/>
              <a:gd name="T28" fmla="*/ 13 w 15"/>
              <a:gd name="T29" fmla="*/ 13 h 17"/>
              <a:gd name="T30" fmla="*/ 13 w 15"/>
              <a:gd name="T31" fmla="*/ 13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5" h="17">
                <a:moveTo>
                  <a:pt x="13" y="13"/>
                </a:moveTo>
                <a:cubicBezTo>
                  <a:pt x="12" y="14"/>
                  <a:pt x="10" y="15"/>
                  <a:pt x="9" y="15"/>
                </a:cubicBezTo>
                <a:cubicBezTo>
                  <a:pt x="5" y="15"/>
                  <a:pt x="3" y="12"/>
                  <a:pt x="3" y="9"/>
                </a:cubicBezTo>
                <a:cubicBezTo>
                  <a:pt x="3" y="6"/>
                  <a:pt x="5" y="3"/>
                  <a:pt x="9" y="3"/>
                </a:cubicBezTo>
                <a:cubicBezTo>
                  <a:pt x="10" y="3"/>
                  <a:pt x="12" y="3"/>
                  <a:pt x="13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5" y="3"/>
                  <a:pt x="15" y="3"/>
                </a:cubicBezTo>
                <a:cubicBezTo>
                  <a:pt x="13" y="1"/>
                  <a:pt x="11" y="0"/>
                  <a:pt x="9" y="0"/>
                </a:cubicBezTo>
                <a:cubicBezTo>
                  <a:pt x="6" y="0"/>
                  <a:pt x="4" y="1"/>
                  <a:pt x="3" y="3"/>
                </a:cubicBezTo>
                <a:cubicBezTo>
                  <a:pt x="1" y="4"/>
                  <a:pt x="0" y="7"/>
                  <a:pt x="0" y="9"/>
                </a:cubicBezTo>
                <a:cubicBezTo>
                  <a:pt x="0" y="13"/>
                  <a:pt x="3" y="17"/>
                  <a:pt x="9" y="17"/>
                </a:cubicBezTo>
                <a:cubicBezTo>
                  <a:pt x="11" y="17"/>
                  <a:pt x="13" y="16"/>
                  <a:pt x="15" y="15"/>
                </a:cubicBezTo>
                <a:cubicBezTo>
                  <a:pt x="15" y="15"/>
                  <a:pt x="15" y="15"/>
                  <a:pt x="15" y="15"/>
                </a:cubicBezTo>
                <a:cubicBezTo>
                  <a:pt x="13" y="13"/>
                  <a:pt x="13" y="13"/>
                  <a:pt x="13" y="13"/>
                </a:cubicBezTo>
                <a:cubicBezTo>
                  <a:pt x="13" y="13"/>
                  <a:pt x="13" y="13"/>
                  <a:pt x="13" y="13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Freeform 30"/>
          <p:cNvSpPr>
            <a:spLocks/>
          </p:cNvSpPr>
          <p:nvPr userDrawn="1"/>
        </p:nvSpPr>
        <p:spPr bwMode="auto">
          <a:xfrm>
            <a:off x="8329613" y="800100"/>
            <a:ext cx="41275" cy="50800"/>
          </a:xfrm>
          <a:custGeom>
            <a:avLst/>
            <a:gdLst>
              <a:gd name="T0" fmla="*/ 11 w 13"/>
              <a:gd name="T1" fmla="*/ 9 h 16"/>
              <a:gd name="T2" fmla="*/ 7 w 13"/>
              <a:gd name="T3" fmla="*/ 14 h 16"/>
              <a:gd name="T4" fmla="*/ 2 w 13"/>
              <a:gd name="T5" fmla="*/ 9 h 16"/>
              <a:gd name="T6" fmla="*/ 2 w 13"/>
              <a:gd name="T7" fmla="*/ 0 h 16"/>
              <a:gd name="T8" fmla="*/ 0 w 13"/>
              <a:gd name="T9" fmla="*/ 0 h 16"/>
              <a:gd name="T10" fmla="*/ 0 w 13"/>
              <a:gd name="T11" fmla="*/ 9 h 16"/>
              <a:gd name="T12" fmla="*/ 7 w 13"/>
              <a:gd name="T13" fmla="*/ 16 h 16"/>
              <a:gd name="T14" fmla="*/ 13 w 13"/>
              <a:gd name="T15" fmla="*/ 9 h 16"/>
              <a:gd name="T16" fmla="*/ 13 w 13"/>
              <a:gd name="T17" fmla="*/ 0 h 16"/>
              <a:gd name="T18" fmla="*/ 11 w 13"/>
              <a:gd name="T19" fmla="*/ 0 h 16"/>
              <a:gd name="T20" fmla="*/ 11 w 13"/>
              <a:gd name="T21" fmla="*/ 9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" h="16">
                <a:moveTo>
                  <a:pt x="11" y="9"/>
                </a:moveTo>
                <a:cubicBezTo>
                  <a:pt x="11" y="12"/>
                  <a:pt x="9" y="14"/>
                  <a:pt x="7" y="14"/>
                </a:cubicBezTo>
                <a:cubicBezTo>
                  <a:pt x="5" y="14"/>
                  <a:pt x="2" y="12"/>
                  <a:pt x="2" y="9"/>
                </a:cubicBezTo>
                <a:cubicBezTo>
                  <a:pt x="2" y="0"/>
                  <a:pt x="2" y="0"/>
                  <a:pt x="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9"/>
                  <a:pt x="0" y="9"/>
                  <a:pt x="0" y="9"/>
                </a:cubicBezTo>
                <a:cubicBezTo>
                  <a:pt x="0" y="14"/>
                  <a:pt x="3" y="16"/>
                  <a:pt x="7" y="16"/>
                </a:cubicBezTo>
                <a:cubicBezTo>
                  <a:pt x="10" y="16"/>
                  <a:pt x="13" y="14"/>
                  <a:pt x="13" y="9"/>
                </a:cubicBezTo>
                <a:cubicBezTo>
                  <a:pt x="13" y="0"/>
                  <a:pt x="13" y="0"/>
                  <a:pt x="13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1" y="9"/>
                  <a:pt x="11" y="9"/>
                  <a:pt x="11" y="9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Freeform 31"/>
          <p:cNvSpPr>
            <a:spLocks/>
          </p:cNvSpPr>
          <p:nvPr userDrawn="1"/>
        </p:nvSpPr>
        <p:spPr bwMode="auto">
          <a:xfrm>
            <a:off x="8386763" y="800100"/>
            <a:ext cx="41275" cy="50800"/>
          </a:xfrm>
          <a:custGeom>
            <a:avLst/>
            <a:gdLst>
              <a:gd name="T0" fmla="*/ 20 w 26"/>
              <a:gd name="T1" fmla="*/ 22 h 32"/>
              <a:gd name="T2" fmla="*/ 2 w 26"/>
              <a:gd name="T3" fmla="*/ 0 h 32"/>
              <a:gd name="T4" fmla="*/ 0 w 26"/>
              <a:gd name="T5" fmla="*/ 0 h 32"/>
              <a:gd name="T6" fmla="*/ 0 w 26"/>
              <a:gd name="T7" fmla="*/ 32 h 32"/>
              <a:gd name="T8" fmla="*/ 4 w 26"/>
              <a:gd name="T9" fmla="*/ 32 h 32"/>
              <a:gd name="T10" fmla="*/ 4 w 26"/>
              <a:gd name="T11" fmla="*/ 10 h 32"/>
              <a:gd name="T12" fmla="*/ 22 w 26"/>
              <a:gd name="T13" fmla="*/ 32 h 32"/>
              <a:gd name="T14" fmla="*/ 26 w 26"/>
              <a:gd name="T15" fmla="*/ 32 h 32"/>
              <a:gd name="T16" fmla="*/ 26 w 26"/>
              <a:gd name="T17" fmla="*/ 0 h 32"/>
              <a:gd name="T18" fmla="*/ 20 w 26"/>
              <a:gd name="T19" fmla="*/ 0 h 32"/>
              <a:gd name="T20" fmla="*/ 20 w 26"/>
              <a:gd name="T21" fmla="*/ 22 h 32"/>
              <a:gd name="T22" fmla="*/ 20 w 26"/>
              <a:gd name="T23" fmla="*/ 2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6" h="32">
                <a:moveTo>
                  <a:pt x="20" y="22"/>
                </a:moveTo>
                <a:lnTo>
                  <a:pt x="2" y="0"/>
                </a:lnTo>
                <a:lnTo>
                  <a:pt x="0" y="0"/>
                </a:lnTo>
                <a:lnTo>
                  <a:pt x="0" y="32"/>
                </a:lnTo>
                <a:lnTo>
                  <a:pt x="4" y="32"/>
                </a:lnTo>
                <a:lnTo>
                  <a:pt x="4" y="10"/>
                </a:lnTo>
                <a:lnTo>
                  <a:pt x="22" y="32"/>
                </a:lnTo>
                <a:lnTo>
                  <a:pt x="26" y="32"/>
                </a:lnTo>
                <a:lnTo>
                  <a:pt x="26" y="0"/>
                </a:lnTo>
                <a:lnTo>
                  <a:pt x="20" y="0"/>
                </a:lnTo>
                <a:lnTo>
                  <a:pt x="20" y="22"/>
                </a:lnTo>
                <a:lnTo>
                  <a:pt x="20" y="2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Freeform 32"/>
          <p:cNvSpPr>
            <a:spLocks/>
          </p:cNvSpPr>
          <p:nvPr userDrawn="1"/>
        </p:nvSpPr>
        <p:spPr bwMode="auto">
          <a:xfrm>
            <a:off x="8440738" y="800100"/>
            <a:ext cx="9525" cy="50800"/>
          </a:xfrm>
          <a:custGeom>
            <a:avLst/>
            <a:gdLst>
              <a:gd name="T0" fmla="*/ 0 w 6"/>
              <a:gd name="T1" fmla="*/ 32 h 32"/>
              <a:gd name="T2" fmla="*/ 6 w 6"/>
              <a:gd name="T3" fmla="*/ 32 h 32"/>
              <a:gd name="T4" fmla="*/ 6 w 6"/>
              <a:gd name="T5" fmla="*/ 0 h 32"/>
              <a:gd name="T6" fmla="*/ 0 w 6"/>
              <a:gd name="T7" fmla="*/ 0 h 32"/>
              <a:gd name="T8" fmla="*/ 0 w 6"/>
              <a:gd name="T9" fmla="*/ 32 h 32"/>
              <a:gd name="T10" fmla="*/ 0 w 6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" h="32">
                <a:moveTo>
                  <a:pt x="0" y="32"/>
                </a:moveTo>
                <a:lnTo>
                  <a:pt x="6" y="32"/>
                </a:lnTo>
                <a:lnTo>
                  <a:pt x="6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Freeform 33"/>
          <p:cNvSpPr>
            <a:spLocks/>
          </p:cNvSpPr>
          <p:nvPr userDrawn="1"/>
        </p:nvSpPr>
        <p:spPr bwMode="auto">
          <a:xfrm>
            <a:off x="8459788" y="800100"/>
            <a:ext cx="50800" cy="50800"/>
          </a:xfrm>
          <a:custGeom>
            <a:avLst/>
            <a:gdLst>
              <a:gd name="T0" fmla="*/ 6 w 32"/>
              <a:gd name="T1" fmla="*/ 0 h 32"/>
              <a:gd name="T2" fmla="*/ 0 w 32"/>
              <a:gd name="T3" fmla="*/ 0 h 32"/>
              <a:gd name="T4" fmla="*/ 12 w 32"/>
              <a:gd name="T5" fmla="*/ 32 h 32"/>
              <a:gd name="T6" fmla="*/ 18 w 32"/>
              <a:gd name="T7" fmla="*/ 32 h 32"/>
              <a:gd name="T8" fmla="*/ 32 w 32"/>
              <a:gd name="T9" fmla="*/ 0 h 32"/>
              <a:gd name="T10" fmla="*/ 26 w 32"/>
              <a:gd name="T11" fmla="*/ 0 h 32"/>
              <a:gd name="T12" fmla="*/ 16 w 32"/>
              <a:gd name="T13" fmla="*/ 26 h 32"/>
              <a:gd name="T14" fmla="*/ 6 w 32"/>
              <a:gd name="T15" fmla="*/ 0 h 32"/>
              <a:gd name="T16" fmla="*/ 6 w 32"/>
              <a:gd name="T17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" h="32">
                <a:moveTo>
                  <a:pt x="6" y="0"/>
                </a:moveTo>
                <a:lnTo>
                  <a:pt x="0" y="0"/>
                </a:lnTo>
                <a:lnTo>
                  <a:pt x="12" y="32"/>
                </a:lnTo>
                <a:lnTo>
                  <a:pt x="18" y="32"/>
                </a:lnTo>
                <a:lnTo>
                  <a:pt x="32" y="0"/>
                </a:lnTo>
                <a:lnTo>
                  <a:pt x="26" y="0"/>
                </a:lnTo>
                <a:lnTo>
                  <a:pt x="16" y="26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Freeform 34"/>
          <p:cNvSpPr>
            <a:spLocks/>
          </p:cNvSpPr>
          <p:nvPr userDrawn="1"/>
        </p:nvSpPr>
        <p:spPr bwMode="auto">
          <a:xfrm>
            <a:off x="8516938" y="800100"/>
            <a:ext cx="38100" cy="50800"/>
          </a:xfrm>
          <a:custGeom>
            <a:avLst/>
            <a:gdLst>
              <a:gd name="T0" fmla="*/ 6 w 24"/>
              <a:gd name="T1" fmla="*/ 18 h 32"/>
              <a:gd name="T2" fmla="*/ 24 w 24"/>
              <a:gd name="T3" fmla="*/ 18 h 32"/>
              <a:gd name="T4" fmla="*/ 24 w 24"/>
              <a:gd name="T5" fmla="*/ 12 h 32"/>
              <a:gd name="T6" fmla="*/ 6 w 24"/>
              <a:gd name="T7" fmla="*/ 12 h 32"/>
              <a:gd name="T8" fmla="*/ 6 w 24"/>
              <a:gd name="T9" fmla="*/ 4 h 32"/>
              <a:gd name="T10" fmla="*/ 24 w 24"/>
              <a:gd name="T11" fmla="*/ 4 h 32"/>
              <a:gd name="T12" fmla="*/ 24 w 24"/>
              <a:gd name="T13" fmla="*/ 0 h 32"/>
              <a:gd name="T14" fmla="*/ 0 w 24"/>
              <a:gd name="T15" fmla="*/ 0 h 32"/>
              <a:gd name="T16" fmla="*/ 0 w 24"/>
              <a:gd name="T17" fmla="*/ 32 h 32"/>
              <a:gd name="T18" fmla="*/ 24 w 24"/>
              <a:gd name="T19" fmla="*/ 32 h 32"/>
              <a:gd name="T20" fmla="*/ 24 w 24"/>
              <a:gd name="T21" fmla="*/ 26 h 32"/>
              <a:gd name="T22" fmla="*/ 6 w 24"/>
              <a:gd name="T23" fmla="*/ 26 h 32"/>
              <a:gd name="T24" fmla="*/ 6 w 24"/>
              <a:gd name="T25" fmla="*/ 18 h 32"/>
              <a:gd name="T26" fmla="*/ 6 w 24"/>
              <a:gd name="T27" fmla="*/ 18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4" h="32">
                <a:moveTo>
                  <a:pt x="6" y="18"/>
                </a:moveTo>
                <a:lnTo>
                  <a:pt x="24" y="18"/>
                </a:lnTo>
                <a:lnTo>
                  <a:pt x="24" y="12"/>
                </a:lnTo>
                <a:lnTo>
                  <a:pt x="6" y="12"/>
                </a:lnTo>
                <a:lnTo>
                  <a:pt x="6" y="4"/>
                </a:lnTo>
                <a:lnTo>
                  <a:pt x="24" y="4"/>
                </a:lnTo>
                <a:lnTo>
                  <a:pt x="24" y="0"/>
                </a:lnTo>
                <a:lnTo>
                  <a:pt x="0" y="0"/>
                </a:lnTo>
                <a:lnTo>
                  <a:pt x="0" y="32"/>
                </a:lnTo>
                <a:lnTo>
                  <a:pt x="24" y="32"/>
                </a:lnTo>
                <a:lnTo>
                  <a:pt x="24" y="26"/>
                </a:lnTo>
                <a:lnTo>
                  <a:pt x="6" y="26"/>
                </a:lnTo>
                <a:lnTo>
                  <a:pt x="6" y="18"/>
                </a:lnTo>
                <a:lnTo>
                  <a:pt x="6" y="18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Freeform 35"/>
          <p:cNvSpPr>
            <a:spLocks noEditPoints="1"/>
          </p:cNvSpPr>
          <p:nvPr userDrawn="1"/>
        </p:nvSpPr>
        <p:spPr bwMode="auto">
          <a:xfrm>
            <a:off x="8567738" y="800100"/>
            <a:ext cx="44450" cy="50800"/>
          </a:xfrm>
          <a:custGeom>
            <a:avLst/>
            <a:gdLst>
              <a:gd name="T0" fmla="*/ 13 w 14"/>
              <a:gd name="T1" fmla="*/ 5 h 16"/>
              <a:gd name="T2" fmla="*/ 7 w 14"/>
              <a:gd name="T3" fmla="*/ 0 h 16"/>
              <a:gd name="T4" fmla="*/ 0 w 14"/>
              <a:gd name="T5" fmla="*/ 0 h 16"/>
              <a:gd name="T6" fmla="*/ 0 w 14"/>
              <a:gd name="T7" fmla="*/ 16 h 16"/>
              <a:gd name="T8" fmla="*/ 2 w 14"/>
              <a:gd name="T9" fmla="*/ 16 h 16"/>
              <a:gd name="T10" fmla="*/ 2 w 14"/>
              <a:gd name="T11" fmla="*/ 10 h 16"/>
              <a:gd name="T12" fmla="*/ 6 w 14"/>
              <a:gd name="T13" fmla="*/ 10 h 16"/>
              <a:gd name="T14" fmla="*/ 11 w 14"/>
              <a:gd name="T15" fmla="*/ 16 h 16"/>
              <a:gd name="T16" fmla="*/ 14 w 14"/>
              <a:gd name="T17" fmla="*/ 16 h 16"/>
              <a:gd name="T18" fmla="*/ 9 w 14"/>
              <a:gd name="T19" fmla="*/ 10 h 16"/>
              <a:gd name="T20" fmla="*/ 13 w 14"/>
              <a:gd name="T21" fmla="*/ 5 h 16"/>
              <a:gd name="T22" fmla="*/ 2 w 14"/>
              <a:gd name="T23" fmla="*/ 2 h 16"/>
              <a:gd name="T24" fmla="*/ 7 w 14"/>
              <a:gd name="T25" fmla="*/ 2 h 16"/>
              <a:gd name="T26" fmla="*/ 10 w 14"/>
              <a:gd name="T27" fmla="*/ 5 h 16"/>
              <a:gd name="T28" fmla="*/ 7 w 14"/>
              <a:gd name="T29" fmla="*/ 8 h 16"/>
              <a:gd name="T30" fmla="*/ 2 w 14"/>
              <a:gd name="T31" fmla="*/ 8 h 16"/>
              <a:gd name="T32" fmla="*/ 2 w 14"/>
              <a:gd name="T33" fmla="*/ 2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" h="16">
                <a:moveTo>
                  <a:pt x="13" y="5"/>
                </a:moveTo>
                <a:cubicBezTo>
                  <a:pt x="13" y="2"/>
                  <a:pt x="11" y="0"/>
                  <a:pt x="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"/>
                  <a:pt x="0" y="16"/>
                  <a:pt x="0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2" y="10"/>
                  <a:pt x="2" y="10"/>
                  <a:pt x="2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11" y="16"/>
                  <a:pt x="11" y="16"/>
                  <a:pt x="11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9" y="10"/>
                  <a:pt x="9" y="10"/>
                  <a:pt x="9" y="10"/>
                </a:cubicBezTo>
                <a:cubicBezTo>
                  <a:pt x="11" y="10"/>
                  <a:pt x="13" y="8"/>
                  <a:pt x="13" y="5"/>
                </a:cubicBezTo>
                <a:close/>
                <a:moveTo>
                  <a:pt x="2" y="2"/>
                </a:moveTo>
                <a:cubicBezTo>
                  <a:pt x="7" y="2"/>
                  <a:pt x="7" y="2"/>
                  <a:pt x="7" y="2"/>
                </a:cubicBezTo>
                <a:cubicBezTo>
                  <a:pt x="9" y="2"/>
                  <a:pt x="10" y="4"/>
                  <a:pt x="10" y="5"/>
                </a:cubicBezTo>
                <a:cubicBezTo>
                  <a:pt x="10" y="6"/>
                  <a:pt x="9" y="8"/>
                  <a:pt x="7" y="8"/>
                </a:cubicBezTo>
                <a:cubicBezTo>
                  <a:pt x="2" y="8"/>
                  <a:pt x="2" y="8"/>
                  <a:pt x="2" y="8"/>
                </a:cubicBezTo>
                <a:cubicBezTo>
                  <a:pt x="2" y="2"/>
                  <a:pt x="2" y="2"/>
                  <a:pt x="2" y="2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Freeform 36"/>
          <p:cNvSpPr>
            <a:spLocks/>
          </p:cNvSpPr>
          <p:nvPr userDrawn="1"/>
        </p:nvSpPr>
        <p:spPr bwMode="auto">
          <a:xfrm>
            <a:off x="8615363" y="796925"/>
            <a:ext cx="44450" cy="53975"/>
          </a:xfrm>
          <a:custGeom>
            <a:avLst/>
            <a:gdLst>
              <a:gd name="T0" fmla="*/ 8 w 14"/>
              <a:gd name="T1" fmla="*/ 7 h 17"/>
              <a:gd name="T2" fmla="*/ 4 w 14"/>
              <a:gd name="T3" fmla="*/ 5 h 17"/>
              <a:gd name="T4" fmla="*/ 7 w 14"/>
              <a:gd name="T5" fmla="*/ 3 h 17"/>
              <a:gd name="T6" fmla="*/ 12 w 14"/>
              <a:gd name="T7" fmla="*/ 5 h 17"/>
              <a:gd name="T8" fmla="*/ 12 w 14"/>
              <a:gd name="T9" fmla="*/ 5 h 17"/>
              <a:gd name="T10" fmla="*/ 14 w 14"/>
              <a:gd name="T11" fmla="*/ 4 h 17"/>
              <a:gd name="T12" fmla="*/ 14 w 14"/>
              <a:gd name="T13" fmla="*/ 3 h 17"/>
              <a:gd name="T14" fmla="*/ 7 w 14"/>
              <a:gd name="T15" fmla="*/ 0 h 17"/>
              <a:gd name="T16" fmla="*/ 2 w 14"/>
              <a:gd name="T17" fmla="*/ 2 h 17"/>
              <a:gd name="T18" fmla="*/ 1 w 14"/>
              <a:gd name="T19" fmla="*/ 5 h 17"/>
              <a:gd name="T20" fmla="*/ 7 w 14"/>
              <a:gd name="T21" fmla="*/ 10 h 17"/>
              <a:gd name="T22" fmla="*/ 12 w 14"/>
              <a:gd name="T23" fmla="*/ 12 h 17"/>
              <a:gd name="T24" fmla="*/ 7 w 14"/>
              <a:gd name="T25" fmla="*/ 15 h 17"/>
              <a:gd name="T26" fmla="*/ 3 w 14"/>
              <a:gd name="T27" fmla="*/ 12 h 17"/>
              <a:gd name="T28" fmla="*/ 2 w 14"/>
              <a:gd name="T29" fmla="*/ 12 h 17"/>
              <a:gd name="T30" fmla="*/ 0 w 14"/>
              <a:gd name="T31" fmla="*/ 13 h 17"/>
              <a:gd name="T32" fmla="*/ 0 w 14"/>
              <a:gd name="T33" fmla="*/ 14 h 17"/>
              <a:gd name="T34" fmla="*/ 7 w 14"/>
              <a:gd name="T35" fmla="*/ 17 h 17"/>
              <a:gd name="T36" fmla="*/ 14 w 14"/>
              <a:gd name="T37" fmla="*/ 12 h 17"/>
              <a:gd name="T38" fmla="*/ 8 w 14"/>
              <a:gd name="T39" fmla="*/ 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4" h="17">
                <a:moveTo>
                  <a:pt x="8" y="7"/>
                </a:moveTo>
                <a:cubicBezTo>
                  <a:pt x="5" y="7"/>
                  <a:pt x="4" y="6"/>
                  <a:pt x="4" y="5"/>
                </a:cubicBezTo>
                <a:cubicBezTo>
                  <a:pt x="4" y="4"/>
                  <a:pt x="5" y="3"/>
                  <a:pt x="7" y="3"/>
                </a:cubicBezTo>
                <a:cubicBezTo>
                  <a:pt x="9" y="3"/>
                  <a:pt x="11" y="3"/>
                  <a:pt x="12" y="5"/>
                </a:cubicBezTo>
                <a:cubicBezTo>
                  <a:pt x="12" y="5"/>
                  <a:pt x="12" y="5"/>
                  <a:pt x="12" y="5"/>
                </a:cubicBezTo>
                <a:cubicBezTo>
                  <a:pt x="14" y="4"/>
                  <a:pt x="14" y="4"/>
                  <a:pt x="14" y="4"/>
                </a:cubicBezTo>
                <a:cubicBezTo>
                  <a:pt x="14" y="3"/>
                  <a:pt x="14" y="3"/>
                  <a:pt x="14" y="3"/>
                </a:cubicBezTo>
                <a:cubicBezTo>
                  <a:pt x="12" y="1"/>
                  <a:pt x="10" y="0"/>
                  <a:pt x="7" y="0"/>
                </a:cubicBezTo>
                <a:cubicBezTo>
                  <a:pt x="6" y="0"/>
                  <a:pt x="3" y="1"/>
                  <a:pt x="2" y="2"/>
                </a:cubicBezTo>
                <a:cubicBezTo>
                  <a:pt x="1" y="3"/>
                  <a:pt x="1" y="4"/>
                  <a:pt x="1" y="5"/>
                </a:cubicBezTo>
                <a:cubicBezTo>
                  <a:pt x="1" y="9"/>
                  <a:pt x="5" y="9"/>
                  <a:pt x="7" y="10"/>
                </a:cubicBezTo>
                <a:cubicBezTo>
                  <a:pt x="10" y="10"/>
                  <a:pt x="12" y="11"/>
                  <a:pt x="12" y="12"/>
                </a:cubicBezTo>
                <a:cubicBezTo>
                  <a:pt x="12" y="15"/>
                  <a:pt x="8" y="15"/>
                  <a:pt x="7" y="15"/>
                </a:cubicBezTo>
                <a:cubicBezTo>
                  <a:pt x="6" y="15"/>
                  <a:pt x="4" y="14"/>
                  <a:pt x="3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4"/>
                  <a:pt x="0" y="14"/>
                  <a:pt x="0" y="14"/>
                </a:cubicBezTo>
                <a:cubicBezTo>
                  <a:pt x="2" y="16"/>
                  <a:pt x="4" y="17"/>
                  <a:pt x="7" y="17"/>
                </a:cubicBezTo>
                <a:cubicBezTo>
                  <a:pt x="11" y="17"/>
                  <a:pt x="14" y="16"/>
                  <a:pt x="14" y="12"/>
                </a:cubicBezTo>
                <a:cubicBezTo>
                  <a:pt x="14" y="9"/>
                  <a:pt x="11" y="8"/>
                  <a:pt x="8" y="7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Freeform 37"/>
          <p:cNvSpPr>
            <a:spLocks/>
          </p:cNvSpPr>
          <p:nvPr userDrawn="1"/>
        </p:nvSpPr>
        <p:spPr bwMode="auto">
          <a:xfrm>
            <a:off x="8669338" y="800100"/>
            <a:ext cx="9525" cy="50800"/>
          </a:xfrm>
          <a:custGeom>
            <a:avLst/>
            <a:gdLst>
              <a:gd name="T0" fmla="*/ 0 w 6"/>
              <a:gd name="T1" fmla="*/ 32 h 32"/>
              <a:gd name="T2" fmla="*/ 6 w 6"/>
              <a:gd name="T3" fmla="*/ 32 h 32"/>
              <a:gd name="T4" fmla="*/ 6 w 6"/>
              <a:gd name="T5" fmla="*/ 0 h 32"/>
              <a:gd name="T6" fmla="*/ 0 w 6"/>
              <a:gd name="T7" fmla="*/ 0 h 32"/>
              <a:gd name="T8" fmla="*/ 0 w 6"/>
              <a:gd name="T9" fmla="*/ 32 h 32"/>
              <a:gd name="T10" fmla="*/ 0 w 6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" h="32">
                <a:moveTo>
                  <a:pt x="0" y="32"/>
                </a:moveTo>
                <a:lnTo>
                  <a:pt x="6" y="32"/>
                </a:lnTo>
                <a:lnTo>
                  <a:pt x="6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Freeform 38"/>
          <p:cNvSpPr>
            <a:spLocks/>
          </p:cNvSpPr>
          <p:nvPr userDrawn="1"/>
        </p:nvSpPr>
        <p:spPr bwMode="auto">
          <a:xfrm>
            <a:off x="8688388" y="800100"/>
            <a:ext cx="85725" cy="50800"/>
          </a:xfrm>
          <a:custGeom>
            <a:avLst/>
            <a:gdLst>
              <a:gd name="T0" fmla="*/ 30 w 54"/>
              <a:gd name="T1" fmla="*/ 0 h 32"/>
              <a:gd name="T2" fmla="*/ 0 w 54"/>
              <a:gd name="T3" fmla="*/ 0 h 32"/>
              <a:gd name="T4" fmla="*/ 0 w 54"/>
              <a:gd name="T5" fmla="*/ 4 h 32"/>
              <a:gd name="T6" fmla="*/ 10 w 54"/>
              <a:gd name="T7" fmla="*/ 4 h 32"/>
              <a:gd name="T8" fmla="*/ 10 w 54"/>
              <a:gd name="T9" fmla="*/ 32 h 32"/>
              <a:gd name="T10" fmla="*/ 16 w 54"/>
              <a:gd name="T11" fmla="*/ 32 h 32"/>
              <a:gd name="T12" fmla="*/ 16 w 54"/>
              <a:gd name="T13" fmla="*/ 4 h 32"/>
              <a:gd name="T14" fmla="*/ 26 w 54"/>
              <a:gd name="T15" fmla="*/ 4 h 32"/>
              <a:gd name="T16" fmla="*/ 36 w 54"/>
              <a:gd name="T17" fmla="*/ 18 h 32"/>
              <a:gd name="T18" fmla="*/ 36 w 54"/>
              <a:gd name="T19" fmla="*/ 32 h 32"/>
              <a:gd name="T20" fmla="*/ 42 w 54"/>
              <a:gd name="T21" fmla="*/ 32 h 32"/>
              <a:gd name="T22" fmla="*/ 42 w 54"/>
              <a:gd name="T23" fmla="*/ 18 h 32"/>
              <a:gd name="T24" fmla="*/ 54 w 54"/>
              <a:gd name="T25" fmla="*/ 0 h 32"/>
              <a:gd name="T26" fmla="*/ 54 w 54"/>
              <a:gd name="T27" fmla="*/ 0 h 32"/>
              <a:gd name="T28" fmla="*/ 54 w 54"/>
              <a:gd name="T29" fmla="*/ 0 h 32"/>
              <a:gd name="T30" fmla="*/ 48 w 54"/>
              <a:gd name="T31" fmla="*/ 0 h 32"/>
              <a:gd name="T32" fmla="*/ 38 w 54"/>
              <a:gd name="T33" fmla="*/ 14 h 32"/>
              <a:gd name="T34" fmla="*/ 30 w 54"/>
              <a:gd name="T35" fmla="*/ 0 h 32"/>
              <a:gd name="T36" fmla="*/ 30 w 54"/>
              <a:gd name="T37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4" h="32">
                <a:moveTo>
                  <a:pt x="30" y="0"/>
                </a:moveTo>
                <a:lnTo>
                  <a:pt x="0" y="0"/>
                </a:lnTo>
                <a:lnTo>
                  <a:pt x="0" y="4"/>
                </a:lnTo>
                <a:lnTo>
                  <a:pt x="10" y="4"/>
                </a:lnTo>
                <a:lnTo>
                  <a:pt x="10" y="32"/>
                </a:lnTo>
                <a:lnTo>
                  <a:pt x="16" y="32"/>
                </a:lnTo>
                <a:lnTo>
                  <a:pt x="16" y="4"/>
                </a:lnTo>
                <a:lnTo>
                  <a:pt x="26" y="4"/>
                </a:lnTo>
                <a:lnTo>
                  <a:pt x="36" y="18"/>
                </a:lnTo>
                <a:lnTo>
                  <a:pt x="36" y="32"/>
                </a:lnTo>
                <a:lnTo>
                  <a:pt x="42" y="32"/>
                </a:lnTo>
                <a:lnTo>
                  <a:pt x="42" y="18"/>
                </a:lnTo>
                <a:lnTo>
                  <a:pt x="54" y="0"/>
                </a:lnTo>
                <a:lnTo>
                  <a:pt x="54" y="0"/>
                </a:lnTo>
                <a:lnTo>
                  <a:pt x="54" y="0"/>
                </a:lnTo>
                <a:lnTo>
                  <a:pt x="48" y="0"/>
                </a:lnTo>
                <a:lnTo>
                  <a:pt x="38" y="14"/>
                </a:lnTo>
                <a:lnTo>
                  <a:pt x="30" y="0"/>
                </a:lnTo>
                <a:lnTo>
                  <a:pt x="30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reeform 39"/>
          <p:cNvSpPr>
            <a:spLocks/>
          </p:cNvSpPr>
          <p:nvPr userDrawn="1"/>
        </p:nvSpPr>
        <p:spPr bwMode="auto">
          <a:xfrm>
            <a:off x="8482013" y="371475"/>
            <a:ext cx="292100" cy="365125"/>
          </a:xfrm>
          <a:custGeom>
            <a:avLst/>
            <a:gdLst>
              <a:gd name="T0" fmla="*/ 92 w 92"/>
              <a:gd name="T1" fmla="*/ 0 h 115"/>
              <a:gd name="T2" fmla="*/ 92 w 92"/>
              <a:gd name="T3" fmla="*/ 71 h 115"/>
              <a:gd name="T4" fmla="*/ 49 w 92"/>
              <a:gd name="T5" fmla="*/ 115 h 115"/>
              <a:gd name="T6" fmla="*/ 0 w 92"/>
              <a:gd name="T7" fmla="*/ 70 h 115"/>
              <a:gd name="T8" fmla="*/ 0 w 92"/>
              <a:gd name="T9" fmla="*/ 0 h 115"/>
              <a:gd name="T10" fmla="*/ 22 w 92"/>
              <a:gd name="T11" fmla="*/ 0 h 115"/>
              <a:gd name="T12" fmla="*/ 22 w 92"/>
              <a:gd name="T13" fmla="*/ 72 h 115"/>
              <a:gd name="T14" fmla="*/ 50 w 92"/>
              <a:gd name="T15" fmla="*/ 105 h 115"/>
              <a:gd name="T16" fmla="*/ 79 w 92"/>
              <a:gd name="T17" fmla="*/ 73 h 115"/>
              <a:gd name="T18" fmla="*/ 79 w 92"/>
              <a:gd name="T19" fmla="*/ 0 h 115"/>
              <a:gd name="T20" fmla="*/ 92 w 92"/>
              <a:gd name="T21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2" h="115">
                <a:moveTo>
                  <a:pt x="92" y="0"/>
                </a:moveTo>
                <a:cubicBezTo>
                  <a:pt x="92" y="71"/>
                  <a:pt x="92" y="71"/>
                  <a:pt x="92" y="71"/>
                </a:cubicBezTo>
                <a:cubicBezTo>
                  <a:pt x="92" y="109"/>
                  <a:pt x="62" y="115"/>
                  <a:pt x="49" y="115"/>
                </a:cubicBezTo>
                <a:cubicBezTo>
                  <a:pt x="25" y="115"/>
                  <a:pt x="0" y="107"/>
                  <a:pt x="0" y="70"/>
                </a:cubicBezTo>
                <a:cubicBezTo>
                  <a:pt x="0" y="0"/>
                  <a:pt x="0" y="0"/>
                  <a:pt x="0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2" y="72"/>
                  <a:pt x="22" y="72"/>
                  <a:pt x="22" y="72"/>
                </a:cubicBezTo>
                <a:cubicBezTo>
                  <a:pt x="22" y="93"/>
                  <a:pt x="32" y="105"/>
                  <a:pt x="50" y="105"/>
                </a:cubicBezTo>
                <a:cubicBezTo>
                  <a:pt x="66" y="105"/>
                  <a:pt x="79" y="95"/>
                  <a:pt x="79" y="73"/>
                </a:cubicBezTo>
                <a:cubicBezTo>
                  <a:pt x="79" y="0"/>
                  <a:pt x="79" y="0"/>
                  <a:pt x="79" y="0"/>
                </a:cubicBezTo>
                <a:cubicBezTo>
                  <a:pt x="92" y="0"/>
                  <a:pt x="92" y="0"/>
                  <a:pt x="92" y="0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Freeform 40"/>
          <p:cNvSpPr>
            <a:spLocks/>
          </p:cNvSpPr>
          <p:nvPr userDrawn="1"/>
        </p:nvSpPr>
        <p:spPr bwMode="auto">
          <a:xfrm>
            <a:off x="8094663" y="365125"/>
            <a:ext cx="336550" cy="371475"/>
          </a:xfrm>
          <a:custGeom>
            <a:avLst/>
            <a:gdLst>
              <a:gd name="T0" fmla="*/ 61 w 106"/>
              <a:gd name="T1" fmla="*/ 117 h 117"/>
              <a:gd name="T2" fmla="*/ 0 w 106"/>
              <a:gd name="T3" fmla="*/ 60 h 117"/>
              <a:gd name="T4" fmla="*/ 63 w 106"/>
              <a:gd name="T5" fmla="*/ 0 h 117"/>
              <a:gd name="T6" fmla="*/ 97 w 106"/>
              <a:gd name="T7" fmla="*/ 13 h 117"/>
              <a:gd name="T8" fmla="*/ 106 w 106"/>
              <a:gd name="T9" fmla="*/ 28 h 117"/>
              <a:gd name="T10" fmla="*/ 94 w 106"/>
              <a:gd name="T11" fmla="*/ 39 h 117"/>
              <a:gd name="T12" fmla="*/ 83 w 106"/>
              <a:gd name="T13" fmla="*/ 28 h 117"/>
              <a:gd name="T14" fmla="*/ 86 w 106"/>
              <a:gd name="T15" fmla="*/ 20 h 117"/>
              <a:gd name="T16" fmla="*/ 63 w 106"/>
              <a:gd name="T17" fmla="*/ 10 h 117"/>
              <a:gd name="T18" fmla="*/ 21 w 106"/>
              <a:gd name="T19" fmla="*/ 58 h 117"/>
              <a:gd name="T20" fmla="*/ 65 w 106"/>
              <a:gd name="T21" fmla="*/ 108 h 117"/>
              <a:gd name="T22" fmla="*/ 102 w 106"/>
              <a:gd name="T23" fmla="*/ 93 h 117"/>
              <a:gd name="T24" fmla="*/ 106 w 106"/>
              <a:gd name="T25" fmla="*/ 99 h 117"/>
              <a:gd name="T26" fmla="*/ 61 w 106"/>
              <a:gd name="T27" fmla="*/ 117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6" h="117">
                <a:moveTo>
                  <a:pt x="61" y="117"/>
                </a:moveTo>
                <a:cubicBezTo>
                  <a:pt x="23" y="117"/>
                  <a:pt x="0" y="91"/>
                  <a:pt x="0" y="60"/>
                </a:cubicBezTo>
                <a:cubicBezTo>
                  <a:pt x="0" y="29"/>
                  <a:pt x="24" y="0"/>
                  <a:pt x="63" y="0"/>
                </a:cubicBezTo>
                <a:cubicBezTo>
                  <a:pt x="74" y="0"/>
                  <a:pt x="88" y="4"/>
                  <a:pt x="97" y="13"/>
                </a:cubicBezTo>
                <a:cubicBezTo>
                  <a:pt x="102" y="16"/>
                  <a:pt x="106" y="23"/>
                  <a:pt x="106" y="28"/>
                </a:cubicBezTo>
                <a:cubicBezTo>
                  <a:pt x="106" y="34"/>
                  <a:pt x="101" y="39"/>
                  <a:pt x="94" y="39"/>
                </a:cubicBezTo>
                <a:cubicBezTo>
                  <a:pt x="88" y="39"/>
                  <a:pt x="83" y="34"/>
                  <a:pt x="83" y="28"/>
                </a:cubicBezTo>
                <a:cubicBezTo>
                  <a:pt x="83" y="25"/>
                  <a:pt x="84" y="22"/>
                  <a:pt x="86" y="20"/>
                </a:cubicBezTo>
                <a:cubicBezTo>
                  <a:pt x="81" y="14"/>
                  <a:pt x="71" y="10"/>
                  <a:pt x="63" y="10"/>
                </a:cubicBezTo>
                <a:cubicBezTo>
                  <a:pt x="36" y="10"/>
                  <a:pt x="21" y="35"/>
                  <a:pt x="21" y="58"/>
                </a:cubicBezTo>
                <a:cubicBezTo>
                  <a:pt x="21" y="85"/>
                  <a:pt x="38" y="108"/>
                  <a:pt x="65" y="108"/>
                </a:cubicBezTo>
                <a:cubicBezTo>
                  <a:pt x="79" y="108"/>
                  <a:pt x="90" y="102"/>
                  <a:pt x="102" y="93"/>
                </a:cubicBezTo>
                <a:cubicBezTo>
                  <a:pt x="106" y="99"/>
                  <a:pt x="106" y="99"/>
                  <a:pt x="106" y="99"/>
                </a:cubicBezTo>
                <a:cubicBezTo>
                  <a:pt x="94" y="111"/>
                  <a:pt x="77" y="117"/>
                  <a:pt x="61" y="117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Freeform 41"/>
          <p:cNvSpPr>
            <a:spLocks noEditPoints="1"/>
          </p:cNvSpPr>
          <p:nvPr userDrawn="1"/>
        </p:nvSpPr>
        <p:spPr bwMode="auto">
          <a:xfrm>
            <a:off x="7758113" y="371475"/>
            <a:ext cx="330200" cy="358775"/>
          </a:xfrm>
          <a:custGeom>
            <a:avLst/>
            <a:gdLst>
              <a:gd name="T0" fmla="*/ 164 w 208"/>
              <a:gd name="T1" fmla="*/ 226 h 226"/>
              <a:gd name="T2" fmla="*/ 208 w 208"/>
              <a:gd name="T3" fmla="*/ 226 h 226"/>
              <a:gd name="T4" fmla="*/ 120 w 208"/>
              <a:gd name="T5" fmla="*/ 0 h 226"/>
              <a:gd name="T6" fmla="*/ 86 w 208"/>
              <a:gd name="T7" fmla="*/ 0 h 226"/>
              <a:gd name="T8" fmla="*/ 0 w 208"/>
              <a:gd name="T9" fmla="*/ 226 h 226"/>
              <a:gd name="T10" fmla="*/ 22 w 208"/>
              <a:gd name="T11" fmla="*/ 226 h 226"/>
              <a:gd name="T12" fmla="*/ 48 w 208"/>
              <a:gd name="T13" fmla="*/ 162 h 226"/>
              <a:gd name="T14" fmla="*/ 140 w 208"/>
              <a:gd name="T15" fmla="*/ 162 h 226"/>
              <a:gd name="T16" fmla="*/ 164 w 208"/>
              <a:gd name="T17" fmla="*/ 226 h 226"/>
              <a:gd name="T18" fmla="*/ 164 w 208"/>
              <a:gd name="T19" fmla="*/ 226 h 226"/>
              <a:gd name="T20" fmla="*/ 54 w 208"/>
              <a:gd name="T21" fmla="*/ 142 h 226"/>
              <a:gd name="T22" fmla="*/ 94 w 208"/>
              <a:gd name="T23" fmla="*/ 36 h 226"/>
              <a:gd name="T24" fmla="*/ 134 w 208"/>
              <a:gd name="T25" fmla="*/ 142 h 226"/>
              <a:gd name="T26" fmla="*/ 54 w 208"/>
              <a:gd name="T27" fmla="*/ 142 h 226"/>
              <a:gd name="T28" fmla="*/ 54 w 208"/>
              <a:gd name="T29" fmla="*/ 142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08" h="226">
                <a:moveTo>
                  <a:pt x="164" y="226"/>
                </a:moveTo>
                <a:lnTo>
                  <a:pt x="208" y="226"/>
                </a:lnTo>
                <a:lnTo>
                  <a:pt x="120" y="0"/>
                </a:lnTo>
                <a:lnTo>
                  <a:pt x="86" y="0"/>
                </a:lnTo>
                <a:lnTo>
                  <a:pt x="0" y="226"/>
                </a:lnTo>
                <a:lnTo>
                  <a:pt x="22" y="226"/>
                </a:lnTo>
                <a:lnTo>
                  <a:pt x="48" y="162"/>
                </a:lnTo>
                <a:lnTo>
                  <a:pt x="140" y="162"/>
                </a:lnTo>
                <a:lnTo>
                  <a:pt x="164" y="226"/>
                </a:lnTo>
                <a:lnTo>
                  <a:pt x="164" y="226"/>
                </a:lnTo>
                <a:close/>
                <a:moveTo>
                  <a:pt x="54" y="142"/>
                </a:moveTo>
                <a:lnTo>
                  <a:pt x="94" y="36"/>
                </a:lnTo>
                <a:lnTo>
                  <a:pt x="134" y="142"/>
                </a:lnTo>
                <a:lnTo>
                  <a:pt x="54" y="142"/>
                </a:lnTo>
                <a:lnTo>
                  <a:pt x="54" y="14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1014757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7" name="Text Placeholder 49"/>
          <p:cNvSpPr>
            <a:spLocks noGrp="1"/>
          </p:cNvSpPr>
          <p:nvPr>
            <p:ph type="body" sz="quarter" idx="15" hasCustomPrompt="1"/>
          </p:nvPr>
        </p:nvSpPr>
        <p:spPr>
          <a:xfrm>
            <a:off x="440871" y="1751357"/>
            <a:ext cx="8284029" cy="39544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49237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with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3"/>
          <p:cNvSpPr>
            <a:spLocks noChangeAspect="1" noChangeArrowheads="1" noTextEdit="1"/>
          </p:cNvSpPr>
          <p:nvPr userDrawn="1"/>
        </p:nvSpPr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 6"/>
          <p:cNvSpPr>
            <a:spLocks/>
          </p:cNvSpPr>
          <p:nvPr userDrawn="1"/>
        </p:nvSpPr>
        <p:spPr bwMode="auto">
          <a:xfrm>
            <a:off x="1588" y="-3175"/>
            <a:ext cx="5030788" cy="457200"/>
          </a:xfrm>
          <a:custGeom>
            <a:avLst/>
            <a:gdLst>
              <a:gd name="T0" fmla="*/ 0 w 3169"/>
              <a:gd name="T1" fmla="*/ 0 h 288"/>
              <a:gd name="T2" fmla="*/ 3169 w 3169"/>
              <a:gd name="T3" fmla="*/ 0 h 288"/>
              <a:gd name="T4" fmla="*/ 2879 w 3169"/>
              <a:gd name="T5" fmla="*/ 288 h 288"/>
              <a:gd name="T6" fmla="*/ 0 w 3169"/>
              <a:gd name="T7" fmla="*/ 288 h 288"/>
              <a:gd name="T8" fmla="*/ 0 w 3169"/>
              <a:gd name="T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69" h="288">
                <a:moveTo>
                  <a:pt x="0" y="0"/>
                </a:moveTo>
                <a:lnTo>
                  <a:pt x="3169" y="0"/>
                </a:lnTo>
                <a:lnTo>
                  <a:pt x="2879" y="288"/>
                </a:lnTo>
                <a:lnTo>
                  <a:pt x="0" y="28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 8"/>
          <p:cNvSpPr>
            <a:spLocks/>
          </p:cNvSpPr>
          <p:nvPr userDrawn="1"/>
        </p:nvSpPr>
        <p:spPr bwMode="auto">
          <a:xfrm>
            <a:off x="4572001" y="6397625"/>
            <a:ext cx="4570413" cy="457200"/>
          </a:xfrm>
          <a:custGeom>
            <a:avLst/>
            <a:gdLst>
              <a:gd name="T0" fmla="*/ 2879 w 2879"/>
              <a:gd name="T1" fmla="*/ 288 h 288"/>
              <a:gd name="T2" fmla="*/ 0 w 2879"/>
              <a:gd name="T3" fmla="*/ 288 h 288"/>
              <a:gd name="T4" fmla="*/ 290 w 2879"/>
              <a:gd name="T5" fmla="*/ 0 h 288"/>
              <a:gd name="T6" fmla="*/ 2879 w 2879"/>
              <a:gd name="T7" fmla="*/ 0 h 288"/>
              <a:gd name="T8" fmla="*/ 2879 w 2879"/>
              <a:gd name="T9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79" h="288">
                <a:moveTo>
                  <a:pt x="2879" y="288"/>
                </a:moveTo>
                <a:lnTo>
                  <a:pt x="0" y="288"/>
                </a:lnTo>
                <a:lnTo>
                  <a:pt x="290" y="0"/>
                </a:lnTo>
                <a:lnTo>
                  <a:pt x="2879" y="0"/>
                </a:lnTo>
                <a:lnTo>
                  <a:pt x="2879" y="28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1014757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7" name="Text Placeholder 49"/>
          <p:cNvSpPr>
            <a:spLocks noGrp="1"/>
          </p:cNvSpPr>
          <p:nvPr>
            <p:ph type="body" sz="quarter" idx="15" hasCustomPrompt="1"/>
          </p:nvPr>
        </p:nvSpPr>
        <p:spPr>
          <a:xfrm>
            <a:off x="440871" y="1751357"/>
            <a:ext cx="8284029" cy="39544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079407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flipV="1">
            <a:off x="0" y="4137025"/>
            <a:ext cx="9144000" cy="4603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4" name="Rounded Rectangle 3"/>
          <p:cNvSpPr/>
          <p:nvPr/>
        </p:nvSpPr>
        <p:spPr bwMode="white">
          <a:xfrm>
            <a:off x="5410202" y="3962401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5" name="Rounded Rectangle 4"/>
          <p:cNvSpPr/>
          <p:nvPr/>
        </p:nvSpPr>
        <p:spPr bwMode="white">
          <a:xfrm>
            <a:off x="7377113" y="4060826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3962401"/>
            <a:ext cx="9144000" cy="24447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3970338"/>
            <a:ext cx="9144000" cy="141287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1"/>
            <a:ext cx="9144000" cy="39703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84293" y="4724400"/>
            <a:ext cx="6324600" cy="129540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63286"/>
            <a:ext cx="2667000" cy="3688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44724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539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5992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72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008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913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358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1007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718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120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922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2315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910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514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388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1324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485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193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7435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8008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6359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9329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978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093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512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57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8345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0970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4072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8742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331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8779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16748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2709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4470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434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4677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52023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7320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4673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72074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0611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9359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2215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4682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67166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4321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31028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058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64863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4504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7901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83126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36139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6069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090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7395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6149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3913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24380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9977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6321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86472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2143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91584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5028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15255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45878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27288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16914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rgbClr val="FFFFFF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-3"/>
            <a:ext cx="11328385" cy="69194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" name="Google Shape;40;p2"/>
          <p:cNvGrpSpPr/>
          <p:nvPr/>
        </p:nvGrpSpPr>
        <p:grpSpPr>
          <a:xfrm>
            <a:off x="22" y="4740126"/>
            <a:ext cx="7314320" cy="1169029"/>
            <a:chOff x="-11" y="1378677"/>
            <a:chExt cx="7314320" cy="4116300"/>
          </a:xfrm>
        </p:grpSpPr>
        <p:sp>
          <p:nvSpPr>
            <p:cNvPr id="41" name="Google Shape;41;p2"/>
            <p:cNvSpPr/>
            <p:nvPr/>
          </p:nvSpPr>
          <p:spPr>
            <a:xfrm flipH="1">
              <a:off x="-11" y="1378677"/>
              <a:ext cx="187800" cy="41163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" name="Google Shape;42;p2"/>
            <p:cNvSpPr/>
            <p:nvPr/>
          </p:nvSpPr>
          <p:spPr>
            <a:xfrm flipH="1">
              <a:off x="187809" y="1378677"/>
              <a:ext cx="7126500" cy="41163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3" name="Google Shape;43;p2"/>
          <p:cNvSpPr txBox="1">
            <a:spLocks noGrp="1"/>
          </p:cNvSpPr>
          <p:nvPr>
            <p:ph type="ctrTitle"/>
          </p:nvPr>
        </p:nvSpPr>
        <p:spPr>
          <a:xfrm>
            <a:off x="414375" y="4842443"/>
            <a:ext cx="6400800" cy="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220151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5"/>
          <p:cNvGrpSpPr/>
          <p:nvPr/>
        </p:nvGrpSpPr>
        <p:grpSpPr>
          <a:xfrm>
            <a:off x="-13" y="-12188"/>
            <a:ext cx="8005728" cy="1612563"/>
            <a:chOff x="-13" y="-12188"/>
            <a:chExt cx="8005728" cy="1161900"/>
          </a:xfrm>
        </p:grpSpPr>
        <p:sp>
          <p:nvSpPr>
            <p:cNvPr id="59" name="Google Shape;59;p5"/>
            <p:cNvSpPr/>
            <p:nvPr/>
          </p:nvSpPr>
          <p:spPr>
            <a:xfrm flipH="1">
              <a:off x="-13" y="-12188"/>
              <a:ext cx="1878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" name="Google Shape;60;p5"/>
            <p:cNvSpPr/>
            <p:nvPr/>
          </p:nvSpPr>
          <p:spPr>
            <a:xfrm flipH="1">
              <a:off x="187715" y="-12188"/>
              <a:ext cx="78180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1" name="Google Shape;61;p5"/>
          <p:cNvSpPr txBox="1">
            <a:spLocks noGrp="1"/>
          </p:cNvSpPr>
          <p:nvPr>
            <p:ph type="title"/>
          </p:nvPr>
        </p:nvSpPr>
        <p:spPr>
          <a:xfrm>
            <a:off x="457200" y="134801"/>
            <a:ext cx="7315500" cy="13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939164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3"/>
          <p:cNvGrpSpPr/>
          <p:nvPr/>
        </p:nvGrpSpPr>
        <p:grpSpPr>
          <a:xfrm>
            <a:off x="-13" y="-12188"/>
            <a:ext cx="8005728" cy="1612563"/>
            <a:chOff x="-13" y="-12188"/>
            <a:chExt cx="8005728" cy="1161900"/>
          </a:xfrm>
        </p:grpSpPr>
        <p:sp>
          <p:nvSpPr>
            <p:cNvPr id="46" name="Google Shape;46;p3"/>
            <p:cNvSpPr/>
            <p:nvPr/>
          </p:nvSpPr>
          <p:spPr>
            <a:xfrm flipH="1">
              <a:off x="-13" y="-12188"/>
              <a:ext cx="1878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" name="Google Shape;47;p3"/>
            <p:cNvSpPr/>
            <p:nvPr/>
          </p:nvSpPr>
          <p:spPr>
            <a:xfrm flipH="1">
              <a:off x="187715" y="-12188"/>
              <a:ext cx="78180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8" name="Google Shape;48;p3"/>
          <p:cNvSpPr txBox="1">
            <a:spLocks noGrp="1"/>
          </p:cNvSpPr>
          <p:nvPr>
            <p:ph type="title"/>
          </p:nvPr>
        </p:nvSpPr>
        <p:spPr>
          <a:xfrm>
            <a:off x="457200" y="134801"/>
            <a:ext cx="7315500" cy="13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"/>
          <p:cNvSpPr txBox="1">
            <a:spLocks noGrp="1"/>
          </p:cNvSpPr>
          <p:nvPr>
            <p:ph type="body" idx="1"/>
          </p:nvPr>
        </p:nvSpPr>
        <p:spPr>
          <a:xfrm>
            <a:off x="457200" y="1704688"/>
            <a:ext cx="8229600" cy="48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218105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r>
              <a:rPr spc="240" dirty="0"/>
              <a:t> </a:t>
            </a:r>
            <a:r>
              <a:rPr dirty="0"/>
              <a:t>|</a:t>
            </a:r>
            <a:r>
              <a:rPr spc="409" dirty="0"/>
              <a:t> </a:t>
            </a:r>
            <a:r>
              <a:rPr dirty="0"/>
              <a:t>Directorate</a:t>
            </a:r>
            <a:r>
              <a:rPr spc="-20" dirty="0"/>
              <a:t> </a:t>
            </a:r>
            <a:r>
              <a:rPr dirty="0"/>
              <a:t>|</a:t>
            </a:r>
            <a:r>
              <a:rPr spc="-15" dirty="0"/>
              <a:t> </a:t>
            </a:r>
            <a:r>
              <a:rPr dirty="0"/>
              <a:t>Office</a:t>
            </a:r>
            <a:r>
              <a:rPr spc="-20" dirty="0"/>
              <a:t> </a:t>
            </a:r>
            <a:r>
              <a:rPr dirty="0"/>
              <a:t>|</a:t>
            </a:r>
            <a:r>
              <a:rPr spc="-15" dirty="0"/>
              <a:t> </a:t>
            </a:r>
            <a:r>
              <a:rPr dirty="0"/>
              <a:t>Faculty</a:t>
            </a:r>
            <a:r>
              <a:rPr spc="-15" dirty="0"/>
              <a:t> </a:t>
            </a:r>
            <a:r>
              <a:rPr dirty="0"/>
              <a:t>|</a:t>
            </a:r>
            <a:r>
              <a:rPr spc="-15" dirty="0"/>
              <a:t> </a:t>
            </a:r>
            <a:r>
              <a:rPr spc="-10" dirty="0"/>
              <a:t>School</a:t>
            </a:r>
          </a:p>
        </p:txBody>
      </p:sp>
    </p:spTree>
    <p:extLst>
      <p:ext uri="{BB962C8B-B14F-4D97-AF65-F5344CB8AC3E}">
        <p14:creationId xmlns:p14="http://schemas.microsoft.com/office/powerpoint/2010/main" val="4118294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oleObject" Target="../embeddings/oleObject1.bin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86"/>
            </p:custDataLst>
            <p:extLst>
              <p:ext uri="{D42A27DB-BD31-4B8C-83A1-F6EECF244321}">
                <p14:modId xmlns:p14="http://schemas.microsoft.com/office/powerpoint/2010/main" val="347569646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7" imgW="347" imgH="348" progId="TCLayout.ActiveDocument.1">
                  <p:embed/>
                </p:oleObj>
              </mc:Choice>
              <mc:Fallback>
                <p:oleObj name="think-cell Slide" r:id="rId87" imgW="347" imgH="348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8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7" name="Group 4"/>
          <p:cNvGrpSpPr>
            <a:grpSpLocks noChangeAspect="1"/>
          </p:cNvGrpSpPr>
          <p:nvPr userDrawn="1"/>
        </p:nvGrpSpPr>
        <p:grpSpPr bwMode="auto">
          <a:xfrm>
            <a:off x="1588" y="0"/>
            <a:ext cx="9140825" cy="6858000"/>
            <a:chOff x="1" y="0"/>
            <a:chExt cx="5758" cy="4320"/>
          </a:xfrm>
        </p:grpSpPr>
        <p:sp>
          <p:nvSpPr>
            <p:cNvPr id="88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1" y="0"/>
              <a:ext cx="5758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 5"/>
            <p:cNvSpPr>
              <a:spLocks/>
            </p:cNvSpPr>
            <p:nvPr userDrawn="1"/>
          </p:nvSpPr>
          <p:spPr bwMode="auto">
            <a:xfrm>
              <a:off x="1" y="-2"/>
              <a:ext cx="3169" cy="288"/>
            </a:xfrm>
            <a:custGeom>
              <a:avLst/>
              <a:gdLst>
                <a:gd name="T0" fmla="*/ 0 w 3169"/>
                <a:gd name="T1" fmla="*/ 0 h 288"/>
                <a:gd name="T2" fmla="*/ 3169 w 3169"/>
                <a:gd name="T3" fmla="*/ 0 h 288"/>
                <a:gd name="T4" fmla="*/ 2879 w 3169"/>
                <a:gd name="T5" fmla="*/ 288 h 288"/>
                <a:gd name="T6" fmla="*/ 0 w 3169"/>
                <a:gd name="T7" fmla="*/ 288 h 288"/>
                <a:gd name="T8" fmla="*/ 0 w 3169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9" h="288">
                  <a:moveTo>
                    <a:pt x="0" y="0"/>
                  </a:moveTo>
                  <a:lnTo>
                    <a:pt x="3169" y="0"/>
                  </a:lnTo>
                  <a:lnTo>
                    <a:pt x="2879" y="288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3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 6"/>
            <p:cNvSpPr>
              <a:spLocks/>
            </p:cNvSpPr>
            <p:nvPr userDrawn="1"/>
          </p:nvSpPr>
          <p:spPr bwMode="auto">
            <a:xfrm>
              <a:off x="1" y="-2"/>
              <a:ext cx="3169" cy="288"/>
            </a:xfrm>
            <a:custGeom>
              <a:avLst/>
              <a:gdLst>
                <a:gd name="T0" fmla="*/ 0 w 3169"/>
                <a:gd name="T1" fmla="*/ 0 h 288"/>
                <a:gd name="T2" fmla="*/ 3169 w 3169"/>
                <a:gd name="T3" fmla="*/ 0 h 288"/>
                <a:gd name="T4" fmla="*/ 2879 w 3169"/>
                <a:gd name="T5" fmla="*/ 288 h 288"/>
                <a:gd name="T6" fmla="*/ 0 w 3169"/>
                <a:gd name="T7" fmla="*/ 288 h 288"/>
                <a:gd name="T8" fmla="*/ 0 w 3169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9" h="288">
                  <a:moveTo>
                    <a:pt x="0" y="0"/>
                  </a:moveTo>
                  <a:lnTo>
                    <a:pt x="3169" y="0"/>
                  </a:lnTo>
                  <a:lnTo>
                    <a:pt x="2879" y="288"/>
                  </a:lnTo>
                  <a:lnTo>
                    <a:pt x="0" y="28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 7"/>
            <p:cNvSpPr>
              <a:spLocks/>
            </p:cNvSpPr>
            <p:nvPr userDrawn="1"/>
          </p:nvSpPr>
          <p:spPr bwMode="auto">
            <a:xfrm>
              <a:off x="2880" y="4030"/>
              <a:ext cx="2879" cy="288"/>
            </a:xfrm>
            <a:custGeom>
              <a:avLst/>
              <a:gdLst>
                <a:gd name="T0" fmla="*/ 2879 w 2879"/>
                <a:gd name="T1" fmla="*/ 288 h 288"/>
                <a:gd name="T2" fmla="*/ 0 w 2879"/>
                <a:gd name="T3" fmla="*/ 288 h 288"/>
                <a:gd name="T4" fmla="*/ 290 w 2879"/>
                <a:gd name="T5" fmla="*/ 0 h 288"/>
                <a:gd name="T6" fmla="*/ 2879 w 2879"/>
                <a:gd name="T7" fmla="*/ 0 h 288"/>
                <a:gd name="T8" fmla="*/ 2879 w 2879"/>
                <a:gd name="T9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79" h="288">
                  <a:moveTo>
                    <a:pt x="2879" y="288"/>
                  </a:moveTo>
                  <a:lnTo>
                    <a:pt x="0" y="288"/>
                  </a:lnTo>
                  <a:lnTo>
                    <a:pt x="290" y="0"/>
                  </a:lnTo>
                  <a:lnTo>
                    <a:pt x="2879" y="0"/>
                  </a:lnTo>
                  <a:lnTo>
                    <a:pt x="2879" y="288"/>
                  </a:lnTo>
                  <a:close/>
                </a:path>
              </a:pathLst>
            </a:custGeom>
            <a:solidFill>
              <a:srgbClr val="E8E3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8"/>
            <p:cNvSpPr>
              <a:spLocks/>
            </p:cNvSpPr>
            <p:nvPr userDrawn="1"/>
          </p:nvSpPr>
          <p:spPr bwMode="auto">
            <a:xfrm>
              <a:off x="2880" y="4030"/>
              <a:ext cx="2879" cy="288"/>
            </a:xfrm>
            <a:custGeom>
              <a:avLst/>
              <a:gdLst>
                <a:gd name="T0" fmla="*/ 2879 w 2879"/>
                <a:gd name="T1" fmla="*/ 288 h 288"/>
                <a:gd name="T2" fmla="*/ 0 w 2879"/>
                <a:gd name="T3" fmla="*/ 288 h 288"/>
                <a:gd name="T4" fmla="*/ 290 w 2879"/>
                <a:gd name="T5" fmla="*/ 0 h 288"/>
                <a:gd name="T6" fmla="*/ 2879 w 2879"/>
                <a:gd name="T7" fmla="*/ 0 h 288"/>
                <a:gd name="T8" fmla="*/ 2879 w 2879"/>
                <a:gd name="T9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79" h="288">
                  <a:moveTo>
                    <a:pt x="2879" y="288"/>
                  </a:moveTo>
                  <a:lnTo>
                    <a:pt x="0" y="288"/>
                  </a:lnTo>
                  <a:lnTo>
                    <a:pt x="290" y="0"/>
                  </a:lnTo>
                  <a:lnTo>
                    <a:pt x="2879" y="0"/>
                  </a:lnTo>
                  <a:lnTo>
                    <a:pt x="2879" y="28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9"/>
            <p:cNvSpPr>
              <a:spLocks/>
            </p:cNvSpPr>
            <p:nvPr userDrawn="1"/>
          </p:nvSpPr>
          <p:spPr bwMode="auto">
            <a:xfrm>
              <a:off x="4661" y="234"/>
              <a:ext cx="182" cy="234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0"/>
            <p:cNvSpPr>
              <a:spLocks/>
            </p:cNvSpPr>
            <p:nvPr userDrawn="1"/>
          </p:nvSpPr>
          <p:spPr bwMode="auto">
            <a:xfrm>
              <a:off x="4695" y="262"/>
              <a:ext cx="114" cy="150"/>
            </a:xfrm>
            <a:custGeom>
              <a:avLst/>
              <a:gdLst>
                <a:gd name="T0" fmla="*/ 0 w 114"/>
                <a:gd name="T1" fmla="*/ 74 h 150"/>
                <a:gd name="T2" fmla="*/ 58 w 114"/>
                <a:gd name="T3" fmla="*/ 0 h 150"/>
                <a:gd name="T4" fmla="*/ 114 w 114"/>
                <a:gd name="T5" fmla="*/ 74 h 150"/>
                <a:gd name="T6" fmla="*/ 58 w 114"/>
                <a:gd name="T7" fmla="*/ 150 h 150"/>
                <a:gd name="T8" fmla="*/ 0 w 114"/>
                <a:gd name="T9" fmla="*/ 74 h 150"/>
                <a:gd name="T10" fmla="*/ 0 w 114"/>
                <a:gd name="T11" fmla="*/ 74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50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50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1"/>
            <p:cNvSpPr>
              <a:spLocks/>
            </p:cNvSpPr>
            <p:nvPr userDrawn="1"/>
          </p:nvSpPr>
          <p:spPr bwMode="auto">
            <a:xfrm>
              <a:off x="4711" y="294"/>
              <a:ext cx="82" cy="9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12"/>
            <p:cNvSpPr>
              <a:spLocks noEditPoints="1"/>
            </p:cNvSpPr>
            <p:nvPr userDrawn="1"/>
          </p:nvSpPr>
          <p:spPr bwMode="auto">
            <a:xfrm>
              <a:off x="4661" y="504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13"/>
            <p:cNvSpPr>
              <a:spLocks/>
            </p:cNvSpPr>
            <p:nvPr userDrawn="1"/>
          </p:nvSpPr>
          <p:spPr bwMode="auto">
            <a:xfrm>
              <a:off x="4697" y="504"/>
              <a:ext cx="28" cy="32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14"/>
            <p:cNvSpPr>
              <a:spLocks/>
            </p:cNvSpPr>
            <p:nvPr userDrawn="1"/>
          </p:nvSpPr>
          <p:spPr bwMode="auto">
            <a:xfrm>
              <a:off x="4731" y="502"/>
              <a:ext cx="26" cy="34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15"/>
            <p:cNvSpPr>
              <a:spLocks/>
            </p:cNvSpPr>
            <p:nvPr userDrawn="1"/>
          </p:nvSpPr>
          <p:spPr bwMode="auto">
            <a:xfrm>
              <a:off x="4761" y="504"/>
              <a:ext cx="26" cy="32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16"/>
            <p:cNvSpPr>
              <a:spLocks noEditPoints="1"/>
            </p:cNvSpPr>
            <p:nvPr userDrawn="1"/>
          </p:nvSpPr>
          <p:spPr bwMode="auto">
            <a:xfrm>
              <a:off x="4793" y="504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17"/>
            <p:cNvSpPr>
              <a:spLocks noEditPoints="1"/>
            </p:cNvSpPr>
            <p:nvPr userDrawn="1"/>
          </p:nvSpPr>
          <p:spPr bwMode="auto">
            <a:xfrm>
              <a:off x="4823" y="504"/>
              <a:ext cx="34" cy="32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18"/>
            <p:cNvSpPr>
              <a:spLocks/>
            </p:cNvSpPr>
            <p:nvPr userDrawn="1"/>
          </p:nvSpPr>
          <p:spPr bwMode="auto">
            <a:xfrm>
              <a:off x="4861" y="504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19"/>
            <p:cNvSpPr>
              <a:spLocks/>
            </p:cNvSpPr>
            <p:nvPr userDrawn="1"/>
          </p:nvSpPr>
          <p:spPr bwMode="auto">
            <a:xfrm>
              <a:off x="4889" y="504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0"/>
            <p:cNvSpPr>
              <a:spLocks noEditPoints="1"/>
            </p:cNvSpPr>
            <p:nvPr userDrawn="1"/>
          </p:nvSpPr>
          <p:spPr bwMode="auto">
            <a:xfrm>
              <a:off x="4899" y="504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1"/>
            <p:cNvSpPr>
              <a:spLocks/>
            </p:cNvSpPr>
            <p:nvPr userDrawn="1"/>
          </p:nvSpPr>
          <p:spPr bwMode="auto">
            <a:xfrm>
              <a:off x="4939" y="504"/>
              <a:ext cx="26" cy="32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22"/>
            <p:cNvSpPr>
              <a:spLocks/>
            </p:cNvSpPr>
            <p:nvPr userDrawn="1"/>
          </p:nvSpPr>
          <p:spPr bwMode="auto">
            <a:xfrm>
              <a:off x="4989" y="502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23"/>
            <p:cNvSpPr>
              <a:spLocks noEditPoints="1"/>
            </p:cNvSpPr>
            <p:nvPr userDrawn="1"/>
          </p:nvSpPr>
          <p:spPr bwMode="auto">
            <a:xfrm>
              <a:off x="5021" y="504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24"/>
            <p:cNvSpPr>
              <a:spLocks/>
            </p:cNvSpPr>
            <p:nvPr userDrawn="1"/>
          </p:nvSpPr>
          <p:spPr bwMode="auto">
            <a:xfrm>
              <a:off x="5053" y="504"/>
              <a:ext cx="28" cy="32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25"/>
            <p:cNvSpPr>
              <a:spLocks/>
            </p:cNvSpPr>
            <p:nvPr userDrawn="1"/>
          </p:nvSpPr>
          <p:spPr bwMode="auto">
            <a:xfrm>
              <a:off x="5085" y="504"/>
              <a:ext cx="28" cy="32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26"/>
            <p:cNvSpPr>
              <a:spLocks noEditPoints="1"/>
            </p:cNvSpPr>
            <p:nvPr userDrawn="1"/>
          </p:nvSpPr>
          <p:spPr bwMode="auto">
            <a:xfrm>
              <a:off x="5119" y="502"/>
              <a:ext cx="32" cy="34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27"/>
            <p:cNvSpPr>
              <a:spLocks/>
            </p:cNvSpPr>
            <p:nvPr userDrawn="1"/>
          </p:nvSpPr>
          <p:spPr bwMode="auto">
            <a:xfrm>
              <a:off x="5157" y="504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28"/>
            <p:cNvSpPr>
              <a:spLocks/>
            </p:cNvSpPr>
            <p:nvPr userDrawn="1"/>
          </p:nvSpPr>
          <p:spPr bwMode="auto">
            <a:xfrm>
              <a:off x="5185" y="504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29"/>
            <p:cNvSpPr>
              <a:spLocks/>
            </p:cNvSpPr>
            <p:nvPr userDrawn="1"/>
          </p:nvSpPr>
          <p:spPr bwMode="auto">
            <a:xfrm>
              <a:off x="5195" y="502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0"/>
            <p:cNvSpPr>
              <a:spLocks/>
            </p:cNvSpPr>
            <p:nvPr userDrawn="1"/>
          </p:nvSpPr>
          <p:spPr bwMode="auto">
            <a:xfrm>
              <a:off x="5247" y="504"/>
              <a:ext cx="26" cy="32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1"/>
            <p:cNvSpPr>
              <a:spLocks/>
            </p:cNvSpPr>
            <p:nvPr userDrawn="1"/>
          </p:nvSpPr>
          <p:spPr bwMode="auto">
            <a:xfrm>
              <a:off x="5283" y="504"/>
              <a:ext cx="26" cy="32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Freeform 32"/>
            <p:cNvSpPr>
              <a:spLocks/>
            </p:cNvSpPr>
            <p:nvPr userDrawn="1"/>
          </p:nvSpPr>
          <p:spPr bwMode="auto">
            <a:xfrm>
              <a:off x="5317" y="504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Freeform 33"/>
            <p:cNvSpPr>
              <a:spLocks/>
            </p:cNvSpPr>
            <p:nvPr userDrawn="1"/>
          </p:nvSpPr>
          <p:spPr bwMode="auto">
            <a:xfrm>
              <a:off x="5329" y="504"/>
              <a:ext cx="32" cy="32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Freeform 34"/>
            <p:cNvSpPr>
              <a:spLocks/>
            </p:cNvSpPr>
            <p:nvPr userDrawn="1"/>
          </p:nvSpPr>
          <p:spPr bwMode="auto">
            <a:xfrm>
              <a:off x="5365" y="504"/>
              <a:ext cx="24" cy="32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Freeform 35"/>
            <p:cNvSpPr>
              <a:spLocks noEditPoints="1"/>
            </p:cNvSpPr>
            <p:nvPr userDrawn="1"/>
          </p:nvSpPr>
          <p:spPr bwMode="auto">
            <a:xfrm>
              <a:off x="5397" y="504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Freeform 36"/>
            <p:cNvSpPr>
              <a:spLocks/>
            </p:cNvSpPr>
            <p:nvPr userDrawn="1"/>
          </p:nvSpPr>
          <p:spPr bwMode="auto">
            <a:xfrm>
              <a:off x="5427" y="502"/>
              <a:ext cx="28" cy="34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Freeform 37"/>
            <p:cNvSpPr>
              <a:spLocks/>
            </p:cNvSpPr>
            <p:nvPr userDrawn="1"/>
          </p:nvSpPr>
          <p:spPr bwMode="auto">
            <a:xfrm>
              <a:off x="5461" y="504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Freeform 38"/>
            <p:cNvSpPr>
              <a:spLocks/>
            </p:cNvSpPr>
            <p:nvPr userDrawn="1"/>
          </p:nvSpPr>
          <p:spPr bwMode="auto">
            <a:xfrm>
              <a:off x="5473" y="504"/>
              <a:ext cx="54" cy="32"/>
            </a:xfrm>
            <a:custGeom>
              <a:avLst/>
              <a:gdLst>
                <a:gd name="T0" fmla="*/ 30 w 54"/>
                <a:gd name="T1" fmla="*/ 0 h 32"/>
                <a:gd name="T2" fmla="*/ 0 w 54"/>
                <a:gd name="T3" fmla="*/ 0 h 32"/>
                <a:gd name="T4" fmla="*/ 0 w 54"/>
                <a:gd name="T5" fmla="*/ 4 h 32"/>
                <a:gd name="T6" fmla="*/ 10 w 54"/>
                <a:gd name="T7" fmla="*/ 4 h 32"/>
                <a:gd name="T8" fmla="*/ 10 w 54"/>
                <a:gd name="T9" fmla="*/ 32 h 32"/>
                <a:gd name="T10" fmla="*/ 16 w 54"/>
                <a:gd name="T11" fmla="*/ 32 h 32"/>
                <a:gd name="T12" fmla="*/ 16 w 54"/>
                <a:gd name="T13" fmla="*/ 4 h 32"/>
                <a:gd name="T14" fmla="*/ 26 w 54"/>
                <a:gd name="T15" fmla="*/ 4 h 32"/>
                <a:gd name="T16" fmla="*/ 36 w 54"/>
                <a:gd name="T17" fmla="*/ 18 h 32"/>
                <a:gd name="T18" fmla="*/ 36 w 54"/>
                <a:gd name="T19" fmla="*/ 32 h 32"/>
                <a:gd name="T20" fmla="*/ 42 w 54"/>
                <a:gd name="T21" fmla="*/ 32 h 32"/>
                <a:gd name="T22" fmla="*/ 42 w 54"/>
                <a:gd name="T23" fmla="*/ 18 h 32"/>
                <a:gd name="T24" fmla="*/ 54 w 54"/>
                <a:gd name="T25" fmla="*/ 0 h 32"/>
                <a:gd name="T26" fmla="*/ 54 w 54"/>
                <a:gd name="T27" fmla="*/ 0 h 32"/>
                <a:gd name="T28" fmla="*/ 54 w 54"/>
                <a:gd name="T29" fmla="*/ 0 h 32"/>
                <a:gd name="T30" fmla="*/ 48 w 54"/>
                <a:gd name="T31" fmla="*/ 0 h 32"/>
                <a:gd name="T32" fmla="*/ 38 w 54"/>
                <a:gd name="T33" fmla="*/ 14 h 32"/>
                <a:gd name="T34" fmla="*/ 30 w 54"/>
                <a:gd name="T35" fmla="*/ 0 h 32"/>
                <a:gd name="T36" fmla="*/ 30 w 54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4" h="32">
                  <a:moveTo>
                    <a:pt x="3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36" y="18"/>
                  </a:lnTo>
                  <a:lnTo>
                    <a:pt x="36" y="32"/>
                  </a:lnTo>
                  <a:lnTo>
                    <a:pt x="42" y="32"/>
                  </a:lnTo>
                  <a:lnTo>
                    <a:pt x="42" y="18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38" y="14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Freeform 39"/>
            <p:cNvSpPr>
              <a:spLocks/>
            </p:cNvSpPr>
            <p:nvPr userDrawn="1"/>
          </p:nvSpPr>
          <p:spPr bwMode="auto">
            <a:xfrm>
              <a:off x="5343" y="234"/>
              <a:ext cx="184" cy="230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Freeform 40"/>
            <p:cNvSpPr>
              <a:spLocks/>
            </p:cNvSpPr>
            <p:nvPr userDrawn="1"/>
          </p:nvSpPr>
          <p:spPr bwMode="auto">
            <a:xfrm>
              <a:off x="5099" y="230"/>
              <a:ext cx="212" cy="234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Freeform 41"/>
            <p:cNvSpPr>
              <a:spLocks noEditPoints="1"/>
            </p:cNvSpPr>
            <p:nvPr userDrawn="1"/>
          </p:nvSpPr>
          <p:spPr bwMode="auto">
            <a:xfrm>
              <a:off x="4887" y="234"/>
              <a:ext cx="208" cy="226"/>
            </a:xfrm>
            <a:custGeom>
              <a:avLst/>
              <a:gdLst>
                <a:gd name="T0" fmla="*/ 164 w 208"/>
                <a:gd name="T1" fmla="*/ 226 h 226"/>
                <a:gd name="T2" fmla="*/ 208 w 208"/>
                <a:gd name="T3" fmla="*/ 226 h 226"/>
                <a:gd name="T4" fmla="*/ 120 w 208"/>
                <a:gd name="T5" fmla="*/ 0 h 226"/>
                <a:gd name="T6" fmla="*/ 86 w 208"/>
                <a:gd name="T7" fmla="*/ 0 h 226"/>
                <a:gd name="T8" fmla="*/ 0 w 208"/>
                <a:gd name="T9" fmla="*/ 226 h 226"/>
                <a:gd name="T10" fmla="*/ 22 w 208"/>
                <a:gd name="T11" fmla="*/ 226 h 226"/>
                <a:gd name="T12" fmla="*/ 48 w 208"/>
                <a:gd name="T13" fmla="*/ 162 h 226"/>
                <a:gd name="T14" fmla="*/ 140 w 208"/>
                <a:gd name="T15" fmla="*/ 162 h 226"/>
                <a:gd name="T16" fmla="*/ 164 w 208"/>
                <a:gd name="T17" fmla="*/ 226 h 226"/>
                <a:gd name="T18" fmla="*/ 164 w 208"/>
                <a:gd name="T19" fmla="*/ 226 h 226"/>
                <a:gd name="T20" fmla="*/ 54 w 208"/>
                <a:gd name="T21" fmla="*/ 142 h 226"/>
                <a:gd name="T22" fmla="*/ 94 w 208"/>
                <a:gd name="T23" fmla="*/ 36 h 226"/>
                <a:gd name="T24" fmla="*/ 134 w 208"/>
                <a:gd name="T25" fmla="*/ 142 h 226"/>
                <a:gd name="T26" fmla="*/ 54 w 208"/>
                <a:gd name="T27" fmla="*/ 142 h 226"/>
                <a:gd name="T28" fmla="*/ 54 w 208"/>
                <a:gd name="T29" fmla="*/ 142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8" h="226">
                  <a:moveTo>
                    <a:pt x="164" y="226"/>
                  </a:moveTo>
                  <a:lnTo>
                    <a:pt x="208" y="226"/>
                  </a:lnTo>
                  <a:lnTo>
                    <a:pt x="120" y="0"/>
                  </a:lnTo>
                  <a:lnTo>
                    <a:pt x="86" y="0"/>
                  </a:lnTo>
                  <a:lnTo>
                    <a:pt x="0" y="226"/>
                  </a:lnTo>
                  <a:lnTo>
                    <a:pt x="22" y="226"/>
                  </a:lnTo>
                  <a:lnTo>
                    <a:pt x="48" y="162"/>
                  </a:lnTo>
                  <a:lnTo>
                    <a:pt x="140" y="162"/>
                  </a:lnTo>
                  <a:lnTo>
                    <a:pt x="164" y="226"/>
                  </a:lnTo>
                  <a:lnTo>
                    <a:pt x="164" y="226"/>
                  </a:lnTo>
                  <a:close/>
                  <a:moveTo>
                    <a:pt x="54" y="142"/>
                  </a:moveTo>
                  <a:lnTo>
                    <a:pt x="94" y="36"/>
                  </a:lnTo>
                  <a:lnTo>
                    <a:pt x="134" y="142"/>
                  </a:lnTo>
                  <a:lnTo>
                    <a:pt x="54" y="142"/>
                  </a:lnTo>
                  <a:lnTo>
                    <a:pt x="54" y="14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298006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1" r:id="rId2"/>
    <p:sldLayoutId id="2147483663" r:id="rId3"/>
    <p:sldLayoutId id="2147483664" r:id="rId4"/>
    <p:sldLayoutId id="2147483665" r:id="rId5"/>
    <p:sldLayoutId id="2147483682" r:id="rId6"/>
    <p:sldLayoutId id="2147483679" r:id="rId7"/>
    <p:sldLayoutId id="2147483686" r:id="rId8"/>
    <p:sldLayoutId id="2147483689" r:id="rId9"/>
    <p:sldLayoutId id="2147483692" r:id="rId10"/>
    <p:sldLayoutId id="2147483693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  <p:sldLayoutId id="2147483710" r:id="rId27"/>
    <p:sldLayoutId id="2147483711" r:id="rId28"/>
    <p:sldLayoutId id="2147483712" r:id="rId29"/>
    <p:sldLayoutId id="2147483713" r:id="rId30"/>
    <p:sldLayoutId id="2147483714" r:id="rId31"/>
    <p:sldLayoutId id="2147483715" r:id="rId32"/>
    <p:sldLayoutId id="2147483716" r:id="rId33"/>
    <p:sldLayoutId id="2147483717" r:id="rId34"/>
    <p:sldLayoutId id="2147483718" r:id="rId35"/>
    <p:sldLayoutId id="2147483719" r:id="rId36"/>
    <p:sldLayoutId id="2147483720" r:id="rId37"/>
    <p:sldLayoutId id="2147483721" r:id="rId38"/>
    <p:sldLayoutId id="2147483722" r:id="rId39"/>
    <p:sldLayoutId id="2147483723" r:id="rId40"/>
    <p:sldLayoutId id="2147483724" r:id="rId41"/>
    <p:sldLayoutId id="2147483726" r:id="rId42"/>
    <p:sldLayoutId id="2147483727" r:id="rId43"/>
    <p:sldLayoutId id="2147483728" r:id="rId44"/>
    <p:sldLayoutId id="2147483729" r:id="rId45"/>
    <p:sldLayoutId id="2147483730" r:id="rId46"/>
    <p:sldLayoutId id="2147483731" r:id="rId47"/>
    <p:sldLayoutId id="2147483732" r:id="rId48"/>
    <p:sldLayoutId id="2147483733" r:id="rId49"/>
    <p:sldLayoutId id="2147483734" r:id="rId50"/>
    <p:sldLayoutId id="2147483735" r:id="rId51"/>
    <p:sldLayoutId id="2147483736" r:id="rId52"/>
    <p:sldLayoutId id="2147483737" r:id="rId53"/>
    <p:sldLayoutId id="2147483738" r:id="rId54"/>
    <p:sldLayoutId id="2147483739" r:id="rId55"/>
    <p:sldLayoutId id="2147483740" r:id="rId56"/>
    <p:sldLayoutId id="2147483741" r:id="rId57"/>
    <p:sldLayoutId id="2147483742" r:id="rId58"/>
    <p:sldLayoutId id="2147483743" r:id="rId59"/>
    <p:sldLayoutId id="2147483744" r:id="rId60"/>
    <p:sldLayoutId id="2147483745" r:id="rId61"/>
    <p:sldLayoutId id="2147483746" r:id="rId62"/>
    <p:sldLayoutId id="2147483747" r:id="rId63"/>
    <p:sldLayoutId id="2147483748" r:id="rId64"/>
    <p:sldLayoutId id="2147483749" r:id="rId65"/>
    <p:sldLayoutId id="2147483750" r:id="rId66"/>
    <p:sldLayoutId id="2147483751" r:id="rId67"/>
    <p:sldLayoutId id="2147483752" r:id="rId68"/>
    <p:sldLayoutId id="2147483753" r:id="rId69"/>
    <p:sldLayoutId id="2147483754" r:id="rId70"/>
    <p:sldLayoutId id="2147483755" r:id="rId71"/>
    <p:sldLayoutId id="2147483756" r:id="rId72"/>
    <p:sldLayoutId id="2147483757" r:id="rId73"/>
    <p:sldLayoutId id="2147483758" r:id="rId74"/>
    <p:sldLayoutId id="2147483759" r:id="rId75"/>
    <p:sldLayoutId id="2147483760" r:id="rId76"/>
    <p:sldLayoutId id="2147483761" r:id="rId77"/>
    <p:sldLayoutId id="2147483762" r:id="rId78"/>
    <p:sldLayoutId id="2147483763" r:id="rId79"/>
    <p:sldLayoutId id="2147483764" r:id="rId80"/>
    <p:sldLayoutId id="2147483766" r:id="rId81"/>
    <p:sldLayoutId id="2147483767" r:id="rId82"/>
    <p:sldLayoutId id="2147483768" r:id="rId83"/>
    <p:sldLayoutId id="2147483775" r:id="rId8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866" b="1" kern="1200">
          <a:solidFill>
            <a:srgbClr val="3D393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F2120C"/>
        </a:buClr>
        <a:buFont typeface="Arial" panose="020B0604020202020204" pitchFamily="34" charset="0"/>
        <a:buChar char="•"/>
        <a:defRPr sz="2533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24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20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18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18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linkedin.com/in/farshid-keivanian" TargetMode="External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84.xml"/><Relationship Id="rId4" Type="http://schemas.openxmlformats.org/officeDocument/2006/relationships/hyperlink" Target="github.com/FarshidKeivani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CF62-ED9D-4C0F-A976-E9C35DDB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630" y="-1"/>
            <a:ext cx="4373370" cy="257593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3000" dirty="0"/>
              <a:t>Data Quality and Database </a:t>
            </a:r>
            <a:r>
              <a:rPr lang="en-US" sz="3000"/>
              <a:t>Management &amp; </a:t>
            </a:r>
            <a:r>
              <a:rPr lang="en-US" sz="3000" dirty="0"/>
              <a:t>Preparation for Assessment 3</a:t>
            </a:r>
            <a:endParaRPr lang="en-AU" sz="3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EDDFE-62E7-4B7A-B286-FF3EA6C17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288" y="3893642"/>
            <a:ext cx="3867150" cy="447675"/>
          </a:xfrm>
        </p:spPr>
        <p:txBody>
          <a:bodyPr/>
          <a:lstStyle/>
          <a:p>
            <a:r>
              <a:rPr lang="en-AU" sz="2000" b="1" dirty="0"/>
              <a:t>Week 11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DAEE5F-D393-479E-8BB0-2D5C057945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Dr. Farshid Keivanian</a:t>
            </a:r>
          </a:p>
        </p:txBody>
      </p:sp>
    </p:spTree>
    <p:extLst>
      <p:ext uri="{BB962C8B-B14F-4D97-AF65-F5344CB8AC3E}">
        <p14:creationId xmlns:p14="http://schemas.microsoft.com/office/powerpoint/2010/main" val="581688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0660180-C222-1C0E-972D-3D88A9D4F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45A6B1-8B80-DB67-9023-1B2F212A7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A225C-DA99-BC7A-E7E6-1795A09120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7FEF29E-E553-F396-FF4A-DC7E74AA1C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493987"/>
          </a:xfrm>
        </p:spPr>
        <p:txBody>
          <a:bodyPr>
            <a:noAutofit/>
          </a:bodyPr>
          <a:lstStyle/>
          <a:p>
            <a:r>
              <a:rPr lang="en-US" sz="3200" dirty="0"/>
              <a:t>Week 11: Outline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ED2261-8415-F09D-030E-8807BD50DF84}"/>
              </a:ext>
            </a:extLst>
          </p:cNvPr>
          <p:cNvSpPr txBox="1"/>
          <p:nvPr/>
        </p:nvSpPr>
        <p:spPr>
          <a:xfrm>
            <a:off x="0" y="900657"/>
            <a:ext cx="9144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Purpose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Data Quality Investigation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Database Security Case Study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Part A: Independent Assessment 3 Work</a:t>
            </a:r>
          </a:p>
        </p:txBody>
      </p:sp>
    </p:spTree>
    <p:extLst>
      <p:ext uri="{BB962C8B-B14F-4D97-AF65-F5344CB8AC3E}">
        <p14:creationId xmlns:p14="http://schemas.microsoft.com/office/powerpoint/2010/main" val="1874798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1CA32C4-3A90-B3BC-ECFF-A9884C0F0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670B4B-0FB7-D1AC-14F1-A7A1151E99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F2364-B592-0252-ACD8-BF5D52103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D4C312C-0715-64DB-7869-9ABC8AC91D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462456"/>
          </a:xfrm>
        </p:spPr>
        <p:txBody>
          <a:bodyPr>
            <a:no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Purpose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E716B9-66EF-A698-1F73-F42B9E995153}"/>
              </a:ext>
            </a:extLst>
          </p:cNvPr>
          <p:cNvSpPr txBox="1"/>
          <p:nvPr/>
        </p:nvSpPr>
        <p:spPr>
          <a:xfrm>
            <a:off x="0" y="900657"/>
            <a:ext cx="9144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tutorial helps you understand: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how to identify poor-quality data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how to match data problems to data quality dimensions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how database security problems affect </a:t>
            </a:r>
            <a:r>
              <a:rPr lang="en-US" sz="2800" dirty="0" err="1">
                <a:latin typeface="Calibir"/>
              </a:rPr>
              <a:t>organisations</a:t>
            </a:r>
            <a:r>
              <a:rPr lang="en-US" sz="2800" dirty="0">
                <a:latin typeface="Calibir"/>
              </a:rPr>
              <a:t>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how these ideas support Assessment Task 3</a:t>
            </a:r>
          </a:p>
        </p:txBody>
      </p:sp>
    </p:spTree>
    <p:extLst>
      <p:ext uri="{BB962C8B-B14F-4D97-AF65-F5344CB8AC3E}">
        <p14:creationId xmlns:p14="http://schemas.microsoft.com/office/powerpoint/2010/main" val="3957137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00BEE3D-5435-7E72-3BB6-41720340F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AD00C0-279C-DBD2-984C-B0D460F26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2BB47-5E00-0490-CFBA-7E9BF4987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A06EBB9-0CBE-8A47-FF73-69E706805C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451946"/>
          </a:xfrm>
        </p:spPr>
        <p:txBody>
          <a:bodyPr>
            <a:no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Data Quality Investigation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BA0B06-FE1B-3C4D-6710-118DDFCE9DF0}"/>
              </a:ext>
            </a:extLst>
          </p:cNvPr>
          <p:cNvSpPr txBox="1"/>
          <p:nvPr/>
        </p:nvSpPr>
        <p:spPr>
          <a:xfrm>
            <a:off x="0" y="451945"/>
            <a:ext cx="9144000" cy="648882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1: Read the student table carefully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Look at each column: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StudentID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Name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Email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Phone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Course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Last Updated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Check whether the data looks correct, complete, valid, current, and not repeated.</a:t>
            </a:r>
          </a:p>
        </p:txBody>
      </p:sp>
    </p:spTree>
    <p:extLst>
      <p:ext uri="{BB962C8B-B14F-4D97-AF65-F5344CB8AC3E}">
        <p14:creationId xmlns:p14="http://schemas.microsoft.com/office/powerpoint/2010/main" val="2865534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0FFE78C-590C-6288-AAA7-94E36060A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2C9ECB-6900-01DB-5D87-AEF88C6BA7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5B4FD-0B89-267A-DD43-B0E4A3DC43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D274FE8-586F-4402-7B5A-71C1C49875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451946"/>
          </a:xfrm>
        </p:spPr>
        <p:txBody>
          <a:bodyPr>
            <a:no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Data Quality Investigation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8F0F8E-4FC4-B280-E997-E6837980DFB2}"/>
              </a:ext>
            </a:extLst>
          </p:cNvPr>
          <p:cNvSpPr txBox="1"/>
          <p:nvPr/>
        </p:nvSpPr>
        <p:spPr>
          <a:xfrm>
            <a:off x="0" y="1082565"/>
            <a:ext cx="9144000" cy="518315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2: Identify dirty data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Dirty data means data that has mistakes or problems. Look for: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missing values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wrong formats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duplicate records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outdated information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inconsistent details</a:t>
            </a:r>
          </a:p>
        </p:txBody>
      </p:sp>
    </p:spTree>
    <p:extLst>
      <p:ext uri="{BB962C8B-B14F-4D97-AF65-F5344CB8AC3E}">
        <p14:creationId xmlns:p14="http://schemas.microsoft.com/office/powerpoint/2010/main" val="3381485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F4132D9-482B-97D6-D7C0-0E1FBB4FF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0AD7B0-CF97-1EA3-584F-091246720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F8463-1610-971A-94ED-EE03BE0D53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18EB688-30DF-499A-3BC7-C4B04B63BE3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451946"/>
          </a:xfrm>
        </p:spPr>
        <p:txBody>
          <a:bodyPr>
            <a:no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Data Quality Investigation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90CCA3-5E91-FECF-C077-D52E61072BB5}"/>
              </a:ext>
            </a:extLst>
          </p:cNvPr>
          <p:cNvSpPr txBox="1"/>
          <p:nvPr/>
        </p:nvSpPr>
        <p:spPr>
          <a:xfrm>
            <a:off x="0" y="451945"/>
            <a:ext cx="7241628" cy="19645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3: Match the problem to a data quality dimension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Use these meanings: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2772D2F-4FD1-AC9D-FFDF-15BB06E1E2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283298"/>
              </p:ext>
            </p:extLst>
          </p:nvPr>
        </p:nvGraphicFramePr>
        <p:xfrm>
          <a:off x="3247697" y="1603191"/>
          <a:ext cx="5896303" cy="490728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501462">
                  <a:extLst>
                    <a:ext uri="{9D8B030D-6E8A-4147-A177-3AD203B41FA5}">
                      <a16:colId xmlns:a16="http://schemas.microsoft.com/office/drawing/2014/main" val="447050240"/>
                    </a:ext>
                  </a:extLst>
                </a:gridCol>
                <a:gridCol w="3394841">
                  <a:extLst>
                    <a:ext uri="{9D8B030D-6E8A-4147-A177-3AD203B41FA5}">
                      <a16:colId xmlns:a16="http://schemas.microsoft.com/office/drawing/2014/main" val="5829798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Dimension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Simple meaning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195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Data is correct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0841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Completeness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No important data is missing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939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Consistency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Data follows the same format/rules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2898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Timeliness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Data is up to 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9025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Validity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Data follows the correct format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4400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Uniqueness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No duplicate records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238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8098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D40CD49-76D8-1161-E7CF-50BC14085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740121-C9BC-B4E3-4A19-3CE6450B3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32EF0-AF24-C1FC-21FB-49425204A2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0CC05BF-8E6A-84C4-288B-6F1E797FE00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451946"/>
          </a:xfrm>
        </p:spPr>
        <p:txBody>
          <a:bodyPr>
            <a:no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Data Quality Investigation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3142AB-CB48-4B3C-0C7F-DB6F3F523D66}"/>
              </a:ext>
            </a:extLst>
          </p:cNvPr>
          <p:cNvSpPr txBox="1"/>
          <p:nvPr/>
        </p:nvSpPr>
        <p:spPr>
          <a:xfrm>
            <a:off x="0" y="451945"/>
            <a:ext cx="7241628" cy="131818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Activity A — Answers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Q1. Identify examples of dirty data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AD99A71-2B2C-D313-4BEF-DA8C69E43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397712"/>
              </p:ext>
            </p:extLst>
          </p:nvPr>
        </p:nvGraphicFramePr>
        <p:xfrm>
          <a:off x="0" y="1890117"/>
          <a:ext cx="9059918" cy="4967883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259724">
                  <a:extLst>
                    <a:ext uri="{9D8B030D-6E8A-4147-A177-3AD203B41FA5}">
                      <a16:colId xmlns:a16="http://schemas.microsoft.com/office/drawing/2014/main" val="1343660342"/>
                    </a:ext>
                  </a:extLst>
                </a:gridCol>
                <a:gridCol w="2722180">
                  <a:extLst>
                    <a:ext uri="{9D8B030D-6E8A-4147-A177-3AD203B41FA5}">
                      <a16:colId xmlns:a16="http://schemas.microsoft.com/office/drawing/2014/main" val="1623115963"/>
                    </a:ext>
                  </a:extLst>
                </a:gridCol>
                <a:gridCol w="4078014">
                  <a:extLst>
                    <a:ext uri="{9D8B030D-6E8A-4147-A177-3AD203B41FA5}">
                      <a16:colId xmlns:a16="http://schemas.microsoft.com/office/drawing/2014/main" val="1523345521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Calibir"/>
                        </a:rPr>
                        <a:t>Type of issue</a:t>
                      </a:r>
                    </a:p>
                  </a:txBody>
                  <a:tcPr marL="85320" marR="85320" marT="42660" marB="4266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Calibir"/>
                        </a:rPr>
                        <a:t>Example</a:t>
                      </a:r>
                    </a:p>
                  </a:txBody>
                  <a:tcPr marL="85320" marR="85320" marT="42660" marB="4266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Calibir"/>
                        </a:rPr>
                        <a:t>Explanation</a:t>
                      </a:r>
                    </a:p>
                  </a:txBody>
                  <a:tcPr marL="85320" marR="85320" marT="42660" marB="4266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529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Calibir"/>
                        </a:rPr>
                        <a:t>Inaccurate data</a:t>
                      </a:r>
                    </a:p>
                  </a:txBody>
                  <a:tcPr marL="85320" marR="85320" marT="42660" marB="4266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ir"/>
                        </a:rPr>
                        <a:t>Phone number 123 for Ahmed Khan</a:t>
                      </a:r>
                    </a:p>
                  </a:txBody>
                  <a:tcPr marL="85320" marR="85320" marT="42660" marB="4266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Calibir"/>
                        </a:rPr>
                        <a:t>This is not a realistic phone number</a:t>
                      </a:r>
                    </a:p>
                  </a:txBody>
                  <a:tcPr marL="85320" marR="85320" marT="42660" marB="4266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326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Calibir"/>
                        </a:rPr>
                        <a:t>Incomplete data</a:t>
                      </a:r>
                    </a:p>
                  </a:txBody>
                  <a:tcPr marL="85320" marR="85320" marT="42660" marB="4266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ir"/>
                        </a:rPr>
                        <a:t>Maria Chen has NULL phone</a:t>
                      </a:r>
                    </a:p>
                  </a:txBody>
                  <a:tcPr marL="85320" marR="85320" marT="42660" marB="4266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ir"/>
                        </a:rPr>
                        <a:t>The phone number is missing</a:t>
                      </a:r>
                    </a:p>
                  </a:txBody>
                  <a:tcPr marL="85320" marR="85320" marT="42660" marB="4266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8436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ir"/>
                        </a:rPr>
                        <a:t>Invalid data</a:t>
                      </a:r>
                    </a:p>
                  </a:txBody>
                  <a:tcPr marL="85320" marR="85320" marT="42660" marB="4266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 err="1">
                          <a:latin typeface="Calibir"/>
                        </a:rPr>
                        <a:t>johnsmith@gmail</a:t>
                      </a:r>
                      <a:endParaRPr lang="en-US" sz="2200" dirty="0">
                        <a:latin typeface="Calibir"/>
                      </a:endParaRPr>
                    </a:p>
                  </a:txBody>
                  <a:tcPr marL="85320" marR="85320" marT="42660" marB="4266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ir"/>
                        </a:rPr>
                        <a:t>Email address is incomplete because it has no proper domain such as .com</a:t>
                      </a:r>
                    </a:p>
                  </a:txBody>
                  <a:tcPr marL="85320" marR="85320" marT="42660" marB="4266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107125"/>
                  </a:ext>
                </a:extLst>
              </a:tr>
              <a:tr h="853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ir"/>
                        </a:rPr>
                        <a:t>Duplicate data</a:t>
                      </a:r>
                    </a:p>
                  </a:txBody>
                  <a:tcPr marL="85320" marR="85320" marT="42660" marB="4266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Calibir"/>
                        </a:rPr>
                        <a:t>StudentID 1001 appears twice for Sarah Lee</a:t>
                      </a:r>
                    </a:p>
                  </a:txBody>
                  <a:tcPr marL="85320" marR="85320" marT="42660" marB="4266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Calibir"/>
                        </a:rPr>
                        <a:t>Same student appears more than once</a:t>
                      </a:r>
                    </a:p>
                  </a:txBody>
                  <a:tcPr marL="85320" marR="85320" marT="42660" marB="4266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523415"/>
                  </a:ext>
                </a:extLst>
              </a:tr>
              <a:tr h="853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ir"/>
                        </a:rPr>
                        <a:t>Outdated data</a:t>
                      </a:r>
                    </a:p>
                  </a:txBody>
                  <a:tcPr marL="85320" marR="85320" marT="42660" marB="4266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ir"/>
                        </a:rPr>
                        <a:t>John Smith last updated 2023-01-15</a:t>
                      </a:r>
                    </a:p>
                  </a:txBody>
                  <a:tcPr marL="85320" marR="85320" marT="42660" marB="4266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Calibir"/>
                        </a:rPr>
                        <a:t>This record may be too old compared with 2025 records</a:t>
                      </a:r>
                    </a:p>
                  </a:txBody>
                  <a:tcPr marL="85320" marR="85320" marT="42660" marB="4266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027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7104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0254589-130C-DD01-2F95-5678906D9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81F500-D17D-B75D-52A2-8E395BC828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83267-F1AB-7224-C826-1CAACCD077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DA927E5-B1A4-DDFD-3F12-2FAB678462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451946"/>
          </a:xfrm>
        </p:spPr>
        <p:txBody>
          <a:bodyPr>
            <a:no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Data Quality Investigation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A34616-034A-65CD-302B-B38EAC284C98}"/>
              </a:ext>
            </a:extLst>
          </p:cNvPr>
          <p:cNvSpPr txBox="1"/>
          <p:nvPr/>
        </p:nvSpPr>
        <p:spPr>
          <a:xfrm>
            <a:off x="0" y="846894"/>
            <a:ext cx="9144000" cy="67185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Q2. Match each issue to the correct data quality dimension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7D487FE-9B2D-BF92-8D57-A0C73E844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72637"/>
              </p:ext>
            </p:extLst>
          </p:nvPr>
        </p:nvGraphicFramePr>
        <p:xfrm>
          <a:off x="1257300" y="1524000"/>
          <a:ext cx="7886700" cy="533400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2069229373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38509481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Issue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Data quality dimension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656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Wrong phone number such as 123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Accuracy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637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Missing phone number NULL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Completeness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1442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Two different email formats for Sarah Lee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Consistency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785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Old record from 2023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Timeliness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07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Invalid email johnsmith@gmail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Validity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206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Repeated StudentID 1001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Uniqueness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121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668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16C6092-5FB2-F871-EFB8-F768986A7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280715-122F-BE88-BB01-CC95EDE21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2C751-EA6E-D959-AE4E-D7373D3C80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7211552-0914-5B54-510F-A2810435443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451946"/>
          </a:xfrm>
        </p:spPr>
        <p:txBody>
          <a:bodyPr>
            <a:no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Data Quality Investigation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A082A6-1559-4343-86B9-B74D4DBAA7CB}"/>
              </a:ext>
            </a:extLst>
          </p:cNvPr>
          <p:cNvSpPr txBox="1"/>
          <p:nvPr/>
        </p:nvSpPr>
        <p:spPr>
          <a:xfrm>
            <a:off x="0" y="846894"/>
            <a:ext cx="9144000" cy="45498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Q3. Suggest one method to improve the quality of this dataset.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Students should try this themselves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possible answer could be: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Use validation rules, such as checking email format, requiring phone numbers, preventing duplicate </a:t>
            </a:r>
            <a:r>
              <a:rPr lang="en-US" sz="2800" dirty="0" err="1">
                <a:latin typeface="Calibir"/>
              </a:rPr>
              <a:t>StudentIDs</a:t>
            </a:r>
            <a:r>
              <a:rPr lang="en-US" sz="2800" dirty="0">
                <a:latin typeface="Calibir"/>
              </a:rPr>
              <a:t>, and regularly updating old records.</a:t>
            </a:r>
          </a:p>
        </p:txBody>
      </p:sp>
    </p:spTree>
    <p:extLst>
      <p:ext uri="{BB962C8B-B14F-4D97-AF65-F5344CB8AC3E}">
        <p14:creationId xmlns:p14="http://schemas.microsoft.com/office/powerpoint/2010/main" val="347919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67BF076-B8C8-17D2-3CCD-854D60701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346209-C62C-C755-3613-EF9FA04C2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FE5A8-3FAC-78FF-0BEE-F413B19D4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569A457-AD42-EFA0-42FB-A4E54BF8C1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451946"/>
          </a:xfrm>
        </p:spPr>
        <p:txBody>
          <a:bodyPr>
            <a:no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Database Security Case Study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1ABCB1-DF8E-37D1-987E-72CEF382C9B4}"/>
              </a:ext>
            </a:extLst>
          </p:cNvPr>
          <p:cNvSpPr txBox="1"/>
          <p:nvPr/>
        </p:nvSpPr>
        <p:spPr>
          <a:xfrm>
            <a:off x="0" y="846894"/>
            <a:ext cx="9144000" cy="45498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Step-by-step guideline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1: Read the scenario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database was breached because: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default passwords were not changed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security patches were ignored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audit logging was disabled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too many users had administrator access</a:t>
            </a:r>
          </a:p>
        </p:txBody>
      </p:sp>
    </p:spTree>
    <p:extLst>
      <p:ext uri="{BB962C8B-B14F-4D97-AF65-F5344CB8AC3E}">
        <p14:creationId xmlns:p14="http://schemas.microsoft.com/office/powerpoint/2010/main" val="4007645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AAB3C88-2C29-0689-1926-6BAD1408A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EB8CCF-971F-70F3-7CE9-7146940B75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40792-AC70-83D5-F2FD-45ABE252F3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3E7B067-10C0-A2FE-69C2-0DE193B2BC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451946"/>
          </a:xfrm>
        </p:spPr>
        <p:txBody>
          <a:bodyPr>
            <a:no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Database Security Case Study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78BBC6-5B1E-E735-9998-576DF727E361}"/>
              </a:ext>
            </a:extLst>
          </p:cNvPr>
          <p:cNvSpPr txBox="1"/>
          <p:nvPr/>
        </p:nvSpPr>
        <p:spPr>
          <a:xfrm>
            <a:off x="0" y="846894"/>
            <a:ext cx="9144000" cy="518315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2: Connect each problem to a security goal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main security goals are: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confidentiality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integrity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availability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compliance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3: Identify vulnerabilities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vulnerability is a weakness that attackers can use.</a:t>
            </a:r>
          </a:p>
        </p:txBody>
      </p:sp>
    </p:spTree>
    <p:extLst>
      <p:ext uri="{BB962C8B-B14F-4D97-AF65-F5344CB8AC3E}">
        <p14:creationId xmlns:p14="http://schemas.microsoft.com/office/powerpoint/2010/main" val="3386443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5AE3428-A54C-0DF6-DEF9-F8EF7EE4C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FE5CC6-DDF2-07F7-C4A5-76EADA0A57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A2DA9-5249-64BA-3047-33C14F8B8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66E947E-2200-CF77-4D14-822F8CE1C0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451946"/>
          </a:xfrm>
        </p:spPr>
        <p:txBody>
          <a:bodyPr>
            <a:no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Database Security Case Study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1327EB-FE59-B933-A792-77D74E9DB179}"/>
              </a:ext>
            </a:extLst>
          </p:cNvPr>
          <p:cNvSpPr txBox="1"/>
          <p:nvPr/>
        </p:nvSpPr>
        <p:spPr>
          <a:xfrm>
            <a:off x="0" y="846894"/>
            <a:ext cx="9144000" cy="67185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Activity B - Q1. Which security goals were violated?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CA8B45-4B0F-248A-EFEC-F25097AEF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347814"/>
              </p:ext>
            </p:extLst>
          </p:nvPr>
        </p:nvGraphicFramePr>
        <p:xfrm>
          <a:off x="11151" y="1913694"/>
          <a:ext cx="9132849" cy="429768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515994">
                  <a:extLst>
                    <a:ext uri="{9D8B030D-6E8A-4147-A177-3AD203B41FA5}">
                      <a16:colId xmlns:a16="http://schemas.microsoft.com/office/drawing/2014/main" val="3494838887"/>
                    </a:ext>
                  </a:extLst>
                </a:gridCol>
                <a:gridCol w="6616855">
                  <a:extLst>
                    <a:ext uri="{9D8B030D-6E8A-4147-A177-3AD203B41FA5}">
                      <a16:colId xmlns:a16="http://schemas.microsoft.com/office/drawing/2014/main" val="8259564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Security goal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How it may have been affected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4285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Confidentiality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Hackers accessed student personal information, so private data was exposed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6289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Integrity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Hackers may have changed, deleted, or damaged student records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9870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Availability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The system may have been disrupted or taken offline after the breach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0348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Compliance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The university may have failed to follow privacy and data protection requirements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0350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1842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0D3D7AB-82E5-E1D9-F9A1-DA3A58627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E0E91C-D9B7-966A-7C7E-8596664B99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98D00-8FCF-EB67-F441-F06FFE99E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D61DF7A-F21F-914C-980F-12F8581B9C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451946"/>
          </a:xfrm>
        </p:spPr>
        <p:txBody>
          <a:bodyPr>
            <a:no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Database Security Case Study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826A7D-849F-F0E0-0728-4CDD41287B8E}"/>
              </a:ext>
            </a:extLst>
          </p:cNvPr>
          <p:cNvSpPr txBox="1"/>
          <p:nvPr/>
        </p:nvSpPr>
        <p:spPr>
          <a:xfrm>
            <a:off x="0" y="826092"/>
            <a:ext cx="9144000" cy="603190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latin typeface="Calibir"/>
              </a:rPr>
              <a:t>Q2. Identify at least FOUR security vulnerabilities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Calibir"/>
              </a:rPr>
              <a:t>Default passwords were never changed.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Calibir"/>
              </a:rPr>
              <a:t>Security patches were ignored.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Calibir"/>
              </a:rPr>
              <a:t>Audit logging was disabled.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Calibir"/>
              </a:rPr>
              <a:t>Too many users had administrator access. 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Calibir"/>
              </a:rPr>
              <a:t>Other possible vulnerabilities: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weak access control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poor monitoring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lack of regular security review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poor password policy</a:t>
            </a:r>
          </a:p>
        </p:txBody>
      </p:sp>
    </p:spTree>
    <p:extLst>
      <p:ext uri="{BB962C8B-B14F-4D97-AF65-F5344CB8AC3E}">
        <p14:creationId xmlns:p14="http://schemas.microsoft.com/office/powerpoint/2010/main" val="2311639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8253D60-C1B0-DA6A-6CFB-55DA46E41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2CA62C-6B54-27B4-BB41-AF4C43315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8CD94-FC8E-64AC-AEFD-0D1BF8E284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F6157BB-A73C-D6F1-570F-7F6674A694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451946"/>
          </a:xfrm>
        </p:spPr>
        <p:txBody>
          <a:bodyPr>
            <a:no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Database Security Case Study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A315E6-9702-BA04-9A5B-8CE10E27F190}"/>
              </a:ext>
            </a:extLst>
          </p:cNvPr>
          <p:cNvSpPr txBox="1"/>
          <p:nvPr/>
        </p:nvSpPr>
        <p:spPr>
          <a:xfrm>
            <a:off x="0" y="980494"/>
            <a:ext cx="9144000" cy="587750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300" b="1" dirty="0">
                <a:latin typeface="Calibir"/>
              </a:rPr>
              <a:t>Q3. Recommend practical safeguards using ideas from the lecture on Canvas</a:t>
            </a:r>
          </a:p>
          <a:p>
            <a:pPr>
              <a:lnSpc>
                <a:spcPct val="150000"/>
              </a:lnSpc>
            </a:pPr>
            <a:r>
              <a:rPr lang="en-US" sz="2300" b="1" dirty="0">
                <a:latin typeface="Calibir"/>
              </a:rPr>
              <a:t>Q3. Students should try this themselves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Calibir"/>
              </a:rPr>
              <a:t>A good answer may include safeguards such as: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change default passwords immediately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apply security patches regularly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enable audit logging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limit administrator access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use strong passwords and multi-factor authentication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regularly back up the database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train staff on security procedures</a:t>
            </a:r>
          </a:p>
        </p:txBody>
      </p:sp>
    </p:spTree>
    <p:extLst>
      <p:ext uri="{BB962C8B-B14F-4D97-AF65-F5344CB8AC3E}">
        <p14:creationId xmlns:p14="http://schemas.microsoft.com/office/powerpoint/2010/main" val="93738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A68A185-D02F-BAAC-EB24-7553B68B3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9501BC-F4C2-880F-04CF-A36A6969F7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D543D-3D5F-C9EF-A3EF-6FC468741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256E116-B7A9-6F7D-7D1F-123318D1383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451946"/>
          </a:xfrm>
        </p:spPr>
        <p:txBody>
          <a:bodyPr>
            <a:no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CFB6FC-AC5B-5EFF-09F5-FA8CFC19FE65}"/>
              </a:ext>
            </a:extLst>
          </p:cNvPr>
          <p:cNvSpPr txBox="1"/>
          <p:nvPr/>
        </p:nvSpPr>
        <p:spPr>
          <a:xfrm>
            <a:off x="0" y="1065418"/>
            <a:ext cx="9144000" cy="483157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latin typeface="Calibir"/>
              </a:rPr>
              <a:t>Students should use the remaining time to:</a:t>
            </a:r>
          </a:p>
          <a:p>
            <a:pPr marL="714375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Calibir"/>
              </a:rPr>
              <a:t>Work on database queries for Part A of Assessment 3. </a:t>
            </a:r>
          </a:p>
          <a:p>
            <a:pPr marL="714375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Calibir"/>
              </a:rPr>
              <a:t>Check whether their SQL queries produce the correct results. </a:t>
            </a:r>
          </a:p>
          <a:p>
            <a:pPr marL="714375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Calibir"/>
              </a:rPr>
              <a:t>Start preparing presentation slides or a speaking script for Part B. 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Calibir"/>
              </a:rPr>
              <a:t>Q3 in both activities is useful for students to attempt independently because it helps them </a:t>
            </a:r>
            <a:r>
              <a:rPr lang="en-US" sz="2600" dirty="0" err="1">
                <a:latin typeface="Calibir"/>
              </a:rPr>
              <a:t>practise</a:t>
            </a:r>
            <a:r>
              <a:rPr lang="en-US" sz="2600" dirty="0">
                <a:latin typeface="Calibir"/>
              </a:rPr>
              <a:t> applying the lecture ideas.</a:t>
            </a:r>
          </a:p>
        </p:txBody>
      </p:sp>
    </p:spTree>
    <p:extLst>
      <p:ext uri="{BB962C8B-B14F-4D97-AF65-F5344CB8AC3E}">
        <p14:creationId xmlns:p14="http://schemas.microsoft.com/office/powerpoint/2010/main" val="1746029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AF3CF1D-3787-BB1E-A65D-94C8B3E8C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C92000-97A2-752D-92A3-ABC4C21D64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4A4BD-8612-1735-759D-194F7D855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A3BD306-54E6-C788-8A46-62C9AAAE1197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338B27-341C-D32F-79BF-478443751A17}"/>
              </a:ext>
            </a:extLst>
          </p:cNvPr>
          <p:cNvSpPr txBox="1"/>
          <p:nvPr/>
        </p:nvSpPr>
        <p:spPr>
          <a:xfrm>
            <a:off x="0" y="1015503"/>
            <a:ext cx="9144000" cy="26108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1: Open the </a:t>
            </a:r>
            <a:r>
              <a:rPr lang="en-US" sz="2800" b="1" dirty="0" err="1">
                <a:latin typeface="Calibir"/>
              </a:rPr>
              <a:t>OzCo</a:t>
            </a:r>
            <a:r>
              <a:rPr lang="en-US" sz="2800" b="1" dirty="0">
                <a:latin typeface="Calibir"/>
              </a:rPr>
              <a:t> database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Download and open the </a:t>
            </a:r>
            <a:r>
              <a:rPr lang="en-US" sz="2800" dirty="0" err="1">
                <a:latin typeface="Calibir"/>
              </a:rPr>
              <a:t>OzCo</a:t>
            </a:r>
            <a:r>
              <a:rPr lang="en-US" sz="2800" dirty="0">
                <a:latin typeface="Calibir"/>
              </a:rPr>
              <a:t> database in Microsoft Access.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Clarification:</a:t>
            </a:r>
            <a:r>
              <a:rPr lang="en-US" sz="2800" dirty="0">
                <a:latin typeface="Calibir"/>
              </a:rPr>
              <a:t> This is the database file where all tables are stored.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29C9A5-0440-F724-8C3B-8AA61A4B79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57" r="1657" b="61816"/>
          <a:stretch>
            <a:fillRect/>
          </a:stretch>
        </p:blipFill>
        <p:spPr>
          <a:xfrm>
            <a:off x="92739" y="3673791"/>
            <a:ext cx="9051261" cy="220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77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91C3720-26DF-D26C-4759-EF14F920B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AF4EE9-3158-39E9-7D5A-15E91475B2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CB8C9-BF2F-2C57-F98A-85E506B3E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DB8FF6B-2F01-4136-60FB-DAFD658D4B5E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FD78B0-1DB7-643D-F6F4-23171D01FB19}"/>
              </a:ext>
            </a:extLst>
          </p:cNvPr>
          <p:cNvSpPr txBox="1"/>
          <p:nvPr/>
        </p:nvSpPr>
        <p:spPr>
          <a:xfrm>
            <a:off x="0" y="914195"/>
            <a:ext cx="8987882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Go to Trusted Locations → Add new location.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Add the folder where you saved OzCo-2.mdb (</a:t>
            </a:r>
            <a:r>
              <a:rPr lang="en-US" sz="2800" dirty="0" err="1">
                <a:latin typeface="Calibir"/>
              </a:rPr>
              <a:t>e.g</a:t>
            </a:r>
            <a:r>
              <a:rPr lang="en-US" sz="2800" dirty="0">
                <a:latin typeface="Calibir"/>
              </a:rPr>
              <a:t> E:\ITEC200\Assessment 3)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5F01F5-F5F9-CC68-2FC3-420C06D43F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903" t="7419" r="21721" b="11542"/>
          <a:stretch>
            <a:fillRect/>
          </a:stretch>
        </p:blipFill>
        <p:spPr>
          <a:xfrm>
            <a:off x="4109545" y="2678810"/>
            <a:ext cx="5076939" cy="417919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EE3A8CF-AA4B-E083-2BB5-BA59B51BB86A}"/>
              </a:ext>
            </a:extLst>
          </p:cNvPr>
          <p:cNvSpPr/>
          <p:nvPr/>
        </p:nvSpPr>
        <p:spPr>
          <a:xfrm>
            <a:off x="7499385" y="6076661"/>
            <a:ext cx="740725" cy="26107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358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43B5059-B245-7F2B-BF73-EA5A7A567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764238-2651-AF0B-E834-1595FBD33A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D4FE6-BEA4-51B6-AF3C-84CE5A38B1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6959C22-7180-73E8-445F-7AD2FD9DF7E8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973783-2E9D-7F7E-D067-A2ECFF4AA52E}"/>
              </a:ext>
            </a:extLst>
          </p:cNvPr>
          <p:cNvSpPr txBox="1"/>
          <p:nvPr/>
        </p:nvSpPr>
        <p:spPr>
          <a:xfrm>
            <a:off x="0" y="2110677"/>
            <a:ext cx="898788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Tick “Subfolders of this location 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are also trusted.” Click OK → OK 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→ OK. This ensures any future 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Access databases in that folder 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open without warnings.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9DB609-2B83-E1D0-414F-7E5347B776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978" t="30332" r="34942" b="32273"/>
          <a:stretch>
            <a:fillRect/>
          </a:stretch>
        </p:blipFill>
        <p:spPr>
          <a:xfrm>
            <a:off x="4861501" y="2270233"/>
            <a:ext cx="4282499" cy="3097618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B468A5-D6E5-24A1-A82F-64381C3F4CBB}"/>
              </a:ext>
            </a:extLst>
          </p:cNvPr>
          <p:cNvSpPr/>
          <p:nvPr/>
        </p:nvSpPr>
        <p:spPr>
          <a:xfrm>
            <a:off x="4887310" y="3794234"/>
            <a:ext cx="2501462" cy="21020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367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C9089AF-3C6A-0EF6-484C-115C68CAE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97583C-1737-5FBF-2E78-4BE8ED225E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9CC88-DFBE-568F-E482-CEF556301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003425D-2B27-629F-5DD6-F4D7354901BF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46D889-B9AF-F92C-AEF3-B6EE07A910D8}"/>
              </a:ext>
            </a:extLst>
          </p:cNvPr>
          <p:cNvSpPr txBox="1"/>
          <p:nvPr/>
        </p:nvSpPr>
        <p:spPr>
          <a:xfrm>
            <a:off x="78059" y="968058"/>
            <a:ext cx="8004396" cy="669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Now open </a:t>
            </a:r>
            <a:r>
              <a:rPr lang="en-US" sz="2800" dirty="0">
                <a:latin typeface="Calibir"/>
                <a:sym typeface="Wingdings" panose="05000000000000000000" pitchFamily="2" charset="2"/>
              </a:rPr>
              <a:t> browse  Open Exclusive</a:t>
            </a:r>
            <a:endParaRPr lang="en-US" sz="2800" dirty="0">
              <a:latin typeface="Calibir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F13E52C-216D-6437-D29A-564BF9771B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 b="32886"/>
          <a:stretch>
            <a:fillRect/>
          </a:stretch>
        </p:blipFill>
        <p:spPr>
          <a:xfrm>
            <a:off x="2093755" y="1863743"/>
            <a:ext cx="5854262" cy="4420136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B561199-AA03-C667-A13D-B5D1B881C124}"/>
              </a:ext>
            </a:extLst>
          </p:cNvPr>
          <p:cNvSpPr/>
          <p:nvPr/>
        </p:nvSpPr>
        <p:spPr>
          <a:xfrm>
            <a:off x="6180085" y="5864771"/>
            <a:ext cx="1839310" cy="18918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680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ED3A8C9-EB98-BEF9-5977-D4B545C7F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C8069E-E821-0A4B-199C-E98BD8BC87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FFCD2-003D-3F56-42D7-F37B8FDC5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87E4718-11FC-15DB-153B-0B513B517ADE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DAFED2-637E-0BAC-1998-F1555CAFE066}"/>
              </a:ext>
            </a:extLst>
          </p:cNvPr>
          <p:cNvSpPr txBox="1"/>
          <p:nvPr/>
        </p:nvSpPr>
        <p:spPr>
          <a:xfrm>
            <a:off x="0" y="1015503"/>
            <a:ext cx="9144000" cy="67185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Click Enable Content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4DC8BE-75E3-4860-D538-67E9BA9D2B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193"/>
          <a:stretch>
            <a:fillRect/>
          </a:stretch>
        </p:blipFill>
        <p:spPr>
          <a:xfrm>
            <a:off x="0" y="1687354"/>
            <a:ext cx="9144000" cy="4824958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D71BFE9-985E-9C36-B9E1-EB03950A0D36}"/>
              </a:ext>
            </a:extLst>
          </p:cNvPr>
          <p:cNvSpPr/>
          <p:nvPr/>
        </p:nvSpPr>
        <p:spPr>
          <a:xfrm>
            <a:off x="3077737" y="2776654"/>
            <a:ext cx="735980" cy="24622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026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0109C70-4F68-C513-9762-67719A381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EC68A8-95D2-C300-CAAC-848DF8E3D9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664"/>
          <a:stretch>
            <a:fillRect/>
          </a:stretch>
        </p:blipFill>
        <p:spPr>
          <a:xfrm>
            <a:off x="0" y="1734799"/>
            <a:ext cx="9144000" cy="485217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81020-2285-291E-1100-5BD4B50A8A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CFFBA-75AA-C188-7D40-D3C1196B9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620843C-66C5-E2B4-4B14-155CE1C1DA9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5A152D-06D4-97D1-782F-755AEFE6F072}"/>
              </a:ext>
            </a:extLst>
          </p:cNvPr>
          <p:cNvSpPr txBox="1"/>
          <p:nvPr/>
        </p:nvSpPr>
        <p:spPr>
          <a:xfrm>
            <a:off x="0" y="1015503"/>
            <a:ext cx="9144000" cy="67185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will see this</a:t>
            </a:r>
          </a:p>
        </p:txBody>
      </p:sp>
    </p:spTree>
    <p:extLst>
      <p:ext uri="{BB962C8B-B14F-4D97-AF65-F5344CB8AC3E}">
        <p14:creationId xmlns:p14="http://schemas.microsoft.com/office/powerpoint/2010/main" val="24898363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47D4518-EE8C-EE86-0697-C566F4D25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B5C1EB-3177-FB7E-135E-3015F34667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7D1F3-86B6-2D85-E793-CB70B8E920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5A1BFA6-F4A7-C214-FCF2-7E74ED1242BB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0C0692-F58D-E626-1FC8-F81A284C4520}"/>
              </a:ext>
            </a:extLst>
          </p:cNvPr>
          <p:cNvSpPr txBox="1"/>
          <p:nvPr/>
        </p:nvSpPr>
        <p:spPr>
          <a:xfrm>
            <a:off x="0" y="1015503"/>
            <a:ext cx="9144000" cy="58424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 and 3: Set Primary Keys and Create relationships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We need to Go to Database Tools → Relationships and connect tables using matching fields.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Clarification: </a:t>
            </a:r>
            <a:r>
              <a:rPr lang="en-US" sz="2800" dirty="0">
                <a:latin typeface="Calibir"/>
              </a:rPr>
              <a:t>Relationships show how tables are linked, for example customers connect to invoices.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We need to open each table in Design View and set the correct primary key based on the ERD.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Clarification:</a:t>
            </a:r>
            <a:r>
              <a:rPr lang="en-US" sz="2800" dirty="0">
                <a:latin typeface="Calibir"/>
              </a:rPr>
              <a:t> A primary key uniquely identifies each record, such as Customer Code or Product SKU.</a:t>
            </a:r>
          </a:p>
        </p:txBody>
      </p:sp>
    </p:spTree>
    <p:extLst>
      <p:ext uri="{BB962C8B-B14F-4D97-AF65-F5344CB8AC3E}">
        <p14:creationId xmlns:p14="http://schemas.microsoft.com/office/powerpoint/2010/main" val="4341444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3D45079-D304-0C43-7EB5-57C36F0F0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DBDDF0-D1FC-D69E-E6F3-12E1F24968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3A906-5C0D-7322-ED94-0C2F380725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002C886-19F7-DA11-AA71-08CB048C218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FED096-DFA9-DC13-2CBD-F6237411A06D}"/>
              </a:ext>
            </a:extLst>
          </p:cNvPr>
          <p:cNvSpPr txBox="1"/>
          <p:nvPr/>
        </p:nvSpPr>
        <p:spPr>
          <a:xfrm>
            <a:off x="78060" y="968058"/>
            <a:ext cx="4393579" cy="2518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Calibir"/>
              </a:rPr>
              <a:t>Open Database Tools → Relationships </a:t>
            </a:r>
            <a:r>
              <a:rPr lang="en-US" sz="2700" dirty="0">
                <a:latin typeface="Calibir"/>
                <a:sym typeface="Wingdings" panose="05000000000000000000" pitchFamily="2" charset="2"/>
              </a:rPr>
              <a:t> Hold Ctrl and Select All Tables  Add Selected Tables </a:t>
            </a:r>
            <a:endParaRPr lang="en-US" sz="2700" dirty="0">
              <a:latin typeface="Calibir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0E404D-A9D5-71BF-618D-C57300C382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968" b="40777"/>
          <a:stretch>
            <a:fillRect/>
          </a:stretch>
        </p:blipFill>
        <p:spPr>
          <a:xfrm>
            <a:off x="4385187" y="1314305"/>
            <a:ext cx="4680754" cy="1973001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D4522B2-8961-D178-7321-879A005DA51E}"/>
              </a:ext>
            </a:extLst>
          </p:cNvPr>
          <p:cNvSpPr/>
          <p:nvPr/>
        </p:nvSpPr>
        <p:spPr>
          <a:xfrm>
            <a:off x="5296560" y="1612903"/>
            <a:ext cx="383458" cy="35396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96AE83-4529-BDB4-A466-AD238FBA6A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812" t="728" b="8886"/>
          <a:stretch>
            <a:fillRect/>
          </a:stretch>
        </p:blipFill>
        <p:spPr>
          <a:xfrm>
            <a:off x="5849561" y="3570694"/>
            <a:ext cx="3309786" cy="3287305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A34D8A2-8A1C-7DF6-02A3-CB759551A0B0}"/>
              </a:ext>
            </a:extLst>
          </p:cNvPr>
          <p:cNvSpPr/>
          <p:nvPr/>
        </p:nvSpPr>
        <p:spPr>
          <a:xfrm>
            <a:off x="8062452" y="4316361"/>
            <a:ext cx="1081548" cy="2541639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9F5C9DE-3078-5646-2A59-F6D6C7D91278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rot="16200000" flipH="1">
            <a:off x="6973315" y="3039555"/>
            <a:ext cx="283388" cy="778890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5B2FB07-C29F-DA72-21FE-90A932BA8C56}"/>
              </a:ext>
            </a:extLst>
          </p:cNvPr>
          <p:cNvCxnSpPr/>
          <p:nvPr/>
        </p:nvCxnSpPr>
        <p:spPr>
          <a:xfrm>
            <a:off x="1641987" y="3486311"/>
            <a:ext cx="6666271" cy="3270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192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42C36E6-6299-E2E6-4D61-7EAD5D722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EDCCA3-6E2A-9995-E132-B5F336F32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899F0-6FCF-AC23-4903-728D65CE5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F5F2A05-BB6B-3EB3-EBBB-99DD26D62294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514C39C-A6BB-133A-5C7E-D5DA603732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664"/>
          <a:stretch>
            <a:fillRect/>
          </a:stretch>
        </p:blipFill>
        <p:spPr>
          <a:xfrm>
            <a:off x="0" y="1002913"/>
            <a:ext cx="9144000" cy="485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473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141958A-ED04-0E72-E671-2964C4BEA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541BA8-61A0-8527-49DF-9E50C2480E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86C7B-181A-CAF3-E94B-70D9169CE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64D9718-C3C6-31A2-007E-86340930AE9B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 descr="A diagram of a company&#10;&#10;AI-generated content may be incorrect.">
            <a:extLst>
              <a:ext uri="{FF2B5EF4-FFF2-40B4-BE49-F238E27FC236}">
                <a16:creationId xmlns:a16="http://schemas.microsoft.com/office/drawing/2014/main" id="{64C3EE86-46CE-C641-0B48-F2EDF5951F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9840" y="1674277"/>
            <a:ext cx="3394160" cy="427257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FD8DB8E-0747-521F-BC02-D5E8CC0CF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658283"/>
              </p:ext>
            </p:extLst>
          </p:nvPr>
        </p:nvGraphicFramePr>
        <p:xfrm>
          <a:off x="-1" y="1674277"/>
          <a:ext cx="5724232" cy="475488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431012">
                  <a:extLst>
                    <a:ext uri="{9D8B030D-6E8A-4147-A177-3AD203B41FA5}">
                      <a16:colId xmlns:a16="http://schemas.microsoft.com/office/drawing/2014/main" val="2457192084"/>
                    </a:ext>
                  </a:extLst>
                </a:gridCol>
                <a:gridCol w="1382752">
                  <a:extLst>
                    <a:ext uri="{9D8B030D-6E8A-4147-A177-3AD203B41FA5}">
                      <a16:colId xmlns:a16="http://schemas.microsoft.com/office/drawing/2014/main" val="2211605784"/>
                    </a:ext>
                  </a:extLst>
                </a:gridCol>
                <a:gridCol w="1550019">
                  <a:extLst>
                    <a:ext uri="{9D8B030D-6E8A-4147-A177-3AD203B41FA5}">
                      <a16:colId xmlns:a16="http://schemas.microsoft.com/office/drawing/2014/main" val="600917532"/>
                    </a:ext>
                  </a:extLst>
                </a:gridCol>
                <a:gridCol w="1360449">
                  <a:extLst>
                    <a:ext uri="{9D8B030D-6E8A-4147-A177-3AD203B41FA5}">
                      <a16:colId xmlns:a16="http://schemas.microsoft.com/office/drawing/2014/main" val="17749479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ir"/>
                        </a:rPr>
                        <a:t>Table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ir"/>
                        </a:rPr>
                        <a:t>Field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ir"/>
                        </a:rPr>
                        <a:t>Related Table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ir"/>
                        </a:rPr>
                        <a:t>Related Field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64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LGINVOICE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Cust_Code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alibir"/>
                        </a:rPr>
                        <a:t>Cust_Code</a:t>
                      </a:r>
                      <a:endParaRPr lang="en-US" dirty="0">
                        <a:latin typeface="Calibi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965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ir"/>
                        </a:rPr>
                        <a:t>LGINVOICE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Employee_ID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Emp_Num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5160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Inv_Num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LGINVOICE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Inv_Num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2538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Prod_SKU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Prod_SKU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1788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Brand_ID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LGBRAND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Brand_ID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6390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LGSUPPLIES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Vend_ID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LGVENDOR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Vend_ID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77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LGSUPPLIES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Prod_SKU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Prod_SKU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740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Dept_Num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Dept_Num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9089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LGSALARY_HISTORY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alibir"/>
                        </a:rPr>
                        <a:t>Emp_Num</a:t>
                      </a:r>
                      <a:endParaRPr lang="en-US" dirty="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alibir"/>
                        </a:rPr>
                        <a:t>Emp_Num</a:t>
                      </a:r>
                      <a:endParaRPr lang="en-US" dirty="0">
                        <a:latin typeface="Calibi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272910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C8007F77-D30B-E8EE-4204-8CF45699E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1069744"/>
            <a:ext cx="25515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Create manually</a:t>
            </a:r>
          </a:p>
        </p:txBody>
      </p:sp>
    </p:spTree>
    <p:extLst>
      <p:ext uri="{BB962C8B-B14F-4D97-AF65-F5344CB8AC3E}">
        <p14:creationId xmlns:p14="http://schemas.microsoft.com/office/powerpoint/2010/main" val="18366825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65B387E-0266-C110-651D-E0548857B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BC00F3-1C71-8F7F-9B0C-28D4390D8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914E3-38F5-5CD3-D01B-ECE4732E9D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688E15B-B25E-8F64-86C6-1F71ABFCDA6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D06A9F5-DB4E-B80E-7AC7-A3EFCDBA5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1069744"/>
            <a:ext cx="25515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Create manually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572288-2765-9880-04CF-3126F77F7B09}"/>
              </a:ext>
            </a:extLst>
          </p:cNvPr>
          <p:cNvSpPr txBox="1"/>
          <p:nvPr/>
        </p:nvSpPr>
        <p:spPr>
          <a:xfrm>
            <a:off x="5804210" y="1717288"/>
            <a:ext cx="3339790" cy="4102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LGINVOICE ↔ LGCUSTOMER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Connect customers with their invoices.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From LGINVOICE, drag </a:t>
            </a:r>
            <a:r>
              <a:rPr lang="en-US" sz="2200" dirty="0" err="1">
                <a:latin typeface="Calibir"/>
              </a:rPr>
              <a:t>Cust_Code</a:t>
            </a:r>
            <a:endParaRPr lang="en-US" sz="2200" dirty="0">
              <a:latin typeface="Calibir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Drop it onto </a:t>
            </a:r>
            <a:r>
              <a:rPr lang="en-US" sz="2200" dirty="0" err="1">
                <a:latin typeface="Calibir"/>
              </a:rPr>
              <a:t>Cust_Code</a:t>
            </a:r>
            <a:r>
              <a:rPr lang="en-US" sz="2200" dirty="0">
                <a:latin typeface="Calibir"/>
              </a:rPr>
              <a:t> in LGCUSTOMER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6E5F90-1B97-0CE9-97DF-922F4B92D0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585" t="20406" r="21707" b="20239"/>
          <a:stretch>
            <a:fillRect/>
          </a:stretch>
        </p:blipFill>
        <p:spPr>
          <a:xfrm>
            <a:off x="0" y="1717288"/>
            <a:ext cx="5804210" cy="374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241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51528E7-55D7-F81D-7900-EB907C43E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DFB39-0F81-7584-A51D-5352581E2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52354-8D70-C67A-1A59-F7D7ED15A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1A3D2D0-688B-CBE0-52E2-78602000E8B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F874DAE-F0D1-F381-1C25-5A4B524A7AEF}"/>
              </a:ext>
            </a:extLst>
          </p:cNvPr>
          <p:cNvGraphicFramePr>
            <a:graphicFrameLocks noGrp="1"/>
          </p:cNvGraphicFramePr>
          <p:nvPr/>
        </p:nvGraphicFramePr>
        <p:xfrm>
          <a:off x="-1" y="1674277"/>
          <a:ext cx="5724232" cy="475488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431012">
                  <a:extLst>
                    <a:ext uri="{9D8B030D-6E8A-4147-A177-3AD203B41FA5}">
                      <a16:colId xmlns:a16="http://schemas.microsoft.com/office/drawing/2014/main" val="2457192084"/>
                    </a:ext>
                  </a:extLst>
                </a:gridCol>
                <a:gridCol w="1382752">
                  <a:extLst>
                    <a:ext uri="{9D8B030D-6E8A-4147-A177-3AD203B41FA5}">
                      <a16:colId xmlns:a16="http://schemas.microsoft.com/office/drawing/2014/main" val="2211605784"/>
                    </a:ext>
                  </a:extLst>
                </a:gridCol>
                <a:gridCol w="1550019">
                  <a:extLst>
                    <a:ext uri="{9D8B030D-6E8A-4147-A177-3AD203B41FA5}">
                      <a16:colId xmlns:a16="http://schemas.microsoft.com/office/drawing/2014/main" val="600917532"/>
                    </a:ext>
                  </a:extLst>
                </a:gridCol>
                <a:gridCol w="1360449">
                  <a:extLst>
                    <a:ext uri="{9D8B030D-6E8A-4147-A177-3AD203B41FA5}">
                      <a16:colId xmlns:a16="http://schemas.microsoft.com/office/drawing/2014/main" val="17749479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ir"/>
                        </a:rPr>
                        <a:t>Table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ir"/>
                        </a:rPr>
                        <a:t>Field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ir"/>
                        </a:rPr>
                        <a:t>Related Table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ir"/>
                        </a:rPr>
                        <a:t>Related Field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64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ir"/>
                        </a:rPr>
                        <a:t>LGINVOICE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Cust_Code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alibir"/>
                        </a:rPr>
                        <a:t>Cust_Code</a:t>
                      </a:r>
                      <a:endParaRPr lang="en-US" dirty="0">
                        <a:latin typeface="Calibi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965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ir"/>
                        </a:rPr>
                        <a:t>LGINVOICE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Employee_ID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Emp_Num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5160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Inv_Num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LGINVOICE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Inv_Num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2538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Prod_SKU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ir"/>
                        </a:rPr>
                        <a:t>LGPRODUCT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Prod_SKU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1788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Brand_ID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LGBRAND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Brand_ID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6390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LGSUPPLIES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Vend_ID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LGVENDOR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Vend_ID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77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LGSUPPLIES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Prod_SKU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Prod_SKU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740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Dept_Num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Dept_Num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9089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LGSALARY_HISTORY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alibir"/>
                        </a:rPr>
                        <a:t>Emp_Num</a:t>
                      </a:r>
                      <a:endParaRPr lang="en-US" dirty="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ir"/>
                        </a:rPr>
                        <a:t>LGEMPLOYEE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alibir"/>
                        </a:rPr>
                        <a:t>Emp_Num</a:t>
                      </a:r>
                      <a:endParaRPr lang="en-US" dirty="0">
                        <a:latin typeface="Calibi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272910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0C16E68A-7D64-5C6E-BC8E-D249FA57B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1069744"/>
            <a:ext cx="25515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Create manually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9335B6-754E-791F-7EEE-39966E51A6A2}"/>
              </a:ext>
            </a:extLst>
          </p:cNvPr>
          <p:cNvSpPr txBox="1"/>
          <p:nvPr/>
        </p:nvSpPr>
        <p:spPr>
          <a:xfrm>
            <a:off x="5804210" y="1717288"/>
            <a:ext cx="3339790" cy="3594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Tick: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i="1" dirty="0">
                <a:latin typeface="Calibir"/>
              </a:rPr>
              <a:t>Enforce Referential Integrity</a:t>
            </a:r>
            <a:endParaRPr lang="en-US" sz="2200" dirty="0">
              <a:latin typeface="Calibir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i="1" dirty="0">
                <a:latin typeface="Calibir"/>
              </a:rPr>
              <a:t>Cascade Update Related Fields (optional)</a:t>
            </a:r>
            <a:endParaRPr lang="en-US" sz="2200" dirty="0">
              <a:latin typeface="Calibir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Click Create</a:t>
            </a:r>
          </a:p>
        </p:txBody>
      </p:sp>
    </p:spTree>
    <p:extLst>
      <p:ext uri="{BB962C8B-B14F-4D97-AF65-F5344CB8AC3E}">
        <p14:creationId xmlns:p14="http://schemas.microsoft.com/office/powerpoint/2010/main" val="15106848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11E9292-6D2E-EE8D-DC14-412BC6382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8B70A6-2E89-9D03-4709-F90B510348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5D52D-5338-587E-647D-490A102A47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CFFBF6D-74D9-5A20-C5F2-CB0757B8D936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D2441C-D3C8-FBB6-E688-42EEDAE67D75}"/>
              </a:ext>
            </a:extLst>
          </p:cNvPr>
          <p:cNvSpPr txBox="1"/>
          <p:nvPr/>
        </p:nvSpPr>
        <p:spPr>
          <a:xfrm>
            <a:off x="5804210" y="1228737"/>
            <a:ext cx="3339790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When you enforce referential integrity, Access needs one side of the relationship to be a primary key or uniquely indexed field (so it can ensure every invoice belongs to a valid customer).</a:t>
            </a:r>
            <a:endParaRPr lang="en-US" sz="2200" dirty="0">
              <a:latin typeface="Calibir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A0CE94-7011-27FC-E608-08CD3F9F11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561" t="36883" r="38293" b="42954"/>
          <a:stretch>
            <a:fillRect/>
          </a:stretch>
        </p:blipFill>
        <p:spPr>
          <a:xfrm>
            <a:off x="0" y="1416205"/>
            <a:ext cx="5620215" cy="263980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800966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D61A297-59A7-1DFC-FF13-B69A6A582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58010D-959F-4117-BE5F-8E16E3235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EAC6B-080D-259A-B1FD-B862EBCAF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43D2CD8-9030-B834-73E4-896F9C6503AC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7F7043-C075-601B-AB74-376E48C51593}"/>
              </a:ext>
            </a:extLst>
          </p:cNvPr>
          <p:cNvSpPr txBox="1"/>
          <p:nvPr/>
        </p:nvSpPr>
        <p:spPr>
          <a:xfrm>
            <a:off x="2988527" y="1131151"/>
            <a:ext cx="6155473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Open LGCUSTOMER in Design View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Close the Relationships window first (click Close).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In the Navigation Pane (left side), right-click LGCUSTOMER → Design View.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157CE7-AF9C-7871-DB83-A82FB5459C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659" b="10650"/>
          <a:stretch>
            <a:fillRect/>
          </a:stretch>
        </p:blipFill>
        <p:spPr>
          <a:xfrm>
            <a:off x="0" y="1131151"/>
            <a:ext cx="2988527" cy="5702069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EE6E9EC-DF33-E5D4-24AE-8C62B4276F4E}"/>
              </a:ext>
            </a:extLst>
          </p:cNvPr>
          <p:cNvSpPr/>
          <p:nvPr/>
        </p:nvSpPr>
        <p:spPr>
          <a:xfrm>
            <a:off x="1471961" y="3523785"/>
            <a:ext cx="1293542" cy="24622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0362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175C47E-4F7B-3860-A064-EFF81745E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01F7DE-8782-6DC6-5872-FC7A565474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B97D5-88F8-5CCE-835A-6F4F0AC80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D51A5D3-8134-C0DC-F775-CF7142A1E259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D71F0A-6CF9-CACF-3307-BB4BF4D4B73E}"/>
              </a:ext>
            </a:extLst>
          </p:cNvPr>
          <p:cNvSpPr txBox="1"/>
          <p:nvPr/>
        </p:nvSpPr>
        <p:spPr>
          <a:xfrm>
            <a:off x="4371278" y="1031532"/>
            <a:ext cx="4772722" cy="563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b="1" dirty="0">
                <a:latin typeface="Calibir"/>
              </a:rPr>
              <a:t>Set the Primary Key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Calibir"/>
              </a:rPr>
              <a:t>In the design view, click on the first row — </a:t>
            </a:r>
            <a:r>
              <a:rPr lang="en-US" sz="2700" dirty="0" err="1">
                <a:latin typeface="Calibir"/>
              </a:rPr>
              <a:t>Cust_Code</a:t>
            </a:r>
            <a:r>
              <a:rPr lang="en-US" sz="2700" dirty="0">
                <a:latin typeface="Calibir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Calibir"/>
              </a:rPr>
              <a:t>On the top ribbon, click the Primary Key icon (under the Design tab).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Calibir"/>
              </a:rPr>
              <a:t>You’ll now see a small key icon next to </a:t>
            </a:r>
            <a:r>
              <a:rPr lang="en-US" sz="2700" dirty="0" err="1">
                <a:latin typeface="Calibir"/>
              </a:rPr>
              <a:t>Cust_Code</a:t>
            </a:r>
            <a:r>
              <a:rPr lang="en-US" sz="2700" dirty="0">
                <a:latin typeface="Calibir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Calibir"/>
              </a:rPr>
              <a:t>Press </a:t>
            </a:r>
            <a:r>
              <a:rPr lang="en-US" sz="2700" dirty="0" err="1">
                <a:latin typeface="Calibir"/>
              </a:rPr>
              <a:t>Ctrl+S</a:t>
            </a:r>
            <a:r>
              <a:rPr lang="en-US" sz="2700" dirty="0">
                <a:latin typeface="Calibir"/>
              </a:rPr>
              <a:t> to save the table.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83E5D2-881C-E875-B95D-D7FC197230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195" b="38401"/>
          <a:stretch>
            <a:fillRect/>
          </a:stretch>
        </p:blipFill>
        <p:spPr>
          <a:xfrm>
            <a:off x="0" y="1131151"/>
            <a:ext cx="4371278" cy="316834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3132A6A-3C0D-BE88-F09F-EA29A7CF1CFA}"/>
              </a:ext>
            </a:extLst>
          </p:cNvPr>
          <p:cNvSpPr/>
          <p:nvPr/>
        </p:nvSpPr>
        <p:spPr>
          <a:xfrm>
            <a:off x="409721" y="1616927"/>
            <a:ext cx="448128" cy="52410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4408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659C915-6AAE-1B97-B511-6E7A6FFAB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CA0D84-8BF5-E532-A976-7AC6C2E8D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2A69A-9EE7-3BEF-537D-C71F1079C9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A70B0A2-59C2-8B63-0ABB-045D920BF111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97D9E6-7FB7-A92B-9BBB-47D73991BA8E}"/>
              </a:ext>
            </a:extLst>
          </p:cNvPr>
          <p:cNvSpPr txBox="1"/>
          <p:nvPr/>
        </p:nvSpPr>
        <p:spPr>
          <a:xfrm>
            <a:off x="4371278" y="1031532"/>
            <a:ext cx="477272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Repeat for Other Tables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While you’re here, check the other tables too — each one should have its key field set as follows: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8428C2-9D66-E8AF-08E2-5EE65D6B77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195" b="38401"/>
          <a:stretch>
            <a:fillRect/>
          </a:stretch>
        </p:blipFill>
        <p:spPr>
          <a:xfrm>
            <a:off x="0" y="1131151"/>
            <a:ext cx="4371278" cy="316834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12B703-6E8C-7A3B-E04C-910F6F0E0BE8}"/>
              </a:ext>
            </a:extLst>
          </p:cNvPr>
          <p:cNvSpPr/>
          <p:nvPr/>
        </p:nvSpPr>
        <p:spPr>
          <a:xfrm>
            <a:off x="409721" y="1616927"/>
            <a:ext cx="448128" cy="52410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0567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6DADF62-9F01-F102-70EE-A0AE3BC69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D3290C-26F7-4DA2-1F93-1E4606AA2A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E8C79-92F6-FD52-C977-68B44E1609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1FF5D4C-7B27-5823-D893-7D9941697293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CBB6A3-FA17-9769-17D6-067D89ECC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690974"/>
              </p:ext>
            </p:extLst>
          </p:nvPr>
        </p:nvGraphicFramePr>
        <p:xfrm>
          <a:off x="4654844" y="1131151"/>
          <a:ext cx="4388795" cy="577990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924375">
                  <a:extLst>
                    <a:ext uri="{9D8B030D-6E8A-4147-A177-3AD203B41FA5}">
                      <a16:colId xmlns:a16="http://schemas.microsoft.com/office/drawing/2014/main" val="3029210933"/>
                    </a:ext>
                  </a:extLst>
                </a:gridCol>
                <a:gridCol w="2464420">
                  <a:extLst>
                    <a:ext uri="{9D8B030D-6E8A-4147-A177-3AD203B41FA5}">
                      <a16:colId xmlns:a16="http://schemas.microsoft.com/office/drawing/2014/main" val="1934848403"/>
                    </a:ext>
                  </a:extLst>
                </a:gridCol>
              </a:tblGrid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Table</a:t>
                      </a:r>
                    </a:p>
                  </a:txBody>
                  <a:tcPr marL="82101" marR="82101" marT="41050" marB="4105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Primary Key Field</a:t>
                      </a:r>
                    </a:p>
                  </a:txBody>
                  <a:tcPr marL="82101" marR="82101" marT="41050" marB="4105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025564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LGCUSTOMER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Cust_Code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836616182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LGBRAND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Brand_ID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001173189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LGDEPARTMENT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Dept_Num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90180376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LGEMPLOYEE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Emp_Num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854831646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LGINVOICE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Inv_Num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400355638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LGLINE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(Composite Key: Inv_Num + Line_Num)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966695041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LGPRODUCT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Prod_SKU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23929029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LGSALARY_HISTORY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(Composite Key: Emp_Num + Sal_From)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367499309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LGSUPPLIES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(Composite Key: Vend_ID + Prod_SKU)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062470799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LGVENDOR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Vend_ID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4140716763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82474295-0D9C-05E1-2BC2-353500D525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9146" b="39485"/>
          <a:stretch>
            <a:fillRect/>
          </a:stretch>
        </p:blipFill>
        <p:spPr>
          <a:xfrm>
            <a:off x="0" y="1131150"/>
            <a:ext cx="4504373" cy="3753083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64E0EB1-1F6A-D03F-F9EF-9DBF84E6233C}"/>
              </a:ext>
            </a:extLst>
          </p:cNvPr>
          <p:cNvSpPr/>
          <p:nvPr/>
        </p:nvSpPr>
        <p:spPr>
          <a:xfrm>
            <a:off x="512956" y="1717290"/>
            <a:ext cx="476958" cy="68022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2560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4DE2013-50BF-637F-1E0D-834797CDC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25A0BC-5B92-1023-D5F0-2884AA2028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38F9E-2861-78D9-70E6-F31A60053B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174C478-6B41-92C7-2C13-F87D726A7059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AC441C4-9360-19A0-5490-8B18AA18D8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526907"/>
              </p:ext>
            </p:extLst>
          </p:nvPr>
        </p:nvGraphicFramePr>
        <p:xfrm>
          <a:off x="4654844" y="1131151"/>
          <a:ext cx="4388795" cy="577990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924375">
                  <a:extLst>
                    <a:ext uri="{9D8B030D-6E8A-4147-A177-3AD203B41FA5}">
                      <a16:colId xmlns:a16="http://schemas.microsoft.com/office/drawing/2014/main" val="3029210933"/>
                    </a:ext>
                  </a:extLst>
                </a:gridCol>
                <a:gridCol w="2464420">
                  <a:extLst>
                    <a:ext uri="{9D8B030D-6E8A-4147-A177-3AD203B41FA5}">
                      <a16:colId xmlns:a16="http://schemas.microsoft.com/office/drawing/2014/main" val="1934848403"/>
                    </a:ext>
                  </a:extLst>
                </a:gridCol>
              </a:tblGrid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Table</a:t>
                      </a:r>
                    </a:p>
                  </a:txBody>
                  <a:tcPr marL="82101" marR="82101" marT="41050" marB="4105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Primary Key Field</a:t>
                      </a:r>
                    </a:p>
                  </a:txBody>
                  <a:tcPr marL="82101" marR="82101" marT="41050" marB="4105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025564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LGCUSTOMER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Cust_Code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836616182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LGBRAND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Brand_ID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001173189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LGDEPARTMENT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Dept_Num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90180376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LGEMPLOYEE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Emp_Num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854831646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LGINVOICE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Inv_Num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400355638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LGLINE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(Composite Key: </a:t>
                      </a:r>
                      <a:r>
                        <a:rPr lang="en-US" sz="2000" dirty="0" err="1">
                          <a:latin typeface="Calibir"/>
                        </a:rPr>
                        <a:t>Inv_Num</a:t>
                      </a:r>
                      <a:r>
                        <a:rPr lang="en-US" sz="2000" dirty="0">
                          <a:latin typeface="Calibir"/>
                        </a:rPr>
                        <a:t> + </a:t>
                      </a:r>
                      <a:r>
                        <a:rPr lang="en-US" sz="2000" dirty="0" err="1">
                          <a:latin typeface="Calibir"/>
                        </a:rPr>
                        <a:t>Line_Num</a:t>
                      </a:r>
                      <a:r>
                        <a:rPr lang="en-US" sz="2000" dirty="0">
                          <a:latin typeface="Calibir"/>
                        </a:rPr>
                        <a:t>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966695041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LGPRODUCT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Prod_SKU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23929029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LGSALARY_HISTORY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(Composite Key: Emp_Num + Sal_From)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367499309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LGSUPPLIES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(Composite Key: Vend_ID + Prod_SKU)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062470799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LGVENDOR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Vend_ID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4140716763"/>
                  </a:ext>
                </a:extLst>
              </a:tr>
            </a:tbl>
          </a:graphicData>
        </a:graphic>
      </p:graphicFrame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06E4850-E936-9F77-7292-AF300E9044F1}"/>
              </a:ext>
            </a:extLst>
          </p:cNvPr>
          <p:cNvSpPr/>
          <p:nvPr/>
        </p:nvSpPr>
        <p:spPr>
          <a:xfrm>
            <a:off x="512956" y="1717290"/>
            <a:ext cx="476958" cy="68022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FF964E-9A23-9C55-CCAA-20A87C64E0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 b="38835"/>
          <a:stretch>
            <a:fillRect/>
          </a:stretch>
        </p:blipFill>
        <p:spPr>
          <a:xfrm>
            <a:off x="0" y="1131151"/>
            <a:ext cx="4572000" cy="3146038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C1127CA9-783C-14EB-A3DD-B7F2E3EC4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4264985"/>
            <a:ext cx="4654844" cy="2251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Select INV_NUM, hold down the Ctrl key on the keyboard.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While holding Ctrl, click the row selector for LINE_NUM.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FCF9450-0B30-0FF4-3685-272C1140BAD7}"/>
              </a:ext>
            </a:extLst>
          </p:cNvPr>
          <p:cNvSpPr/>
          <p:nvPr/>
        </p:nvSpPr>
        <p:spPr>
          <a:xfrm>
            <a:off x="4654844" y="3462453"/>
            <a:ext cx="4388795" cy="96458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261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482A558-2112-BA07-94CA-D767D8F9C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B6BC2D-8BDD-2CB4-0D28-35FCA4CB83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9D4FD-34FC-26ED-5A04-99A3BEF646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B28B781-24AA-DE5A-A800-3674B34A1AF5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A82EEE-1D03-1FFA-4E4E-4A158D29DF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913721"/>
              </p:ext>
            </p:extLst>
          </p:nvPr>
        </p:nvGraphicFramePr>
        <p:xfrm>
          <a:off x="4654844" y="1131151"/>
          <a:ext cx="4388795" cy="577990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924375">
                  <a:extLst>
                    <a:ext uri="{9D8B030D-6E8A-4147-A177-3AD203B41FA5}">
                      <a16:colId xmlns:a16="http://schemas.microsoft.com/office/drawing/2014/main" val="3029210933"/>
                    </a:ext>
                  </a:extLst>
                </a:gridCol>
                <a:gridCol w="2464420">
                  <a:extLst>
                    <a:ext uri="{9D8B030D-6E8A-4147-A177-3AD203B41FA5}">
                      <a16:colId xmlns:a16="http://schemas.microsoft.com/office/drawing/2014/main" val="1934848403"/>
                    </a:ext>
                  </a:extLst>
                </a:gridCol>
              </a:tblGrid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Table</a:t>
                      </a:r>
                    </a:p>
                  </a:txBody>
                  <a:tcPr marL="82101" marR="82101" marT="41050" marB="4105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Primary Key Field</a:t>
                      </a:r>
                    </a:p>
                  </a:txBody>
                  <a:tcPr marL="82101" marR="82101" marT="41050" marB="4105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025564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LGCUSTOMER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Cust_Code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836616182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LGBRAND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Brand_ID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001173189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LGDEPARTMENT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Dept_Num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90180376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LGEMPLOYEE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Emp_Num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854831646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LGINVOICE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Inv_Num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400355638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LGLINE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(Composite Key: </a:t>
                      </a:r>
                      <a:r>
                        <a:rPr lang="en-US" sz="2000" dirty="0" err="1">
                          <a:latin typeface="Calibir"/>
                        </a:rPr>
                        <a:t>Inv_Num</a:t>
                      </a:r>
                      <a:r>
                        <a:rPr lang="en-US" sz="2000" dirty="0">
                          <a:latin typeface="Calibir"/>
                        </a:rPr>
                        <a:t> + </a:t>
                      </a:r>
                      <a:r>
                        <a:rPr lang="en-US" sz="2000" dirty="0" err="1">
                          <a:latin typeface="Calibir"/>
                        </a:rPr>
                        <a:t>Line_Num</a:t>
                      </a:r>
                      <a:r>
                        <a:rPr lang="en-US" sz="2000" dirty="0">
                          <a:latin typeface="Calibir"/>
                        </a:rPr>
                        <a:t>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966695041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LGPRODUCT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Prod_SKU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23929029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LGSALARY_HISTORY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(Composite Key: </a:t>
                      </a:r>
                      <a:r>
                        <a:rPr lang="en-US" sz="2000" dirty="0" err="1">
                          <a:latin typeface="Calibir"/>
                        </a:rPr>
                        <a:t>Emp_Num</a:t>
                      </a:r>
                      <a:r>
                        <a:rPr lang="en-US" sz="2000" dirty="0">
                          <a:latin typeface="Calibir"/>
                        </a:rPr>
                        <a:t> + </a:t>
                      </a:r>
                      <a:r>
                        <a:rPr lang="en-US" sz="2000" dirty="0" err="1">
                          <a:latin typeface="Calibir"/>
                        </a:rPr>
                        <a:t>Sal_From</a:t>
                      </a:r>
                      <a:r>
                        <a:rPr lang="en-US" sz="2000" dirty="0">
                          <a:latin typeface="Calibir"/>
                        </a:rPr>
                        <a:t>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367499309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LGSUPPLIES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(Composite Key: Vend_ID + Prod_SKU)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062470799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LGVENDOR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Vend_ID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4140716763"/>
                  </a:ext>
                </a:extLst>
              </a:tr>
            </a:tbl>
          </a:graphicData>
        </a:graphic>
      </p:graphicFrame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1C739F3-CCD5-63DB-FE76-9110F6E49118}"/>
              </a:ext>
            </a:extLst>
          </p:cNvPr>
          <p:cNvSpPr/>
          <p:nvPr/>
        </p:nvSpPr>
        <p:spPr>
          <a:xfrm>
            <a:off x="512956" y="1717290"/>
            <a:ext cx="476958" cy="68022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8F3EAB4-C493-44E5-5641-AFB4F3C31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4264985"/>
            <a:ext cx="4654844" cy="2251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Select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Emp_Num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, hold down the Ctrl key on the keyboard.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While holding Ctrl, click the row selector for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Sal_From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00F421-4F1C-66E8-FFCC-6FE071529B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 b="38425"/>
          <a:stretch>
            <a:fillRect/>
          </a:stretch>
        </p:blipFill>
        <p:spPr>
          <a:xfrm>
            <a:off x="0" y="1097892"/>
            <a:ext cx="4572000" cy="3167093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A2EF897-3B2B-4649-CC0A-EF8BF59A21BE}"/>
              </a:ext>
            </a:extLst>
          </p:cNvPr>
          <p:cNvSpPr/>
          <p:nvPr/>
        </p:nvSpPr>
        <p:spPr>
          <a:xfrm>
            <a:off x="4654844" y="4817327"/>
            <a:ext cx="4388795" cy="103706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510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410087E-CBC8-C8BF-079B-B3940BF17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FC5103-1E01-179E-FACA-2DE77E70C7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AD51F-AC31-4A92-1475-CA75BFD247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813CB86-B989-ECD0-3479-BC95A3FFF34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81497E-0353-1940-7C06-BACE4F05E11B}"/>
              </a:ext>
            </a:extLst>
          </p:cNvPr>
          <p:cNvGraphicFramePr>
            <a:graphicFrameLocks noGrp="1"/>
          </p:cNvGraphicFramePr>
          <p:nvPr/>
        </p:nvGraphicFramePr>
        <p:xfrm>
          <a:off x="4654844" y="1131151"/>
          <a:ext cx="4388795" cy="577990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924375">
                  <a:extLst>
                    <a:ext uri="{9D8B030D-6E8A-4147-A177-3AD203B41FA5}">
                      <a16:colId xmlns:a16="http://schemas.microsoft.com/office/drawing/2014/main" val="3029210933"/>
                    </a:ext>
                  </a:extLst>
                </a:gridCol>
                <a:gridCol w="2464420">
                  <a:extLst>
                    <a:ext uri="{9D8B030D-6E8A-4147-A177-3AD203B41FA5}">
                      <a16:colId xmlns:a16="http://schemas.microsoft.com/office/drawing/2014/main" val="1934848403"/>
                    </a:ext>
                  </a:extLst>
                </a:gridCol>
              </a:tblGrid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Table</a:t>
                      </a:r>
                    </a:p>
                  </a:txBody>
                  <a:tcPr marL="82101" marR="82101" marT="41050" marB="4105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Primary Key Field</a:t>
                      </a:r>
                    </a:p>
                  </a:txBody>
                  <a:tcPr marL="82101" marR="82101" marT="41050" marB="4105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025564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LGCUSTOMER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Cust_Code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836616182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LGBRAND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Brand_ID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001173189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LGDEPARTMENT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Dept_Num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90180376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LGEMPLOYEE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Emp_Num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854831646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LGINVOICE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Inv_Num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400355638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LGLINE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(Composite Key: </a:t>
                      </a:r>
                      <a:r>
                        <a:rPr lang="en-US" sz="2000" dirty="0" err="1">
                          <a:latin typeface="Calibir"/>
                        </a:rPr>
                        <a:t>Inv_Num</a:t>
                      </a:r>
                      <a:r>
                        <a:rPr lang="en-US" sz="2000" dirty="0">
                          <a:latin typeface="Calibir"/>
                        </a:rPr>
                        <a:t> + </a:t>
                      </a:r>
                      <a:r>
                        <a:rPr lang="en-US" sz="2000" dirty="0" err="1">
                          <a:latin typeface="Calibir"/>
                        </a:rPr>
                        <a:t>Line_Num</a:t>
                      </a:r>
                      <a:r>
                        <a:rPr lang="en-US" sz="2000" dirty="0">
                          <a:latin typeface="Calibir"/>
                        </a:rPr>
                        <a:t>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966695041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LGPRODUCT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Prod_SKU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23929029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LGSALARY_HISTORY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(Composite Key: </a:t>
                      </a:r>
                      <a:r>
                        <a:rPr lang="en-US" sz="2000" dirty="0" err="1">
                          <a:latin typeface="Calibir"/>
                        </a:rPr>
                        <a:t>Emp_Num</a:t>
                      </a:r>
                      <a:r>
                        <a:rPr lang="en-US" sz="2000" dirty="0">
                          <a:latin typeface="Calibir"/>
                        </a:rPr>
                        <a:t> + </a:t>
                      </a:r>
                      <a:r>
                        <a:rPr lang="en-US" sz="2000" dirty="0" err="1">
                          <a:latin typeface="Calibir"/>
                        </a:rPr>
                        <a:t>Sal_From</a:t>
                      </a:r>
                      <a:r>
                        <a:rPr lang="en-US" sz="2000" dirty="0">
                          <a:latin typeface="Calibir"/>
                        </a:rPr>
                        <a:t>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367499309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LGSUPPLIES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(Composite Key: Vend_ID + Prod_SKU)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062470799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LGVENDOR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Vend_ID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4140716763"/>
                  </a:ext>
                </a:extLst>
              </a:tr>
            </a:tbl>
          </a:graphicData>
        </a:graphic>
      </p:graphicFrame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C2FAD3E-6944-395D-467D-A9429DF177FA}"/>
              </a:ext>
            </a:extLst>
          </p:cNvPr>
          <p:cNvSpPr/>
          <p:nvPr/>
        </p:nvSpPr>
        <p:spPr>
          <a:xfrm>
            <a:off x="512956" y="1717290"/>
            <a:ext cx="476958" cy="68022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3B61C31-71AC-98F3-592C-99EB361F4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4264985"/>
            <a:ext cx="4654844" cy="2251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Select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Vend_ID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, hold down the Ctrl key on the keyboard.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While holding Ctrl, click the row selector for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Prod_SKU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D251773-44CC-AA71-0241-D68CD9EAE2E9}"/>
              </a:ext>
            </a:extLst>
          </p:cNvPr>
          <p:cNvSpPr/>
          <p:nvPr/>
        </p:nvSpPr>
        <p:spPr>
          <a:xfrm>
            <a:off x="4654844" y="5854390"/>
            <a:ext cx="4388795" cy="633779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517A8B-9522-6D09-068D-D652115CB6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906" b="38425"/>
          <a:stretch>
            <a:fillRect/>
          </a:stretch>
        </p:blipFill>
        <p:spPr>
          <a:xfrm>
            <a:off x="0" y="1131151"/>
            <a:ext cx="4489157" cy="316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2432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52408B5-0E11-3E35-19E0-A0420DDE2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F9497C-25F3-C3F4-7687-A0DE27ED7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5A889-FC90-E3E9-CDD0-290DBDE7E4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14EE0B0-01B5-0357-3308-47B85DFA0528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D56F9B-6F6A-DB56-7E61-556D1C81668D}"/>
              </a:ext>
            </a:extLst>
          </p:cNvPr>
          <p:cNvGraphicFramePr>
            <a:graphicFrameLocks noGrp="1"/>
          </p:cNvGraphicFramePr>
          <p:nvPr/>
        </p:nvGraphicFramePr>
        <p:xfrm>
          <a:off x="4654844" y="1131151"/>
          <a:ext cx="4388795" cy="577990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924375">
                  <a:extLst>
                    <a:ext uri="{9D8B030D-6E8A-4147-A177-3AD203B41FA5}">
                      <a16:colId xmlns:a16="http://schemas.microsoft.com/office/drawing/2014/main" val="3029210933"/>
                    </a:ext>
                  </a:extLst>
                </a:gridCol>
                <a:gridCol w="2464420">
                  <a:extLst>
                    <a:ext uri="{9D8B030D-6E8A-4147-A177-3AD203B41FA5}">
                      <a16:colId xmlns:a16="http://schemas.microsoft.com/office/drawing/2014/main" val="1934848403"/>
                    </a:ext>
                  </a:extLst>
                </a:gridCol>
              </a:tblGrid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Table</a:t>
                      </a:r>
                    </a:p>
                  </a:txBody>
                  <a:tcPr marL="82101" marR="82101" marT="41050" marB="4105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Primary Key Field</a:t>
                      </a:r>
                    </a:p>
                  </a:txBody>
                  <a:tcPr marL="82101" marR="82101" marT="41050" marB="4105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025564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LGCUSTOMER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Cust_Code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836616182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LGBRAND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Brand_ID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001173189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LGDEPARTMENT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Dept_Num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90180376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LGEMPLOYEE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Emp_Num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854831646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LGINVOICE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Inv_Num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400355638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LGLINE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(Composite Key: </a:t>
                      </a:r>
                      <a:r>
                        <a:rPr lang="en-US" sz="2000" dirty="0" err="1">
                          <a:latin typeface="Calibir"/>
                        </a:rPr>
                        <a:t>Inv_Num</a:t>
                      </a:r>
                      <a:r>
                        <a:rPr lang="en-US" sz="2000" dirty="0">
                          <a:latin typeface="Calibir"/>
                        </a:rPr>
                        <a:t> + </a:t>
                      </a:r>
                      <a:r>
                        <a:rPr lang="en-US" sz="2000" dirty="0" err="1">
                          <a:latin typeface="Calibir"/>
                        </a:rPr>
                        <a:t>Line_Num</a:t>
                      </a:r>
                      <a:r>
                        <a:rPr lang="en-US" sz="2000" dirty="0">
                          <a:latin typeface="Calibir"/>
                        </a:rPr>
                        <a:t>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966695041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LGPRODUCT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Prod_SKU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23929029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ir"/>
                        </a:rPr>
                        <a:t>LGSALARY_HISTORY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ir"/>
                        </a:rPr>
                        <a:t>(Composite Key: </a:t>
                      </a:r>
                      <a:r>
                        <a:rPr lang="en-US" sz="2000" dirty="0" err="1">
                          <a:latin typeface="Calibir"/>
                        </a:rPr>
                        <a:t>Emp_Num</a:t>
                      </a:r>
                      <a:r>
                        <a:rPr lang="en-US" sz="2000" dirty="0">
                          <a:latin typeface="Calibir"/>
                        </a:rPr>
                        <a:t> + </a:t>
                      </a:r>
                      <a:r>
                        <a:rPr lang="en-US" sz="2000" dirty="0" err="1">
                          <a:latin typeface="Calibir"/>
                        </a:rPr>
                        <a:t>Sal_From</a:t>
                      </a:r>
                      <a:r>
                        <a:rPr lang="en-US" sz="2000" dirty="0">
                          <a:latin typeface="Calibir"/>
                        </a:rPr>
                        <a:t>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367499309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LGSUPPLIES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ir"/>
                        </a:rPr>
                        <a:t>(Composite Key: Vend_ID + Prod_SKU)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062470799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ir"/>
                        </a:rPr>
                        <a:t>LGVENDOR</a:t>
                      </a:r>
                      <a:endParaRPr lang="en-US" sz="200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alibir"/>
                        </a:rPr>
                        <a:t>Vend_ID</a:t>
                      </a:r>
                      <a:endParaRPr lang="en-US" sz="2000" dirty="0">
                        <a:latin typeface="Calibir"/>
                      </a:endParaRP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4140716763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843C023C-0241-8691-07D4-52520CB25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0511"/>
            <a:ext cx="4654844" cy="1143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Once all finished, Ctrl + S to save it.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B656D2-E123-C02A-C1D0-55D42F0CE0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 b="12819"/>
          <a:stretch>
            <a:fillRect/>
          </a:stretch>
        </p:blipFill>
        <p:spPr>
          <a:xfrm>
            <a:off x="41422" y="1131151"/>
            <a:ext cx="4572000" cy="448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3148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09E60D0-F261-6449-473B-51A121ABF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CC239B-7530-62AF-65C9-BF6C0C012B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969D7-6B92-3805-C4FB-7602B5AE4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991E3D2-1684-BA54-CBFF-E9F8EBD6CE54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A4A56DB-D19A-7796-8E4F-BA1AB8821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8058"/>
            <a:ext cx="9144000" cy="1143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Databased Tools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  <a:sym typeface="Wingdings" panose="05000000000000000000" pitchFamily="2" charset="2"/>
              </a:rPr>
              <a:t> Relationships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Calibir"/>
              </a:rPr>
              <a:t>If you see the key is not showing, click design view on that table and Ctrl + S (to save the PK)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BA50A5-96C3-0312-65F9-2784A4A5B7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40"/>
          <a:stretch>
            <a:fillRect/>
          </a:stretch>
        </p:blipFill>
        <p:spPr>
          <a:xfrm>
            <a:off x="283159" y="2111128"/>
            <a:ext cx="8577681" cy="446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8833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EB4ECAE-4E25-B797-6306-E789F9FB8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99F111-6FFB-7E1F-BD21-800D1707AC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6B70C-42CC-3CAB-8CB4-0C468B15D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1F1AAD3-1C42-1F25-B0BF-C4E365D20ABC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49DFF1A-43C7-2FB0-6679-87A53AFBA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45057"/>
            <a:ext cx="9144000" cy="589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Now we should see this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Calibir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EBC7AD-2C41-167C-F1A7-A4C56331E1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022"/>
          <a:stretch>
            <a:fillRect/>
          </a:stretch>
        </p:blipFill>
        <p:spPr>
          <a:xfrm>
            <a:off x="0" y="1834129"/>
            <a:ext cx="9144000" cy="421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6571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FAF7550-BAC8-5D25-27AE-0928612B5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52A231-0F6F-014F-85F2-745FC6BFA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2F6F2-B3F6-C54E-2353-D59EE5C99C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56B3ED8-0221-3B0A-9FB6-B78E5D3F8EE3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8D5FB32-F371-6972-14D2-FB860A0E6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843899"/>
            <a:ext cx="9144000" cy="2692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Now that all Primary Keys (PKs) are set, we’re ready to rebuild all relationships cleanly and correctly.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Calibir"/>
              </a:rPr>
              <a:t>Close All other windows (tables or windows), and see only Relationships Window and Take a screenshot with Time and Windo of your computer/laptop at the bottom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7FFA1A-62B4-E7BB-78D7-31FE303527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604"/>
          <a:stretch>
            <a:fillRect/>
          </a:stretch>
        </p:blipFill>
        <p:spPr>
          <a:xfrm>
            <a:off x="1018114" y="3643674"/>
            <a:ext cx="7107770" cy="321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2498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03F2D6F-1D2D-2350-C789-B4D53946C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5F78EE-CB93-4D09-E5D9-EEED4CB6CA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52FEF-4DDF-A0A2-AC4F-A11D324A4F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7ED05D9-5D06-1A77-7E7F-8641A8B952FC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CBEE55A-4AD4-FBD4-470A-5004826B7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8058"/>
            <a:ext cx="9144000" cy="5196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LGINVOICE ↔ LGCUSTOMER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Purpose: Each invoice belongs to one customer.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Drag: </a:t>
            </a:r>
            <a:r>
              <a:rPr lang="en-US" sz="2800" dirty="0" err="1">
                <a:latin typeface="Calibir"/>
              </a:rPr>
              <a:t>LGINVOICE.Cust_Code</a:t>
            </a:r>
            <a:r>
              <a:rPr lang="en-US" sz="2800" dirty="0">
                <a:latin typeface="Calibir"/>
              </a:rPr>
              <a:t> → </a:t>
            </a:r>
            <a:r>
              <a:rPr lang="en-US" sz="2800" dirty="0" err="1">
                <a:latin typeface="Calibir"/>
              </a:rPr>
              <a:t>LGCUSTOMER.Cust_Code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Tick: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Enforce Referential Integrity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Cascade Update Related </a:t>
            </a:r>
            <a:br>
              <a:rPr lang="en-US" sz="2800" i="1" dirty="0">
                <a:latin typeface="Calibir"/>
              </a:rPr>
            </a:br>
            <a:r>
              <a:rPr lang="en-US" sz="2800" i="1" dirty="0">
                <a:latin typeface="Calibir"/>
              </a:rPr>
              <a:t>Fields (optional)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Click Create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165469-B618-1F3F-21AB-5BDF60BF49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322" t="20975" r="37701" b="39017"/>
          <a:stretch>
            <a:fillRect/>
          </a:stretch>
        </p:blipFill>
        <p:spPr>
          <a:xfrm>
            <a:off x="4850979" y="4172607"/>
            <a:ext cx="4293021" cy="268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9279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3B0973D-0172-4DB2-5057-466B898FC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8F54B1-3B45-0DD7-F772-810AA2B09E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4C41E-1E13-E9A8-F75E-4547ED58B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222EE68-7B44-6A0C-8E07-044CE642ED3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F1D615C-83C5-A1E1-F297-E0B665FAD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8058"/>
            <a:ext cx="9144000" cy="5196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LGINVOICE ↔ LGCUSTOMER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Purpose: Each invoice belongs to one customer.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Drag: </a:t>
            </a:r>
            <a:r>
              <a:rPr lang="en-US" sz="2800" dirty="0" err="1">
                <a:latin typeface="Calibir"/>
              </a:rPr>
              <a:t>LGINVOICE.Cust_Code</a:t>
            </a:r>
            <a:r>
              <a:rPr lang="en-US" sz="2800" dirty="0">
                <a:latin typeface="Calibir"/>
              </a:rPr>
              <a:t> → </a:t>
            </a:r>
            <a:r>
              <a:rPr lang="en-US" sz="2800" dirty="0" err="1">
                <a:latin typeface="Calibir"/>
              </a:rPr>
              <a:t>LGCUSTOMER.Cust_Code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Tick: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Enforce Referential Integrity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Cascade Update Related </a:t>
            </a:r>
            <a:br>
              <a:rPr lang="en-US" sz="2800" i="1" dirty="0">
                <a:latin typeface="Calibir"/>
              </a:rPr>
            </a:br>
            <a:r>
              <a:rPr lang="en-US" sz="2800" i="1" dirty="0">
                <a:latin typeface="Calibir"/>
              </a:rPr>
              <a:t>Fields (optional)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Click Create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04E259-2685-568A-87EF-48469AF5F1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862" t="20976" r="47816" b="38199"/>
          <a:stretch>
            <a:fillRect/>
          </a:stretch>
        </p:blipFill>
        <p:spPr>
          <a:xfrm>
            <a:off x="5304107" y="3507914"/>
            <a:ext cx="3839893" cy="335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19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B4DB0AE-0712-9047-ADEF-1A387C4F3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2F8D0F-52BB-D84D-0E4F-52A00FD4A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43562-EF3F-9080-2848-51CCE74DC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2D7B256-CE30-2C4F-6F9A-975FDCC6F374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6B03A2A-DB97-2789-8950-8382046F9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91223"/>
            <a:ext cx="9144000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LGINVOICE ↔ LGEMPLOYEE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Purpose: Each invoice is issued by one employee.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Drag: </a:t>
            </a:r>
            <a:r>
              <a:rPr lang="en-US" sz="2800" dirty="0" err="1">
                <a:latin typeface="Calibir"/>
              </a:rPr>
              <a:t>LGINVOICE.Employee_ID</a:t>
            </a:r>
            <a:r>
              <a:rPr lang="en-US" sz="2800" dirty="0">
                <a:latin typeface="Calibir"/>
              </a:rPr>
              <a:t> → </a:t>
            </a:r>
            <a:r>
              <a:rPr lang="en-US" sz="2800" dirty="0" err="1">
                <a:latin typeface="Calibir"/>
              </a:rPr>
              <a:t>LGEMPLOYEE.Emp_Num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Tick: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Enforce Referential Integrity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Cascade Update Related Fields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Click Create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173E51-D5CD-5111-2277-284CA8994F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56" t="20524" r="37471" b="48416"/>
          <a:stretch>
            <a:fillRect/>
          </a:stretch>
        </p:blipFill>
        <p:spPr>
          <a:xfrm>
            <a:off x="5456630" y="4287142"/>
            <a:ext cx="3687370" cy="255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7082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E359482-0668-79F8-3482-35E93B7C9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C442C3-EF7C-EFDF-0456-4607364C73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28D3A-5A04-F01E-28B8-613FCE0D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B79ECFD-9BFA-C52D-4D0C-E91A96C98FEA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4AB1593-7DAA-AE07-F24D-3D6A16208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91223"/>
            <a:ext cx="9144000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LGLINE ↔ LGINVOICE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Purpose: Each line item belongs to one invoice.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Drag: </a:t>
            </a:r>
            <a:r>
              <a:rPr lang="en-US" sz="2800" dirty="0" err="1">
                <a:latin typeface="Calibir"/>
              </a:rPr>
              <a:t>LGLINE.Inv_Num</a:t>
            </a:r>
            <a:r>
              <a:rPr lang="en-US" sz="2800" dirty="0">
                <a:latin typeface="Calibir"/>
              </a:rPr>
              <a:t> → </a:t>
            </a:r>
            <a:r>
              <a:rPr lang="en-US" sz="2800" dirty="0" err="1">
                <a:latin typeface="Calibir"/>
              </a:rPr>
              <a:t>LGINVOICE.Inv_Num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Tick: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Enforce Referential Integrity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Cascade Update Related Fields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Click Create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1E124E-5067-ABF4-9FB2-A5A5EB3403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471" t="21137" r="37931" b="48416"/>
          <a:stretch>
            <a:fillRect/>
          </a:stretch>
        </p:blipFill>
        <p:spPr>
          <a:xfrm>
            <a:off x="5454515" y="4267201"/>
            <a:ext cx="3721016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1978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B7F32A5-5EBB-53F6-FA1D-FE74405F7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1A2C6C-2DB0-FD86-D749-4230667F11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2928D-61AC-C56D-BF6E-8B97044611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E7AEBF6-D2EE-A7C1-7C42-1CA6F5776ADF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EF675BB-E835-CAFC-5840-CE5EB978A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91223"/>
            <a:ext cx="9144000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LGLINE ↔ LGPRODUCT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Purpose: Each line item refers to one product.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Drag: </a:t>
            </a:r>
            <a:r>
              <a:rPr lang="en-US" sz="2800" dirty="0" err="1">
                <a:latin typeface="Calibir"/>
              </a:rPr>
              <a:t>LGPRODUCT.Prod_SKU</a:t>
            </a:r>
            <a:r>
              <a:rPr lang="en-US" sz="2800" dirty="0">
                <a:latin typeface="Calibir"/>
              </a:rPr>
              <a:t> </a:t>
            </a:r>
            <a:r>
              <a:rPr lang="en-US" sz="28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800" dirty="0" err="1">
                <a:latin typeface="Calibir"/>
              </a:rPr>
              <a:t>LGLINE.Prod_SKU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Tick: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Enforce Referential Integrity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Cascade Update Related Fields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Click Create</a:t>
            </a:r>
          </a:p>
        </p:txBody>
      </p:sp>
    </p:spTree>
    <p:extLst>
      <p:ext uri="{BB962C8B-B14F-4D97-AF65-F5344CB8AC3E}">
        <p14:creationId xmlns:p14="http://schemas.microsoft.com/office/powerpoint/2010/main" val="42587340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3E5C1FC-DDFD-02E8-4114-B72345EDE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9FCE75-F484-FE7B-4B59-135B8D3E47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A79CC-DDA3-C3C5-E9AE-BEF59877E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C6E6E57-E324-6890-733B-9E249F7F5584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58C8173-9E9F-3AE4-A78F-3A45C230F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91223"/>
            <a:ext cx="9144000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LGPRODUCT ↔ LGBRAND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Purpose:</a:t>
            </a:r>
            <a:r>
              <a:rPr lang="en-US" sz="2800" dirty="0">
                <a:latin typeface="Calibir"/>
              </a:rPr>
              <a:t> Each product belongs to one brand.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Drag: </a:t>
            </a:r>
            <a:r>
              <a:rPr lang="en-US" sz="2800" b="1" dirty="0" err="1">
                <a:latin typeface="Calibir"/>
              </a:rPr>
              <a:t>LGPRODUCT.Brand_ID</a:t>
            </a:r>
            <a:r>
              <a:rPr lang="en-US" sz="2800" b="1" dirty="0">
                <a:latin typeface="Calibir"/>
              </a:rPr>
              <a:t> → </a:t>
            </a:r>
            <a:r>
              <a:rPr lang="en-US" sz="2800" b="1" dirty="0" err="1">
                <a:latin typeface="Calibir"/>
              </a:rPr>
              <a:t>LGBRAND.Brand_ID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Tick: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Enforce Referential Integrity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Cascade Update Related Fields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Click Create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9AF81F-00C6-CF9E-4C42-7DB9366281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816" t="20728" r="38046" b="48212"/>
          <a:stretch>
            <a:fillRect/>
          </a:stretch>
        </p:blipFill>
        <p:spPr>
          <a:xfrm>
            <a:off x="5419396" y="4162097"/>
            <a:ext cx="3724604" cy="269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4959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3AEA9E4-593B-2AD5-3B7C-9A6835952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9AD475-E141-606C-FCB0-7C0781D06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6D506-6E6D-341D-628A-533F144224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C12C731-8ACB-AC18-7917-95D280EB6897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0C465F1-7669-DF08-BE9E-E5C2524C7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91223"/>
            <a:ext cx="9144000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LGSUPPLIES ↔ LGVENDOR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Purpose: </a:t>
            </a:r>
            <a:r>
              <a:rPr lang="en-US" sz="2800" dirty="0">
                <a:latin typeface="Calibir"/>
              </a:rPr>
              <a:t>Each record shows which vendor supplies a product.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Drag: </a:t>
            </a:r>
            <a:r>
              <a:rPr lang="en-US" sz="2800" dirty="0" err="1">
                <a:latin typeface="Calibir"/>
              </a:rPr>
              <a:t>LGSUPPLIES.Vend_ID</a:t>
            </a:r>
            <a:r>
              <a:rPr lang="en-US" sz="2800" dirty="0">
                <a:latin typeface="Calibir"/>
              </a:rPr>
              <a:t> → </a:t>
            </a:r>
            <a:r>
              <a:rPr lang="en-US" sz="2800" dirty="0" err="1">
                <a:latin typeface="Calibir"/>
              </a:rPr>
              <a:t>LGVENDOR.Vend_ID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Tick: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Enforce Referential Integrity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Cascade Update Related Fields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Click Create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86EF86-35B6-97F5-2AF1-8D7A77747D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56" t="20728" r="37357" b="48416"/>
          <a:stretch>
            <a:fillRect/>
          </a:stretch>
        </p:blipFill>
        <p:spPr>
          <a:xfrm>
            <a:off x="5507421" y="4361985"/>
            <a:ext cx="3636579" cy="249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270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D4F473E-1E3F-5F31-C16F-10AB9289B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04CF6D-0259-E272-DF57-BC501F8BC2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288FA-5959-3E11-FEFA-978F3A79D6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536F1BA-996B-F62F-E58D-41A78F482429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5CAAC4E-9FEC-D9C3-F103-3E2A405C8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91223"/>
            <a:ext cx="9144000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LGSUPPLIES ↔ LGPRODUCT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Purpose:</a:t>
            </a:r>
            <a:r>
              <a:rPr lang="en-US" sz="2800" dirty="0">
                <a:latin typeface="Calibir"/>
              </a:rPr>
              <a:t> Each record also links to the product being supplied.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Drag: </a:t>
            </a:r>
            <a:r>
              <a:rPr lang="en-US" sz="2800" b="1" dirty="0" err="1">
                <a:latin typeface="Calibir"/>
              </a:rPr>
              <a:t>LGSUPPLIES.Prod_SKU</a:t>
            </a:r>
            <a:r>
              <a:rPr lang="en-US" sz="2800" b="1" dirty="0">
                <a:latin typeface="Calibir"/>
              </a:rPr>
              <a:t> → </a:t>
            </a:r>
            <a:r>
              <a:rPr lang="en-US" sz="2800" b="1" dirty="0" err="1">
                <a:latin typeface="Calibir"/>
              </a:rPr>
              <a:t>LGPRODUCT.Prod_SKU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Tick: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Enforce Referential Integrity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Cascade Update Related Fields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Click Create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A4402A-8FF2-308A-82F8-9F9AD1E504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701" t="20524" r="37816" b="48212"/>
          <a:stretch>
            <a:fillRect/>
          </a:stretch>
        </p:blipFill>
        <p:spPr>
          <a:xfrm>
            <a:off x="5518445" y="4246179"/>
            <a:ext cx="3636065" cy="261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5561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727E567-431B-63EB-0778-0EFE6B55A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9EAD2D-F418-D5C6-24F5-68D84F393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1A5F4-E09F-0DDF-53DA-B4D4537A2E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1CA2FC5-C4E2-21B2-C395-67C48B403D36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48FBFF7-FDCE-C608-FFCE-376CC4399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91223"/>
            <a:ext cx="9144000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LGEMPLOYEE ↔ LGDEPARTMENT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Purpose: Each employee works in one department.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Drag: </a:t>
            </a:r>
            <a:r>
              <a:rPr lang="en-US" sz="2800" dirty="0" err="1">
                <a:latin typeface="Calibir"/>
              </a:rPr>
              <a:t>LGEMPLOYEE.Dept_Num</a:t>
            </a:r>
            <a:r>
              <a:rPr lang="en-US" sz="2800" dirty="0">
                <a:latin typeface="Calibir"/>
              </a:rPr>
              <a:t> → </a:t>
            </a:r>
            <a:r>
              <a:rPr lang="en-US" sz="2800" dirty="0" err="1">
                <a:latin typeface="Calibir"/>
              </a:rPr>
              <a:t>LGDEPARTMENT.Dept_Num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Tick: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Enforce Referential Integrity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Cascade Update Related Fields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Click Create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8A9DAD-311C-691C-A987-5386A7200B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701" t="21137" r="37586" b="50000"/>
          <a:stretch>
            <a:fillRect/>
          </a:stretch>
        </p:blipFill>
        <p:spPr>
          <a:xfrm>
            <a:off x="5536440" y="4487917"/>
            <a:ext cx="3607560" cy="237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075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58A10A5-D147-84B8-E146-A2938AA59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DE09E5-496B-F2C0-7841-F9D2C2F2F8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FD610-61CE-EE42-8FD2-712C056DC8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21F5B4D-CB08-1DA5-7916-CF44F16E7B80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73B9D70-6788-E822-653E-FE816C82D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8058"/>
            <a:ext cx="9144000" cy="5196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LGSALARY_HISTORY ↔ LGEMPLOYEE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Purpose: Each salary record belongs to one employee.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Drag: </a:t>
            </a:r>
            <a:r>
              <a:rPr lang="en-US" sz="2800" dirty="0" err="1">
                <a:latin typeface="Calibir"/>
              </a:rPr>
              <a:t>LGSALARY_HISTORY.Emp_Num</a:t>
            </a:r>
            <a:r>
              <a:rPr lang="en-US" sz="2800" dirty="0">
                <a:latin typeface="Calibir"/>
              </a:rPr>
              <a:t> → </a:t>
            </a:r>
            <a:r>
              <a:rPr lang="en-US" sz="2800" dirty="0" err="1">
                <a:latin typeface="Calibir"/>
              </a:rPr>
              <a:t>LGEMPLOYEE.Emp_Num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Tick: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Enforce Referential Integrity</a:t>
            </a:r>
            <a:endParaRPr lang="fa-IR" sz="2800" i="1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latin typeface="Calibir"/>
              </a:rPr>
              <a:t>Cascade Update Related Fields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Click Create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F91417-7D8A-E508-7789-5102B9784F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701" t="21341" r="38161" b="48212"/>
          <a:stretch>
            <a:fillRect/>
          </a:stretch>
        </p:blipFill>
        <p:spPr>
          <a:xfrm>
            <a:off x="5465379" y="4247930"/>
            <a:ext cx="3678621" cy="261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7233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FD54456-A46A-CADF-7274-FC9ED47BE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64A3BB-A4C2-00C6-7AB6-B13BBED8F3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D9CE0-5D7D-2603-D9AC-F18AA88936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4D68BED-B61A-C091-02A7-4B9F376B89F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8BF9589-64CF-E883-4A17-01A705BD6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8058"/>
            <a:ext cx="9144000" cy="3903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Save and Verify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Click Save Layout (</a:t>
            </a:r>
            <a:r>
              <a:rPr lang="en-US" sz="2800" dirty="0" err="1">
                <a:latin typeface="Calibir"/>
              </a:rPr>
              <a:t>Ctrl+S</a:t>
            </a:r>
            <a:r>
              <a:rPr lang="en-US" sz="2800" dirty="0">
                <a:latin typeface="Calibir"/>
              </a:rPr>
              <a:t>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You should now see all relationship lines with 1–∞ symbols.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Close the 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window.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5B1D0D-C8FA-F19B-8CAE-B3064C495B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092" t="20976" r="12644" b="12043"/>
          <a:stretch>
            <a:fillRect/>
          </a:stretch>
        </p:blipFill>
        <p:spPr>
          <a:xfrm>
            <a:off x="2638097" y="2856938"/>
            <a:ext cx="6505903" cy="400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1282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59CDDBC-BA08-4E56-65B8-8FBA73AD9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81366D-ACCB-8666-4807-C57683071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D13B8-5AFB-48ED-7BB7-C6689BDE1C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00F07D7-3E1C-3CAC-9BEE-6574B39C4B02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B6DA2C-7BDB-EAE6-057A-A9CE3E1DD3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682716"/>
              </p:ext>
            </p:extLst>
          </p:nvPr>
        </p:nvGraphicFramePr>
        <p:xfrm>
          <a:off x="161692" y="2069624"/>
          <a:ext cx="8820615" cy="333928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282391">
                  <a:extLst>
                    <a:ext uri="{9D8B030D-6E8A-4147-A177-3AD203B41FA5}">
                      <a16:colId xmlns:a16="http://schemas.microsoft.com/office/drawing/2014/main" val="3851823202"/>
                    </a:ext>
                  </a:extLst>
                </a:gridCol>
                <a:gridCol w="2051824">
                  <a:extLst>
                    <a:ext uri="{9D8B030D-6E8A-4147-A177-3AD203B41FA5}">
                      <a16:colId xmlns:a16="http://schemas.microsoft.com/office/drawing/2014/main" val="3828465692"/>
                    </a:ext>
                  </a:extLst>
                </a:gridCol>
                <a:gridCol w="1622503">
                  <a:extLst>
                    <a:ext uri="{9D8B030D-6E8A-4147-A177-3AD203B41FA5}">
                      <a16:colId xmlns:a16="http://schemas.microsoft.com/office/drawing/2014/main" val="4056478516"/>
                    </a:ext>
                  </a:extLst>
                </a:gridCol>
                <a:gridCol w="1789770">
                  <a:extLst>
                    <a:ext uri="{9D8B030D-6E8A-4147-A177-3AD203B41FA5}">
                      <a16:colId xmlns:a16="http://schemas.microsoft.com/office/drawing/2014/main" val="780147630"/>
                    </a:ext>
                  </a:extLst>
                </a:gridCol>
                <a:gridCol w="1248937">
                  <a:extLst>
                    <a:ext uri="{9D8B030D-6E8A-4147-A177-3AD203B41FA5}">
                      <a16:colId xmlns:a16="http://schemas.microsoft.com/office/drawing/2014/main" val="413904290"/>
                    </a:ext>
                  </a:extLst>
                </a:gridCol>
                <a:gridCol w="825190">
                  <a:extLst>
                    <a:ext uri="{9D8B030D-6E8A-4147-A177-3AD203B41FA5}">
                      <a16:colId xmlns:a16="http://schemas.microsoft.com/office/drawing/2014/main" val="21471768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ir"/>
                        </a:rPr>
                        <a:t>Relationship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ir"/>
                        </a:rPr>
                        <a:t>From Table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Field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To Table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Field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Type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3706694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1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ir"/>
                        </a:rPr>
                        <a:t>LGINVOICE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Cust_Code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LGCUSTOMER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Cust_Code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ir"/>
                        </a:rPr>
                        <a:t>1–∞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2837997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2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LGINVOICE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Employee_ID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LGEMPLOYEE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Emp_Num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1–∞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2199578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3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LGLINE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Inv_Num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ir"/>
                        </a:rPr>
                        <a:t>LGINVOICE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Inv_Num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1–∞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2371250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4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LGLINE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Prod_SKU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LGPRODUCT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Calibir"/>
                        </a:rPr>
                        <a:t>Prod_SKU</a:t>
                      </a:r>
                      <a:endParaRPr lang="en-US" sz="1800" dirty="0">
                        <a:latin typeface="Calibir"/>
                      </a:endParaRP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1–∞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3531890144"/>
                  </a:ext>
                </a:extLst>
              </a:tr>
              <a:tr h="213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5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LGPRODUCT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Brand_ID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LGBRAND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Calibir"/>
                        </a:rPr>
                        <a:t>Brand_ID</a:t>
                      </a:r>
                      <a:endParaRPr lang="en-US" sz="1800" dirty="0">
                        <a:latin typeface="Calibir"/>
                      </a:endParaRP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ir"/>
                        </a:rPr>
                        <a:t>1–∞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845638787"/>
                  </a:ext>
                </a:extLst>
              </a:tr>
              <a:tr h="258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6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LGSUPPLIES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Vend_ID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LGVENDOR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Vend_ID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ir"/>
                        </a:rPr>
                        <a:t>1–∞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127144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7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LGSUPPLIES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Prod_SKU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LGPRODUCT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Prod_SKU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ir"/>
                        </a:rPr>
                        <a:t>1–∞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3708248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8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LGEMPLOYEE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Dept_Num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LGDEPARTMENT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Dept_Num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1–∞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2129995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9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LGSALARY_HISTORY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Emp_Num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LGEMPLOYEE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Emp_Num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ir"/>
                        </a:rPr>
                        <a:t>1–∞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652201114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FE2B86D4-432D-2DD0-0BC8-6C3D7B2F7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39277"/>
            <a:ext cx="35605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Visual Check Summary</a:t>
            </a:r>
          </a:p>
        </p:txBody>
      </p:sp>
    </p:spTree>
    <p:extLst>
      <p:ext uri="{BB962C8B-B14F-4D97-AF65-F5344CB8AC3E}">
        <p14:creationId xmlns:p14="http://schemas.microsoft.com/office/powerpoint/2010/main" val="33943543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2A6CE19-183C-B110-2E47-874000989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8F70D6-4535-4B72-F8BA-A485E688C1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E6D87-1244-53E1-EA32-16929CE311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09E3767-72BF-A88B-A6AF-5095E73AC6CA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5D45227-48F0-69E2-7132-17AEA4E3C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733" y="968058"/>
            <a:ext cx="9163465" cy="3903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4: Create queries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Go to Create → Query Design or SQL View.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Clarification: </a:t>
            </a:r>
            <a:r>
              <a:rPr lang="en-US" sz="2800" dirty="0">
                <a:latin typeface="Calibir"/>
              </a:rPr>
              <a:t>Query Design is easier for beginners. SQL View is faster if you know the code.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name must match the question number (e.g., Query 1, Query 2, …, Query 15)</a:t>
            </a:r>
          </a:p>
        </p:txBody>
      </p:sp>
    </p:spTree>
    <p:extLst>
      <p:ext uri="{BB962C8B-B14F-4D97-AF65-F5344CB8AC3E}">
        <p14:creationId xmlns:p14="http://schemas.microsoft.com/office/powerpoint/2010/main" val="4555393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D539639-4A65-2E78-E319-ACE7BBBA7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062F87-4BED-AE47-A721-E27C2401FE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0197E-1A1D-71CC-A0D5-6CF9FB1E1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84A92C6-E909-FC97-463B-782A8C1BA1D6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84132DF-F84E-BAB5-8855-39D716066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8395" y="929277"/>
            <a:ext cx="9163465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Let’s do Query 1 to 5 together - Query 1) Find customers who have not placed any invoices.</a:t>
            </a:r>
            <a:endParaRPr lang="en-US" sz="2800" dirty="0">
              <a:latin typeface="Calibi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BAFDE4-49C8-4202-6855-41AE39F53CC1}"/>
              </a:ext>
            </a:extLst>
          </p:cNvPr>
          <p:cNvSpPr txBox="1"/>
          <p:nvPr/>
        </p:nvSpPr>
        <p:spPr>
          <a:xfrm>
            <a:off x="19465" y="5060984"/>
            <a:ext cx="9144000" cy="176394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Calibir"/>
              </a:rPr>
              <a:t>Clarification: </a:t>
            </a:r>
            <a:r>
              <a:rPr lang="en-US" sz="2500" dirty="0">
                <a:latin typeface="Calibir"/>
              </a:rPr>
              <a:t>This uses a LEFT JOIN to show customers even if they have no invoice. The IS NULL part finds customers with no matching invoice.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026F7E-9420-8342-5D44-6934CB6900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932"/>
          <a:stretch>
            <a:fillRect/>
          </a:stretch>
        </p:blipFill>
        <p:spPr>
          <a:xfrm>
            <a:off x="38930" y="2190029"/>
            <a:ext cx="8291031" cy="304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1452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E722F47-1BD3-DCB7-B6D0-3C7BF5C54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0DCD89-50DF-1EB3-AA58-0E3995B5E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79601-83EB-9151-820F-2F268B6180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16E935A-3615-8F28-FD62-9127B6B7CB90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C0CF02-D741-30F5-B157-8649BD9F801A}"/>
              </a:ext>
            </a:extLst>
          </p:cNvPr>
          <p:cNvSpPr txBox="1"/>
          <p:nvPr/>
        </p:nvSpPr>
        <p:spPr>
          <a:xfrm>
            <a:off x="0" y="968058"/>
            <a:ext cx="898788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chooses the customer code, first name, last name, and state.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FROM LGCUSTOMER</a:t>
            </a:r>
            <a:br>
              <a:rPr lang="en-US" sz="2800" dirty="0">
                <a:highlight>
                  <a:srgbClr val="FFFF00"/>
                </a:highlight>
                <a:latin typeface="Calibir"/>
              </a:rPr>
            </a:br>
            <a:r>
              <a:rPr lang="en-US" sz="2800" dirty="0">
                <a:highlight>
                  <a:srgbClr val="FFFF00"/>
                </a:highlight>
                <a:latin typeface="Calibir"/>
              </a:rPr>
              <a:t>LEFT JOIN LGINVOICE</a:t>
            </a:r>
            <a:br>
              <a:rPr lang="en-US" sz="2800" dirty="0">
                <a:highlight>
                  <a:srgbClr val="FFFF00"/>
                </a:highlight>
                <a:latin typeface="Calibir"/>
              </a:rPr>
            </a:br>
            <a:r>
              <a:rPr lang="en-US" sz="2800" dirty="0">
                <a:highlight>
                  <a:srgbClr val="FFFF00"/>
                </a:highlight>
                <a:latin typeface="Calibir"/>
              </a:rPr>
              <a:t>ON LGCUSTOMER.CUST_CODE = LGINVOICE.CUST_CODE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connects customers to invoices.</a:t>
            </a:r>
          </a:p>
        </p:txBody>
      </p:sp>
    </p:spTree>
    <p:extLst>
      <p:ext uri="{BB962C8B-B14F-4D97-AF65-F5344CB8AC3E}">
        <p14:creationId xmlns:p14="http://schemas.microsoft.com/office/powerpoint/2010/main" val="10744057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4C81CE3-F7E1-A97A-7144-5FEF56F88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0595E7-3D79-C1C6-A736-1921A3DC3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5F4A7-5114-2B1C-3C55-37308E4B74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FE5C133-32A0-BB23-64B8-0F1D31BF72A5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5B82F6-7579-3466-4ADB-5A5A539D6B43}"/>
              </a:ext>
            </a:extLst>
          </p:cNvPr>
          <p:cNvSpPr txBox="1"/>
          <p:nvPr/>
        </p:nvSpPr>
        <p:spPr>
          <a:xfrm>
            <a:off x="0" y="968058"/>
            <a:ext cx="8987882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LEFT JOIN keeps all customers, even customers with no invoice.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WHERE LGINVOICE.INV_NUM IS NULL;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finds customers where no invoice exists.</a:t>
            </a:r>
          </a:p>
        </p:txBody>
      </p:sp>
    </p:spTree>
    <p:extLst>
      <p:ext uri="{BB962C8B-B14F-4D97-AF65-F5344CB8AC3E}">
        <p14:creationId xmlns:p14="http://schemas.microsoft.com/office/powerpoint/2010/main" val="8501412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71A2618-7283-6FB8-2F3A-7E73A5AF2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CE21C9-6DB1-AA68-3CC6-A246FD264C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14467-12E0-DB85-79F7-AB296F1B5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5A6D99E-E93B-28B1-85F5-01256479495A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8A385B7-BE50-BA30-536F-0C4546DE1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8395" y="1051647"/>
            <a:ext cx="9163465" cy="609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Calibir"/>
              </a:rPr>
              <a:t>Query 1) Find customers who have not placed any invoices.</a:t>
            </a:r>
            <a:endParaRPr lang="en-US" sz="2500" dirty="0">
              <a:latin typeface="Calibir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F05EDB-EEC2-F6FC-B9BE-7E230C5C73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585" b="35799"/>
          <a:stretch>
            <a:fillRect/>
          </a:stretch>
        </p:blipFill>
        <p:spPr>
          <a:xfrm>
            <a:off x="648505" y="1618573"/>
            <a:ext cx="7749663" cy="523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5596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8FD02F6-D339-DC1C-CD25-0CBC717C3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EE3B86-435C-2AB8-FAA8-91A6CC3C07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A08C0-29B0-4438-60B2-6A8C64C9F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7ADB208-B1D4-9F6F-EC87-1653DCD39FAB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83C4D72-FD28-30CC-BC63-9F23CDF60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930" y="748537"/>
            <a:ext cx="9163465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Query 2) Find all vendors located in VT or VA whose ZIP code starts with 05.</a:t>
            </a:r>
            <a:endParaRPr lang="en-US" sz="2800" dirty="0">
              <a:latin typeface="Calibi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AF24EF-CC4C-1EAF-AAD3-F9308F477616}"/>
              </a:ext>
            </a:extLst>
          </p:cNvPr>
          <p:cNvSpPr txBox="1"/>
          <p:nvPr/>
        </p:nvSpPr>
        <p:spPr>
          <a:xfrm>
            <a:off x="0" y="5539819"/>
            <a:ext cx="9144000" cy="131818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Clarification: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LIKE '05*' means the ZIP code begins with 05.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A75D79-8139-8E9C-9ED0-148F4FCF6D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1464"/>
          <a:stretch>
            <a:fillRect/>
          </a:stretch>
        </p:blipFill>
        <p:spPr>
          <a:xfrm>
            <a:off x="0" y="2095035"/>
            <a:ext cx="9144000" cy="352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3269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B6D6B5E-C504-7C09-A40E-463F7D253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811508-DC6E-0B8A-EF74-DD5B0CD53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4EF99-ACAA-1708-54B0-C7B40144F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9A15FDF-5B06-93CF-15D4-2242B921179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EA68AA-8961-2238-4A60-3C05FB53F3D5}"/>
              </a:ext>
            </a:extLst>
          </p:cNvPr>
          <p:cNvSpPr txBox="1"/>
          <p:nvPr/>
        </p:nvSpPr>
        <p:spPr>
          <a:xfrm>
            <a:off x="0" y="1141181"/>
            <a:ext cx="8987882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Query 2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SELECT *</a:t>
            </a:r>
            <a:br>
              <a:rPr lang="en-US" sz="2800" dirty="0">
                <a:highlight>
                  <a:srgbClr val="FFFF00"/>
                </a:highlight>
                <a:latin typeface="Calibir"/>
              </a:rPr>
            </a:br>
            <a:r>
              <a:rPr lang="en-US" sz="2800" dirty="0">
                <a:highlight>
                  <a:srgbClr val="FFFF00"/>
                </a:highlight>
                <a:latin typeface="Calibir"/>
              </a:rPr>
              <a:t>FROM LGVENDOR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shows all columns from the vendor table.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WHERE (VEND_STATE = 'VT' OR VEND_STATE = 'VA')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finds vendors in Vermont or Virginia.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AND VEND_ZIP LIKE '05*';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only keeps vendors whose ZIP code starts with 05.</a:t>
            </a:r>
          </a:p>
        </p:txBody>
      </p:sp>
    </p:spTree>
    <p:extLst>
      <p:ext uri="{BB962C8B-B14F-4D97-AF65-F5344CB8AC3E}">
        <p14:creationId xmlns:p14="http://schemas.microsoft.com/office/powerpoint/2010/main" val="9390454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D0D7212-4099-01F1-1B60-52A2D02BD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15D2C8-2DC0-376E-3790-AB4E2788B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F3854-5FCC-455E-5F75-89BF93154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5A8C290-F1D6-D4E0-F8DA-CADD6D782C60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7F625B-3BB0-81EA-2A31-28CB80871E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1233"/>
          <a:stretch>
            <a:fillRect/>
          </a:stretch>
        </p:blipFill>
        <p:spPr>
          <a:xfrm>
            <a:off x="0" y="1269140"/>
            <a:ext cx="9144000" cy="353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4321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B82647A-170C-93C3-ACC1-8766434BC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4F6A4A-37A0-326A-B2F2-4790CC8CBB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99E69-D949-B213-F4E8-67C807571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2C0B444-A103-B7D2-1315-A6EE20A6B1B7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C4CD1B-C37A-FC72-61E9-1003D8BC1B1B}"/>
              </a:ext>
            </a:extLst>
          </p:cNvPr>
          <p:cNvSpPr txBox="1"/>
          <p:nvPr/>
        </p:nvSpPr>
        <p:spPr>
          <a:xfrm>
            <a:off x="0" y="5539819"/>
            <a:ext cx="9144000" cy="131542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Clarification: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&lt;&gt; 'VT' means “not equal to VT”.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2CA048-D0D6-C14C-5DD3-BB44DFF72532}"/>
              </a:ext>
            </a:extLst>
          </p:cNvPr>
          <p:cNvSpPr txBox="1"/>
          <p:nvPr/>
        </p:nvSpPr>
        <p:spPr>
          <a:xfrm>
            <a:off x="0" y="1138229"/>
            <a:ext cx="9144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Query 3) Display customers whose last name starts with M, B, or N and who live outside VT.</a:t>
            </a:r>
            <a:endParaRPr lang="en-US" sz="2800" dirty="0">
              <a:latin typeface="Calibir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EDC965-E143-6527-311C-FCC180821C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8645"/>
          <a:stretch>
            <a:fillRect/>
          </a:stretch>
        </p:blipFill>
        <p:spPr>
          <a:xfrm>
            <a:off x="0" y="2355000"/>
            <a:ext cx="8318810" cy="333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85414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AD06AAF-96C7-91BD-8701-99AA95CE9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3AC4B4-4C40-6F4B-86FD-4F46367BD0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AAC2D-EEBA-69C6-B82D-46B17A279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B23113E-8098-354A-256A-04C304CC7133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2CA022-9533-8556-38C4-6385F5DBABCC}"/>
              </a:ext>
            </a:extLst>
          </p:cNvPr>
          <p:cNvSpPr txBox="1"/>
          <p:nvPr/>
        </p:nvSpPr>
        <p:spPr>
          <a:xfrm>
            <a:off x="0" y="968058"/>
            <a:ext cx="9144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Query 3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SELECT *</a:t>
            </a:r>
            <a:br>
              <a:rPr lang="en-US" sz="2800" dirty="0">
                <a:highlight>
                  <a:srgbClr val="FFFF00"/>
                </a:highlight>
                <a:latin typeface="Calibir"/>
              </a:rPr>
            </a:br>
            <a:r>
              <a:rPr lang="en-US" sz="2800" dirty="0">
                <a:highlight>
                  <a:srgbClr val="FFFF00"/>
                </a:highlight>
                <a:latin typeface="Calibir"/>
              </a:rPr>
              <a:t>FROM LGCUSTOMER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shows all customer details.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WHERE (CUST_LNAME LIKE 'M*'</a:t>
            </a:r>
            <a:br>
              <a:rPr lang="en-US" sz="2800" dirty="0">
                <a:highlight>
                  <a:srgbClr val="FFFF00"/>
                </a:highlight>
                <a:latin typeface="Calibir"/>
              </a:rPr>
            </a:br>
            <a:r>
              <a:rPr lang="en-US" sz="2800" dirty="0">
                <a:highlight>
                  <a:srgbClr val="FFFF00"/>
                </a:highlight>
                <a:latin typeface="Calibir"/>
              </a:rPr>
              <a:t>OR CUST_LNAME LIKE 'B*'</a:t>
            </a:r>
            <a:br>
              <a:rPr lang="en-US" sz="2800" dirty="0">
                <a:highlight>
                  <a:srgbClr val="FFFF00"/>
                </a:highlight>
                <a:latin typeface="Calibir"/>
              </a:rPr>
            </a:br>
            <a:r>
              <a:rPr lang="en-US" sz="2800" dirty="0">
                <a:highlight>
                  <a:srgbClr val="FFFF00"/>
                </a:highlight>
                <a:latin typeface="Calibir"/>
              </a:rPr>
              <a:t>OR CUST_LNAME LIKE 'N*')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finds last names starting with M, B, or N.</a:t>
            </a:r>
          </a:p>
        </p:txBody>
      </p:sp>
    </p:spTree>
    <p:extLst>
      <p:ext uri="{BB962C8B-B14F-4D97-AF65-F5344CB8AC3E}">
        <p14:creationId xmlns:p14="http://schemas.microsoft.com/office/powerpoint/2010/main" val="8725101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3D2AFB5-25BD-9B4C-DB17-B9DC822E6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BC6F89-F107-824E-7D31-8560966747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8D603-0D8D-76EC-B66F-45E4CFF44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017A554-3425-2E28-3112-BCD2795ED692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BA56E8-C31D-8046-848F-E296E046BEA5}"/>
              </a:ext>
            </a:extLst>
          </p:cNvPr>
          <p:cNvSpPr txBox="1"/>
          <p:nvPr/>
        </p:nvSpPr>
        <p:spPr>
          <a:xfrm>
            <a:off x="0" y="968058"/>
            <a:ext cx="9144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AND CUST_STATE &lt;&gt; 'VT';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removes customers who live in VT.</a:t>
            </a:r>
          </a:p>
        </p:txBody>
      </p:sp>
    </p:spTree>
    <p:extLst>
      <p:ext uri="{BB962C8B-B14F-4D97-AF65-F5344CB8AC3E}">
        <p14:creationId xmlns:p14="http://schemas.microsoft.com/office/powerpoint/2010/main" val="11762053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E0FDD6E-AA42-F68F-3755-8D531DF5E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D8C527-9F4F-1AA9-852F-83A9B2C2E9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F5BA5-2B85-59C0-F564-D57ADB9E9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97B9D7C-3970-8BCB-66BD-E9408427F264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7C99DC-D08D-C733-C172-6C1A8BE25B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8428"/>
          <a:stretch>
            <a:fillRect/>
          </a:stretch>
        </p:blipFill>
        <p:spPr>
          <a:xfrm>
            <a:off x="0" y="1588352"/>
            <a:ext cx="9144000" cy="368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5964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B563DC4-28F6-CC21-08D2-167146F36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0858EA-EBE6-114E-F1F9-2EF7BD45D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4F262-C7A4-737B-91E1-7A6BB756F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01D692F-0455-7A9F-0C22-1B6D1E5C001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DC2EEC-8C4C-10AF-2C09-A535084AA3D6}"/>
              </a:ext>
            </a:extLst>
          </p:cNvPr>
          <p:cNvSpPr txBox="1"/>
          <p:nvPr/>
        </p:nvSpPr>
        <p:spPr>
          <a:xfrm>
            <a:off x="0" y="5539819"/>
            <a:ext cx="9144000" cy="131818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Clarification: </a:t>
            </a:r>
            <a:r>
              <a:rPr lang="en-US" sz="2800" dirty="0">
                <a:latin typeface="Calibir"/>
              </a:rPr>
              <a:t>*SERVICE* means the word SERVICE can appear anywhere in the department name.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5C9966-ADBA-BBF4-653C-DB8AF4699CAC}"/>
              </a:ext>
            </a:extLst>
          </p:cNvPr>
          <p:cNvSpPr txBox="1"/>
          <p:nvPr/>
        </p:nvSpPr>
        <p:spPr>
          <a:xfrm>
            <a:off x="0" y="833532"/>
            <a:ext cx="9144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Query 4) Show departments whose name contains SERVICE or SALES and phone number starts with 555.</a:t>
            </a:r>
            <a:endParaRPr lang="en-US" sz="2800" dirty="0">
              <a:latin typeface="Calibir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2A2BCE-FF2A-EF00-1EA4-97BA9D7475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6910"/>
          <a:stretch>
            <a:fillRect/>
          </a:stretch>
        </p:blipFill>
        <p:spPr>
          <a:xfrm>
            <a:off x="0" y="2134986"/>
            <a:ext cx="8639974" cy="355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49722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51AD1B8-26B7-7A92-977C-3AE0CBB9C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BABC24-29A2-9B7B-B14F-01E3673026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248D5-091A-23CC-9340-03A8275BF0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29E74B3-AA45-9336-26C7-0892BD1983AA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AE63BA-A0D3-0DDF-50C0-F0A487C1E527}"/>
              </a:ext>
            </a:extLst>
          </p:cNvPr>
          <p:cNvSpPr txBox="1"/>
          <p:nvPr/>
        </p:nvSpPr>
        <p:spPr>
          <a:xfrm>
            <a:off x="0" y="1154082"/>
            <a:ext cx="8987882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Query 4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SELECT *</a:t>
            </a:r>
            <a:br>
              <a:rPr lang="en-US" sz="2800" dirty="0">
                <a:highlight>
                  <a:srgbClr val="FFFF00"/>
                </a:highlight>
                <a:latin typeface="Calibir"/>
              </a:rPr>
            </a:br>
            <a:r>
              <a:rPr lang="en-US" sz="2800" dirty="0">
                <a:highlight>
                  <a:srgbClr val="FFFF00"/>
                </a:highlight>
                <a:latin typeface="Calibir"/>
              </a:rPr>
              <a:t>FROM LGDEPARTMENT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shows all department details.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WHERE (DEPT_NAME LIKE '*SERVICE*'</a:t>
            </a:r>
            <a:br>
              <a:rPr lang="en-US" sz="2800" dirty="0">
                <a:highlight>
                  <a:srgbClr val="FFFF00"/>
                </a:highlight>
                <a:latin typeface="Calibir"/>
              </a:rPr>
            </a:br>
            <a:r>
              <a:rPr lang="en-US" sz="2800" dirty="0">
                <a:highlight>
                  <a:srgbClr val="FFFF00"/>
                </a:highlight>
                <a:latin typeface="Calibir"/>
              </a:rPr>
              <a:t>OR DEPT_NAME LIKE '*SALES*')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finds department names containing SERVICE or SALES.</a:t>
            </a:r>
          </a:p>
        </p:txBody>
      </p:sp>
    </p:spTree>
    <p:extLst>
      <p:ext uri="{BB962C8B-B14F-4D97-AF65-F5344CB8AC3E}">
        <p14:creationId xmlns:p14="http://schemas.microsoft.com/office/powerpoint/2010/main" val="14839665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52FBF0D-9BB7-5D41-EE3B-CFBDB2819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512FEB-ADC7-9E8D-FC87-F6B41015FA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349E1-A1AE-BC48-EA26-D11E8B21CA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0B9BD72-8D88-51D5-F4CB-8FFE1544D662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8DCB95-26E2-6454-370B-BE1B0EEF9068}"/>
              </a:ext>
            </a:extLst>
          </p:cNvPr>
          <p:cNvSpPr txBox="1"/>
          <p:nvPr/>
        </p:nvSpPr>
        <p:spPr>
          <a:xfrm>
            <a:off x="0" y="1154082"/>
            <a:ext cx="8987882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AND DEPT_PHONE LIKE '555*';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only keeps departments whose phone number starts with 555.</a:t>
            </a:r>
          </a:p>
        </p:txBody>
      </p:sp>
    </p:spTree>
    <p:extLst>
      <p:ext uri="{BB962C8B-B14F-4D97-AF65-F5344CB8AC3E}">
        <p14:creationId xmlns:p14="http://schemas.microsoft.com/office/powerpoint/2010/main" val="25917586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42ED996-6DC2-1C2E-4090-A736C16CC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E0D2C1-E562-B4AE-1776-C821A27F97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20B92-FA04-9ACD-E3FD-9EA8B482B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44029C3-C19E-01B6-3664-07EEAE795CA8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6913756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B773D0-0274-3C4B-8D16-B5A624B59D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6043"/>
          <a:stretch>
            <a:fillRect/>
          </a:stretch>
        </p:blipFill>
        <p:spPr>
          <a:xfrm>
            <a:off x="0" y="1527020"/>
            <a:ext cx="9144000" cy="380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49673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2D3D02A-0271-80C7-2F49-C6C6B98A1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09D2AC-E765-D814-9B08-C38FD7F1C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BF709-F17D-4E30-85BA-6BA03B950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68</a:t>
            </a:fld>
            <a:r>
              <a:rPr lang="en-AU"/>
              <a:t>  |</a:t>
            </a:r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BD7AB5-B365-BEE1-6C8E-C3340D4C16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80" r="18781" b="16071"/>
          <a:stretch>
            <a:fillRect/>
          </a:stretch>
        </p:blipFill>
        <p:spPr>
          <a:xfrm>
            <a:off x="0" y="-1"/>
            <a:ext cx="9144000" cy="6913811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D0DE72B-96F2-18C8-2E86-443A514C9F73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6913756" cy="96805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36107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4EC858D-E7FD-89A2-A9BC-5F0E9FC7E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FC4B32-65CC-7FBD-FF7B-F201D17F8D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0717C-932D-86E0-D6F3-EDBBDCBD5B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69</a:t>
            </a:fld>
            <a:r>
              <a:rPr lang="en-AU"/>
              <a:t>  |</a:t>
            </a: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FCBFDF-6A4A-1212-CB1F-FCF9A0AD08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02" t="28" r="18902" b="16286"/>
          <a:stretch>
            <a:fillRect/>
          </a:stretch>
        </p:blipFill>
        <p:spPr>
          <a:xfrm>
            <a:off x="0" y="0"/>
            <a:ext cx="9144000" cy="6920753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64E09ED-3C80-B19F-EFCF-FD86668FB31B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6913756" cy="96805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9763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2F89BE5-24D5-3928-A47F-2214B88E8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68E183-139C-BFDB-033F-0146D4F301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9E4E6-2BEF-D9EF-8B3B-65DC60F4EF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4A0D65-3B1F-71FB-F51B-12D6083FCD05}"/>
              </a:ext>
            </a:extLst>
          </p:cNvPr>
          <p:cNvSpPr txBox="1"/>
          <p:nvPr/>
        </p:nvSpPr>
        <p:spPr>
          <a:xfrm>
            <a:off x="0" y="5583612"/>
            <a:ext cx="9144000" cy="1274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latin typeface="Calibir"/>
              </a:rPr>
              <a:t>It joins Brand → Product → Supplies → Vendor, then keeps only PREMIUM or VALUE brands where the vendor is not in VT.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A78165-A54D-958E-96C4-CBD9801670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13"/>
          <a:stretch>
            <a:fillRect/>
          </a:stretch>
        </p:blipFill>
        <p:spPr>
          <a:xfrm>
            <a:off x="162400" y="1072956"/>
            <a:ext cx="8819199" cy="4712087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F631EE2-9664-4B76-7A94-16A9A9E7245F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A: Independent Assessment 3 Work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14127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C101F-C65F-1D84-0824-C2471518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E637624-0BBE-F959-CF34-04F3E9ABA6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8032" y="734568"/>
            <a:ext cx="6920865" cy="737108"/>
          </a:xfrm>
        </p:spPr>
        <p:txBody>
          <a:bodyPr vert="horz" wrap="square" lIns="0" tIns="0" rIns="0" bIns="0" rtlCol="0">
            <a:normAutofit/>
          </a:bodyPr>
          <a:lstStyle/>
          <a:p>
            <a:pPr marL="12700">
              <a:spcBef>
                <a:spcPts val="100"/>
              </a:spcBef>
            </a:pPr>
            <a:r>
              <a:rPr lang="en-US" b="1" i="0" dirty="0">
                <a:latin typeface="Arial"/>
                <a:ea typeface="+mj-ea"/>
                <a:cs typeface="Arial"/>
              </a:rPr>
              <a:t>Thank You</a:t>
            </a:r>
            <a:endParaRPr lang="en-US" b="1" i="0" spc="-10" dirty="0">
              <a:latin typeface="Arial"/>
              <a:ea typeface="+mj-ea"/>
              <a:cs typeface="Arial"/>
            </a:endParaRPr>
          </a:p>
        </p:txBody>
      </p:sp>
      <p:pic>
        <p:nvPicPr>
          <p:cNvPr id="19" name="Picture 18" descr="Tying a bow in an arrangment of presents">
            <a:extLst>
              <a:ext uri="{FF2B5EF4-FFF2-40B4-BE49-F238E27FC236}">
                <a16:creationId xmlns:a16="http://schemas.microsoft.com/office/drawing/2014/main" id="{E6D721DE-1453-5AA6-9447-209B227E2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127" r="20212" b="-2"/>
          <a:stretch>
            <a:fillRect/>
          </a:stretch>
        </p:blipFill>
        <p:spPr>
          <a:xfrm>
            <a:off x="457200" y="1577340"/>
            <a:ext cx="3977640" cy="4526280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845029-98A4-9C92-04B4-320B6AFDD1B8}"/>
              </a:ext>
            </a:extLst>
          </p:cNvPr>
          <p:cNvSpPr txBox="1"/>
          <p:nvPr/>
        </p:nvSpPr>
        <p:spPr>
          <a:xfrm>
            <a:off x="4709160" y="1577340"/>
            <a:ext cx="3977640" cy="406146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defTabSz="685800" rtl="0">
              <a:lnSpc>
                <a:spcPct val="150000"/>
              </a:lnSpc>
              <a:spcAft>
                <a:spcPts val="450"/>
              </a:spcAft>
              <a:defRPr/>
            </a:pPr>
            <a: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</a:rPr>
              <a:t>Happy Learning and Bright Futures Ahead!</a:t>
            </a:r>
            <a:b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</a:rPr>
            </a:br>
            <a: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</a:rPr>
              <a:t>Dr. Farshid Keivanian</a:t>
            </a:r>
            <a:b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</a:rPr>
            </a:br>
            <a: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</a:rPr>
              <a:t>Stay Connected:</a:t>
            </a:r>
            <a:b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</a:rPr>
            </a:br>
            <a:r>
              <a:rPr lang="en-US" sz="1900" kern="1200" dirty="0">
                <a:solidFill>
                  <a:schemeClr val="tx1"/>
                </a:solidFill>
                <a:latin typeface="+mj-lt"/>
                <a:ea typeface="+mn-ea"/>
                <a:cs typeface="Arial"/>
                <a:hlinkClick r:id="rId3" action="ppaction://hlinkfile"/>
              </a:rPr>
              <a:t>linkedin.com/in/farshid-keivanian</a:t>
            </a:r>
            <a: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  <a:hlinkClick r:id="rId3" action="ppaction://hlinkfile"/>
              </a:rPr>
              <a:t> </a:t>
            </a:r>
            <a:b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</a:rPr>
            </a:br>
            <a: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  <a:hlinkClick r:id="rId4" action="ppaction://hlinkfile"/>
              </a:rPr>
              <a:t>github.com/</a:t>
            </a:r>
            <a:r>
              <a:rPr lang="en-US" sz="1900" i="0" kern="1200" dirty="0" err="1">
                <a:solidFill>
                  <a:schemeClr val="tx1"/>
                </a:solidFill>
                <a:latin typeface="+mj-lt"/>
                <a:ea typeface="+mn-ea"/>
                <a:cs typeface="Arial"/>
                <a:hlinkClick r:id="rId4" action="ppaction://hlinkfile"/>
              </a:rPr>
              <a:t>FarshidKeivanian</a:t>
            </a:r>
            <a: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  <a:hlinkClick r:id="rId4" action="ppaction://hlinkfile"/>
              </a:rPr>
              <a:t> </a:t>
            </a:r>
            <a:endParaRPr lang="en-US" sz="1900" i="0" kern="1200" dirty="0">
              <a:solidFill>
                <a:schemeClr val="tx1"/>
              </a:solidFill>
              <a:latin typeface="+mj-lt"/>
              <a:ea typeface="+mn-ea"/>
              <a:cs typeface="Arial"/>
            </a:endParaRPr>
          </a:p>
          <a:p>
            <a:pPr indent="-171450" defTabSz="685800" rtl="0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  <a:defRPr/>
            </a:pPr>
            <a: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</a:rPr>
              <a:t>Education is the most powerful weapon you can use to change the world. — Nelson Mandela</a:t>
            </a:r>
          </a:p>
        </p:txBody>
      </p:sp>
    </p:spTree>
    <p:extLst>
      <p:ext uri="{BB962C8B-B14F-4D97-AF65-F5344CB8AC3E}">
        <p14:creationId xmlns:p14="http://schemas.microsoft.com/office/powerpoint/2010/main" val="319086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U Presentation">
  <a:themeElements>
    <a:clrScheme name="ACUColourScheme">
      <a:dk1>
        <a:srgbClr val="3C1053"/>
      </a:dk1>
      <a:lt1>
        <a:srgbClr val="FFFFFF"/>
      </a:lt1>
      <a:dk2>
        <a:srgbClr val="3C1053"/>
      </a:dk2>
      <a:lt2>
        <a:srgbClr val="E8E3DB"/>
      </a:lt2>
      <a:accent1>
        <a:srgbClr val="F2120C"/>
      </a:accent1>
      <a:accent2>
        <a:srgbClr val="3D3935"/>
      </a:accent2>
      <a:accent3>
        <a:srgbClr val="8C857B"/>
      </a:accent3>
      <a:accent4>
        <a:srgbClr val="3C1053"/>
      </a:accent4>
      <a:accent5>
        <a:srgbClr val="E8E3DB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err="1" smtClean="0">
            <a:solidFill>
              <a:srgbClr val="3D3935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_4_3_V2.potx" id="{F3B38964-EE74-4E1D-A3FE-21D8EB788CBF}" vid="{2C9D612A-0DB5-43BD-9B9F-0A9FAAF24DC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DC8B17FFF79F46AB892AACDE15F09D" ma:contentTypeVersion="1" ma:contentTypeDescription="Create a new document." ma:contentTypeScope="" ma:versionID="a5ba99c893f738a110fead59b8aec54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c96ba11fc0b0f11135d6dc28d8a2ff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360E499-BA5F-475B-94B4-A8CCAB2763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5866CA7-3031-48D4-BC56-8127880CD3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19D6D79-91EF-4340-8C3D-E484566A2E2F}">
  <ds:schemaRefs>
    <ds:schemaRef ds:uri="http://purl.org/dc/dcmitype/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PPT_Template_4_3_V2.potx</Template>
  <TotalTime>5602</TotalTime>
  <Words>4111</Words>
  <Application>Microsoft Office PowerPoint</Application>
  <PresentationFormat>On-screen Show (4:3)</PresentationFormat>
  <Paragraphs>1242</Paragraphs>
  <Slides>71</Slides>
  <Notes>70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7" baseType="lpstr">
      <vt:lpstr>Arial</vt:lpstr>
      <vt:lpstr>Calibir</vt:lpstr>
      <vt:lpstr>Calibri</vt:lpstr>
      <vt:lpstr>Wingdings</vt:lpstr>
      <vt:lpstr>ACU Presentation</vt:lpstr>
      <vt:lpstr>think-cell Slide</vt:lpstr>
      <vt:lpstr>Data Quality and Database Management &amp; Preparation for Assessment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ACU Presentation</dc:title>
  <dc:creator>Husnen Rupani;Simone.Byrnes@acu.edu.au</dc:creator>
  <cp:lastModifiedBy>Farshid Keivanian</cp:lastModifiedBy>
  <cp:revision>1486</cp:revision>
  <cp:lastPrinted>2017-08-03T04:07:41Z</cp:lastPrinted>
  <dcterms:created xsi:type="dcterms:W3CDTF">2017-05-11T09:33:32Z</dcterms:created>
  <dcterms:modified xsi:type="dcterms:W3CDTF">2026-05-25T06:33:40Z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0x0101007CDC8B17FFF79F46AB892AACDE15F09D</vt:lpwstr>
  </property>
</Properties>
</file>